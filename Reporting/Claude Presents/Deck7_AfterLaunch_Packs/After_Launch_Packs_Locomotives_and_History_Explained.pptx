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20040"/>
            <a:ext cx="5943600" cy="3474720"/>
          </a:xfrm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5400" b="1" i="0" lang="en-GB">
                <a:solidFill>
                  <a:srgbClr val="F2F2F2"/>
                </a:solidFill>
                <a:latin typeface="Arial"/>
              </a:rPr>
              <a:t>After Launch: Packs, Locomotives and History</a:t>
            </a:r>
            <a:endParaRPr lang="en-GB" sz="5400"/>
          </a:p>
        </p:txBody>
      </p:sp>
      <p:sp>
        <p:nvSpPr>
          <p:cNvPr id="3" name="Rectangle 2"/>
          <p:cNvSpPr/>
          <p:nvPr/>
        </p:nvSpPr>
        <p:spPr>
          <a:xfrm>
            <a:off x="548640" y="3977639"/>
            <a:ext cx="2194560" cy="6400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ption"/>
          <p:cNvSpPr txBox="1"/>
          <p:nvPr/>
        </p:nvSpPr>
        <p:spPr>
          <a:xfrm>
            <a:off x="548640" y="4251960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How the mod could grow after the first release. All of it comes later.</a:t>
            </a:r>
            <a:endParaRPr lang="en-GB" sz="2000"/>
          </a:p>
        </p:txBody>
      </p:sp>
      <p:pic>
        <p:nvPicPr>
          <p:cNvPr id="5" name="Photo: real locomotive" descr="A real British steam locomotive, seen from the front and side, trailing smoke beside a semaphore signal. A photograph for illustration only."/>
          <p:cNvPicPr>
            <a:picLocks noChangeAspect="1"/>
          </p:cNvPicPr>
          <p:nvPr/>
        </p:nvPicPr>
        <p:blipFill>
          <a:blip r:embed="rId2"/>
          <a:srcRect l="35262" r="8815"/>
          <a:stretch>
            <a:fillRect/>
          </a:stretch>
        </p:blipFill>
        <p:spPr>
          <a:xfrm>
            <a:off x="6766560" y="457200"/>
            <a:ext cx="4873752" cy="5806440"/>
          </a:xfrm>
          <a:prstGeom prst="roundRect">
            <a:avLst>
              <a:gd name="adj" fmla="val 1500"/>
            </a:avLst>
          </a:prstGeom>
        </p:spPr>
      </p:pic>
      <p:sp>
        <p:nvSpPr>
          <p:cNvPr id="6" name="Credit line"/>
          <p:cNvSpPr txBox="1"/>
          <p:nvPr/>
        </p:nvSpPr>
        <p:spPr>
          <a:xfrm>
            <a:off x="6766560" y="6355080"/>
            <a:ext cx="487375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 lang="en-GB">
                <a:solidFill>
                  <a:srgbClr val="A9B0B8"/>
                </a:solidFill>
                <a:latin typeface="Arial"/>
              </a:rPr>
              <a:t>A real locomotive, for illustration. Photo: Ben Salter, CC BY 2.0.</a:t>
            </a:r>
            <a:endParaRPr lang="en-GB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How to read this guide</a:t>
            </a:r>
            <a:endParaRPr lang="en-GB" sz="3600"/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Legend chip: Agreed"/>
          <p:cNvSpPr/>
          <p:nvPr/>
        </p:nvSpPr>
        <p:spPr>
          <a:xfrm>
            <a:off x="822960" y="1563624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  <a:endParaRPr lang="en-GB" sz="1400"/>
          </a:p>
        </p:txBody>
      </p:sp>
      <p:sp>
        <p:nvSpPr>
          <p:cNvPr id="5" name="Legend meaning: Agreed"/>
          <p:cNvSpPr txBox="1"/>
          <p:nvPr/>
        </p:nvSpPr>
        <p:spPr>
          <a:xfrm>
            <a:off x="2606040" y="141732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Decided.</a:t>
            </a:r>
            <a:endParaRPr lang="en-GB" sz="2000"/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egend chip: Proposed"/>
          <p:cNvSpPr/>
          <p:nvPr/>
        </p:nvSpPr>
        <p:spPr>
          <a:xfrm>
            <a:off x="822960" y="2386584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  <a:endParaRPr lang="en-GB" sz="1400"/>
          </a:p>
        </p:txBody>
      </p:sp>
      <p:sp>
        <p:nvSpPr>
          <p:cNvPr id="8" name="Legend meaning: Proposed"/>
          <p:cNvSpPr txBox="1"/>
          <p:nvPr/>
        </p:nvSpPr>
        <p:spPr>
          <a:xfrm>
            <a:off x="2606040" y="224028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Suggested, not confirmed.</a:t>
            </a:r>
            <a:endParaRPr lang="en-GB" sz="2000"/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chip: Provisional"/>
          <p:cNvSpPr/>
          <p:nvPr/>
        </p:nvSpPr>
        <p:spPr>
          <a:xfrm>
            <a:off x="822960" y="3209544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PROVISIONAL</a:t>
            </a:r>
            <a:endParaRPr lang="en-GB" sz="1400"/>
          </a:p>
        </p:txBody>
      </p:sp>
      <p:sp>
        <p:nvSpPr>
          <p:cNvPr id="11" name="Legend meaning: Provisional"/>
          <p:cNvSpPr txBox="1"/>
          <p:nvPr/>
        </p:nvSpPr>
        <p:spPr>
          <a:xfrm>
            <a:off x="2606040" y="306324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A test number that may change.</a:t>
            </a:r>
            <a:endParaRPr lang="en-GB" sz="2000"/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egend chip: Undecided"/>
          <p:cNvSpPr/>
          <p:nvPr/>
        </p:nvSpPr>
        <p:spPr>
          <a:xfrm>
            <a:off x="822960" y="4032504"/>
            <a:ext cx="1371600" cy="365760"/>
          </a:xfrm>
          <a:prstGeom prst="roundRect">
            <a:avLst>
              <a:gd name="adj" fmla="val 25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  <a:endParaRPr lang="en-GB" sz="1400"/>
          </a:p>
        </p:txBody>
      </p:sp>
      <p:sp>
        <p:nvSpPr>
          <p:cNvPr id="14" name="Legend meaning: Undecided"/>
          <p:cNvSpPr txBox="1"/>
          <p:nvPr/>
        </p:nvSpPr>
        <p:spPr>
          <a:xfrm>
            <a:off x="2606040" y="388620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Still an open question.</a:t>
            </a:r>
            <a:endParaRPr lang="en-GB" sz="2000"/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B2F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Legend chip: Background"/>
          <p:cNvSpPr/>
          <p:nvPr/>
        </p:nvSpPr>
        <p:spPr>
          <a:xfrm>
            <a:off x="822960" y="4855464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  <a:endParaRPr lang="en-GB" sz="1400"/>
          </a:p>
        </p:txBody>
      </p:sp>
      <p:sp>
        <p:nvSpPr>
          <p:cNvPr id="17" name="Legend meaning: Background"/>
          <p:cNvSpPr txBox="1"/>
          <p:nvPr/>
        </p:nvSpPr>
        <p:spPr>
          <a:xfrm>
            <a:off x="2606040" y="4709160"/>
            <a:ext cx="8686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A real-world fact.</a:t>
            </a:r>
            <a:endParaRPr lang="en-GB" sz="2000"/>
          </a:p>
        </p:txBody>
      </p:sp>
      <p:sp>
        <p:nvSpPr>
          <p:cNvPr id="18" name="Caption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36576" rIns="182880" bIns="36576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Every idea carries a tag in the top-right corner.</a:t>
            </a:r>
            <a:endParaRPr lang="en-GB" sz="2000"/>
          </a:p>
        </p:txBody>
      </p:sp>
      <p:sp>
        <p:nvSpPr>
          <p:cNvPr id="19" name="Caption rule"/>
          <p:cNvSpPr/>
          <p:nvPr/>
        </p:nvSpPr>
        <p:spPr>
          <a:xfrm>
            <a:off x="548640" y="5852160"/>
            <a:ext cx="73152" cy="5486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lide number"/>
          <p:cNvSpPr txBox="1"/>
          <p:nvPr/>
        </p:nvSpPr>
        <p:spPr>
          <a:xfrm>
            <a:off x="10972800" y="647395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2</a:t>
            </a:r>
            <a:endParaRPr lang="en-GB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Core comes first</a:t>
            </a:r>
            <a:endParaRPr lang="en-GB" sz="3600"/>
          </a:p>
        </p:txBody>
      </p:sp>
      <p:sp>
        <p:nvSpPr>
          <p:cNvPr id="3" name="Status chip: Agreed"/>
          <p:cNvSpPr/>
          <p:nvPr/>
        </p:nvSpPr>
        <p:spPr>
          <a:xfrm>
            <a:off x="10241280" y="4572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  <a:endParaRPr lang="en-GB" sz="1400"/>
          </a:p>
        </p:txBody>
      </p:sp>
      <p:grpSp>
        <p:nvGrpSpPr>
          <p:cNvPr id="4" name="Later packs (dashed blocks)" descr="Three dashed blocks labelled Later packs float above the core block, not touching it: packs come later."/>
          <p:cNvGrpSpPr/>
          <p:nvPr/>
        </p:nvGrpSpPr>
        <p:grpSpPr>
          <a:xfrm>
            <a:off x="1417320" y="1417320"/>
            <a:ext cx="9326880" cy="1417320"/>
            <a:chOff x="1417320" y="1417320"/>
            <a:chExt cx="9326880" cy="1417320"/>
          </a:xfrm>
        </p:grpSpPr>
        <p:sp>
          <p:nvSpPr>
            <p:cNvPr id="5" name="Rounded Rectangle 4"/>
            <p:cNvSpPr/>
            <p:nvPr/>
          </p:nvSpPr>
          <p:spPr>
            <a:xfrm>
              <a:off x="1417320" y="1600200"/>
              <a:ext cx="2834640" cy="1051560"/>
            </a:xfrm>
            <a:prstGeom prst="roundRect">
              <a:avLst>
                <a:gd name="adj" fmla="val 8695"/>
              </a:avLst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Later packs</a:t>
              </a:r>
              <a:endParaRPr lang="en-GB" sz="20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63440" y="1417320"/>
              <a:ext cx="2834640" cy="1051560"/>
            </a:xfrm>
            <a:prstGeom prst="roundRect">
              <a:avLst>
                <a:gd name="adj" fmla="val 8695"/>
              </a:avLst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Later packs</a:t>
              </a:r>
              <a:endParaRPr lang="en-GB" sz="200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909560" y="1783080"/>
              <a:ext cx="2834640" cy="1051560"/>
            </a:xfrm>
            <a:prstGeom prst="roundRect">
              <a:avLst>
                <a:gd name="adj" fmla="val 8695"/>
              </a:avLst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Later packs</a:t>
              </a:r>
              <a:endParaRPr lang="en-GB" sz="2000"/>
            </a:p>
          </p:txBody>
        </p:sp>
      </p:grpSp>
      <p:grpSp>
        <p:nvGrpSpPr>
          <p:cNvPr id="8" name="Core block (solid)" descr="A tall solid orange block labelled Core 1.0: complete, standing at the bottom."/>
          <p:cNvGrpSpPr/>
          <p:nvPr/>
        </p:nvGrpSpPr>
        <p:grpSpPr>
          <a:xfrm>
            <a:off x="2606040" y="3611880"/>
            <a:ext cx="6949440" cy="1965960"/>
            <a:chOff x="2606040" y="3611880"/>
            <a:chExt cx="6949440" cy="1965960"/>
          </a:xfrm>
        </p:grpSpPr>
        <p:sp>
          <p:nvSpPr>
            <p:cNvPr id="9" name="Rounded Rectangle 8"/>
            <p:cNvSpPr/>
            <p:nvPr/>
          </p:nvSpPr>
          <p:spPr>
            <a:xfrm>
              <a:off x="2606040" y="3611880"/>
              <a:ext cx="6949440" cy="1965960"/>
            </a:xfrm>
            <a:prstGeom prst="roundRect">
              <a:avLst>
                <a:gd name="adj" fmla="val 4651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3200" b="1" i="0" lang="en-GB">
                  <a:solidFill>
                    <a:srgbClr val="101418"/>
                  </a:solidFill>
                  <a:latin typeface="Arial"/>
                </a:rPr>
                <a:t>Core 1.0: complete</a:t>
              </a:r>
              <a:endParaRPr lang="en-GB" sz="3200"/>
            </a:p>
          </p:txBody>
        </p:sp>
      </p:grpSp>
      <p:sp>
        <p:nvSpPr>
          <p:cNvPr id="10" name="Caption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36576" rIns="182880" bIns="36576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The core game is finished first. Nothing is held back to sell packs.</a:t>
            </a:r>
            <a:endParaRPr lang="en-GB" sz="2000"/>
          </a:p>
        </p:txBody>
      </p:sp>
      <p:sp>
        <p:nvSpPr>
          <p:cNvPr id="11" name="Caption rule"/>
          <p:cNvSpPr/>
          <p:nvPr/>
        </p:nvSpPr>
        <p:spPr>
          <a:xfrm>
            <a:off x="548640" y="5852160"/>
            <a:ext cx="73152" cy="5486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lide number"/>
          <p:cNvSpPr txBox="1"/>
          <p:nvPr/>
        </p:nvSpPr>
        <p:spPr>
          <a:xfrm>
            <a:off x="10972800" y="647395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3</a:t>
            </a:r>
            <a:endParaRPr lang="en-GB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One shared engine</a:t>
            </a:r>
            <a:endParaRPr lang="en-GB" sz="3600"/>
          </a:p>
        </p:txBody>
      </p:sp>
      <p:sp>
        <p:nvSpPr>
          <p:cNvPr id="3" name="Status chip: Agreed"/>
          <p:cNvSpPr/>
          <p:nvPr/>
        </p:nvSpPr>
        <p:spPr>
          <a:xfrm>
            <a:off x="10241280" y="4572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  <a:endParaRPr lang="en-GB" sz="1400"/>
          </a:p>
        </p:txBody>
      </p:sp>
      <p:grpSp>
        <p:nvGrpSpPr>
          <p:cNvPr id="4" name="Shared rules bar" descr="A long bar labelled Shared rules. Both engines stand on it."/>
          <p:cNvGrpSpPr/>
          <p:nvPr/>
        </p:nvGrpSpPr>
        <p:grpSpPr>
          <a:xfrm>
            <a:off x="822960" y="4663440"/>
            <a:ext cx="10543032" cy="731520"/>
            <a:chOff x="822960" y="4663440"/>
            <a:chExt cx="10543032" cy="731520"/>
          </a:xfrm>
        </p:grpSpPr>
        <p:sp>
          <p:nvSpPr>
            <p:cNvPr id="5" name="Rounded Rectangle 4"/>
            <p:cNvSpPr/>
            <p:nvPr/>
          </p:nvSpPr>
          <p:spPr>
            <a:xfrm>
              <a:off x="822960" y="4663440"/>
              <a:ext cx="10543032" cy="731520"/>
            </a:xfrm>
            <a:prstGeom prst="roundRect">
              <a:avLst>
                <a:gd name="adj" fmla="val 100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Shared rules</a:t>
              </a:r>
              <a:endParaRPr lang="en-GB" sz="2200"/>
            </a:p>
          </p:txBody>
        </p:sp>
      </p:grpSp>
      <p:grpSp>
        <p:nvGrpSpPr>
          <p:cNvPr id="6" name="Core engine and data card" descr="A Core engine, a small tank engine, with its own data card."/>
          <p:cNvGrpSpPr/>
          <p:nvPr/>
        </p:nvGrpSpPr>
        <p:grpSpPr>
          <a:xfrm>
            <a:off x="1233525" y="1508760"/>
            <a:ext cx="3139227" cy="3154680"/>
            <a:chOff x="1233525" y="1508760"/>
            <a:chExt cx="3139227" cy="3154680"/>
          </a:xfrm>
        </p:grpSpPr>
        <p:sp>
          <p:nvSpPr>
            <p:cNvPr id="7" name="Rectangle 6"/>
            <p:cNvSpPr/>
            <p:nvPr/>
          </p:nvSpPr>
          <p:spPr>
            <a:xfrm>
              <a:off x="1280160" y="4072737"/>
              <a:ext cx="2720340" cy="155448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482242" y="4197096"/>
              <a:ext cx="466344" cy="46634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668780" y="4383633"/>
              <a:ext cx="93268" cy="932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2531516" y="4197096"/>
              <a:ext cx="466344" cy="46634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2718054" y="4383633"/>
              <a:ext cx="93268" cy="932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580790" y="4197096"/>
              <a:ext cx="466344" cy="46634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767328" y="4383633"/>
              <a:ext cx="93268" cy="932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1715414" y="4430268"/>
              <a:ext cx="2098548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sp>
          <p:nvSpPr>
            <p:cNvPr id="15" name="Rounded Rectangle 14"/>
            <p:cNvSpPr/>
            <p:nvPr/>
          </p:nvSpPr>
          <p:spPr>
            <a:xfrm>
              <a:off x="2212848" y="3482035"/>
              <a:ext cx="1787651" cy="590702"/>
            </a:xfrm>
            <a:prstGeom prst="roundRect">
              <a:avLst>
                <a:gd name="adj" fmla="val 928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275027" y="3699662"/>
              <a:ext cx="1352397" cy="404164"/>
            </a:xfrm>
            <a:prstGeom prst="roundRect">
              <a:avLst>
                <a:gd name="adj" fmla="val 9049"/>
              </a:avLst>
            </a:prstGeom>
            <a:solidFill>
              <a:srgbClr val="F28C28"/>
            </a:solidFill>
            <a:ln w="15875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20693" y="3482035"/>
              <a:ext cx="279806" cy="59070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782872" y="3202228"/>
              <a:ext cx="155448" cy="310896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720693" y="3140049"/>
              <a:ext cx="279806" cy="93268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679191" y="3326587"/>
              <a:ext cx="310896" cy="186537"/>
            </a:xfrm>
            <a:prstGeom prst="roundRect">
              <a:avLst>
                <a:gd name="adj" fmla="val 19607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80160" y="3264407"/>
              <a:ext cx="932688" cy="839419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233525" y="3186683"/>
              <a:ext cx="1025956" cy="10881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497787" y="3450945"/>
              <a:ext cx="404164" cy="31089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80160" y="2651759"/>
              <a:ext cx="1858152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Core engine</a:t>
              </a:r>
              <a:endParaRPr lang="en-GB" sz="160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269632" y="1508760"/>
              <a:ext cx="2103120" cy="1051560"/>
            </a:xfrm>
            <a:prstGeom prst="roundRect">
              <a:avLst>
                <a:gd name="adj" fmla="val 6956"/>
              </a:avLst>
            </a:prstGeom>
            <a:solidFill>
              <a:srgbClr val="2B2F36"/>
            </a:solidFill>
            <a:ln w="2222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406792" y="1554480"/>
              <a:ext cx="1828799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Data card</a:t>
              </a:r>
              <a:endParaRPr lang="en-GB" sz="140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406792" y="1984248"/>
              <a:ext cx="1554480" cy="91440"/>
            </a:xfrm>
            <a:prstGeom prst="roundRect">
              <a:avLst>
                <a:gd name="adj" fmla="val 50000"/>
              </a:avLst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406792" y="2167128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406792" y="2350008"/>
              <a:ext cx="1371600" cy="91440"/>
            </a:xfrm>
            <a:prstGeom prst="roundRect">
              <a:avLst>
                <a:gd name="adj" fmla="val 50000"/>
              </a:avLst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3321192" y="2560320"/>
              <a:ext cx="0" cy="921715"/>
            </a:xfrm>
            <a:prstGeom prst="line">
              <a:avLst/>
            </a:prstGeom>
            <a:ln w="28575">
              <a:solidFill>
                <a:srgbClr val="F28C28"/>
              </a:solidFill>
            </a:ln>
          </p:spPr>
        </p:cxnSp>
      </p:grpSp>
      <p:grpSp>
        <p:nvGrpSpPr>
          <p:cNvPr id="31" name="Pack engine and data card" descr="A Pack engine, a larger engine with a tender, with its own data card (dashed because packs come later)."/>
          <p:cNvGrpSpPr/>
          <p:nvPr/>
        </p:nvGrpSpPr>
        <p:grpSpPr>
          <a:xfrm>
            <a:off x="6035040" y="1508760"/>
            <a:ext cx="4790084" cy="3154680"/>
            <a:chOff x="6035040" y="1508760"/>
            <a:chExt cx="4790084" cy="3154680"/>
          </a:xfrm>
        </p:grpSpPr>
        <p:sp>
          <p:nvSpPr>
            <p:cNvPr id="32" name="Rounded Rectangle 31"/>
            <p:cNvSpPr/>
            <p:nvPr/>
          </p:nvSpPr>
          <p:spPr>
            <a:xfrm>
              <a:off x="6035040" y="3637483"/>
              <a:ext cx="1476756" cy="528523"/>
            </a:xfrm>
            <a:prstGeom prst="roundRect">
              <a:avLst>
                <a:gd name="adj" fmla="val 5190"/>
              </a:avLst>
            </a:prstGeom>
            <a:solidFill>
              <a:srgbClr val="2B2F36"/>
            </a:solidFill>
            <a:ln w="1905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6159398" y="3419855"/>
              <a:ext cx="1228039" cy="217628"/>
            </a:xfrm>
            <a:custGeom>
              <a:avLst/>
              <a:gdLst/>
              <a:ahLst/>
              <a:cxnLst/>
              <a:rect l="l" t="t" r="r" b="b"/>
              <a:pathLst>
                <a:path w="1228039" h="217628">
                  <a:moveTo>
                    <a:pt x="0" y="217628"/>
                  </a:moveTo>
                  <a:lnTo>
                    <a:pt x="186538" y="31090"/>
                  </a:lnTo>
                  <a:lnTo>
                    <a:pt x="1041502" y="0"/>
                  </a:lnTo>
                  <a:lnTo>
                    <a:pt x="1228039" y="217628"/>
                  </a:lnTo>
                  <a:close/>
                </a:path>
              </a:pathLst>
            </a:cu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283756" y="4290364"/>
              <a:ext cx="373075" cy="373075"/>
            </a:xfrm>
            <a:prstGeom prst="ellipse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6890003" y="4290364"/>
              <a:ext cx="373075" cy="373075"/>
            </a:xfrm>
            <a:prstGeom prst="ellipse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7511796" y="4072737"/>
              <a:ext cx="12435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37" name="Rectangle 36"/>
            <p:cNvSpPr/>
            <p:nvPr/>
          </p:nvSpPr>
          <p:spPr>
            <a:xfrm>
              <a:off x="7636154" y="4072737"/>
              <a:ext cx="2875787" cy="155448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7838236" y="4197096"/>
              <a:ext cx="466344" cy="46634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8024774" y="4383633"/>
              <a:ext cx="93268" cy="932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8589568" y="4197096"/>
              <a:ext cx="466344" cy="46634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8776106" y="4383633"/>
              <a:ext cx="93268" cy="932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9340900" y="4197096"/>
              <a:ext cx="466344" cy="46634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9527438" y="4383633"/>
              <a:ext cx="93268" cy="932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10092232" y="4197096"/>
              <a:ext cx="466344" cy="46634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10278770" y="4383633"/>
              <a:ext cx="93268" cy="932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8071408" y="4430268"/>
              <a:ext cx="2253996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sp>
          <p:nvSpPr>
            <p:cNvPr id="47" name="Rounded Rectangle 46"/>
            <p:cNvSpPr/>
            <p:nvPr/>
          </p:nvSpPr>
          <p:spPr>
            <a:xfrm>
              <a:off x="8568842" y="3482035"/>
              <a:ext cx="1943100" cy="590702"/>
            </a:xfrm>
            <a:prstGeom prst="roundRect">
              <a:avLst>
                <a:gd name="adj" fmla="val 9287"/>
              </a:avLst>
            </a:prstGeom>
            <a:solidFill>
              <a:srgbClr val="F28C28">
                <a:alpha val="35000"/>
              </a:srgbClr>
            </a:solidFill>
            <a:ln w="1905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232136" y="3482035"/>
              <a:ext cx="279806" cy="59070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0294315" y="3202228"/>
              <a:ext cx="155448" cy="310896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0232136" y="3140049"/>
              <a:ext cx="279806" cy="93268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9035186" y="3326587"/>
              <a:ext cx="310896" cy="186537"/>
            </a:xfrm>
            <a:prstGeom prst="roundRect">
              <a:avLst>
                <a:gd name="adj" fmla="val 19607"/>
              </a:avLst>
            </a:prstGeom>
            <a:solidFill>
              <a:srgbClr val="F28C28">
                <a:alpha val="35000"/>
              </a:srgbClr>
            </a:solidFill>
            <a:ln w="1270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636154" y="3264407"/>
              <a:ext cx="932688" cy="839419"/>
            </a:xfrm>
            <a:prstGeom prst="rect">
              <a:avLst/>
            </a:prstGeom>
            <a:solidFill>
              <a:srgbClr val="F28C28">
                <a:alpha val="35000"/>
              </a:srgbClr>
            </a:solidFill>
            <a:ln w="1905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89519" y="3186683"/>
              <a:ext cx="1025956" cy="10881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853781" y="3450945"/>
              <a:ext cx="404164" cy="31089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035040" y="2651759"/>
              <a:ext cx="3555644" cy="3474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Pack engine</a:t>
              </a:r>
              <a:endParaRPr lang="en-GB" sz="1600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722004" y="1508760"/>
              <a:ext cx="2103120" cy="1051560"/>
            </a:xfrm>
            <a:prstGeom prst="roundRect">
              <a:avLst>
                <a:gd name="adj" fmla="val 6956"/>
              </a:avLst>
            </a:prstGeom>
            <a:solidFill>
              <a:srgbClr val="2B2F36"/>
            </a:solidFill>
            <a:ln w="22225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859164" y="1554480"/>
              <a:ext cx="1828799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Data card</a:t>
              </a:r>
              <a:endParaRPr lang="en-GB" sz="1400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8859164" y="1984248"/>
              <a:ext cx="1554480" cy="91440"/>
            </a:xfrm>
            <a:prstGeom prst="roundRect">
              <a:avLst>
                <a:gd name="adj" fmla="val 50000"/>
              </a:avLst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859164" y="2167128"/>
              <a:ext cx="1188720" cy="91440"/>
            </a:xfrm>
            <a:prstGeom prst="roundRect">
              <a:avLst>
                <a:gd name="adj" fmla="val 50000"/>
              </a:avLst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8859164" y="2350008"/>
              <a:ext cx="1371600" cy="91440"/>
            </a:xfrm>
            <a:prstGeom prst="roundRect">
              <a:avLst>
                <a:gd name="adj" fmla="val 50000"/>
              </a:avLst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Connector 60"/>
            <p:cNvCxnSpPr/>
            <p:nvPr/>
          </p:nvCxnSpPr>
          <p:spPr>
            <a:xfrm>
              <a:off x="9773564" y="2560320"/>
              <a:ext cx="0" cy="921715"/>
            </a:xfrm>
            <a:prstGeom prst="line">
              <a:avLst/>
            </a:prstGeom>
            <a:ln w="28575">
              <a:solidFill>
                <a:srgbClr val="F28C28"/>
              </a:solidFill>
            </a:ln>
          </p:spPr>
        </p:cxnSp>
      </p:grpSp>
      <p:sp>
        <p:nvSpPr>
          <p:cNvPr id="62" name="Caption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36576" rIns="182880" bIns="36576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Packs add new engines, not new physics. Everything runs on the same rules.</a:t>
            </a:r>
            <a:endParaRPr lang="en-GB" sz="2000"/>
          </a:p>
        </p:txBody>
      </p:sp>
      <p:sp>
        <p:nvSpPr>
          <p:cNvPr id="63" name="Caption rule"/>
          <p:cNvSpPr/>
          <p:nvPr/>
        </p:nvSpPr>
        <p:spPr>
          <a:xfrm>
            <a:off x="548640" y="5852160"/>
            <a:ext cx="73152" cy="5486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Slide number"/>
          <p:cNvSpPr txBox="1"/>
          <p:nvPr/>
        </p:nvSpPr>
        <p:spPr>
          <a:xfrm>
            <a:off x="10972800" y="647395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4</a:t>
            </a:r>
            <a:endParaRPr lang="en-GB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Packs by region</a:t>
            </a:r>
            <a:endParaRPr lang="en-GB" sz="3600"/>
          </a:p>
        </p:txBody>
      </p:sp>
      <p:sp>
        <p:nvSpPr>
          <p:cNvPr id="3" name="Status chip: Proposed"/>
          <p:cNvSpPr/>
          <p:nvPr/>
        </p:nvSpPr>
        <p:spPr>
          <a:xfrm>
            <a:off x="10241280" y="4572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  <a:endParaRPr lang="en-GB" sz="1400"/>
          </a:p>
        </p:txBody>
      </p:sp>
      <p:grpSp>
        <p:nvGrpSpPr>
          <p:cNvPr id="4" name="Region A pack" descr="Region A pack: a dashed box listing Engines, Buildings and History. Packs come after launch."/>
          <p:cNvGrpSpPr/>
          <p:nvPr/>
        </p:nvGrpSpPr>
        <p:grpSpPr>
          <a:xfrm>
            <a:off x="694944" y="1463040"/>
            <a:ext cx="3401568" cy="3200400"/>
            <a:chOff x="694944" y="1463040"/>
            <a:chExt cx="3401568" cy="3200400"/>
          </a:xfrm>
        </p:grpSpPr>
        <p:sp>
          <p:nvSpPr>
            <p:cNvPr id="5" name="Rounded Rectangle 4"/>
            <p:cNvSpPr/>
            <p:nvPr/>
          </p:nvSpPr>
          <p:spPr>
            <a:xfrm>
              <a:off x="749808" y="1463040"/>
              <a:ext cx="3291840" cy="3200400"/>
            </a:xfrm>
            <a:prstGeom prst="roundRect">
              <a:avLst>
                <a:gd name="adj" fmla="val 2285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94944" y="1463040"/>
              <a:ext cx="3401568" cy="640080"/>
            </a:xfrm>
            <a:prstGeom prst="roundRect">
              <a:avLst>
                <a:gd name="adj" fmla="val 11428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101418"/>
                  </a:solidFill>
                  <a:latin typeface="Arial"/>
                </a:rPr>
                <a:t>Region A pack</a:t>
              </a:r>
              <a:endParaRPr lang="en-GB" sz="20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61288" y="2642981"/>
              <a:ext cx="537667" cy="3840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1211214" y="2673705"/>
              <a:ext cx="115214" cy="11521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595262" y="2673705"/>
              <a:ext cx="115214" cy="11521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391716" y="2497043"/>
              <a:ext cx="307238" cy="145938"/>
            </a:xfrm>
            <a:prstGeom prst="roundRect">
              <a:avLst>
                <a:gd name="adj" fmla="val 37593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29826" y="2497043"/>
              <a:ext cx="69128" cy="145938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45188" y="2427914"/>
              <a:ext cx="38404" cy="76809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629826" y="2412552"/>
              <a:ext cx="69128" cy="2304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61288" y="2443276"/>
              <a:ext cx="230428" cy="207385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49766" y="2424074"/>
              <a:ext cx="253471" cy="2688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215054" y="2489362"/>
              <a:ext cx="99852" cy="7680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984248" y="2331720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Engines</a:t>
              </a:r>
              <a:endParaRPr lang="en-GB" sz="1800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1115568" y="2971800"/>
              <a:ext cx="2560319" cy="0"/>
            </a:xfrm>
            <a:prstGeom prst="line">
              <a:avLst/>
            </a:prstGeom>
            <a:ln w="12700">
              <a:solidFill>
                <a:srgbClr val="4A515B"/>
              </a:solidFill>
            </a:ln>
          </p:spPr>
        </p:cxnSp>
        <p:sp>
          <p:nvSpPr>
            <p:cNvPr id="19" name="Rectangle 18"/>
            <p:cNvSpPr/>
            <p:nvPr/>
          </p:nvSpPr>
          <p:spPr>
            <a:xfrm>
              <a:off x="1207008" y="3319272"/>
              <a:ext cx="457200" cy="23774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1288" y="3154679"/>
              <a:ext cx="548640" cy="164593"/>
            </a:xfrm>
            <a:custGeom>
              <a:avLst/>
              <a:gdLst/>
              <a:ahLst/>
              <a:cxnLst/>
              <a:rect l="l" t="t" r="r" b="b"/>
              <a:pathLst>
                <a:path w="548640" h="164593">
                  <a:moveTo>
                    <a:pt x="0" y="164593"/>
                  </a:moveTo>
                  <a:lnTo>
                    <a:pt x="274320" y="0"/>
                  </a:lnTo>
                  <a:lnTo>
                    <a:pt x="548640" y="164593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389888" y="3410711"/>
              <a:ext cx="91440" cy="146304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84248" y="3081527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Buildings</a:t>
              </a:r>
              <a:endParaRPr lang="en-GB" sz="1800"/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1115568" y="3721607"/>
              <a:ext cx="2560319" cy="0"/>
            </a:xfrm>
            <a:prstGeom prst="line">
              <a:avLst/>
            </a:prstGeom>
            <a:ln w="12700">
              <a:solidFill>
                <a:srgbClr val="4A515B"/>
              </a:solidFill>
            </a:ln>
          </p:spPr>
        </p:cxnSp>
        <p:sp>
          <p:nvSpPr>
            <p:cNvPr id="24" name="Rounded Rectangle 23"/>
            <p:cNvSpPr/>
            <p:nvPr/>
          </p:nvSpPr>
          <p:spPr>
            <a:xfrm>
              <a:off x="1197864" y="3904487"/>
              <a:ext cx="475488" cy="384048"/>
            </a:xfrm>
            <a:prstGeom prst="roundRect">
              <a:avLst>
                <a:gd name="adj" fmla="val 7142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417320" y="3904487"/>
              <a:ext cx="36576" cy="38404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52728" y="3995927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490472" y="3995927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52728" y="4105655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90472" y="4105655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984248" y="3831335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History</a:t>
              </a:r>
              <a:endParaRPr lang="en-GB" sz="1800"/>
            </a:p>
          </p:txBody>
        </p:sp>
      </p:grpSp>
      <p:grpSp>
        <p:nvGrpSpPr>
          <p:cNvPr id="31" name="Region B pack" descr="Region B pack: a dashed box listing Engines, Buildings and History. Packs come after launch."/>
          <p:cNvGrpSpPr/>
          <p:nvPr/>
        </p:nvGrpSpPr>
        <p:grpSpPr>
          <a:xfrm>
            <a:off x="4398264" y="1463040"/>
            <a:ext cx="3401568" cy="3200400"/>
            <a:chOff x="4398264" y="1463040"/>
            <a:chExt cx="3401568" cy="3200400"/>
          </a:xfrm>
        </p:grpSpPr>
        <p:sp>
          <p:nvSpPr>
            <p:cNvPr id="32" name="Rounded Rectangle 31"/>
            <p:cNvSpPr/>
            <p:nvPr/>
          </p:nvSpPr>
          <p:spPr>
            <a:xfrm>
              <a:off x="4453128" y="1463040"/>
              <a:ext cx="3291840" cy="3200400"/>
            </a:xfrm>
            <a:prstGeom prst="roundRect">
              <a:avLst>
                <a:gd name="adj" fmla="val 2285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398264" y="1463040"/>
              <a:ext cx="3401568" cy="640080"/>
            </a:xfrm>
            <a:prstGeom prst="roundRect">
              <a:avLst>
                <a:gd name="adj" fmla="val 11428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101418"/>
                  </a:solidFill>
                  <a:latin typeface="Arial"/>
                </a:rPr>
                <a:t>Region B pack</a:t>
              </a:r>
              <a:endParaRPr lang="en-GB" sz="200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864608" y="2642981"/>
              <a:ext cx="537667" cy="3840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4914534" y="2673705"/>
              <a:ext cx="115214" cy="11521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5298582" y="2673705"/>
              <a:ext cx="115214" cy="11521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095036" y="2497043"/>
              <a:ext cx="307238" cy="145938"/>
            </a:xfrm>
            <a:prstGeom prst="roundRect">
              <a:avLst>
                <a:gd name="adj" fmla="val 37593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333146" y="2497043"/>
              <a:ext cx="69128" cy="145938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348508" y="2427914"/>
              <a:ext cx="38404" cy="76809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333146" y="2412552"/>
              <a:ext cx="69128" cy="2304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864608" y="2443276"/>
              <a:ext cx="230428" cy="207385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853086" y="2424074"/>
              <a:ext cx="253471" cy="2688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918374" y="2489362"/>
              <a:ext cx="99852" cy="7680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687568" y="2331720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Engines</a:t>
              </a:r>
              <a:endParaRPr lang="en-GB" sz="1800"/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4818888" y="2971800"/>
              <a:ext cx="2560320" cy="0"/>
            </a:xfrm>
            <a:prstGeom prst="line">
              <a:avLst/>
            </a:prstGeom>
            <a:ln w="12700">
              <a:solidFill>
                <a:srgbClr val="4A515B"/>
              </a:solidFill>
            </a:ln>
          </p:spPr>
        </p:cxnSp>
        <p:sp>
          <p:nvSpPr>
            <p:cNvPr id="46" name="Rectangle 45"/>
            <p:cNvSpPr/>
            <p:nvPr/>
          </p:nvSpPr>
          <p:spPr>
            <a:xfrm>
              <a:off x="4910328" y="3319272"/>
              <a:ext cx="457200" cy="23774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4864608" y="3154679"/>
              <a:ext cx="548640" cy="164593"/>
            </a:xfrm>
            <a:custGeom>
              <a:avLst/>
              <a:gdLst/>
              <a:ahLst/>
              <a:cxnLst/>
              <a:rect l="l" t="t" r="r" b="b"/>
              <a:pathLst>
                <a:path w="548640" h="164593">
                  <a:moveTo>
                    <a:pt x="0" y="164593"/>
                  </a:moveTo>
                  <a:lnTo>
                    <a:pt x="274320" y="0"/>
                  </a:lnTo>
                  <a:lnTo>
                    <a:pt x="548640" y="164593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093208" y="3410711"/>
              <a:ext cx="91440" cy="146304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87568" y="3081527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Buildings</a:t>
              </a:r>
              <a:endParaRPr lang="en-GB" sz="1800"/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4818888" y="3721607"/>
              <a:ext cx="2560320" cy="0"/>
            </a:xfrm>
            <a:prstGeom prst="line">
              <a:avLst/>
            </a:prstGeom>
            <a:ln w="12700">
              <a:solidFill>
                <a:srgbClr val="4A515B"/>
              </a:solidFill>
            </a:ln>
          </p:spPr>
        </p:cxnSp>
        <p:sp>
          <p:nvSpPr>
            <p:cNvPr id="51" name="Rounded Rectangle 50"/>
            <p:cNvSpPr/>
            <p:nvPr/>
          </p:nvSpPr>
          <p:spPr>
            <a:xfrm>
              <a:off x="4901184" y="3904487"/>
              <a:ext cx="475488" cy="384048"/>
            </a:xfrm>
            <a:prstGeom prst="roundRect">
              <a:avLst>
                <a:gd name="adj" fmla="val 7142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120640" y="3904487"/>
              <a:ext cx="36576" cy="38404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956048" y="3995927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193792" y="3995927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956048" y="4105655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193792" y="4105655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687568" y="3831335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History</a:t>
              </a:r>
              <a:endParaRPr lang="en-GB" sz="1800"/>
            </a:p>
          </p:txBody>
        </p:sp>
      </p:grpSp>
      <p:grpSp>
        <p:nvGrpSpPr>
          <p:cNvPr id="58" name="Region C pack" descr="Region C pack: a dashed box listing Engines, Buildings and History. Packs come after launch."/>
          <p:cNvGrpSpPr/>
          <p:nvPr/>
        </p:nvGrpSpPr>
        <p:grpSpPr>
          <a:xfrm>
            <a:off x="8101583" y="1463040"/>
            <a:ext cx="3401568" cy="3200400"/>
            <a:chOff x="8101583" y="1463040"/>
            <a:chExt cx="3401568" cy="3200400"/>
          </a:xfrm>
        </p:grpSpPr>
        <p:sp>
          <p:nvSpPr>
            <p:cNvPr id="59" name="Rounded Rectangle 58"/>
            <p:cNvSpPr/>
            <p:nvPr/>
          </p:nvSpPr>
          <p:spPr>
            <a:xfrm>
              <a:off x="8156448" y="1463040"/>
              <a:ext cx="3291840" cy="3200400"/>
            </a:xfrm>
            <a:prstGeom prst="roundRect">
              <a:avLst>
                <a:gd name="adj" fmla="val 2285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8101583" y="1463040"/>
              <a:ext cx="3401568" cy="640080"/>
            </a:xfrm>
            <a:prstGeom prst="roundRect">
              <a:avLst>
                <a:gd name="adj" fmla="val 11428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101418"/>
                  </a:solidFill>
                  <a:latin typeface="Arial"/>
                </a:rPr>
                <a:t>Region C pack</a:t>
              </a:r>
              <a:endParaRPr lang="en-GB" sz="200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567928" y="2642981"/>
              <a:ext cx="537667" cy="3840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8617854" y="2673705"/>
              <a:ext cx="115214" cy="11521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9001902" y="2673705"/>
              <a:ext cx="115214" cy="115214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8798356" y="2497043"/>
              <a:ext cx="307238" cy="145938"/>
            </a:xfrm>
            <a:prstGeom prst="roundRect">
              <a:avLst>
                <a:gd name="adj" fmla="val 37593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036466" y="2497043"/>
              <a:ext cx="69128" cy="145938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051828" y="2427914"/>
              <a:ext cx="38404" cy="76809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9036466" y="2412552"/>
              <a:ext cx="69128" cy="2304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8567928" y="2443276"/>
              <a:ext cx="230428" cy="207385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8556406" y="2424074"/>
              <a:ext cx="253471" cy="26883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8621694" y="2489362"/>
              <a:ext cx="99852" cy="7680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390888" y="2331720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Engines</a:t>
              </a:r>
              <a:endParaRPr lang="en-GB" sz="1800"/>
            </a:p>
          </p:txBody>
        </p:sp>
        <p:cxnSp>
          <p:nvCxnSpPr>
            <p:cNvPr id="72" name="Connector 71"/>
            <p:cNvCxnSpPr/>
            <p:nvPr/>
          </p:nvCxnSpPr>
          <p:spPr>
            <a:xfrm>
              <a:off x="8522208" y="2971800"/>
              <a:ext cx="2560320" cy="0"/>
            </a:xfrm>
            <a:prstGeom prst="line">
              <a:avLst/>
            </a:prstGeom>
            <a:ln w="12700">
              <a:solidFill>
                <a:srgbClr val="4A515B"/>
              </a:solidFill>
            </a:ln>
          </p:spPr>
        </p:cxnSp>
        <p:sp>
          <p:nvSpPr>
            <p:cNvPr id="73" name="Rectangle 72"/>
            <p:cNvSpPr/>
            <p:nvPr/>
          </p:nvSpPr>
          <p:spPr>
            <a:xfrm>
              <a:off x="8613648" y="3319272"/>
              <a:ext cx="457200" cy="23774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8567928" y="3154679"/>
              <a:ext cx="548639" cy="164593"/>
            </a:xfrm>
            <a:custGeom>
              <a:avLst/>
              <a:gdLst/>
              <a:ahLst/>
              <a:cxnLst/>
              <a:rect l="l" t="t" r="r" b="b"/>
              <a:pathLst>
                <a:path w="548639" h="164593">
                  <a:moveTo>
                    <a:pt x="0" y="164593"/>
                  </a:moveTo>
                  <a:lnTo>
                    <a:pt x="274320" y="0"/>
                  </a:lnTo>
                  <a:lnTo>
                    <a:pt x="548639" y="164593"/>
                  </a:lnTo>
                  <a:close/>
                </a:path>
              </a:pathLst>
            </a:cu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8796528" y="3410711"/>
              <a:ext cx="91440" cy="146304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390888" y="3081527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Buildings</a:t>
              </a:r>
              <a:endParaRPr lang="en-GB" sz="1800"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8522208" y="3721607"/>
              <a:ext cx="2560320" cy="0"/>
            </a:xfrm>
            <a:prstGeom prst="line">
              <a:avLst/>
            </a:prstGeom>
            <a:ln w="12700">
              <a:solidFill>
                <a:srgbClr val="4A515B"/>
              </a:solidFill>
            </a:ln>
          </p:spPr>
        </p:cxnSp>
        <p:sp>
          <p:nvSpPr>
            <p:cNvPr id="78" name="Rounded Rectangle 77"/>
            <p:cNvSpPr/>
            <p:nvPr/>
          </p:nvSpPr>
          <p:spPr>
            <a:xfrm>
              <a:off x="8604503" y="3904487"/>
              <a:ext cx="475488" cy="384048"/>
            </a:xfrm>
            <a:prstGeom prst="roundRect">
              <a:avLst>
                <a:gd name="adj" fmla="val 7142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8823959" y="3904487"/>
              <a:ext cx="36576" cy="384048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8659367" y="3995927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8897111" y="3995927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659367" y="4105655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897111" y="4105655"/>
              <a:ext cx="128016" cy="36576"/>
            </a:xfrm>
            <a:prstGeom prst="rect">
              <a:avLst/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9390888" y="3831335"/>
              <a:ext cx="182880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History</a:t>
              </a:r>
              <a:endParaRPr lang="en-GB" sz="1800"/>
            </a:p>
          </p:txBody>
        </p:sp>
      </p:grpSp>
      <p:sp>
        <p:nvSpPr>
          <p:cNvPr id="85" name="Inline chip: Undecided"/>
          <p:cNvSpPr/>
          <p:nvPr/>
        </p:nvSpPr>
        <p:spPr>
          <a:xfrm>
            <a:off x="749808" y="5074920"/>
            <a:ext cx="2978826" cy="310896"/>
          </a:xfrm>
          <a:prstGeom prst="roundRect">
            <a:avLst>
              <a:gd name="adj" fmla="val 29411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45720" tIns="0" rIns="45720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Pack names: undecided (OQ20)</a:t>
            </a:r>
            <a:endParaRPr lang="en-GB" sz="1400"/>
          </a:p>
        </p:txBody>
      </p:sp>
      <p:sp>
        <p:nvSpPr>
          <p:cNvPr id="86" name="Inline chip: Undecided"/>
          <p:cNvSpPr/>
          <p:nvPr/>
        </p:nvSpPr>
        <p:spPr>
          <a:xfrm>
            <a:off x="4002954" y="5074920"/>
            <a:ext cx="2385766" cy="310896"/>
          </a:xfrm>
          <a:prstGeom prst="roundRect">
            <a:avLst>
              <a:gd name="adj" fmla="val 29411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45720" tIns="0" rIns="45720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Price: undecided (OQ26)</a:t>
            </a:r>
            <a:endParaRPr lang="en-GB" sz="1400"/>
          </a:p>
        </p:txBody>
      </p:sp>
      <p:sp>
        <p:nvSpPr>
          <p:cNvPr id="87" name="Caption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36576" rIns="182880" bIns="36576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Separate regional packs could add fleets, buildings and history.</a:t>
            </a:r>
            <a:endParaRPr lang="en-GB" sz="2000"/>
          </a:p>
        </p:txBody>
      </p:sp>
      <p:sp>
        <p:nvSpPr>
          <p:cNvPr id="88" name="Caption rule"/>
          <p:cNvSpPr/>
          <p:nvPr/>
        </p:nvSpPr>
        <p:spPr>
          <a:xfrm>
            <a:off x="548640" y="5852160"/>
            <a:ext cx="73152" cy="5486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Slide number"/>
          <p:cNvSpPr txBox="1"/>
          <p:nvPr/>
        </p:nvSpPr>
        <p:spPr>
          <a:xfrm>
            <a:off x="10972800" y="647395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5</a:t>
            </a:r>
            <a:endParaRPr lang="en-GB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Growing by updates</a:t>
            </a:r>
            <a:endParaRPr lang="en-GB" sz="3600"/>
          </a:p>
        </p:txBody>
      </p:sp>
      <p:sp>
        <p:nvSpPr>
          <p:cNvPr id="3" name="Status chip: Proposed"/>
          <p:cNvSpPr/>
          <p:nvPr/>
        </p:nvSpPr>
        <p:spPr>
          <a:xfrm>
            <a:off x="10241280" y="4572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  <a:endParaRPr lang="en-GB" sz="1400"/>
          </a:p>
        </p:txBody>
      </p:sp>
      <p:grpSp>
        <p:nvGrpSpPr>
          <p:cNvPr id="4" name="Staircase of updates" descr="A staircase of three dashed blocks rising left to right: Launch (small), then Update, then a bigger Update."/>
          <p:cNvGrpSpPr/>
          <p:nvPr/>
        </p:nvGrpSpPr>
        <p:grpSpPr>
          <a:xfrm>
            <a:off x="822960" y="1691639"/>
            <a:ext cx="7680960" cy="3200401"/>
            <a:chOff x="822960" y="1691639"/>
            <a:chExt cx="7680960" cy="3200401"/>
          </a:xfrm>
        </p:grpSpPr>
        <p:sp>
          <p:nvSpPr>
            <p:cNvPr id="5" name="Rounded Rectangle 4"/>
            <p:cNvSpPr/>
            <p:nvPr/>
          </p:nvSpPr>
          <p:spPr>
            <a:xfrm>
              <a:off x="822960" y="3703320"/>
              <a:ext cx="2468880" cy="1188720"/>
            </a:xfrm>
            <a:prstGeom prst="roundRect">
              <a:avLst>
                <a:gd name="adj" fmla="val 6153"/>
              </a:avLst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t" wrap="square" tIns="164592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Launch</a:t>
              </a:r>
              <a:endParaRPr lang="en-GB" sz="22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29000" y="2697479"/>
              <a:ext cx="2468880" cy="2194560"/>
            </a:xfrm>
            <a:prstGeom prst="roundRect">
              <a:avLst>
                <a:gd name="adj" fmla="val 3333"/>
              </a:avLst>
            </a:prstGeom>
            <a:solidFill>
              <a:srgbClr val="F28C28">
                <a:alpha val="2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t" wrap="square" tIns="164592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Update</a:t>
              </a:r>
              <a:endParaRPr lang="en-GB" sz="220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035040" y="1691639"/>
              <a:ext cx="2468880" cy="3200400"/>
            </a:xfrm>
            <a:prstGeom prst="roundRect">
              <a:avLst>
                <a:gd name="adj" fmla="val 2962"/>
              </a:avLst>
            </a:prstGeom>
            <a:solidFill>
              <a:srgbClr val="F28C28">
                <a:alpha val="3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t" wrap="square" tIns="164592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Update</a:t>
              </a:r>
              <a:endParaRPr lang="en-GB" sz="2200"/>
            </a:p>
          </p:txBody>
        </p:sp>
      </p:grpSp>
      <p:grpSp>
        <p:nvGrpSpPr>
          <p:cNvPr id="8" name="No charge note" descr="A price tag crossed out, with the note: no charge per locomotive."/>
          <p:cNvGrpSpPr/>
          <p:nvPr/>
        </p:nvGrpSpPr>
        <p:grpSpPr>
          <a:xfrm>
            <a:off x="8961120" y="2011680"/>
            <a:ext cx="2679192" cy="2194560"/>
            <a:chOff x="8961120" y="2011680"/>
            <a:chExt cx="2679192" cy="2194560"/>
          </a:xfrm>
        </p:grpSpPr>
        <p:sp>
          <p:nvSpPr>
            <p:cNvPr id="9" name="Rounded Rectangle 8"/>
            <p:cNvSpPr/>
            <p:nvPr/>
          </p:nvSpPr>
          <p:spPr>
            <a:xfrm>
              <a:off x="8961120" y="2011680"/>
              <a:ext cx="2679192" cy="2194560"/>
            </a:xfrm>
            <a:prstGeom prst="roundRect">
              <a:avLst>
                <a:gd name="adj" fmla="val 3333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9857232" y="2331720"/>
              <a:ext cx="886968" cy="640080"/>
            </a:xfrm>
            <a:custGeom>
              <a:avLst/>
              <a:gdLst/>
              <a:ahLst/>
              <a:cxnLst/>
              <a:rect l="l" t="t" r="r" b="b"/>
              <a:pathLst>
                <a:path w="886968" h="640080">
                  <a:moveTo>
                    <a:pt x="0" y="320040"/>
                  </a:moveTo>
                  <a:lnTo>
                    <a:pt x="246888" y="0"/>
                  </a:lnTo>
                  <a:lnTo>
                    <a:pt x="886968" y="0"/>
                  </a:lnTo>
                  <a:lnTo>
                    <a:pt x="886968" y="640080"/>
                  </a:lnTo>
                  <a:lnTo>
                    <a:pt x="246888" y="640080"/>
                  </a:lnTo>
                  <a:close/>
                </a:path>
              </a:pathLst>
            </a:custGeom>
            <a:noFill/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0012680" y="2523744"/>
              <a:ext cx="109728" cy="10972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 flipV="1">
              <a:off x="9784080" y="2240280"/>
              <a:ext cx="1051560" cy="822960"/>
            </a:xfrm>
            <a:prstGeom prst="line">
              <a:avLst/>
            </a:prstGeom>
            <a:ln w="38100">
              <a:solidFill>
                <a:srgbClr val="E5484D"/>
              </a:solidFill>
            </a:ln>
          </p:spPr>
        </p:cxnSp>
        <p:sp>
          <p:nvSpPr>
            <p:cNvPr id="13" name="TextBox 12"/>
            <p:cNvSpPr txBox="1"/>
            <p:nvPr/>
          </p:nvSpPr>
          <p:spPr>
            <a:xfrm>
              <a:off x="9098280" y="3200400"/>
              <a:ext cx="2404872" cy="868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No charge per locomotive.</a:t>
              </a:r>
              <a:endParaRPr lang="en-GB" sz="1800"/>
            </a:p>
          </p:txBody>
        </p:sp>
      </p:grpSp>
      <p:sp>
        <p:nvSpPr>
          <p:cNvPr id="14" name="Inline chip: Undecided"/>
          <p:cNvSpPr/>
          <p:nvPr/>
        </p:nvSpPr>
        <p:spPr>
          <a:xfrm>
            <a:off x="822960" y="5120640"/>
            <a:ext cx="3680400" cy="310896"/>
          </a:xfrm>
          <a:prstGeom prst="roundRect">
            <a:avLst>
              <a:gd name="adj" fmla="val 29411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45720" tIns="0" rIns="45720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Early-access pricing: undecided (OQ26)</a:t>
            </a:r>
            <a:endParaRPr lang="en-GB" sz="1400"/>
          </a:p>
        </p:txBody>
      </p:sp>
      <p:sp>
        <p:nvSpPr>
          <p:cNvPr id="15" name="Caption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36576" rIns="182880" bIns="36576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A pack could start small and grow through updates, free to its owners.</a:t>
            </a:r>
            <a:endParaRPr lang="en-GB" sz="2000"/>
          </a:p>
        </p:txBody>
      </p:sp>
      <p:sp>
        <p:nvSpPr>
          <p:cNvPr id="16" name="Caption rule"/>
          <p:cNvSpPr/>
          <p:nvPr/>
        </p:nvSpPr>
        <p:spPr>
          <a:xfrm>
            <a:off x="548640" y="5852160"/>
            <a:ext cx="73152" cy="5486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lide number"/>
          <p:cNvSpPr txBox="1"/>
          <p:nvPr/>
        </p:nvSpPr>
        <p:spPr>
          <a:xfrm>
            <a:off x="10972800" y="647395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6</a:t>
            </a:r>
            <a:endParaRPr lang="en-GB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Packs work together</a:t>
            </a:r>
            <a:endParaRPr lang="en-GB" sz="3600"/>
          </a:p>
        </p:txBody>
      </p:sp>
      <p:sp>
        <p:nvSpPr>
          <p:cNvPr id="3" name="Status chip: Agreed"/>
          <p:cNvSpPr/>
          <p:nvPr/>
        </p:nvSpPr>
        <p:spPr>
          <a:xfrm>
            <a:off x="10241280" y="4572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  <a:endParaRPr lang="en-GB" sz="1400"/>
          </a:p>
        </p:txBody>
      </p:sp>
      <p:grpSp>
        <p:nvGrpSpPr>
          <p:cNvPr id="4" name="Shared rules bar" descr="A long bar labelled Shared rules beneath the core game and all three packs."/>
          <p:cNvGrpSpPr/>
          <p:nvPr/>
        </p:nvGrpSpPr>
        <p:grpSpPr>
          <a:xfrm>
            <a:off x="822960" y="4709160"/>
            <a:ext cx="10543032" cy="685800"/>
            <a:chOff x="822960" y="4709160"/>
            <a:chExt cx="10543032" cy="685800"/>
          </a:xfrm>
        </p:grpSpPr>
        <p:sp>
          <p:nvSpPr>
            <p:cNvPr id="5" name="Rounded Rectangle 4"/>
            <p:cNvSpPr/>
            <p:nvPr/>
          </p:nvSpPr>
          <p:spPr>
            <a:xfrm>
              <a:off x="822960" y="4709160"/>
              <a:ext cx="10543032" cy="685800"/>
            </a:xfrm>
            <a:prstGeom prst="roundRect">
              <a:avLst>
                <a:gd name="adj" fmla="val 10666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200" b="1" i="0" lang="en-GB">
                  <a:solidFill>
                    <a:srgbClr val="F2F2F2"/>
                  </a:solidFill>
                  <a:latin typeface="Arial"/>
                </a:rPr>
                <a:t>Shared rules</a:t>
              </a:r>
              <a:endParaRPr lang="en-GB" sz="2200"/>
            </a:p>
          </p:txBody>
        </p:sp>
      </p:grpSp>
      <p:grpSp>
        <p:nvGrpSpPr>
          <p:cNvPr id="6" name="Core game hub and packs" descr="A central block labelled Core game with three dashed Pack blocks plugged into it: left, right and above."/>
          <p:cNvGrpSpPr/>
          <p:nvPr/>
        </p:nvGrpSpPr>
        <p:grpSpPr>
          <a:xfrm>
            <a:off x="822960" y="1508760"/>
            <a:ext cx="10543032" cy="3200400"/>
            <a:chOff x="822960" y="1508760"/>
            <a:chExt cx="10543032" cy="3200400"/>
          </a:xfrm>
        </p:grpSpPr>
        <p:cxnSp>
          <p:nvCxnSpPr>
            <p:cNvPr id="7" name="Connector 6"/>
            <p:cNvCxnSpPr/>
            <p:nvPr/>
          </p:nvCxnSpPr>
          <p:spPr>
            <a:xfrm>
              <a:off x="2103120" y="3977639"/>
              <a:ext cx="0" cy="731521"/>
            </a:xfrm>
            <a:prstGeom prst="line">
              <a:avLst/>
            </a:prstGeom>
            <a:ln w="19050">
              <a:solidFill>
                <a:srgbClr val="9AA0A6"/>
              </a:solidFill>
              <a:prstDash val="dash"/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099048" y="3977639"/>
              <a:ext cx="0" cy="731521"/>
            </a:xfrm>
            <a:prstGeom prst="line">
              <a:avLst/>
            </a:prstGeom>
            <a:ln w="19050">
              <a:solidFill>
                <a:srgbClr val="9AA0A6"/>
              </a:solidFill>
              <a:prstDash val="dash"/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10085832" y="3977639"/>
              <a:ext cx="0" cy="731521"/>
            </a:xfrm>
            <a:prstGeom prst="line">
              <a:avLst/>
            </a:prstGeom>
            <a:ln w="19050">
              <a:solidFill>
                <a:srgbClr val="9AA0A6"/>
              </a:solidFill>
              <a:prstDash val="dash"/>
            </a:ln>
          </p:spPr>
        </p:cxnSp>
        <p:sp>
          <p:nvSpPr>
            <p:cNvPr id="10" name="Rounded Rectangle 9"/>
            <p:cNvSpPr/>
            <p:nvPr/>
          </p:nvSpPr>
          <p:spPr>
            <a:xfrm>
              <a:off x="822960" y="2697480"/>
              <a:ext cx="2560320" cy="1280160"/>
            </a:xfrm>
            <a:prstGeom prst="roundRect">
              <a:avLst>
                <a:gd name="adj" fmla="val 5714"/>
              </a:avLst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Pack</a:t>
              </a:r>
              <a:endParaRPr lang="en-GB" sz="200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805672" y="2697480"/>
              <a:ext cx="2560320" cy="1280160"/>
            </a:xfrm>
            <a:prstGeom prst="roundRect">
              <a:avLst>
                <a:gd name="adj" fmla="val 5714"/>
              </a:avLst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Pack</a:t>
              </a:r>
              <a:endParaRPr lang="en-GB" sz="20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636008" y="1508760"/>
              <a:ext cx="2926080" cy="731520"/>
            </a:xfrm>
            <a:prstGeom prst="roundRect">
              <a:avLst>
                <a:gd name="adj" fmla="val 10000"/>
              </a:avLst>
            </a:prstGeom>
            <a:solidFill>
              <a:srgbClr val="F28C28">
                <a:alpha val="14000"/>
              </a:srgbClr>
            </a:solidFill>
            <a:ln w="25400">
              <a:solidFill>
                <a:srgbClr val="F28C28"/>
              </a:solidFill>
              <a:prstDash val="dash"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Pack</a:t>
              </a:r>
              <a:endParaRPr lang="en-GB" sz="200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36008" y="2697480"/>
              <a:ext cx="2926080" cy="1280160"/>
            </a:xfrm>
            <a:prstGeom prst="roundRect">
              <a:avLst>
                <a:gd name="adj" fmla="val 714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2400" b="1" i="0" lang="en-GB">
                  <a:solidFill>
                    <a:srgbClr val="101418"/>
                  </a:solidFill>
                  <a:latin typeface="Arial"/>
                </a:rPr>
                <a:t>Core game</a:t>
              </a:r>
              <a:endParaRPr lang="en-GB" sz="2400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3383280" y="3337560"/>
              <a:ext cx="1252728" cy="0"/>
            </a:xfrm>
            <a:prstGeom prst="line">
              <a:avLst/>
            </a:prstGeom>
            <a:ln w="28575">
              <a:solidFill>
                <a:srgbClr val="F2F2F2"/>
              </a:solidFill>
            </a:ln>
          </p:spPr>
        </p:cxnSp>
        <p:sp>
          <p:nvSpPr>
            <p:cNvPr id="15" name="Oval 14"/>
            <p:cNvSpPr/>
            <p:nvPr/>
          </p:nvSpPr>
          <p:spPr>
            <a:xfrm>
              <a:off x="3300984" y="3255264"/>
              <a:ext cx="164592" cy="16459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4553712" y="3255264"/>
              <a:ext cx="164592" cy="16459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Connector 16"/>
            <p:cNvCxnSpPr/>
            <p:nvPr/>
          </p:nvCxnSpPr>
          <p:spPr>
            <a:xfrm flipH="1">
              <a:off x="7562088" y="3337560"/>
              <a:ext cx="1243584" cy="0"/>
            </a:xfrm>
            <a:prstGeom prst="line">
              <a:avLst/>
            </a:prstGeom>
            <a:ln w="28575">
              <a:solidFill>
                <a:srgbClr val="F2F2F2"/>
              </a:solidFill>
            </a:ln>
          </p:spPr>
        </p:cxnSp>
        <p:sp>
          <p:nvSpPr>
            <p:cNvPr id="18" name="Oval 17"/>
            <p:cNvSpPr/>
            <p:nvPr/>
          </p:nvSpPr>
          <p:spPr>
            <a:xfrm>
              <a:off x="8723376" y="3255264"/>
              <a:ext cx="164592" cy="16459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479792" y="3255264"/>
              <a:ext cx="164592" cy="16459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6099048" y="2240280"/>
              <a:ext cx="0" cy="457200"/>
            </a:xfrm>
            <a:prstGeom prst="line">
              <a:avLst/>
            </a:prstGeom>
            <a:ln w="28575">
              <a:solidFill>
                <a:srgbClr val="F2F2F2"/>
              </a:solidFill>
            </a:ln>
          </p:spPr>
        </p:cxnSp>
        <p:sp>
          <p:nvSpPr>
            <p:cNvPr id="21" name="Oval 20"/>
            <p:cNvSpPr/>
            <p:nvPr/>
          </p:nvSpPr>
          <p:spPr>
            <a:xfrm>
              <a:off x="6016752" y="2157984"/>
              <a:ext cx="164592" cy="16459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6016752" y="2615184"/>
              <a:ext cx="164592" cy="16459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Caption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36576" rIns="182880" bIns="36576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Packs need the core game and can be mixed. They share the same rules.</a:t>
            </a:r>
            <a:endParaRPr lang="en-GB" sz="2000"/>
          </a:p>
        </p:txBody>
      </p:sp>
      <p:sp>
        <p:nvSpPr>
          <p:cNvPr id="24" name="Caption rule"/>
          <p:cNvSpPr/>
          <p:nvPr/>
        </p:nvSpPr>
        <p:spPr>
          <a:xfrm>
            <a:off x="548640" y="5852160"/>
            <a:ext cx="73152" cy="5486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lide number"/>
          <p:cNvSpPr txBox="1"/>
          <p:nvPr/>
        </p:nvSpPr>
        <p:spPr>
          <a:xfrm>
            <a:off x="10972800" y="647395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7</a:t>
            </a:r>
            <a:endParaRPr lang="en-GB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600" b="1" i="0" lang="en-GB">
                <a:solidFill>
                  <a:srgbClr val="F2F2F2"/>
                </a:solidFill>
                <a:latin typeface="Arial"/>
              </a:rPr>
              <a:t>Beyond Small, Medium, Large</a:t>
            </a:r>
            <a:endParaRPr lang="en-GB" sz="3600"/>
          </a:p>
        </p:txBody>
      </p:sp>
      <p:sp>
        <p:nvSpPr>
          <p:cNvPr id="3" name="Status chip: Agreed"/>
          <p:cNvSpPr/>
          <p:nvPr/>
        </p:nvSpPr>
        <p:spPr>
          <a:xfrm>
            <a:off x="10241280" y="4572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  <a:endParaRPr lang="en-GB" sz="1400"/>
          </a:p>
        </p:txBody>
      </p:sp>
      <p:grpSp>
        <p:nvGrpSpPr>
          <p:cNvPr id="4" name="Small, Medium and Large cards" descr="Three cards, Small, Medium and Large, each with a small engine icon that grows with the size."/>
          <p:cNvGrpSpPr/>
          <p:nvPr/>
        </p:nvGrpSpPr>
        <p:grpSpPr>
          <a:xfrm>
            <a:off x="822960" y="1554480"/>
            <a:ext cx="3291840" cy="3383280"/>
            <a:chOff x="822960" y="1554480"/>
            <a:chExt cx="3291840" cy="3383280"/>
          </a:xfrm>
        </p:grpSpPr>
        <p:sp>
          <p:nvSpPr>
            <p:cNvPr id="5" name="Rounded Rectangle 4"/>
            <p:cNvSpPr/>
            <p:nvPr/>
          </p:nvSpPr>
          <p:spPr>
            <a:xfrm>
              <a:off x="822960" y="1554480"/>
              <a:ext cx="3291840" cy="1005840"/>
            </a:xfrm>
            <a:prstGeom prst="roundRect">
              <a:avLst>
                <a:gd name="adj" fmla="val 7272"/>
              </a:avLst>
            </a:prstGeom>
            <a:solidFill>
              <a:srgbClr val="2B2F36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51560" y="1554480"/>
              <a:ext cx="128016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Small</a:t>
              </a:r>
              <a:endParaRPr lang="en-GB" sz="20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23260" y="2112264"/>
              <a:ext cx="685799" cy="45720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282696" y="2148840"/>
              <a:ext cx="137160" cy="137160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3337560" y="2203703"/>
              <a:ext cx="27432" cy="2743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534156" y="2148840"/>
              <a:ext cx="137160" cy="137160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589020" y="2203703"/>
              <a:ext cx="27432" cy="2743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3785615" y="2148840"/>
              <a:ext cx="137160" cy="137160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840480" y="2203703"/>
              <a:ext cx="27432" cy="2743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3351276" y="2217420"/>
              <a:ext cx="502920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sp>
          <p:nvSpPr>
            <p:cNvPr id="15" name="Rounded Rectangle 14"/>
            <p:cNvSpPr/>
            <p:nvPr/>
          </p:nvSpPr>
          <p:spPr>
            <a:xfrm>
              <a:off x="3497579" y="1938528"/>
              <a:ext cx="411480" cy="173736"/>
            </a:xfrm>
            <a:prstGeom prst="roundRect">
              <a:avLst>
                <a:gd name="adj" fmla="val 31578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515868" y="2002536"/>
              <a:ext cx="283464" cy="118872"/>
            </a:xfrm>
            <a:prstGeom prst="roundRect">
              <a:avLst>
                <a:gd name="adj" fmla="val 30769"/>
              </a:avLst>
            </a:prstGeom>
            <a:solidFill>
              <a:srgbClr val="F28C28"/>
            </a:solidFill>
            <a:ln w="15875">
              <a:solidFill>
                <a:srgbClr val="1B1D2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26763" y="1938528"/>
              <a:ext cx="82296" cy="173736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845051" y="1856231"/>
              <a:ext cx="45720" cy="91440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26763" y="1837943"/>
              <a:ext cx="82296" cy="2743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634739" y="1892807"/>
              <a:ext cx="91440" cy="54864"/>
            </a:xfrm>
            <a:prstGeom prst="roundRect">
              <a:avLst>
                <a:gd name="adj" fmla="val 50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23260" y="1874519"/>
              <a:ext cx="274320" cy="246888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209544" y="1851660"/>
              <a:ext cx="301751" cy="3200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87268" y="1929384"/>
              <a:ext cx="118872" cy="9144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22960" y="2743200"/>
              <a:ext cx="3291840" cy="1005840"/>
            </a:xfrm>
            <a:prstGeom prst="roundRect">
              <a:avLst>
                <a:gd name="adj" fmla="val 7272"/>
              </a:avLst>
            </a:prstGeom>
            <a:solidFill>
              <a:srgbClr val="2B2F36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51560" y="2743200"/>
              <a:ext cx="128016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Medium</a:t>
              </a:r>
              <a:endParaRPr lang="en-GB" sz="200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609240" y="3165652"/>
              <a:ext cx="452628" cy="170992"/>
            </a:xfrm>
            <a:prstGeom prst="roundRect">
              <a:avLst>
                <a:gd name="adj" fmla="val 16042"/>
              </a:avLst>
            </a:prstGeom>
            <a:solidFill>
              <a:srgbClr val="2B2F36"/>
            </a:solidFill>
            <a:ln w="1905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649473" y="3095244"/>
              <a:ext cx="372161" cy="70408"/>
            </a:xfrm>
            <a:custGeom>
              <a:avLst/>
              <a:gdLst/>
              <a:ahLst/>
              <a:cxnLst/>
              <a:rect l="l" t="t" r="r" b="b"/>
              <a:pathLst>
                <a:path w="372161" h="70408">
                  <a:moveTo>
                    <a:pt x="0" y="70408"/>
                  </a:moveTo>
                  <a:lnTo>
                    <a:pt x="60351" y="10058"/>
                  </a:lnTo>
                  <a:lnTo>
                    <a:pt x="311811" y="0"/>
                  </a:lnTo>
                  <a:lnTo>
                    <a:pt x="372161" y="70408"/>
                  </a:lnTo>
                  <a:close/>
                </a:path>
              </a:pathLst>
            </a:cu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2689707" y="3376879"/>
              <a:ext cx="120700" cy="120700"/>
            </a:xfrm>
            <a:prstGeom prst="ellipse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2860700" y="3376879"/>
              <a:ext cx="120700" cy="120700"/>
            </a:xfrm>
            <a:prstGeom prst="ellipse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3061868" y="3306470"/>
              <a:ext cx="40233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31" name="Rectangle 30"/>
            <p:cNvSpPr/>
            <p:nvPr/>
          </p:nvSpPr>
          <p:spPr>
            <a:xfrm>
              <a:off x="3102101" y="3306470"/>
              <a:ext cx="804672" cy="5029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3167481" y="3346704"/>
              <a:ext cx="150876" cy="150876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3227831" y="3407054"/>
              <a:ext cx="30175" cy="3017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3368649" y="3346704"/>
              <a:ext cx="150876" cy="150876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3428999" y="3407054"/>
              <a:ext cx="30175" cy="3017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3569817" y="3346704"/>
              <a:ext cx="150876" cy="150876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3630168" y="3407054"/>
              <a:ext cx="30175" cy="3017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3770985" y="3346704"/>
              <a:ext cx="150876" cy="150876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3831336" y="3407054"/>
              <a:ext cx="30175" cy="3017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3242919" y="3422142"/>
              <a:ext cx="603504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sp>
          <p:nvSpPr>
            <p:cNvPr id="41" name="Rounded Rectangle 40"/>
            <p:cNvSpPr/>
            <p:nvPr/>
          </p:nvSpPr>
          <p:spPr>
            <a:xfrm>
              <a:off x="3403853" y="3115360"/>
              <a:ext cx="502920" cy="191109"/>
            </a:xfrm>
            <a:prstGeom prst="roundRect">
              <a:avLst>
                <a:gd name="adj" fmla="val 28708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816248" y="3115360"/>
              <a:ext cx="90525" cy="191109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836365" y="3024835"/>
              <a:ext cx="50292" cy="10058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816248" y="3004718"/>
              <a:ext cx="90525" cy="30175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554729" y="3065068"/>
              <a:ext cx="100584" cy="60350"/>
            </a:xfrm>
            <a:prstGeom prst="roundRect">
              <a:avLst>
                <a:gd name="adj" fmla="val 50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102101" y="3044952"/>
              <a:ext cx="301752" cy="271576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087014" y="3019806"/>
              <a:ext cx="331927" cy="3520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172510" y="3105302"/>
              <a:ext cx="130759" cy="10058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822960" y="3931920"/>
              <a:ext cx="3291840" cy="1005840"/>
            </a:xfrm>
            <a:prstGeom prst="roundRect">
              <a:avLst>
                <a:gd name="adj" fmla="val 7272"/>
              </a:avLst>
            </a:prstGeom>
            <a:solidFill>
              <a:srgbClr val="2B2F36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51560" y="3931920"/>
              <a:ext cx="128016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Large</a:t>
              </a:r>
              <a:endParaRPr lang="en-GB" sz="2000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2270820" y="4344131"/>
              <a:ext cx="566928" cy="192755"/>
            </a:xfrm>
            <a:prstGeom prst="roundRect">
              <a:avLst>
                <a:gd name="adj" fmla="val 14231"/>
              </a:avLst>
            </a:prstGeom>
            <a:solidFill>
              <a:srgbClr val="2B2F36"/>
            </a:solidFill>
            <a:ln w="1905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316175" y="4264761"/>
              <a:ext cx="476219" cy="79370"/>
            </a:xfrm>
            <a:custGeom>
              <a:avLst/>
              <a:gdLst/>
              <a:ahLst/>
              <a:cxnLst/>
              <a:rect l="l" t="t" r="r" b="b"/>
              <a:pathLst>
                <a:path w="476219" h="79370">
                  <a:moveTo>
                    <a:pt x="0" y="79370"/>
                  </a:moveTo>
                  <a:lnTo>
                    <a:pt x="68031" y="11339"/>
                  </a:lnTo>
                  <a:lnTo>
                    <a:pt x="408188" y="0"/>
                  </a:lnTo>
                  <a:lnTo>
                    <a:pt x="476219" y="79370"/>
                  </a:lnTo>
                  <a:close/>
                </a:path>
              </a:pathLst>
            </a:cu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2361529" y="4582241"/>
              <a:ext cx="136062" cy="136062"/>
            </a:xfrm>
            <a:prstGeom prst="ellipse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2610977" y="4582241"/>
              <a:ext cx="136062" cy="136062"/>
            </a:xfrm>
            <a:prstGeom prst="ellipse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2837748" y="4502871"/>
              <a:ext cx="45355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56" name="Rectangle 55"/>
            <p:cNvSpPr/>
            <p:nvPr/>
          </p:nvSpPr>
          <p:spPr>
            <a:xfrm>
              <a:off x="2883103" y="4502871"/>
              <a:ext cx="1020470" cy="5669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2956803" y="4548225"/>
              <a:ext cx="170078" cy="170078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3024835" y="4616256"/>
              <a:ext cx="34015" cy="340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3155228" y="4548225"/>
              <a:ext cx="170078" cy="170078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3223259" y="4616256"/>
              <a:ext cx="34015" cy="340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3353653" y="4548225"/>
              <a:ext cx="170078" cy="170078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3421684" y="4616256"/>
              <a:ext cx="34015" cy="340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3552078" y="4548225"/>
              <a:ext cx="170078" cy="170078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3620109" y="4616256"/>
              <a:ext cx="34015" cy="340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3750503" y="4548225"/>
              <a:ext cx="170078" cy="170078"/>
            </a:xfrm>
            <a:prstGeom prst="ellipse">
              <a:avLst/>
            </a:prstGeom>
            <a:solidFill>
              <a:srgbClr val="343A43"/>
            </a:solidFill>
            <a:ln w="15875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3818534" y="4616256"/>
              <a:ext cx="34015" cy="340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3041843" y="4633264"/>
              <a:ext cx="793699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sp>
          <p:nvSpPr>
            <p:cNvPr id="68" name="Rounded Rectangle 67"/>
            <p:cNvSpPr/>
            <p:nvPr/>
          </p:nvSpPr>
          <p:spPr>
            <a:xfrm>
              <a:off x="3223259" y="4287438"/>
              <a:ext cx="680313" cy="215432"/>
            </a:xfrm>
            <a:prstGeom prst="roundRect">
              <a:avLst>
                <a:gd name="adj" fmla="val 25466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801526" y="4287438"/>
              <a:ext cx="102047" cy="215432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824203" y="4185391"/>
              <a:ext cx="56692" cy="113385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801526" y="4162714"/>
              <a:ext cx="102047" cy="34015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3393338" y="4230745"/>
              <a:ext cx="113385" cy="68031"/>
            </a:xfrm>
            <a:prstGeom prst="roundRect">
              <a:avLst>
                <a:gd name="adj" fmla="val 50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883103" y="4208068"/>
              <a:ext cx="340156" cy="306141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866095" y="4179722"/>
              <a:ext cx="374172" cy="39684"/>
            </a:xfrm>
            <a:prstGeom prst="rect">
              <a:avLst/>
            </a:prstGeom>
            <a:solidFill>
              <a:srgbClr val="1B1D21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962473" y="4276100"/>
              <a:ext cx="147401" cy="11338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6" name="Arrow" descr="An arrow pointing from the three size cards to the job categories."/>
          <p:cNvSpPr/>
          <p:nvPr/>
        </p:nvSpPr>
        <p:spPr>
          <a:xfrm>
            <a:off x="4434840" y="2926080"/>
            <a:ext cx="1097280" cy="73152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Note: candidate names"/>
          <p:cNvSpPr txBox="1"/>
          <p:nvPr/>
        </p:nvSpPr>
        <p:spPr>
          <a:xfrm>
            <a:off x="5897880" y="14173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 i="1" lang="en-GB">
                <a:solidFill>
                  <a:srgbClr val="A9B0B8"/>
                </a:solidFill>
                <a:latin typeface="Arial"/>
              </a:rPr>
              <a:t>Candidate names only</a:t>
            </a:r>
            <a:endParaRPr lang="en-GB" sz="1400"/>
          </a:p>
        </p:txBody>
      </p:sp>
      <p:grpSp>
        <p:nvGrpSpPr>
          <p:cNvPr id="78" name="Shelf of four categories" descr="A two-shelf rack holding four category chips: Shunters, Mixed Traffic, Fast Freight and Heavy Freight. These are candidate names only."/>
          <p:cNvGrpSpPr/>
          <p:nvPr/>
        </p:nvGrpSpPr>
        <p:grpSpPr>
          <a:xfrm>
            <a:off x="5897880" y="1828800"/>
            <a:ext cx="5742432" cy="2926080"/>
            <a:chOff x="5897880" y="1828800"/>
            <a:chExt cx="5742432" cy="2926080"/>
          </a:xfrm>
        </p:grpSpPr>
        <p:sp>
          <p:nvSpPr>
            <p:cNvPr id="79" name="Rounded Rectangle 78"/>
            <p:cNvSpPr/>
            <p:nvPr/>
          </p:nvSpPr>
          <p:spPr>
            <a:xfrm>
              <a:off x="5897880" y="1828800"/>
              <a:ext cx="5742432" cy="2926080"/>
            </a:xfrm>
            <a:prstGeom prst="roundRect">
              <a:avLst>
                <a:gd name="adj" fmla="val 2500"/>
              </a:avLst>
            </a:prstGeom>
            <a:solidFill>
              <a:srgbClr val="2B2F36"/>
            </a:solidFill>
            <a:ln w="1905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6172200" y="2103120"/>
              <a:ext cx="2514600" cy="731520"/>
            </a:xfrm>
            <a:prstGeom prst="roundRect">
              <a:avLst>
                <a:gd name="adj" fmla="val 500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Shunters</a:t>
              </a:r>
              <a:endParaRPr lang="en-GB" sz="180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080760" y="2971800"/>
              <a:ext cx="5376672" cy="1097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8915400" y="2103120"/>
              <a:ext cx="2514600" cy="731520"/>
            </a:xfrm>
            <a:prstGeom prst="roundRect">
              <a:avLst>
                <a:gd name="adj" fmla="val 500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Mixed Traffic</a:t>
              </a:r>
              <a:endParaRPr lang="en-GB" sz="180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080760" y="2971800"/>
              <a:ext cx="5376672" cy="1097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6172200" y="3429000"/>
              <a:ext cx="2514600" cy="731520"/>
            </a:xfrm>
            <a:prstGeom prst="roundRect">
              <a:avLst>
                <a:gd name="adj" fmla="val 500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Fast Freight</a:t>
              </a:r>
              <a:endParaRPr lang="en-GB" sz="180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080760" y="4297680"/>
              <a:ext cx="5376672" cy="1097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8915400" y="3429000"/>
              <a:ext cx="2514600" cy="731520"/>
            </a:xfrm>
            <a:prstGeom prst="roundRect">
              <a:avLst>
                <a:gd name="adj" fmla="val 50000"/>
              </a:avLst>
            </a:prstGeom>
            <a:solidFill>
              <a:srgbClr val="343A43"/>
            </a:solidFill>
            <a:ln w="25400">
              <a:solidFill>
                <a:srgbClr val="F28C28"/>
              </a:solidFill>
            </a:ln>
          </p:spPr>
          <p:txBody>
            <a:bodyPr rtlCol="0" anchor="ctr" wrap="square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Heavy Freight</a:t>
              </a:r>
              <a:endParaRPr lang="en-GB" sz="1800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080760" y="4297680"/>
              <a:ext cx="5376672" cy="109728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8" name="Inline chip: Undecided"/>
          <p:cNvSpPr/>
          <p:nvPr/>
        </p:nvSpPr>
        <p:spPr>
          <a:xfrm>
            <a:off x="5897880" y="4983480"/>
            <a:ext cx="2533965" cy="310896"/>
          </a:xfrm>
          <a:prstGeom prst="roundRect">
            <a:avLst>
              <a:gd name="adj" fmla="val 29411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45720" tIns="0" rIns="45720" bIns="0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Names: undecided (OQ20)</a:t>
            </a:r>
            <a:endParaRPr lang="en-GB" sz="1400"/>
          </a:p>
        </p:txBody>
      </p:sp>
      <p:sp>
        <p:nvSpPr>
          <p:cNvPr id="89" name="Caption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2B2F36"/>
          </a:solidFill>
          <a:ln>
            <a:noFill/>
          </a:ln>
        </p:spPr>
        <p:txBody>
          <a:bodyPr rtlCol="0" anchor="ctr" wrap="square" lIns="274320" tIns="36576" rIns="182880" bIns="36576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With many engines, you browse by job instead of only by size.</a:t>
            </a:r>
            <a:endParaRPr lang="en-GB" sz="2000"/>
          </a:p>
        </p:txBody>
      </p:sp>
      <p:sp>
        <p:nvSpPr>
          <p:cNvPr id="90" name="Caption rule"/>
          <p:cNvSpPr/>
          <p:nvPr/>
        </p:nvSpPr>
        <p:spPr>
          <a:xfrm>
            <a:off x="548640" y="5852160"/>
            <a:ext cx="73152" cy="5486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Slide number"/>
          <p:cNvSpPr txBox="1"/>
          <p:nvPr/>
        </p:nvSpPr>
        <p:spPr>
          <a:xfrm>
            <a:off x="10972800" y="6473952"/>
            <a:ext cx="6675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8</a:t>
            </a:r>
            <a:endParaRPr lang="en-GB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28C28"/>
      </a:hlink>
      <a:folHlink>
        <a:srgbClr val="F2B36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After Launch, Part 1: Packs, Locomotives and History, Explained</dc:title>
  <dc:subject>Explainer deck for the Early Locomotion project (Satisfactory mod)</dc:subject>
  <dc:creator>Claude (Early Locomotion project)</dc:creator>
  <cp:keywords/>
  <dc:description/>
  <cp:lastModifiedBy>Claude (Early Locomotion project)</cp:lastModifiedBy>
  <cp:revision>1</cp:revision>
  <dcterms:created xsi:type="dcterms:W3CDTF">2013-01-27T09:14:16Z</dcterms:created>
  <dcterms:modified xsi:type="dcterms:W3CDTF">2013-01-27T09:15:58Z</dcterms:modified>
  <cp:category/>
  <dc:language>en-GB</dc:language>
</cp:coreProperties>
</file>