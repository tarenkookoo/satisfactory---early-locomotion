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ommons.wikimedia.org/wiki/File:Out_in_the_open_(530236847)_(2).jp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20040"/>
            <a:ext cx="5943600" cy="3474720"/>
          </a:xfrm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After Launch: Packs, Locomotives and History</a:t>
            </a:r>
            <a:endParaRPr lang="en-GB" sz="5400"/>
          </a:p>
        </p:txBody>
      </p:sp>
      <p:sp>
        <p:nvSpPr>
          <p:cNvPr id="3" name="Rectangle 2"/>
          <p:cNvSpPr/>
          <p:nvPr/>
        </p:nvSpPr>
        <p:spPr>
          <a:xfrm>
            <a:off x="548640" y="3977639"/>
            <a:ext cx="2194560" cy="6400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"/>
          <p:cNvSpPr txBox="1"/>
          <p:nvPr/>
        </p:nvSpPr>
        <p:spPr>
          <a:xfrm>
            <a:off x="548640" y="425196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the mod could grow after the first release. All of it comes later.</a:t>
            </a:r>
            <a:endParaRPr lang="en-GB" sz="2000"/>
          </a:p>
        </p:txBody>
      </p:sp>
      <p:pic>
        <p:nvPicPr>
          <p:cNvPr id="5" name="Photo: real locomotive" descr="A real British steam locomotive, seen from the front and side, trailing smoke beside a semaphore signal. A photograph for illustration only."/>
          <p:cNvPicPr>
            <a:picLocks noChangeAspect="1"/>
          </p:cNvPicPr>
          <p:nvPr/>
        </p:nvPicPr>
        <p:blipFill>
          <a:blip r:embed="rId2"/>
          <a:srcRect l="35262" r="8815"/>
          <a:stretch>
            <a:fillRect/>
          </a:stretch>
        </p:blipFill>
        <p:spPr>
          <a:xfrm>
            <a:off x="6766560" y="457200"/>
            <a:ext cx="4873752" cy="5806440"/>
          </a:xfrm>
          <a:prstGeom prst="roundRect">
            <a:avLst>
              <a:gd name="adj" fmla="val 1500"/>
            </a:avLst>
          </a:prstGeom>
        </p:spPr>
      </p:pic>
      <p:sp>
        <p:nvSpPr>
          <p:cNvPr id="6" name="Credit line"/>
          <p:cNvSpPr txBox="1"/>
          <p:nvPr/>
        </p:nvSpPr>
        <p:spPr>
          <a:xfrm>
            <a:off x="6766560" y="6355080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A real locomotive, for illustration. Photo: Ben Salter, CC BY 2.0.</a:t>
            </a:r>
            <a:endParaRPr lang="en-GB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  <a:endParaRPr lang="en-GB" sz="3600"/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Legend chip: Agreed"/>
          <p:cNvSpPr/>
          <p:nvPr/>
        </p:nvSpPr>
        <p:spPr>
          <a:xfrm>
            <a:off x="822960" y="156362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5" name="Legend meaning: Agreed"/>
          <p:cNvSpPr txBox="1"/>
          <p:nvPr/>
        </p:nvSpPr>
        <p:spPr>
          <a:xfrm>
            <a:off x="2606040" y="141732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Decided.</a:t>
            </a:r>
            <a:endParaRPr lang="en-GB" sz="2000"/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Legend chip: Proposed"/>
          <p:cNvSpPr/>
          <p:nvPr/>
        </p:nvSpPr>
        <p:spPr>
          <a:xfrm>
            <a:off x="822960" y="238658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sp>
        <p:nvSpPr>
          <p:cNvPr id="8" name="Legend meaning: Proposed"/>
          <p:cNvSpPr txBox="1"/>
          <p:nvPr/>
        </p:nvSpPr>
        <p:spPr>
          <a:xfrm>
            <a:off x="2606040" y="224028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Suggested, not confirmed.</a:t>
            </a:r>
            <a:endParaRPr lang="en-GB" sz="2000"/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Legend chip: Provisional"/>
          <p:cNvSpPr/>
          <p:nvPr/>
        </p:nvSpPr>
        <p:spPr>
          <a:xfrm>
            <a:off x="822960" y="320954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  <a:endParaRPr lang="en-GB" sz="1400"/>
          </a:p>
        </p:txBody>
      </p:sp>
      <p:sp>
        <p:nvSpPr>
          <p:cNvPr id="11" name="Legend meaning: Provisional"/>
          <p:cNvSpPr txBox="1"/>
          <p:nvPr/>
        </p:nvSpPr>
        <p:spPr>
          <a:xfrm>
            <a:off x="2606040" y="306324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test number that may change.</a:t>
            </a:r>
            <a:endParaRPr lang="en-GB" sz="2000"/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Legend chip: Undecided"/>
          <p:cNvSpPr/>
          <p:nvPr/>
        </p:nvSpPr>
        <p:spPr>
          <a:xfrm>
            <a:off x="822960" y="4032504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sp>
        <p:nvSpPr>
          <p:cNvPr id="14" name="Legend meaning: Undecided"/>
          <p:cNvSpPr txBox="1"/>
          <p:nvPr/>
        </p:nvSpPr>
        <p:spPr>
          <a:xfrm>
            <a:off x="2606040" y="388620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Still an open question.</a:t>
            </a:r>
            <a:endParaRPr lang="en-GB" sz="2000"/>
          </a:p>
        </p:txBody>
      </p:sp>
      <p:sp>
        <p:nvSpPr>
          <p:cNvPr id="15" name="Rounded Rectangle 14"/>
          <p:cNvSpPr/>
          <p:nvPr/>
        </p:nvSpPr>
        <p:spPr>
          <a:xfrm>
            <a:off x="548640" y="470916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Legend chip: Background"/>
          <p:cNvSpPr/>
          <p:nvPr/>
        </p:nvSpPr>
        <p:spPr>
          <a:xfrm>
            <a:off x="822960" y="4855464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  <a:endParaRPr lang="en-GB" sz="1400"/>
          </a:p>
        </p:txBody>
      </p:sp>
      <p:sp>
        <p:nvSpPr>
          <p:cNvPr id="17" name="Legend meaning: Background"/>
          <p:cNvSpPr txBox="1"/>
          <p:nvPr/>
        </p:nvSpPr>
        <p:spPr>
          <a:xfrm>
            <a:off x="2606040" y="4709160"/>
            <a:ext cx="86868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real-world fact.</a:t>
            </a:r>
            <a:endParaRPr lang="en-GB" sz="2000"/>
          </a:p>
        </p:txBody>
      </p:sp>
      <p:sp>
        <p:nvSpPr>
          <p:cNvPr id="18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  <a:endParaRPr lang="en-GB" sz="2000"/>
          </a:p>
        </p:txBody>
      </p:sp>
      <p:sp>
        <p:nvSpPr>
          <p:cNvPr id="19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  <a:endParaRPr lang="en-GB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Core comes first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Later packs (dashed blocks)" descr="Three dashed blocks labelled Later packs float above the core block, not touching it: packs come later."/>
          <p:cNvGrpSpPr/>
          <p:nvPr/>
        </p:nvGrpSpPr>
        <p:grpSpPr>
          <a:xfrm>
            <a:off x="1417320" y="1417320"/>
            <a:ext cx="9326880" cy="1417320"/>
            <a:chOff x="1417320" y="1417320"/>
            <a:chExt cx="9326880" cy="1417320"/>
          </a:xfrm>
        </p:grpSpPr>
        <p:sp>
          <p:nvSpPr>
            <p:cNvPr id="5" name="Rounded Rectangle 4"/>
            <p:cNvSpPr/>
            <p:nvPr/>
          </p:nvSpPr>
          <p:spPr>
            <a:xfrm>
              <a:off x="1417320" y="160020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63440" y="141732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909560" y="1783080"/>
              <a:ext cx="2834640" cy="1051560"/>
            </a:xfrm>
            <a:prstGeom prst="roundRect">
              <a:avLst>
                <a:gd name="adj" fmla="val 8695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Later packs</a:t>
              </a:r>
              <a:endParaRPr lang="en-GB" sz="2000"/>
            </a:p>
          </p:txBody>
        </p:sp>
      </p:grpSp>
      <p:grpSp>
        <p:nvGrpSpPr>
          <p:cNvPr id="8" name="Core block (solid)" descr="A tall solid orange block labelled Core 1.0: complete, standing at the bottom."/>
          <p:cNvGrpSpPr/>
          <p:nvPr/>
        </p:nvGrpSpPr>
        <p:grpSpPr>
          <a:xfrm>
            <a:off x="2606040" y="3611880"/>
            <a:ext cx="6949440" cy="1965960"/>
            <a:chOff x="2606040" y="3611880"/>
            <a:chExt cx="6949440" cy="1965960"/>
          </a:xfrm>
        </p:grpSpPr>
        <p:sp>
          <p:nvSpPr>
            <p:cNvPr id="9" name="Rounded Rectangle 8"/>
            <p:cNvSpPr/>
            <p:nvPr/>
          </p:nvSpPr>
          <p:spPr>
            <a:xfrm>
              <a:off x="2606040" y="3611880"/>
              <a:ext cx="6949440" cy="1965960"/>
            </a:xfrm>
            <a:prstGeom prst="roundRect">
              <a:avLst>
                <a:gd name="adj" fmla="val 465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3200" b="1" i="0" lang="en-GB">
                  <a:solidFill>
                    <a:srgbClr val="101418"/>
                  </a:solidFill>
                  <a:latin typeface="Arial"/>
                </a:rPr>
                <a:t>Core 1.0: complete</a:t>
              </a:r>
              <a:endParaRPr lang="en-GB" sz="3200"/>
            </a:p>
          </p:txBody>
        </p:sp>
      </p:grpSp>
      <p:sp>
        <p:nvSpPr>
          <p:cNvPr id="1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core game is finished first. Nothing is held back to sell packs.</a:t>
            </a:r>
            <a:endParaRPr lang="en-GB" sz="2000"/>
          </a:p>
        </p:txBody>
      </p:sp>
      <p:sp>
        <p:nvSpPr>
          <p:cNvPr id="1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  <a:endParaRPr lang="en-GB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One shared engine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ared rules bar" descr="A long bar labelled Shared rules. Both engines stand on it."/>
          <p:cNvGrpSpPr/>
          <p:nvPr/>
        </p:nvGrpSpPr>
        <p:grpSpPr>
          <a:xfrm>
            <a:off x="822960" y="4663440"/>
            <a:ext cx="10543032" cy="731520"/>
            <a:chOff x="822960" y="4663440"/>
            <a:chExt cx="10543032" cy="73152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4663440"/>
              <a:ext cx="10543032" cy="731520"/>
            </a:xfrm>
            <a:prstGeom prst="roundRect">
              <a:avLst>
                <a:gd name="adj" fmla="val 1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Shared rules</a:t>
              </a:r>
              <a:endParaRPr lang="en-GB" sz="2200"/>
            </a:p>
          </p:txBody>
        </p:sp>
      </p:grpSp>
      <p:grpSp>
        <p:nvGrpSpPr>
          <p:cNvPr id="6" name="Core engine and data card" descr="A Core engine, a small tank engine, with its own data card."/>
          <p:cNvGrpSpPr/>
          <p:nvPr/>
        </p:nvGrpSpPr>
        <p:grpSpPr>
          <a:xfrm>
            <a:off x="1233525" y="1508760"/>
            <a:ext cx="3139227" cy="3154680"/>
            <a:chOff x="1233525" y="1508760"/>
            <a:chExt cx="3139227" cy="3154680"/>
          </a:xfrm>
        </p:grpSpPr>
        <p:sp>
          <p:nvSpPr>
            <p:cNvPr id="7" name="Rectangle 6"/>
            <p:cNvSpPr/>
            <p:nvPr/>
          </p:nvSpPr>
          <p:spPr>
            <a:xfrm>
              <a:off x="1280160" y="4072737"/>
              <a:ext cx="2720340" cy="15544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482242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668780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2531516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2718054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580790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767328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715414" y="4430268"/>
              <a:ext cx="209854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2212848" y="3482035"/>
              <a:ext cx="1787651" cy="590702"/>
            </a:xfrm>
            <a:prstGeom prst="roundRect">
              <a:avLst>
                <a:gd name="adj" fmla="val 928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275027" y="3699662"/>
              <a:ext cx="1352397" cy="404164"/>
            </a:xfrm>
            <a:prstGeom prst="roundRect">
              <a:avLst>
                <a:gd name="adj" fmla="val 904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720693" y="3482035"/>
              <a:ext cx="279806" cy="5907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782872" y="3202228"/>
              <a:ext cx="155448" cy="3108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720693" y="3140049"/>
              <a:ext cx="279806" cy="932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679191" y="3326587"/>
              <a:ext cx="310896" cy="186537"/>
            </a:xfrm>
            <a:prstGeom prst="roundRect">
              <a:avLst>
                <a:gd name="adj" fmla="val 1960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280160" y="3264407"/>
              <a:ext cx="932688" cy="839419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233525" y="3186683"/>
              <a:ext cx="1025956" cy="10881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497787" y="3450945"/>
              <a:ext cx="40416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80160" y="2651759"/>
              <a:ext cx="1858152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Core engine</a:t>
              </a:r>
              <a:endParaRPr lang="en-GB" sz="1600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269632" y="1508760"/>
              <a:ext cx="210312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222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06792" y="1554480"/>
              <a:ext cx="1828799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Data card</a:t>
              </a:r>
              <a:endParaRPr lang="en-GB" sz="14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406792" y="1984248"/>
              <a:ext cx="155448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406792" y="2167128"/>
              <a:ext cx="118872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406792" y="2350008"/>
              <a:ext cx="137160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3321192" y="2560320"/>
              <a:ext cx="0" cy="921715"/>
            </a:xfrm>
            <a:prstGeom prst="line">
              <a:avLst/>
            </a:prstGeom>
            <a:ln w="28575">
              <a:solidFill>
                <a:srgbClr val="F28C28"/>
              </a:solidFill>
            </a:ln>
          </p:spPr>
        </p:cxnSp>
      </p:grpSp>
      <p:grpSp>
        <p:nvGrpSpPr>
          <p:cNvPr id="31" name="Pack engine and data card" descr="A Pack engine, a larger engine with a tender, with its own data card (dashed because packs come later)."/>
          <p:cNvGrpSpPr/>
          <p:nvPr/>
        </p:nvGrpSpPr>
        <p:grpSpPr>
          <a:xfrm>
            <a:off x="6035040" y="1508760"/>
            <a:ext cx="4790084" cy="3154680"/>
            <a:chOff x="6035040" y="1508760"/>
            <a:chExt cx="4790084" cy="3154680"/>
          </a:xfrm>
        </p:grpSpPr>
        <p:sp>
          <p:nvSpPr>
            <p:cNvPr id="32" name="Rounded Rectangle 31"/>
            <p:cNvSpPr/>
            <p:nvPr/>
          </p:nvSpPr>
          <p:spPr>
            <a:xfrm>
              <a:off x="6035040" y="3637483"/>
              <a:ext cx="1476756" cy="528523"/>
            </a:xfrm>
            <a:prstGeom prst="roundRect">
              <a:avLst>
                <a:gd name="adj" fmla="val 5190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6159398" y="3419855"/>
              <a:ext cx="1228039" cy="217628"/>
            </a:xfrm>
            <a:custGeom>
              <a:avLst/>
              <a:gdLst/>
              <a:ahLst/>
              <a:cxnLst/>
              <a:rect l="l" t="t" r="r" b="b"/>
              <a:pathLst>
                <a:path w="1228039" h="217628">
                  <a:moveTo>
                    <a:pt x="0" y="217628"/>
                  </a:moveTo>
                  <a:lnTo>
                    <a:pt x="186538" y="31090"/>
                  </a:lnTo>
                  <a:lnTo>
                    <a:pt x="1041502" y="0"/>
                  </a:lnTo>
                  <a:lnTo>
                    <a:pt x="1228039" y="21762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283756" y="4290364"/>
              <a:ext cx="373075" cy="37307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6890003" y="4290364"/>
              <a:ext cx="373075" cy="37307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7511796" y="4072737"/>
              <a:ext cx="12435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7" name="Rectangle 36"/>
            <p:cNvSpPr/>
            <p:nvPr/>
          </p:nvSpPr>
          <p:spPr>
            <a:xfrm>
              <a:off x="7636154" y="4072737"/>
              <a:ext cx="2875787" cy="15544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7838236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024774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8589568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8776106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9340900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9527438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10092232" y="4197096"/>
              <a:ext cx="466344" cy="46634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10278770" y="4383633"/>
              <a:ext cx="93268" cy="932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8071408" y="4430268"/>
              <a:ext cx="225399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7" name="Rounded Rectangle 46"/>
            <p:cNvSpPr/>
            <p:nvPr/>
          </p:nvSpPr>
          <p:spPr>
            <a:xfrm>
              <a:off x="8568842" y="3482035"/>
              <a:ext cx="1943100" cy="590702"/>
            </a:xfrm>
            <a:prstGeom prst="roundRect">
              <a:avLst>
                <a:gd name="adj" fmla="val 9287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232136" y="3482035"/>
              <a:ext cx="279806" cy="5907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10294315" y="3202228"/>
              <a:ext cx="155448" cy="3108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0232136" y="3140049"/>
              <a:ext cx="279806" cy="932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035186" y="3326587"/>
              <a:ext cx="310896" cy="186537"/>
            </a:xfrm>
            <a:prstGeom prst="roundRect">
              <a:avLst>
                <a:gd name="adj" fmla="val 19607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636154" y="3264407"/>
              <a:ext cx="932688" cy="839419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89519" y="3186683"/>
              <a:ext cx="1025956" cy="10881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853781" y="3450945"/>
              <a:ext cx="404164" cy="31089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035040" y="2651759"/>
              <a:ext cx="3555644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</a:t>
              </a:r>
              <a:endParaRPr lang="en-GB" sz="1600"/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722004" y="1508760"/>
              <a:ext cx="210312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859164" y="1554480"/>
              <a:ext cx="1828799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Data card</a:t>
              </a:r>
              <a:endParaRPr lang="en-GB" sz="1400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8859164" y="1984248"/>
              <a:ext cx="155448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8859164" y="2167128"/>
              <a:ext cx="118872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8859164" y="2350008"/>
              <a:ext cx="1371600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9773564" y="2560320"/>
              <a:ext cx="0" cy="921715"/>
            </a:xfrm>
            <a:prstGeom prst="line">
              <a:avLst/>
            </a:prstGeom>
            <a:ln w="28575">
              <a:solidFill>
                <a:srgbClr val="F28C28"/>
              </a:solidFill>
            </a:ln>
          </p:spPr>
        </p:cxnSp>
      </p:grpSp>
      <p:sp>
        <p:nvSpPr>
          <p:cNvPr id="62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add new engines, not new physics. Everything runs on the same rules.</a:t>
            </a:r>
            <a:endParaRPr lang="en-GB" sz="2000"/>
          </a:p>
        </p:txBody>
      </p:sp>
      <p:sp>
        <p:nvSpPr>
          <p:cNvPr id="63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  <a:endParaRPr lang="en-GB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Packs by region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Region A pack" descr="Region A pack: a dashed box listing Engines, Buildings and History. Packs come after launch."/>
          <p:cNvGrpSpPr/>
          <p:nvPr/>
        </p:nvGrpSpPr>
        <p:grpSpPr>
          <a:xfrm>
            <a:off x="694944" y="1463040"/>
            <a:ext cx="3401568" cy="3200400"/>
            <a:chOff x="694944" y="1463040"/>
            <a:chExt cx="3401568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74980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94944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A pack</a:t>
              </a:r>
              <a:endParaRPr lang="en-GB" sz="200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16128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1121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59526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9171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62982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4518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62982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16128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14976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21505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98424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1115568" y="2971800"/>
              <a:ext cx="2560319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19" name="Rectangle 18"/>
            <p:cNvSpPr/>
            <p:nvPr/>
          </p:nvSpPr>
          <p:spPr>
            <a:xfrm>
              <a:off x="120700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1161288" y="3154679"/>
              <a:ext cx="548640" cy="164593"/>
            </a:xfrm>
            <a:custGeom>
              <a:avLst/>
              <a:gdLst/>
              <a:ahLst/>
              <a:cxnLst/>
              <a:rect l="l" t="t" r="r" b="b"/>
              <a:pathLst>
                <a:path w="548640" h="164593">
                  <a:moveTo>
                    <a:pt x="0" y="164593"/>
                  </a:moveTo>
                  <a:lnTo>
                    <a:pt x="274320" y="0"/>
                  </a:lnTo>
                  <a:lnTo>
                    <a:pt x="548640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38988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98424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1115568" y="3721607"/>
              <a:ext cx="2560319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24" name="Rounded Rectangle 23"/>
            <p:cNvSpPr/>
            <p:nvPr/>
          </p:nvSpPr>
          <p:spPr>
            <a:xfrm>
              <a:off x="1197864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417320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252728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490472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252728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490472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98424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grpSp>
        <p:nvGrpSpPr>
          <p:cNvPr id="31" name="Region B pack" descr="Region B pack: a dashed box listing Engines, Buildings and History. Packs come after launch."/>
          <p:cNvGrpSpPr/>
          <p:nvPr/>
        </p:nvGrpSpPr>
        <p:grpSpPr>
          <a:xfrm>
            <a:off x="4398264" y="1463040"/>
            <a:ext cx="3401568" cy="3200400"/>
            <a:chOff x="4398264" y="1463040"/>
            <a:chExt cx="3401568" cy="3200400"/>
          </a:xfrm>
        </p:grpSpPr>
        <p:sp>
          <p:nvSpPr>
            <p:cNvPr id="32" name="Rounded Rectangle 31"/>
            <p:cNvSpPr/>
            <p:nvPr/>
          </p:nvSpPr>
          <p:spPr>
            <a:xfrm>
              <a:off x="445312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398264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B pack</a:t>
              </a:r>
              <a:endParaRPr lang="en-GB" sz="200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86460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491453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29858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509503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3314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4850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33314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86460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85308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91837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68756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4818888" y="2971800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491032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4864608" y="3154679"/>
              <a:ext cx="548640" cy="164593"/>
            </a:xfrm>
            <a:custGeom>
              <a:avLst/>
              <a:gdLst/>
              <a:ahLst/>
              <a:cxnLst/>
              <a:rect l="l" t="t" r="r" b="b"/>
              <a:pathLst>
                <a:path w="548640" h="164593">
                  <a:moveTo>
                    <a:pt x="0" y="164593"/>
                  </a:moveTo>
                  <a:lnTo>
                    <a:pt x="274320" y="0"/>
                  </a:lnTo>
                  <a:lnTo>
                    <a:pt x="548640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9320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68756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4818888" y="3721607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51" name="Rounded Rectangle 50"/>
            <p:cNvSpPr/>
            <p:nvPr/>
          </p:nvSpPr>
          <p:spPr>
            <a:xfrm>
              <a:off x="4901184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120640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956048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193792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956048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5193792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68756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grpSp>
        <p:nvGrpSpPr>
          <p:cNvPr id="58" name="Region C pack" descr="Region C pack: a dashed box listing Engines, Buildings and History. Packs come after launch."/>
          <p:cNvGrpSpPr/>
          <p:nvPr/>
        </p:nvGrpSpPr>
        <p:grpSpPr>
          <a:xfrm>
            <a:off x="8101583" y="1463040"/>
            <a:ext cx="3401568" cy="3200400"/>
            <a:chOff x="8101583" y="1463040"/>
            <a:chExt cx="3401568" cy="3200400"/>
          </a:xfrm>
        </p:grpSpPr>
        <p:sp>
          <p:nvSpPr>
            <p:cNvPr id="59" name="Rounded Rectangle 58"/>
            <p:cNvSpPr/>
            <p:nvPr/>
          </p:nvSpPr>
          <p:spPr>
            <a:xfrm>
              <a:off x="8156448" y="1463040"/>
              <a:ext cx="32918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8101583" y="1463040"/>
              <a:ext cx="3401568" cy="640080"/>
            </a:xfrm>
            <a:prstGeom prst="roundRect">
              <a:avLst>
                <a:gd name="adj" fmla="val 1142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Region C pack</a:t>
              </a:r>
              <a:endParaRPr lang="en-GB" sz="200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567928" y="2642981"/>
              <a:ext cx="537667" cy="384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8617854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9001902" y="2673705"/>
              <a:ext cx="115214" cy="115214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8798356" y="2497043"/>
              <a:ext cx="307238" cy="145938"/>
            </a:xfrm>
            <a:prstGeom prst="roundRect">
              <a:avLst>
                <a:gd name="adj" fmla="val 3759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9036466" y="2497043"/>
              <a:ext cx="69128" cy="14593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9051828" y="2427914"/>
              <a:ext cx="38404" cy="768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9036466" y="2412552"/>
              <a:ext cx="69128" cy="2304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8567928" y="2443276"/>
              <a:ext cx="230428" cy="207385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8556406" y="2424074"/>
              <a:ext cx="253471" cy="2688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8621694" y="2489362"/>
              <a:ext cx="99852" cy="7680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9390888" y="2331720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Engines</a:t>
              </a:r>
              <a:endParaRPr lang="en-GB" sz="1800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8522208" y="2971800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73" name="Rectangle 72"/>
            <p:cNvSpPr/>
            <p:nvPr/>
          </p:nvSpPr>
          <p:spPr>
            <a:xfrm>
              <a:off x="8613648" y="3319272"/>
              <a:ext cx="457200" cy="23774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Freeform 73"/>
            <p:cNvSpPr/>
            <p:nvPr/>
          </p:nvSpPr>
          <p:spPr>
            <a:xfrm>
              <a:off x="8567928" y="3154679"/>
              <a:ext cx="548639" cy="164593"/>
            </a:xfrm>
            <a:custGeom>
              <a:avLst/>
              <a:gdLst/>
              <a:ahLst/>
              <a:cxnLst/>
              <a:rect l="l" t="t" r="r" b="b"/>
              <a:pathLst>
                <a:path w="548639" h="164593">
                  <a:moveTo>
                    <a:pt x="0" y="164593"/>
                  </a:moveTo>
                  <a:lnTo>
                    <a:pt x="274320" y="0"/>
                  </a:lnTo>
                  <a:lnTo>
                    <a:pt x="548639" y="164593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8796528" y="3410711"/>
              <a:ext cx="91440" cy="146304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9390888" y="3081527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Buildings</a:t>
              </a:r>
              <a:endParaRPr lang="en-GB" sz="1800"/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8522208" y="3721607"/>
              <a:ext cx="2560320" cy="0"/>
            </a:xfrm>
            <a:prstGeom prst="line">
              <a:avLst/>
            </a:prstGeom>
            <a:ln w="12700">
              <a:solidFill>
                <a:srgbClr val="4A515B"/>
              </a:solidFill>
            </a:ln>
          </p:spPr>
        </p:cxnSp>
        <p:sp>
          <p:nvSpPr>
            <p:cNvPr id="78" name="Rounded Rectangle 77"/>
            <p:cNvSpPr/>
            <p:nvPr/>
          </p:nvSpPr>
          <p:spPr>
            <a:xfrm>
              <a:off x="8604503" y="3904487"/>
              <a:ext cx="475488" cy="384048"/>
            </a:xfrm>
            <a:prstGeom prst="roundRect">
              <a:avLst>
                <a:gd name="adj" fmla="val 7142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8823959" y="3904487"/>
              <a:ext cx="36576" cy="384048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8659367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8897111" y="3995927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8659367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897111" y="4105655"/>
              <a:ext cx="128016" cy="3657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9390888" y="3831335"/>
              <a:ext cx="1828800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History</a:t>
              </a:r>
              <a:endParaRPr lang="en-GB" sz="1800"/>
            </a:p>
          </p:txBody>
        </p:sp>
      </p:grpSp>
      <p:sp>
        <p:nvSpPr>
          <p:cNvPr id="85" name="Inline chip: Undecided"/>
          <p:cNvSpPr/>
          <p:nvPr/>
        </p:nvSpPr>
        <p:spPr>
          <a:xfrm>
            <a:off x="749808" y="5074920"/>
            <a:ext cx="297882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Pack names: undecided (OQ20)</a:t>
            </a:r>
            <a:endParaRPr lang="en-GB" sz="1400"/>
          </a:p>
        </p:txBody>
      </p:sp>
      <p:sp>
        <p:nvSpPr>
          <p:cNvPr id="86" name="Inline chip: Undecided"/>
          <p:cNvSpPr/>
          <p:nvPr/>
        </p:nvSpPr>
        <p:spPr>
          <a:xfrm>
            <a:off x="4002954" y="5074920"/>
            <a:ext cx="238576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Price: undecided (OQ26)</a:t>
            </a:r>
            <a:endParaRPr lang="en-GB" sz="1400"/>
          </a:p>
        </p:txBody>
      </p:sp>
      <p:sp>
        <p:nvSpPr>
          <p:cNvPr id="8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Separate regional packs could add fleets, buildings and history.</a:t>
            </a:r>
            <a:endParaRPr lang="en-GB" sz="2000"/>
          </a:p>
        </p:txBody>
      </p:sp>
      <p:sp>
        <p:nvSpPr>
          <p:cNvPr id="8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  <a:endParaRPr lang="en-GB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Growing by updates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Staircase of updates" descr="A staircase of three dashed blocks rising left to right: Launch (small), then Update, then a bigger Update."/>
          <p:cNvGrpSpPr/>
          <p:nvPr/>
        </p:nvGrpSpPr>
        <p:grpSpPr>
          <a:xfrm>
            <a:off x="822960" y="1691639"/>
            <a:ext cx="7680960" cy="3200401"/>
            <a:chOff x="822960" y="1691639"/>
            <a:chExt cx="7680960" cy="3200401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3703320"/>
              <a:ext cx="2468880" cy="1188720"/>
            </a:xfrm>
            <a:prstGeom prst="roundRect">
              <a:avLst>
                <a:gd name="adj" fmla="val 6153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Launch</a:t>
              </a:r>
              <a:endParaRPr lang="en-GB" sz="22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29000" y="2697479"/>
              <a:ext cx="2468880" cy="2194560"/>
            </a:xfrm>
            <a:prstGeom prst="roundRect">
              <a:avLst>
                <a:gd name="adj" fmla="val 3333"/>
              </a:avLst>
            </a:prstGeom>
            <a:solidFill>
              <a:srgbClr val="F28C28">
                <a:alpha val="2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Update</a:t>
              </a:r>
              <a:endParaRPr lang="en-GB" sz="22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35040" y="1691639"/>
              <a:ext cx="2468880" cy="3200400"/>
            </a:xfrm>
            <a:prstGeom prst="roundRect">
              <a:avLst>
                <a:gd name="adj" fmla="val 2962"/>
              </a:avLst>
            </a:prstGeom>
            <a:solidFill>
              <a:srgbClr val="F28C28">
                <a:alpha val="3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t" wrap="square" tIns="164592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Update</a:t>
              </a:r>
              <a:endParaRPr lang="en-GB" sz="2200"/>
            </a:p>
          </p:txBody>
        </p:sp>
      </p:grpSp>
      <p:grpSp>
        <p:nvGrpSpPr>
          <p:cNvPr id="8" name="No charge note" descr="A price tag crossed out, with the note: no charge per locomotive."/>
          <p:cNvGrpSpPr/>
          <p:nvPr/>
        </p:nvGrpSpPr>
        <p:grpSpPr>
          <a:xfrm>
            <a:off x="8961120" y="2011680"/>
            <a:ext cx="2679192" cy="2194560"/>
            <a:chOff x="8961120" y="2011680"/>
            <a:chExt cx="2679192" cy="2194560"/>
          </a:xfrm>
        </p:grpSpPr>
        <p:sp>
          <p:nvSpPr>
            <p:cNvPr id="9" name="Rounded Rectangle 8"/>
            <p:cNvSpPr/>
            <p:nvPr/>
          </p:nvSpPr>
          <p:spPr>
            <a:xfrm>
              <a:off x="8961120" y="2011680"/>
              <a:ext cx="2679192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857232" y="2331720"/>
              <a:ext cx="886968" cy="640080"/>
            </a:xfrm>
            <a:custGeom>
              <a:avLst/>
              <a:gdLst/>
              <a:ahLst/>
              <a:cxnLst/>
              <a:rect l="l" t="t" r="r" b="b"/>
              <a:pathLst>
                <a:path w="886968" h="640080">
                  <a:moveTo>
                    <a:pt x="0" y="320040"/>
                  </a:moveTo>
                  <a:lnTo>
                    <a:pt x="246888" y="0"/>
                  </a:lnTo>
                  <a:lnTo>
                    <a:pt x="886968" y="0"/>
                  </a:lnTo>
                  <a:lnTo>
                    <a:pt x="886968" y="640080"/>
                  </a:lnTo>
                  <a:lnTo>
                    <a:pt x="246888" y="640080"/>
                  </a:lnTo>
                  <a:close/>
                </a:path>
              </a:pathLst>
            </a:cu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0012680" y="2523744"/>
              <a:ext cx="109728" cy="10972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 flipV="1">
              <a:off x="9784080" y="2240280"/>
              <a:ext cx="1051560" cy="822960"/>
            </a:xfrm>
            <a:prstGeom prst="line">
              <a:avLst/>
            </a:prstGeom>
            <a:ln w="38100">
              <a:solidFill>
                <a:srgbClr val="E5484D"/>
              </a:solidFill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9098280" y="3200400"/>
              <a:ext cx="2404872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No charge per locomotive.</a:t>
              </a:r>
              <a:endParaRPr lang="en-GB" sz="1800"/>
            </a:p>
          </p:txBody>
        </p:sp>
      </p:grpSp>
      <p:sp>
        <p:nvSpPr>
          <p:cNvPr id="14" name="Inline chip: Undecided"/>
          <p:cNvSpPr/>
          <p:nvPr/>
        </p:nvSpPr>
        <p:spPr>
          <a:xfrm>
            <a:off x="822960" y="5120640"/>
            <a:ext cx="3680400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Early-access pricing: undecided (OQ26)</a:t>
            </a:r>
            <a:endParaRPr lang="en-GB" sz="1400"/>
          </a:p>
        </p:txBody>
      </p:sp>
      <p:sp>
        <p:nvSpPr>
          <p:cNvPr id="1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pack could start small and grow through updates, free to its owners.</a:t>
            </a:r>
            <a:endParaRPr lang="en-GB" sz="2000"/>
          </a:p>
        </p:txBody>
      </p:sp>
      <p:sp>
        <p:nvSpPr>
          <p:cNvPr id="1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  <a:endParaRPr lang="en-GB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Packs work together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ared rules bar" descr="A long bar labelled Shared rules beneath the core game and all three packs."/>
          <p:cNvGrpSpPr/>
          <p:nvPr/>
        </p:nvGrpSpPr>
        <p:grpSpPr>
          <a:xfrm>
            <a:off x="822960" y="4709160"/>
            <a:ext cx="10543032" cy="685800"/>
            <a:chOff x="822960" y="4709160"/>
            <a:chExt cx="10543032" cy="68580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4709160"/>
              <a:ext cx="10543032" cy="685800"/>
            </a:xfrm>
            <a:prstGeom prst="roundRect">
              <a:avLst>
                <a:gd name="adj" fmla="val 10666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Shared rules</a:t>
              </a:r>
              <a:endParaRPr lang="en-GB" sz="2200"/>
            </a:p>
          </p:txBody>
        </p:sp>
      </p:grpSp>
      <p:grpSp>
        <p:nvGrpSpPr>
          <p:cNvPr id="6" name="Core game hub and packs" descr="A central block labelled Core game with three dashed Pack blocks plugged into it: left, right and above."/>
          <p:cNvGrpSpPr/>
          <p:nvPr/>
        </p:nvGrpSpPr>
        <p:grpSpPr>
          <a:xfrm>
            <a:off x="822960" y="1508760"/>
            <a:ext cx="10543032" cy="3200400"/>
            <a:chOff x="822960" y="1508760"/>
            <a:chExt cx="10543032" cy="3200400"/>
          </a:xfrm>
        </p:grpSpPr>
        <p:cxnSp>
          <p:nvCxnSpPr>
            <p:cNvPr id="7" name="Connector 6"/>
            <p:cNvCxnSpPr/>
            <p:nvPr/>
          </p:nvCxnSpPr>
          <p:spPr>
            <a:xfrm>
              <a:off x="2103120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099048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10085832" y="3977639"/>
              <a:ext cx="0" cy="731521"/>
            </a:xfrm>
            <a:prstGeom prst="line">
              <a:avLst/>
            </a:prstGeom>
            <a:ln w="19050">
              <a:solidFill>
                <a:srgbClr val="9AA0A6"/>
              </a:solidFill>
              <a:prstDash val="dash"/>
            </a:ln>
          </p:spPr>
        </p:cxnSp>
        <p:sp>
          <p:nvSpPr>
            <p:cNvPr id="10" name="Rounded Rectangle 9"/>
            <p:cNvSpPr/>
            <p:nvPr/>
          </p:nvSpPr>
          <p:spPr>
            <a:xfrm>
              <a:off x="822960" y="2697480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805672" y="2697480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36008" y="1508760"/>
              <a:ext cx="2926080" cy="73152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000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36008" y="2697480"/>
              <a:ext cx="2926080" cy="12801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101418"/>
                  </a:solidFill>
                  <a:latin typeface="Arial"/>
                </a:rPr>
                <a:t>Core game</a:t>
              </a:r>
              <a:endParaRPr lang="en-GB" sz="2400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3383280" y="3337560"/>
              <a:ext cx="1252728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3300984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4553712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 flipH="1">
              <a:off x="7562088" y="3337560"/>
              <a:ext cx="1243584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18" name="Oval 17"/>
            <p:cNvSpPr/>
            <p:nvPr/>
          </p:nvSpPr>
          <p:spPr>
            <a:xfrm>
              <a:off x="8723376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479792" y="325526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6099048" y="2240280"/>
              <a:ext cx="0" cy="45720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sp>
          <p:nvSpPr>
            <p:cNvPr id="21" name="Oval 20"/>
            <p:cNvSpPr/>
            <p:nvPr/>
          </p:nvSpPr>
          <p:spPr>
            <a:xfrm>
              <a:off x="6016752" y="215798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016752" y="2615184"/>
              <a:ext cx="164592" cy="16459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need the core game and can be mixed. They share the same rules.</a:t>
            </a:r>
            <a:endParaRPr lang="en-GB" sz="2000"/>
          </a:p>
        </p:txBody>
      </p:sp>
      <p:sp>
        <p:nvSpPr>
          <p:cNvPr id="24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  <a:endParaRPr lang="en-GB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Beyond Small, Medium, Large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mall, Medium and Large cards" descr="Three cards, Small, Medium and Large, each with a small engine icon that grows with the size."/>
          <p:cNvGrpSpPr/>
          <p:nvPr/>
        </p:nvGrpSpPr>
        <p:grpSpPr>
          <a:xfrm>
            <a:off x="822960" y="1554480"/>
            <a:ext cx="3291840" cy="3383280"/>
            <a:chOff x="822960" y="1554480"/>
            <a:chExt cx="3291840" cy="338328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55448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51560" y="155448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Small</a:t>
              </a:r>
              <a:endParaRPr lang="en-GB" sz="200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223260" y="2112264"/>
              <a:ext cx="68579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282696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33756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534156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58902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785615" y="2148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840480" y="220370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3351276" y="2217420"/>
              <a:ext cx="50292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3497579" y="1938528"/>
              <a:ext cx="41148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515868" y="2002536"/>
              <a:ext cx="283464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826763" y="19385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845051" y="185623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26763" y="183794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634739" y="189280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23260" y="187451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209544" y="18516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287268" y="19293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22960" y="274320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1560" y="274320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Medium</a:t>
              </a:r>
              <a:endParaRPr lang="en-GB" sz="2000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2609240" y="3165652"/>
              <a:ext cx="452628" cy="170992"/>
            </a:xfrm>
            <a:prstGeom prst="roundRect">
              <a:avLst>
                <a:gd name="adj" fmla="val 16042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2649473" y="3095244"/>
              <a:ext cx="372161" cy="70408"/>
            </a:xfrm>
            <a:custGeom>
              <a:avLst/>
              <a:gdLst/>
              <a:ahLst/>
              <a:cxnLst/>
              <a:rect l="l" t="t" r="r" b="b"/>
              <a:pathLst>
                <a:path w="372161" h="70408">
                  <a:moveTo>
                    <a:pt x="0" y="70408"/>
                  </a:moveTo>
                  <a:lnTo>
                    <a:pt x="60351" y="10058"/>
                  </a:lnTo>
                  <a:lnTo>
                    <a:pt x="311811" y="0"/>
                  </a:lnTo>
                  <a:lnTo>
                    <a:pt x="372161" y="7040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689707" y="3376879"/>
              <a:ext cx="120700" cy="12070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2860700" y="3376879"/>
              <a:ext cx="120700" cy="12070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3061868" y="3306470"/>
              <a:ext cx="4023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1" name="Rectangle 30"/>
            <p:cNvSpPr/>
            <p:nvPr/>
          </p:nvSpPr>
          <p:spPr>
            <a:xfrm>
              <a:off x="3102101" y="3306470"/>
              <a:ext cx="804672" cy="502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167481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227831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3368649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3428999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3569817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3630168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3770985" y="3346704"/>
              <a:ext cx="150876" cy="150876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3831336" y="3407054"/>
              <a:ext cx="30175" cy="3017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42919" y="3422142"/>
              <a:ext cx="60350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1" name="Rounded Rectangle 40"/>
            <p:cNvSpPr/>
            <p:nvPr/>
          </p:nvSpPr>
          <p:spPr>
            <a:xfrm>
              <a:off x="3403853" y="3115360"/>
              <a:ext cx="502920" cy="191109"/>
            </a:xfrm>
            <a:prstGeom prst="roundRect">
              <a:avLst>
                <a:gd name="adj" fmla="val 2870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816248" y="3115360"/>
              <a:ext cx="90525" cy="1911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836365" y="3024835"/>
              <a:ext cx="50292" cy="1005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16248" y="3004718"/>
              <a:ext cx="90525" cy="3017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3554729" y="3065068"/>
              <a:ext cx="100584" cy="6035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102101" y="3044952"/>
              <a:ext cx="301752" cy="271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087014" y="3019806"/>
              <a:ext cx="331927" cy="352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172510" y="3105302"/>
              <a:ext cx="130759" cy="10058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22960" y="3931920"/>
              <a:ext cx="3291840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51560" y="3931920"/>
              <a:ext cx="128016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Large</a:t>
              </a:r>
              <a:endParaRPr lang="en-GB" sz="2000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2270820" y="4344131"/>
              <a:ext cx="566928" cy="192755"/>
            </a:xfrm>
            <a:prstGeom prst="roundRect">
              <a:avLst>
                <a:gd name="adj" fmla="val 14231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316175" y="4264761"/>
              <a:ext cx="476219" cy="79370"/>
            </a:xfrm>
            <a:custGeom>
              <a:avLst/>
              <a:gdLst/>
              <a:ahLst/>
              <a:cxnLst/>
              <a:rect l="l" t="t" r="r" b="b"/>
              <a:pathLst>
                <a:path w="476219" h="79370">
                  <a:moveTo>
                    <a:pt x="0" y="79370"/>
                  </a:moveTo>
                  <a:lnTo>
                    <a:pt x="68031" y="11339"/>
                  </a:lnTo>
                  <a:lnTo>
                    <a:pt x="408188" y="0"/>
                  </a:lnTo>
                  <a:lnTo>
                    <a:pt x="476219" y="7937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2361529" y="4582241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610977" y="4582241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nnector 54"/>
            <p:cNvCxnSpPr/>
            <p:nvPr/>
          </p:nvCxnSpPr>
          <p:spPr>
            <a:xfrm>
              <a:off x="2837748" y="4502871"/>
              <a:ext cx="45355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6" name="Rectangle 55"/>
            <p:cNvSpPr/>
            <p:nvPr/>
          </p:nvSpPr>
          <p:spPr>
            <a:xfrm>
              <a:off x="2883103" y="4502871"/>
              <a:ext cx="1020470" cy="566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295680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3024835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155228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3223259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335365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3421684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3552078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3620109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3750503" y="4548225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3818534" y="4616256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3041843" y="4633264"/>
              <a:ext cx="79369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8" name="Rounded Rectangle 67"/>
            <p:cNvSpPr/>
            <p:nvPr/>
          </p:nvSpPr>
          <p:spPr>
            <a:xfrm>
              <a:off x="3223259" y="4287438"/>
              <a:ext cx="680313" cy="215432"/>
            </a:xfrm>
            <a:prstGeom prst="roundRect">
              <a:avLst>
                <a:gd name="adj" fmla="val 2546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3801526" y="4287438"/>
              <a:ext cx="102047" cy="215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824203" y="4185391"/>
              <a:ext cx="56692" cy="113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801526" y="4162714"/>
              <a:ext cx="102047" cy="3401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3393338" y="4230745"/>
              <a:ext cx="113385" cy="68031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83103" y="4208068"/>
              <a:ext cx="340156" cy="306141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866095" y="4179722"/>
              <a:ext cx="374172" cy="396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962473" y="4276100"/>
              <a:ext cx="147401" cy="11338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6" name="Arrow" descr="An arrow pointing from the three size cards to the job categories."/>
          <p:cNvSpPr/>
          <p:nvPr/>
        </p:nvSpPr>
        <p:spPr>
          <a:xfrm>
            <a:off x="4434840" y="2926080"/>
            <a:ext cx="1097280" cy="731520"/>
          </a:xfrm>
          <a:prstGeom prst="rightArrow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Note: candidate names"/>
          <p:cNvSpPr txBox="1"/>
          <p:nvPr/>
        </p:nvSpPr>
        <p:spPr>
          <a:xfrm>
            <a:off x="5897880" y="141732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1" lang="en-GB">
                <a:solidFill>
                  <a:srgbClr val="A9B0B8"/>
                </a:solidFill>
                <a:latin typeface="Arial"/>
              </a:rPr>
              <a:t>Candidate names only</a:t>
            </a:r>
            <a:endParaRPr lang="en-GB" sz="1400"/>
          </a:p>
        </p:txBody>
      </p:sp>
      <p:grpSp>
        <p:nvGrpSpPr>
          <p:cNvPr id="78" name="Shelf of four categories" descr="A two-shelf rack holding four category chips: Shunters, Mixed Traffic, Fast Freight and Heavy Freight. These are candidate names only."/>
          <p:cNvGrpSpPr/>
          <p:nvPr/>
        </p:nvGrpSpPr>
        <p:grpSpPr>
          <a:xfrm>
            <a:off x="5897880" y="1828800"/>
            <a:ext cx="5742432" cy="2926080"/>
            <a:chOff x="5897880" y="1828800"/>
            <a:chExt cx="5742432" cy="2926080"/>
          </a:xfrm>
        </p:grpSpPr>
        <p:sp>
          <p:nvSpPr>
            <p:cNvPr id="79" name="Rounded Rectangle 78"/>
            <p:cNvSpPr/>
            <p:nvPr/>
          </p:nvSpPr>
          <p:spPr>
            <a:xfrm>
              <a:off x="5897880" y="1828800"/>
              <a:ext cx="5742432" cy="2926080"/>
            </a:xfrm>
            <a:prstGeom prst="roundRect">
              <a:avLst>
                <a:gd name="adj" fmla="val 25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6172200" y="210312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Shunters</a:t>
              </a:r>
              <a:endParaRPr lang="en-GB" sz="1800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080760" y="297180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8915400" y="210312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Mixed Traffic</a:t>
              </a:r>
              <a:endParaRPr lang="en-GB" sz="1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080760" y="297180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6172200" y="342900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Fast Freight</a:t>
              </a:r>
              <a:endParaRPr lang="en-GB" sz="1800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080760" y="429768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ounded Rectangle 85"/>
            <p:cNvSpPr/>
            <p:nvPr/>
          </p:nvSpPr>
          <p:spPr>
            <a:xfrm>
              <a:off x="8915400" y="3429000"/>
              <a:ext cx="2514600" cy="73152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Heavy Freight</a:t>
              </a:r>
              <a:endParaRPr lang="en-GB" sz="1800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080760" y="4297680"/>
              <a:ext cx="5376672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8" name="Inline chip: Undecided"/>
          <p:cNvSpPr/>
          <p:nvPr/>
        </p:nvSpPr>
        <p:spPr>
          <a:xfrm>
            <a:off x="5897880" y="4983480"/>
            <a:ext cx="2533965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Names: undecided (OQ20)</a:t>
            </a:r>
            <a:endParaRPr lang="en-GB" sz="1400"/>
          </a:p>
        </p:txBody>
      </p:sp>
      <p:sp>
        <p:nvSpPr>
          <p:cNvPr id="89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With many engines, you browse by job instead of only by size.</a:t>
            </a:r>
            <a:endParaRPr lang="en-GB" sz="2000"/>
          </a:p>
        </p:txBody>
      </p:sp>
      <p:sp>
        <p:nvSpPr>
          <p:cNvPr id="90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  <a:endParaRPr lang="en-GB"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Jobs, not a ladder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same category"/>
          <p:cNvSpPr txBox="1"/>
          <p:nvPr/>
        </p:nvSpPr>
        <p:spPr>
          <a:xfrm>
            <a:off x="4754880" y="1389888"/>
            <a:ext cx="267919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A9B0B8"/>
                </a:solidFill>
                <a:latin typeface="Arial"/>
              </a:rPr>
              <a:t>Same category</a:t>
            </a:r>
            <a:endParaRPr lang="en-GB" sz="1600"/>
          </a:p>
        </p:txBody>
      </p:sp>
      <p:cxnSp>
        <p:nvCxnSpPr>
          <p:cNvPr id="5" name="Connector 4"/>
          <p:cNvCxnSpPr/>
          <p:nvPr/>
        </p:nvCxnSpPr>
        <p:spPr>
          <a:xfrm>
            <a:off x="822960" y="1572768"/>
            <a:ext cx="3794760" cy="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571231" y="1572768"/>
            <a:ext cx="3794761" cy="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822960" y="1572768"/>
            <a:ext cx="0" cy="18288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1365992" y="1572768"/>
            <a:ext cx="0" cy="182880"/>
          </a:xfrm>
          <a:prstGeom prst="line">
            <a:avLst/>
          </a:prstGeom>
          <a:ln w="19050">
            <a:solidFill>
              <a:srgbClr val="A9B0B8"/>
            </a:solidFill>
          </a:ln>
        </p:spPr>
      </p:cxnSp>
      <p:grpSp>
        <p:nvGrpSpPr>
          <p:cNvPr id="9" name="Engine card" descr="A stocky tank engine with a bar profile: strong pull, low speed, middling range. Shape only."/>
          <p:cNvGrpSpPr/>
          <p:nvPr/>
        </p:nvGrpSpPr>
        <p:grpSpPr>
          <a:xfrm>
            <a:off x="822960" y="1920240"/>
            <a:ext cx="5120640" cy="3200400"/>
            <a:chOff x="822960" y="1920240"/>
            <a:chExt cx="5120640" cy="3200400"/>
          </a:xfrm>
        </p:grpSpPr>
        <p:sp>
          <p:nvSpPr>
            <p:cNvPr id="10" name="Rounded Rectangle 9"/>
            <p:cNvSpPr/>
            <p:nvPr/>
          </p:nvSpPr>
          <p:spPr>
            <a:xfrm>
              <a:off x="822960" y="192024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15743" y="2755087"/>
              <a:ext cx="1682495" cy="10515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652445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778633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073069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3199257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493693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619881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3914317" y="2839211"/>
              <a:ext cx="315468" cy="31546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040504" y="2965399"/>
              <a:ext cx="63093" cy="6309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810179" y="2996946"/>
              <a:ext cx="126187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1" name="Rounded Rectangle 20"/>
            <p:cNvSpPr/>
            <p:nvPr/>
          </p:nvSpPr>
          <p:spPr>
            <a:xfrm>
              <a:off x="3146678" y="2355494"/>
              <a:ext cx="1051560" cy="399592"/>
            </a:xfrm>
            <a:prstGeom prst="roundRect">
              <a:avLst>
                <a:gd name="adj" fmla="val 1372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188741" y="2502712"/>
              <a:ext cx="757123" cy="273405"/>
            </a:xfrm>
            <a:prstGeom prst="roundRect">
              <a:avLst>
                <a:gd name="adj" fmla="val 13377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008958" y="2355494"/>
              <a:ext cx="189280" cy="3995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051020" y="2166213"/>
              <a:ext cx="105155" cy="2103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008958" y="2124151"/>
              <a:ext cx="189280" cy="6309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462147" y="2250338"/>
              <a:ext cx="210311" cy="126187"/>
            </a:xfrm>
            <a:prstGeom prst="roundRect">
              <a:avLst>
                <a:gd name="adj" fmla="val 2898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515743" y="2208276"/>
              <a:ext cx="630936" cy="567842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484196" y="2155698"/>
              <a:ext cx="694029" cy="736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662961" y="2334463"/>
              <a:ext cx="273405" cy="21031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43000" y="344728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Pull</a:t>
              </a:r>
              <a:endParaRPr lang="en-GB" sz="1600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2286000" y="352958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286000" y="3529584"/>
              <a:ext cx="2977286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43000" y="395020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Speed</a:t>
              </a:r>
              <a:endParaRPr lang="en-GB" sz="1600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286000" y="403250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286000" y="4032504"/>
              <a:ext cx="1150315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43000" y="445312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Range</a:t>
              </a:r>
              <a:endParaRPr lang="en-GB" sz="1600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286000" y="453542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2286000" y="4535424"/>
              <a:ext cx="1759305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" name="Engine card" descr="A longer engine with a tender and a different bar profile: lighter pull, high speed, long range. Shape only."/>
          <p:cNvGrpSpPr/>
          <p:nvPr/>
        </p:nvGrpSpPr>
        <p:grpSpPr>
          <a:xfrm>
            <a:off x="6245352" y="1920240"/>
            <a:ext cx="5120640" cy="3200400"/>
            <a:chOff x="6245352" y="1920240"/>
            <a:chExt cx="5120640" cy="3200400"/>
          </a:xfrm>
        </p:grpSpPr>
        <p:sp>
          <p:nvSpPr>
            <p:cNvPr id="40" name="Rounded Rectangle 39"/>
            <p:cNvSpPr/>
            <p:nvPr/>
          </p:nvSpPr>
          <p:spPr>
            <a:xfrm>
              <a:off x="6245352" y="192024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466075" y="2414015"/>
              <a:ext cx="822960" cy="310896"/>
            </a:xfrm>
            <a:prstGeom prst="roundRect">
              <a:avLst>
                <a:gd name="adj" fmla="val 8823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Freeform 41"/>
            <p:cNvSpPr/>
            <p:nvPr/>
          </p:nvSpPr>
          <p:spPr>
            <a:xfrm>
              <a:off x="7539227" y="2286000"/>
              <a:ext cx="676656" cy="128015"/>
            </a:xfrm>
            <a:custGeom>
              <a:avLst/>
              <a:gdLst/>
              <a:ahLst/>
              <a:cxnLst/>
              <a:rect l="l" t="t" r="r" b="b"/>
              <a:pathLst>
                <a:path w="676656" h="128015">
                  <a:moveTo>
                    <a:pt x="0" y="128015"/>
                  </a:moveTo>
                  <a:lnTo>
                    <a:pt x="109728" y="18288"/>
                  </a:lnTo>
                  <a:lnTo>
                    <a:pt x="566928" y="0"/>
                  </a:lnTo>
                  <a:lnTo>
                    <a:pt x="676656" y="1280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7612379" y="2798063"/>
              <a:ext cx="219456" cy="21945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7923275" y="2798063"/>
              <a:ext cx="219456" cy="21945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8289036" y="2670048"/>
              <a:ext cx="7315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8362188" y="2670048"/>
              <a:ext cx="173736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8481059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85907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8823959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89336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91668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92765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95097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96194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9852660" y="2743200"/>
              <a:ext cx="274320" cy="27432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9962388" y="2852928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8618219" y="2880360"/>
              <a:ext cx="1371601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8" name="Rounded Rectangle 57"/>
            <p:cNvSpPr/>
            <p:nvPr/>
          </p:nvSpPr>
          <p:spPr>
            <a:xfrm>
              <a:off x="8910828" y="2322576"/>
              <a:ext cx="1188720" cy="347472"/>
            </a:xfrm>
            <a:prstGeom prst="roundRect">
              <a:avLst>
                <a:gd name="adj" fmla="val 1578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34956" y="2322576"/>
              <a:ext cx="164592" cy="34747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71532" y="2157984"/>
              <a:ext cx="91440" cy="18288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934956" y="2121408"/>
              <a:ext cx="164592" cy="5486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9185148" y="2231136"/>
              <a:ext cx="182880" cy="109728"/>
            </a:xfrm>
            <a:prstGeom prst="roundRect">
              <a:avLst>
                <a:gd name="adj" fmla="val 333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362188" y="2194560"/>
              <a:ext cx="548640" cy="4937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334756" y="2148839"/>
              <a:ext cx="603503" cy="6400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8490204" y="2304288"/>
              <a:ext cx="237744" cy="1828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565392" y="344728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Pull</a:t>
              </a:r>
              <a:endParaRPr lang="en-GB" sz="1600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7708392" y="352958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7708392" y="3529584"/>
              <a:ext cx="1556308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6565392" y="395020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Speed</a:t>
              </a:r>
              <a:endParaRPr lang="en-GB" sz="1600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7708392" y="403250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7708392" y="4032504"/>
              <a:ext cx="3044952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6565392" y="4453128"/>
              <a:ext cx="10058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Range</a:t>
              </a:r>
              <a:endParaRPr lang="en-GB" sz="1600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7708392" y="4535424"/>
              <a:ext cx="3383280" cy="219456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7708392" y="4535424"/>
              <a:ext cx="2435961" cy="219456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5" name="Note: shape only"/>
          <p:cNvSpPr txBox="1"/>
          <p:nvPr/>
        </p:nvSpPr>
        <p:spPr>
          <a:xfrm>
            <a:off x="822960" y="5230368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400" b="0" i="1" lang="en-GB">
                <a:solidFill>
                  <a:srgbClr val="A9B0B8"/>
                </a:solidFill>
                <a:latin typeface="Arial"/>
              </a:rPr>
              <a:t>Shape only. Not measured.</a:t>
            </a:r>
            <a:endParaRPr lang="en-GB" sz="1400"/>
          </a:p>
        </p:txBody>
      </p:sp>
      <p:sp>
        <p:nvSpPr>
          <p:cNvPr id="7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engine has its own strengths. They are not simply reskins.</a:t>
            </a:r>
            <a:endParaRPr lang="en-GB" sz="2000"/>
          </a:p>
        </p:txBody>
      </p:sp>
      <p:sp>
        <p:nvSpPr>
          <p:cNvPr id="7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  <a:endParaRPr lang="en-GB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“express” means here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Fast freight train" descr="A steam engine pulling two freight wagons to the right, with speed lines trailing behind it: fast freight."/>
          <p:cNvGrpSpPr/>
          <p:nvPr/>
        </p:nvGrpSpPr>
        <p:grpSpPr>
          <a:xfrm>
            <a:off x="731520" y="3063240"/>
            <a:ext cx="6949440" cy="1618488"/>
            <a:chOff x="731520" y="3063240"/>
            <a:chExt cx="6949440" cy="1618488"/>
          </a:xfrm>
        </p:grpSpPr>
        <p:sp>
          <p:nvSpPr>
            <p:cNvPr id="5" name="Rectangle 4"/>
            <p:cNvSpPr/>
            <p:nvPr/>
          </p:nvSpPr>
          <p:spPr>
            <a:xfrm>
              <a:off x="731520" y="4526280"/>
              <a:ext cx="694944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80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737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94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51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108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66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3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480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937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3949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521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3093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7665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22376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611880" y="3621024"/>
              <a:ext cx="1303019" cy="466344"/>
            </a:xfrm>
            <a:prstGeom prst="roundRect">
              <a:avLst>
                <a:gd name="adj" fmla="val 5882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3721608" y="3429000"/>
              <a:ext cx="1083564" cy="192024"/>
            </a:xfrm>
            <a:custGeom>
              <a:avLst/>
              <a:gdLst/>
              <a:ahLst/>
              <a:cxnLst/>
              <a:rect l="l" t="t" r="r" b="b"/>
              <a:pathLst>
                <a:path w="1083564" h="192024">
                  <a:moveTo>
                    <a:pt x="0" y="192024"/>
                  </a:moveTo>
                  <a:lnTo>
                    <a:pt x="164592" y="27432"/>
                  </a:lnTo>
                  <a:lnTo>
                    <a:pt x="918972" y="0"/>
                  </a:lnTo>
                  <a:lnTo>
                    <a:pt x="1083564" y="192024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3831336" y="4197096"/>
              <a:ext cx="329184" cy="329184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4366260" y="4197096"/>
              <a:ext cx="329184" cy="329184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914900" y="4005072"/>
              <a:ext cx="10972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6" name="Rectangle 25"/>
            <p:cNvSpPr/>
            <p:nvPr/>
          </p:nvSpPr>
          <p:spPr>
            <a:xfrm>
              <a:off x="5024628" y="4005072"/>
              <a:ext cx="2468880" cy="13716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520293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36752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84301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00760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648309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64768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123176" y="4114800"/>
              <a:ext cx="411479" cy="41147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287768" y="4279392"/>
              <a:ext cx="82296" cy="8229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5408676" y="4320540"/>
              <a:ext cx="19202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36" name="Rounded Rectangle 35"/>
            <p:cNvSpPr/>
            <p:nvPr/>
          </p:nvSpPr>
          <p:spPr>
            <a:xfrm>
              <a:off x="5847588" y="3483864"/>
              <a:ext cx="1645919" cy="521208"/>
            </a:xfrm>
            <a:prstGeom prst="roundRect">
              <a:avLst>
                <a:gd name="adj" fmla="val 1052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246620" y="3483864"/>
              <a:ext cx="246888" cy="52120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301484" y="3236976"/>
              <a:ext cx="137160" cy="2743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246620" y="3182112"/>
              <a:ext cx="246888" cy="8229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6259068" y="3346704"/>
              <a:ext cx="274320" cy="164592"/>
            </a:xfrm>
            <a:prstGeom prst="roundRect">
              <a:avLst>
                <a:gd name="adj" fmla="val 2222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024628" y="3291840"/>
              <a:ext cx="822959" cy="7406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983480" y="3223260"/>
              <a:ext cx="905255" cy="9601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5216652" y="3456432"/>
              <a:ext cx="356616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240280" y="3749040"/>
              <a:ext cx="1280160" cy="685800"/>
            </a:xfrm>
            <a:prstGeom prst="roundRect">
              <a:avLst>
                <a:gd name="adj" fmla="val 5333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33172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92608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237744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20040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68680" y="3749040"/>
              <a:ext cx="1280160" cy="685800"/>
            </a:xfrm>
            <a:prstGeom prst="roundRect">
              <a:avLst>
                <a:gd name="adj" fmla="val 5333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6012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554480" y="3858768"/>
              <a:ext cx="502919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00583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82879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868680" y="3063240"/>
              <a:ext cx="182880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1143000" y="3337560"/>
              <a:ext cx="118872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68680" y="3611880"/>
              <a:ext cx="114300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</p:grpSp>
      <p:sp>
        <p:nvSpPr>
          <p:cNvPr id="57" name="Label: fast freight"/>
          <p:cNvSpPr txBox="1"/>
          <p:nvPr/>
        </p:nvSpPr>
        <p:spPr>
          <a:xfrm>
            <a:off x="731520" y="4937760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Fast freight</a:t>
            </a:r>
            <a:endParaRPr lang="en-GB" sz="1800"/>
          </a:p>
        </p:txBody>
      </p:sp>
      <p:grpSp>
        <p:nvGrpSpPr>
          <p:cNvPr id="58" name="Passenger coach with crossed-out ticket sales" descr="A passenger coach, with a ticket icon above it crossed out by a red X: the game has no passenger economy."/>
          <p:cNvGrpSpPr/>
          <p:nvPr/>
        </p:nvGrpSpPr>
        <p:grpSpPr>
          <a:xfrm>
            <a:off x="8138160" y="1874520"/>
            <a:ext cx="3474720" cy="2807208"/>
            <a:chOff x="8138160" y="1874520"/>
            <a:chExt cx="3474720" cy="2807208"/>
          </a:xfrm>
        </p:grpSpPr>
        <p:sp>
          <p:nvSpPr>
            <p:cNvPr id="59" name="Rectangle 58"/>
            <p:cNvSpPr/>
            <p:nvPr/>
          </p:nvSpPr>
          <p:spPr>
            <a:xfrm>
              <a:off x="8138160" y="4526280"/>
              <a:ext cx="347472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82296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6868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1440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96012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0584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05156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09728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430000" y="459028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8412480" y="3657600"/>
              <a:ext cx="2926080" cy="777240"/>
            </a:xfrm>
            <a:prstGeom prst="roundRect">
              <a:avLst>
                <a:gd name="adj" fmla="val 1176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8686800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9180576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9674352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10168128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10661904" y="3794760"/>
              <a:ext cx="384048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882396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098280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1074419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11018519" y="441655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9144000" y="2011680"/>
              <a:ext cx="1463040" cy="777240"/>
            </a:xfrm>
            <a:prstGeom prst="roundRect">
              <a:avLst>
                <a:gd name="adj" fmla="val 9411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9034272" y="2286000"/>
              <a:ext cx="219456" cy="219456"/>
            </a:xfrm>
            <a:prstGeom prst="ellipse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10497312" y="2286000"/>
              <a:ext cx="219456" cy="219456"/>
            </a:xfrm>
            <a:prstGeom prst="ellipse">
              <a:avLst/>
            </a:prstGeom>
            <a:solidFill>
              <a:srgbClr val="1E212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9464040" y="2286000"/>
              <a:ext cx="822960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9464040" y="2514600"/>
              <a:ext cx="594360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8915400" y="1874520"/>
              <a:ext cx="1920240" cy="1051560"/>
            </a:xfrm>
            <a:prstGeom prst="line">
              <a:avLst/>
            </a:prstGeom>
            <a:ln w="76200">
              <a:solidFill>
                <a:srgbClr val="E5484D"/>
              </a:solidFill>
            </a:ln>
          </p:spPr>
        </p:cxnSp>
        <p:cxnSp>
          <p:nvCxnSpPr>
            <p:cNvPr id="84" name="Connector 83"/>
            <p:cNvCxnSpPr/>
            <p:nvPr/>
          </p:nvCxnSpPr>
          <p:spPr>
            <a:xfrm flipH="1">
              <a:off x="8915400" y="1874520"/>
              <a:ext cx="1920240" cy="1051560"/>
            </a:xfrm>
            <a:prstGeom prst="line">
              <a:avLst/>
            </a:prstGeom>
            <a:ln w="76200">
              <a:solidFill>
                <a:srgbClr val="E5484D"/>
              </a:solidFill>
            </a:ln>
          </p:spPr>
        </p:cxnSp>
        <p:sp>
          <p:nvSpPr>
            <p:cNvPr id="85" name="Label: ticket sales"/>
            <p:cNvSpPr txBox="1"/>
            <p:nvPr/>
          </p:nvSpPr>
          <p:spPr>
            <a:xfrm>
              <a:off x="8412480" y="2944368"/>
              <a:ext cx="292608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Ticket sales</a:t>
              </a:r>
              <a:endParaRPr lang="en-GB" sz="1600"/>
            </a:p>
          </p:txBody>
        </p:sp>
      </p:grpSp>
      <p:sp>
        <p:nvSpPr>
          <p:cNvPr id="86" name="Label: passenger coach"/>
          <p:cNvSpPr txBox="1"/>
          <p:nvPr/>
        </p:nvSpPr>
        <p:spPr>
          <a:xfrm>
            <a:off x="8138160" y="493776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Passenger coach</a:t>
            </a:r>
            <a:endParaRPr lang="en-GB" sz="1800"/>
          </a:p>
        </p:txBody>
      </p:sp>
      <p:sp>
        <p:nvSpPr>
          <p:cNvPr id="8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Here, express means fast freight. The game has no passenger economy.</a:t>
            </a:r>
            <a:endParaRPr lang="en-GB" sz="2000"/>
          </a:p>
        </p:txBody>
      </p:sp>
      <p:sp>
        <p:nvSpPr>
          <p:cNvPr id="8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  <a:endParaRPr lang="en-GB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cap on the roster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Shelf with a cap" descr="A shelf with a limited number of engine slots, then a bookend, then dotted empty slots beyond it: the roster is capped."/>
          <p:cNvGrpSpPr/>
          <p:nvPr/>
        </p:nvGrpSpPr>
        <p:grpSpPr>
          <a:xfrm>
            <a:off x="868680" y="2286000"/>
            <a:ext cx="10570463" cy="1792224"/>
            <a:chOff x="868680" y="2286000"/>
            <a:chExt cx="10570463" cy="1792224"/>
          </a:xfrm>
        </p:grpSpPr>
        <p:sp>
          <p:nvSpPr>
            <p:cNvPr id="5" name="Rounded Rectangle 4"/>
            <p:cNvSpPr/>
            <p:nvPr/>
          </p:nvSpPr>
          <p:spPr>
            <a:xfrm>
              <a:off x="105156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200150" y="323240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2595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3144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7167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7716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1328166" y="3337560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" name="Rounded Rectangle 11"/>
            <p:cNvSpPr/>
            <p:nvPr/>
          </p:nvSpPr>
          <p:spPr>
            <a:xfrm>
              <a:off x="1474470" y="305866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757934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776222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757934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611630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200150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186434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264158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148839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263139" y="3232404"/>
              <a:ext cx="70865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232257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237743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58546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264032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848355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903219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2391156" y="3337560"/>
              <a:ext cx="52577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9" name="Rounded Rectangle 28"/>
            <p:cNvSpPr/>
            <p:nvPr/>
          </p:nvSpPr>
          <p:spPr>
            <a:xfrm>
              <a:off x="2537459" y="305866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555747" y="312267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889503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907791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889503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674619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263139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249423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327147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24612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3319272" y="3128953"/>
              <a:ext cx="258113" cy="103245"/>
            </a:xfrm>
            <a:prstGeom prst="roundRect">
              <a:avLst>
                <a:gd name="adj" fmla="val 2656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3343565" y="3086441"/>
              <a:ext cx="209527" cy="42512"/>
            </a:xfrm>
            <a:custGeom>
              <a:avLst/>
              <a:gdLst/>
              <a:ahLst/>
              <a:cxnLst/>
              <a:rect l="l" t="t" r="r" b="b"/>
              <a:pathLst>
                <a:path w="209527" h="42512">
                  <a:moveTo>
                    <a:pt x="0" y="42512"/>
                  </a:moveTo>
                  <a:lnTo>
                    <a:pt x="36439" y="6073"/>
                  </a:lnTo>
                  <a:lnTo>
                    <a:pt x="173087" y="0"/>
                  </a:lnTo>
                  <a:lnTo>
                    <a:pt x="209527" y="4251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3367858" y="3256492"/>
              <a:ext cx="72879" cy="72879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3455920" y="3256492"/>
              <a:ext cx="72879" cy="72879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3577385" y="3213979"/>
              <a:ext cx="2429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4" name="Rectangle 43"/>
            <p:cNvSpPr/>
            <p:nvPr/>
          </p:nvSpPr>
          <p:spPr>
            <a:xfrm>
              <a:off x="3601678" y="3213979"/>
              <a:ext cx="516226" cy="3036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3641154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3677593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3772741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3809181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3904328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3940768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4035915" y="3238272"/>
              <a:ext cx="91098" cy="9109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072355" y="3274712"/>
              <a:ext cx="18219" cy="1821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3686703" y="3283821"/>
              <a:ext cx="39476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4" name="Rounded Rectangle 53"/>
            <p:cNvSpPr/>
            <p:nvPr/>
          </p:nvSpPr>
          <p:spPr>
            <a:xfrm>
              <a:off x="3783875" y="3098587"/>
              <a:ext cx="334028" cy="115391"/>
            </a:xfrm>
            <a:prstGeom prst="roundRect">
              <a:avLst>
                <a:gd name="adj" fmla="val 4754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063245" y="3098587"/>
              <a:ext cx="54659" cy="11539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075392" y="3043928"/>
              <a:ext cx="30366" cy="607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063245" y="3031781"/>
              <a:ext cx="54659" cy="1821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3874974" y="3068221"/>
              <a:ext cx="60732" cy="36439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3601678" y="3056074"/>
              <a:ext cx="182197" cy="163977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592568" y="3040891"/>
              <a:ext cx="200417" cy="2125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3644191" y="3092514"/>
              <a:ext cx="78952" cy="6073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434340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4416552" y="3121655"/>
              <a:ext cx="209566" cy="118754"/>
            </a:xfrm>
            <a:prstGeom prst="roundRect">
              <a:avLst>
                <a:gd name="adj" fmla="val 2309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Freeform 63"/>
            <p:cNvSpPr/>
            <p:nvPr/>
          </p:nvSpPr>
          <p:spPr>
            <a:xfrm>
              <a:off x="4444494" y="3072756"/>
              <a:ext cx="153682" cy="48899"/>
            </a:xfrm>
            <a:custGeom>
              <a:avLst/>
              <a:gdLst/>
              <a:ahLst/>
              <a:cxnLst/>
              <a:rect l="l" t="t" r="r" b="b"/>
              <a:pathLst>
                <a:path w="153682" h="48899">
                  <a:moveTo>
                    <a:pt x="0" y="48899"/>
                  </a:moveTo>
                  <a:lnTo>
                    <a:pt x="41913" y="6986"/>
                  </a:lnTo>
                  <a:lnTo>
                    <a:pt x="111768" y="0"/>
                  </a:lnTo>
                  <a:lnTo>
                    <a:pt x="153682" y="48899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4472436" y="3268352"/>
              <a:ext cx="83826" cy="8382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4486407" y="3268352"/>
              <a:ext cx="83826" cy="83826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4626118" y="3219453"/>
              <a:ext cx="2794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68" name="Rectangle 67"/>
            <p:cNvSpPr/>
            <p:nvPr/>
          </p:nvSpPr>
          <p:spPr>
            <a:xfrm>
              <a:off x="4654060" y="3219453"/>
              <a:ext cx="558843" cy="3492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4699466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4741379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4909032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4950946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5118599" y="3247395"/>
              <a:ext cx="104783" cy="10478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5160512" y="3289308"/>
              <a:ext cx="20956" cy="209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5" name="Connector 74"/>
            <p:cNvCxnSpPr/>
            <p:nvPr/>
          </p:nvCxnSpPr>
          <p:spPr>
            <a:xfrm>
              <a:off x="4751858" y="3299787"/>
              <a:ext cx="419132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76" name="Rounded Rectangle 75"/>
            <p:cNvSpPr/>
            <p:nvPr/>
          </p:nvSpPr>
          <p:spPr>
            <a:xfrm>
              <a:off x="4863626" y="3086727"/>
              <a:ext cx="349277" cy="132725"/>
            </a:xfrm>
            <a:prstGeom prst="roundRect">
              <a:avLst>
                <a:gd name="adj" fmla="val 4133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150034" y="3086727"/>
              <a:ext cx="62869" cy="13272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164005" y="3023858"/>
              <a:ext cx="34927" cy="6985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5150034" y="3009886"/>
              <a:ext cx="62869" cy="2095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4968410" y="3051800"/>
              <a:ext cx="69855" cy="41913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4654060" y="3037829"/>
              <a:ext cx="209566" cy="188609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643582" y="3020365"/>
              <a:ext cx="230522" cy="2444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4702959" y="3079742"/>
              <a:ext cx="90812" cy="6985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544068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5513832" y="3133845"/>
              <a:ext cx="259437" cy="92851"/>
            </a:xfrm>
            <a:prstGeom prst="roundRect">
              <a:avLst>
                <a:gd name="adj" fmla="val 29543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Freeform 85"/>
            <p:cNvSpPr/>
            <p:nvPr/>
          </p:nvSpPr>
          <p:spPr>
            <a:xfrm>
              <a:off x="5535679" y="3095612"/>
              <a:ext cx="215743" cy="38233"/>
            </a:xfrm>
            <a:custGeom>
              <a:avLst/>
              <a:gdLst/>
              <a:ahLst/>
              <a:cxnLst/>
              <a:rect l="l" t="t" r="r" b="b"/>
              <a:pathLst>
                <a:path w="215743" h="38233">
                  <a:moveTo>
                    <a:pt x="0" y="38233"/>
                  </a:moveTo>
                  <a:lnTo>
                    <a:pt x="32771" y="5462"/>
                  </a:lnTo>
                  <a:lnTo>
                    <a:pt x="182972" y="0"/>
                  </a:lnTo>
                  <a:lnTo>
                    <a:pt x="215743" y="38233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5557526" y="3248544"/>
              <a:ext cx="65542" cy="6554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5664032" y="3248544"/>
              <a:ext cx="65542" cy="6554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773269" y="3210311"/>
              <a:ext cx="2184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0" name="Rectangle 89"/>
            <p:cNvSpPr/>
            <p:nvPr/>
          </p:nvSpPr>
          <p:spPr>
            <a:xfrm>
              <a:off x="5795117" y="3210311"/>
              <a:ext cx="518875" cy="2730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5830619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586339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5933029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3"/>
            <p:cNvSpPr/>
            <p:nvPr/>
          </p:nvSpPr>
          <p:spPr>
            <a:xfrm>
              <a:off x="596580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Oval 94"/>
            <p:cNvSpPr/>
            <p:nvPr/>
          </p:nvSpPr>
          <p:spPr>
            <a:xfrm>
              <a:off x="603543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6068210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613784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6170619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6240258" y="3232158"/>
              <a:ext cx="81927" cy="8192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6273029" y="3264929"/>
              <a:ext cx="16385" cy="1638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1" name="Connector 100"/>
            <p:cNvCxnSpPr/>
            <p:nvPr/>
          </p:nvCxnSpPr>
          <p:spPr>
            <a:xfrm>
              <a:off x="5871583" y="3273122"/>
              <a:ext cx="409639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2" name="Rounded Rectangle 101"/>
            <p:cNvSpPr/>
            <p:nvPr/>
          </p:nvSpPr>
          <p:spPr>
            <a:xfrm>
              <a:off x="5958972" y="3106535"/>
              <a:ext cx="355020" cy="103775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6264836" y="3106535"/>
              <a:ext cx="49156" cy="10377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6275760" y="3057379"/>
              <a:ext cx="27309" cy="5461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264836" y="3046455"/>
              <a:ext cx="49156" cy="16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6040900" y="3079226"/>
              <a:ext cx="54618" cy="32771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795117" y="3068302"/>
              <a:ext cx="163855" cy="14747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5786924" y="3054648"/>
              <a:ext cx="180241" cy="1911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5833350" y="3101074"/>
              <a:ext cx="71004" cy="5461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6537960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652260" y="3232404"/>
              <a:ext cx="70866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671169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676656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697458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702945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7237476" y="326898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7292340" y="332384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6780276" y="3337560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19" name="Rounded Rectangle 118"/>
            <p:cNvSpPr/>
            <p:nvPr/>
          </p:nvSpPr>
          <p:spPr>
            <a:xfrm>
              <a:off x="6926580" y="305866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6944868" y="312267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Rectangle 120"/>
            <p:cNvSpPr/>
            <p:nvPr/>
          </p:nvSpPr>
          <p:spPr>
            <a:xfrm>
              <a:off x="7278624" y="305866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7296912" y="297637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7278624" y="295808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ounded Rectangle 123"/>
            <p:cNvSpPr/>
            <p:nvPr/>
          </p:nvSpPr>
          <p:spPr>
            <a:xfrm>
              <a:off x="7063740" y="301294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6652260" y="299466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6638544" y="297180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ectangle 126"/>
            <p:cNvSpPr/>
            <p:nvPr/>
          </p:nvSpPr>
          <p:spPr>
            <a:xfrm>
              <a:off x="6716268" y="304952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ounded Rectangle 127"/>
            <p:cNvSpPr/>
            <p:nvPr/>
          </p:nvSpPr>
          <p:spPr>
            <a:xfrm>
              <a:off x="7680960" y="2286000"/>
              <a:ext cx="146304" cy="1783080"/>
            </a:xfrm>
            <a:prstGeom prst="roundRect">
              <a:avLst>
                <a:gd name="adj" fmla="val 25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810158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ounded Rectangle 129"/>
            <p:cNvSpPr/>
            <p:nvPr/>
          </p:nvSpPr>
          <p:spPr>
            <a:xfrm>
              <a:off x="919886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ounded Rectangle 130"/>
            <p:cNvSpPr/>
            <p:nvPr/>
          </p:nvSpPr>
          <p:spPr>
            <a:xfrm>
              <a:off x="10296144" y="2468880"/>
              <a:ext cx="960120" cy="14173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 w="19050">
              <a:solidFill>
                <a:srgbClr val="A9B0B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868680" y="3931920"/>
              <a:ext cx="10570463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3" name="Inline chip: Proposed"/>
          <p:cNvSpPr/>
          <p:nvPr/>
        </p:nvSpPr>
        <p:spPr>
          <a:xfrm>
            <a:off x="1051560" y="4526280"/>
            <a:ext cx="3907178" cy="310896"/>
          </a:xfrm>
          <a:prstGeom prst="roundRect">
            <a:avLst>
              <a:gd name="adj" fmla="val 29411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 · </a:t>
            </a:r>
            <a:r>
              <a:rPr sz="1400" b="0" i="0" lang="en-GB">
                <a:solidFill>
                  <a:srgbClr val="101418"/>
                </a:solidFill>
                <a:latin typeface="Arial"/>
              </a:rPr>
              <a:t>Lots of variety: an aspiration</a:t>
            </a:r>
            <a:endParaRPr lang="en-GB" sz="1400"/>
          </a:p>
        </p:txBody>
      </p:sp>
      <p:sp>
        <p:nvSpPr>
          <p:cNvPr id="134" name="Inline chip: Undecided"/>
          <p:cNvSpPr/>
          <p:nvPr/>
        </p:nvSpPr>
        <p:spPr>
          <a:xfrm>
            <a:off x="8101584" y="4526280"/>
            <a:ext cx="2362332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Total: undecided (OQ20)</a:t>
            </a:r>
            <a:endParaRPr lang="en-GB" sz="1400"/>
          </a:p>
        </p:txBody>
      </p:sp>
      <p:sp>
        <p:nvSpPr>
          <p:cNvPr id="13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number of engines is capped on purpose, so choice stays clear.</a:t>
            </a:r>
            <a:endParaRPr lang="en-GB" sz="2000"/>
          </a:p>
        </p:txBody>
      </p:sp>
      <p:sp>
        <p:nvSpPr>
          <p:cNvPr id="13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  <a:endParaRPr lang="en-GB" sz="1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Regions need not match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Region A"/>
          <p:cNvSpPr txBox="1"/>
          <p:nvPr/>
        </p:nvSpPr>
        <p:spPr>
          <a:xfrm>
            <a:off x="822960" y="1417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Region A</a:t>
            </a:r>
            <a:endParaRPr lang="en-GB" sz="1800"/>
          </a:p>
        </p:txBody>
      </p:sp>
      <p:grpSp>
        <p:nvGrpSpPr>
          <p:cNvPr id="5" name="Region A shelf" descr="Region A: a shelf of engines of different shapes. The two regions have shelves of different lengths."/>
          <p:cNvGrpSpPr/>
          <p:nvPr/>
        </p:nvGrpSpPr>
        <p:grpSpPr>
          <a:xfrm>
            <a:off x="640080" y="1874519"/>
            <a:ext cx="9784080" cy="1380744"/>
            <a:chOff x="640080" y="1874519"/>
            <a:chExt cx="9784080" cy="1380744"/>
          </a:xfrm>
        </p:grpSpPr>
        <p:sp>
          <p:nvSpPr>
            <p:cNvPr id="6" name="Rounded Rectangle 5"/>
            <p:cNvSpPr/>
            <p:nvPr/>
          </p:nvSpPr>
          <p:spPr>
            <a:xfrm>
              <a:off x="822960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2523744"/>
              <a:ext cx="70866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4815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30302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51104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56591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773936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1828800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316736" y="2628899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" name="Rounded Rectangle 14"/>
            <p:cNvSpPr/>
            <p:nvPr/>
          </p:nvSpPr>
          <p:spPr>
            <a:xfrm>
              <a:off x="1463040" y="235000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81328" y="2414015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815084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833372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815084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188720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175004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252728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414016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532888" y="2395727"/>
              <a:ext cx="3886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Freeform 25"/>
            <p:cNvSpPr/>
            <p:nvPr/>
          </p:nvSpPr>
          <p:spPr>
            <a:xfrm>
              <a:off x="2569464" y="2331720"/>
              <a:ext cx="315468" cy="64007"/>
            </a:xfrm>
            <a:custGeom>
              <a:avLst/>
              <a:gdLst/>
              <a:ahLst/>
              <a:cxnLst/>
              <a:rect l="l" t="t" r="r" b="b"/>
              <a:pathLst>
                <a:path w="315468" h="64007">
                  <a:moveTo>
                    <a:pt x="0" y="64007"/>
                  </a:moveTo>
                  <a:lnTo>
                    <a:pt x="54864" y="9143"/>
                  </a:lnTo>
                  <a:lnTo>
                    <a:pt x="260604" y="0"/>
                  </a:lnTo>
                  <a:lnTo>
                    <a:pt x="3154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606040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738628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2921508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0" name="Rectangle 29"/>
            <p:cNvSpPr/>
            <p:nvPr/>
          </p:nvSpPr>
          <p:spPr>
            <a:xfrm>
              <a:off x="2958084" y="2523744"/>
              <a:ext cx="77723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301752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307238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321564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327050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341376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346862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3611880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3666744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3086100" y="2628899"/>
              <a:ext cx="5943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0" name="Rounded Rectangle 39"/>
            <p:cNvSpPr/>
            <p:nvPr/>
          </p:nvSpPr>
          <p:spPr>
            <a:xfrm>
              <a:off x="3232404" y="2350008"/>
              <a:ext cx="50292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653028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671315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653028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3369564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958084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944368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022092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4005072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4078224" y="2398182"/>
              <a:ext cx="419764" cy="150231"/>
            </a:xfrm>
            <a:prstGeom prst="roundRect">
              <a:avLst>
                <a:gd name="adj" fmla="val 1825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4113572" y="2336322"/>
              <a:ext cx="349068" cy="61860"/>
            </a:xfrm>
            <a:custGeom>
              <a:avLst/>
              <a:gdLst/>
              <a:ahLst/>
              <a:cxnLst/>
              <a:rect l="l" t="t" r="r" b="b"/>
              <a:pathLst>
                <a:path w="349068" h="61860">
                  <a:moveTo>
                    <a:pt x="0" y="61860"/>
                  </a:moveTo>
                  <a:lnTo>
                    <a:pt x="53023" y="8837"/>
                  </a:lnTo>
                  <a:lnTo>
                    <a:pt x="296045" y="0"/>
                  </a:lnTo>
                  <a:lnTo>
                    <a:pt x="349068" y="6186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4148921" y="258376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4321245" y="258376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4497988" y="2521902"/>
              <a:ext cx="3534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4" name="Rectangle 53"/>
            <p:cNvSpPr/>
            <p:nvPr/>
          </p:nvSpPr>
          <p:spPr>
            <a:xfrm>
              <a:off x="4533337" y="2521902"/>
              <a:ext cx="839529" cy="441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4590778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4643801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4756475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4809498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4922172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4975195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5087868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5140891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5253565" y="255725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5306588" y="261027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4657057" y="2623530"/>
              <a:ext cx="66278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6" name="Rounded Rectangle 65"/>
            <p:cNvSpPr/>
            <p:nvPr/>
          </p:nvSpPr>
          <p:spPr>
            <a:xfrm>
              <a:off x="4798452" y="2353996"/>
              <a:ext cx="574415" cy="167905"/>
            </a:xfrm>
            <a:prstGeom prst="roundRect">
              <a:avLst>
                <a:gd name="adj" fmla="val 3267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293332" y="2353996"/>
              <a:ext cx="79534" cy="16790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11007" y="2274462"/>
              <a:ext cx="44185" cy="8837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293332" y="2256788"/>
              <a:ext cx="79534" cy="265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931009" y="2309811"/>
              <a:ext cx="88371" cy="5302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533337" y="2292136"/>
              <a:ext cx="265114" cy="2386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520081" y="2270044"/>
              <a:ext cx="291626" cy="3093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595197" y="2345159"/>
              <a:ext cx="114883" cy="8837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596128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996178" y="252374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605561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611047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Oval 77"/>
            <p:cNvSpPr/>
            <p:nvPr/>
          </p:nvSpPr>
          <p:spPr>
            <a:xfrm>
              <a:off x="651281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656767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6124194" y="2628899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81" name="Rounded Rectangle 80"/>
            <p:cNvSpPr/>
            <p:nvPr/>
          </p:nvSpPr>
          <p:spPr>
            <a:xfrm>
              <a:off x="6270498" y="235000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553962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572250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553962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6407658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5996178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5982462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060186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7187184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Rounded Rectangle 89"/>
            <p:cNvSpPr/>
            <p:nvPr/>
          </p:nvSpPr>
          <p:spPr>
            <a:xfrm>
              <a:off x="7306056" y="2395727"/>
              <a:ext cx="3886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Freeform 90"/>
            <p:cNvSpPr/>
            <p:nvPr/>
          </p:nvSpPr>
          <p:spPr>
            <a:xfrm>
              <a:off x="7342632" y="2331720"/>
              <a:ext cx="315468" cy="64007"/>
            </a:xfrm>
            <a:custGeom>
              <a:avLst/>
              <a:gdLst/>
              <a:ahLst/>
              <a:cxnLst/>
              <a:rect l="l" t="t" r="r" b="b"/>
              <a:pathLst>
                <a:path w="315468" h="64007">
                  <a:moveTo>
                    <a:pt x="0" y="64007"/>
                  </a:moveTo>
                  <a:lnTo>
                    <a:pt x="54864" y="9143"/>
                  </a:lnTo>
                  <a:lnTo>
                    <a:pt x="260604" y="0"/>
                  </a:lnTo>
                  <a:lnTo>
                    <a:pt x="3154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7379208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7511796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4" name="Connector 93"/>
            <p:cNvCxnSpPr/>
            <p:nvPr/>
          </p:nvCxnSpPr>
          <p:spPr>
            <a:xfrm>
              <a:off x="7694676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5" name="Rectangle 94"/>
            <p:cNvSpPr/>
            <p:nvPr/>
          </p:nvSpPr>
          <p:spPr>
            <a:xfrm>
              <a:off x="7731252" y="2523744"/>
              <a:ext cx="77724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779068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784555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798880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804367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818692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824179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8385048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Oval 102"/>
            <p:cNvSpPr/>
            <p:nvPr/>
          </p:nvSpPr>
          <p:spPr>
            <a:xfrm>
              <a:off x="8439912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7859268" y="2628899"/>
              <a:ext cx="5943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8005572" y="2350008"/>
              <a:ext cx="50292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8426196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8444484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8426196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8142732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7731252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7717536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795260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8778240" y="187451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ounded Rectangle 113"/>
            <p:cNvSpPr/>
            <p:nvPr/>
          </p:nvSpPr>
          <p:spPr>
            <a:xfrm>
              <a:off x="8977122" y="2395727"/>
              <a:ext cx="2743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013698" y="2331720"/>
              <a:ext cx="201168" cy="64007"/>
            </a:xfrm>
            <a:custGeom>
              <a:avLst/>
              <a:gdLst/>
              <a:ahLst/>
              <a:cxnLst/>
              <a:rect l="l" t="t" r="r" b="b"/>
              <a:pathLst>
                <a:path w="201168" h="64007">
                  <a:moveTo>
                    <a:pt x="0" y="64007"/>
                  </a:moveTo>
                  <a:lnTo>
                    <a:pt x="54864" y="9143"/>
                  </a:lnTo>
                  <a:lnTo>
                    <a:pt x="146304" y="0"/>
                  </a:lnTo>
                  <a:lnTo>
                    <a:pt x="201168" y="64007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9050274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9068562" y="2587751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9251442" y="252374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19" name="Rectangle 118"/>
            <p:cNvSpPr/>
            <p:nvPr/>
          </p:nvSpPr>
          <p:spPr>
            <a:xfrm>
              <a:off x="9288018" y="2523744"/>
              <a:ext cx="73152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>
              <a:off x="934745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940231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62177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967663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9896094" y="256032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9950958" y="2615183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6" name="Connector 125"/>
            <p:cNvCxnSpPr/>
            <p:nvPr/>
          </p:nvCxnSpPr>
          <p:spPr>
            <a:xfrm>
              <a:off x="9416034" y="2628899"/>
              <a:ext cx="5486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7" name="Rounded Rectangle 126"/>
            <p:cNvSpPr/>
            <p:nvPr/>
          </p:nvSpPr>
          <p:spPr>
            <a:xfrm>
              <a:off x="9562338" y="2350008"/>
              <a:ext cx="45720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9937242" y="235000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9955530" y="2267711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9937242" y="2249423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ounded Rectangle 130"/>
            <p:cNvSpPr/>
            <p:nvPr/>
          </p:nvSpPr>
          <p:spPr>
            <a:xfrm>
              <a:off x="9699498" y="2304287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288018" y="2285999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9274302" y="2263139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9352026" y="2340863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ounded Rectangle 134"/>
            <p:cNvSpPr/>
            <p:nvPr/>
          </p:nvSpPr>
          <p:spPr>
            <a:xfrm>
              <a:off x="640080" y="3108959"/>
              <a:ext cx="9784080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6" name="Label: Region B"/>
          <p:cNvSpPr txBox="1"/>
          <p:nvPr/>
        </p:nvSpPr>
        <p:spPr>
          <a:xfrm>
            <a:off x="822960" y="35204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Region B</a:t>
            </a:r>
            <a:endParaRPr lang="en-GB" sz="1800"/>
          </a:p>
        </p:txBody>
      </p:sp>
      <p:grpSp>
        <p:nvGrpSpPr>
          <p:cNvPr id="137" name="Region B shelf" descr="Region B: a shelf of engines of different shapes. The two regions have shelves of different lengths."/>
          <p:cNvGrpSpPr/>
          <p:nvPr/>
        </p:nvGrpSpPr>
        <p:grpSpPr>
          <a:xfrm>
            <a:off x="640080" y="3977639"/>
            <a:ext cx="6601968" cy="1380744"/>
            <a:chOff x="640080" y="3977639"/>
            <a:chExt cx="6601968" cy="1380744"/>
          </a:xfrm>
        </p:grpSpPr>
        <p:sp>
          <p:nvSpPr>
            <p:cNvPr id="138" name="Rounded Rectangle 137"/>
            <p:cNvSpPr/>
            <p:nvPr/>
          </p:nvSpPr>
          <p:spPr>
            <a:xfrm>
              <a:off x="822960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ounded Rectangle 138"/>
            <p:cNvSpPr/>
            <p:nvPr/>
          </p:nvSpPr>
          <p:spPr>
            <a:xfrm>
              <a:off x="1021842" y="4498848"/>
              <a:ext cx="274320" cy="155448"/>
            </a:xfrm>
            <a:prstGeom prst="roundRect">
              <a:avLst>
                <a:gd name="adj" fmla="val 1764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0" name="Freeform 139"/>
            <p:cNvSpPr/>
            <p:nvPr/>
          </p:nvSpPr>
          <p:spPr>
            <a:xfrm>
              <a:off x="1058418" y="4434840"/>
              <a:ext cx="201168" cy="64008"/>
            </a:xfrm>
            <a:custGeom>
              <a:avLst/>
              <a:gdLst/>
              <a:ahLst/>
              <a:cxnLst/>
              <a:rect l="l" t="t" r="r" b="b"/>
              <a:pathLst>
                <a:path w="201168" h="64008">
                  <a:moveTo>
                    <a:pt x="0" y="64008"/>
                  </a:moveTo>
                  <a:lnTo>
                    <a:pt x="54864" y="9144"/>
                  </a:lnTo>
                  <a:lnTo>
                    <a:pt x="146304" y="0"/>
                  </a:lnTo>
                  <a:lnTo>
                    <a:pt x="201168" y="64008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1094994" y="4690872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1113282" y="4690872"/>
              <a:ext cx="109728" cy="10972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3" name="Connector 142"/>
            <p:cNvCxnSpPr/>
            <p:nvPr/>
          </p:nvCxnSpPr>
          <p:spPr>
            <a:xfrm>
              <a:off x="1296162" y="4626864"/>
              <a:ext cx="365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44" name="Rectangle 143"/>
            <p:cNvSpPr/>
            <p:nvPr/>
          </p:nvSpPr>
          <p:spPr>
            <a:xfrm>
              <a:off x="1332738" y="4626864"/>
              <a:ext cx="73152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Oval 144"/>
            <p:cNvSpPr/>
            <p:nvPr/>
          </p:nvSpPr>
          <p:spPr>
            <a:xfrm>
              <a:off x="139217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Oval 145"/>
            <p:cNvSpPr/>
            <p:nvPr/>
          </p:nvSpPr>
          <p:spPr>
            <a:xfrm>
              <a:off x="144703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Oval 146"/>
            <p:cNvSpPr/>
            <p:nvPr/>
          </p:nvSpPr>
          <p:spPr>
            <a:xfrm>
              <a:off x="166649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Oval 147"/>
            <p:cNvSpPr/>
            <p:nvPr/>
          </p:nvSpPr>
          <p:spPr>
            <a:xfrm>
              <a:off x="172135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Oval 148"/>
            <p:cNvSpPr/>
            <p:nvPr/>
          </p:nvSpPr>
          <p:spPr>
            <a:xfrm>
              <a:off x="19408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Oval 149"/>
            <p:cNvSpPr/>
            <p:nvPr/>
          </p:nvSpPr>
          <p:spPr>
            <a:xfrm>
              <a:off x="19956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1" name="Connector 150"/>
            <p:cNvCxnSpPr/>
            <p:nvPr/>
          </p:nvCxnSpPr>
          <p:spPr>
            <a:xfrm>
              <a:off x="1460754" y="4732020"/>
              <a:ext cx="54864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52" name="Rounded Rectangle 151"/>
            <p:cNvSpPr/>
            <p:nvPr/>
          </p:nvSpPr>
          <p:spPr>
            <a:xfrm>
              <a:off x="1607058" y="4453128"/>
              <a:ext cx="45720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1981962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2000250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1981962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Rounded Rectangle 155"/>
            <p:cNvSpPr/>
            <p:nvPr/>
          </p:nvSpPr>
          <p:spPr>
            <a:xfrm>
              <a:off x="1744218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1332738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1319022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1396746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Rounded Rectangle 159"/>
            <p:cNvSpPr/>
            <p:nvPr/>
          </p:nvSpPr>
          <p:spPr>
            <a:xfrm>
              <a:off x="2414016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Rounded Rectangle 160"/>
            <p:cNvSpPr/>
            <p:nvPr/>
          </p:nvSpPr>
          <p:spPr>
            <a:xfrm>
              <a:off x="2487168" y="4501302"/>
              <a:ext cx="419764" cy="150231"/>
            </a:xfrm>
            <a:prstGeom prst="roundRect">
              <a:avLst>
                <a:gd name="adj" fmla="val 18259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Freeform 161"/>
            <p:cNvSpPr/>
            <p:nvPr/>
          </p:nvSpPr>
          <p:spPr>
            <a:xfrm>
              <a:off x="2522516" y="4439442"/>
              <a:ext cx="349068" cy="61860"/>
            </a:xfrm>
            <a:custGeom>
              <a:avLst/>
              <a:gdLst/>
              <a:ahLst/>
              <a:cxnLst/>
              <a:rect l="l" t="t" r="r" b="b"/>
              <a:pathLst>
                <a:path w="349068" h="61860">
                  <a:moveTo>
                    <a:pt x="0" y="61860"/>
                  </a:moveTo>
                  <a:lnTo>
                    <a:pt x="53023" y="8837"/>
                  </a:lnTo>
                  <a:lnTo>
                    <a:pt x="296045" y="0"/>
                  </a:lnTo>
                  <a:lnTo>
                    <a:pt x="349068" y="6186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Oval 162"/>
            <p:cNvSpPr/>
            <p:nvPr/>
          </p:nvSpPr>
          <p:spPr>
            <a:xfrm>
              <a:off x="2557865" y="468688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Oval 163"/>
            <p:cNvSpPr/>
            <p:nvPr/>
          </p:nvSpPr>
          <p:spPr>
            <a:xfrm>
              <a:off x="2730189" y="4686883"/>
              <a:ext cx="106045" cy="10604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65" name="Connector 164"/>
            <p:cNvCxnSpPr/>
            <p:nvPr/>
          </p:nvCxnSpPr>
          <p:spPr>
            <a:xfrm>
              <a:off x="2906932" y="4625022"/>
              <a:ext cx="3534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66" name="Rectangle 165"/>
            <p:cNvSpPr/>
            <p:nvPr/>
          </p:nvSpPr>
          <p:spPr>
            <a:xfrm>
              <a:off x="2942281" y="4625022"/>
              <a:ext cx="839529" cy="441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Oval 166"/>
            <p:cNvSpPr/>
            <p:nvPr/>
          </p:nvSpPr>
          <p:spPr>
            <a:xfrm>
              <a:off x="2999722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Oval 167"/>
            <p:cNvSpPr/>
            <p:nvPr/>
          </p:nvSpPr>
          <p:spPr>
            <a:xfrm>
              <a:off x="3052745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Oval 168"/>
            <p:cNvSpPr/>
            <p:nvPr/>
          </p:nvSpPr>
          <p:spPr>
            <a:xfrm>
              <a:off x="3165419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Oval 169"/>
            <p:cNvSpPr/>
            <p:nvPr/>
          </p:nvSpPr>
          <p:spPr>
            <a:xfrm>
              <a:off x="3218442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Oval 170"/>
            <p:cNvSpPr/>
            <p:nvPr/>
          </p:nvSpPr>
          <p:spPr>
            <a:xfrm>
              <a:off x="3331116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Oval 171"/>
            <p:cNvSpPr/>
            <p:nvPr/>
          </p:nvSpPr>
          <p:spPr>
            <a:xfrm>
              <a:off x="3384139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Oval 172"/>
            <p:cNvSpPr/>
            <p:nvPr/>
          </p:nvSpPr>
          <p:spPr>
            <a:xfrm>
              <a:off x="3496812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Oval 173"/>
            <p:cNvSpPr/>
            <p:nvPr/>
          </p:nvSpPr>
          <p:spPr>
            <a:xfrm>
              <a:off x="3549835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5" name="Oval 174"/>
            <p:cNvSpPr/>
            <p:nvPr/>
          </p:nvSpPr>
          <p:spPr>
            <a:xfrm>
              <a:off x="3662509" y="4660371"/>
              <a:ext cx="132557" cy="13255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Oval 175"/>
            <p:cNvSpPr/>
            <p:nvPr/>
          </p:nvSpPr>
          <p:spPr>
            <a:xfrm>
              <a:off x="3715532" y="4713394"/>
              <a:ext cx="26511" cy="2651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Connector 176"/>
            <p:cNvCxnSpPr/>
            <p:nvPr/>
          </p:nvCxnSpPr>
          <p:spPr>
            <a:xfrm>
              <a:off x="3066001" y="4726650"/>
              <a:ext cx="66278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78" name="Rounded Rectangle 177"/>
            <p:cNvSpPr/>
            <p:nvPr/>
          </p:nvSpPr>
          <p:spPr>
            <a:xfrm>
              <a:off x="3207396" y="4457116"/>
              <a:ext cx="574415" cy="167905"/>
            </a:xfrm>
            <a:prstGeom prst="roundRect">
              <a:avLst>
                <a:gd name="adj" fmla="val 32675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3702276" y="4457116"/>
              <a:ext cx="79534" cy="16790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3719951" y="4377582"/>
              <a:ext cx="44185" cy="8837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3702276" y="4359908"/>
              <a:ext cx="79534" cy="265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3339953" y="4412931"/>
              <a:ext cx="88371" cy="5302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942281" y="4395256"/>
              <a:ext cx="265114" cy="2386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2929025" y="4373164"/>
              <a:ext cx="291626" cy="3093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004141" y="4448279"/>
              <a:ext cx="114883" cy="8837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Rounded Rectangle 185"/>
            <p:cNvSpPr/>
            <p:nvPr/>
          </p:nvSpPr>
          <p:spPr>
            <a:xfrm>
              <a:off x="4005072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370832" y="4626864"/>
              <a:ext cx="708659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Oval 187"/>
            <p:cNvSpPr/>
            <p:nvPr/>
          </p:nvSpPr>
          <p:spPr>
            <a:xfrm>
              <a:off x="443026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Oval 188"/>
            <p:cNvSpPr/>
            <p:nvPr/>
          </p:nvSpPr>
          <p:spPr>
            <a:xfrm>
              <a:off x="448513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Oval 189"/>
            <p:cNvSpPr/>
            <p:nvPr/>
          </p:nvSpPr>
          <p:spPr>
            <a:xfrm>
              <a:off x="469315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1" name="Oval 190"/>
            <p:cNvSpPr/>
            <p:nvPr/>
          </p:nvSpPr>
          <p:spPr>
            <a:xfrm>
              <a:off x="474802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Oval 191"/>
            <p:cNvSpPr/>
            <p:nvPr/>
          </p:nvSpPr>
          <p:spPr>
            <a:xfrm>
              <a:off x="4956048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Oval 192"/>
            <p:cNvSpPr/>
            <p:nvPr/>
          </p:nvSpPr>
          <p:spPr>
            <a:xfrm>
              <a:off x="5010912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4" name="Connector 193"/>
            <p:cNvCxnSpPr/>
            <p:nvPr/>
          </p:nvCxnSpPr>
          <p:spPr>
            <a:xfrm>
              <a:off x="4498848" y="4732020"/>
              <a:ext cx="52578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95" name="Rounded Rectangle 194"/>
            <p:cNvSpPr/>
            <p:nvPr/>
          </p:nvSpPr>
          <p:spPr>
            <a:xfrm>
              <a:off x="4645152" y="4453128"/>
              <a:ext cx="43434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Rounded Rectangle 195"/>
            <p:cNvSpPr/>
            <p:nvPr/>
          </p:nvSpPr>
          <p:spPr>
            <a:xfrm>
              <a:off x="4663440" y="4517136"/>
              <a:ext cx="306323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4997196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015484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4997196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4782312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4370832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ectangle 201"/>
            <p:cNvSpPr/>
            <p:nvPr/>
          </p:nvSpPr>
          <p:spPr>
            <a:xfrm>
              <a:off x="4357116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4434840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ounded Rectangle 203"/>
            <p:cNvSpPr/>
            <p:nvPr/>
          </p:nvSpPr>
          <p:spPr>
            <a:xfrm>
              <a:off x="5596128" y="3977639"/>
              <a:ext cx="1463040" cy="1188720"/>
            </a:xfrm>
            <a:prstGeom prst="roundRect">
              <a:avLst>
                <a:gd name="adj" fmla="val 615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Rectangle 204"/>
            <p:cNvSpPr/>
            <p:nvPr/>
          </p:nvSpPr>
          <p:spPr>
            <a:xfrm>
              <a:off x="5996178" y="4626864"/>
              <a:ext cx="64008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60556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>
              <a:off x="61104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6512814" y="46634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>
              <a:off x="6567678" y="47183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0" name="Connector 209"/>
            <p:cNvCxnSpPr/>
            <p:nvPr/>
          </p:nvCxnSpPr>
          <p:spPr>
            <a:xfrm>
              <a:off x="6124194" y="4732020"/>
              <a:ext cx="45720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11" name="Rounded Rectangle 210"/>
            <p:cNvSpPr/>
            <p:nvPr/>
          </p:nvSpPr>
          <p:spPr>
            <a:xfrm>
              <a:off x="6270498" y="4453128"/>
              <a:ext cx="365760" cy="173736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ectangle 211"/>
            <p:cNvSpPr/>
            <p:nvPr/>
          </p:nvSpPr>
          <p:spPr>
            <a:xfrm>
              <a:off x="6553962" y="44531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6572250" y="43708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6553962" y="43525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5" name="Rounded Rectangle 214"/>
            <p:cNvSpPr/>
            <p:nvPr/>
          </p:nvSpPr>
          <p:spPr>
            <a:xfrm>
              <a:off x="6407658" y="44074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6" name="Rectangle 215"/>
            <p:cNvSpPr/>
            <p:nvPr/>
          </p:nvSpPr>
          <p:spPr>
            <a:xfrm>
              <a:off x="5996178" y="4389120"/>
              <a:ext cx="274320" cy="2468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ectangle 216"/>
            <p:cNvSpPr/>
            <p:nvPr/>
          </p:nvSpPr>
          <p:spPr>
            <a:xfrm>
              <a:off x="5982462" y="43662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6060186" y="44439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ounded Rectangle 218"/>
            <p:cNvSpPr/>
            <p:nvPr/>
          </p:nvSpPr>
          <p:spPr>
            <a:xfrm>
              <a:off x="640080" y="5212079"/>
              <a:ext cx="6601968" cy="146304"/>
            </a:xfrm>
            <a:prstGeom prst="roundRect">
              <a:avLst>
                <a:gd name="adj" fmla="val 25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2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region gets the engines that suit its own tradition. Counts need not match.</a:t>
            </a:r>
            <a:endParaRPr lang="en-GB" sz="2000"/>
          </a:p>
        </p:txBody>
      </p:sp>
      <p:sp>
        <p:nvSpPr>
          <p:cNvPr id="22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  <a:endParaRPr lang="en-GB"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Two sides of a card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Card frame" descr="A mock engine card split into two halves by a vertical line."/>
          <p:cNvGrpSpPr/>
          <p:nvPr/>
        </p:nvGrpSpPr>
        <p:grpSpPr>
          <a:xfrm>
            <a:off x="822960" y="1371600"/>
            <a:ext cx="10543032" cy="4206240"/>
            <a:chOff x="822960" y="1371600"/>
            <a:chExt cx="1054303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371600"/>
              <a:ext cx="10543032" cy="4206240"/>
            </a:xfrm>
            <a:prstGeom prst="roundRect">
              <a:avLst>
                <a:gd name="adj" fmla="val 2173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6094476" y="1554480"/>
              <a:ext cx="0" cy="3840479"/>
            </a:xfrm>
            <a:prstGeom prst="line">
              <a:avLst/>
            </a:prstGeom>
            <a:ln w="25400">
              <a:solidFill>
                <a:srgbClr val="4A515B"/>
              </a:solidFill>
            </a:ln>
          </p:spPr>
        </p:cxnSp>
      </p:grpSp>
      <p:grpSp>
        <p:nvGrpSpPr>
          <p:cNvPr id="7" name="Card side: History and character" descr="The History and character side of the card, with labelled grey placeholder bars. No real facts are shown."/>
          <p:cNvGrpSpPr/>
          <p:nvPr/>
        </p:nvGrpSpPr>
        <p:grpSpPr>
          <a:xfrm>
            <a:off x="1051560" y="1600200"/>
            <a:ext cx="4814316" cy="3630168"/>
            <a:chOff x="1051560" y="1600200"/>
            <a:chExt cx="4814316" cy="3630168"/>
          </a:xfrm>
        </p:grpSpPr>
        <p:sp>
          <p:nvSpPr>
            <p:cNvPr id="8" name="Rounded Rectangle 7"/>
            <p:cNvSpPr/>
            <p:nvPr/>
          </p:nvSpPr>
          <p:spPr>
            <a:xfrm>
              <a:off x="1051560" y="1600200"/>
              <a:ext cx="4814316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History and character</a:t>
              </a:r>
              <a:endParaRPr lang="en-GB" sz="200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43000" y="235915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Class</a:t>
              </a:r>
              <a:endParaRPr lang="en-GB" sz="1600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43230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43000" y="2871216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Builder</a:t>
              </a:r>
              <a:endParaRPr lang="en-GB" sz="1600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651760" y="2944368"/>
              <a:ext cx="246888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43000" y="3383280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Operator</a:t>
              </a:r>
              <a:endParaRPr lang="en-GB" sz="1600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651760" y="3456432"/>
              <a:ext cx="274320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143000" y="3895344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Era</a:t>
              </a:r>
              <a:endParaRPr lang="en-GB" sz="1600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651760" y="3968496"/>
              <a:ext cx="201168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43000" y="4407408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Purpose</a:t>
              </a:r>
              <a:endParaRPr lang="en-GB" sz="1600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651760" y="4480559"/>
              <a:ext cx="28346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43000" y="491947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Reputation</a:t>
              </a:r>
              <a:endParaRPr lang="en-GB" sz="1600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651760" y="4992624"/>
              <a:ext cx="228600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" name="Card side: Early Locomotion gameplay" descr="The Early Locomotion gameplay side of the card, with labelled grey placeholder bars. No real facts are shown."/>
          <p:cNvGrpSpPr/>
          <p:nvPr/>
        </p:nvGrpSpPr>
        <p:grpSpPr>
          <a:xfrm>
            <a:off x="6323076" y="1600200"/>
            <a:ext cx="4814316" cy="3602736"/>
            <a:chOff x="6323076" y="1600200"/>
            <a:chExt cx="4814316" cy="3602736"/>
          </a:xfrm>
        </p:grpSpPr>
        <p:sp>
          <p:nvSpPr>
            <p:cNvPr id="22" name="Rounded Rectangle 21"/>
            <p:cNvSpPr/>
            <p:nvPr/>
          </p:nvSpPr>
          <p:spPr>
            <a:xfrm>
              <a:off x="6323076" y="1600200"/>
              <a:ext cx="4814316" cy="548640"/>
            </a:xfrm>
            <a:prstGeom prst="roundRect">
              <a:avLst>
                <a:gd name="adj" fmla="val 133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Early Locomotion gameplay</a:t>
              </a:r>
              <a:endParaRPr lang="en-GB"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4516" y="235915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Duties</a:t>
              </a:r>
              <a:endParaRPr lang="en-GB" sz="1600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7923275" y="243230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923275" y="270662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14516" y="313639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Strengths</a:t>
              </a:r>
              <a:endParaRPr lang="en-GB" sz="16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923275" y="320954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3275" y="348386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14516" y="391363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Weaknesses</a:t>
              </a:r>
              <a:endParaRPr lang="en-GB" sz="1600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923275" y="3986783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923275" y="4261103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14516" y="4690872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Role</a:t>
              </a:r>
              <a:endParaRPr lang="en-GB" sz="1600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923275" y="4764024"/>
              <a:ext cx="301752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7923275" y="5038344"/>
              <a:ext cx="2377440" cy="164592"/>
            </a:xfrm>
            <a:prstGeom prst="roundRect">
              <a:avLst>
                <a:gd name="adj" fmla="val 50000"/>
              </a:avLst>
            </a:prstGeom>
            <a:solidFill>
              <a:srgbClr val="A9B0B8">
                <a:alpha val="4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5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card tells the real history, then what the engine does in the game.</a:t>
            </a:r>
            <a:endParaRPr lang="en-GB" sz="2000"/>
          </a:p>
        </p:txBody>
      </p:sp>
      <p:sp>
        <p:nvSpPr>
          <p:cNvPr id="36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  <a:endParaRPr lang="en-GB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Honest history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Two lines: real purpose and in the game" descr="Two rows. Real purpose shows a passenger coach. In the game shows a fast freight engine with wagons."/>
          <p:cNvGrpSpPr/>
          <p:nvPr/>
        </p:nvGrpSpPr>
        <p:grpSpPr>
          <a:xfrm>
            <a:off x="822960" y="1463040"/>
            <a:ext cx="10515600" cy="2807208"/>
            <a:chOff x="822960" y="1463040"/>
            <a:chExt cx="10515600" cy="2807208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783080"/>
              <a:ext cx="2286000" cy="594360"/>
            </a:xfrm>
            <a:prstGeom prst="roundRect">
              <a:avLst>
                <a:gd name="adj" fmla="val 49230"/>
              </a:avLst>
            </a:prstGeom>
            <a:solidFill>
              <a:srgbClr val="343A43"/>
            </a:solidFill>
            <a:ln w="22225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Real purpose</a:t>
              </a:r>
              <a:endParaRPr lang="en-GB" sz="2000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3520440"/>
              <a:ext cx="2286000" cy="594360"/>
            </a:xfrm>
            <a:prstGeom prst="roundRect">
              <a:avLst>
                <a:gd name="adj" fmla="val 4923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In the game</a:t>
              </a:r>
              <a:endParaRPr lang="en-GB" sz="2000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65960" y="2487168"/>
              <a:ext cx="0" cy="92354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8" name="Rectangle 7"/>
            <p:cNvSpPr/>
            <p:nvPr/>
          </p:nvSpPr>
          <p:spPr>
            <a:xfrm>
              <a:off x="3657600" y="2377440"/>
              <a:ext cx="768096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749039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206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63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20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77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5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92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949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406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863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321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778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2354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6926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1498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06070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1064240" y="244144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669280" y="1463040"/>
              <a:ext cx="3108960" cy="822960"/>
            </a:xfrm>
            <a:prstGeom prst="roundRect">
              <a:avLst>
                <a:gd name="adj" fmla="val 11111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943600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73952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7004304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534656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065008" y="1600200"/>
              <a:ext cx="420623" cy="274320"/>
            </a:xfrm>
            <a:prstGeom prst="roundRect">
              <a:avLst>
                <a:gd name="adj" fmla="val 10000"/>
              </a:avLst>
            </a:prstGeom>
            <a:solidFill>
              <a:srgbClr val="F2C14E">
                <a:alpha val="8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080760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55080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8183879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8458199" y="226771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657600" y="4114800"/>
              <a:ext cx="7680960" cy="6400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749039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206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63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120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77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035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492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949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406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863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321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778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2354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6926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01498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106070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1064240" y="4178808"/>
              <a:ext cx="18288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7498079" y="3541471"/>
              <a:ext cx="781812" cy="295351"/>
            </a:xfrm>
            <a:prstGeom prst="roundRect">
              <a:avLst>
                <a:gd name="adj" fmla="val 9287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reeform 54"/>
            <p:cNvSpPr/>
            <p:nvPr/>
          </p:nvSpPr>
          <p:spPr>
            <a:xfrm>
              <a:off x="7567574" y="3419856"/>
              <a:ext cx="642823" cy="121615"/>
            </a:xfrm>
            <a:custGeom>
              <a:avLst/>
              <a:gdLst/>
              <a:ahLst/>
              <a:cxnLst/>
              <a:rect l="l" t="t" r="r" b="b"/>
              <a:pathLst>
                <a:path w="642823" h="121615">
                  <a:moveTo>
                    <a:pt x="0" y="121615"/>
                  </a:moveTo>
                  <a:lnTo>
                    <a:pt x="104241" y="17373"/>
                  </a:lnTo>
                  <a:lnTo>
                    <a:pt x="538581" y="0"/>
                  </a:lnTo>
                  <a:lnTo>
                    <a:pt x="642823" y="121615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7637068" y="3906316"/>
              <a:ext cx="208483" cy="208483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932419" y="3906316"/>
              <a:ext cx="208483" cy="208483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8279892" y="3784701"/>
              <a:ext cx="6949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9" name="Rectangle 58"/>
            <p:cNvSpPr/>
            <p:nvPr/>
          </p:nvSpPr>
          <p:spPr>
            <a:xfrm>
              <a:off x="8349386" y="3784701"/>
              <a:ext cx="1520189" cy="8686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8462314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8566556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8853220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8957462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9244126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9348368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9635032" y="3854196"/>
              <a:ext cx="260603" cy="260603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9739274" y="3958437"/>
              <a:ext cx="52120" cy="5212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592616" y="3984498"/>
              <a:ext cx="117271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9" name="Rounded Rectangle 68"/>
            <p:cNvSpPr/>
            <p:nvPr/>
          </p:nvSpPr>
          <p:spPr>
            <a:xfrm>
              <a:off x="8870594" y="3454603"/>
              <a:ext cx="998981" cy="330098"/>
            </a:xfrm>
            <a:prstGeom prst="roundRect">
              <a:avLst>
                <a:gd name="adj" fmla="val 1662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9713213" y="3454603"/>
              <a:ext cx="156362" cy="33009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747961" y="3298240"/>
              <a:ext cx="86868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9713213" y="3263493"/>
              <a:ext cx="156362" cy="521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9131198" y="3367735"/>
              <a:ext cx="173736" cy="104241"/>
            </a:xfrm>
            <a:prstGeom prst="roundRect">
              <a:avLst>
                <a:gd name="adj" fmla="val 3508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349386" y="3332988"/>
              <a:ext cx="521207" cy="469087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8323325" y="3289553"/>
              <a:ext cx="573328" cy="6080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8471001" y="3437229"/>
              <a:ext cx="225856" cy="1737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6126480" y="3383279"/>
              <a:ext cx="1280160" cy="640080"/>
            </a:xfrm>
            <a:prstGeom prst="roundRect">
              <a:avLst>
                <a:gd name="adj" fmla="val 571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6217920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812279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626364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Oval 80"/>
            <p:cNvSpPr/>
            <p:nvPr/>
          </p:nvSpPr>
          <p:spPr>
            <a:xfrm>
              <a:off x="708660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4754880" y="3383279"/>
              <a:ext cx="1280160" cy="640080"/>
            </a:xfrm>
            <a:prstGeom prst="roundRect">
              <a:avLst>
                <a:gd name="adj" fmla="val 5714"/>
              </a:avLst>
            </a:prstGeom>
            <a:solidFill>
              <a:srgbClr val="6C748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4846320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5440679" y="3493008"/>
              <a:ext cx="502919" cy="420623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489204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5715000" y="4005072"/>
              <a:ext cx="182880" cy="18288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>
              <a:off x="3840480" y="3520440"/>
              <a:ext cx="73152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  <p:cxnSp>
          <p:nvCxnSpPr>
            <p:cNvPr id="88" name="Connector 87"/>
            <p:cNvCxnSpPr/>
            <p:nvPr/>
          </p:nvCxnSpPr>
          <p:spPr>
            <a:xfrm>
              <a:off x="4023360" y="3794760"/>
              <a:ext cx="640080" cy="0"/>
            </a:xfrm>
            <a:prstGeom prst="line">
              <a:avLst/>
            </a:prstGeom>
            <a:ln w="28575">
              <a:solidFill>
                <a:srgbClr val="F2F2F2"/>
              </a:solidFill>
            </a:ln>
          </p:spPr>
        </p:cxnSp>
      </p:grpSp>
      <p:sp>
        <p:nvSpPr>
          <p:cNvPr id="89" name="Label: example only"/>
          <p:cNvSpPr/>
          <p:nvPr/>
        </p:nvSpPr>
        <p:spPr>
          <a:xfrm>
            <a:off x="822960" y="4892040"/>
            <a:ext cx="10543032" cy="566928"/>
          </a:xfrm>
          <a:prstGeom prst="roundRect">
            <a:avLst>
              <a:gd name="adj" fmla="val 12903"/>
            </a:avLst>
          </a:prstGeom>
          <a:noFill/>
          <a:ln w="25400">
            <a:solidFill>
              <a:srgbClr val="F2C14E"/>
            </a:solidFill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Example only: built for passengers, used here for fast freight.</a:t>
            </a:r>
            <a:endParaRPr lang="en-GB" sz="1800"/>
          </a:p>
        </p:txBody>
      </p:sp>
      <p:sp>
        <p:nvSpPr>
          <p:cNvPr id="9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History says what an engine was really built for, even if the game uses it differently.</a:t>
            </a:r>
            <a:endParaRPr lang="en-GB" sz="2000"/>
          </a:p>
        </p:txBody>
      </p:sp>
      <p:sp>
        <p:nvSpPr>
          <p:cNvPr id="9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  <a:endParaRPr lang="en-GB"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golden age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Golden Era timeline" descr="A timeline with a band labelled Golden Era. A question mark sits at each end because the dates are not set."/>
          <p:cNvGrpSpPr/>
          <p:nvPr/>
        </p:nvGrpSpPr>
        <p:grpSpPr>
          <a:xfrm>
            <a:off x="822960" y="1783080"/>
            <a:ext cx="10515600" cy="822960"/>
            <a:chOff x="822960" y="1783080"/>
            <a:chExt cx="10515600" cy="822960"/>
          </a:xfrm>
        </p:grpSpPr>
        <p:cxnSp>
          <p:nvCxnSpPr>
            <p:cNvPr id="5" name="Connector 4"/>
            <p:cNvCxnSpPr/>
            <p:nvPr/>
          </p:nvCxnSpPr>
          <p:spPr>
            <a:xfrm>
              <a:off x="822960" y="2194560"/>
              <a:ext cx="1051559" cy="0"/>
            </a:xfrm>
            <a:prstGeom prst="line">
              <a:avLst/>
            </a:prstGeom>
            <a:ln w="28575">
              <a:solidFill>
                <a:srgbClr val="9AA0A6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514600" y="2194560"/>
              <a:ext cx="777240" cy="0"/>
            </a:xfrm>
            <a:prstGeom prst="line">
              <a:avLst/>
            </a:prstGeom>
            <a:ln w="28575">
              <a:solidFill>
                <a:srgbClr val="9AA0A6"/>
              </a:solidFill>
              <a:prstDash val="dash"/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8869680" y="2194560"/>
              <a:ext cx="777240" cy="0"/>
            </a:xfrm>
            <a:prstGeom prst="line">
              <a:avLst/>
            </a:prstGeom>
            <a:ln w="28575">
              <a:solidFill>
                <a:srgbClr val="9AA0A6"/>
              </a:solidFill>
              <a:prstDash val="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10287000" y="2194560"/>
              <a:ext cx="1051560" cy="0"/>
            </a:xfrm>
            <a:prstGeom prst="line">
              <a:avLst/>
            </a:prstGeom>
            <a:ln w="28575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9" name="Oval 8"/>
            <p:cNvSpPr/>
            <p:nvPr/>
          </p:nvSpPr>
          <p:spPr>
            <a:xfrm>
              <a:off x="1874519" y="1874519"/>
              <a:ext cx="640080" cy="64008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800"/>
            </a:p>
          </p:txBody>
        </p:sp>
        <p:sp>
          <p:nvSpPr>
            <p:cNvPr id="10" name="Oval 9"/>
            <p:cNvSpPr/>
            <p:nvPr/>
          </p:nvSpPr>
          <p:spPr>
            <a:xfrm>
              <a:off x="9646920" y="1874519"/>
              <a:ext cx="640080" cy="64008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8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91840" y="1783080"/>
              <a:ext cx="5577840" cy="822960"/>
            </a:xfrm>
            <a:prstGeom prst="roundRect">
              <a:avLst>
                <a:gd name="adj" fmla="val 1111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Golden Era</a:t>
              </a:r>
              <a:endParaRPr lang="en-GB" sz="2600"/>
            </a:p>
          </p:txBody>
        </p:sp>
      </p:grpSp>
      <p:sp>
        <p:nvSpPr>
          <p:cNvPr id="12" name="Inline chip: Undecided"/>
          <p:cNvSpPr/>
          <p:nvPr/>
        </p:nvSpPr>
        <p:spPr>
          <a:xfrm>
            <a:off x="4769967" y="2880360"/>
            <a:ext cx="2435092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Dates: undecided (OQ21)</a:t>
            </a:r>
            <a:endParaRPr lang="en-GB" sz="1400"/>
          </a:p>
        </p:txBody>
      </p:sp>
      <p:grpSp>
        <p:nvGrpSpPr>
          <p:cNvPr id="13" name="Operator badges" descr="Five text badges for railway operators: Great Western, LNER, LMS, Southern and British Railways."/>
          <p:cNvGrpSpPr/>
          <p:nvPr/>
        </p:nvGrpSpPr>
        <p:grpSpPr>
          <a:xfrm>
            <a:off x="1550743" y="3657600"/>
            <a:ext cx="9090207" cy="548640"/>
            <a:chOff x="1550743" y="3657600"/>
            <a:chExt cx="9090207" cy="548640"/>
          </a:xfrm>
        </p:grpSpPr>
        <p:sp>
          <p:nvSpPr>
            <p:cNvPr id="14" name="Rounded Rectangle 13"/>
            <p:cNvSpPr/>
            <p:nvPr/>
          </p:nvSpPr>
          <p:spPr>
            <a:xfrm>
              <a:off x="1550743" y="3657600"/>
              <a:ext cx="210712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Great Western</a:t>
              </a:r>
              <a:endParaRPr lang="en-GB" sz="1800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86464" y="3657600"/>
              <a:ext cx="1170949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LNER</a:t>
              </a:r>
              <a:endParaRPr lang="en-GB" sz="1800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6014" y="3657600"/>
              <a:ext cx="103120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LMS</a:t>
              </a:r>
              <a:endParaRPr lang="en-GB" sz="1800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45814" y="3657600"/>
              <a:ext cx="1551926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Southern</a:t>
              </a:r>
              <a:endParaRPr lang="en-GB" sz="1800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326340" y="3657600"/>
              <a:ext cx="2314610" cy="54864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 wrap="square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British Railways</a:t>
              </a:r>
              <a:endParaRPr lang="en-GB" sz="1800"/>
            </a:p>
          </p:txBody>
        </p:sp>
      </p:grpSp>
      <p:sp>
        <p:nvSpPr>
          <p:cNvPr id="19" name="Label: operators"/>
          <p:cNvSpPr txBox="1"/>
          <p:nvPr/>
        </p:nvSpPr>
        <p:spPr>
          <a:xfrm>
            <a:off x="822960" y="452628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n-GB">
                <a:solidFill>
                  <a:srgbClr val="F2F2F2"/>
                </a:solidFill>
                <a:latin typeface="Arial"/>
              </a:rPr>
              <a:t>Operators shape history and looks, not menus.</a:t>
            </a:r>
            <a:endParaRPr lang="en-GB" sz="2000"/>
          </a:p>
        </p:txBody>
      </p:sp>
      <p:sp>
        <p:nvSpPr>
          <p:cNvPr id="2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Fleets would mostly come from steam’s golden age. The exact dates are not set.</a:t>
            </a:r>
            <a:endParaRPr lang="en-GB" sz="2000"/>
          </a:p>
        </p:txBody>
      </p:sp>
      <p:sp>
        <p:nvSpPr>
          <p:cNvPr id="2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  <a:endParaRPr lang="en-GB"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Unlocks keep pace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sp>
        <p:nvSpPr>
          <p:cNvPr id="4" name="Label: early"/>
          <p:cNvSpPr txBox="1"/>
          <p:nvPr/>
        </p:nvSpPr>
        <p:spPr>
          <a:xfrm>
            <a:off x="2377440" y="141732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1" i="0" lang="en-GB">
                <a:solidFill>
                  <a:srgbClr val="A9B0B8"/>
                </a:solidFill>
                <a:latin typeface="Arial"/>
              </a:rPr>
              <a:t>Early</a:t>
            </a:r>
            <a:endParaRPr lang="en-GB" sz="1400"/>
          </a:p>
        </p:txBody>
      </p:sp>
      <p:sp>
        <p:nvSpPr>
          <p:cNvPr id="5" name="Label: later"/>
          <p:cNvSpPr txBox="1"/>
          <p:nvPr/>
        </p:nvSpPr>
        <p:spPr>
          <a:xfrm>
            <a:off x="9509760" y="141732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1" i="0" lang="en-GB">
                <a:solidFill>
                  <a:srgbClr val="A9B0B8"/>
                </a:solidFill>
                <a:latin typeface="Arial"/>
              </a:rPr>
              <a:t>Later</a:t>
            </a:r>
            <a:endParaRPr lang="en-GB" sz="1400"/>
          </a:p>
        </p:txBody>
      </p:sp>
      <p:grpSp>
        <p:nvGrpSpPr>
          <p:cNvPr id="6" name="Track names" descr="Two parallel tier tracks, one named Core and one named Pack."/>
          <p:cNvGrpSpPr/>
          <p:nvPr/>
        </p:nvGrpSpPr>
        <p:grpSpPr>
          <a:xfrm>
            <a:off x="822960" y="2286000"/>
            <a:ext cx="1280160" cy="2514600"/>
            <a:chOff x="822960" y="2286000"/>
            <a:chExt cx="1280160" cy="2514600"/>
          </a:xfrm>
        </p:grpSpPr>
        <p:sp>
          <p:nvSpPr>
            <p:cNvPr id="7" name="TextBox 6"/>
            <p:cNvSpPr txBox="1"/>
            <p:nvPr/>
          </p:nvSpPr>
          <p:spPr>
            <a:xfrm>
              <a:off x="822960" y="2286000"/>
              <a:ext cx="1280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Core</a:t>
              </a:r>
              <a:endParaRPr lang="en-GB" sz="22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4343400"/>
              <a:ext cx="1280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2200"/>
            </a:p>
          </p:txBody>
        </p:sp>
      </p:grpSp>
      <p:grpSp>
        <p:nvGrpSpPr>
          <p:cNvPr id="9" name="Stage guides" descr="Dashed vertical guides line the stages of the two tracks up."/>
          <p:cNvGrpSpPr/>
          <p:nvPr/>
        </p:nvGrpSpPr>
        <p:grpSpPr>
          <a:xfrm>
            <a:off x="2743200" y="2697480"/>
            <a:ext cx="7955280" cy="868680"/>
            <a:chOff x="2743200" y="2697480"/>
            <a:chExt cx="7955280" cy="868680"/>
          </a:xfrm>
        </p:grpSpPr>
        <p:cxnSp>
          <p:nvCxnSpPr>
            <p:cNvPr id="10" name="Connector 9"/>
            <p:cNvCxnSpPr/>
            <p:nvPr/>
          </p:nvCxnSpPr>
          <p:spPr>
            <a:xfrm>
              <a:off x="274320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75488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676656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877824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10698480" y="2697480"/>
              <a:ext cx="0" cy="868680"/>
            </a:xfrm>
            <a:prstGeom prst="line">
              <a:avLst/>
            </a:prstGeom>
            <a:ln w="15875">
              <a:solidFill>
                <a:srgbClr val="A9B0B8"/>
              </a:solidFill>
              <a:prstDash val="dash"/>
            </a:ln>
          </p:spPr>
        </p:cxnSp>
      </p:grpSp>
      <p:grpSp>
        <p:nvGrpSpPr>
          <p:cNvPr id="15" name="Core track" descr="The Core track: a line with five stage markers, early on the left and later on the right."/>
          <p:cNvGrpSpPr/>
          <p:nvPr/>
        </p:nvGrpSpPr>
        <p:grpSpPr>
          <a:xfrm>
            <a:off x="2194560" y="2359152"/>
            <a:ext cx="9235440" cy="310896"/>
            <a:chOff x="2194560" y="2359152"/>
            <a:chExt cx="9235440" cy="310896"/>
          </a:xfrm>
        </p:grpSpPr>
        <p:cxnSp>
          <p:nvCxnSpPr>
            <p:cNvPr id="16" name="Connector 15"/>
            <p:cNvCxnSpPr/>
            <p:nvPr/>
          </p:nvCxnSpPr>
          <p:spPr>
            <a:xfrm>
              <a:off x="2194560" y="2514600"/>
              <a:ext cx="923544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17" name="Oval 16"/>
            <p:cNvSpPr/>
            <p:nvPr/>
          </p:nvSpPr>
          <p:spPr>
            <a:xfrm>
              <a:off x="258775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59943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661111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862279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10543032" y="2359152"/>
              <a:ext cx="310896" cy="310896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Pack track" descr="The Pack track: a line with engines standing at the stages. Small engines sit at the early stages and larger ones at the later stages."/>
          <p:cNvGrpSpPr/>
          <p:nvPr/>
        </p:nvGrpSpPr>
        <p:grpSpPr>
          <a:xfrm>
            <a:off x="2194560" y="3962643"/>
            <a:ext cx="9433498" cy="609357"/>
            <a:chOff x="2194560" y="3962643"/>
            <a:chExt cx="9433498" cy="609357"/>
          </a:xfrm>
        </p:grpSpPr>
        <p:cxnSp>
          <p:nvCxnSpPr>
            <p:cNvPr id="23" name="Connector 22"/>
            <p:cNvCxnSpPr/>
            <p:nvPr/>
          </p:nvCxnSpPr>
          <p:spPr>
            <a:xfrm>
              <a:off x="2194560" y="4572000"/>
              <a:ext cx="923544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24" name="Rectangle 23"/>
            <p:cNvSpPr/>
            <p:nvPr/>
          </p:nvSpPr>
          <p:spPr>
            <a:xfrm>
              <a:off x="2388870" y="4398264"/>
              <a:ext cx="685800" cy="457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2448306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2503170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2699765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2754629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2951225" y="4434840"/>
              <a:ext cx="137160" cy="13716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3006089" y="4489704"/>
              <a:ext cx="27432" cy="2743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2516886" y="4503420"/>
              <a:ext cx="50292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32" name="Rounded Rectangle 31"/>
            <p:cNvSpPr/>
            <p:nvPr/>
          </p:nvSpPr>
          <p:spPr>
            <a:xfrm>
              <a:off x="2663189" y="4224528"/>
              <a:ext cx="411480" cy="173736"/>
            </a:xfrm>
            <a:prstGeom prst="roundRect">
              <a:avLst>
                <a:gd name="adj" fmla="val 31578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681477" y="4288536"/>
              <a:ext cx="283464" cy="118872"/>
            </a:xfrm>
            <a:prstGeom prst="roundRect">
              <a:avLst>
                <a:gd name="adj" fmla="val 30769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992374" y="4224528"/>
              <a:ext cx="82296" cy="1737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10662" y="4142232"/>
              <a:ext cx="45720" cy="9144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992374" y="4123944"/>
              <a:ext cx="82296" cy="27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800349" y="4178808"/>
              <a:ext cx="91440" cy="54864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388870" y="4160520"/>
              <a:ext cx="274320" cy="24688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75153" y="4137660"/>
              <a:ext cx="301751" cy="3200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452877" y="4215384"/>
              <a:ext cx="118872" cy="9144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107119" y="4234037"/>
              <a:ext cx="409651" cy="174101"/>
            </a:xfrm>
            <a:prstGeom prst="roundRect">
              <a:avLst>
                <a:gd name="adj" fmla="val 15756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Freeform 41"/>
            <p:cNvSpPr/>
            <p:nvPr/>
          </p:nvSpPr>
          <p:spPr>
            <a:xfrm>
              <a:off x="4148084" y="4162348"/>
              <a:ext cx="327721" cy="71689"/>
            </a:xfrm>
            <a:custGeom>
              <a:avLst/>
              <a:gdLst/>
              <a:ahLst/>
              <a:cxnLst/>
              <a:rect l="l" t="t" r="r" b="b"/>
              <a:pathLst>
                <a:path w="327721" h="71689">
                  <a:moveTo>
                    <a:pt x="0" y="71689"/>
                  </a:moveTo>
                  <a:lnTo>
                    <a:pt x="61447" y="10242"/>
                  </a:lnTo>
                  <a:lnTo>
                    <a:pt x="266273" y="0"/>
                  </a:lnTo>
                  <a:lnTo>
                    <a:pt x="327721" y="71689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189049" y="4449104"/>
              <a:ext cx="122895" cy="12289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4311944" y="4449104"/>
              <a:ext cx="122895" cy="122895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4516770" y="4377415"/>
              <a:ext cx="40965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6" name="Rectangle 45"/>
            <p:cNvSpPr/>
            <p:nvPr/>
          </p:nvSpPr>
          <p:spPr>
            <a:xfrm>
              <a:off x="4557735" y="4377415"/>
              <a:ext cx="819302" cy="5120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4624303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4685751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4829129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4890576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033954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5095402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5238780" y="4418380"/>
              <a:ext cx="153619" cy="153619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5300228" y="4479828"/>
              <a:ext cx="30723" cy="307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Connector 54"/>
            <p:cNvCxnSpPr/>
            <p:nvPr/>
          </p:nvCxnSpPr>
          <p:spPr>
            <a:xfrm>
              <a:off x="4701113" y="4495190"/>
              <a:ext cx="61447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56" name="Rounded Rectangle 55"/>
            <p:cNvSpPr/>
            <p:nvPr/>
          </p:nvSpPr>
          <p:spPr>
            <a:xfrm>
              <a:off x="4864973" y="4182831"/>
              <a:ext cx="512064" cy="194584"/>
            </a:xfrm>
            <a:prstGeom prst="roundRect">
              <a:avLst>
                <a:gd name="adj" fmla="val 28195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5284866" y="4182831"/>
              <a:ext cx="92171" cy="1945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305348" y="4090659"/>
              <a:ext cx="51206" cy="10241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84866" y="4070177"/>
              <a:ext cx="92171" cy="3072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5018592" y="4131624"/>
              <a:ext cx="102412" cy="61447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557735" y="4111142"/>
              <a:ext cx="307238" cy="276514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542373" y="4085539"/>
              <a:ext cx="337962" cy="3584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629424" y="4172590"/>
              <a:ext cx="133136" cy="10241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7990210" y="4197827"/>
              <a:ext cx="510235" cy="192755"/>
            </a:xfrm>
            <a:prstGeom prst="roundRect">
              <a:avLst>
                <a:gd name="adj" fmla="val 14231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8035564" y="4118457"/>
              <a:ext cx="419527" cy="79370"/>
            </a:xfrm>
            <a:custGeom>
              <a:avLst/>
              <a:gdLst/>
              <a:ahLst/>
              <a:cxnLst/>
              <a:rect l="l" t="t" r="r" b="b"/>
              <a:pathLst>
                <a:path w="419527" h="79370">
                  <a:moveTo>
                    <a:pt x="0" y="79370"/>
                  </a:moveTo>
                  <a:lnTo>
                    <a:pt x="68031" y="11339"/>
                  </a:lnTo>
                  <a:lnTo>
                    <a:pt x="351495" y="0"/>
                  </a:lnTo>
                  <a:lnTo>
                    <a:pt x="419527" y="79370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8080918" y="4435937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8273674" y="4435937"/>
              <a:ext cx="136062" cy="136062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500445" y="4356567"/>
              <a:ext cx="4535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69" name="Rectangle 68"/>
            <p:cNvSpPr/>
            <p:nvPr/>
          </p:nvSpPr>
          <p:spPr>
            <a:xfrm>
              <a:off x="8545799" y="4356567"/>
              <a:ext cx="992123" cy="5669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8619500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Oval 70"/>
            <p:cNvSpPr/>
            <p:nvPr/>
          </p:nvSpPr>
          <p:spPr>
            <a:xfrm>
              <a:off x="8687531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Oval 71"/>
            <p:cNvSpPr/>
            <p:nvPr/>
          </p:nvSpPr>
          <p:spPr>
            <a:xfrm>
              <a:off x="8874617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Oval 72"/>
            <p:cNvSpPr/>
            <p:nvPr/>
          </p:nvSpPr>
          <p:spPr>
            <a:xfrm>
              <a:off x="8942649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Oval 73"/>
            <p:cNvSpPr/>
            <p:nvPr/>
          </p:nvSpPr>
          <p:spPr>
            <a:xfrm>
              <a:off x="9129735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197766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9384852" y="4401921"/>
              <a:ext cx="170078" cy="170078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9452884" y="4469952"/>
              <a:ext cx="34015" cy="3401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8704539" y="4486960"/>
              <a:ext cx="765353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79" name="Rounded Rectangle 78"/>
            <p:cNvSpPr/>
            <p:nvPr/>
          </p:nvSpPr>
          <p:spPr>
            <a:xfrm>
              <a:off x="8885956" y="4141134"/>
              <a:ext cx="651967" cy="215432"/>
            </a:xfrm>
            <a:prstGeom prst="roundRect">
              <a:avLst>
                <a:gd name="adj" fmla="val 25466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9435876" y="4141134"/>
              <a:ext cx="102047" cy="21543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458553" y="4039087"/>
              <a:ext cx="56692" cy="1133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9435876" y="4016410"/>
              <a:ext cx="102047" cy="3401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ounded Rectangle 82"/>
            <p:cNvSpPr/>
            <p:nvPr/>
          </p:nvSpPr>
          <p:spPr>
            <a:xfrm>
              <a:off x="9056034" y="4084441"/>
              <a:ext cx="113385" cy="68031"/>
            </a:xfrm>
            <a:prstGeom prst="roundRect">
              <a:avLst>
                <a:gd name="adj" fmla="val 50000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8545799" y="4061764"/>
              <a:ext cx="340156" cy="306141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8528791" y="4033418"/>
              <a:ext cx="374172" cy="3968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8625169" y="4129796"/>
              <a:ext cx="147401" cy="11338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756465" y="4161617"/>
              <a:ext cx="621792" cy="211409"/>
            </a:xfrm>
            <a:prstGeom prst="roundRect">
              <a:avLst>
                <a:gd name="adj" fmla="val 12975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9806208" y="4074566"/>
              <a:ext cx="522305" cy="87051"/>
            </a:xfrm>
            <a:custGeom>
              <a:avLst/>
              <a:gdLst/>
              <a:ahLst/>
              <a:cxnLst/>
              <a:rect l="l" t="t" r="r" b="b"/>
              <a:pathLst>
                <a:path w="522305" h="87051">
                  <a:moveTo>
                    <a:pt x="0" y="87051"/>
                  </a:moveTo>
                  <a:lnTo>
                    <a:pt x="74615" y="12436"/>
                  </a:lnTo>
                  <a:lnTo>
                    <a:pt x="447690" y="0"/>
                  </a:lnTo>
                  <a:lnTo>
                    <a:pt x="522305" y="87051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9855951" y="4422769"/>
              <a:ext cx="149230" cy="14923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0129540" y="4422769"/>
              <a:ext cx="149230" cy="149230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10378257" y="4335719"/>
              <a:ext cx="49743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92" name="Rectangle 91"/>
            <p:cNvSpPr/>
            <p:nvPr/>
          </p:nvSpPr>
          <p:spPr>
            <a:xfrm>
              <a:off x="10428000" y="4335719"/>
              <a:ext cx="1181404" cy="62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Oval 92"/>
            <p:cNvSpPr/>
            <p:nvPr/>
          </p:nvSpPr>
          <p:spPr>
            <a:xfrm>
              <a:off x="10508833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Oval 93"/>
            <p:cNvSpPr/>
            <p:nvPr/>
          </p:nvSpPr>
          <p:spPr>
            <a:xfrm>
              <a:off x="10583448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Oval 94"/>
            <p:cNvSpPr/>
            <p:nvPr/>
          </p:nvSpPr>
          <p:spPr>
            <a:xfrm>
              <a:off x="10742005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Oval 95"/>
            <p:cNvSpPr/>
            <p:nvPr/>
          </p:nvSpPr>
          <p:spPr>
            <a:xfrm>
              <a:off x="10816620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Oval 96"/>
            <p:cNvSpPr/>
            <p:nvPr/>
          </p:nvSpPr>
          <p:spPr>
            <a:xfrm>
              <a:off x="10975177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Oval 97"/>
            <p:cNvSpPr/>
            <p:nvPr/>
          </p:nvSpPr>
          <p:spPr>
            <a:xfrm>
              <a:off x="11049792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Oval 98"/>
            <p:cNvSpPr/>
            <p:nvPr/>
          </p:nvSpPr>
          <p:spPr>
            <a:xfrm>
              <a:off x="11208349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Oval 99"/>
            <p:cNvSpPr/>
            <p:nvPr/>
          </p:nvSpPr>
          <p:spPr>
            <a:xfrm>
              <a:off x="11282964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Oval 100"/>
            <p:cNvSpPr/>
            <p:nvPr/>
          </p:nvSpPr>
          <p:spPr>
            <a:xfrm>
              <a:off x="11441521" y="4385462"/>
              <a:ext cx="186537" cy="186537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Oval 101"/>
            <p:cNvSpPr/>
            <p:nvPr/>
          </p:nvSpPr>
          <p:spPr>
            <a:xfrm>
              <a:off x="11516136" y="4460077"/>
              <a:ext cx="37307" cy="3730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Connector 102"/>
            <p:cNvCxnSpPr/>
            <p:nvPr/>
          </p:nvCxnSpPr>
          <p:spPr>
            <a:xfrm>
              <a:off x="10602102" y="4478731"/>
              <a:ext cx="932688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04" name="Rounded Rectangle 103"/>
            <p:cNvSpPr/>
            <p:nvPr/>
          </p:nvSpPr>
          <p:spPr>
            <a:xfrm>
              <a:off x="10801075" y="4099438"/>
              <a:ext cx="808329" cy="236280"/>
            </a:xfrm>
            <a:prstGeom prst="roundRect">
              <a:avLst>
                <a:gd name="adj" fmla="val 2321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11497482" y="4099438"/>
              <a:ext cx="111922" cy="23628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11522354" y="3987515"/>
              <a:ext cx="62179" cy="124358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11497482" y="3962643"/>
              <a:ext cx="111922" cy="37307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ounded Rectangle 107"/>
            <p:cNvSpPr/>
            <p:nvPr/>
          </p:nvSpPr>
          <p:spPr>
            <a:xfrm>
              <a:off x="10987613" y="4037258"/>
              <a:ext cx="124358" cy="74615"/>
            </a:xfrm>
            <a:prstGeom prst="roundRect">
              <a:avLst>
                <a:gd name="adj" fmla="val 49019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428000" y="4012387"/>
              <a:ext cx="373075" cy="335767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10409346" y="3981297"/>
              <a:ext cx="410382" cy="4352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10515051" y="4087002"/>
              <a:ext cx="161665" cy="1243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2" name="Inline chip: Undecided"/>
          <p:cNvSpPr/>
          <p:nvPr/>
        </p:nvSpPr>
        <p:spPr>
          <a:xfrm>
            <a:off x="2194560" y="5029200"/>
            <a:ext cx="3038056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stages: undecided (OQ20)</a:t>
            </a:r>
            <a:endParaRPr lang="en-GB" sz="1400"/>
          </a:p>
        </p:txBody>
      </p:sp>
      <p:sp>
        <p:nvSpPr>
          <p:cNvPr id="113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Owning a pack does not skip the game. Its engines unlock alongside the core ones.</a:t>
            </a:r>
            <a:endParaRPr lang="en-GB" sz="2000"/>
          </a:p>
        </p:txBody>
      </p:sp>
      <p:sp>
        <p:nvSpPr>
          <p:cNvPr id="114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  <a:endParaRPr lang="en-GB"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do the unlocks live?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Option: Inside existing milestones" descr="Option one: Inside existing milestones. Pack unlock tags sit inside the normal Core milestone boxes."/>
          <p:cNvGrpSpPr/>
          <p:nvPr/>
        </p:nvGrpSpPr>
        <p:grpSpPr>
          <a:xfrm>
            <a:off x="822960" y="1417320"/>
            <a:ext cx="5120640" cy="3154680"/>
            <a:chOff x="822960" y="1417320"/>
            <a:chExt cx="5120640" cy="315468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5120640" cy="3154680"/>
            </a:xfrm>
            <a:prstGeom prst="roundRect">
              <a:avLst>
                <a:gd name="adj" fmla="val 231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55448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Inside existing milestones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234440" y="224028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71600" y="244602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53712" y="233172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234440" y="297180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71600" y="317754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553712" y="306324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234440" y="3703320"/>
              <a:ext cx="429768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371600" y="3909060"/>
              <a:ext cx="1504188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553712" y="3794760"/>
              <a:ext cx="868680" cy="320040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" name="Option: Separate labelled milestones" descr="Option two: Separate labelled milestones. Core milestones stay as they are, and a separate dashed column of milestones is labelled Pack."/>
          <p:cNvGrpSpPr/>
          <p:nvPr/>
        </p:nvGrpSpPr>
        <p:grpSpPr>
          <a:xfrm>
            <a:off x="6245352" y="1417320"/>
            <a:ext cx="5120640" cy="3154680"/>
            <a:chOff x="6245352" y="1417320"/>
            <a:chExt cx="5120640" cy="3154680"/>
          </a:xfrm>
        </p:grpSpPr>
        <p:sp>
          <p:nvSpPr>
            <p:cNvPr id="17" name="Rounded Rectangle 16"/>
            <p:cNvSpPr/>
            <p:nvPr/>
          </p:nvSpPr>
          <p:spPr>
            <a:xfrm>
              <a:off x="6245352" y="1417320"/>
              <a:ext cx="5120640" cy="3154680"/>
            </a:xfrm>
            <a:prstGeom prst="roundRect">
              <a:avLst>
                <a:gd name="adj" fmla="val 2318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19672" y="155448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Separate labelled milestones</a:t>
              </a:r>
              <a:endParaRPr lang="en-GB" sz="2000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65392" y="224028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702552" y="244602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65392" y="297180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702552" y="317754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565392" y="3703320"/>
              <a:ext cx="2103120" cy="502920"/>
            </a:xfrm>
            <a:prstGeom prst="roundRect">
              <a:avLst>
                <a:gd name="adj" fmla="val 10909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702552" y="3909060"/>
              <a:ext cx="736092" cy="9144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42832" y="2148840"/>
              <a:ext cx="2103120" cy="2240280"/>
            </a:xfrm>
            <a:prstGeom prst="roundRect">
              <a:avLst>
                <a:gd name="adj" fmla="val 3478"/>
              </a:avLst>
            </a:prstGeom>
            <a:noFill/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079992" y="2194560"/>
              <a:ext cx="1828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Pack</a:t>
              </a:r>
              <a:endParaRPr lang="en-GB" sz="14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079992" y="2560320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079992" y="3154679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079992" y="3749039"/>
              <a:ext cx="1828800" cy="457200"/>
            </a:xfrm>
            <a:prstGeom prst="roundRect">
              <a:avLst>
                <a:gd name="adj" fmla="val 10000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Legend" descr="Key: a solid box is a Core milestone and a dashed box is a Pack unlock."/>
          <p:cNvGrpSpPr/>
          <p:nvPr/>
        </p:nvGrpSpPr>
        <p:grpSpPr>
          <a:xfrm>
            <a:off x="822960" y="4700016"/>
            <a:ext cx="2788920" cy="329184"/>
            <a:chOff x="822960" y="4700016"/>
            <a:chExt cx="2788920" cy="329184"/>
          </a:xfrm>
        </p:grpSpPr>
        <p:sp>
          <p:nvSpPr>
            <p:cNvPr id="31" name="Rounded Rectangle 30"/>
            <p:cNvSpPr/>
            <p:nvPr/>
          </p:nvSpPr>
          <p:spPr>
            <a:xfrm>
              <a:off x="822960" y="4736592"/>
              <a:ext cx="411480" cy="256032"/>
            </a:xfrm>
            <a:prstGeom prst="roundRect">
              <a:avLst>
                <a:gd name="adj" fmla="val 14285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25880" y="4700016"/>
              <a:ext cx="82296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Core</a:t>
              </a:r>
              <a:endParaRPr lang="en-GB" sz="1400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286000" y="4736592"/>
              <a:ext cx="411480" cy="256032"/>
            </a:xfrm>
            <a:prstGeom prst="roundRect">
              <a:avLst>
                <a:gd name="adj" fmla="val 14285"/>
              </a:avLst>
            </a:prstGeom>
            <a:solidFill>
              <a:srgbClr val="F28C28">
                <a:alpha val="22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788920" y="4700016"/>
              <a:ext cx="82296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Pack</a:t>
              </a:r>
              <a:endParaRPr lang="en-GB" sz="1400"/>
            </a:p>
          </p:txBody>
        </p:sp>
      </p:grpSp>
      <p:sp>
        <p:nvSpPr>
          <p:cNvPr id="35" name="Inline chip: Undecided"/>
          <p:cNvSpPr/>
          <p:nvPr/>
        </p:nvSpPr>
        <p:spPr>
          <a:xfrm>
            <a:off x="6245352" y="4709160"/>
            <a:ext cx="4223801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 · </a:t>
            </a:r>
            <a:r>
              <a:rPr sz="1400" b="0" i="0" lang="en-GB">
                <a:solidFill>
                  <a:srgbClr val="F2F2F2"/>
                </a:solidFill>
                <a:latin typeface="Arial"/>
              </a:rPr>
              <a:t>Needs a technical check (OQ20)</a:t>
            </a:r>
            <a:endParaRPr lang="en-GB" sz="1400"/>
          </a:p>
        </p:txBody>
      </p:sp>
      <p:sp>
        <p:nvSpPr>
          <p:cNvPr id="36" name="Caption"/>
          <p:cNvSpPr/>
          <p:nvPr/>
        </p:nvSpPr>
        <p:spPr>
          <a:xfrm>
            <a:off x="548640" y="56692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 unlocks would sit inside the normal milestones if possible, or in clearly labelled extras.</a:t>
            </a:r>
            <a:endParaRPr lang="en-GB" sz="2000"/>
          </a:p>
        </p:txBody>
      </p:sp>
      <p:sp>
        <p:nvSpPr>
          <p:cNvPr id="37" name="Caption rule"/>
          <p:cNvSpPr/>
          <p:nvPr/>
        </p:nvSpPr>
        <p:spPr>
          <a:xfrm>
            <a:off x="548640" y="5669280"/>
            <a:ext cx="73152" cy="7315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  <a:endParaRPr lang="en-GB" sz="1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Regional buildings</a:t>
            </a:r>
            <a:endParaRPr lang="en-GB" sz="3600"/>
          </a:p>
        </p:txBody>
      </p:sp>
      <p:sp>
        <p:nvSpPr>
          <p:cNvPr id="3" name="Status chip: Propos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  <a:endParaRPr lang="en-GB" sz="1400"/>
          </a:p>
        </p:txBody>
      </p:sp>
      <p:grpSp>
        <p:nvGrpSpPr>
          <p:cNvPr id="4" name="Station: Basic (Core)" descr="A plain station sketch: a small flat-roofed building with a door, a window and a sign."/>
          <p:cNvGrpSpPr/>
          <p:nvPr/>
        </p:nvGrpSpPr>
        <p:grpSpPr>
          <a:xfrm>
            <a:off x="822960" y="1417320"/>
            <a:ext cx="5120640" cy="3200400"/>
            <a:chOff x="822960" y="1417320"/>
            <a:chExt cx="5120640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97280" y="150876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Basic (Core)</a:t>
              </a:r>
              <a:endParaRPr lang="en-GB" sz="200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097280" y="4160520"/>
              <a:ext cx="4572000" cy="164592"/>
            </a:xfrm>
            <a:prstGeom prst="roundRect">
              <a:avLst>
                <a:gd name="adj" fmla="val 16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377439" y="3246120"/>
              <a:ext cx="2011680" cy="9144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285999" y="3154679"/>
              <a:ext cx="2194560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606039" y="3474720"/>
              <a:ext cx="502920" cy="36576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57599" y="3429000"/>
              <a:ext cx="457200" cy="7315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508760" y="3520439"/>
              <a:ext cx="64008" cy="6400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25880" y="3383279"/>
              <a:ext cx="429768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Station: Advanced (pack)" descr="A richer station sketch: a larger building with a pitched roof, chimney, clock, several windows and a canopy."/>
          <p:cNvGrpSpPr/>
          <p:nvPr/>
        </p:nvGrpSpPr>
        <p:grpSpPr>
          <a:xfrm>
            <a:off x="6245352" y="1417320"/>
            <a:ext cx="5120640" cy="3200400"/>
            <a:chOff x="6245352" y="1417320"/>
            <a:chExt cx="5120640" cy="3200400"/>
          </a:xfrm>
        </p:grpSpPr>
        <p:sp>
          <p:nvSpPr>
            <p:cNvPr id="15" name="Rounded Rectangle 14"/>
            <p:cNvSpPr/>
            <p:nvPr/>
          </p:nvSpPr>
          <p:spPr>
            <a:xfrm>
              <a:off x="6245352" y="1417320"/>
              <a:ext cx="5120640" cy="3200400"/>
            </a:xfrm>
            <a:prstGeom prst="roundRect">
              <a:avLst>
                <a:gd name="adj" fmla="val 2285"/>
              </a:avLst>
            </a:prstGeom>
            <a:solidFill>
              <a:srgbClr val="2B2F36"/>
            </a:solidFill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19672" y="1508760"/>
              <a:ext cx="45720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(pack)</a:t>
              </a:r>
              <a:endParaRPr lang="en-GB" sz="2000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519672" y="4160520"/>
              <a:ext cx="4572000" cy="164592"/>
            </a:xfrm>
            <a:prstGeom prst="roundRect">
              <a:avLst>
                <a:gd name="adj" fmla="val 1666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388352" y="2880360"/>
              <a:ext cx="2743200" cy="1280160"/>
            </a:xfrm>
            <a:prstGeom prst="rect">
              <a:avLst/>
            </a:prstGeom>
            <a:solidFill>
              <a:srgbClr val="343A43"/>
            </a:solidFill>
            <a:ln w="22225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251192" y="2148839"/>
              <a:ext cx="3017520" cy="731521"/>
            </a:xfrm>
            <a:custGeom>
              <a:avLst/>
              <a:gdLst/>
              <a:ahLst/>
              <a:cxnLst/>
              <a:rect l="l" t="t" r="r" b="b"/>
              <a:pathLst>
                <a:path w="3017520" h="731521">
                  <a:moveTo>
                    <a:pt x="0" y="731521"/>
                  </a:moveTo>
                  <a:lnTo>
                    <a:pt x="1508760" y="0"/>
                  </a:lnTo>
                  <a:lnTo>
                    <a:pt x="3017520" y="731521"/>
                  </a:lnTo>
                  <a:close/>
                </a:path>
              </a:pathLst>
            </a:custGeom>
            <a:solidFill>
              <a:srgbClr val="F28C28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91472" y="2194560"/>
              <a:ext cx="201168" cy="5029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8577072" y="2350008"/>
              <a:ext cx="365760" cy="365760"/>
            </a:xfrm>
            <a:prstGeom prst="ellipse">
              <a:avLst/>
            </a:prstGeom>
            <a:solidFill>
              <a:srgbClr val="1E2126"/>
            </a:solidFill>
            <a:ln w="1905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571231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412480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253728" y="3108960"/>
              <a:ext cx="548640" cy="502920"/>
            </a:xfrm>
            <a:prstGeom prst="rect">
              <a:avLst/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485632" y="3474720"/>
              <a:ext cx="548640" cy="685800"/>
            </a:xfrm>
            <a:prstGeom prst="roundRect">
              <a:avLst>
                <a:gd name="adj" fmla="val 41666"/>
              </a:avLst>
            </a:prstGeom>
            <a:solidFill>
              <a:srgbClr val="1E2126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565392" y="3200400"/>
              <a:ext cx="731520" cy="914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638544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68896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222992" y="3200400"/>
              <a:ext cx="822960" cy="914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296144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917936" y="3291839"/>
              <a:ext cx="54864" cy="8686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2" name="Note: not owned means not shown"/>
          <p:cNvSpPr/>
          <p:nvPr/>
        </p:nvSpPr>
        <p:spPr>
          <a:xfrm>
            <a:off x="6245352" y="4800600"/>
            <a:ext cx="5120640" cy="457200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A9B0B8"/>
            </a:solidFill>
            <a:prstDash val="dash"/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Not owned means not shown.</a:t>
            </a:r>
            <a:endParaRPr lang="en-GB" sz="1800"/>
          </a:p>
        </p:txBody>
      </p:sp>
      <p:sp>
        <p:nvSpPr>
          <p:cNvPr id="33" name="Inline chip: Undecided"/>
          <p:cNvSpPr/>
          <p:nvPr/>
        </p:nvSpPr>
        <p:spPr>
          <a:xfrm>
            <a:off x="822960" y="4873752"/>
            <a:ext cx="3581318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If a pack is missing: undecided (OQ23)</a:t>
            </a:r>
            <a:endParaRPr lang="en-GB" sz="1400"/>
          </a:p>
        </p:txBody>
      </p:sp>
      <p:sp>
        <p:nvSpPr>
          <p:cNvPr id="34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Core gives basic regional looks. A pack adds the fancier ones.</a:t>
            </a:r>
            <a:endParaRPr lang="en-GB" sz="2000"/>
          </a:p>
        </p:txBody>
      </p:sp>
      <p:sp>
        <p:nvSpPr>
          <p:cNvPr id="35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  <a:endParaRPr lang="en-GB"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Changing region with pack engines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Row backgrounds" descr="Three horizontal bands, one for each kind of engine."/>
          <p:cNvGrpSpPr/>
          <p:nvPr/>
        </p:nvGrpSpPr>
        <p:grpSpPr>
          <a:xfrm>
            <a:off x="822960" y="1417320"/>
            <a:ext cx="10543032" cy="3511296"/>
            <a:chOff x="822960" y="1417320"/>
            <a:chExt cx="10543032" cy="3511296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1417320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2624328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2960" y="3831336"/>
              <a:ext cx="10543032" cy="1097280"/>
            </a:xfrm>
            <a:prstGeom prst="roundRect">
              <a:avLst>
                <a:gd name="adj" fmla="val 6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8" name="Region switch arrow" descr="A large arrow labelled Switch region, pointing from the engines before the switch to the engines after it."/>
          <p:cNvSpPr/>
          <p:nvPr/>
        </p:nvSpPr>
        <p:spPr>
          <a:xfrm>
            <a:off x="6355080" y="1417320"/>
            <a:ext cx="1463040" cy="3511296"/>
          </a:xfrm>
          <a:prstGeom prst="rightArrow">
            <a:avLst>
              <a:gd name="adj1" fmla="val 78000"/>
              <a:gd name="adj2" fmla="val 22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/>
            <a:r>
              <a:rPr sz="1600" b="1" i="0" lang="en-GB">
                <a:solidFill>
                  <a:srgbClr val="101418"/>
                </a:solidFill>
                <a:latin typeface="Arial"/>
              </a:rPr>
              <a:t>Switch</a:t>
            </a:r>
            <a:endParaRPr lang="en-GB" sz="1600"/>
          </a:p>
          <a:p>
            <a:pPr algn="ctr"/>
            <a:r>
              <a:rPr sz="1600" b="1" i="0" lang="en-GB">
                <a:solidFill>
                  <a:srgbClr val="101418"/>
                </a:solidFill>
                <a:latin typeface="Arial"/>
              </a:rPr>
              <a:t>region</a:t>
            </a:r>
            <a:endParaRPr lang="en-GB" sz="1600"/>
          </a:p>
        </p:txBody>
      </p:sp>
      <p:grpSp>
        <p:nvGrpSpPr>
          <p:cNvPr id="9" name="Row: Core engine" descr="A Core engine before the switch is orange; after the switch it has a different look, amber and a different shape."/>
          <p:cNvGrpSpPr/>
          <p:nvPr/>
        </p:nvGrpSpPr>
        <p:grpSpPr>
          <a:xfrm>
            <a:off x="1005840" y="1417320"/>
            <a:ext cx="10241280" cy="1097280"/>
            <a:chOff x="1005840" y="1417320"/>
            <a:chExt cx="10241280" cy="1097280"/>
          </a:xfrm>
        </p:grpSpPr>
        <p:sp>
          <p:nvSpPr>
            <p:cNvPr id="10" name="TextBox 9"/>
            <p:cNvSpPr txBox="1"/>
            <p:nvPr/>
          </p:nvSpPr>
          <p:spPr>
            <a:xfrm>
              <a:off x="1005840" y="1417320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Core engine</a:t>
              </a:r>
              <a:endParaRPr lang="en-GB" sz="1600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881810" y="1750893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3934480" y="1658721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987149" y="2027407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4243913" y="2027407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4507260" y="1935236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6" name="Rectangle 15"/>
            <p:cNvSpPr/>
            <p:nvPr/>
          </p:nvSpPr>
          <p:spPr>
            <a:xfrm>
              <a:off x="4559929" y="1935236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4645517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724521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963728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42733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281940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5360944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5600151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679155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744272" y="2086660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26" name="Rounded Rectangle 25"/>
            <p:cNvSpPr/>
            <p:nvPr/>
          </p:nvSpPr>
          <p:spPr>
            <a:xfrm>
              <a:off x="4954950" y="1685056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659404" y="1685056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685739" y="1566550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659404" y="1540215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5152461" y="1619219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59929" y="1592884"/>
              <a:ext cx="395020" cy="35551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40178" y="1559966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652101" y="1671888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962948" y="1935236"/>
              <a:ext cx="1152143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9048536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9127540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9492935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9571939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9937333" y="1987905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10016337" y="2066909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9147291" y="2086660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42" name="Rounded Rectangle 41"/>
            <p:cNvSpPr/>
            <p:nvPr/>
          </p:nvSpPr>
          <p:spPr>
            <a:xfrm>
              <a:off x="9357969" y="1685056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9384304" y="1777227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C14E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996586" y="1685056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022921" y="1566550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996586" y="1540215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9555480" y="1619219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962948" y="1592884"/>
              <a:ext cx="395020" cy="355518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943197" y="1559966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055120" y="1671888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863840" y="2203704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Changes look</a:t>
              </a:r>
              <a:endParaRPr lang="en-GB" sz="1400"/>
            </a:p>
          </p:txBody>
        </p:sp>
      </p:grpSp>
      <p:grpSp>
        <p:nvGrpSpPr>
          <p:cNvPr id="52" name="Row: Pack engine, no match" descr="A pack engine with no match in the new region looks exactly the same after the switch."/>
          <p:cNvGrpSpPr/>
          <p:nvPr/>
        </p:nvGrpSpPr>
        <p:grpSpPr>
          <a:xfrm>
            <a:off x="1005840" y="2624328"/>
            <a:ext cx="10241280" cy="1097280"/>
            <a:chOff x="1005840" y="2624328"/>
            <a:chExt cx="10241280" cy="1097280"/>
          </a:xfrm>
        </p:grpSpPr>
        <p:sp>
          <p:nvSpPr>
            <p:cNvPr id="53" name="TextBox 52"/>
            <p:cNvSpPr txBox="1"/>
            <p:nvPr/>
          </p:nvSpPr>
          <p:spPr>
            <a:xfrm>
              <a:off x="1005840" y="2624328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engine, no match</a:t>
              </a:r>
              <a:endParaRPr lang="en-GB" sz="1600"/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3881810" y="2957901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Freeform 54"/>
            <p:cNvSpPr/>
            <p:nvPr/>
          </p:nvSpPr>
          <p:spPr>
            <a:xfrm>
              <a:off x="3934480" y="2865729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3987149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4243913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4507260" y="3142244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9" name="Rectangle 58"/>
            <p:cNvSpPr/>
            <p:nvPr/>
          </p:nvSpPr>
          <p:spPr>
            <a:xfrm>
              <a:off x="4559929" y="3142244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4645517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4724521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4963728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5042733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Oval 63"/>
            <p:cNvSpPr/>
            <p:nvPr/>
          </p:nvSpPr>
          <p:spPr>
            <a:xfrm>
              <a:off x="5281940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5360944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5600151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5679155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4744272" y="3293668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69" name="Rounded Rectangle 68"/>
            <p:cNvSpPr/>
            <p:nvPr/>
          </p:nvSpPr>
          <p:spPr>
            <a:xfrm>
              <a:off x="4954950" y="2892064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659404" y="2892064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685739" y="2773558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659404" y="2747223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ounded Rectangle 72"/>
            <p:cNvSpPr/>
            <p:nvPr/>
          </p:nvSpPr>
          <p:spPr>
            <a:xfrm>
              <a:off x="5152461" y="2826227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4559929" y="2799892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4540178" y="2766974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4652101" y="2878896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8590970" y="2957901"/>
              <a:ext cx="625449" cy="223845"/>
            </a:xfrm>
            <a:prstGeom prst="roundRect">
              <a:avLst>
                <a:gd name="adj" fmla="val 12254"/>
              </a:avLst>
            </a:prstGeom>
            <a:solidFill>
              <a:srgbClr val="2B2F36"/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Freeform 77"/>
            <p:cNvSpPr/>
            <p:nvPr/>
          </p:nvSpPr>
          <p:spPr>
            <a:xfrm>
              <a:off x="8643640" y="2865729"/>
              <a:ext cx="520111" cy="92172"/>
            </a:xfrm>
            <a:custGeom>
              <a:avLst/>
              <a:gdLst/>
              <a:ahLst/>
              <a:cxnLst/>
              <a:rect l="l" t="t" r="r" b="b"/>
              <a:pathLst>
                <a:path w="520111" h="92172">
                  <a:moveTo>
                    <a:pt x="0" y="92172"/>
                  </a:moveTo>
                  <a:lnTo>
                    <a:pt x="79004" y="13167"/>
                  </a:lnTo>
                  <a:lnTo>
                    <a:pt x="441106" y="0"/>
                  </a:lnTo>
                  <a:lnTo>
                    <a:pt x="520111" y="92172"/>
                  </a:lnTo>
                  <a:close/>
                </a:path>
              </a:pathLst>
            </a:cu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Oval 78"/>
            <p:cNvSpPr/>
            <p:nvPr/>
          </p:nvSpPr>
          <p:spPr>
            <a:xfrm>
              <a:off x="8696309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Oval 79"/>
            <p:cNvSpPr/>
            <p:nvPr/>
          </p:nvSpPr>
          <p:spPr>
            <a:xfrm>
              <a:off x="8953073" y="3234415"/>
              <a:ext cx="158008" cy="158008"/>
            </a:xfrm>
            <a:prstGeom prst="ellipse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9216420" y="3142244"/>
              <a:ext cx="52669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9269089" y="3142244"/>
              <a:ext cx="1217980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9354677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9433681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9672888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9751893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9991100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0070104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0309311" y="3194913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0388315" y="3273917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9453432" y="3293668"/>
              <a:ext cx="954634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92" name="Rounded Rectangle 91"/>
            <p:cNvSpPr/>
            <p:nvPr/>
          </p:nvSpPr>
          <p:spPr>
            <a:xfrm>
              <a:off x="9664110" y="2892064"/>
              <a:ext cx="822959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368564" y="2892064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394899" y="2773558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0368564" y="2747223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861621" y="2826227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9269089" y="2799892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9249338" y="2766974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9361261" y="2878896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7863840" y="3410712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Unchanged</a:t>
              </a:r>
              <a:endParaRPr lang="en-GB" sz="1400"/>
            </a:p>
          </p:txBody>
        </p:sp>
      </p:grpSp>
      <p:grpSp>
        <p:nvGrpSpPr>
          <p:cNvPr id="101" name="Row: Pack engine, with match" descr="A second pack engine, which has a match, may change look after the switch: the dashed amber engine with a question mark shows this is not certain."/>
          <p:cNvGrpSpPr/>
          <p:nvPr/>
        </p:nvGrpSpPr>
        <p:grpSpPr>
          <a:xfrm>
            <a:off x="1005840" y="3831336"/>
            <a:ext cx="10241280" cy="1097280"/>
            <a:chOff x="1005840" y="3831336"/>
            <a:chExt cx="10241280" cy="1097280"/>
          </a:xfrm>
        </p:grpSpPr>
        <p:sp>
          <p:nvSpPr>
            <p:cNvPr id="102" name="TextBox 101"/>
            <p:cNvSpPr txBox="1"/>
            <p:nvPr/>
          </p:nvSpPr>
          <p:spPr>
            <a:xfrm>
              <a:off x="1005840" y="3831336"/>
              <a:ext cx="2331720" cy="10972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engine, with match</a:t>
              </a:r>
              <a:endParaRPr lang="en-GB" sz="1600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253788" y="4349252"/>
              <a:ext cx="1152144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Oval 103"/>
            <p:cNvSpPr/>
            <p:nvPr/>
          </p:nvSpPr>
          <p:spPr>
            <a:xfrm>
              <a:off x="4339376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Oval 104"/>
            <p:cNvSpPr/>
            <p:nvPr/>
          </p:nvSpPr>
          <p:spPr>
            <a:xfrm>
              <a:off x="4418380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Oval 105"/>
            <p:cNvSpPr/>
            <p:nvPr/>
          </p:nvSpPr>
          <p:spPr>
            <a:xfrm>
              <a:off x="4783775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4862779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5228173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>
              <a:off x="5307177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0" name="Connector 109"/>
            <p:cNvCxnSpPr/>
            <p:nvPr/>
          </p:nvCxnSpPr>
          <p:spPr>
            <a:xfrm>
              <a:off x="4438131" y="4500676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11" name="Rounded Rectangle 110"/>
            <p:cNvSpPr/>
            <p:nvPr/>
          </p:nvSpPr>
          <p:spPr>
            <a:xfrm>
              <a:off x="4648809" y="4099072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4675144" y="4191243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8C28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5287426" y="4099072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5313761" y="3980566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5287426" y="3954231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ounded Rectangle 115"/>
            <p:cNvSpPr/>
            <p:nvPr/>
          </p:nvSpPr>
          <p:spPr>
            <a:xfrm>
              <a:off x="4846320" y="4033235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8C28">
                <a:alpha val="35000"/>
              </a:srgbClr>
            </a:solidFill>
            <a:ln w="127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4253788" y="4006900"/>
              <a:ext cx="395020" cy="355518"/>
            </a:xfrm>
            <a:prstGeom prst="rect">
              <a:avLst/>
            </a:prstGeom>
            <a:solidFill>
              <a:srgbClr val="F28C28">
                <a:alpha val="35000"/>
              </a:srgbClr>
            </a:solidFill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4234037" y="3973982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4345960" y="4085904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2948" y="4349252"/>
              <a:ext cx="1152143" cy="65836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9048536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127540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9492935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9571939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9937333" y="4401921"/>
              <a:ext cx="197510" cy="197510"/>
            </a:xfrm>
            <a:prstGeom prst="ellipse">
              <a:avLst/>
            </a:prstGeom>
            <a:solidFill>
              <a:srgbClr val="343A43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10016337" y="4480925"/>
              <a:ext cx="39502" cy="3950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7" name="Connector 126"/>
            <p:cNvCxnSpPr/>
            <p:nvPr/>
          </p:nvCxnSpPr>
          <p:spPr>
            <a:xfrm>
              <a:off x="9147291" y="4500676"/>
              <a:ext cx="888797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sp>
          <p:nvSpPr>
            <p:cNvPr id="128" name="Rounded Rectangle 127"/>
            <p:cNvSpPr/>
            <p:nvPr/>
          </p:nvSpPr>
          <p:spPr>
            <a:xfrm>
              <a:off x="9357969" y="4099072"/>
              <a:ext cx="757123" cy="250179"/>
            </a:xfrm>
            <a:prstGeom prst="roundRect">
              <a:avLst>
                <a:gd name="adj" fmla="val 21929"/>
              </a:avLst>
            </a:prstGeom>
            <a:solidFill>
              <a:srgbClr val="F2C14E">
                <a:alpha val="35000"/>
              </a:srgbClr>
            </a:solidFill>
            <a:ln w="1905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ounded Rectangle 128"/>
            <p:cNvSpPr/>
            <p:nvPr/>
          </p:nvSpPr>
          <p:spPr>
            <a:xfrm>
              <a:off x="9384304" y="4191243"/>
              <a:ext cx="572780" cy="171175"/>
            </a:xfrm>
            <a:prstGeom prst="roundRect">
              <a:avLst>
                <a:gd name="adj" fmla="val 21367"/>
              </a:avLst>
            </a:prstGeom>
            <a:solidFill>
              <a:srgbClr val="F2C14E"/>
            </a:solidFill>
            <a:ln w="15875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9996586" y="4099072"/>
              <a:ext cx="118506" cy="25017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10022921" y="3980566"/>
              <a:ext cx="65836" cy="13167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996586" y="3954231"/>
              <a:ext cx="118506" cy="39502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ounded Rectangle 132"/>
            <p:cNvSpPr/>
            <p:nvPr/>
          </p:nvSpPr>
          <p:spPr>
            <a:xfrm>
              <a:off x="9555480" y="4033235"/>
              <a:ext cx="131673" cy="79004"/>
            </a:xfrm>
            <a:prstGeom prst="roundRect">
              <a:avLst>
                <a:gd name="adj" fmla="val 46296"/>
              </a:avLst>
            </a:prstGeom>
            <a:solidFill>
              <a:srgbClr val="F2C14E">
                <a:alpha val="35000"/>
              </a:srgbClr>
            </a:solidFill>
            <a:ln w="1270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8962948" y="4006900"/>
              <a:ext cx="395020" cy="355518"/>
            </a:xfrm>
            <a:prstGeom prst="rect">
              <a:avLst/>
            </a:prstGeom>
            <a:solidFill>
              <a:srgbClr val="F2C14E">
                <a:alpha val="35000"/>
              </a:srgbClr>
            </a:solidFill>
            <a:ln w="19050">
              <a:solidFill>
                <a:srgbClr val="F2C14E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8943197" y="3973982"/>
              <a:ext cx="434522" cy="46085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9055120" y="4085904"/>
              <a:ext cx="171175" cy="13167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7863840" y="4617720"/>
              <a:ext cx="3383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May change when a match exists</a:t>
              </a:r>
              <a:endParaRPr lang="en-GB" sz="1400"/>
            </a:p>
          </p:txBody>
        </p:sp>
        <p:sp>
          <p:nvSpPr>
            <p:cNvPr id="138" name="Oval 137"/>
            <p:cNvSpPr/>
            <p:nvPr/>
          </p:nvSpPr>
          <p:spPr>
            <a:xfrm>
              <a:off x="10744200" y="3913632"/>
              <a:ext cx="457200" cy="45720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?</a:t>
              </a:r>
              <a:endParaRPr lang="en-GB" sz="2000"/>
            </a:p>
          </p:txBody>
        </p:sp>
      </p:grpSp>
      <p:sp>
        <p:nvSpPr>
          <p:cNvPr id="139" name="Inline chip: Undecided"/>
          <p:cNvSpPr/>
          <p:nvPr/>
        </p:nvSpPr>
        <p:spPr>
          <a:xfrm>
            <a:off x="822960" y="5120640"/>
            <a:ext cx="2938891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Match rules: undecided (OQ23)</a:t>
            </a:r>
            <a:endParaRPr lang="en-GB" sz="1400"/>
          </a:p>
        </p:txBody>
      </p:sp>
      <p:sp>
        <p:nvSpPr>
          <p:cNvPr id="140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Switch region and a pack engine without a match keeps its original look and number.</a:t>
            </a:r>
            <a:endParaRPr lang="en-GB" sz="2000"/>
          </a:p>
        </p:txBody>
      </p:sp>
      <p:sp>
        <p:nvSpPr>
          <p:cNvPr id="141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  <a:endParaRPr lang="en-GB" sz="1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Friends and packs</a:t>
            </a:r>
            <a:endParaRPr lang="en-GB" sz="3600"/>
          </a:p>
        </p:txBody>
      </p:sp>
      <p:sp>
        <p:nvSpPr>
          <p:cNvPr id="3" name="Status chip: Agre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  <a:endParaRPr lang="en-GB" sz="1400"/>
          </a:p>
        </p:txBody>
      </p:sp>
      <p:grpSp>
        <p:nvGrpSpPr>
          <p:cNvPr id="4" name="Player with a pack" descr="A player figure with a dashed pack box beside it: this player owns a pack."/>
          <p:cNvGrpSpPr/>
          <p:nvPr/>
        </p:nvGrpSpPr>
        <p:grpSpPr>
          <a:xfrm>
            <a:off x="1188720" y="1691640"/>
            <a:ext cx="1941271" cy="1325880"/>
            <a:chOff x="1188720" y="1691640"/>
            <a:chExt cx="1941271" cy="1325880"/>
          </a:xfrm>
        </p:grpSpPr>
        <p:sp>
          <p:nvSpPr>
            <p:cNvPr id="5" name="Oval 4"/>
            <p:cNvSpPr/>
            <p:nvPr/>
          </p:nvSpPr>
          <p:spPr>
            <a:xfrm>
              <a:off x="1453896" y="1691640"/>
              <a:ext cx="450799" cy="450799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188720" y="2221992"/>
              <a:ext cx="981151" cy="795528"/>
            </a:xfrm>
            <a:prstGeom prst="roundRect">
              <a:avLst>
                <a:gd name="adj" fmla="val 308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398471" y="2258568"/>
              <a:ext cx="685800" cy="438912"/>
            </a:xfrm>
            <a:prstGeom prst="roundRect">
              <a:avLst>
                <a:gd name="adj" fmla="val 8333"/>
              </a:avLst>
            </a:prstGeom>
            <a:noFill/>
            <a:ln w="2222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352751" y="2148840"/>
              <a:ext cx="777240" cy="146304"/>
            </a:xfrm>
            <a:prstGeom prst="roundRect">
              <a:avLst>
                <a:gd name="adj" fmla="val 1875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" name="Label: has a pack"/>
          <p:cNvSpPr txBox="1"/>
          <p:nvPr/>
        </p:nvSpPr>
        <p:spPr>
          <a:xfrm>
            <a:off x="822960" y="3108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F2F2F2"/>
                </a:solidFill>
                <a:latin typeface="Arial"/>
              </a:rPr>
              <a:t>Has a pack</a:t>
            </a:r>
            <a:endParaRPr lang="en-GB" sz="1600"/>
          </a:p>
        </p:txBody>
      </p:sp>
      <p:grpSp>
        <p:nvGrpSpPr>
          <p:cNvPr id="10" name="Player without a pack" descr="A player figure with no pack: this player does not own a pack."/>
          <p:cNvGrpSpPr/>
          <p:nvPr/>
        </p:nvGrpSpPr>
        <p:grpSpPr>
          <a:xfrm>
            <a:off x="10332720" y="1691640"/>
            <a:ext cx="981151" cy="1325880"/>
            <a:chOff x="10332720" y="1691640"/>
            <a:chExt cx="981151" cy="1325880"/>
          </a:xfrm>
        </p:grpSpPr>
        <p:sp>
          <p:nvSpPr>
            <p:cNvPr id="11" name="Oval 10"/>
            <p:cNvSpPr/>
            <p:nvPr/>
          </p:nvSpPr>
          <p:spPr>
            <a:xfrm>
              <a:off x="10597896" y="1691640"/>
              <a:ext cx="450799" cy="450799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32720" y="2221992"/>
              <a:ext cx="981151" cy="795528"/>
            </a:xfrm>
            <a:prstGeom prst="roundRect">
              <a:avLst>
                <a:gd name="adj" fmla="val 30833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Label: no pack"/>
          <p:cNvSpPr txBox="1"/>
          <p:nvPr/>
        </p:nvSpPr>
        <p:spPr>
          <a:xfrm>
            <a:off x="9235440" y="31089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600" b="1" i="0" lang="en-GB">
                <a:solidFill>
                  <a:srgbClr val="F2F2F2"/>
                </a:solidFill>
                <a:latin typeface="Arial"/>
              </a:rPr>
              <a:t>No pack</a:t>
            </a:r>
            <a:endParaRPr lang="en-GB" sz="1600"/>
          </a:p>
        </p:txBody>
      </p:sp>
      <p:grpSp>
        <p:nvGrpSpPr>
          <p:cNvPr id="14" name="One world" descr="A globe labelled One world, the shared game world both players join."/>
          <p:cNvGrpSpPr/>
          <p:nvPr/>
        </p:nvGrpSpPr>
        <p:grpSpPr>
          <a:xfrm>
            <a:off x="5181904" y="1508760"/>
            <a:ext cx="1828800" cy="2267712"/>
            <a:chOff x="5181904" y="1508760"/>
            <a:chExt cx="1828800" cy="2267712"/>
          </a:xfrm>
        </p:grpSpPr>
        <p:sp>
          <p:nvSpPr>
            <p:cNvPr id="15" name="Oval 14"/>
            <p:cNvSpPr/>
            <p:nvPr/>
          </p:nvSpPr>
          <p:spPr>
            <a:xfrm>
              <a:off x="5181904" y="1508760"/>
              <a:ext cx="1828800" cy="182880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4DA3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693968" y="1508760"/>
              <a:ext cx="804672" cy="1828800"/>
            </a:xfrm>
            <a:prstGeom prst="ellipse">
              <a:avLst/>
            </a:prstGeom>
            <a:noFill/>
            <a:ln w="15875">
              <a:solidFill>
                <a:srgbClr val="4DA3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5181904" y="2423160"/>
              <a:ext cx="1828800" cy="0"/>
            </a:xfrm>
            <a:prstGeom prst="line">
              <a:avLst/>
            </a:prstGeom>
            <a:ln w="15875">
              <a:solidFill>
                <a:srgbClr val="4DA3FF"/>
              </a:solidFill>
            </a:ln>
          </p:spPr>
        </p:cxnSp>
        <p:sp>
          <p:nvSpPr>
            <p:cNvPr id="18" name="TextBox 17"/>
            <p:cNvSpPr txBox="1"/>
            <p:nvPr/>
          </p:nvSpPr>
          <p:spPr>
            <a:xfrm>
              <a:off x="5181904" y="3410712"/>
              <a:ext cx="18288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One world</a:t>
              </a:r>
              <a:endParaRPr lang="en-GB" sz="1600"/>
            </a:p>
          </p:txBody>
        </p:sp>
      </p:grpSp>
      <p:grpSp>
        <p:nvGrpSpPr>
          <p:cNvPr id="19" name="Joining arrows" descr="Dashed arrows from each player to the world. A question mark on the second arrow shows it is not known whether a player without a pack can join."/>
          <p:cNvGrpSpPr/>
          <p:nvPr/>
        </p:nvGrpSpPr>
        <p:grpSpPr>
          <a:xfrm>
            <a:off x="3337560" y="2080260"/>
            <a:ext cx="6629400" cy="685800"/>
            <a:chOff x="3337560" y="2080260"/>
            <a:chExt cx="6629400" cy="685800"/>
          </a:xfrm>
        </p:grpSpPr>
        <p:cxnSp>
          <p:nvCxnSpPr>
            <p:cNvPr id="20" name="Connector 19"/>
            <p:cNvCxnSpPr/>
            <p:nvPr/>
          </p:nvCxnSpPr>
          <p:spPr>
            <a:xfrm>
              <a:off x="3337560" y="2423160"/>
              <a:ext cx="1771192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tailEnd type="triangle" w="med" len="med"/>
            </a:ln>
          </p:spPr>
        </p:cxnSp>
        <p:cxnSp>
          <p:nvCxnSpPr>
            <p:cNvPr id="21" name="Connector 20"/>
            <p:cNvCxnSpPr/>
            <p:nvPr/>
          </p:nvCxnSpPr>
          <p:spPr>
            <a:xfrm flipH="1">
              <a:off x="8503920" y="2423160"/>
              <a:ext cx="146304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</a:ln>
          </p:spPr>
        </p:cxnSp>
        <p:cxnSp>
          <p:nvCxnSpPr>
            <p:cNvPr id="22" name="Connector 21"/>
            <p:cNvCxnSpPr/>
            <p:nvPr/>
          </p:nvCxnSpPr>
          <p:spPr>
            <a:xfrm flipH="1">
              <a:off x="7083856" y="2423160"/>
              <a:ext cx="688544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tailEnd type="triangle" w="med" len="med"/>
            </a:ln>
          </p:spPr>
        </p:cxnSp>
        <p:sp>
          <p:nvSpPr>
            <p:cNvPr id="23" name="Oval 22"/>
            <p:cNvSpPr/>
            <p:nvPr/>
          </p:nvSpPr>
          <p:spPr>
            <a:xfrm>
              <a:off x="7795260" y="2080260"/>
              <a:ext cx="685800" cy="685800"/>
            </a:xfrm>
            <a:prstGeom prst="ellipse">
              <a:avLst/>
            </a:prstGeom>
            <a:solidFill>
              <a:srgbClr val="1E212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C14E"/>
                  </a:solidFill>
                  <a:latin typeface="Arial"/>
                </a:rPr>
                <a:t>?</a:t>
              </a:r>
              <a:endParaRPr lang="en-GB" sz="2800"/>
            </a:p>
          </p:txBody>
        </p:sp>
      </p:grpSp>
      <p:sp>
        <p:nvSpPr>
          <p:cNvPr id="24" name="Note: multiplayer comes after release"/>
          <p:cNvSpPr/>
          <p:nvPr/>
        </p:nvSpPr>
        <p:spPr>
          <a:xfrm>
            <a:off x="3108960" y="4251960"/>
            <a:ext cx="5971032" cy="502920"/>
          </a:xfrm>
          <a:prstGeom prst="roundRect">
            <a:avLst>
              <a:gd name="adj" fmla="val 14545"/>
            </a:avLst>
          </a:prstGeom>
          <a:noFill/>
          <a:ln w="25400">
            <a:solidFill>
              <a:srgbClr val="F2C14E"/>
            </a:solidFill>
          </a:ln>
        </p:spPr>
        <p:txBody>
          <a:bodyPr rtlCol="0" anchor="ctr" wrap="square">
            <a:noAutofit/>
          </a:bodyPr>
          <a:lstStyle/>
          <a:p>
            <a:pPr algn="ctr"/>
            <a:r>
              <a:rPr sz="2000" b="1" i="0" lang="en-GB">
                <a:solidFill>
                  <a:srgbClr val="F2F2F2"/>
                </a:solidFill>
                <a:latin typeface="Arial"/>
              </a:rPr>
              <a:t>Multiplayer comes after release.</a:t>
            </a:r>
            <a:endParaRPr lang="en-GB" sz="2000"/>
          </a:p>
        </p:txBody>
      </p:sp>
      <p:sp>
        <p:nvSpPr>
          <p:cNvPr id="25" name="Inline chip: Undecided"/>
          <p:cNvSpPr/>
          <p:nvPr/>
        </p:nvSpPr>
        <p:spPr>
          <a:xfrm>
            <a:off x="4587087" y="4937760"/>
            <a:ext cx="3225399" cy="310896"/>
          </a:xfrm>
          <a:prstGeom prst="roundRect">
            <a:avLst>
              <a:gd name="adj" fmla="val 29411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 · </a:t>
            </a:r>
            <a:r>
              <a:rPr sz="1400" b="0" i="0" lang="en-GB">
                <a:solidFill>
                  <a:srgbClr val="F2F2F2"/>
                </a:solidFill>
                <a:latin typeface="Arial"/>
              </a:rPr>
              <a:t>Not checked (OQ27)</a:t>
            </a:r>
            <a:endParaRPr lang="en-GB" sz="1400"/>
          </a:p>
        </p:txBody>
      </p:sp>
      <p:sp>
        <p:nvSpPr>
          <p:cNvPr id="2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Ideally friends could join without buying a pack. That is only a hope for now.</a:t>
            </a:r>
            <a:endParaRPr lang="en-GB" sz="2000"/>
          </a:p>
        </p:txBody>
      </p:sp>
      <p:sp>
        <p:nvSpPr>
          <p:cNvPr id="2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  <a:endParaRPr lang="en-GB" sz="1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Money and delivery</a:t>
            </a:r>
            <a:endParaRPr lang="en-GB" sz="3600"/>
          </a:p>
        </p:txBody>
      </p:sp>
      <p:sp>
        <p:nvSpPr>
          <p:cNvPr id="3" name="Status chip: Undecid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grpSp>
        <p:nvGrpSpPr>
          <p:cNvPr id="4" name="Question card: Price?" descr="A question card: Price? This is not decided."/>
          <p:cNvGrpSpPr/>
          <p:nvPr/>
        </p:nvGrpSpPr>
        <p:grpSpPr>
          <a:xfrm>
            <a:off x="548640" y="1645920"/>
            <a:ext cx="3474720" cy="2834640"/>
            <a:chOff x="548640" y="1645920"/>
            <a:chExt cx="3474720" cy="28346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737360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Price?</a:t>
              </a:r>
              <a:endParaRPr lang="en-GB" sz="2400"/>
            </a:p>
          </p:txBody>
        </p:sp>
      </p:grpSp>
      <p:grpSp>
        <p:nvGrpSpPr>
          <p:cNvPr id="8" name="Question card: Where is it sold?" descr="A question card: Where is it sold? This is not decided."/>
          <p:cNvGrpSpPr/>
          <p:nvPr/>
        </p:nvGrpSpPr>
        <p:grpSpPr>
          <a:xfrm>
            <a:off x="4357116" y="1645920"/>
            <a:ext cx="3474720" cy="2834640"/>
            <a:chOff x="4357116" y="1645920"/>
            <a:chExt cx="3474720" cy="2834640"/>
          </a:xfrm>
        </p:grpSpPr>
        <p:sp>
          <p:nvSpPr>
            <p:cNvPr id="9" name="Rounded Rectangle 8"/>
            <p:cNvSpPr/>
            <p:nvPr/>
          </p:nvSpPr>
          <p:spPr>
            <a:xfrm>
              <a:off x="4357116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5545836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539996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Where is it sold?</a:t>
              </a:r>
              <a:endParaRPr lang="en-GB" sz="2400"/>
            </a:p>
          </p:txBody>
        </p:sp>
      </p:grpSp>
      <p:grpSp>
        <p:nvGrpSpPr>
          <p:cNvPr id="12" name="Question card: What rules apply?" descr="A question card: What rules apply? This is not decided."/>
          <p:cNvGrpSpPr/>
          <p:nvPr/>
        </p:nvGrpSpPr>
        <p:grpSpPr>
          <a:xfrm>
            <a:off x="8165592" y="1645920"/>
            <a:ext cx="3474720" cy="2834640"/>
            <a:chOff x="8165592" y="1645920"/>
            <a:chExt cx="3474720" cy="2834640"/>
          </a:xfrm>
        </p:grpSpPr>
        <p:sp>
          <p:nvSpPr>
            <p:cNvPr id="13" name="Rounded Rectangle 12"/>
            <p:cNvSpPr/>
            <p:nvPr/>
          </p:nvSpPr>
          <p:spPr>
            <a:xfrm>
              <a:off x="8165592" y="1645920"/>
              <a:ext cx="3474720" cy="2834640"/>
            </a:xfrm>
            <a:prstGeom prst="roundRect">
              <a:avLst>
                <a:gd name="adj" fmla="val 3225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354312" y="1965960"/>
              <a:ext cx="1097280" cy="109728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48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48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348471" y="3383280"/>
              <a:ext cx="3108960" cy="7315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What rules apply?</a:t>
              </a:r>
              <a:endParaRPr lang="en-GB" sz="2400"/>
            </a:p>
          </p:txBody>
        </p:sp>
      </p:grpSp>
      <p:sp>
        <p:nvSpPr>
          <p:cNvPr id="16" name="Footer: OQ26"/>
          <p:cNvSpPr txBox="1"/>
          <p:nvPr/>
        </p:nvSpPr>
        <p:spPr>
          <a:xfrm>
            <a:off x="5486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600" b="1" i="0" lang="en-GB">
                <a:solidFill>
                  <a:srgbClr val="A9B0B8"/>
                </a:solidFill>
                <a:latin typeface="Arial"/>
              </a:rPr>
              <a:t>OQ26</a:t>
            </a:r>
            <a:endParaRPr lang="en-GB" sz="1600"/>
          </a:p>
        </p:txBody>
      </p:sp>
      <p:sp>
        <p:nvSpPr>
          <p:cNvPr id="17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Prices and how packs are delivered are not decided. Nothing is promised.</a:t>
            </a:r>
            <a:endParaRPr lang="en-GB" sz="2000"/>
          </a:p>
        </p:txBody>
      </p:sp>
      <p:sp>
        <p:nvSpPr>
          <p:cNvPr id="18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  <a:endParaRPr lang="en-GB" sz="14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  <a:endParaRPr lang="en-GB" sz="3600"/>
          </a:p>
        </p:txBody>
      </p:sp>
      <p:sp>
        <p:nvSpPr>
          <p:cNvPr id="3" name="Status chip: Provisional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  <a:endParaRPr lang="en-GB" sz="1400"/>
          </a:p>
        </p:txBody>
      </p:sp>
      <p:grpSp>
        <p:nvGrpSpPr>
          <p:cNvPr id="4" name="Step: Core game for one player:" descr="Step: Core game for one player: first."/>
          <p:cNvGrpSpPr/>
          <p:nvPr/>
        </p:nvGrpSpPr>
        <p:grpSpPr>
          <a:xfrm>
            <a:off x="548640" y="1920240"/>
            <a:ext cx="2825496" cy="2240280"/>
            <a:chOff x="548640" y="1920240"/>
            <a:chExt cx="2825496" cy="22402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38100">
              <a:solidFill>
                <a:srgbClr val="F28C28"/>
              </a:solidFill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Core game for one player: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F28C28"/>
                  </a:solidFill>
                  <a:latin typeface="Arial"/>
                </a:rPr>
                <a:t>first</a:t>
              </a:r>
              <a:endParaRPr lang="en-GB" sz="2600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3035808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7" name="Step: Regional packs:" descr="Step: Regional packs: an idea."/>
          <p:cNvGrpSpPr/>
          <p:nvPr/>
        </p:nvGrpSpPr>
        <p:grpSpPr>
          <a:xfrm>
            <a:off x="3438144" y="1920240"/>
            <a:ext cx="2825496" cy="2240280"/>
            <a:chOff x="3438144" y="1920240"/>
            <a:chExt cx="2825496" cy="2240280"/>
          </a:xfrm>
        </p:grpSpPr>
        <p:sp>
          <p:nvSpPr>
            <p:cNvPr id="8" name="Rounded Rectangle 7"/>
            <p:cNvSpPr/>
            <p:nvPr/>
          </p:nvSpPr>
          <p:spPr>
            <a:xfrm>
              <a:off x="3438144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Regional packs: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925312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10" name="Step: More engines by update:" descr="Step: More engines by update: an idea."/>
          <p:cNvGrpSpPr/>
          <p:nvPr/>
        </p:nvGrpSpPr>
        <p:grpSpPr>
          <a:xfrm>
            <a:off x="6327648" y="1920240"/>
            <a:ext cx="2825496" cy="2240280"/>
            <a:chOff x="6327648" y="1920240"/>
            <a:chExt cx="2825496" cy="2240280"/>
          </a:xfrm>
        </p:grpSpPr>
        <p:sp>
          <p:nvSpPr>
            <p:cNvPr id="11" name="Rounded Rectangle 10"/>
            <p:cNvSpPr/>
            <p:nvPr/>
          </p:nvSpPr>
          <p:spPr>
            <a:xfrm>
              <a:off x="6327648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More engines by update: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8814816" y="3040380"/>
              <a:ext cx="338328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grpSp>
        <p:nvGrpSpPr>
          <p:cNvPr id="13" name="Step: Historical cards:" descr="Step: Historical cards: an idea."/>
          <p:cNvGrpSpPr/>
          <p:nvPr/>
        </p:nvGrpSpPr>
        <p:grpSpPr>
          <a:xfrm>
            <a:off x="9217152" y="1920240"/>
            <a:ext cx="2423160" cy="2240280"/>
            <a:chOff x="9217152" y="1920240"/>
            <a:chExt cx="2423160" cy="2240280"/>
          </a:xfrm>
        </p:grpSpPr>
        <p:sp>
          <p:nvSpPr>
            <p:cNvPr id="14" name="Rounded Rectangle 13"/>
            <p:cNvSpPr/>
            <p:nvPr/>
          </p:nvSpPr>
          <p:spPr>
            <a:xfrm>
              <a:off x="9217152" y="1920240"/>
              <a:ext cx="2423160" cy="2240280"/>
            </a:xfrm>
            <a:prstGeom prst="roundRect">
              <a:avLst>
                <a:gd name="adj" fmla="val 4081"/>
              </a:avLst>
            </a:prstGeom>
            <a:solidFill>
              <a:srgbClr val="2B2F36"/>
            </a:solidFill>
            <a:ln w="22225">
              <a:solidFill>
                <a:srgbClr val="A9B0B8"/>
              </a:solidFill>
              <a:prstDash val="dash"/>
            </a:ln>
          </p:spPr>
          <p:txBody>
            <a:bodyPr rtlCol="0" anchor="ctr" wrap="square" lIns="137160" tIns="91440" rIns="137160" bIns="91440">
              <a:noAutofit/>
            </a:bodyPr>
            <a:lstStyle/>
            <a:p>
              <a:pPr algn="ctr">
                <a:spcAft>
                  <a:spcPts val="60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 cards:</a:t>
              </a:r>
              <a:endParaRPr lang="en-GB" sz="1800"/>
            </a:p>
            <a:p>
              <a:pPr algn="ctr">
                <a:spcAft>
                  <a:spcPts val="600"/>
                </a:spcAft>
              </a:pPr>
              <a:r>
                <a:rPr sz="2600" b="1" i="0" lang="en-GB">
                  <a:solidFill>
                    <a:srgbClr val="A9B0B8"/>
                  </a:solidFill>
                  <a:latin typeface="Arial"/>
                </a:rPr>
                <a:t>an idea</a:t>
              </a:r>
              <a:endParaRPr lang="en-GB" sz="2600"/>
            </a:p>
          </p:txBody>
        </p:sp>
      </p:grpSp>
      <p:sp>
        <p:nvSpPr>
          <p:cNvPr id="15" name="Inline chip: Provisional"/>
          <p:cNvSpPr/>
          <p:nvPr/>
        </p:nvSpPr>
        <p:spPr>
          <a:xfrm>
            <a:off x="548640" y="4572000"/>
            <a:ext cx="3242137" cy="310896"/>
          </a:xfrm>
          <a:prstGeom prst="roundRect">
            <a:avLst>
              <a:gd name="adj" fmla="val 29411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45720" tIns="0" rIns="45720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 · </a:t>
            </a:r>
            <a:r>
              <a:rPr sz="1400" b="0" i="0" lang="en-GB">
                <a:solidFill>
                  <a:srgbClr val="101418"/>
                </a:solidFill>
                <a:latin typeface="Arial"/>
              </a:rPr>
              <a:t>Plans can change.</a:t>
            </a:r>
            <a:endParaRPr lang="en-GB" sz="1400"/>
          </a:p>
        </p:txBody>
      </p:sp>
      <p:sp>
        <p:nvSpPr>
          <p:cNvPr id="1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Packs are an idea for after launch. The core game comes first.</a:t>
            </a:r>
            <a:endParaRPr lang="en-GB" sz="2000"/>
          </a:p>
        </p:txBody>
      </p:sp>
      <p:sp>
        <p:nvSpPr>
          <p:cNvPr id="1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  <a:endParaRPr lang="en-GB" sz="1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  <a:endParaRPr lang="en-GB" sz="3600"/>
          </a:p>
        </p:txBody>
      </p:sp>
      <p:sp>
        <p:nvSpPr>
          <p:cNvPr id="3" name="Status chip: Undecided"/>
          <p:cNvSpPr/>
          <p:nvPr/>
        </p:nvSpPr>
        <p:spPr>
          <a:xfrm>
            <a:off x="10241280" y="457200"/>
            <a:ext cx="1371600" cy="36576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  <a:endParaRPr lang="en-GB" sz="1400"/>
          </a:p>
        </p:txBody>
      </p:sp>
      <p:grpSp>
        <p:nvGrpSpPr>
          <p:cNvPr id="4" name="Open question: Pack names and roster (OQ20)" descr="An open question card with an Undecided chip: Pack names and roster (OQ20)"/>
          <p:cNvGrpSpPr/>
          <p:nvPr/>
        </p:nvGrpSpPr>
        <p:grpSpPr>
          <a:xfrm>
            <a:off x="548640" y="1371600"/>
            <a:ext cx="2606040" cy="1828800"/>
            <a:chOff x="548640" y="1371600"/>
            <a:chExt cx="2606040" cy="182880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31520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7" name="Undecided chip: Pack names and roster (OQ20)"/>
            <p:cNvSpPr/>
            <p:nvPr/>
          </p:nvSpPr>
          <p:spPr>
            <a:xfrm>
              <a:off x="685800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names and roster (OQ20)</a:t>
              </a:r>
              <a:endParaRPr lang="en-GB" sz="1600"/>
            </a:p>
          </p:txBody>
        </p:sp>
      </p:grpSp>
      <p:grpSp>
        <p:nvGrpSpPr>
          <p:cNvPr id="8" name="Open question: Total engine cap (OQ20)" descr="An open question card with an Undecided chip: Total engine cap (OQ20)"/>
          <p:cNvGrpSpPr/>
          <p:nvPr/>
        </p:nvGrpSpPr>
        <p:grpSpPr>
          <a:xfrm>
            <a:off x="3376879" y="1371600"/>
            <a:ext cx="2606040" cy="1828800"/>
            <a:chOff x="3376879" y="1371600"/>
            <a:chExt cx="2606040" cy="1828800"/>
          </a:xfrm>
        </p:grpSpPr>
        <p:sp>
          <p:nvSpPr>
            <p:cNvPr id="9" name="Rounded Rectangle 8"/>
            <p:cNvSpPr/>
            <p:nvPr/>
          </p:nvSpPr>
          <p:spPr>
            <a:xfrm>
              <a:off x="3376879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559759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1" name="Undecided chip: Total engine cap (OQ20)"/>
            <p:cNvSpPr/>
            <p:nvPr/>
          </p:nvSpPr>
          <p:spPr>
            <a:xfrm>
              <a:off x="3514039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Total engine cap (OQ20)</a:t>
              </a:r>
              <a:endParaRPr lang="en-GB" sz="1600"/>
            </a:p>
          </p:txBody>
        </p:sp>
      </p:grpSp>
      <p:grpSp>
        <p:nvGrpSpPr>
          <p:cNvPr id="12" name="Open question: Category names (OQ20)" descr="An open question card with an Undecided chip: Category names (OQ20)"/>
          <p:cNvGrpSpPr/>
          <p:nvPr/>
        </p:nvGrpSpPr>
        <p:grpSpPr>
          <a:xfrm>
            <a:off x="6205118" y="1371600"/>
            <a:ext cx="2606040" cy="1828800"/>
            <a:chOff x="6205118" y="1371600"/>
            <a:chExt cx="2606040" cy="1828800"/>
          </a:xfrm>
        </p:grpSpPr>
        <p:sp>
          <p:nvSpPr>
            <p:cNvPr id="13" name="Rounded Rectangle 12"/>
            <p:cNvSpPr/>
            <p:nvPr/>
          </p:nvSpPr>
          <p:spPr>
            <a:xfrm>
              <a:off x="6205118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387998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5" name="Undecided chip: Category names (OQ20)"/>
            <p:cNvSpPr/>
            <p:nvPr/>
          </p:nvSpPr>
          <p:spPr>
            <a:xfrm>
              <a:off x="6342278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Category names (OQ20)</a:t>
              </a:r>
              <a:endParaRPr lang="en-GB" sz="1600"/>
            </a:p>
          </p:txBody>
        </p:sp>
      </p:grpSp>
      <p:grpSp>
        <p:nvGrpSpPr>
          <p:cNvPr id="16" name="Open question: Golden Era dates (OQ21)" descr="An open question card with an Undecided chip: Golden Era dates (OQ21)"/>
          <p:cNvGrpSpPr/>
          <p:nvPr/>
        </p:nvGrpSpPr>
        <p:grpSpPr>
          <a:xfrm>
            <a:off x="9033357" y="1371600"/>
            <a:ext cx="2606040" cy="1828800"/>
            <a:chOff x="9033357" y="1371600"/>
            <a:chExt cx="2606040" cy="1828800"/>
          </a:xfrm>
        </p:grpSpPr>
        <p:sp>
          <p:nvSpPr>
            <p:cNvPr id="17" name="Rounded Rectangle 16"/>
            <p:cNvSpPr/>
            <p:nvPr/>
          </p:nvSpPr>
          <p:spPr>
            <a:xfrm>
              <a:off x="9033357" y="13716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9216237" y="15270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19" name="Undecided chip: Golden Era dates (OQ21)"/>
            <p:cNvSpPr/>
            <p:nvPr/>
          </p:nvSpPr>
          <p:spPr>
            <a:xfrm>
              <a:off x="9170517" y="21031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Golden Era dates (OQ21)</a:t>
              </a:r>
              <a:endParaRPr lang="en-GB" sz="1600"/>
            </a:p>
          </p:txBody>
        </p:sp>
      </p:grpSp>
      <p:grpSp>
        <p:nvGrpSpPr>
          <p:cNvPr id="20" name="Open question: Pack unlock stages (OQ20)" descr="An open question card with an Undecided chip: Pack unlock stages (OQ20)"/>
          <p:cNvGrpSpPr/>
          <p:nvPr/>
        </p:nvGrpSpPr>
        <p:grpSpPr>
          <a:xfrm>
            <a:off x="548640" y="3429000"/>
            <a:ext cx="2606040" cy="1828800"/>
            <a:chOff x="548640" y="3429000"/>
            <a:chExt cx="2606040" cy="1828800"/>
          </a:xfrm>
        </p:grpSpPr>
        <p:sp>
          <p:nvSpPr>
            <p:cNvPr id="21" name="Rounded Rectangle 20"/>
            <p:cNvSpPr/>
            <p:nvPr/>
          </p:nvSpPr>
          <p:spPr>
            <a:xfrm>
              <a:off x="548640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731520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23" name="Undecided chip: Pack unlock stages (OQ20)"/>
            <p:cNvSpPr/>
            <p:nvPr/>
          </p:nvSpPr>
          <p:spPr>
            <a:xfrm>
              <a:off x="685800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Pack unlock stages (OQ20)</a:t>
              </a:r>
              <a:endParaRPr lang="en-GB" sz="1600"/>
            </a:p>
          </p:txBody>
        </p:sp>
      </p:grpSp>
      <p:grpSp>
        <p:nvGrpSpPr>
          <p:cNvPr id="24" name="Open question: Buildings when a pack is missing (OQ23)" descr="An open question card with an Undecided chip: Buildings when a pack is missing (OQ23)"/>
          <p:cNvGrpSpPr/>
          <p:nvPr/>
        </p:nvGrpSpPr>
        <p:grpSpPr>
          <a:xfrm>
            <a:off x="3376879" y="3429000"/>
            <a:ext cx="2606040" cy="1828800"/>
            <a:chOff x="3376879" y="3429000"/>
            <a:chExt cx="2606040" cy="1828800"/>
          </a:xfrm>
        </p:grpSpPr>
        <p:sp>
          <p:nvSpPr>
            <p:cNvPr id="25" name="Rounded Rectangle 24"/>
            <p:cNvSpPr/>
            <p:nvPr/>
          </p:nvSpPr>
          <p:spPr>
            <a:xfrm>
              <a:off x="3376879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559759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27" name="Undecided chip: Buildings when a pack is missing (OQ23)"/>
            <p:cNvSpPr/>
            <p:nvPr/>
          </p:nvSpPr>
          <p:spPr>
            <a:xfrm>
              <a:off x="3514039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Buildings when a pack is missing (OQ23)</a:t>
              </a:r>
              <a:endParaRPr lang="en-GB" sz="1600"/>
            </a:p>
          </p:txBody>
        </p:sp>
      </p:grpSp>
      <p:grpSp>
        <p:nvGrpSpPr>
          <p:cNvPr id="28" name="Open question: Joining without a pack (OQ27)" descr="An open question card with an Undecided chip: Joining without a pack (OQ27)"/>
          <p:cNvGrpSpPr/>
          <p:nvPr/>
        </p:nvGrpSpPr>
        <p:grpSpPr>
          <a:xfrm>
            <a:off x="6205118" y="3429000"/>
            <a:ext cx="2606040" cy="1828800"/>
            <a:chOff x="6205118" y="3429000"/>
            <a:chExt cx="2606040" cy="1828800"/>
          </a:xfrm>
        </p:grpSpPr>
        <p:sp>
          <p:nvSpPr>
            <p:cNvPr id="29" name="Rounded Rectangle 28"/>
            <p:cNvSpPr/>
            <p:nvPr/>
          </p:nvSpPr>
          <p:spPr>
            <a:xfrm>
              <a:off x="6205118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387998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31" name="Undecided chip: Joining without a pack (OQ27)"/>
            <p:cNvSpPr/>
            <p:nvPr/>
          </p:nvSpPr>
          <p:spPr>
            <a:xfrm>
              <a:off x="6342278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Joining without a pack (OQ27)</a:t>
              </a:r>
              <a:endParaRPr lang="en-GB" sz="1600"/>
            </a:p>
          </p:txBody>
        </p:sp>
      </p:grpSp>
      <p:grpSp>
        <p:nvGrpSpPr>
          <p:cNvPr id="32" name="Open question: Price and delivery (OQ26)" descr="An open question card with an Undecided chip: Price and delivery (OQ26)"/>
          <p:cNvGrpSpPr/>
          <p:nvPr/>
        </p:nvGrpSpPr>
        <p:grpSpPr>
          <a:xfrm>
            <a:off x="9033357" y="3429000"/>
            <a:ext cx="2606040" cy="1828800"/>
            <a:chOff x="9033357" y="3429000"/>
            <a:chExt cx="2606040" cy="1828800"/>
          </a:xfrm>
        </p:grpSpPr>
        <p:sp>
          <p:nvSpPr>
            <p:cNvPr id="33" name="Rounded Rectangle 32"/>
            <p:cNvSpPr/>
            <p:nvPr/>
          </p:nvSpPr>
          <p:spPr>
            <a:xfrm>
              <a:off x="9033357" y="3429000"/>
              <a:ext cx="260604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9216237" y="3584448"/>
              <a:ext cx="457200" cy="457200"/>
            </a:xfrm>
            <a:prstGeom prst="ellipse">
              <a:avLst/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A9B0B8"/>
                  </a:solidFill>
                  <a:latin typeface="Arial"/>
                </a:rPr>
                <a:t>?</a:t>
              </a:r>
              <a:endParaRPr lang="en-GB" sz="2000"/>
            </a:p>
          </p:txBody>
        </p:sp>
        <p:sp>
          <p:nvSpPr>
            <p:cNvPr id="35" name="Undecided chip: Price and delivery (OQ26)"/>
            <p:cNvSpPr/>
            <p:nvPr/>
          </p:nvSpPr>
          <p:spPr>
            <a:xfrm>
              <a:off x="9170517" y="4160520"/>
              <a:ext cx="2331720" cy="914400"/>
            </a:xfrm>
            <a:prstGeom prst="roundRect">
              <a:avLst>
                <a:gd name="adj" fmla="val 12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tIns="36576" bIns="36576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Price and delivery (OQ26)</a:t>
              </a:r>
              <a:endParaRPr lang="en-GB" sz="1600"/>
            </a:p>
          </p:txBody>
        </p:sp>
      </p:grpSp>
      <p:sp>
        <p:nvSpPr>
          <p:cNvPr id="3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  <a:endParaRPr lang="en-GB" sz="2000"/>
          </a:p>
        </p:txBody>
      </p:sp>
      <p:sp>
        <p:nvSpPr>
          <p:cNvPr id="3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  <a:endParaRPr lang="en-GB" sz="14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  <a:endParaRPr lang="en-GB" sz="3600"/>
          </a:p>
        </p:txBody>
      </p:sp>
      <p:graphicFrame>
        <p:nvGraphicFramePr>
          <p:cNvPr id="3" name="Credits table" descr="Image credits table: slot, slide, author, licence and a Commons link for the one photograph in this deck."/>
          <p:cNvGraphicFramePr>
            <a:graphicFrameLocks noGrp="1"/>
          </p:cNvGraphicFramePr>
          <p:nvPr/>
        </p:nvGraphicFramePr>
        <p:xfrm>
          <a:off x="548640" y="1463040"/>
          <a:ext cx="11091672" cy="8229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097280"/>
                <a:gridCol w="1097280"/>
                <a:gridCol w="3657600"/>
                <a:gridCol w="2377440"/>
                <a:gridCol w="286207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Author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Licence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Source link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343A4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P19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Ben Salter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CC BY 2.0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lang="en-GB" u="sng">
                          <a:solidFill>
                            <a:srgbClr val="F28C28"/>
                          </a:solidFill>
                          <a:latin typeface="Arial"/>
                          <a:hlinkClick r:id="rId2"/>
                        </a:rPr>
                        <a:t>Commons</a:t>
                      </a: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4A515B"/>
                      </a:solidFill>
                      <a:prstDash val="solid"/>
                    </a:lnL>
                    <a:lnR w="12700" cap="flat" cmpd="sng" algn="ctr">
                      <a:solidFill>
                        <a:srgbClr val="4A515B"/>
                      </a:solidFill>
                      <a:prstDash val="solid"/>
                    </a:lnR>
                    <a:lnT w="12700" cap="flat" cmpd="sng" algn="ctr">
                      <a:solidFill>
                        <a:srgbClr val="4A515B"/>
                      </a:solidFill>
                      <a:prstDash val="solid"/>
                    </a:lnT>
                    <a:lnB w="12700" cap="flat" cmpd="sng" algn="ctr">
                      <a:solidFill>
                        <a:srgbClr val="4A515B"/>
                      </a:solidFill>
                      <a:prstDash val="solid"/>
                    </a:lnB>
                    <a:solidFill>
                      <a:srgbClr val="2B2F36"/>
                    </a:solidFill>
                  </a:tcPr>
                </a:tc>
              </a:tr>
            </a:tbl>
          </a:graphicData>
        </a:graphic>
      </p:graphicFrame>
      <p:sp>
        <p:nvSpPr>
          <p:cNvPr id="4" name="Note: licence"/>
          <p:cNvSpPr txBox="1"/>
          <p:nvPr/>
        </p:nvSpPr>
        <p:spPr>
          <a:xfrm>
            <a:off x="548640" y="24688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CC BY-SA photos are shown unmodified except for resizing.</a:t>
            </a:r>
            <a:endParaRPr lang="en-GB" sz="1400"/>
          </a:p>
        </p:txBody>
      </p:sp>
      <p:sp>
        <p:nvSpPr>
          <p:cNvPr id="5" name="Note: crop"/>
          <p:cNvSpPr txBox="1"/>
          <p:nvPr/>
        </p:nvSpPr>
        <p:spPr>
          <a:xfrm>
            <a:off x="548640" y="288036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The photograph on slide 1 is cropped to fit.</a:t>
            </a:r>
            <a:endParaRPr lang="en-GB" sz="1400"/>
          </a:p>
        </p:txBody>
      </p:sp>
      <p:sp>
        <p:nvSpPr>
          <p:cNvPr id="6" name="Caption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36576" rIns="182880" bIns="36576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Photographs come from Wikimedia Commons under Creative Commons licences.</a:t>
            </a:r>
            <a:endParaRPr lang="en-GB" sz="2000"/>
          </a:p>
        </p:txBody>
      </p:sp>
      <p:sp>
        <p:nvSpPr>
          <p:cNvPr id="7" name="Caption rule"/>
          <p:cNvSpPr/>
          <p:nvPr/>
        </p:nvSpPr>
        <p:spPr>
          <a:xfrm>
            <a:off x="548640" y="5852160"/>
            <a:ext cx="73152" cy="54864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lide number"/>
          <p:cNvSpPr txBox="1"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24</a:t>
            </a:r>
            <a:endParaRPr lang="en-GB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28C28"/>
      </a:hlink>
      <a:folHlink>
        <a:srgbClr val="F2B36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After Launch, Part 1: Packs, Locomotives and History, Explained</dc:title>
  <dc:subject>Explainer deck for the Early Locomotion project (Satisfactory mod)</dc:subject>
  <dc:creator>Claude (Early Locomotion project)</dc:creator>
  <cp:keywords/>
  <dc:description/>
  <cp:lastModifiedBy>Claude (Early Locomotion project)</cp:lastModifiedBy>
  <cp:revision>1</cp:revision>
  <dcterms:created xsi:type="dcterms:W3CDTF">2026-10-19T09:31:07Z</dcterms:created>
  <dcterms:modified xsi:type="dcterms:W3CDTF">2026-10-19T09:31:07Z</dcterms:modified>
  <cp:category/>
  <dc:language>en-GB</dc:language>
</cp:coreProperties>
</file>