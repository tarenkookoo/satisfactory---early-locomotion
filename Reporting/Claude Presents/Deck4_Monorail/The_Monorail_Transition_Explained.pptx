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554480"/>
            <a:ext cx="6126480" cy="1828800"/>
          </a:xfrm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5400" b="1" i="0" lang="en-GB">
                <a:solidFill>
                  <a:srgbClr val="F2F2F2"/>
                </a:solidFill>
                <a:latin typeface="Arial"/>
              </a:rPr>
              <a:t>The Monorail Transition</a:t>
            </a:r>
          </a:p>
        </p:txBody>
      </p:sp>
      <p:pic>
        <p:nvPicPr>
          <p:cNvPr id="3" name="PICTURE R02" descr="High-detail render of the mod's two-rail track. Visual development only: not Unreal-tested, not production-ready."/>
          <p:cNvPicPr>
            <a:picLocks noChangeAspect="1"/>
          </p:cNvPicPr>
          <p:nvPr/>
        </p:nvPicPr>
        <p:blipFill>
          <a:blip r:embed="rId2"/>
          <a:srcRect l="20409" r="34409"/>
          <a:stretch>
            <a:fillRect/>
          </a:stretch>
        </p:blipFill>
        <p:spPr>
          <a:xfrm>
            <a:off x="7086600" y="411480"/>
            <a:ext cx="4553712" cy="5669280"/>
          </a:xfrm>
          <a:prstGeom prst="roundRect">
            <a:avLst>
              <a:gd name="adj" fmla="val 1606"/>
            </a:avLst>
          </a:prstGeom>
        </p:spPr>
      </p:pic>
      <p:sp>
        <p:nvSpPr>
          <p:cNvPr id="4" name="CREDIT"/>
          <p:cNvSpPr txBox="1"/>
          <p:nvPr/>
        </p:nvSpPr>
        <p:spPr>
          <a:xfrm>
            <a:off x="7086600" y="6163056"/>
            <a:ext cx="4553712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000" b="0" i="0" lang="en-GB">
                <a:solidFill>
                  <a:srgbClr val="A9B0B8"/>
                </a:solidFill>
                <a:latin typeface="Arial"/>
              </a:rPr>
              <a:t>Early Locomotion project (visual development, not final art).</a:t>
            </a:r>
          </a:p>
        </p:txBody>
      </p:sp>
      <p:sp>
        <p:nvSpPr>
          <p:cNvPr id="5" name="TITLE RULE"/>
          <p:cNvSpPr/>
          <p:nvPr/>
        </p:nvSpPr>
        <p:spPr>
          <a:xfrm>
            <a:off x="548640" y="3566160"/>
            <a:ext cx="2194560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PTION"/>
          <p:cNvSpPr txBox="1"/>
          <p:nvPr/>
        </p:nvSpPr>
        <p:spPr>
          <a:xfrm>
            <a:off x="548640" y="3840480"/>
            <a:ext cx="5852160" cy="1463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What happens when the game's electric trains arrive, and how the mod plans to handle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How to read this guide</a:t>
            </a:r>
          </a:p>
        </p:txBody>
      </p:sp>
      <p:grpSp>
        <p:nvGrpSpPr>
          <p:cNvPr id="3" name="LEGEND" descr="Legend: five tag chips, each with its plain meaning."/>
          <p:cNvGrpSpPr/>
          <p:nvPr/>
        </p:nvGrpSpPr>
        <p:grpSpPr>
          <a:xfrm>
            <a:off x="548640" y="1371600"/>
            <a:ext cx="6949440" cy="3840480"/>
            <a:chOff x="548640" y="1371600"/>
            <a:chExt cx="6949440" cy="3840480"/>
          </a:xfrm>
        </p:grpSpPr>
        <p:sp>
          <p:nvSpPr>
            <p:cNvPr id="4" name="Rounded Rectangle 3"/>
            <p:cNvSpPr/>
            <p:nvPr/>
          </p:nvSpPr>
          <p:spPr>
            <a:xfrm>
              <a:off x="548640" y="1371600"/>
              <a:ext cx="6949440" cy="548640"/>
            </a:xfrm>
            <a:prstGeom prst="roundRect">
              <a:avLst>
                <a:gd name="adj" fmla="val 1333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LEGEND CHIP"/>
            <p:cNvSpPr/>
            <p:nvPr/>
          </p:nvSpPr>
          <p:spPr>
            <a:xfrm>
              <a:off x="731520" y="1463040"/>
              <a:ext cx="1554480" cy="365760"/>
            </a:xfrm>
            <a:prstGeom prst="roundRect">
              <a:avLst>
                <a:gd name="adj" fmla="val 50000"/>
              </a:avLst>
            </a:prstGeom>
            <a:solidFill>
              <a:srgbClr val="3FB950"/>
            </a:solidFill>
            <a:ln>
              <a:noFill/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AGREED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560320" y="1371600"/>
              <a:ext cx="4937760" cy="5486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Decided.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8640" y="2194560"/>
              <a:ext cx="6949440" cy="548640"/>
            </a:xfrm>
            <a:prstGeom prst="roundRect">
              <a:avLst>
                <a:gd name="adj" fmla="val 1333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LEGEND CHIP"/>
            <p:cNvSpPr/>
            <p:nvPr/>
          </p:nvSpPr>
          <p:spPr>
            <a:xfrm>
              <a:off x="731520" y="2286000"/>
              <a:ext cx="1554480" cy="365760"/>
            </a:xfrm>
            <a:prstGeom prst="roundRect">
              <a:avLst>
                <a:gd name="adj" fmla="val 50000"/>
              </a:avLst>
            </a:prstGeom>
            <a:solidFill>
              <a:srgbClr val="B084F5"/>
            </a:solidFill>
            <a:ln>
              <a:noFill/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PROPOSED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60320" y="2194560"/>
              <a:ext cx="4937760" cy="5486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Suggested, not confirmed.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48640" y="3017520"/>
              <a:ext cx="6949440" cy="548640"/>
            </a:xfrm>
            <a:prstGeom prst="roundRect">
              <a:avLst>
                <a:gd name="adj" fmla="val 1333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LEGEND CHIP"/>
            <p:cNvSpPr/>
            <p:nvPr/>
          </p:nvSpPr>
          <p:spPr>
            <a:xfrm>
              <a:off x="731520" y="3108960"/>
              <a:ext cx="1554480" cy="365760"/>
            </a:xfrm>
            <a:prstGeom prst="roundRect">
              <a:avLst>
                <a:gd name="adj" fmla="val 50000"/>
              </a:avLst>
            </a:prstGeom>
            <a:solidFill>
              <a:srgbClr val="4DA3FF"/>
            </a:solidFill>
            <a:ln>
              <a:noFill/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PROVISIONAL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560320" y="3017520"/>
              <a:ext cx="4937760" cy="5486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A test number that may change.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48640" y="3840480"/>
              <a:ext cx="6949440" cy="548640"/>
            </a:xfrm>
            <a:prstGeom prst="roundRect">
              <a:avLst>
                <a:gd name="adj" fmla="val 1333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LEGEND CHIP"/>
            <p:cNvSpPr/>
            <p:nvPr/>
          </p:nvSpPr>
          <p:spPr>
            <a:xfrm>
              <a:off x="731520" y="3931920"/>
              <a:ext cx="1554480" cy="365760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60320" y="3840480"/>
              <a:ext cx="4937760" cy="5486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Still an open question.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48640" y="4663440"/>
              <a:ext cx="6949440" cy="548640"/>
            </a:xfrm>
            <a:prstGeom prst="roundRect">
              <a:avLst>
                <a:gd name="adj" fmla="val 1333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LEGEND CHIP"/>
            <p:cNvSpPr/>
            <p:nvPr/>
          </p:nvSpPr>
          <p:spPr>
            <a:xfrm>
              <a:off x="731520" y="4754880"/>
              <a:ext cx="1554480" cy="365760"/>
            </a:xfrm>
            <a:prstGeom prst="roundRect">
              <a:avLst>
                <a:gd name="adj" fmla="val 50000"/>
              </a:avLst>
            </a:prstGeom>
            <a:solidFill>
              <a:srgbClr val="4A515B"/>
            </a:solidFill>
            <a:ln>
              <a:noFill/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BACKGROUND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560320" y="4663440"/>
              <a:ext cx="4937760" cy="5486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A real-world fact.</a:t>
              </a:r>
            </a:p>
          </p:txBody>
        </p:sp>
      </p:grpSp>
      <p:grpSp>
        <p:nvGrpSpPr>
          <p:cNvPr id="19" name="SKETCH" descr="Sketch of a slide with a tag in its top-right corner."/>
          <p:cNvGrpSpPr/>
          <p:nvPr/>
        </p:nvGrpSpPr>
        <p:grpSpPr>
          <a:xfrm>
            <a:off x="8229600" y="1554480"/>
            <a:ext cx="3383280" cy="2194560"/>
            <a:chOff x="8229600" y="1554480"/>
            <a:chExt cx="3383280" cy="2194560"/>
          </a:xfrm>
        </p:grpSpPr>
        <p:sp>
          <p:nvSpPr>
            <p:cNvPr id="20" name="Rounded Rectangle 19"/>
            <p:cNvSpPr/>
            <p:nvPr/>
          </p:nvSpPr>
          <p:spPr>
            <a:xfrm>
              <a:off x="8229600" y="1554480"/>
              <a:ext cx="3383280" cy="2194560"/>
            </a:xfrm>
            <a:prstGeom prst="roundRect">
              <a:avLst>
                <a:gd name="adj" fmla="val 3333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458200" y="1783080"/>
              <a:ext cx="1280160" cy="146304"/>
            </a:xfrm>
            <a:prstGeom prst="roundRect">
              <a:avLst>
                <a:gd name="adj" fmla="val 25000"/>
              </a:avLst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458200" y="2194560"/>
              <a:ext cx="2377440" cy="109728"/>
            </a:xfrm>
            <a:prstGeom prst="roundRect">
              <a:avLst>
                <a:gd name="adj" fmla="val 25000"/>
              </a:avLst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458200" y="2423160"/>
              <a:ext cx="2011680" cy="109728"/>
            </a:xfrm>
            <a:prstGeom prst="roundRect">
              <a:avLst>
                <a:gd name="adj" fmla="val 25000"/>
              </a:avLst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458200" y="2743200"/>
              <a:ext cx="2926080" cy="640080"/>
            </a:xfrm>
            <a:prstGeom prst="roundRect">
              <a:avLst>
                <a:gd name="adj" fmla="val 7142"/>
              </a:avLst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561320" y="1737360"/>
              <a:ext cx="868680" cy="237744"/>
            </a:xfrm>
            <a:prstGeom prst="roundRect">
              <a:avLst>
                <a:gd name="adj" fmla="val 50000"/>
              </a:avLst>
            </a:prstGeom>
            <a:solidFill>
              <a:srgbClr val="3FB95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6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Every idea carries a tag in the top-right corner.</a:t>
            </a:r>
          </a:p>
        </p:txBody>
      </p:sp>
      <p:sp>
        <p:nvSpPr>
          <p:cNvPr id="29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Two kinds of railway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 steam track" descr="End-on view of conventional track: two steel rails fixed to a sleeper, which rests on ballast."/>
          <p:cNvGrpSpPr/>
          <p:nvPr/>
        </p:nvGrpSpPr>
        <p:grpSpPr>
          <a:xfrm>
            <a:off x="548640" y="1325880"/>
            <a:ext cx="5394960" cy="4297680"/>
            <a:chOff x="548640" y="1325880"/>
            <a:chExt cx="5394960" cy="429768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25880"/>
              <a:ext cx="5394960" cy="4297680"/>
            </a:xfrm>
            <a:prstGeom prst="roundRect">
              <a:avLst>
                <a:gd name="adj" fmla="val 17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731519" y="3657600"/>
              <a:ext cx="5029201" cy="777240"/>
            </a:xfrm>
            <a:custGeom>
              <a:avLst/>
              <a:gdLst/>
              <a:ahLst/>
              <a:cxnLst/>
              <a:rect l="l" t="t" r="r" b="b"/>
              <a:pathLst>
                <a:path w="5029201" h="777240">
                  <a:moveTo>
                    <a:pt x="594360" y="0"/>
                  </a:moveTo>
                  <a:lnTo>
                    <a:pt x="4434841" y="0"/>
                  </a:lnTo>
                  <a:lnTo>
                    <a:pt x="5029201" y="777240"/>
                  </a:lnTo>
                  <a:lnTo>
                    <a:pt x="0" y="777240"/>
                  </a:lnTo>
                  <a:close/>
                </a:path>
              </a:pathLst>
            </a:custGeom>
            <a:solidFill>
              <a:srgbClr val="5B606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508760" y="3364992"/>
              <a:ext cx="3474720" cy="29260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965959" y="2377440"/>
              <a:ext cx="365760" cy="201168"/>
            </a:xfrm>
            <a:prstGeom prst="roundRect">
              <a:avLst>
                <a:gd name="adj" fmla="val 27272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084831" y="2578608"/>
              <a:ext cx="128016" cy="713232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37943" y="3291840"/>
              <a:ext cx="621792" cy="9144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160520" y="2377440"/>
              <a:ext cx="365760" cy="201168"/>
            </a:xfrm>
            <a:prstGeom prst="roundRect">
              <a:avLst>
                <a:gd name="adj" fmla="val 27272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279392" y="2578608"/>
              <a:ext cx="128016" cy="713232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032504" y="3291840"/>
              <a:ext cx="621792" cy="9144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31520" y="4572000"/>
              <a:ext cx="5029200" cy="8229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400" b="1" i="0" lang="en-GB">
                  <a:solidFill>
                    <a:srgbClr val="F28C28"/>
                  </a:solidFill>
                  <a:latin typeface="Arial"/>
                </a:rPr>
                <a:t>Steam: two rails</a:t>
              </a:r>
            </a:p>
          </p:txBody>
        </p:sp>
      </p:grpSp>
      <p:grpSp>
        <p:nvGrpSpPr>
          <p:cNvPr id="15" name="DIAGRAM monorail" descr="End-on view of an electric carriage wrapped around a single raised beam on a pillar."/>
          <p:cNvGrpSpPr/>
          <p:nvPr/>
        </p:nvGrpSpPr>
        <p:grpSpPr>
          <a:xfrm>
            <a:off x="6245352" y="1325880"/>
            <a:ext cx="5394960" cy="4297680"/>
            <a:chOff x="6245352" y="1325880"/>
            <a:chExt cx="5394960" cy="4297680"/>
          </a:xfrm>
        </p:grpSpPr>
        <p:sp>
          <p:nvSpPr>
            <p:cNvPr id="16" name="Rounded Rectangle 15"/>
            <p:cNvSpPr/>
            <p:nvPr/>
          </p:nvSpPr>
          <p:spPr>
            <a:xfrm>
              <a:off x="6245352" y="1325880"/>
              <a:ext cx="5394960" cy="4297680"/>
            </a:xfrm>
            <a:prstGeom prst="roundRect">
              <a:avLst>
                <a:gd name="adj" fmla="val 17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565392" y="4343400"/>
              <a:ext cx="4754880" cy="91440"/>
            </a:xfrm>
            <a:prstGeom prst="rect">
              <a:avLst/>
            </a:prstGeom>
            <a:solidFill>
              <a:srgbClr val="5B606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485632" y="4251960"/>
              <a:ext cx="914400" cy="109728"/>
            </a:xfrm>
            <a:prstGeom prst="rect">
              <a:avLst/>
            </a:prstGeom>
            <a:solidFill>
              <a:srgbClr val="5B606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787384" y="2926080"/>
              <a:ext cx="310896" cy="13716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558784" y="2560320"/>
              <a:ext cx="768096" cy="384048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7754111" y="1691640"/>
              <a:ext cx="2377441" cy="1417320"/>
            </a:xfrm>
            <a:custGeom>
              <a:avLst/>
              <a:gdLst/>
              <a:ahLst/>
              <a:cxnLst/>
              <a:rect l="l" t="t" r="r" b="b"/>
              <a:pathLst>
                <a:path w="2377441" h="1417320">
                  <a:moveTo>
                    <a:pt x="0" y="0"/>
                  </a:moveTo>
                  <a:lnTo>
                    <a:pt x="2377441" y="0"/>
                  </a:lnTo>
                  <a:lnTo>
                    <a:pt x="2377441" y="1417320"/>
                  </a:lnTo>
                  <a:lnTo>
                    <a:pt x="1719073" y="1417320"/>
                  </a:lnTo>
                  <a:lnTo>
                    <a:pt x="1719073" y="731520"/>
                  </a:lnTo>
                  <a:lnTo>
                    <a:pt x="658369" y="731520"/>
                  </a:lnTo>
                  <a:lnTo>
                    <a:pt x="658369" y="1417320"/>
                  </a:lnTo>
                  <a:lnTo>
                    <a:pt x="0" y="1417320"/>
                  </a:lnTo>
                  <a:close/>
                </a:path>
              </a:pathLst>
            </a:cu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936992" y="1828800"/>
              <a:ext cx="548640" cy="329184"/>
            </a:xfrm>
            <a:prstGeom prst="roundRect">
              <a:avLst>
                <a:gd name="adj" fmla="val 13888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622792" y="1828800"/>
              <a:ext cx="548640" cy="329184"/>
            </a:xfrm>
            <a:prstGeom prst="roundRect">
              <a:avLst>
                <a:gd name="adj" fmla="val 13888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308592" y="1828800"/>
              <a:ext cx="548640" cy="329184"/>
            </a:xfrm>
            <a:prstGeom prst="roundRect">
              <a:avLst>
                <a:gd name="adj" fmla="val 13888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28232" y="4498848"/>
              <a:ext cx="5029200" cy="10058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400" b="1" i="0" lang="en-GB">
                  <a:solidFill>
                    <a:srgbClr val="6CA0DC"/>
                  </a:solidFill>
                  <a:latin typeface="Arial"/>
                </a:rPr>
                <a:t>Monorail: one beam</a:t>
              </a:r>
            </a:p>
            <a:p>
              <a:pPr algn="ctr"/>
              <a:r>
                <a:rPr sz="1800" b="0" i="0" lang="en-GB">
                  <a:solidFill>
                    <a:srgbClr val="F2F2F2"/>
                  </a:solidFill>
                  <a:latin typeface="Arial"/>
                </a:rPr>
                <a:t>(the game's electric trains)</a:t>
              </a:r>
            </a:p>
          </p:txBody>
        </p:sp>
      </p:grpSp>
      <p:sp>
        <p:nvSpPr>
          <p:cNvPr id="26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Steam runs on two rails. The game's later trains hug a single beam.</a:t>
            </a:r>
          </a:p>
        </p:txBody>
      </p:sp>
      <p:sp>
        <p:nvSpPr>
          <p:cNvPr id="29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They cannot swap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 steam wheel" descr="A steam wheel resting on a rail, with a green tick: it works on its own track."/>
          <p:cNvGrpSpPr/>
          <p:nvPr/>
        </p:nvGrpSpPr>
        <p:grpSpPr>
          <a:xfrm>
            <a:off x="548640" y="1325880"/>
            <a:ext cx="4389120" cy="4251960"/>
            <a:chOff x="548640" y="1325880"/>
            <a:chExt cx="4389120" cy="425196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25880"/>
              <a:ext cx="4389120" cy="4251960"/>
            </a:xfrm>
            <a:prstGeom prst="roundRect">
              <a:avLst>
                <a:gd name="adj" fmla="val 172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783080" y="1828799"/>
              <a:ext cx="1920240" cy="1920240"/>
            </a:xfrm>
            <a:prstGeom prst="ellipse">
              <a:avLst/>
            </a:prstGeom>
            <a:noFill/>
            <a:ln w="1143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879091" y="2788920"/>
              <a:ext cx="1728217" cy="0"/>
            </a:xfrm>
            <a:prstGeom prst="line">
              <a:avLst/>
            </a:prstGeom>
            <a:ln w="40005">
              <a:solidFill>
                <a:srgbClr val="F28C28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1944868" y="2458240"/>
              <a:ext cx="1596663" cy="661359"/>
            </a:xfrm>
            <a:prstGeom prst="line">
              <a:avLst/>
            </a:prstGeom>
            <a:ln w="40005">
              <a:solidFill>
                <a:srgbClr val="F28C28"/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2132183" y="2177903"/>
              <a:ext cx="1222033" cy="1222033"/>
            </a:xfrm>
            <a:prstGeom prst="line">
              <a:avLst/>
            </a:prstGeom>
            <a:ln w="40005">
              <a:solidFill>
                <a:srgbClr val="F28C28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2412520" y="1990588"/>
              <a:ext cx="661359" cy="1596663"/>
            </a:xfrm>
            <a:prstGeom prst="line">
              <a:avLst/>
            </a:prstGeom>
            <a:ln w="40005">
              <a:solidFill>
                <a:srgbClr val="F28C28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2743200" y="1924811"/>
              <a:ext cx="0" cy="1728217"/>
            </a:xfrm>
            <a:prstGeom prst="line">
              <a:avLst/>
            </a:prstGeom>
            <a:ln w="40005">
              <a:solidFill>
                <a:srgbClr val="F28C28"/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 flipH="1">
              <a:off x="2412520" y="1990588"/>
              <a:ext cx="661359" cy="1596663"/>
            </a:xfrm>
            <a:prstGeom prst="line">
              <a:avLst/>
            </a:prstGeom>
            <a:ln w="40005">
              <a:solidFill>
                <a:srgbClr val="F28C28"/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 flipH="1">
              <a:off x="2132183" y="2177903"/>
              <a:ext cx="1222033" cy="1222033"/>
            </a:xfrm>
            <a:prstGeom prst="line">
              <a:avLst/>
            </a:prstGeom>
            <a:ln w="40005">
              <a:solidFill>
                <a:srgbClr val="F28C28"/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 flipH="1">
              <a:off x="1944868" y="2458240"/>
              <a:ext cx="1596663" cy="661359"/>
            </a:xfrm>
            <a:prstGeom prst="line">
              <a:avLst/>
            </a:prstGeom>
            <a:ln w="40005">
              <a:solidFill>
                <a:srgbClr val="F28C28"/>
              </a:solidFill>
            </a:ln>
          </p:spPr>
        </p:cxnSp>
        <p:sp>
          <p:nvSpPr>
            <p:cNvPr id="15" name="Oval 14"/>
            <p:cNvSpPr/>
            <p:nvPr/>
          </p:nvSpPr>
          <p:spPr>
            <a:xfrm>
              <a:off x="2531973" y="2577693"/>
              <a:ext cx="422452" cy="422452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8680" y="3749039"/>
              <a:ext cx="3749039" cy="128016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51560" y="3877055"/>
              <a:ext cx="365760" cy="27432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65960" y="3877055"/>
              <a:ext cx="365760" cy="27432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880360" y="3877055"/>
              <a:ext cx="365760" cy="27432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794760" y="3877055"/>
              <a:ext cx="365760" cy="27432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22960" y="4151376"/>
              <a:ext cx="3840480" cy="91440"/>
            </a:xfrm>
            <a:prstGeom prst="rect">
              <a:avLst/>
            </a:prstGeom>
            <a:solidFill>
              <a:srgbClr val="5B606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2" name="TICK" descr="Green tick"/>
            <p:cNvGrpSpPr/>
            <p:nvPr/>
          </p:nvGrpSpPr>
          <p:grpSpPr>
            <a:xfrm>
              <a:off x="4274820" y="1531619"/>
              <a:ext cx="502920" cy="502920"/>
              <a:chOff x="4274820" y="1531619"/>
              <a:chExt cx="502920" cy="502920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4274820" y="1531619"/>
                <a:ext cx="502920" cy="502920"/>
              </a:xfrm>
              <a:prstGeom prst="ellipse">
                <a:avLst/>
              </a:prstGeom>
              <a:solidFill>
                <a:srgbClr val="3FB950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Freeform 23"/>
              <p:cNvSpPr/>
              <p:nvPr/>
            </p:nvSpPr>
            <p:spPr>
              <a:xfrm>
                <a:off x="4405579" y="1692554"/>
                <a:ext cx="251460" cy="191110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191110">
                    <a:moveTo>
                      <a:pt x="0" y="90526"/>
                    </a:moveTo>
                    <a:lnTo>
                      <a:pt x="85496" y="191110"/>
                    </a:lnTo>
                    <a:lnTo>
                      <a:pt x="251460" y="0"/>
                    </a:lnTo>
                  </a:path>
                </a:pathLst>
              </a:custGeom>
              <a:noFill/>
              <a:ln w="44450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5" name="TextBox 24"/>
            <p:cNvSpPr txBox="1"/>
            <p:nvPr/>
          </p:nvSpPr>
          <p:spPr>
            <a:xfrm>
              <a:off x="731520" y="4572000"/>
              <a:ext cx="4023360" cy="73152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Steam wheel</a:t>
              </a:r>
            </a:p>
          </p:txBody>
        </p:sp>
      </p:grpSp>
      <p:grpSp>
        <p:nvGrpSpPr>
          <p:cNvPr id="26" name="DIAGRAM clamp wheel" descr="Clamp wheels gripping a beam from above and both sides, with a green tick: it works on its own track."/>
          <p:cNvGrpSpPr/>
          <p:nvPr/>
        </p:nvGrpSpPr>
        <p:grpSpPr>
          <a:xfrm>
            <a:off x="7251192" y="1325880"/>
            <a:ext cx="4389120" cy="4251960"/>
            <a:chOff x="7251192" y="1325880"/>
            <a:chExt cx="4389120" cy="4251960"/>
          </a:xfrm>
        </p:grpSpPr>
        <p:sp>
          <p:nvSpPr>
            <p:cNvPr id="27" name="Rounded Rectangle 26"/>
            <p:cNvSpPr/>
            <p:nvPr/>
          </p:nvSpPr>
          <p:spPr>
            <a:xfrm>
              <a:off x="7251192" y="1325880"/>
              <a:ext cx="4389120" cy="4251960"/>
            </a:xfrm>
            <a:prstGeom prst="roundRect">
              <a:avLst>
                <a:gd name="adj" fmla="val 172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262872" y="3566160"/>
              <a:ext cx="365760" cy="82296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805672" y="4343400"/>
              <a:ext cx="1280160" cy="91440"/>
            </a:xfrm>
            <a:prstGeom prst="rect">
              <a:avLst/>
            </a:prstGeom>
            <a:solidFill>
              <a:srgbClr val="5B606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897112" y="2377440"/>
              <a:ext cx="1097280" cy="118872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8366760" y="1828800"/>
              <a:ext cx="2157984" cy="1783080"/>
            </a:xfrm>
            <a:custGeom>
              <a:avLst/>
              <a:gdLst/>
              <a:ahLst/>
              <a:cxnLst/>
              <a:rect l="l" t="t" r="r" b="b"/>
              <a:pathLst>
                <a:path w="2157984" h="1783080">
                  <a:moveTo>
                    <a:pt x="0" y="1783080"/>
                  </a:moveTo>
                  <a:lnTo>
                    <a:pt x="0" y="0"/>
                  </a:lnTo>
                  <a:lnTo>
                    <a:pt x="2157984" y="0"/>
                  </a:lnTo>
                  <a:lnTo>
                    <a:pt x="2157984" y="1783080"/>
                  </a:lnTo>
                </a:path>
              </a:pathLst>
            </a:custGeom>
            <a:noFill/>
            <a:ln w="50800">
              <a:solidFill>
                <a:srgbClr val="6CA0D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750808" y="2011680"/>
              <a:ext cx="1389888" cy="310896"/>
            </a:xfrm>
            <a:prstGeom prst="roundRect">
              <a:avLst>
                <a:gd name="adj" fmla="val 29411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531352" y="2395728"/>
              <a:ext cx="310896" cy="1005840"/>
            </a:xfrm>
            <a:prstGeom prst="roundRect">
              <a:avLst>
                <a:gd name="adj" fmla="val 29411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0049256" y="2395728"/>
              <a:ext cx="310896" cy="1005840"/>
            </a:xfrm>
            <a:prstGeom prst="roundRect">
              <a:avLst>
                <a:gd name="adj" fmla="val 29411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5" name="TICK" descr="Green tick"/>
            <p:cNvGrpSpPr/>
            <p:nvPr/>
          </p:nvGrpSpPr>
          <p:grpSpPr>
            <a:xfrm>
              <a:off x="10949940" y="1531619"/>
              <a:ext cx="502920" cy="502920"/>
              <a:chOff x="10949940" y="1531619"/>
              <a:chExt cx="502920" cy="502920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10949940" y="1531619"/>
                <a:ext cx="502920" cy="502920"/>
              </a:xfrm>
              <a:prstGeom prst="ellipse">
                <a:avLst/>
              </a:prstGeom>
              <a:solidFill>
                <a:srgbClr val="3FB950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Freeform 36"/>
              <p:cNvSpPr/>
              <p:nvPr/>
            </p:nvSpPr>
            <p:spPr>
              <a:xfrm>
                <a:off x="11080699" y="1692554"/>
                <a:ext cx="251460" cy="191110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191110">
                    <a:moveTo>
                      <a:pt x="0" y="90526"/>
                    </a:moveTo>
                    <a:lnTo>
                      <a:pt x="85496" y="191110"/>
                    </a:lnTo>
                    <a:lnTo>
                      <a:pt x="251460" y="0"/>
                    </a:lnTo>
                  </a:path>
                </a:pathLst>
              </a:custGeom>
              <a:noFill/>
              <a:ln w="44450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7434072" y="4572000"/>
              <a:ext cx="4023360" cy="73152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Clamp wheel</a:t>
              </a:r>
            </a:p>
          </p:txBody>
        </p:sp>
      </p:grpSp>
      <p:grpSp>
        <p:nvGrpSpPr>
          <p:cNvPr id="39" name="DIAGRAM cannot swap" descr="A double arrow between the two wheels, crossed out in red: they cannot swap."/>
          <p:cNvGrpSpPr/>
          <p:nvPr/>
        </p:nvGrpSpPr>
        <p:grpSpPr>
          <a:xfrm>
            <a:off x="5029200" y="2560320"/>
            <a:ext cx="2130552" cy="1417320"/>
            <a:chOff x="5029200" y="2560320"/>
            <a:chExt cx="2130552" cy="1417320"/>
          </a:xfrm>
        </p:grpSpPr>
        <p:cxnSp>
          <p:nvCxnSpPr>
            <p:cNvPr id="40" name="Connector 39"/>
            <p:cNvCxnSpPr/>
            <p:nvPr/>
          </p:nvCxnSpPr>
          <p:spPr>
            <a:xfrm>
              <a:off x="5120640" y="2926080"/>
              <a:ext cx="1947672" cy="0"/>
            </a:xfrm>
            <a:prstGeom prst="line">
              <a:avLst/>
            </a:prstGeom>
            <a:ln w="44450">
              <a:solidFill>
                <a:srgbClr val="E8E8E8"/>
              </a:solidFill>
              <a:headEnd type="triangle" w="med" len="med"/>
              <a:tailEnd type="triangle" w="med" len="med"/>
            </a:ln>
          </p:spPr>
        </p:cxnSp>
        <p:grpSp>
          <p:nvGrpSpPr>
            <p:cNvPr id="41" name="CROSS" descr="Red cross"/>
            <p:cNvGrpSpPr/>
            <p:nvPr/>
          </p:nvGrpSpPr>
          <p:grpSpPr>
            <a:xfrm>
              <a:off x="5728716" y="2560320"/>
              <a:ext cx="731520" cy="731520"/>
              <a:chOff x="5728716" y="2560320"/>
              <a:chExt cx="731520" cy="731520"/>
            </a:xfrm>
          </p:grpSpPr>
          <p:cxnSp>
            <p:nvCxnSpPr>
              <p:cNvPr id="42" name="Connector 41"/>
              <p:cNvCxnSpPr/>
              <p:nvPr/>
            </p:nvCxnSpPr>
            <p:spPr>
              <a:xfrm>
                <a:off x="5728716" y="2560320"/>
                <a:ext cx="731520" cy="731520"/>
              </a:xfrm>
              <a:prstGeom prst="line">
                <a:avLst/>
              </a:prstGeom>
              <a:ln w="76200">
                <a:solidFill>
                  <a:srgbClr val="E5484D"/>
                </a:solidFill>
              </a:ln>
            </p:spPr>
          </p:cxnSp>
          <p:cxnSp>
            <p:nvCxnSpPr>
              <p:cNvPr id="43" name="Connector 42"/>
              <p:cNvCxnSpPr/>
              <p:nvPr/>
            </p:nvCxnSpPr>
            <p:spPr>
              <a:xfrm flipV="1">
                <a:off x="5728716" y="2560320"/>
                <a:ext cx="731520" cy="731520"/>
              </a:xfrm>
              <a:prstGeom prst="line">
                <a:avLst/>
              </a:prstGeom>
              <a:ln w="76200">
                <a:solidFill>
                  <a:srgbClr val="E5484D"/>
                </a:solidFill>
              </a:ln>
            </p:spPr>
          </p:cxnSp>
        </p:grpSp>
        <p:sp>
          <p:nvSpPr>
            <p:cNvPr id="44" name="TextBox 43"/>
            <p:cNvSpPr txBox="1"/>
            <p:nvPr/>
          </p:nvSpPr>
          <p:spPr>
            <a:xfrm>
              <a:off x="5029200" y="3520440"/>
              <a:ext cx="2130552" cy="45720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Cannot swap</a:t>
              </a:r>
            </a:p>
          </p:txBody>
        </p:sp>
      </p:grpSp>
      <p:sp>
        <p:nvSpPr>
          <p:cNvPr id="45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Steam wheels sit on rails. Monorail trains grip a beam. Neither can use the other's track.</a:t>
            </a:r>
          </a:p>
        </p:txBody>
      </p:sp>
      <p:sp>
        <p:nvSpPr>
          <p:cNvPr id="48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Why electric wins in the end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 paired bars" descr="Paired bars for steam and electric. Steam is longer for cheap to start; electric is longer for speed, throughput, traffic density and convenience. Shape only, not measured."/>
          <p:cNvGrpSpPr/>
          <p:nvPr/>
        </p:nvGrpSpPr>
        <p:grpSpPr>
          <a:xfrm>
            <a:off x="548640" y="1463040"/>
            <a:ext cx="11091671" cy="3968496"/>
            <a:chOff x="548640" y="1463040"/>
            <a:chExt cx="11091671" cy="3968496"/>
          </a:xfrm>
        </p:grpSpPr>
        <p:sp>
          <p:nvSpPr>
            <p:cNvPr id="5" name="TextBox 4"/>
            <p:cNvSpPr txBox="1"/>
            <p:nvPr/>
          </p:nvSpPr>
          <p:spPr>
            <a:xfrm>
              <a:off x="548640" y="1463040"/>
              <a:ext cx="2926080" cy="676656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Cheap to start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66160" y="1463040"/>
              <a:ext cx="5486400" cy="310896"/>
            </a:xfrm>
            <a:prstGeom prst="rect">
              <a:avLst/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566160" y="1463040"/>
              <a:ext cx="4663440" cy="310896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566160" y="1828800"/>
              <a:ext cx="5486400" cy="310896"/>
            </a:xfrm>
            <a:prstGeom prst="rect">
              <a:avLst/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566160" y="1828800"/>
              <a:ext cx="2468880" cy="310896"/>
            </a:xfrm>
            <a:prstGeom prst="rect">
              <a:avLst/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48640" y="2286000"/>
              <a:ext cx="2926080" cy="676656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Speed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566160" y="2286000"/>
              <a:ext cx="5486400" cy="310896"/>
            </a:xfrm>
            <a:prstGeom prst="rect">
              <a:avLst/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566160" y="2286000"/>
              <a:ext cx="2194560" cy="310896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566160" y="2651760"/>
              <a:ext cx="5486400" cy="310896"/>
            </a:xfrm>
            <a:prstGeom prst="rect">
              <a:avLst/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566160" y="2651760"/>
              <a:ext cx="4937760" cy="310896"/>
            </a:xfrm>
            <a:prstGeom prst="rect">
              <a:avLst/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8640" y="3108960"/>
              <a:ext cx="2926080" cy="676656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Throughput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566160" y="3108960"/>
              <a:ext cx="5486400" cy="310896"/>
            </a:xfrm>
            <a:prstGeom prst="rect">
              <a:avLst/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66160" y="3108960"/>
              <a:ext cx="1920240" cy="310896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566160" y="3474720"/>
              <a:ext cx="5486400" cy="310896"/>
            </a:xfrm>
            <a:prstGeom prst="rect">
              <a:avLst/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566160" y="3474720"/>
              <a:ext cx="4937760" cy="310896"/>
            </a:xfrm>
            <a:prstGeom prst="rect">
              <a:avLst/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8640" y="3931920"/>
              <a:ext cx="2926080" cy="676656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Traffic density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566160" y="3931920"/>
              <a:ext cx="5486400" cy="310896"/>
            </a:xfrm>
            <a:prstGeom prst="rect">
              <a:avLst/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566160" y="3931920"/>
              <a:ext cx="1920240" cy="310896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66160" y="4297680"/>
              <a:ext cx="5486400" cy="310896"/>
            </a:xfrm>
            <a:prstGeom prst="rect">
              <a:avLst/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566160" y="4297680"/>
              <a:ext cx="4937760" cy="310896"/>
            </a:xfrm>
            <a:prstGeom prst="rect">
              <a:avLst/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48640" y="4754880"/>
              <a:ext cx="2926080" cy="676656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Convenience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566160" y="4754880"/>
              <a:ext cx="5486400" cy="310896"/>
            </a:xfrm>
            <a:prstGeom prst="rect">
              <a:avLst/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566160" y="4754880"/>
              <a:ext cx="2468880" cy="310896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566160" y="5120640"/>
              <a:ext cx="5486400" cy="310896"/>
            </a:xfrm>
            <a:prstGeom prst="rect">
              <a:avLst/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566160" y="5120640"/>
              <a:ext cx="4937760" cy="310896"/>
            </a:xfrm>
            <a:prstGeom prst="rect">
              <a:avLst/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555480" y="1554480"/>
              <a:ext cx="2084831" cy="1188720"/>
            </a:xfrm>
            <a:prstGeom prst="roundRect">
              <a:avLst>
                <a:gd name="adj" fmla="val 615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738360" y="1737360"/>
              <a:ext cx="274320" cy="27432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104120" y="1691640"/>
              <a:ext cx="146304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800" b="0" i="0" lang="en-GB">
                  <a:solidFill>
                    <a:srgbClr val="F2F2F2"/>
                  </a:solidFill>
                  <a:latin typeface="Arial"/>
                </a:rPr>
                <a:t>Steam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738360" y="2240280"/>
              <a:ext cx="274320" cy="274320"/>
            </a:xfrm>
            <a:prstGeom prst="rect">
              <a:avLst/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104120" y="2194560"/>
              <a:ext cx="146304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800" b="0" i="0" lang="en-GB">
                  <a:solidFill>
                    <a:srgbClr val="F2F2F2"/>
                  </a:solidFill>
                  <a:latin typeface="Arial"/>
                </a:rPr>
                <a:t>Electric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555480" y="2971800"/>
              <a:ext cx="2084831" cy="731520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1600" b="0" i="0" lang="en-GB">
                  <a:solidFill>
                    <a:srgbClr val="A9B0B8"/>
                  </a:solidFill>
                  <a:latin typeface="Arial"/>
                </a:rPr>
                <a:t>Shape only. Not measured.</a:t>
              </a:r>
            </a:p>
          </p:txBody>
        </p:sp>
      </p:grpSp>
      <p:sp>
        <p:nvSpPr>
          <p:cNvPr id="36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Electric rail wins on speed, throughput, traffic and convenience once a factory matures.</a:t>
            </a:r>
          </a:p>
        </p:txBody>
      </p:sp>
      <p:sp>
        <p:nvSpPr>
          <p:cNvPr id="39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Upgrade in place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PANEL 1" descr="Panel 1: a build menu card showing the electric beam, with a mouse pointer choosing it."/>
          <p:cNvGrpSpPr/>
          <p:nvPr/>
        </p:nvGrpSpPr>
        <p:grpSpPr>
          <a:xfrm>
            <a:off x="548640" y="1417320"/>
            <a:ext cx="3383280" cy="4023360"/>
            <a:chOff x="548640" y="1417320"/>
            <a:chExt cx="3383280" cy="402336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417320"/>
              <a:ext cx="3383280" cy="4023360"/>
            </a:xfrm>
            <a:prstGeom prst="roundRect">
              <a:avLst>
                <a:gd name="adj" fmla="val 216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ADGE"/>
            <p:cNvSpPr/>
            <p:nvPr/>
          </p:nvSpPr>
          <p:spPr>
            <a:xfrm>
              <a:off x="704088" y="1572768"/>
              <a:ext cx="420624" cy="420624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101418"/>
                  </a:solidFill>
                  <a:latin typeface="Arial"/>
                </a:rPr>
                <a:t>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5800" y="4251960"/>
              <a:ext cx="3108960" cy="10058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Choose the electric track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88719" y="2286000"/>
              <a:ext cx="2103120" cy="1280160"/>
            </a:xfrm>
            <a:prstGeom prst="roundRect">
              <a:avLst>
                <a:gd name="adj" fmla="val 5714"/>
              </a:avLst>
            </a:prstGeom>
            <a:solidFill>
              <a:srgbClr val="343A43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417319" y="2606040"/>
              <a:ext cx="1645920" cy="365760"/>
            </a:xfrm>
            <a:prstGeom prst="roundRect">
              <a:avLst>
                <a:gd name="adj" fmla="val 250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3120" y="2971800"/>
              <a:ext cx="274320" cy="36576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691640" y="3291839"/>
              <a:ext cx="1097280" cy="73152"/>
            </a:xfrm>
            <a:prstGeom prst="rect">
              <a:avLst/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CURSOR"/>
            <p:cNvSpPr/>
            <p:nvPr/>
          </p:nvSpPr>
          <p:spPr>
            <a:xfrm>
              <a:off x="2697480" y="2971800"/>
              <a:ext cx="512064" cy="841248"/>
            </a:xfrm>
            <a:custGeom>
              <a:avLst/>
              <a:gdLst/>
              <a:ahLst/>
              <a:cxnLst/>
              <a:rect l="l" t="t" r="r" b="b"/>
              <a:pathLst>
                <a:path w="512064" h="841248">
                  <a:moveTo>
                    <a:pt x="0" y="0"/>
                  </a:moveTo>
                  <a:lnTo>
                    <a:pt x="0" y="713232"/>
                  </a:lnTo>
                  <a:lnTo>
                    <a:pt x="173736" y="566928"/>
                  </a:lnTo>
                  <a:lnTo>
                    <a:pt x="292608" y="841248"/>
                  </a:lnTo>
                  <a:lnTo>
                    <a:pt x="402336" y="795528"/>
                  </a:lnTo>
                  <a:lnTo>
                    <a:pt x="292608" y="530352"/>
                  </a:lnTo>
                  <a:lnTo>
                    <a:pt x="512064" y="530352"/>
                  </a:lnTo>
                  <a:close/>
                </a:path>
              </a:pathLst>
            </a:custGeom>
            <a:solidFill>
              <a:srgbClr val="F2F2F2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3" name="Connector 12"/>
          <p:cNvCxnSpPr/>
          <p:nvPr/>
        </p:nvCxnSpPr>
        <p:spPr>
          <a:xfrm>
            <a:off x="3995928" y="3429000"/>
            <a:ext cx="347472" cy="0"/>
          </a:xfrm>
          <a:prstGeom prst="line">
            <a:avLst/>
          </a:prstGeom>
          <a:ln w="38100">
            <a:solidFill>
              <a:srgbClr val="F28C28"/>
            </a:solidFill>
            <a:tailEnd type="triangle" w="med" len="med"/>
          </a:ln>
        </p:spPr>
      </p:cxnSp>
      <p:grpSp>
        <p:nvGrpSpPr>
          <p:cNvPr id="14" name="PANEL 2" descr="Panel 2: the pointer aims at the steam track, which is highlighted."/>
          <p:cNvGrpSpPr/>
          <p:nvPr/>
        </p:nvGrpSpPr>
        <p:grpSpPr>
          <a:xfrm>
            <a:off x="4407408" y="1417320"/>
            <a:ext cx="3383280" cy="4023360"/>
            <a:chOff x="4407408" y="1417320"/>
            <a:chExt cx="3383280" cy="4023360"/>
          </a:xfrm>
        </p:grpSpPr>
        <p:sp>
          <p:nvSpPr>
            <p:cNvPr id="15" name="Rounded Rectangle 14"/>
            <p:cNvSpPr/>
            <p:nvPr/>
          </p:nvSpPr>
          <p:spPr>
            <a:xfrm>
              <a:off x="4407408" y="1417320"/>
              <a:ext cx="3383280" cy="4023360"/>
            </a:xfrm>
            <a:prstGeom prst="roundRect">
              <a:avLst>
                <a:gd name="adj" fmla="val 216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BADGE"/>
            <p:cNvSpPr/>
            <p:nvPr/>
          </p:nvSpPr>
          <p:spPr>
            <a:xfrm>
              <a:off x="4562856" y="1572768"/>
              <a:ext cx="420624" cy="420624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101418"/>
                  </a:solidFill>
                  <a:latin typeface="Arial"/>
                </a:rPr>
                <a:t>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544568" y="4251960"/>
              <a:ext cx="3108960" cy="10058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Point at your steam track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681728" y="2468880"/>
              <a:ext cx="2834640" cy="1143000"/>
            </a:xfrm>
            <a:prstGeom prst="roundRect">
              <a:avLst>
                <a:gd name="adj" fmla="val 8000"/>
              </a:avLst>
            </a:prstGeom>
            <a:solidFill>
              <a:srgbClr val="6CA0DC">
                <a:alpha val="18000"/>
              </a:srgbClr>
            </a:solidFill>
            <a:ln w="31750">
              <a:solidFill>
                <a:srgbClr val="4DA3FF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910328" y="2770632"/>
              <a:ext cx="54864" cy="50292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76088" y="2770632"/>
              <a:ext cx="54864" cy="50292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641848" y="2770632"/>
              <a:ext cx="54864" cy="50292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007608" y="2770632"/>
              <a:ext cx="54864" cy="50292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373368" y="2770632"/>
              <a:ext cx="54864" cy="50292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739128" y="2770632"/>
              <a:ext cx="54864" cy="50292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04888" y="2770632"/>
              <a:ext cx="54864" cy="50292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818888" y="2834640"/>
              <a:ext cx="2560320" cy="64008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818888" y="3145536"/>
              <a:ext cx="2560320" cy="64008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CURSOR"/>
            <p:cNvSpPr/>
            <p:nvPr/>
          </p:nvSpPr>
          <p:spPr>
            <a:xfrm>
              <a:off x="6601968" y="3200400"/>
              <a:ext cx="512064" cy="841248"/>
            </a:xfrm>
            <a:custGeom>
              <a:avLst/>
              <a:gdLst/>
              <a:ahLst/>
              <a:cxnLst/>
              <a:rect l="l" t="t" r="r" b="b"/>
              <a:pathLst>
                <a:path w="512064" h="841248">
                  <a:moveTo>
                    <a:pt x="0" y="0"/>
                  </a:moveTo>
                  <a:lnTo>
                    <a:pt x="0" y="713232"/>
                  </a:lnTo>
                  <a:lnTo>
                    <a:pt x="173736" y="566928"/>
                  </a:lnTo>
                  <a:lnTo>
                    <a:pt x="292608" y="841248"/>
                  </a:lnTo>
                  <a:lnTo>
                    <a:pt x="402336" y="795528"/>
                  </a:lnTo>
                  <a:lnTo>
                    <a:pt x="292608" y="530352"/>
                  </a:lnTo>
                  <a:lnTo>
                    <a:pt x="512064" y="530352"/>
                  </a:lnTo>
                  <a:close/>
                </a:path>
              </a:pathLst>
            </a:custGeom>
            <a:solidFill>
              <a:srgbClr val="F2F2F2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29" name="Connector 28"/>
          <p:cNvCxnSpPr/>
          <p:nvPr/>
        </p:nvCxnSpPr>
        <p:spPr>
          <a:xfrm>
            <a:off x="7854696" y="3429000"/>
            <a:ext cx="338327" cy="0"/>
          </a:xfrm>
          <a:prstGeom prst="line">
            <a:avLst/>
          </a:prstGeom>
          <a:ln w="38100">
            <a:solidFill>
              <a:srgbClr val="F28C28"/>
            </a:solidFill>
            <a:tailEnd type="triangle" w="med" len="med"/>
          </a:ln>
        </p:spPr>
      </p:cxnSp>
      <p:grpSp>
        <p:nvGrpSpPr>
          <p:cNvPr id="30" name="PANEL 3" descr="Panel 3: a blue beam now sits where the rails were."/>
          <p:cNvGrpSpPr/>
          <p:nvPr/>
        </p:nvGrpSpPr>
        <p:grpSpPr>
          <a:xfrm>
            <a:off x="8257031" y="1417320"/>
            <a:ext cx="3383280" cy="4023360"/>
            <a:chOff x="8257031" y="1417320"/>
            <a:chExt cx="3383280" cy="4023360"/>
          </a:xfrm>
        </p:grpSpPr>
        <p:sp>
          <p:nvSpPr>
            <p:cNvPr id="31" name="Rounded Rectangle 30"/>
            <p:cNvSpPr/>
            <p:nvPr/>
          </p:nvSpPr>
          <p:spPr>
            <a:xfrm>
              <a:off x="8257031" y="1417320"/>
              <a:ext cx="3383280" cy="4023360"/>
            </a:xfrm>
            <a:prstGeom prst="roundRect">
              <a:avLst>
                <a:gd name="adj" fmla="val 216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BADGE"/>
            <p:cNvSpPr/>
            <p:nvPr/>
          </p:nvSpPr>
          <p:spPr>
            <a:xfrm>
              <a:off x="8412480" y="1572768"/>
              <a:ext cx="420624" cy="420624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101418"/>
                  </a:solidFill>
                  <a:latin typeface="Arial"/>
                </a:rPr>
                <a:t>3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394192" y="4251960"/>
              <a:ext cx="3108960" cy="10058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It is replaced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897112" y="3017520"/>
              <a:ext cx="182880" cy="64008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857232" y="3017520"/>
              <a:ext cx="182880" cy="64008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817352" y="3017520"/>
              <a:ext cx="182880" cy="64008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8577072" y="2697480"/>
              <a:ext cx="2743200" cy="384048"/>
            </a:xfrm>
            <a:prstGeom prst="roundRect">
              <a:avLst>
                <a:gd name="adj" fmla="val 23809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531352" y="3639312"/>
              <a:ext cx="2834640" cy="64008"/>
            </a:xfrm>
            <a:prstGeom prst="rect">
              <a:avLst/>
            </a:prstGeom>
            <a:solidFill>
              <a:srgbClr val="5B606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9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Point the upgrade at your old track. It swaps in place, like upgrading a belt.</a:t>
            </a:r>
          </a:p>
        </p:txBody>
      </p:sp>
      <p:sp>
        <p:nvSpPr>
          <p:cNvPr id="42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Your route stays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 steam route" descr="A curved route between two stations drawn as orange steam track on sleepers."/>
          <p:cNvGrpSpPr/>
          <p:nvPr/>
        </p:nvGrpSpPr>
        <p:grpSpPr>
          <a:xfrm>
            <a:off x="1335024" y="1280160"/>
            <a:ext cx="9491472" cy="1407163"/>
            <a:chOff x="1335024" y="1280160"/>
            <a:chExt cx="9491472" cy="1407163"/>
          </a:xfrm>
        </p:grpSpPr>
        <p:cxnSp>
          <p:nvCxnSpPr>
            <p:cNvPr id="5" name="Connector 4"/>
            <p:cNvCxnSpPr/>
            <p:nvPr/>
          </p:nvCxnSpPr>
          <p:spPr>
            <a:xfrm flipH="1">
              <a:off x="1516842" y="2024949"/>
              <a:ext cx="75275" cy="339221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 flipH="1">
              <a:off x="1857306" y="2099444"/>
              <a:ext cx="73289" cy="339655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 flipH="1">
              <a:off x="2199723" y="2169418"/>
              <a:ext cx="67397" cy="340873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H="1">
              <a:off x="2543985" y="2231095"/>
              <a:ext cx="57815" cy="342628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 flipH="1">
              <a:off x="2889893" y="2281201"/>
              <a:ext cx="44941" cy="344553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 flipH="1">
              <a:off x="3237134" y="2317125"/>
              <a:ext cx="29401" cy="346226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 flipH="1">
              <a:off x="3585278" y="2337028"/>
              <a:ext cx="12055" cy="347263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3927752" y="2339903"/>
              <a:ext cx="6049" cy="347420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4258362" y="2325607"/>
              <a:ext cx="23771" cy="346658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4589709" y="2294859"/>
              <a:ext cx="40019" cy="345159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4922258" y="2249226"/>
              <a:ext cx="53863" cy="343272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5256362" y="2191073"/>
              <a:ext cx="64597" cy="341414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5592256" y="2123466"/>
              <a:ext cx="71751" cy="339983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5930076" y="2050035"/>
              <a:ext cx="75053" cy="339269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269878" y="1974786"/>
              <a:ext cx="74391" cy="339416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6611652" y="1901889"/>
              <a:ext cx="69785" cy="340393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6955316" y="1835442"/>
              <a:ext cx="61399" cy="342005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7300704" y="1779240"/>
              <a:ext cx="49565" cy="343919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7647543" y="1736541"/>
              <a:ext cx="34829" cy="345722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7995441" y="1709859"/>
              <a:ext cx="17975" cy="347007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8343900" y="1700784"/>
              <a:ext cx="0" cy="347471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 flipH="1">
              <a:off x="8674383" y="1709859"/>
              <a:ext cx="17975" cy="347007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 flipH="1">
              <a:off x="9005427" y="1736541"/>
              <a:ext cx="34829" cy="345722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 flipH="1">
              <a:off x="9337530" y="1779240"/>
              <a:ext cx="49565" cy="343919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 flipH="1">
              <a:off x="9671084" y="1835442"/>
              <a:ext cx="61399" cy="342005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 flipH="1">
              <a:off x="10006362" y="1901889"/>
              <a:ext cx="69785" cy="340393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 flipH="1">
              <a:off x="10343530" y="1974786"/>
              <a:ext cx="74391" cy="339416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sp>
          <p:nvSpPr>
            <p:cNvPr id="32" name="Freeform 31"/>
            <p:cNvSpPr/>
            <p:nvPr/>
          </p:nvSpPr>
          <p:spPr>
            <a:xfrm>
              <a:off x="1572308" y="1792223"/>
              <a:ext cx="9052560" cy="640081"/>
            </a:xfrm>
            <a:custGeom>
              <a:avLst/>
              <a:gdLst/>
              <a:ahLst/>
              <a:cxnLst/>
              <a:rect l="l" t="t" r="r" b="b"/>
              <a:pathLst>
                <a:path w="9052560" h="640081">
                  <a:moveTo>
                    <a:pt x="0" y="321995"/>
                  </a:moveTo>
                  <a:lnTo>
                    <a:pt x="113104" y="347093"/>
                  </a:lnTo>
                  <a:lnTo>
                    <a:pt x="226104" y="372014"/>
                  </a:lnTo>
                  <a:lnTo>
                    <a:pt x="339000" y="396604"/>
                  </a:lnTo>
                  <a:lnTo>
                    <a:pt x="451793" y="420712"/>
                  </a:lnTo>
                  <a:lnTo>
                    <a:pt x="564484" y="444191"/>
                  </a:lnTo>
                  <a:lnTo>
                    <a:pt x="677076" y="466899"/>
                  </a:lnTo>
                  <a:lnTo>
                    <a:pt x="789570" y="488696"/>
                  </a:lnTo>
                  <a:lnTo>
                    <a:pt x="901969" y="509450"/>
                  </a:lnTo>
                  <a:lnTo>
                    <a:pt x="1014277" y="529037"/>
                  </a:lnTo>
                  <a:lnTo>
                    <a:pt x="1126498" y="547338"/>
                  </a:lnTo>
                  <a:lnTo>
                    <a:pt x="1238637" y="564242"/>
                  </a:lnTo>
                  <a:lnTo>
                    <a:pt x="1350699" y="579650"/>
                  </a:lnTo>
                  <a:lnTo>
                    <a:pt x="1462691" y="593467"/>
                  </a:lnTo>
                  <a:lnTo>
                    <a:pt x="1574618" y="605613"/>
                  </a:lnTo>
                  <a:lnTo>
                    <a:pt x="1686490" y="616014"/>
                  </a:lnTo>
                  <a:lnTo>
                    <a:pt x="1798314" y="624609"/>
                  </a:lnTo>
                  <a:lnTo>
                    <a:pt x="1910098" y="631348"/>
                  </a:lnTo>
                  <a:lnTo>
                    <a:pt x="2021853" y="636190"/>
                  </a:lnTo>
                  <a:lnTo>
                    <a:pt x="2133587" y="639106"/>
                  </a:lnTo>
                  <a:lnTo>
                    <a:pt x="2245312" y="640081"/>
                  </a:lnTo>
                  <a:lnTo>
                    <a:pt x="2357036" y="639106"/>
                  </a:lnTo>
                  <a:lnTo>
                    <a:pt x="2468770" y="636190"/>
                  </a:lnTo>
                  <a:lnTo>
                    <a:pt x="2580525" y="631348"/>
                  </a:lnTo>
                  <a:lnTo>
                    <a:pt x="2692309" y="624609"/>
                  </a:lnTo>
                  <a:lnTo>
                    <a:pt x="2804133" y="616014"/>
                  </a:lnTo>
                  <a:lnTo>
                    <a:pt x="2916005" y="605613"/>
                  </a:lnTo>
                  <a:lnTo>
                    <a:pt x="3027932" y="593467"/>
                  </a:lnTo>
                  <a:lnTo>
                    <a:pt x="3139924" y="579650"/>
                  </a:lnTo>
                  <a:lnTo>
                    <a:pt x="3251986" y="564242"/>
                  </a:lnTo>
                  <a:lnTo>
                    <a:pt x="3364125" y="547338"/>
                  </a:lnTo>
                  <a:lnTo>
                    <a:pt x="3476346" y="529037"/>
                  </a:lnTo>
                  <a:lnTo>
                    <a:pt x="3588654" y="509450"/>
                  </a:lnTo>
                  <a:lnTo>
                    <a:pt x="3701053" y="488696"/>
                  </a:lnTo>
                  <a:lnTo>
                    <a:pt x="3813547" y="466899"/>
                  </a:lnTo>
                  <a:lnTo>
                    <a:pt x="3926139" y="444191"/>
                  </a:lnTo>
                  <a:lnTo>
                    <a:pt x="4038830" y="420712"/>
                  </a:lnTo>
                  <a:lnTo>
                    <a:pt x="4151623" y="396604"/>
                  </a:lnTo>
                  <a:lnTo>
                    <a:pt x="4264519" y="372014"/>
                  </a:lnTo>
                  <a:lnTo>
                    <a:pt x="4377519" y="347093"/>
                  </a:lnTo>
                  <a:lnTo>
                    <a:pt x="4490623" y="321995"/>
                  </a:lnTo>
                  <a:lnTo>
                    <a:pt x="4603833" y="296873"/>
                  </a:lnTo>
                  <a:lnTo>
                    <a:pt x="4717147" y="271883"/>
                  </a:lnTo>
                  <a:lnTo>
                    <a:pt x="4830565" y="247180"/>
                  </a:lnTo>
                  <a:lnTo>
                    <a:pt x="4944086" y="222916"/>
                  </a:lnTo>
                  <a:lnTo>
                    <a:pt x="5057709" y="199243"/>
                  </a:lnTo>
                  <a:lnTo>
                    <a:pt x="5171431" y="176308"/>
                  </a:lnTo>
                  <a:lnTo>
                    <a:pt x="5285251" y="154255"/>
                  </a:lnTo>
                  <a:lnTo>
                    <a:pt x="5399166" y="133221"/>
                  </a:lnTo>
                  <a:lnTo>
                    <a:pt x="5513172" y="113338"/>
                  </a:lnTo>
                  <a:lnTo>
                    <a:pt x="5627265" y="94733"/>
                  </a:lnTo>
                  <a:lnTo>
                    <a:pt x="5741440" y="77522"/>
                  </a:lnTo>
                  <a:lnTo>
                    <a:pt x="5855692" y="61814"/>
                  </a:lnTo>
                  <a:lnTo>
                    <a:pt x="5970014" y="47709"/>
                  </a:lnTo>
                  <a:lnTo>
                    <a:pt x="6084401" y="35297"/>
                  </a:lnTo>
                  <a:lnTo>
                    <a:pt x="6198843" y="24657"/>
                  </a:lnTo>
                  <a:lnTo>
                    <a:pt x="6313333" y="15857"/>
                  </a:lnTo>
                  <a:lnTo>
                    <a:pt x="6427863" y="8953"/>
                  </a:lnTo>
                  <a:lnTo>
                    <a:pt x="6542422" y="3990"/>
                  </a:lnTo>
                  <a:lnTo>
                    <a:pt x="6657002" y="1000"/>
                  </a:lnTo>
                  <a:lnTo>
                    <a:pt x="6771592" y="0"/>
                  </a:lnTo>
                  <a:lnTo>
                    <a:pt x="6886181" y="1000"/>
                  </a:lnTo>
                  <a:lnTo>
                    <a:pt x="7000761" y="3990"/>
                  </a:lnTo>
                  <a:lnTo>
                    <a:pt x="7115320" y="8953"/>
                  </a:lnTo>
                  <a:lnTo>
                    <a:pt x="7229850" y="15857"/>
                  </a:lnTo>
                  <a:lnTo>
                    <a:pt x="7344340" y="24657"/>
                  </a:lnTo>
                  <a:lnTo>
                    <a:pt x="7458782" y="35297"/>
                  </a:lnTo>
                  <a:lnTo>
                    <a:pt x="7573169" y="47709"/>
                  </a:lnTo>
                  <a:lnTo>
                    <a:pt x="7687491" y="61814"/>
                  </a:lnTo>
                  <a:lnTo>
                    <a:pt x="7801743" y="77522"/>
                  </a:lnTo>
                  <a:lnTo>
                    <a:pt x="7915918" y="94733"/>
                  </a:lnTo>
                  <a:lnTo>
                    <a:pt x="8030011" y="113338"/>
                  </a:lnTo>
                  <a:lnTo>
                    <a:pt x="8144017" y="133221"/>
                  </a:lnTo>
                  <a:lnTo>
                    <a:pt x="8257932" y="154255"/>
                  </a:lnTo>
                  <a:lnTo>
                    <a:pt x="8371752" y="176308"/>
                  </a:lnTo>
                  <a:lnTo>
                    <a:pt x="8485474" y="199243"/>
                  </a:lnTo>
                  <a:lnTo>
                    <a:pt x="8599097" y="222916"/>
                  </a:lnTo>
                  <a:lnTo>
                    <a:pt x="8712618" y="247180"/>
                  </a:lnTo>
                  <a:lnTo>
                    <a:pt x="8826036" y="271883"/>
                  </a:lnTo>
                  <a:lnTo>
                    <a:pt x="8939350" y="296873"/>
                  </a:lnTo>
                  <a:lnTo>
                    <a:pt x="9052560" y="321995"/>
                  </a:lnTo>
                </a:path>
              </a:pathLst>
            </a:custGeom>
            <a:noFill/>
            <a:ln w="381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536651" y="1956815"/>
              <a:ext cx="9052560" cy="640081"/>
            </a:xfrm>
            <a:custGeom>
              <a:avLst/>
              <a:gdLst/>
              <a:ahLst/>
              <a:cxnLst/>
              <a:rect l="l" t="t" r="r" b="b"/>
              <a:pathLst>
                <a:path w="9052560" h="640081">
                  <a:moveTo>
                    <a:pt x="0" y="318086"/>
                  </a:moveTo>
                  <a:lnTo>
                    <a:pt x="113210" y="343208"/>
                  </a:lnTo>
                  <a:lnTo>
                    <a:pt x="226524" y="368198"/>
                  </a:lnTo>
                  <a:lnTo>
                    <a:pt x="339942" y="392901"/>
                  </a:lnTo>
                  <a:lnTo>
                    <a:pt x="453463" y="417165"/>
                  </a:lnTo>
                  <a:lnTo>
                    <a:pt x="567086" y="440838"/>
                  </a:lnTo>
                  <a:lnTo>
                    <a:pt x="680808" y="463773"/>
                  </a:lnTo>
                  <a:lnTo>
                    <a:pt x="794628" y="485826"/>
                  </a:lnTo>
                  <a:lnTo>
                    <a:pt x="908543" y="506860"/>
                  </a:lnTo>
                  <a:lnTo>
                    <a:pt x="1022549" y="526743"/>
                  </a:lnTo>
                  <a:lnTo>
                    <a:pt x="1136642" y="545348"/>
                  </a:lnTo>
                  <a:lnTo>
                    <a:pt x="1250817" y="562559"/>
                  </a:lnTo>
                  <a:lnTo>
                    <a:pt x="1365069" y="578267"/>
                  </a:lnTo>
                  <a:lnTo>
                    <a:pt x="1479391" y="592372"/>
                  </a:lnTo>
                  <a:lnTo>
                    <a:pt x="1593778" y="604784"/>
                  </a:lnTo>
                  <a:lnTo>
                    <a:pt x="1708220" y="615424"/>
                  </a:lnTo>
                  <a:lnTo>
                    <a:pt x="1822710" y="624224"/>
                  </a:lnTo>
                  <a:lnTo>
                    <a:pt x="1937240" y="631128"/>
                  </a:lnTo>
                  <a:lnTo>
                    <a:pt x="2051799" y="636091"/>
                  </a:lnTo>
                  <a:lnTo>
                    <a:pt x="2166379" y="639081"/>
                  </a:lnTo>
                  <a:lnTo>
                    <a:pt x="2280969" y="640081"/>
                  </a:lnTo>
                  <a:lnTo>
                    <a:pt x="2395558" y="639081"/>
                  </a:lnTo>
                  <a:lnTo>
                    <a:pt x="2510138" y="636091"/>
                  </a:lnTo>
                  <a:lnTo>
                    <a:pt x="2624697" y="631128"/>
                  </a:lnTo>
                  <a:lnTo>
                    <a:pt x="2739227" y="624224"/>
                  </a:lnTo>
                  <a:lnTo>
                    <a:pt x="2853717" y="615424"/>
                  </a:lnTo>
                  <a:lnTo>
                    <a:pt x="2968159" y="604784"/>
                  </a:lnTo>
                  <a:lnTo>
                    <a:pt x="3082546" y="592372"/>
                  </a:lnTo>
                  <a:lnTo>
                    <a:pt x="3196868" y="578267"/>
                  </a:lnTo>
                  <a:lnTo>
                    <a:pt x="3311120" y="562559"/>
                  </a:lnTo>
                  <a:lnTo>
                    <a:pt x="3425295" y="545348"/>
                  </a:lnTo>
                  <a:lnTo>
                    <a:pt x="3539388" y="526743"/>
                  </a:lnTo>
                  <a:lnTo>
                    <a:pt x="3653394" y="506860"/>
                  </a:lnTo>
                  <a:lnTo>
                    <a:pt x="3767309" y="485826"/>
                  </a:lnTo>
                  <a:lnTo>
                    <a:pt x="3881129" y="463773"/>
                  </a:lnTo>
                  <a:lnTo>
                    <a:pt x="3994851" y="440838"/>
                  </a:lnTo>
                  <a:lnTo>
                    <a:pt x="4108474" y="417165"/>
                  </a:lnTo>
                  <a:lnTo>
                    <a:pt x="4221995" y="392901"/>
                  </a:lnTo>
                  <a:lnTo>
                    <a:pt x="4335413" y="368198"/>
                  </a:lnTo>
                  <a:lnTo>
                    <a:pt x="4448727" y="343208"/>
                  </a:lnTo>
                  <a:lnTo>
                    <a:pt x="4561937" y="318086"/>
                  </a:lnTo>
                  <a:lnTo>
                    <a:pt x="4675041" y="292988"/>
                  </a:lnTo>
                  <a:lnTo>
                    <a:pt x="4788041" y="268067"/>
                  </a:lnTo>
                  <a:lnTo>
                    <a:pt x="4900937" y="243477"/>
                  </a:lnTo>
                  <a:lnTo>
                    <a:pt x="5013730" y="219369"/>
                  </a:lnTo>
                  <a:lnTo>
                    <a:pt x="5126421" y="195890"/>
                  </a:lnTo>
                  <a:lnTo>
                    <a:pt x="5239013" y="173182"/>
                  </a:lnTo>
                  <a:lnTo>
                    <a:pt x="5351507" y="151385"/>
                  </a:lnTo>
                  <a:lnTo>
                    <a:pt x="5463906" y="130631"/>
                  </a:lnTo>
                  <a:lnTo>
                    <a:pt x="5576214" y="111044"/>
                  </a:lnTo>
                  <a:lnTo>
                    <a:pt x="5688435" y="92743"/>
                  </a:lnTo>
                  <a:lnTo>
                    <a:pt x="5800574" y="75839"/>
                  </a:lnTo>
                  <a:lnTo>
                    <a:pt x="5912636" y="60431"/>
                  </a:lnTo>
                  <a:lnTo>
                    <a:pt x="6024628" y="46614"/>
                  </a:lnTo>
                  <a:lnTo>
                    <a:pt x="6136555" y="34468"/>
                  </a:lnTo>
                  <a:lnTo>
                    <a:pt x="6248427" y="24067"/>
                  </a:lnTo>
                  <a:lnTo>
                    <a:pt x="6360251" y="15472"/>
                  </a:lnTo>
                  <a:lnTo>
                    <a:pt x="6472035" y="8733"/>
                  </a:lnTo>
                  <a:lnTo>
                    <a:pt x="6583790" y="3891"/>
                  </a:lnTo>
                  <a:lnTo>
                    <a:pt x="6695524" y="975"/>
                  </a:lnTo>
                  <a:lnTo>
                    <a:pt x="6807249" y="0"/>
                  </a:lnTo>
                  <a:lnTo>
                    <a:pt x="6918973" y="975"/>
                  </a:lnTo>
                  <a:lnTo>
                    <a:pt x="7030707" y="3891"/>
                  </a:lnTo>
                  <a:lnTo>
                    <a:pt x="7142462" y="8733"/>
                  </a:lnTo>
                  <a:lnTo>
                    <a:pt x="7254246" y="15472"/>
                  </a:lnTo>
                  <a:lnTo>
                    <a:pt x="7366070" y="24067"/>
                  </a:lnTo>
                  <a:lnTo>
                    <a:pt x="7477942" y="34468"/>
                  </a:lnTo>
                  <a:lnTo>
                    <a:pt x="7589869" y="46614"/>
                  </a:lnTo>
                  <a:lnTo>
                    <a:pt x="7701861" y="60431"/>
                  </a:lnTo>
                  <a:lnTo>
                    <a:pt x="7813923" y="75839"/>
                  </a:lnTo>
                  <a:lnTo>
                    <a:pt x="7926062" y="92743"/>
                  </a:lnTo>
                  <a:lnTo>
                    <a:pt x="8038283" y="111044"/>
                  </a:lnTo>
                  <a:lnTo>
                    <a:pt x="8150591" y="130631"/>
                  </a:lnTo>
                  <a:lnTo>
                    <a:pt x="8262990" y="151385"/>
                  </a:lnTo>
                  <a:lnTo>
                    <a:pt x="8375484" y="173182"/>
                  </a:lnTo>
                  <a:lnTo>
                    <a:pt x="8488076" y="195890"/>
                  </a:lnTo>
                  <a:lnTo>
                    <a:pt x="8600767" y="219369"/>
                  </a:lnTo>
                  <a:lnTo>
                    <a:pt x="8713560" y="243477"/>
                  </a:lnTo>
                  <a:lnTo>
                    <a:pt x="8826456" y="268067"/>
                  </a:lnTo>
                  <a:lnTo>
                    <a:pt x="8939456" y="292988"/>
                  </a:lnTo>
                  <a:lnTo>
                    <a:pt x="9052560" y="318086"/>
                  </a:lnTo>
                </a:path>
              </a:pathLst>
            </a:custGeom>
            <a:noFill/>
            <a:ln w="381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1335024" y="1975104"/>
              <a:ext cx="438912" cy="438912"/>
            </a:xfrm>
            <a:prstGeom prst="ellipse">
              <a:avLst/>
            </a:prstGeom>
            <a:solidFill>
              <a:srgbClr val="E8E8E8"/>
            </a:solidFill>
            <a:ln w="381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10387584" y="1975104"/>
              <a:ext cx="438912" cy="438912"/>
            </a:xfrm>
            <a:prstGeom prst="ellipse">
              <a:avLst/>
            </a:prstGeom>
            <a:solidFill>
              <a:srgbClr val="E8E8E8"/>
            </a:solidFill>
            <a:ln w="381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955279" y="1280160"/>
              <a:ext cx="219456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8C28"/>
                  </a:solidFill>
                  <a:latin typeface="Arial"/>
                </a:rPr>
                <a:t>Steam track</a:t>
              </a:r>
            </a:p>
          </p:txBody>
        </p:sp>
      </p:grpSp>
      <p:grpSp>
        <p:nvGrpSpPr>
          <p:cNvPr id="37" name="DIAGRAM electric route" descr="The same curved route between the same two stations, now drawn as a blue beam on supports."/>
          <p:cNvGrpSpPr/>
          <p:nvPr/>
        </p:nvGrpSpPr>
        <p:grpSpPr>
          <a:xfrm>
            <a:off x="1335024" y="3474720"/>
            <a:ext cx="9491472" cy="1207008"/>
            <a:chOff x="1335024" y="3474720"/>
            <a:chExt cx="9491472" cy="1207008"/>
          </a:xfrm>
        </p:grpSpPr>
        <p:sp>
          <p:nvSpPr>
            <p:cNvPr id="38" name="Rectangle 37"/>
            <p:cNvSpPr/>
            <p:nvPr/>
          </p:nvSpPr>
          <p:spPr>
            <a:xfrm>
              <a:off x="1716786" y="3844825"/>
              <a:ext cx="128016" cy="4572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622042" y="4021062"/>
              <a:ext cx="128016" cy="4572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527298" y="4110859"/>
              <a:ext cx="128016" cy="4572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432554" y="4079917"/>
              <a:ext cx="128016" cy="4572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337810" y="3940055"/>
              <a:ext cx="128016" cy="4572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243066" y="3744694"/>
              <a:ext cx="128016" cy="4572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148322" y="3568457"/>
              <a:ext cx="128016" cy="4572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053577" y="3478660"/>
              <a:ext cx="128016" cy="4572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958834" y="3509602"/>
              <a:ext cx="128016" cy="4572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864090" y="3649464"/>
              <a:ext cx="128016" cy="4572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1554480" y="3474720"/>
              <a:ext cx="9052560" cy="640080"/>
            </a:xfrm>
            <a:custGeom>
              <a:avLst/>
              <a:gdLst/>
              <a:ahLst/>
              <a:cxnLst/>
              <a:rect l="l" t="t" r="r" b="b"/>
              <a:pathLst>
                <a:path w="9052560" h="640080">
                  <a:moveTo>
                    <a:pt x="0" y="320040"/>
                  </a:moveTo>
                  <a:lnTo>
                    <a:pt x="113157" y="345150"/>
                  </a:lnTo>
                  <a:lnTo>
                    <a:pt x="226314" y="370105"/>
                  </a:lnTo>
                  <a:lnTo>
                    <a:pt x="339471" y="394751"/>
                  </a:lnTo>
                  <a:lnTo>
                    <a:pt x="452627" y="418937"/>
                  </a:lnTo>
                  <a:lnTo>
                    <a:pt x="565785" y="442514"/>
                  </a:lnTo>
                  <a:lnTo>
                    <a:pt x="678942" y="465335"/>
                  </a:lnTo>
                  <a:lnTo>
                    <a:pt x="792099" y="487260"/>
                  </a:lnTo>
                  <a:lnTo>
                    <a:pt x="905256" y="508154"/>
                  </a:lnTo>
                  <a:lnTo>
                    <a:pt x="1018413" y="527889"/>
                  </a:lnTo>
                  <a:lnTo>
                    <a:pt x="1131570" y="546342"/>
                  </a:lnTo>
                  <a:lnTo>
                    <a:pt x="1244727" y="563400"/>
                  </a:lnTo>
                  <a:lnTo>
                    <a:pt x="1357884" y="578957"/>
                  </a:lnTo>
                  <a:lnTo>
                    <a:pt x="1471041" y="592918"/>
                  </a:lnTo>
                  <a:lnTo>
                    <a:pt x="1584198" y="605197"/>
                  </a:lnTo>
                  <a:lnTo>
                    <a:pt x="1697355" y="615718"/>
                  </a:lnTo>
                  <a:lnTo>
                    <a:pt x="1810511" y="624416"/>
                  </a:lnTo>
                  <a:lnTo>
                    <a:pt x="1923669" y="631237"/>
                  </a:lnTo>
                  <a:lnTo>
                    <a:pt x="2036826" y="636139"/>
                  </a:lnTo>
                  <a:lnTo>
                    <a:pt x="2149982" y="639093"/>
                  </a:lnTo>
                  <a:lnTo>
                    <a:pt x="2263140" y="640080"/>
                  </a:lnTo>
                  <a:lnTo>
                    <a:pt x="2376297" y="639093"/>
                  </a:lnTo>
                  <a:lnTo>
                    <a:pt x="2489454" y="636139"/>
                  </a:lnTo>
                  <a:lnTo>
                    <a:pt x="2602611" y="631237"/>
                  </a:lnTo>
                  <a:lnTo>
                    <a:pt x="2715768" y="624416"/>
                  </a:lnTo>
                  <a:lnTo>
                    <a:pt x="2828925" y="615718"/>
                  </a:lnTo>
                  <a:lnTo>
                    <a:pt x="2942082" y="605197"/>
                  </a:lnTo>
                  <a:lnTo>
                    <a:pt x="3055239" y="592918"/>
                  </a:lnTo>
                  <a:lnTo>
                    <a:pt x="3168396" y="578957"/>
                  </a:lnTo>
                  <a:lnTo>
                    <a:pt x="3281553" y="563400"/>
                  </a:lnTo>
                  <a:lnTo>
                    <a:pt x="3394710" y="546342"/>
                  </a:lnTo>
                  <a:lnTo>
                    <a:pt x="3507867" y="527889"/>
                  </a:lnTo>
                  <a:lnTo>
                    <a:pt x="3621024" y="508154"/>
                  </a:lnTo>
                  <a:lnTo>
                    <a:pt x="3734181" y="487260"/>
                  </a:lnTo>
                  <a:lnTo>
                    <a:pt x="3847338" y="465335"/>
                  </a:lnTo>
                  <a:lnTo>
                    <a:pt x="3960495" y="442514"/>
                  </a:lnTo>
                  <a:lnTo>
                    <a:pt x="4073652" y="418937"/>
                  </a:lnTo>
                  <a:lnTo>
                    <a:pt x="4186809" y="394751"/>
                  </a:lnTo>
                  <a:lnTo>
                    <a:pt x="4299966" y="370105"/>
                  </a:lnTo>
                  <a:lnTo>
                    <a:pt x="4413123" y="345150"/>
                  </a:lnTo>
                  <a:lnTo>
                    <a:pt x="4526280" y="320040"/>
                  </a:lnTo>
                  <a:lnTo>
                    <a:pt x="4639437" y="294929"/>
                  </a:lnTo>
                  <a:lnTo>
                    <a:pt x="4752594" y="269974"/>
                  </a:lnTo>
                  <a:lnTo>
                    <a:pt x="4865751" y="245328"/>
                  </a:lnTo>
                  <a:lnTo>
                    <a:pt x="4978908" y="221142"/>
                  </a:lnTo>
                  <a:lnTo>
                    <a:pt x="5092065" y="197565"/>
                  </a:lnTo>
                  <a:lnTo>
                    <a:pt x="5205222" y="174744"/>
                  </a:lnTo>
                  <a:lnTo>
                    <a:pt x="5318379" y="152819"/>
                  </a:lnTo>
                  <a:lnTo>
                    <a:pt x="5431536" y="131925"/>
                  </a:lnTo>
                  <a:lnTo>
                    <a:pt x="5544693" y="112190"/>
                  </a:lnTo>
                  <a:lnTo>
                    <a:pt x="5657850" y="93737"/>
                  </a:lnTo>
                  <a:lnTo>
                    <a:pt x="5771007" y="76679"/>
                  </a:lnTo>
                  <a:lnTo>
                    <a:pt x="5884164" y="61122"/>
                  </a:lnTo>
                  <a:lnTo>
                    <a:pt x="5997321" y="47161"/>
                  </a:lnTo>
                  <a:lnTo>
                    <a:pt x="6110478" y="34882"/>
                  </a:lnTo>
                  <a:lnTo>
                    <a:pt x="6223635" y="24361"/>
                  </a:lnTo>
                  <a:lnTo>
                    <a:pt x="6336791" y="15663"/>
                  </a:lnTo>
                  <a:lnTo>
                    <a:pt x="6449949" y="8842"/>
                  </a:lnTo>
                  <a:lnTo>
                    <a:pt x="6563106" y="3940"/>
                  </a:lnTo>
                  <a:lnTo>
                    <a:pt x="6676263" y="986"/>
                  </a:lnTo>
                  <a:lnTo>
                    <a:pt x="6789420" y="0"/>
                  </a:lnTo>
                  <a:lnTo>
                    <a:pt x="6902577" y="986"/>
                  </a:lnTo>
                  <a:lnTo>
                    <a:pt x="7015734" y="3940"/>
                  </a:lnTo>
                  <a:lnTo>
                    <a:pt x="7128891" y="8842"/>
                  </a:lnTo>
                  <a:lnTo>
                    <a:pt x="7242048" y="15663"/>
                  </a:lnTo>
                  <a:lnTo>
                    <a:pt x="7355204" y="24361"/>
                  </a:lnTo>
                  <a:lnTo>
                    <a:pt x="7468362" y="34882"/>
                  </a:lnTo>
                  <a:lnTo>
                    <a:pt x="7581519" y="47161"/>
                  </a:lnTo>
                  <a:lnTo>
                    <a:pt x="7694676" y="61122"/>
                  </a:lnTo>
                  <a:lnTo>
                    <a:pt x="7807833" y="76679"/>
                  </a:lnTo>
                  <a:lnTo>
                    <a:pt x="7920989" y="93737"/>
                  </a:lnTo>
                  <a:lnTo>
                    <a:pt x="8034146" y="112190"/>
                  </a:lnTo>
                  <a:lnTo>
                    <a:pt x="8147304" y="131925"/>
                  </a:lnTo>
                  <a:lnTo>
                    <a:pt x="8260461" y="152819"/>
                  </a:lnTo>
                  <a:lnTo>
                    <a:pt x="8373618" y="174744"/>
                  </a:lnTo>
                  <a:lnTo>
                    <a:pt x="8486775" y="197565"/>
                  </a:lnTo>
                  <a:lnTo>
                    <a:pt x="8599931" y="221142"/>
                  </a:lnTo>
                  <a:lnTo>
                    <a:pt x="8713089" y="245328"/>
                  </a:lnTo>
                  <a:lnTo>
                    <a:pt x="8826246" y="269974"/>
                  </a:lnTo>
                  <a:lnTo>
                    <a:pt x="8939403" y="294929"/>
                  </a:lnTo>
                  <a:lnTo>
                    <a:pt x="9052560" y="320040"/>
                  </a:lnTo>
                </a:path>
              </a:pathLst>
            </a:custGeom>
            <a:noFill/>
            <a:ln w="165100">
              <a:solidFill>
                <a:srgbClr val="6CA0D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1335024" y="3575304"/>
              <a:ext cx="438912" cy="438912"/>
            </a:xfrm>
            <a:prstGeom prst="ellipse">
              <a:avLst/>
            </a:prstGeom>
            <a:solidFill>
              <a:srgbClr val="E8E8E8"/>
            </a:solidFill>
            <a:ln w="381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10387584" y="3575304"/>
              <a:ext cx="438912" cy="438912"/>
            </a:xfrm>
            <a:prstGeom prst="ellipse">
              <a:avLst/>
            </a:prstGeom>
            <a:solidFill>
              <a:srgbClr val="E8E8E8"/>
            </a:solidFill>
            <a:ln w="381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955279" y="4315968"/>
              <a:ext cx="237744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800" b="1" i="0" lang="en-GB">
                  <a:solidFill>
                    <a:srgbClr val="6CA0DC"/>
                  </a:solidFill>
                  <a:latin typeface="Arial"/>
                </a:rPr>
                <a:t>Monorail beam</a:t>
              </a:r>
            </a:p>
          </p:txBody>
        </p:sp>
      </p:grpSp>
      <p:grpSp>
        <p:nvGrpSpPr>
          <p:cNvPr id="52" name="DIAGRAM same path" descr="Dashed lines join the two copies: the path is the same."/>
          <p:cNvGrpSpPr/>
          <p:nvPr/>
        </p:nvGrpSpPr>
        <p:grpSpPr>
          <a:xfrm>
            <a:off x="1554480" y="2283157"/>
            <a:ext cx="9052560" cy="1423005"/>
            <a:chOff x="1554480" y="2283157"/>
            <a:chExt cx="9052560" cy="1423005"/>
          </a:xfrm>
        </p:grpSpPr>
        <p:cxnSp>
          <p:nvCxnSpPr>
            <p:cNvPr id="53" name="Connector 52"/>
            <p:cNvCxnSpPr/>
            <p:nvPr/>
          </p:nvCxnSpPr>
          <p:spPr>
            <a:xfrm>
              <a:off x="1554480" y="2468879"/>
              <a:ext cx="0" cy="1051561"/>
            </a:xfrm>
            <a:prstGeom prst="line">
              <a:avLst/>
            </a:prstGeom>
            <a:ln w="25400">
              <a:solidFill>
                <a:srgbClr val="A9B0B8"/>
              </a:solidFill>
              <a:prstDash val="dash"/>
            </a:ln>
          </p:spPr>
        </p:cxnSp>
        <p:cxnSp>
          <p:nvCxnSpPr>
            <p:cNvPr id="54" name="Connector 53"/>
            <p:cNvCxnSpPr/>
            <p:nvPr/>
          </p:nvCxnSpPr>
          <p:spPr>
            <a:xfrm>
              <a:off x="10607040" y="2468879"/>
              <a:ext cx="0" cy="1051561"/>
            </a:xfrm>
            <a:prstGeom prst="line">
              <a:avLst/>
            </a:prstGeom>
            <a:ln w="25400">
              <a:solidFill>
                <a:srgbClr val="A9B0B8"/>
              </a:solidFill>
              <a:prstDash val="dash"/>
            </a:ln>
          </p:spPr>
        </p:cxnSp>
        <p:cxnSp>
          <p:nvCxnSpPr>
            <p:cNvPr id="55" name="Connector 54"/>
            <p:cNvCxnSpPr/>
            <p:nvPr/>
          </p:nvCxnSpPr>
          <p:spPr>
            <a:xfrm>
              <a:off x="4572000" y="2837482"/>
              <a:ext cx="0" cy="868680"/>
            </a:xfrm>
            <a:prstGeom prst="line">
              <a:avLst/>
            </a:prstGeom>
            <a:ln w="28575">
              <a:solidFill>
                <a:srgbClr val="A9B0B8"/>
              </a:solidFill>
              <a:prstDash val="dash"/>
              <a:tailEnd type="triangle" w="med" len="med"/>
            </a:ln>
          </p:spPr>
        </p:cxnSp>
        <p:cxnSp>
          <p:nvCxnSpPr>
            <p:cNvPr id="56" name="Connector 55"/>
            <p:cNvCxnSpPr/>
            <p:nvPr/>
          </p:nvCxnSpPr>
          <p:spPr>
            <a:xfrm>
              <a:off x="7589520" y="2283157"/>
              <a:ext cx="0" cy="868680"/>
            </a:xfrm>
            <a:prstGeom prst="line">
              <a:avLst/>
            </a:prstGeom>
            <a:ln w="28575">
              <a:solidFill>
                <a:srgbClr val="A9B0B8"/>
              </a:solidFill>
              <a:prstDash val="dash"/>
              <a:tailEnd type="triangle" w="med" len="med"/>
            </a:ln>
          </p:spPr>
        </p:cxnSp>
        <p:sp>
          <p:nvSpPr>
            <p:cNvPr id="57" name="TextBox 56"/>
            <p:cNvSpPr txBox="1"/>
            <p:nvPr/>
          </p:nvSpPr>
          <p:spPr>
            <a:xfrm>
              <a:off x="5029200" y="2834640"/>
              <a:ext cx="2103120" cy="41148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Same path</a:t>
              </a:r>
            </a:p>
          </p:txBody>
        </p:sp>
      </p:grpSp>
      <p:grpSp>
        <p:nvGrpSpPr>
          <p:cNvPr id="58" name="NOTE proposed" descr="Note: supports and junction shapes kept where possible. Proposed."/>
          <p:cNvGrpSpPr/>
          <p:nvPr/>
        </p:nvGrpSpPr>
        <p:grpSpPr>
          <a:xfrm>
            <a:off x="548640" y="4892040"/>
            <a:ext cx="11091672" cy="594360"/>
            <a:chOff x="548640" y="4892040"/>
            <a:chExt cx="11091672" cy="594360"/>
          </a:xfrm>
        </p:grpSpPr>
        <p:sp>
          <p:nvSpPr>
            <p:cNvPr id="59" name="Rounded Rectangle 58"/>
            <p:cNvSpPr/>
            <p:nvPr/>
          </p:nvSpPr>
          <p:spPr>
            <a:xfrm>
              <a:off x="548640" y="4892040"/>
              <a:ext cx="11091672" cy="594360"/>
            </a:xfrm>
            <a:prstGeom prst="roundRect">
              <a:avLst>
                <a:gd name="adj" fmla="val 1230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ICHIP"/>
            <p:cNvSpPr/>
            <p:nvPr/>
          </p:nvSpPr>
          <p:spPr>
            <a:xfrm>
              <a:off x="777240" y="5029200"/>
              <a:ext cx="1464992" cy="310896"/>
            </a:xfrm>
            <a:prstGeom prst="roundRect">
              <a:avLst>
                <a:gd name="adj" fmla="val 50000"/>
              </a:avLst>
            </a:prstGeom>
            <a:solidFill>
              <a:srgbClr val="B084F5"/>
            </a:solidFill>
            <a:ln>
              <a:noFill/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PROPOSED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470832" y="4892040"/>
              <a:ext cx="8686800" cy="5943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Supports and junction shapes kept where possible</a:t>
              </a:r>
            </a:p>
          </p:txBody>
        </p:sp>
      </p:grpSp>
      <p:sp>
        <p:nvSpPr>
          <p:cNvPr id="62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The route you planned is kept. You do not start again.</a:t>
            </a:r>
          </a:p>
        </p:txBody>
      </p:sp>
      <p:sp>
        <p:nvSpPr>
          <p:cNvPr id="65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A warning first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grpSp>
        <p:nvGrpSpPr>
          <p:cNvPr id="4" name="DIAGRAM hologram" descr="A mock build preview: a ghost blue beam hologram laid over orange steam track."/>
          <p:cNvGrpSpPr/>
          <p:nvPr/>
        </p:nvGrpSpPr>
        <p:grpSpPr>
          <a:xfrm>
            <a:off x="548640" y="1371600"/>
            <a:ext cx="6309360" cy="4023360"/>
            <a:chOff x="548640" y="1371600"/>
            <a:chExt cx="6309360" cy="402336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71600"/>
              <a:ext cx="6309360" cy="4023360"/>
            </a:xfrm>
            <a:prstGeom prst="roundRect">
              <a:avLst>
                <a:gd name="adj" fmla="val 181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4892040"/>
              <a:ext cx="5760720" cy="73152"/>
            </a:xfrm>
            <a:prstGeom prst="rect">
              <a:avLst/>
            </a:prstGeom>
            <a:solidFill>
              <a:srgbClr val="5B606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371600" y="3886200"/>
              <a:ext cx="219456" cy="1005839"/>
            </a:xfrm>
            <a:prstGeom prst="rect">
              <a:avLst/>
            </a:prstGeom>
            <a:noFill/>
            <a:ln w="25400">
              <a:solidFill>
                <a:srgbClr val="6CA0D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337560" y="3886200"/>
              <a:ext cx="219456" cy="1005839"/>
            </a:xfrm>
            <a:prstGeom prst="rect">
              <a:avLst/>
            </a:prstGeom>
            <a:noFill/>
            <a:ln w="25400">
              <a:solidFill>
                <a:srgbClr val="6CA0D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303520" y="3886200"/>
              <a:ext cx="219456" cy="1005839"/>
            </a:xfrm>
            <a:prstGeom prst="rect">
              <a:avLst/>
            </a:prstGeom>
            <a:noFill/>
            <a:ln w="25400">
              <a:solidFill>
                <a:srgbClr val="6CA0D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05840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371600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737360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03120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468879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834639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200399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66159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931920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297680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663440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029200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394960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760720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126480" y="3246120"/>
              <a:ext cx="54864" cy="51206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14400" y="3310128"/>
              <a:ext cx="5577840" cy="73152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14400" y="3621024"/>
              <a:ext cx="5577840" cy="73152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822960" y="3017520"/>
              <a:ext cx="5760720" cy="868680"/>
            </a:xfrm>
            <a:prstGeom prst="roundRect">
              <a:avLst>
                <a:gd name="adj" fmla="val 10526"/>
              </a:avLst>
            </a:prstGeom>
            <a:solidFill>
              <a:srgbClr val="6CA0DC">
                <a:alpha val="35000"/>
              </a:srgbClr>
            </a:solidFill>
            <a:ln w="31750">
              <a:solidFill>
                <a:srgbClr val="6CA0D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22960" y="1645920"/>
              <a:ext cx="2377440" cy="41148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800" b="1" i="0" lang="en-GB">
                  <a:solidFill>
                    <a:srgbClr val="6CA0DC"/>
                  </a:solidFill>
                  <a:latin typeface="Arial"/>
                </a:rPr>
                <a:t>Hologram preview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2011680" y="2103120"/>
              <a:ext cx="0" cy="822960"/>
            </a:xfrm>
            <a:prstGeom prst="line">
              <a:avLst/>
            </a:prstGeom>
            <a:ln w="28575">
              <a:solidFill>
                <a:srgbClr val="6CA0DC"/>
              </a:solidFill>
              <a:tailEnd type="triangle" w="med" len="med"/>
            </a:ln>
          </p:spPr>
        </p:cxnSp>
      </p:grpSp>
      <p:grpSp>
        <p:nvGrpSpPr>
          <p:cNvPr id="30" name="DIAGRAM warning dialog" descr="A warning dialog: Steam trains cannot use this section. Two buttons, Confirm and Cancel."/>
          <p:cNvGrpSpPr/>
          <p:nvPr/>
        </p:nvGrpSpPr>
        <p:grpSpPr>
          <a:xfrm>
            <a:off x="7178040" y="1371600"/>
            <a:ext cx="4462272" cy="4023360"/>
            <a:chOff x="7178040" y="1371600"/>
            <a:chExt cx="4462272" cy="4023360"/>
          </a:xfrm>
        </p:grpSpPr>
        <p:sp>
          <p:nvSpPr>
            <p:cNvPr id="31" name="Rounded Rectangle 30"/>
            <p:cNvSpPr/>
            <p:nvPr/>
          </p:nvSpPr>
          <p:spPr>
            <a:xfrm>
              <a:off x="7178040" y="1371600"/>
              <a:ext cx="4462272" cy="4023360"/>
            </a:xfrm>
            <a:prstGeom prst="roundRect">
              <a:avLst>
                <a:gd name="adj" fmla="val 1818"/>
              </a:avLst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452360" y="1691640"/>
              <a:ext cx="3913632" cy="2103120"/>
            </a:xfrm>
            <a:prstGeom prst="roundRect">
              <a:avLst>
                <a:gd name="adj" fmla="val 3478"/>
              </a:avLst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3" name="WARNING" descr="Warning triangle"/>
            <p:cNvGrpSpPr/>
            <p:nvPr/>
          </p:nvGrpSpPr>
          <p:grpSpPr>
            <a:xfrm>
              <a:off x="7680960" y="2450592"/>
              <a:ext cx="658368" cy="585216"/>
              <a:chOff x="7680960" y="2450592"/>
              <a:chExt cx="658368" cy="585216"/>
            </a:xfrm>
          </p:grpSpPr>
          <p:sp>
            <p:nvSpPr>
              <p:cNvPr id="34" name="Freeform 33"/>
              <p:cNvSpPr/>
              <p:nvPr/>
            </p:nvSpPr>
            <p:spPr>
              <a:xfrm>
                <a:off x="7680960" y="2450592"/>
                <a:ext cx="658368" cy="585216"/>
              </a:xfrm>
              <a:custGeom>
                <a:avLst/>
                <a:gdLst/>
                <a:ahLst/>
                <a:cxnLst/>
                <a:rect l="l" t="t" r="r" b="b"/>
                <a:pathLst>
                  <a:path w="658368" h="585216">
                    <a:moveTo>
                      <a:pt x="329184" y="0"/>
                    </a:moveTo>
                    <a:lnTo>
                      <a:pt x="658368" y="585216"/>
                    </a:lnTo>
                    <a:lnTo>
                      <a:pt x="0" y="585216"/>
                    </a:lnTo>
                    <a:close/>
                  </a:path>
                </a:pathLst>
              </a:custGeom>
              <a:solidFill>
                <a:srgbClr val="101418"/>
              </a:solidFill>
              <a:ln w="25400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7680960" y="2626156"/>
                <a:ext cx="658368" cy="409651"/>
              </a:xfrm>
              <a:prstGeom prst="rect">
                <a:avLst/>
              </a:prstGeom>
              <a:noFill/>
            </p:spPr>
            <p:txBody>
              <a:bodyPr wrap="square" anchor="ctr" lIns="0" tIns="0" rIns="0" bIns="0">
                <a:noAutofit/>
              </a:bodyPr>
              <a:lstStyle/>
              <a:p>
                <a:pPr algn="ctr"/>
                <a:r>
                  <a:rPr sz="2600" b="1" i="0" lang="en-GB">
                    <a:solidFill>
                      <a:srgbClr val="F2C14E"/>
                    </a:solidFill>
                    <a:latin typeface="Arial"/>
                  </a:rPr>
                  <a:t>!</a:t>
                </a:r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8503920" y="1828800"/>
              <a:ext cx="2743200" cy="182880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1" i="0" lang="en-GB">
                  <a:solidFill>
                    <a:srgbClr val="101418"/>
                  </a:solidFill>
                  <a:latin typeface="Arial"/>
                </a:rPr>
                <a:t>Steam trains cannot use this section.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452360" y="4343400"/>
              <a:ext cx="1828800" cy="640080"/>
            </a:xfrm>
            <a:prstGeom prst="roundRect">
              <a:avLst>
                <a:gd name="adj" fmla="val 14285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 lIns="54864" tIns="27432" rIns="54864" bIns="27432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101418"/>
                  </a:solidFill>
                  <a:latin typeface="Arial"/>
                </a:rPr>
                <a:t>Confirm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9537192" y="4343400"/>
              <a:ext cx="1828800" cy="640080"/>
            </a:xfrm>
            <a:prstGeom prst="roundRect">
              <a:avLst>
                <a:gd name="adj" fmla="val 14285"/>
              </a:avLst>
            </a:prstGeom>
            <a:noFill/>
            <a:ln w="25400">
              <a:solidFill>
                <a:srgbClr val="F2F2F2"/>
              </a:solidFill>
            </a:ln>
          </p:spPr>
          <p:txBody>
            <a:bodyPr rtlCol="0" anchor="ctr" wrap="square" lIns="54864" tIns="27432" rIns="54864" bIns="27432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Cancel</a:t>
              </a:r>
            </a:p>
          </p:txBody>
        </p:sp>
      </p:grpSp>
      <p:sp>
        <p:nvSpPr>
          <p:cNvPr id="39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Before you confirm, the game warns you. Steam trains cannot use the new track.</a:t>
            </a:r>
          </a:p>
        </p:txBody>
      </p:sp>
      <p:sp>
        <p:nvSpPr>
          <p:cNvPr id="42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Will every shape fit?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UNDECIDED</a:t>
            </a:r>
          </a:p>
        </p:txBody>
      </p:sp>
      <p:grpSp>
        <p:nvGrpSpPr>
          <p:cNvPr id="4" name="DIAGRAM sloping track" descr="A curved, sloping piece of track on rising ground, with five markers pointing at the places that need checking."/>
          <p:cNvGrpSpPr/>
          <p:nvPr/>
        </p:nvGrpSpPr>
        <p:grpSpPr>
          <a:xfrm>
            <a:off x="548640" y="1325880"/>
            <a:ext cx="11091672" cy="2606040"/>
            <a:chOff x="548640" y="1325880"/>
            <a:chExt cx="11091672" cy="260604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25880"/>
              <a:ext cx="11091672" cy="2331720"/>
            </a:xfrm>
            <a:prstGeom prst="roundRect">
              <a:avLst>
                <a:gd name="adj" fmla="val 313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914400" y="1880186"/>
              <a:ext cx="10332720" cy="1685974"/>
            </a:xfrm>
            <a:custGeom>
              <a:avLst/>
              <a:gdLst/>
              <a:ahLst/>
              <a:cxnLst/>
              <a:rect l="l" t="t" r="r" b="b"/>
              <a:pathLst>
                <a:path w="10332720" h="1685974">
                  <a:moveTo>
                    <a:pt x="0" y="1228774"/>
                  </a:moveTo>
                  <a:lnTo>
                    <a:pt x="129159" y="1271038"/>
                  </a:lnTo>
                  <a:lnTo>
                    <a:pt x="258318" y="1311929"/>
                  </a:lnTo>
                  <a:lnTo>
                    <a:pt x="387477" y="1350105"/>
                  </a:lnTo>
                  <a:lnTo>
                    <a:pt x="516636" y="1384294"/>
                  </a:lnTo>
                  <a:lnTo>
                    <a:pt x="645795" y="1413325"/>
                  </a:lnTo>
                  <a:lnTo>
                    <a:pt x="774954" y="1436155"/>
                  </a:lnTo>
                  <a:lnTo>
                    <a:pt x="904113" y="1451896"/>
                  </a:lnTo>
                  <a:lnTo>
                    <a:pt x="1033272" y="1459839"/>
                  </a:lnTo>
                  <a:lnTo>
                    <a:pt x="1162431" y="1459469"/>
                  </a:lnTo>
                  <a:lnTo>
                    <a:pt x="1291590" y="1450481"/>
                  </a:lnTo>
                  <a:lnTo>
                    <a:pt x="1420749" y="1432785"/>
                  </a:lnTo>
                  <a:lnTo>
                    <a:pt x="1549908" y="1406509"/>
                  </a:lnTo>
                  <a:lnTo>
                    <a:pt x="1679067" y="1371997"/>
                  </a:lnTo>
                  <a:lnTo>
                    <a:pt x="1808226" y="1329798"/>
                  </a:lnTo>
                  <a:lnTo>
                    <a:pt x="1937385" y="1280655"/>
                  </a:lnTo>
                  <a:lnTo>
                    <a:pt x="2066544" y="1225485"/>
                  </a:lnTo>
                  <a:lnTo>
                    <a:pt x="2195703" y="1165356"/>
                  </a:lnTo>
                  <a:lnTo>
                    <a:pt x="2324862" y="1101458"/>
                  </a:lnTo>
                  <a:lnTo>
                    <a:pt x="2454021" y="1035080"/>
                  </a:lnTo>
                  <a:lnTo>
                    <a:pt x="2583180" y="967568"/>
                  </a:lnTo>
                  <a:lnTo>
                    <a:pt x="2712339" y="900301"/>
                  </a:lnTo>
                  <a:lnTo>
                    <a:pt x="2841498" y="834649"/>
                  </a:lnTo>
                  <a:lnTo>
                    <a:pt x="2970657" y="771942"/>
                  </a:lnTo>
                  <a:lnTo>
                    <a:pt x="3099816" y="713438"/>
                  </a:lnTo>
                  <a:lnTo>
                    <a:pt x="3228975" y="660287"/>
                  </a:lnTo>
                  <a:lnTo>
                    <a:pt x="3358134" y="613506"/>
                  </a:lnTo>
                  <a:lnTo>
                    <a:pt x="3487293" y="573953"/>
                  </a:lnTo>
                  <a:lnTo>
                    <a:pt x="3616452" y="542303"/>
                  </a:lnTo>
                  <a:lnTo>
                    <a:pt x="3745611" y="519036"/>
                  </a:lnTo>
                  <a:lnTo>
                    <a:pt x="3874770" y="504419"/>
                  </a:lnTo>
                  <a:lnTo>
                    <a:pt x="4003929" y="498503"/>
                  </a:lnTo>
                  <a:lnTo>
                    <a:pt x="4133088" y="501122"/>
                  </a:lnTo>
                  <a:lnTo>
                    <a:pt x="4262247" y="511895"/>
                  </a:lnTo>
                  <a:lnTo>
                    <a:pt x="4391406" y="530236"/>
                  </a:lnTo>
                  <a:lnTo>
                    <a:pt x="4520565" y="555371"/>
                  </a:lnTo>
                  <a:lnTo>
                    <a:pt x="4649724" y="586354"/>
                  </a:lnTo>
                  <a:lnTo>
                    <a:pt x="4778883" y="622095"/>
                  </a:lnTo>
                  <a:lnTo>
                    <a:pt x="4908042" y="661381"/>
                  </a:lnTo>
                  <a:lnTo>
                    <a:pt x="5037201" y="702914"/>
                  </a:lnTo>
                  <a:lnTo>
                    <a:pt x="5166360" y="745336"/>
                  </a:lnTo>
                  <a:lnTo>
                    <a:pt x="5295519" y="787271"/>
                  </a:lnTo>
                  <a:lnTo>
                    <a:pt x="5424678" y="827351"/>
                  </a:lnTo>
                  <a:lnTo>
                    <a:pt x="5553837" y="864257"/>
                  </a:lnTo>
                  <a:lnTo>
                    <a:pt x="5682996" y="896748"/>
                  </a:lnTo>
                  <a:lnTo>
                    <a:pt x="5812155" y="923696"/>
                  </a:lnTo>
                  <a:lnTo>
                    <a:pt x="5941314" y="944109"/>
                  </a:lnTo>
                  <a:lnTo>
                    <a:pt x="6070473" y="957161"/>
                  </a:lnTo>
                  <a:lnTo>
                    <a:pt x="6199632" y="962209"/>
                  </a:lnTo>
                  <a:lnTo>
                    <a:pt x="6328791" y="958813"/>
                  </a:lnTo>
                  <a:lnTo>
                    <a:pt x="6457950" y="946742"/>
                  </a:lnTo>
                  <a:lnTo>
                    <a:pt x="6587109" y="925982"/>
                  </a:lnTo>
                  <a:lnTo>
                    <a:pt x="6716268" y="896741"/>
                  </a:lnTo>
                  <a:lnTo>
                    <a:pt x="6845427" y="859434"/>
                  </a:lnTo>
                  <a:lnTo>
                    <a:pt x="6974586" y="814683"/>
                  </a:lnTo>
                  <a:lnTo>
                    <a:pt x="7103745" y="763294"/>
                  </a:lnTo>
                  <a:lnTo>
                    <a:pt x="7232904" y="706239"/>
                  </a:lnTo>
                  <a:lnTo>
                    <a:pt x="7362063" y="644634"/>
                  </a:lnTo>
                  <a:lnTo>
                    <a:pt x="7491222" y="579707"/>
                  </a:lnTo>
                  <a:lnTo>
                    <a:pt x="7620381" y="512771"/>
                  </a:lnTo>
                  <a:lnTo>
                    <a:pt x="7749540" y="445188"/>
                  </a:lnTo>
                  <a:lnTo>
                    <a:pt x="7878699" y="378337"/>
                  </a:lnTo>
                  <a:lnTo>
                    <a:pt x="8007858" y="313579"/>
                  </a:lnTo>
                  <a:lnTo>
                    <a:pt x="8137017" y="252221"/>
                  </a:lnTo>
                  <a:lnTo>
                    <a:pt x="8266176" y="195486"/>
                  </a:lnTo>
                  <a:lnTo>
                    <a:pt x="8395335" y="144481"/>
                  </a:lnTo>
                  <a:lnTo>
                    <a:pt x="8524494" y="100170"/>
                  </a:lnTo>
                  <a:lnTo>
                    <a:pt x="8653653" y="63347"/>
                  </a:lnTo>
                  <a:lnTo>
                    <a:pt x="8782812" y="34621"/>
                  </a:lnTo>
                  <a:lnTo>
                    <a:pt x="8911971" y="14396"/>
                  </a:lnTo>
                  <a:lnTo>
                    <a:pt x="9041130" y="2865"/>
                  </a:lnTo>
                  <a:lnTo>
                    <a:pt x="9170289" y="0"/>
                  </a:lnTo>
                  <a:lnTo>
                    <a:pt x="9299448" y="5560"/>
                  </a:lnTo>
                  <a:lnTo>
                    <a:pt x="9428607" y="19088"/>
                  </a:lnTo>
                  <a:lnTo>
                    <a:pt x="9557766" y="39932"/>
                  </a:lnTo>
                  <a:lnTo>
                    <a:pt x="9686925" y="67254"/>
                  </a:lnTo>
                  <a:lnTo>
                    <a:pt x="9816084" y="100053"/>
                  </a:lnTo>
                  <a:lnTo>
                    <a:pt x="9945243" y="137192"/>
                  </a:lnTo>
                  <a:lnTo>
                    <a:pt x="10074402" y="177426"/>
                  </a:lnTo>
                  <a:lnTo>
                    <a:pt x="10203561" y="219430"/>
                  </a:lnTo>
                  <a:lnTo>
                    <a:pt x="10332720" y="261838"/>
                  </a:lnTo>
                  <a:lnTo>
                    <a:pt x="10332720" y="1685974"/>
                  </a:lnTo>
                  <a:lnTo>
                    <a:pt x="0" y="1685974"/>
                  </a:lnTo>
                  <a:close/>
                </a:path>
              </a:pathLst>
            </a:cu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 flipH="1">
              <a:off x="857523" y="2935149"/>
              <a:ext cx="113753" cy="347621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H="1">
              <a:off x="1119192" y="3017243"/>
              <a:ext cx="107051" cy="349744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 flipH="1">
              <a:off x="1387561" y="3086843"/>
              <a:ext cx="86949" cy="355275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 flipH="1">
              <a:off x="1662346" y="3135466"/>
              <a:ext cx="54015" cy="361750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 flipH="1">
              <a:off x="1942312" y="3157223"/>
              <a:ext cx="10719" cy="365603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2187198" y="3148755"/>
              <a:ext cx="37583" cy="363824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2422416" y="3108678"/>
              <a:ext cx="83783" cy="356035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2661658" y="3037566"/>
              <a:ext cx="121935" cy="344836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2906404" y="2938672"/>
              <a:ext cx="149079" cy="333999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3156911" y="2818355"/>
              <a:ext cx="164701" cy="326579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3412983" y="2685617"/>
              <a:ext cx="169193" cy="324275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3674517" y="2551060"/>
              <a:ext cx="162761" cy="327550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3941655" y="2425755"/>
              <a:ext cx="145121" cy="335738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4214564" y="2320243"/>
              <a:ext cx="115939" cy="346898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4492822" y="2243607"/>
              <a:ext cx="76059" cy="357765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4774679" y="2202300"/>
              <a:ext cx="28981" cy="364610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 flipH="1">
              <a:off x="5038020" y="2198673"/>
              <a:ext cx="18935" cy="365270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 flipH="1">
              <a:off x="5275453" y="2230078"/>
              <a:ext cx="60705" cy="360687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 flipH="1">
              <a:off x="5518386" y="2289472"/>
              <a:ext cx="91475" cy="354136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 flipH="1">
              <a:off x="5767835" y="2367030"/>
              <a:ext cx="109213" cy="349074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 flipH="1">
              <a:off x="6023988" y="2451677"/>
              <a:ext cx="113543" cy="347690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 flipH="1">
              <a:off x="6286845" y="2532275"/>
              <a:ext cx="104465" cy="350524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 flipH="1">
              <a:off x="6556386" y="2598711"/>
              <a:ext cx="82019" cy="356446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 flipH="1">
              <a:off x="6832218" y="2642930"/>
              <a:ext cx="46991" cy="362729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 flipH="1">
              <a:off x="7112862" y="2659519"/>
              <a:ext cx="2339" cy="365753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7349292" y="2645507"/>
              <a:ext cx="46115" cy="362841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7585044" y="2599829"/>
              <a:ext cx="91247" cy="354195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7825196" y="2523475"/>
              <a:ext cx="127579" cy="342789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8070965" y="2420240"/>
              <a:ext cx="152677" cy="332370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8322474" y="2297008"/>
              <a:ext cx="166295" cy="325770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37" name="Connector 36"/>
            <p:cNvCxnSpPr/>
            <p:nvPr/>
          </p:nvCxnSpPr>
          <p:spPr>
            <a:xfrm>
              <a:off x="8579514" y="2163148"/>
              <a:ext cx="168851" cy="324453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38" name="Connector 37"/>
            <p:cNvCxnSpPr/>
            <p:nvPr/>
          </p:nvCxnSpPr>
          <p:spPr>
            <a:xfrm>
              <a:off x="8842023" y="2029425"/>
              <a:ext cx="160469" cy="328680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39" name="Connector 38"/>
            <p:cNvCxnSpPr/>
            <p:nvPr/>
          </p:nvCxnSpPr>
          <p:spPr>
            <a:xfrm>
              <a:off x="9110177" y="1906885"/>
              <a:ext cx="140797" cy="337575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40" name="Connector 39"/>
            <p:cNvCxnSpPr/>
            <p:nvPr/>
          </p:nvCxnSpPr>
          <p:spPr>
            <a:xfrm>
              <a:off x="9384093" y="1805880"/>
              <a:ext cx="109601" cy="348952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41" name="Connector 40"/>
            <p:cNvCxnSpPr/>
            <p:nvPr/>
          </p:nvCxnSpPr>
          <p:spPr>
            <a:xfrm>
              <a:off x="9663162" y="1735125"/>
              <a:ext cx="68099" cy="359364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42" name="Connector 41"/>
            <p:cNvCxnSpPr/>
            <p:nvPr/>
          </p:nvCxnSpPr>
          <p:spPr>
            <a:xfrm>
              <a:off x="9945354" y="1700454"/>
              <a:ext cx="20351" cy="365193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43" name="Connector 42"/>
            <p:cNvCxnSpPr/>
            <p:nvPr/>
          </p:nvCxnSpPr>
          <p:spPr>
            <a:xfrm flipH="1">
              <a:off x="10200371" y="1703363"/>
              <a:ext cx="26953" cy="364765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44" name="Connector 43"/>
            <p:cNvCxnSpPr/>
            <p:nvPr/>
          </p:nvCxnSpPr>
          <p:spPr>
            <a:xfrm flipH="1">
              <a:off x="10438644" y="1740337"/>
              <a:ext cx="67043" cy="359563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45" name="Connector 44"/>
            <p:cNvCxnSpPr/>
            <p:nvPr/>
          </p:nvCxnSpPr>
          <p:spPr>
            <a:xfrm flipH="1">
              <a:off x="10682690" y="1803714"/>
              <a:ext cx="95587" cy="353049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46" name="Connector 45"/>
            <p:cNvCxnSpPr/>
            <p:nvPr/>
          </p:nvCxnSpPr>
          <p:spPr>
            <a:xfrm flipH="1">
              <a:off x="10933323" y="1883350"/>
              <a:ext cx="110957" cy="348524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cxnSp>
          <p:nvCxnSpPr>
            <p:cNvPr id="47" name="Connector 46"/>
            <p:cNvCxnSpPr/>
            <p:nvPr/>
          </p:nvCxnSpPr>
          <p:spPr>
            <a:xfrm flipH="1">
              <a:off x="11190070" y="1968270"/>
              <a:ext cx="114099" cy="347508"/>
            </a:xfrm>
            <a:prstGeom prst="line">
              <a:avLst/>
            </a:prstGeom>
            <a:ln w="44450">
              <a:solidFill>
                <a:srgbClr val="6B5B4B"/>
              </a:solidFill>
            </a:ln>
          </p:spPr>
        </p:cxnSp>
        <p:sp>
          <p:nvSpPr>
            <p:cNvPr id="48" name="Freeform 47"/>
            <p:cNvSpPr/>
            <p:nvPr/>
          </p:nvSpPr>
          <p:spPr>
            <a:xfrm>
              <a:off x="942838" y="1788751"/>
              <a:ext cx="10332806" cy="1459873"/>
            </a:xfrm>
            <a:custGeom>
              <a:avLst/>
              <a:gdLst/>
              <a:ahLst/>
              <a:cxnLst/>
              <a:rect l="l" t="t" r="r" b="b"/>
              <a:pathLst>
                <a:path w="10332806" h="1459873">
                  <a:moveTo>
                    <a:pt x="0" y="1233303"/>
                  </a:moveTo>
                  <a:lnTo>
                    <a:pt x="128740" y="1275432"/>
                  </a:lnTo>
                  <a:lnTo>
                    <a:pt x="256642" y="1315928"/>
                  </a:lnTo>
                  <a:lnTo>
                    <a:pt x="383705" y="1353490"/>
                  </a:lnTo>
                  <a:lnTo>
                    <a:pt x="509935" y="1386911"/>
                  </a:lnTo>
                  <a:lnTo>
                    <a:pt x="635355" y="1415109"/>
                  </a:lnTo>
                  <a:lnTo>
                    <a:pt x="760019" y="1437153"/>
                  </a:lnTo>
                  <a:lnTo>
                    <a:pt x="884023" y="1452273"/>
                  </a:lnTo>
                  <a:lnTo>
                    <a:pt x="1007513" y="1459873"/>
                  </a:lnTo>
                  <a:lnTo>
                    <a:pt x="1130682" y="1459524"/>
                  </a:lnTo>
                  <a:lnTo>
                    <a:pt x="1253756" y="1450960"/>
                  </a:lnTo>
                  <a:lnTo>
                    <a:pt x="1376966" y="1434077"/>
                  </a:lnTo>
                  <a:lnTo>
                    <a:pt x="1500524" y="1408935"/>
                  </a:lnTo>
                  <a:lnTo>
                    <a:pt x="1624598" y="1375775"/>
                  </a:lnTo>
                  <a:lnTo>
                    <a:pt x="1749304" y="1335024"/>
                  </a:lnTo>
                  <a:lnTo>
                    <a:pt x="1874708" y="1287303"/>
                  </a:lnTo>
                  <a:lnTo>
                    <a:pt x="2000836" y="1233421"/>
                  </a:lnTo>
                  <a:lnTo>
                    <a:pt x="2127687" y="1174360"/>
                  </a:lnTo>
                  <a:lnTo>
                    <a:pt x="2255248" y="1111249"/>
                  </a:lnTo>
                  <a:lnTo>
                    <a:pt x="2383504" y="1045332"/>
                  </a:lnTo>
                  <a:lnTo>
                    <a:pt x="2512443" y="977934"/>
                  </a:lnTo>
                  <a:lnTo>
                    <a:pt x="2642063" y="910429"/>
                  </a:lnTo>
                  <a:lnTo>
                    <a:pt x="2772369" y="844196"/>
                  </a:lnTo>
                  <a:lnTo>
                    <a:pt x="2903376" y="780598"/>
                  </a:lnTo>
                  <a:lnTo>
                    <a:pt x="3035097" y="720938"/>
                  </a:lnTo>
                  <a:lnTo>
                    <a:pt x="3167545" y="666441"/>
                  </a:lnTo>
                  <a:lnTo>
                    <a:pt x="3300711" y="618216"/>
                  </a:lnTo>
                  <a:lnTo>
                    <a:pt x="3434556" y="577235"/>
                  </a:lnTo>
                  <a:lnTo>
                    <a:pt x="3568999" y="544297"/>
                  </a:lnTo>
                  <a:lnTo>
                    <a:pt x="3703904" y="519999"/>
                  </a:lnTo>
                  <a:lnTo>
                    <a:pt x="3839086" y="504702"/>
                  </a:lnTo>
                  <a:lnTo>
                    <a:pt x="3974324" y="498506"/>
                  </a:lnTo>
                  <a:lnTo>
                    <a:pt x="4109383" y="501240"/>
                  </a:lnTo>
                  <a:lnTo>
                    <a:pt x="4244049" y="512465"/>
                  </a:lnTo>
                  <a:lnTo>
                    <a:pt x="4378144" y="531499"/>
                  </a:lnTo>
                  <a:lnTo>
                    <a:pt x="4511539" y="557450"/>
                  </a:lnTo>
                  <a:lnTo>
                    <a:pt x="4644154" y="589255"/>
                  </a:lnTo>
                  <a:lnTo>
                    <a:pt x="4775949" y="625718"/>
                  </a:lnTo>
                  <a:lnTo>
                    <a:pt x="4906907" y="665547"/>
                  </a:lnTo>
                  <a:lnTo>
                    <a:pt x="5037026" y="707386"/>
                  </a:lnTo>
                  <a:lnTo>
                    <a:pt x="5166307" y="749849"/>
                  </a:lnTo>
                  <a:lnTo>
                    <a:pt x="5294751" y="791553"/>
                  </a:lnTo>
                  <a:lnTo>
                    <a:pt x="5422356" y="831155"/>
                  </a:lnTo>
                  <a:lnTo>
                    <a:pt x="5549123" y="867383"/>
                  </a:lnTo>
                  <a:lnTo>
                    <a:pt x="5675062" y="899072"/>
                  </a:lnTo>
                  <a:lnTo>
                    <a:pt x="5800207" y="925190"/>
                  </a:lnTo>
                  <a:lnTo>
                    <a:pt x="5924623" y="944862"/>
                  </a:lnTo>
                  <a:lnTo>
                    <a:pt x="6048426" y="957379"/>
                  </a:lnTo>
                  <a:lnTo>
                    <a:pt x="6171778" y="962206"/>
                  </a:lnTo>
                  <a:lnTo>
                    <a:pt x="6294887" y="958972"/>
                  </a:lnTo>
                  <a:lnTo>
                    <a:pt x="6417983" y="947466"/>
                  </a:lnTo>
                  <a:lnTo>
                    <a:pt x="6541294" y="927644"/>
                  </a:lnTo>
                  <a:lnTo>
                    <a:pt x="6665018" y="899627"/>
                  </a:lnTo>
                  <a:lnTo>
                    <a:pt x="6789305" y="863721"/>
                  </a:lnTo>
                  <a:lnTo>
                    <a:pt x="6914253" y="820421"/>
                  </a:lnTo>
                  <a:lnTo>
                    <a:pt x="7039912" y="770417"/>
                  </a:lnTo>
                  <a:lnTo>
                    <a:pt x="7166296" y="714581"/>
                  </a:lnTo>
                  <a:lnTo>
                    <a:pt x="7293401" y="653951"/>
                  </a:lnTo>
                  <a:lnTo>
                    <a:pt x="7421210" y="589700"/>
                  </a:lnTo>
                  <a:lnTo>
                    <a:pt x="7549709" y="523104"/>
                  </a:lnTo>
                  <a:lnTo>
                    <a:pt x="7678889" y="455510"/>
                  </a:lnTo>
                  <a:lnTo>
                    <a:pt x="7808750" y="388298"/>
                  </a:lnTo>
                  <a:lnTo>
                    <a:pt x="7939302" y="322844"/>
                  </a:lnTo>
                  <a:lnTo>
                    <a:pt x="8070560" y="260494"/>
                  </a:lnTo>
                  <a:lnTo>
                    <a:pt x="8202538" y="202527"/>
                  </a:lnTo>
                  <a:lnTo>
                    <a:pt x="8335242" y="150130"/>
                  </a:lnTo>
                  <a:lnTo>
                    <a:pt x="8468655" y="104367"/>
                  </a:lnTo>
                  <a:lnTo>
                    <a:pt x="8602724" y="66151"/>
                  </a:lnTo>
                  <a:lnTo>
                    <a:pt x="8737349" y="36215"/>
                  </a:lnTo>
                  <a:lnTo>
                    <a:pt x="8872375" y="15074"/>
                  </a:lnTo>
                  <a:lnTo>
                    <a:pt x="9007604" y="3001"/>
                  </a:lnTo>
                  <a:lnTo>
                    <a:pt x="9142804" y="0"/>
                  </a:lnTo>
                  <a:lnTo>
                    <a:pt x="9277748" y="5803"/>
                  </a:lnTo>
                  <a:lnTo>
                    <a:pt x="9412229" y="19882"/>
                  </a:lnTo>
                  <a:lnTo>
                    <a:pt x="9546088" y="41476"/>
                  </a:lnTo>
                  <a:lnTo>
                    <a:pt x="9679214" y="69629"/>
                  </a:lnTo>
                  <a:lnTo>
                    <a:pt x="9811542" y="103225"/>
                  </a:lnTo>
                  <a:lnTo>
                    <a:pt x="9943042" y="141032"/>
                  </a:lnTo>
                  <a:lnTo>
                    <a:pt x="10073703" y="181730"/>
                  </a:lnTo>
                  <a:lnTo>
                    <a:pt x="10203525" y="223948"/>
                  </a:lnTo>
                  <a:lnTo>
                    <a:pt x="10332806" y="266396"/>
                  </a:lnTo>
                </a:path>
              </a:pathLst>
            </a:custGeom>
            <a:noFill/>
            <a:ln w="4445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885961" y="1971621"/>
              <a:ext cx="10332634" cy="1459805"/>
            </a:xfrm>
            <a:custGeom>
              <a:avLst/>
              <a:gdLst/>
              <a:ahLst/>
              <a:cxnLst/>
              <a:rect l="l" t="t" r="r" b="b"/>
              <a:pathLst>
                <a:path w="10332634" h="1459805">
                  <a:moveTo>
                    <a:pt x="0" y="1224244"/>
                  </a:moveTo>
                  <a:lnTo>
                    <a:pt x="129578" y="1266645"/>
                  </a:lnTo>
                  <a:lnTo>
                    <a:pt x="259994" y="1307930"/>
                  </a:lnTo>
                  <a:lnTo>
                    <a:pt x="391249" y="1346720"/>
                  </a:lnTo>
                  <a:lnTo>
                    <a:pt x="523337" y="1381678"/>
                  </a:lnTo>
                  <a:lnTo>
                    <a:pt x="656235" y="1411541"/>
                  </a:lnTo>
                  <a:lnTo>
                    <a:pt x="789889" y="1435157"/>
                  </a:lnTo>
                  <a:lnTo>
                    <a:pt x="924203" y="1451519"/>
                  </a:lnTo>
                  <a:lnTo>
                    <a:pt x="1059031" y="1459805"/>
                  </a:lnTo>
                  <a:lnTo>
                    <a:pt x="1194180" y="1459414"/>
                  </a:lnTo>
                  <a:lnTo>
                    <a:pt x="1329424" y="1450002"/>
                  </a:lnTo>
                  <a:lnTo>
                    <a:pt x="1464532" y="1431493"/>
                  </a:lnTo>
                  <a:lnTo>
                    <a:pt x="1599292" y="1404083"/>
                  </a:lnTo>
                  <a:lnTo>
                    <a:pt x="1733536" y="1368218"/>
                  </a:lnTo>
                  <a:lnTo>
                    <a:pt x="1867148" y="1324572"/>
                  </a:lnTo>
                  <a:lnTo>
                    <a:pt x="2000062" y="1274008"/>
                  </a:lnTo>
                  <a:lnTo>
                    <a:pt x="2132252" y="1217550"/>
                  </a:lnTo>
                  <a:lnTo>
                    <a:pt x="2263719" y="1156352"/>
                  </a:lnTo>
                  <a:lnTo>
                    <a:pt x="2394476" y="1091668"/>
                  </a:lnTo>
                  <a:lnTo>
                    <a:pt x="2524538" y="1024828"/>
                  </a:lnTo>
                  <a:lnTo>
                    <a:pt x="2653917" y="957202"/>
                  </a:lnTo>
                  <a:lnTo>
                    <a:pt x="2782615" y="890174"/>
                  </a:lnTo>
                  <a:lnTo>
                    <a:pt x="2910627" y="825102"/>
                  </a:lnTo>
                  <a:lnTo>
                    <a:pt x="3037938" y="763287"/>
                  </a:lnTo>
                  <a:lnTo>
                    <a:pt x="3164535" y="705938"/>
                  </a:lnTo>
                  <a:lnTo>
                    <a:pt x="3290405" y="654133"/>
                  </a:lnTo>
                  <a:lnTo>
                    <a:pt x="3415557" y="608795"/>
                  </a:lnTo>
                  <a:lnTo>
                    <a:pt x="3540030" y="570670"/>
                  </a:lnTo>
                  <a:lnTo>
                    <a:pt x="3663905" y="540309"/>
                  </a:lnTo>
                  <a:lnTo>
                    <a:pt x="3787318" y="518073"/>
                  </a:lnTo>
                  <a:lnTo>
                    <a:pt x="3910454" y="504137"/>
                  </a:lnTo>
                  <a:lnTo>
                    <a:pt x="4033534" y="498501"/>
                  </a:lnTo>
                  <a:lnTo>
                    <a:pt x="4156793" y="501004"/>
                  </a:lnTo>
                  <a:lnTo>
                    <a:pt x="4280445" y="511324"/>
                  </a:lnTo>
                  <a:lnTo>
                    <a:pt x="4404668" y="528973"/>
                  </a:lnTo>
                  <a:lnTo>
                    <a:pt x="4529591" y="553291"/>
                  </a:lnTo>
                  <a:lnTo>
                    <a:pt x="4655294" y="583453"/>
                  </a:lnTo>
                  <a:lnTo>
                    <a:pt x="4781817" y="618471"/>
                  </a:lnTo>
                  <a:lnTo>
                    <a:pt x="4909177" y="657215"/>
                  </a:lnTo>
                  <a:lnTo>
                    <a:pt x="5037376" y="698441"/>
                  </a:lnTo>
                  <a:lnTo>
                    <a:pt x="5166413" y="740824"/>
                  </a:lnTo>
                  <a:lnTo>
                    <a:pt x="5296287" y="782989"/>
                  </a:lnTo>
                  <a:lnTo>
                    <a:pt x="5427000" y="823547"/>
                  </a:lnTo>
                  <a:lnTo>
                    <a:pt x="5558551" y="861130"/>
                  </a:lnTo>
                  <a:lnTo>
                    <a:pt x="5690930" y="894424"/>
                  </a:lnTo>
                  <a:lnTo>
                    <a:pt x="5824103" y="922201"/>
                  </a:lnTo>
                  <a:lnTo>
                    <a:pt x="5958005" y="943356"/>
                  </a:lnTo>
                  <a:lnTo>
                    <a:pt x="6092520" y="956942"/>
                  </a:lnTo>
                  <a:lnTo>
                    <a:pt x="6227486" y="962213"/>
                  </a:lnTo>
                  <a:lnTo>
                    <a:pt x="6362695" y="958655"/>
                  </a:lnTo>
                  <a:lnTo>
                    <a:pt x="6497917" y="946017"/>
                  </a:lnTo>
                  <a:lnTo>
                    <a:pt x="6632924" y="924321"/>
                  </a:lnTo>
                  <a:lnTo>
                    <a:pt x="6767518" y="893854"/>
                  </a:lnTo>
                  <a:lnTo>
                    <a:pt x="6901549" y="855148"/>
                  </a:lnTo>
                  <a:lnTo>
                    <a:pt x="7034919" y="808945"/>
                  </a:lnTo>
                  <a:lnTo>
                    <a:pt x="7167578" y="756171"/>
                  </a:lnTo>
                  <a:lnTo>
                    <a:pt x="7299512" y="697897"/>
                  </a:lnTo>
                  <a:lnTo>
                    <a:pt x="7430725" y="635317"/>
                  </a:lnTo>
                  <a:lnTo>
                    <a:pt x="7561234" y="569715"/>
                  </a:lnTo>
                  <a:lnTo>
                    <a:pt x="7691053" y="502438"/>
                  </a:lnTo>
                  <a:lnTo>
                    <a:pt x="7820191" y="434866"/>
                  </a:lnTo>
                  <a:lnTo>
                    <a:pt x="7948648" y="368377"/>
                  </a:lnTo>
                  <a:lnTo>
                    <a:pt x="8076414" y="304314"/>
                  </a:lnTo>
                  <a:lnTo>
                    <a:pt x="8203474" y="243948"/>
                  </a:lnTo>
                  <a:lnTo>
                    <a:pt x="8329814" y="188445"/>
                  </a:lnTo>
                  <a:lnTo>
                    <a:pt x="8455428" y="138833"/>
                  </a:lnTo>
                  <a:lnTo>
                    <a:pt x="8580333" y="95973"/>
                  </a:lnTo>
                  <a:lnTo>
                    <a:pt x="8704582" y="60543"/>
                  </a:lnTo>
                  <a:lnTo>
                    <a:pt x="8828275" y="33027"/>
                  </a:lnTo>
                  <a:lnTo>
                    <a:pt x="8951567" y="13718"/>
                  </a:lnTo>
                  <a:lnTo>
                    <a:pt x="9074656" y="2728"/>
                  </a:lnTo>
                  <a:lnTo>
                    <a:pt x="9197774" y="0"/>
                  </a:lnTo>
                  <a:lnTo>
                    <a:pt x="9321148" y="5316"/>
                  </a:lnTo>
                  <a:lnTo>
                    <a:pt x="9444985" y="18294"/>
                  </a:lnTo>
                  <a:lnTo>
                    <a:pt x="9569444" y="38388"/>
                  </a:lnTo>
                  <a:lnTo>
                    <a:pt x="9694636" y="64878"/>
                  </a:lnTo>
                  <a:lnTo>
                    <a:pt x="9820626" y="96880"/>
                  </a:lnTo>
                  <a:lnTo>
                    <a:pt x="9947444" y="133352"/>
                  </a:lnTo>
                  <a:lnTo>
                    <a:pt x="10075101" y="173122"/>
                  </a:lnTo>
                  <a:lnTo>
                    <a:pt x="10203597" y="214912"/>
                  </a:lnTo>
                  <a:lnTo>
                    <a:pt x="10332634" y="257280"/>
                  </a:lnTo>
                </a:path>
              </a:pathLst>
            </a:custGeom>
            <a:noFill/>
            <a:ln w="4445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nnector 49"/>
            <p:cNvCxnSpPr/>
            <p:nvPr/>
          </p:nvCxnSpPr>
          <p:spPr>
            <a:xfrm>
              <a:off x="1595628" y="3428448"/>
              <a:ext cx="0" cy="503472"/>
            </a:xfrm>
            <a:prstGeom prst="line">
              <a:avLst/>
            </a:prstGeom>
            <a:ln w="25400">
              <a:solidFill>
                <a:srgbClr val="A9B0B8"/>
              </a:solidFill>
              <a:prstDash val="dash"/>
            </a:ln>
          </p:spPr>
        </p:cxnSp>
        <p:sp>
          <p:nvSpPr>
            <p:cNvPr id="51" name="Oval 50"/>
            <p:cNvSpPr/>
            <p:nvPr/>
          </p:nvSpPr>
          <p:spPr>
            <a:xfrm>
              <a:off x="1476756" y="3181560"/>
              <a:ext cx="237744" cy="237744"/>
            </a:xfrm>
            <a:prstGeom prst="ellipse">
              <a:avLst/>
            </a:prstGeom>
            <a:solidFill>
              <a:srgbClr val="E8E8E8"/>
            </a:solidFill>
            <a:ln w="381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3845052" y="2799174"/>
              <a:ext cx="0" cy="1132746"/>
            </a:xfrm>
            <a:prstGeom prst="line">
              <a:avLst/>
            </a:prstGeom>
            <a:ln w="25400">
              <a:solidFill>
                <a:srgbClr val="A9B0B8"/>
              </a:solidFill>
              <a:prstDash val="dash"/>
            </a:ln>
          </p:spPr>
        </p:cxnSp>
        <p:sp>
          <p:nvSpPr>
            <p:cNvPr id="53" name="Oval 52"/>
            <p:cNvSpPr/>
            <p:nvPr/>
          </p:nvSpPr>
          <p:spPr>
            <a:xfrm>
              <a:off x="3726180" y="2552286"/>
              <a:ext cx="237744" cy="237744"/>
            </a:xfrm>
            <a:prstGeom prst="ellipse">
              <a:avLst/>
            </a:prstGeom>
            <a:solidFill>
              <a:srgbClr val="E8E8E8"/>
            </a:solidFill>
            <a:ln w="381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Connector 53"/>
            <p:cNvCxnSpPr/>
            <p:nvPr/>
          </p:nvCxnSpPr>
          <p:spPr>
            <a:xfrm>
              <a:off x="6094475" y="2758039"/>
              <a:ext cx="0" cy="1173881"/>
            </a:xfrm>
            <a:prstGeom prst="line">
              <a:avLst/>
            </a:prstGeom>
            <a:ln w="25400">
              <a:solidFill>
                <a:srgbClr val="A9B0B8"/>
              </a:solidFill>
              <a:prstDash val="dash"/>
            </a:ln>
          </p:spPr>
        </p:cxnSp>
        <p:sp>
          <p:nvSpPr>
            <p:cNvPr id="55" name="Oval 54"/>
            <p:cNvSpPr/>
            <p:nvPr/>
          </p:nvSpPr>
          <p:spPr>
            <a:xfrm>
              <a:off x="5975603" y="2511151"/>
              <a:ext cx="237744" cy="237744"/>
            </a:xfrm>
            <a:prstGeom prst="ellipse">
              <a:avLst/>
            </a:prstGeom>
            <a:solidFill>
              <a:srgbClr val="E8E8E8"/>
            </a:solidFill>
            <a:ln w="381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6" name="Connector 55"/>
            <p:cNvCxnSpPr/>
            <p:nvPr/>
          </p:nvCxnSpPr>
          <p:spPr>
            <a:xfrm>
              <a:off x="8343900" y="2619269"/>
              <a:ext cx="0" cy="1312651"/>
            </a:xfrm>
            <a:prstGeom prst="line">
              <a:avLst/>
            </a:prstGeom>
            <a:ln w="25400">
              <a:solidFill>
                <a:srgbClr val="A9B0B8"/>
              </a:solidFill>
              <a:prstDash val="dash"/>
            </a:ln>
          </p:spPr>
        </p:cxnSp>
        <p:sp>
          <p:nvSpPr>
            <p:cNvPr id="57" name="Oval 56"/>
            <p:cNvSpPr/>
            <p:nvPr/>
          </p:nvSpPr>
          <p:spPr>
            <a:xfrm>
              <a:off x="8225027" y="2372381"/>
              <a:ext cx="237744" cy="237744"/>
            </a:xfrm>
            <a:prstGeom prst="ellipse">
              <a:avLst/>
            </a:prstGeom>
            <a:solidFill>
              <a:srgbClr val="E8E8E8"/>
            </a:solidFill>
            <a:ln w="381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8" name="Connector 57"/>
            <p:cNvCxnSpPr/>
            <p:nvPr/>
          </p:nvCxnSpPr>
          <p:spPr>
            <a:xfrm>
              <a:off x="10593324" y="2073593"/>
              <a:ext cx="0" cy="1858327"/>
            </a:xfrm>
            <a:prstGeom prst="line">
              <a:avLst/>
            </a:prstGeom>
            <a:ln w="25400">
              <a:solidFill>
                <a:srgbClr val="A9B0B8"/>
              </a:solidFill>
              <a:prstDash val="dash"/>
            </a:ln>
          </p:spPr>
        </p:cxnSp>
        <p:sp>
          <p:nvSpPr>
            <p:cNvPr id="59" name="Oval 58"/>
            <p:cNvSpPr/>
            <p:nvPr/>
          </p:nvSpPr>
          <p:spPr>
            <a:xfrm>
              <a:off x="10474451" y="1826705"/>
              <a:ext cx="237744" cy="237744"/>
            </a:xfrm>
            <a:prstGeom prst="ellipse">
              <a:avLst/>
            </a:prstGeom>
            <a:solidFill>
              <a:srgbClr val="E8E8E8"/>
            </a:solidFill>
            <a:ln w="381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" name="CARDS checks" descr="Five check cards, each marked with a question mark: curves, slopes, clearances, piece lengths, connections."/>
          <p:cNvGrpSpPr/>
          <p:nvPr/>
        </p:nvGrpSpPr>
        <p:grpSpPr>
          <a:xfrm>
            <a:off x="548640" y="3931920"/>
            <a:ext cx="11091672" cy="1325880"/>
            <a:chOff x="548640" y="3931920"/>
            <a:chExt cx="11091672" cy="1325880"/>
          </a:xfrm>
        </p:grpSpPr>
        <p:sp>
          <p:nvSpPr>
            <p:cNvPr id="61" name="Rounded Rectangle 60"/>
            <p:cNvSpPr/>
            <p:nvPr/>
          </p:nvSpPr>
          <p:spPr>
            <a:xfrm>
              <a:off x="548640" y="3931920"/>
              <a:ext cx="2093976" cy="1325880"/>
            </a:xfrm>
            <a:prstGeom prst="roundRect">
              <a:avLst>
                <a:gd name="adj" fmla="val 551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94360" y="4041648"/>
              <a:ext cx="2002536" cy="45720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Curves</a:t>
              </a:r>
            </a:p>
          </p:txBody>
        </p:sp>
        <p:sp>
          <p:nvSpPr>
            <p:cNvPr id="63" name="QBADGE"/>
            <p:cNvSpPr/>
            <p:nvPr/>
          </p:nvSpPr>
          <p:spPr>
            <a:xfrm>
              <a:off x="1367028" y="4599432"/>
              <a:ext cx="457200" cy="457200"/>
            </a:xfrm>
            <a:prstGeom prst="ellipse">
              <a:avLst/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?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2798064" y="3931920"/>
              <a:ext cx="2093976" cy="1325880"/>
            </a:xfrm>
            <a:prstGeom prst="roundRect">
              <a:avLst>
                <a:gd name="adj" fmla="val 551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843784" y="4041648"/>
              <a:ext cx="2002536" cy="45720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Slopes</a:t>
              </a:r>
            </a:p>
          </p:txBody>
        </p:sp>
        <p:sp>
          <p:nvSpPr>
            <p:cNvPr id="66" name="QBADGE"/>
            <p:cNvSpPr/>
            <p:nvPr/>
          </p:nvSpPr>
          <p:spPr>
            <a:xfrm>
              <a:off x="3616452" y="4599432"/>
              <a:ext cx="457200" cy="457200"/>
            </a:xfrm>
            <a:prstGeom prst="ellipse">
              <a:avLst/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?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5047488" y="3931920"/>
              <a:ext cx="2093976" cy="1325880"/>
            </a:xfrm>
            <a:prstGeom prst="roundRect">
              <a:avLst>
                <a:gd name="adj" fmla="val 551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093207" y="4041648"/>
              <a:ext cx="2002536" cy="45720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Clearances</a:t>
              </a:r>
            </a:p>
          </p:txBody>
        </p:sp>
        <p:sp>
          <p:nvSpPr>
            <p:cNvPr id="69" name="QBADGE"/>
            <p:cNvSpPr/>
            <p:nvPr/>
          </p:nvSpPr>
          <p:spPr>
            <a:xfrm>
              <a:off x="5865875" y="4599432"/>
              <a:ext cx="457200" cy="457200"/>
            </a:xfrm>
            <a:prstGeom prst="ellipse">
              <a:avLst/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?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7296912" y="3931920"/>
              <a:ext cx="2093976" cy="1325880"/>
            </a:xfrm>
            <a:prstGeom prst="roundRect">
              <a:avLst>
                <a:gd name="adj" fmla="val 551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342631" y="4041648"/>
              <a:ext cx="2002536" cy="45720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Piece lengths</a:t>
              </a:r>
            </a:p>
          </p:txBody>
        </p:sp>
        <p:sp>
          <p:nvSpPr>
            <p:cNvPr id="72" name="QBADGE"/>
            <p:cNvSpPr/>
            <p:nvPr/>
          </p:nvSpPr>
          <p:spPr>
            <a:xfrm>
              <a:off x="8115300" y="4599432"/>
              <a:ext cx="457200" cy="457200"/>
            </a:xfrm>
            <a:prstGeom prst="ellipse">
              <a:avLst/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?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9546336" y="3931920"/>
              <a:ext cx="2093976" cy="1325880"/>
            </a:xfrm>
            <a:prstGeom prst="roundRect">
              <a:avLst>
                <a:gd name="adj" fmla="val 551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9592056" y="4041648"/>
              <a:ext cx="2002536" cy="45720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Connections</a:t>
              </a:r>
            </a:p>
          </p:txBody>
        </p:sp>
        <p:sp>
          <p:nvSpPr>
            <p:cNvPr id="75" name="QBADGE"/>
            <p:cNvSpPr/>
            <p:nvPr/>
          </p:nvSpPr>
          <p:spPr>
            <a:xfrm>
              <a:off x="10364724" y="4599432"/>
              <a:ext cx="457200" cy="457200"/>
            </a:xfrm>
            <a:prstGeom prst="ellipse">
              <a:avLst/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?</a:t>
              </a:r>
            </a:p>
          </p:txBody>
        </p:sp>
      </p:grpSp>
      <p:sp>
        <p:nvSpPr>
          <p:cNvPr id="76" name="FOOTER"/>
          <p:cNvSpPr txBox="1"/>
          <p:nvPr/>
        </p:nvSpPr>
        <p:spPr>
          <a:xfrm>
            <a:off x="9784080" y="5349240"/>
            <a:ext cx="1856231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OQ12</a:t>
            </a:r>
          </a:p>
        </p:txBody>
      </p:sp>
      <p:sp>
        <p:nvSpPr>
          <p:cNvPr id="77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Not every shape may convert. Exact copies are not promised yet.</a:t>
            </a:r>
          </a:p>
        </p:txBody>
      </p:sp>
      <p:sp>
        <p:nvSpPr>
          <p:cNvPr id="80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Stations change too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grpSp>
        <p:nvGrpSpPr>
          <p:cNvPr id="4" name="DIAGRAM station replacement" descr="Plan view: a large dashed steam station with water tower, coal stage, signal box and platform blocks, replaced by a small solid electric station on the same track."/>
          <p:cNvGrpSpPr/>
          <p:nvPr/>
        </p:nvGrpSpPr>
        <p:grpSpPr>
          <a:xfrm>
            <a:off x="731520" y="1508760"/>
            <a:ext cx="10881360" cy="3703320"/>
            <a:chOff x="731520" y="1508760"/>
            <a:chExt cx="10881360" cy="3703320"/>
          </a:xfrm>
        </p:grpSpPr>
        <p:sp>
          <p:nvSpPr>
            <p:cNvPr id="5" name="Rectangle 4"/>
            <p:cNvSpPr/>
            <p:nvPr/>
          </p:nvSpPr>
          <p:spPr>
            <a:xfrm>
              <a:off x="82296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8872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55448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2024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28600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65176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1752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383279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749039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1480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48056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84632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21208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57784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94360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30936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67512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04088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40664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77240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13816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50392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86968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23544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60120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96696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33272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69848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106424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430000" y="3547872"/>
              <a:ext cx="54864" cy="420624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31520" y="3611880"/>
              <a:ext cx="1088136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31520" y="3849624"/>
              <a:ext cx="1088136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31520" y="1508760"/>
              <a:ext cx="5852160" cy="3703320"/>
            </a:xfrm>
            <a:prstGeom prst="roundRect">
              <a:avLst>
                <a:gd name="adj" fmla="val 2469"/>
              </a:avLst>
            </a:prstGeom>
            <a:noFill/>
            <a:ln w="31750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14400" y="1572768"/>
              <a:ext cx="274320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8C28"/>
                  </a:solidFill>
                  <a:latin typeface="Arial"/>
                </a:rPr>
                <a:t>Steam station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05840" y="2240280"/>
              <a:ext cx="1554480" cy="731520"/>
            </a:xfrm>
            <a:prstGeom prst="roundRect">
              <a:avLst>
                <a:gd name="adj" fmla="val 6250"/>
              </a:avLst>
            </a:prstGeom>
            <a:solidFill>
              <a:srgbClr val="4A515B"/>
            </a:solidFill>
            <a:ln>
              <a:noFill/>
            </a:ln>
          </p:spPr>
          <p:txBody>
            <a:bodyPr rtlCol="0" anchor="ctr" wrap="square" lIns="54864" tIns="27432" rIns="54864" bIns="27432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Coal stage</a:t>
              </a:r>
            </a:p>
          </p:txBody>
        </p:sp>
        <p:cxnSp>
          <p:nvCxnSpPr>
            <p:cNvPr id="40" name="Connector 39"/>
            <p:cNvCxnSpPr/>
            <p:nvPr/>
          </p:nvCxnSpPr>
          <p:spPr>
            <a:xfrm>
              <a:off x="1783080" y="2971800"/>
              <a:ext cx="0" cy="59436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sp>
          <p:nvSpPr>
            <p:cNvPr id="41" name="Oval 40"/>
            <p:cNvSpPr/>
            <p:nvPr/>
          </p:nvSpPr>
          <p:spPr>
            <a:xfrm>
              <a:off x="3611880" y="2057400"/>
              <a:ext cx="1051560" cy="1051560"/>
            </a:xfrm>
            <a:prstGeom prst="ellipse">
              <a:avLst/>
            </a:prstGeom>
            <a:solidFill>
              <a:srgbClr val="2F5A86"/>
            </a:solidFill>
            <a:ln w="31750">
              <a:solidFill>
                <a:srgbClr val="4DA3FF"/>
              </a:solidFill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Water tower</a:t>
              </a:r>
            </a:p>
          </p:txBody>
        </p:sp>
        <p:cxnSp>
          <p:nvCxnSpPr>
            <p:cNvPr id="42" name="Connector 41"/>
            <p:cNvCxnSpPr/>
            <p:nvPr/>
          </p:nvCxnSpPr>
          <p:spPr>
            <a:xfrm>
              <a:off x="4133087" y="3108960"/>
              <a:ext cx="0" cy="457200"/>
            </a:xfrm>
            <a:prstGeom prst="line">
              <a:avLst/>
            </a:prstGeom>
            <a:ln w="38100">
              <a:solidFill>
                <a:srgbClr val="4DA3FF"/>
              </a:solidFill>
            </a:ln>
          </p:spPr>
        </p:cxnSp>
        <p:sp>
          <p:nvSpPr>
            <p:cNvPr id="43" name="Rectangle 42"/>
            <p:cNvSpPr/>
            <p:nvPr/>
          </p:nvSpPr>
          <p:spPr>
            <a:xfrm>
              <a:off x="1737360" y="4114800"/>
              <a:ext cx="1115568" cy="457200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 wrap="square" lIns="54864" tIns="27432" rIns="54864" bIns="27432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/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926080" y="4114800"/>
              <a:ext cx="1115568" cy="457200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 wrap="square" lIns="54864" tIns="27432" rIns="54864" bIns="27432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Platform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114800" y="4114800"/>
              <a:ext cx="1115568" cy="457200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 wrap="square" lIns="54864" tIns="27432" rIns="54864" bIns="27432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/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440680" y="4297680"/>
              <a:ext cx="777240" cy="457200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5349240" y="4005072"/>
              <a:ext cx="960120" cy="292608"/>
            </a:xfrm>
            <a:custGeom>
              <a:avLst/>
              <a:gdLst/>
              <a:ahLst/>
              <a:cxnLst/>
              <a:rect l="l" t="t" r="r" b="b"/>
              <a:pathLst>
                <a:path w="960120" h="292608">
                  <a:moveTo>
                    <a:pt x="0" y="292608"/>
                  </a:moveTo>
                  <a:lnTo>
                    <a:pt x="480060" y="0"/>
                  </a:lnTo>
                  <a:lnTo>
                    <a:pt x="960120" y="292608"/>
                  </a:lnTo>
                  <a:close/>
                </a:path>
              </a:pathLst>
            </a:custGeom>
            <a:solidFill>
              <a:srgbClr val="59616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212080" y="4800600"/>
              <a:ext cx="1280160" cy="3200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Signal box</a:t>
              </a:r>
            </a:p>
          </p:txBody>
        </p:sp>
        <p:cxnSp>
          <p:nvCxnSpPr>
            <p:cNvPr id="49" name="Connector 48"/>
            <p:cNvCxnSpPr/>
            <p:nvPr/>
          </p:nvCxnSpPr>
          <p:spPr>
            <a:xfrm>
              <a:off x="6766560" y="2468880"/>
              <a:ext cx="1920240" cy="0"/>
            </a:xfrm>
            <a:prstGeom prst="line">
              <a:avLst/>
            </a:prstGeom>
            <a:ln w="50800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50" name="TextBox 49"/>
            <p:cNvSpPr txBox="1"/>
            <p:nvPr/>
          </p:nvSpPr>
          <p:spPr>
            <a:xfrm>
              <a:off x="6675120" y="2578608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Aligned replacement, not a morph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144000" y="1572768"/>
              <a:ext cx="246888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800" b="1" i="0" lang="en-GB">
                  <a:solidFill>
                    <a:srgbClr val="6CA0DC"/>
                  </a:solidFill>
                  <a:latin typeface="Arial"/>
                </a:rPr>
                <a:t>Electric station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9464040" y="2606040"/>
              <a:ext cx="1371600" cy="777240"/>
            </a:xfrm>
            <a:prstGeom prst="roundRect">
              <a:avLst>
                <a:gd name="adj" fmla="val 5882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9646920" y="2788920"/>
              <a:ext cx="411480" cy="320040"/>
            </a:xfrm>
            <a:prstGeom prst="rect">
              <a:avLst/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0241280" y="2788920"/>
              <a:ext cx="411480" cy="320040"/>
            </a:xfrm>
            <a:prstGeom prst="rect">
              <a:avLst/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235440" y="4114800"/>
              <a:ext cx="2011680" cy="411480"/>
            </a:xfrm>
            <a:prstGeom prst="rect">
              <a:avLst/>
            </a:prstGeom>
            <a:solidFill>
              <a:srgbClr val="343A43"/>
            </a:solidFill>
            <a:ln w="31750">
              <a:solidFill>
                <a:srgbClr val="6CA0D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6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A big steam station is replaced by a compact electric one on the same line.</a:t>
            </a:r>
          </a:p>
        </p:txBody>
      </p:sp>
      <p:sp>
        <p:nvSpPr>
          <p:cNvPr id="59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Names and timetables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grpSp>
        <p:nvGrpSpPr>
          <p:cNvPr id="4" name="DIAGRAM station card" descr="A station card with a name bar and a timetable list, each ticked as kept where possible."/>
          <p:cNvGrpSpPr/>
          <p:nvPr/>
        </p:nvGrpSpPr>
        <p:grpSpPr>
          <a:xfrm>
            <a:off x="548640" y="1371600"/>
            <a:ext cx="5577840" cy="3886200"/>
            <a:chOff x="548640" y="1371600"/>
            <a:chExt cx="5577840" cy="388620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71600"/>
              <a:ext cx="5577840" cy="3886200"/>
            </a:xfrm>
            <a:prstGeom prst="roundRect">
              <a:avLst>
                <a:gd name="adj" fmla="val 188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77240" y="1600200"/>
              <a:ext cx="5120640" cy="685800"/>
            </a:xfrm>
            <a:prstGeom prst="roundRect">
              <a:avLst>
                <a:gd name="adj" fmla="val 8000"/>
              </a:avLst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60120" y="1600200"/>
              <a:ext cx="3474720" cy="68580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Station name</a:t>
              </a:r>
            </a:p>
          </p:txBody>
        </p:sp>
        <p:grpSp>
          <p:nvGrpSpPr>
            <p:cNvPr id="8" name="TICK" descr="Green tick"/>
            <p:cNvGrpSpPr/>
            <p:nvPr/>
          </p:nvGrpSpPr>
          <p:grpSpPr>
            <a:xfrm>
              <a:off x="5303520" y="1714500"/>
              <a:ext cx="457200" cy="457200"/>
              <a:chOff x="5303520" y="1714500"/>
              <a:chExt cx="457200" cy="457200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5303520" y="1714500"/>
                <a:ext cx="457200" cy="457200"/>
              </a:xfrm>
              <a:prstGeom prst="ellipse">
                <a:avLst/>
              </a:prstGeom>
              <a:solidFill>
                <a:srgbClr val="3FB950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5422392" y="1860804"/>
                <a:ext cx="228600" cy="173736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73736">
                    <a:moveTo>
                      <a:pt x="0" y="82296"/>
                    </a:moveTo>
                    <a:lnTo>
                      <a:pt x="77724" y="173736"/>
                    </a:lnTo>
                    <a:lnTo>
                      <a:pt x="228600" y="0"/>
                    </a:lnTo>
                  </a:path>
                </a:pathLst>
              </a:custGeom>
              <a:noFill/>
              <a:ln w="44450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777240" y="2423160"/>
              <a:ext cx="2743200" cy="3200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400" b="1" i="0" lang="en-GB">
                  <a:solidFill>
                    <a:srgbClr val="A9B0B8"/>
                  </a:solidFill>
                  <a:latin typeface="Arial"/>
                </a:rPr>
                <a:t>Timetable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77240" y="2788920"/>
              <a:ext cx="5120640" cy="438912"/>
            </a:xfrm>
            <a:prstGeom prst="roundRect">
              <a:avLst>
                <a:gd name="adj" fmla="val 12500"/>
              </a:avLst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960120" y="2889503"/>
              <a:ext cx="237744" cy="237744"/>
            </a:xfrm>
            <a:prstGeom prst="ellipse">
              <a:avLst/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417320" y="2935224"/>
              <a:ext cx="2377440" cy="146304"/>
            </a:xfrm>
            <a:prstGeom prst="roundRect">
              <a:avLst>
                <a:gd name="adj" fmla="val 25000"/>
              </a:avLst>
            </a:prstGeom>
            <a:solidFill>
              <a:srgbClr val="59616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5" name="TICK" descr="Green tick"/>
            <p:cNvGrpSpPr/>
            <p:nvPr/>
          </p:nvGrpSpPr>
          <p:grpSpPr>
            <a:xfrm>
              <a:off x="5358383" y="2834640"/>
              <a:ext cx="347472" cy="347472"/>
              <a:chOff x="5358383" y="2834640"/>
              <a:chExt cx="347472" cy="347472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5358383" y="2834640"/>
                <a:ext cx="347472" cy="347472"/>
              </a:xfrm>
              <a:prstGeom prst="ellipse">
                <a:avLst/>
              </a:prstGeom>
              <a:solidFill>
                <a:srgbClr val="3FB950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Freeform 16"/>
              <p:cNvSpPr/>
              <p:nvPr/>
            </p:nvSpPr>
            <p:spPr>
              <a:xfrm>
                <a:off x="5448726" y="2945831"/>
                <a:ext cx="173736" cy="132039"/>
              </a:xfrm>
              <a:custGeom>
                <a:avLst/>
                <a:gdLst/>
                <a:ahLst/>
                <a:cxnLst/>
                <a:rect l="l" t="t" r="r" b="b"/>
                <a:pathLst>
                  <a:path w="173736" h="132039">
                    <a:moveTo>
                      <a:pt x="0" y="62545"/>
                    </a:moveTo>
                    <a:lnTo>
                      <a:pt x="59070" y="132039"/>
                    </a:lnTo>
                    <a:lnTo>
                      <a:pt x="173736" y="0"/>
                    </a:lnTo>
                  </a:path>
                </a:pathLst>
              </a:custGeom>
              <a:noFill/>
              <a:ln w="44450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777240" y="3319272"/>
              <a:ext cx="5120640" cy="438912"/>
            </a:xfrm>
            <a:prstGeom prst="roundRect">
              <a:avLst>
                <a:gd name="adj" fmla="val 12500"/>
              </a:avLst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960120" y="3419856"/>
              <a:ext cx="237744" cy="237744"/>
            </a:xfrm>
            <a:prstGeom prst="ellipse">
              <a:avLst/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417320" y="3465576"/>
              <a:ext cx="2926080" cy="146304"/>
            </a:xfrm>
            <a:prstGeom prst="roundRect">
              <a:avLst>
                <a:gd name="adj" fmla="val 25000"/>
              </a:avLst>
            </a:prstGeom>
            <a:solidFill>
              <a:srgbClr val="59616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1" name="TICK" descr="Green tick"/>
            <p:cNvGrpSpPr/>
            <p:nvPr/>
          </p:nvGrpSpPr>
          <p:grpSpPr>
            <a:xfrm>
              <a:off x="5358383" y="3364992"/>
              <a:ext cx="347472" cy="347472"/>
              <a:chOff x="5358383" y="3364992"/>
              <a:chExt cx="347472" cy="347472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5358383" y="3364992"/>
                <a:ext cx="347472" cy="347472"/>
              </a:xfrm>
              <a:prstGeom prst="ellipse">
                <a:avLst/>
              </a:prstGeom>
              <a:solidFill>
                <a:srgbClr val="3FB950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Freeform 22"/>
              <p:cNvSpPr/>
              <p:nvPr/>
            </p:nvSpPr>
            <p:spPr>
              <a:xfrm>
                <a:off x="5448726" y="3476183"/>
                <a:ext cx="173736" cy="132039"/>
              </a:xfrm>
              <a:custGeom>
                <a:avLst/>
                <a:gdLst/>
                <a:ahLst/>
                <a:cxnLst/>
                <a:rect l="l" t="t" r="r" b="b"/>
                <a:pathLst>
                  <a:path w="173736" h="132039">
                    <a:moveTo>
                      <a:pt x="0" y="62545"/>
                    </a:moveTo>
                    <a:lnTo>
                      <a:pt x="59070" y="132039"/>
                    </a:lnTo>
                    <a:lnTo>
                      <a:pt x="173736" y="0"/>
                    </a:lnTo>
                  </a:path>
                </a:pathLst>
              </a:custGeom>
              <a:noFill/>
              <a:ln w="44450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4" name="Rounded Rectangle 23"/>
            <p:cNvSpPr/>
            <p:nvPr/>
          </p:nvSpPr>
          <p:spPr>
            <a:xfrm>
              <a:off x="777240" y="3849624"/>
              <a:ext cx="5120640" cy="438912"/>
            </a:xfrm>
            <a:prstGeom prst="roundRect">
              <a:avLst>
                <a:gd name="adj" fmla="val 12500"/>
              </a:avLst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960120" y="3950208"/>
              <a:ext cx="237744" cy="237744"/>
            </a:xfrm>
            <a:prstGeom prst="ellipse">
              <a:avLst/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417320" y="3995928"/>
              <a:ext cx="1828800" cy="146304"/>
            </a:xfrm>
            <a:prstGeom prst="roundRect">
              <a:avLst>
                <a:gd name="adj" fmla="val 25000"/>
              </a:avLst>
            </a:prstGeom>
            <a:solidFill>
              <a:srgbClr val="59616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7" name="TICK" descr="Green tick"/>
            <p:cNvGrpSpPr/>
            <p:nvPr/>
          </p:nvGrpSpPr>
          <p:grpSpPr>
            <a:xfrm>
              <a:off x="5358383" y="3895344"/>
              <a:ext cx="347472" cy="347472"/>
              <a:chOff x="5358383" y="3895344"/>
              <a:chExt cx="347472" cy="347472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5358383" y="3895344"/>
                <a:ext cx="347472" cy="347472"/>
              </a:xfrm>
              <a:prstGeom prst="ellipse">
                <a:avLst/>
              </a:prstGeom>
              <a:solidFill>
                <a:srgbClr val="3FB950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Freeform 28"/>
              <p:cNvSpPr/>
              <p:nvPr/>
            </p:nvSpPr>
            <p:spPr>
              <a:xfrm>
                <a:off x="5448726" y="4006535"/>
                <a:ext cx="173736" cy="132039"/>
              </a:xfrm>
              <a:custGeom>
                <a:avLst/>
                <a:gdLst/>
                <a:ahLst/>
                <a:cxnLst/>
                <a:rect l="l" t="t" r="r" b="b"/>
                <a:pathLst>
                  <a:path w="173736" h="132039">
                    <a:moveTo>
                      <a:pt x="0" y="62545"/>
                    </a:moveTo>
                    <a:lnTo>
                      <a:pt x="59070" y="132039"/>
                    </a:lnTo>
                    <a:lnTo>
                      <a:pt x="173736" y="0"/>
                    </a:lnTo>
                  </a:path>
                </a:pathLst>
              </a:custGeom>
              <a:noFill/>
              <a:ln w="44450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0" name="Rounded Rectangle 29"/>
            <p:cNvSpPr/>
            <p:nvPr/>
          </p:nvSpPr>
          <p:spPr>
            <a:xfrm>
              <a:off x="1371600" y="4526280"/>
              <a:ext cx="3657600" cy="502920"/>
            </a:xfrm>
            <a:prstGeom prst="roundRect">
              <a:avLst>
                <a:gd name="adj" fmla="val 49090"/>
              </a:avLst>
            </a:prstGeom>
            <a:noFill/>
            <a:ln w="31750">
              <a:solidFill>
                <a:srgbClr val="3FB950"/>
              </a:solidFill>
            </a:ln>
          </p:spPr>
          <p:txBody>
            <a:bodyPr rtlCol="0" anchor="ctr" wrap="square" lIns="54864" tIns="27432" rIns="54864" bIns="27432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Kept where possible</a:t>
              </a:r>
            </a:p>
          </p:txBody>
        </p:sp>
      </p:grpSp>
      <p:grpSp>
        <p:nvGrpSpPr>
          <p:cNvPr id="31" name="DIAGRAM removed gear" descr="A coal stage and a water tower drawn hatched and faded, labelled Removed: the old coal and water gear goes."/>
          <p:cNvGrpSpPr/>
          <p:nvPr/>
        </p:nvGrpSpPr>
        <p:grpSpPr>
          <a:xfrm>
            <a:off x="6766560" y="1417320"/>
            <a:ext cx="4846320" cy="3200400"/>
            <a:chOff x="6766560" y="1417320"/>
            <a:chExt cx="4846320" cy="3200400"/>
          </a:xfrm>
        </p:grpSpPr>
        <p:sp>
          <p:nvSpPr>
            <p:cNvPr id="32" name="TextBox 31"/>
            <p:cNvSpPr txBox="1"/>
            <p:nvPr/>
          </p:nvSpPr>
          <p:spPr>
            <a:xfrm>
              <a:off x="6766560" y="1417320"/>
              <a:ext cx="4846320" cy="5486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800" b="1" i="0" lang="en-GB">
                  <a:solidFill>
                    <a:srgbClr val="F2F2F2"/>
                  </a:solidFill>
                  <a:latin typeface="Arial"/>
                </a:rPr>
                <a:t>Removed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6949440" y="4160520"/>
              <a:ext cx="4572000" cy="0"/>
            </a:xfrm>
            <a:prstGeom prst="line">
              <a:avLst/>
            </a:prstGeom>
            <a:ln w="25400">
              <a:solidFill>
                <a:srgbClr val="59616C"/>
              </a:solidFill>
              <a:prstDash val="dash"/>
            </a:ln>
          </p:spPr>
        </p:cxnSp>
        <p:sp>
          <p:nvSpPr>
            <p:cNvPr id="34" name="Rectangle 33"/>
            <p:cNvSpPr/>
            <p:nvPr/>
          </p:nvSpPr>
          <p:spPr>
            <a:xfrm>
              <a:off x="7360920" y="3246120"/>
              <a:ext cx="109728" cy="914400"/>
            </a:xfrm>
            <a:prstGeom prst="rect">
              <a:avLst/>
            </a:prstGeom>
            <a:pattFill prst="wdUpDiag">
              <a:fgClr>
                <a:srgbClr val="6A727D"/>
              </a:fgClr>
              <a:bgClr>
                <a:srgbClr val="1E2126"/>
              </a:bgClr>
            </a:pattFill>
            <a:ln w="19050">
              <a:solidFill>
                <a:srgbClr val="59616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092440" y="3246120"/>
              <a:ext cx="109728" cy="914400"/>
            </a:xfrm>
            <a:prstGeom prst="rect">
              <a:avLst/>
            </a:prstGeom>
            <a:pattFill prst="wdUpDiag">
              <a:fgClr>
                <a:srgbClr val="6A727D"/>
              </a:fgClr>
              <a:bgClr>
                <a:srgbClr val="1E2126"/>
              </a:bgClr>
            </a:pattFill>
            <a:ln w="19050">
              <a:solidFill>
                <a:srgbClr val="59616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823960" y="3246120"/>
              <a:ext cx="109728" cy="914400"/>
            </a:xfrm>
            <a:prstGeom prst="rect">
              <a:avLst/>
            </a:prstGeom>
            <a:pattFill prst="wdUpDiag">
              <a:fgClr>
                <a:srgbClr val="6A727D"/>
              </a:fgClr>
              <a:bgClr>
                <a:srgbClr val="1E2126"/>
              </a:bgClr>
            </a:pattFill>
            <a:ln w="19050">
              <a:solidFill>
                <a:srgbClr val="59616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178040" y="3063240"/>
              <a:ext cx="1828800" cy="182880"/>
            </a:xfrm>
            <a:prstGeom prst="rect">
              <a:avLst/>
            </a:prstGeom>
            <a:pattFill prst="wdUpDiag">
              <a:fgClr>
                <a:srgbClr val="6A727D"/>
              </a:fgClr>
              <a:bgClr>
                <a:srgbClr val="1E2126"/>
              </a:bgClr>
            </a:pattFill>
            <a:ln w="19050">
              <a:solidFill>
                <a:srgbClr val="59616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7406640" y="2423160"/>
              <a:ext cx="1371600" cy="640080"/>
            </a:xfrm>
            <a:custGeom>
              <a:avLst/>
              <a:gdLst/>
              <a:ahLst/>
              <a:cxnLst/>
              <a:rect l="l" t="t" r="r" b="b"/>
              <a:pathLst>
                <a:path w="1371600" h="640080">
                  <a:moveTo>
                    <a:pt x="0" y="640080"/>
                  </a:moveTo>
                  <a:lnTo>
                    <a:pt x="365760" y="137160"/>
                  </a:lnTo>
                  <a:lnTo>
                    <a:pt x="914400" y="0"/>
                  </a:lnTo>
                  <a:lnTo>
                    <a:pt x="1371600" y="640080"/>
                  </a:lnTo>
                  <a:close/>
                </a:path>
              </a:pathLst>
            </a:custGeom>
            <a:noFill/>
            <a:ln w="25400">
              <a:solidFill>
                <a:srgbClr val="59616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9006840" y="3108960"/>
              <a:ext cx="594360" cy="640079"/>
            </a:xfrm>
            <a:custGeom>
              <a:avLst/>
              <a:gdLst/>
              <a:ahLst/>
              <a:cxnLst/>
              <a:rect l="l" t="t" r="r" b="b"/>
              <a:pathLst>
                <a:path w="594360" h="640079">
                  <a:moveTo>
                    <a:pt x="0" y="0"/>
                  </a:moveTo>
                  <a:lnTo>
                    <a:pt x="457200" y="640079"/>
                  </a:lnTo>
                  <a:lnTo>
                    <a:pt x="594360" y="640079"/>
                  </a:lnTo>
                  <a:lnTo>
                    <a:pt x="182880" y="0"/>
                  </a:lnTo>
                  <a:close/>
                </a:path>
              </a:pathLst>
            </a:custGeom>
            <a:noFill/>
            <a:ln w="25400">
              <a:solidFill>
                <a:srgbClr val="59616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0195560" y="3383280"/>
              <a:ext cx="109728" cy="777239"/>
            </a:xfrm>
            <a:prstGeom prst="rect">
              <a:avLst/>
            </a:prstGeom>
            <a:pattFill prst="wdUpDiag">
              <a:fgClr>
                <a:srgbClr val="6A727D"/>
              </a:fgClr>
              <a:bgClr>
                <a:srgbClr val="1E2126"/>
              </a:bgClr>
            </a:pattFill>
            <a:ln w="19050">
              <a:solidFill>
                <a:srgbClr val="59616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0972800" y="3383280"/>
              <a:ext cx="109728" cy="777239"/>
            </a:xfrm>
            <a:prstGeom prst="rect">
              <a:avLst/>
            </a:prstGeom>
            <a:pattFill prst="wdUpDiag">
              <a:fgClr>
                <a:srgbClr val="6A727D"/>
              </a:fgClr>
              <a:bgClr>
                <a:srgbClr val="1E2126"/>
              </a:bgClr>
            </a:pattFill>
            <a:ln w="19050">
              <a:solidFill>
                <a:srgbClr val="59616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10012680" y="2331720"/>
              <a:ext cx="1280160" cy="1005840"/>
            </a:xfrm>
            <a:prstGeom prst="roundRect">
              <a:avLst>
                <a:gd name="adj" fmla="val 10909"/>
              </a:avLst>
            </a:prstGeom>
            <a:pattFill prst="wdUpDiag">
              <a:fgClr>
                <a:srgbClr val="6A727D"/>
              </a:fgClr>
              <a:bgClr>
                <a:srgbClr val="1E2126"/>
              </a:bgClr>
            </a:pattFill>
            <a:ln w="19050">
              <a:solidFill>
                <a:srgbClr val="59616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040880" y="4297680"/>
              <a:ext cx="2468880" cy="3200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A9B0B8"/>
                  </a:solidFill>
                  <a:latin typeface="Arial"/>
                </a:rPr>
                <a:t>Coal stage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692640" y="4297680"/>
              <a:ext cx="1920240" cy="3200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A9B0B8"/>
                  </a:solidFill>
                  <a:latin typeface="Arial"/>
                </a:rPr>
                <a:t>Water tower</a:t>
              </a:r>
            </a:p>
          </p:txBody>
        </p:sp>
      </p:grpSp>
      <p:sp>
        <p:nvSpPr>
          <p:cNvPr id="45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Your station name and timetable could carry over. Old coal and water gear is removed.</a:t>
            </a:r>
          </a:p>
        </p:txBody>
      </p:sp>
      <p:sp>
        <p:nvSpPr>
          <p:cNvPr id="48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Signals change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grpSp>
        <p:nvGrpSpPr>
          <p:cNvPr id="4" name="DIAGRAM semaphore" descr="Silhouette of a mechanical semaphore signal with a flat arm."/>
          <p:cNvGrpSpPr/>
          <p:nvPr/>
        </p:nvGrpSpPr>
        <p:grpSpPr>
          <a:xfrm>
            <a:off x="548640" y="1371600"/>
            <a:ext cx="4023360" cy="4023360"/>
            <a:chOff x="548640" y="1371600"/>
            <a:chExt cx="4023360" cy="402336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71600"/>
              <a:ext cx="4023360" cy="4023360"/>
            </a:xfrm>
            <a:prstGeom prst="roundRect">
              <a:avLst>
                <a:gd name="adj" fmla="val 181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432304" y="1965960"/>
              <a:ext cx="164592" cy="2514600"/>
            </a:xfrm>
            <a:prstGeom prst="rect">
              <a:avLst/>
            </a:prstGeom>
            <a:solidFill>
              <a:srgbClr val="C9CE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194560" y="4389120"/>
              <a:ext cx="640080" cy="128016"/>
            </a:xfrm>
            <a:prstGeom prst="rect">
              <a:avLst/>
            </a:prstGeom>
            <a:solidFill>
              <a:srgbClr val="C9CE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468880" y="2103120"/>
              <a:ext cx="1143000" cy="201168"/>
            </a:xfrm>
            <a:prstGeom prst="rect">
              <a:avLst/>
            </a:prstGeom>
            <a:solidFill>
              <a:srgbClr val="C9CE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057400" y="1993392"/>
              <a:ext cx="310896" cy="310896"/>
            </a:xfrm>
            <a:prstGeom prst="ellipse">
              <a:avLst/>
            </a:prstGeom>
            <a:noFill/>
            <a:ln w="38100">
              <a:solidFill>
                <a:srgbClr val="C9CED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0" y="4617720"/>
              <a:ext cx="3657600" cy="64008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Semaphore</a:t>
              </a:r>
            </a:p>
          </p:txBody>
        </p:sp>
      </p:grpSp>
      <p:grpSp>
        <p:nvGrpSpPr>
          <p:cNvPr id="11" name="DIAGRAM electronic signal" descr="Silhouette of an electronic signal with three lamps on a post."/>
          <p:cNvGrpSpPr/>
          <p:nvPr/>
        </p:nvGrpSpPr>
        <p:grpSpPr>
          <a:xfrm>
            <a:off x="7616952" y="1371600"/>
            <a:ext cx="4023360" cy="4023360"/>
            <a:chOff x="7616952" y="1371600"/>
            <a:chExt cx="4023360" cy="4023360"/>
          </a:xfrm>
        </p:grpSpPr>
        <p:sp>
          <p:nvSpPr>
            <p:cNvPr id="12" name="Rounded Rectangle 11"/>
            <p:cNvSpPr/>
            <p:nvPr/>
          </p:nvSpPr>
          <p:spPr>
            <a:xfrm>
              <a:off x="7616952" y="1371600"/>
              <a:ext cx="4023360" cy="4023360"/>
            </a:xfrm>
            <a:prstGeom prst="roundRect">
              <a:avLst>
                <a:gd name="adj" fmla="val 181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546336" y="3291840"/>
              <a:ext cx="164592" cy="1188720"/>
            </a:xfrm>
            <a:prstGeom prst="rect">
              <a:avLst/>
            </a:prstGeom>
            <a:solidFill>
              <a:srgbClr val="C9CE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9308592" y="4389120"/>
              <a:ext cx="640080" cy="128016"/>
            </a:xfrm>
            <a:prstGeom prst="rect">
              <a:avLst/>
            </a:prstGeom>
            <a:solidFill>
              <a:srgbClr val="C9CED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244584" y="1828800"/>
              <a:ext cx="768096" cy="1554480"/>
            </a:xfrm>
            <a:prstGeom prst="roundRect">
              <a:avLst>
                <a:gd name="adj" fmla="val 14285"/>
              </a:avLst>
            </a:prstGeom>
            <a:solidFill>
              <a:srgbClr val="101418"/>
            </a:solidFill>
            <a:ln w="38100">
              <a:solidFill>
                <a:srgbClr val="C9CED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9436607" y="1938528"/>
              <a:ext cx="384048" cy="384048"/>
            </a:xfrm>
            <a:prstGeom prst="ellipse">
              <a:avLst/>
            </a:prstGeom>
            <a:solidFill>
              <a:srgbClr val="5A2A2D"/>
            </a:solidFill>
            <a:ln w="31750">
              <a:solidFill>
                <a:srgbClr val="E5484D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9436607" y="2395728"/>
              <a:ext cx="384048" cy="384048"/>
            </a:xfrm>
            <a:prstGeom prst="ellipse">
              <a:avLst/>
            </a:prstGeom>
            <a:solidFill>
              <a:srgbClr val="5A4C27"/>
            </a:solidFill>
            <a:ln w="31750">
              <a:solidFill>
                <a:srgbClr val="F2C14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9436607" y="2852928"/>
              <a:ext cx="384048" cy="384048"/>
            </a:xfrm>
            <a:prstGeom prst="ellipse">
              <a:avLst/>
            </a:prstGeom>
            <a:solidFill>
              <a:srgbClr val="1F4A2A"/>
            </a:solidFill>
            <a:ln w="31750">
              <a:solidFill>
                <a:srgbClr val="3FB950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799831" y="4617720"/>
              <a:ext cx="3657600" cy="64008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Electronic signal</a:t>
              </a:r>
            </a:p>
          </p:txBody>
        </p:sp>
      </p:grpSp>
      <p:grpSp>
        <p:nvGrpSpPr>
          <p:cNvPr id="20" name="DIAGRAM arrow" descr="An arrow from the semaphore to the electronic signal, marked not yet specified."/>
          <p:cNvGrpSpPr/>
          <p:nvPr/>
        </p:nvGrpSpPr>
        <p:grpSpPr>
          <a:xfrm>
            <a:off x="4754880" y="3200400"/>
            <a:ext cx="2743200" cy="640080"/>
            <a:chOff x="4754880" y="3200400"/>
            <a:chExt cx="2743200" cy="640080"/>
          </a:xfrm>
        </p:grpSpPr>
        <p:cxnSp>
          <p:nvCxnSpPr>
            <p:cNvPr id="21" name="Connector 20"/>
            <p:cNvCxnSpPr/>
            <p:nvPr/>
          </p:nvCxnSpPr>
          <p:spPr>
            <a:xfrm>
              <a:off x="4846320" y="3200400"/>
              <a:ext cx="2560320" cy="0"/>
            </a:xfrm>
            <a:prstGeom prst="line">
              <a:avLst/>
            </a:prstGeom>
            <a:ln w="57150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22" name="TextBox 21"/>
            <p:cNvSpPr txBox="1"/>
            <p:nvPr/>
          </p:nvSpPr>
          <p:spPr>
            <a:xfrm>
              <a:off x="4754880" y="3383280"/>
              <a:ext cx="2743200" cy="45720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Not yet specified</a:t>
              </a:r>
            </a:p>
          </p:txBody>
        </p:sp>
      </p:grpSp>
      <p:sp>
        <p:nvSpPr>
          <p:cNvPr id="23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Mechanical signals may give way to electronic ones. The details are not set.</a:t>
            </a:r>
          </a:p>
        </p:txBody>
      </p:sp>
      <p:sp>
        <p:nvSpPr>
          <p:cNvPr id="26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Mixed networks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grpSp>
        <p:nvGrpSpPr>
          <p:cNvPr id="4" name="DIAGRAM mixed network" descr="A blue electric main line with orange steam branches joining it at three squares labelled Interchange."/>
          <p:cNvGrpSpPr/>
          <p:nvPr/>
        </p:nvGrpSpPr>
        <p:grpSpPr>
          <a:xfrm>
            <a:off x="822960" y="1874519"/>
            <a:ext cx="10515600" cy="3108961"/>
            <a:chOff x="822960" y="1874519"/>
            <a:chExt cx="10515600" cy="3108961"/>
          </a:xfrm>
        </p:grpSpPr>
        <p:sp>
          <p:nvSpPr>
            <p:cNvPr id="5" name="Rounded Rectangle 4"/>
            <p:cNvSpPr/>
            <p:nvPr/>
          </p:nvSpPr>
          <p:spPr>
            <a:xfrm>
              <a:off x="822960" y="3520439"/>
              <a:ext cx="10515600" cy="182880"/>
            </a:xfrm>
            <a:prstGeom prst="roundRect">
              <a:avLst>
                <a:gd name="adj" fmla="val 250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1554480" y="2377439"/>
              <a:ext cx="1554480" cy="1234440"/>
            </a:xfrm>
            <a:custGeom>
              <a:avLst/>
              <a:gdLst/>
              <a:ahLst/>
              <a:cxnLst/>
              <a:rect l="l" t="t" r="r" b="b"/>
              <a:pathLst>
                <a:path w="1554480" h="1234440">
                  <a:moveTo>
                    <a:pt x="1554480" y="1234440"/>
                  </a:moveTo>
                  <a:lnTo>
                    <a:pt x="1554480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6217920" y="3611879"/>
              <a:ext cx="1554480" cy="1188721"/>
            </a:xfrm>
            <a:custGeom>
              <a:avLst/>
              <a:gdLst/>
              <a:ahLst/>
              <a:cxnLst/>
              <a:rect l="l" t="t" r="r" b="b"/>
              <a:pathLst>
                <a:path w="1554480" h="1188721">
                  <a:moveTo>
                    <a:pt x="0" y="0"/>
                  </a:moveTo>
                  <a:lnTo>
                    <a:pt x="0" y="1188721"/>
                  </a:lnTo>
                  <a:lnTo>
                    <a:pt x="1554480" y="1188721"/>
                  </a:lnTo>
                </a:path>
              </a:pathLst>
            </a:custGeom>
            <a:noFill/>
            <a:ln w="762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9326880" y="2377439"/>
              <a:ext cx="1554480" cy="1234440"/>
            </a:xfrm>
            <a:custGeom>
              <a:avLst/>
              <a:gdLst/>
              <a:ahLst/>
              <a:cxnLst/>
              <a:rect l="l" t="t" r="r" b="b"/>
              <a:pathLst>
                <a:path w="1554480" h="1234440">
                  <a:moveTo>
                    <a:pt x="0" y="1234440"/>
                  </a:moveTo>
                  <a:lnTo>
                    <a:pt x="0" y="0"/>
                  </a:lnTo>
                  <a:lnTo>
                    <a:pt x="1554480" y="0"/>
                  </a:lnTo>
                </a:path>
              </a:pathLst>
            </a:custGeom>
            <a:noFill/>
            <a:ln w="762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234440" y="2194559"/>
              <a:ext cx="365760" cy="365760"/>
            </a:xfrm>
            <a:prstGeom prst="ellipse">
              <a:avLst/>
            </a:prstGeom>
            <a:solidFill>
              <a:srgbClr val="F28C28"/>
            </a:solidFill>
            <a:ln w="3175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7726680" y="4617720"/>
              <a:ext cx="365760" cy="365760"/>
            </a:xfrm>
            <a:prstGeom prst="ellipse">
              <a:avLst/>
            </a:prstGeom>
            <a:solidFill>
              <a:srgbClr val="F28C28"/>
            </a:solidFill>
            <a:ln w="3175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0835640" y="2194559"/>
              <a:ext cx="365760" cy="365760"/>
            </a:xfrm>
            <a:prstGeom prst="ellipse">
              <a:avLst/>
            </a:prstGeom>
            <a:solidFill>
              <a:srgbClr val="F28C28"/>
            </a:solidFill>
            <a:ln w="3175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926079" y="3428999"/>
              <a:ext cx="365760" cy="365760"/>
            </a:xfrm>
            <a:prstGeom prst="rect">
              <a:avLst/>
            </a:prstGeom>
            <a:solidFill>
              <a:srgbClr val="E8E8E8"/>
            </a:solidFill>
            <a:ln w="317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6000" y="3886200"/>
              <a:ext cx="1645920" cy="347472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F2F2F2"/>
                  </a:solidFill>
                  <a:latin typeface="Arial"/>
                </a:rPr>
                <a:t>Interchange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035040" y="3428999"/>
              <a:ext cx="365760" cy="365760"/>
            </a:xfrm>
            <a:prstGeom prst="rect">
              <a:avLst/>
            </a:prstGeom>
            <a:solidFill>
              <a:srgbClr val="E8E8E8"/>
            </a:solidFill>
            <a:ln w="317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394959" y="2990087"/>
              <a:ext cx="1645920" cy="347472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F2F2F2"/>
                  </a:solidFill>
                  <a:latin typeface="Arial"/>
                </a:rPr>
                <a:t>Interchange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144000" y="3428999"/>
              <a:ext cx="365760" cy="365760"/>
            </a:xfrm>
            <a:prstGeom prst="rect">
              <a:avLst/>
            </a:prstGeom>
            <a:solidFill>
              <a:srgbClr val="E8E8E8"/>
            </a:solidFill>
            <a:ln w="317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503919" y="3886200"/>
              <a:ext cx="1645920" cy="347472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F2F2F2"/>
                  </a:solidFill>
                  <a:latin typeface="Arial"/>
                </a:rPr>
                <a:t>Interchange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22960" y="2971800"/>
              <a:ext cx="219456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800" b="1" i="0" lang="en-GB">
                  <a:solidFill>
                    <a:srgbClr val="6CA0DC"/>
                  </a:solidFill>
                  <a:latin typeface="Arial"/>
                </a:rPr>
                <a:t>Electric main line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54480" y="1874519"/>
              <a:ext cx="2560320" cy="3657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8C28"/>
                  </a:solidFill>
                  <a:latin typeface="Arial"/>
                </a:rPr>
                <a:t>Steam branches</a:t>
              </a:r>
            </a:p>
          </p:txBody>
        </p:sp>
      </p:grpSp>
      <p:sp>
        <p:nvSpPr>
          <p:cNvPr id="20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Steam branches could live beside an electric main line.</a:t>
            </a:r>
          </a:p>
        </p:txBody>
      </p:sp>
      <p:sp>
        <p:nvSpPr>
          <p:cNvPr id="23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Cargo crosses, trains do not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grpSp>
        <p:nvGrpSpPr>
          <p:cNvPr id="4" name="DIAGRAM steam side" descr="A steam train stopped at a buffer at the end of its own track."/>
          <p:cNvGrpSpPr/>
          <p:nvPr/>
        </p:nvGrpSpPr>
        <p:grpSpPr>
          <a:xfrm>
            <a:off x="640080" y="2980944"/>
            <a:ext cx="3438144" cy="1362456"/>
            <a:chOff x="640080" y="2980944"/>
            <a:chExt cx="3438144" cy="1362456"/>
          </a:xfrm>
        </p:grpSpPr>
        <p:sp>
          <p:nvSpPr>
            <p:cNvPr id="5" name="Rectangle 4"/>
            <p:cNvSpPr/>
            <p:nvPr/>
          </p:nvSpPr>
          <p:spPr>
            <a:xfrm>
              <a:off x="640080" y="3840480"/>
              <a:ext cx="3429000" cy="73152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3291840"/>
              <a:ext cx="1188720" cy="365760"/>
            </a:xfrm>
            <a:prstGeom prst="roundRect">
              <a:avLst>
                <a:gd name="adj" fmla="val 10000"/>
              </a:avLst>
            </a:prstGeom>
            <a:solidFill>
              <a:srgbClr val="6C748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95528" y="3657600"/>
              <a:ext cx="1243584" cy="5486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005840" y="3611880"/>
              <a:ext cx="228600" cy="228600"/>
            </a:xfrm>
            <a:prstGeom prst="ellipse">
              <a:avLst/>
            </a:prstGeom>
            <a:solidFill>
              <a:srgbClr val="101418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600200" y="3611880"/>
              <a:ext cx="228600" cy="228600"/>
            </a:xfrm>
            <a:prstGeom prst="ellipse">
              <a:avLst/>
            </a:prstGeom>
            <a:solidFill>
              <a:srgbClr val="101418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651760" y="3264408"/>
              <a:ext cx="960120" cy="411480"/>
            </a:xfrm>
            <a:prstGeom prst="roundRect">
              <a:avLst>
                <a:gd name="adj" fmla="val 17777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148840" y="2980944"/>
              <a:ext cx="457200" cy="713232"/>
            </a:xfrm>
            <a:prstGeom prst="roundRect">
              <a:avLst>
                <a:gd name="adj" fmla="val 100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221992" y="3072384"/>
              <a:ext cx="274320" cy="23774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429000" y="2980944"/>
              <a:ext cx="146304" cy="310896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926080" y="3163824"/>
              <a:ext cx="237744" cy="182880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148840" y="3621024"/>
              <a:ext cx="1554480" cy="82296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2496312" y="3529584"/>
              <a:ext cx="310896" cy="310896"/>
            </a:xfrm>
            <a:prstGeom prst="ellipse">
              <a:avLst/>
            </a:prstGeom>
            <a:solidFill>
              <a:srgbClr val="101418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862072" y="3529584"/>
              <a:ext cx="310896" cy="310896"/>
            </a:xfrm>
            <a:prstGeom prst="ellipse">
              <a:avLst/>
            </a:prstGeom>
            <a:solidFill>
              <a:srgbClr val="101418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3227832" y="3529584"/>
              <a:ext cx="310896" cy="310896"/>
            </a:xfrm>
            <a:prstGeom prst="ellipse">
              <a:avLst/>
            </a:prstGeom>
            <a:solidFill>
              <a:srgbClr val="101418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931920" y="3337560"/>
              <a:ext cx="146304" cy="548640"/>
            </a:xfrm>
            <a:prstGeom prst="rect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0080" y="4023360"/>
              <a:ext cx="3383280" cy="3200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F28C28"/>
                  </a:solidFill>
                  <a:latin typeface="Arial"/>
                </a:rPr>
                <a:t>Steam network</a:t>
              </a:r>
            </a:p>
          </p:txBody>
        </p:sp>
      </p:grpSp>
      <p:grpSp>
        <p:nvGrpSpPr>
          <p:cNvPr id="21" name="DIAGRAM transfer yard" descr="A grey transfer yard called Interchange: a crane lifts crates and arrows carry them across."/>
          <p:cNvGrpSpPr/>
          <p:nvPr/>
        </p:nvGrpSpPr>
        <p:grpSpPr>
          <a:xfrm>
            <a:off x="4343400" y="1417320"/>
            <a:ext cx="3566160" cy="3017520"/>
            <a:chOff x="4343400" y="1417320"/>
            <a:chExt cx="3566160" cy="3017520"/>
          </a:xfrm>
        </p:grpSpPr>
        <p:sp>
          <p:nvSpPr>
            <p:cNvPr id="22" name="Rounded Rectangle 21"/>
            <p:cNvSpPr/>
            <p:nvPr/>
          </p:nvSpPr>
          <p:spPr>
            <a:xfrm>
              <a:off x="4343400" y="1417320"/>
              <a:ext cx="3566160" cy="3017520"/>
            </a:xfrm>
            <a:prstGeom prst="roundRect">
              <a:avLst>
                <a:gd name="adj" fmla="val 3030"/>
              </a:avLst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343400" y="1490472"/>
              <a:ext cx="3566160" cy="41148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Interchange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617720" y="2560320"/>
              <a:ext cx="128016" cy="1783080"/>
            </a:xfrm>
            <a:prstGeom prst="rect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498079" y="2560320"/>
              <a:ext cx="128016" cy="1783080"/>
            </a:xfrm>
            <a:prstGeom prst="rect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526280" y="2377440"/>
              <a:ext cx="3191256" cy="182880"/>
            </a:xfrm>
            <a:prstGeom prst="rect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916168" y="2560320"/>
              <a:ext cx="457200" cy="256032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6144768" y="2816352"/>
              <a:ext cx="0" cy="292608"/>
            </a:xfrm>
            <a:prstGeom prst="line">
              <a:avLst/>
            </a:prstGeom>
            <a:ln w="31750">
              <a:solidFill>
                <a:srgbClr val="101418"/>
              </a:solidFill>
            </a:ln>
          </p:spPr>
        </p:cxnSp>
        <p:sp>
          <p:nvSpPr>
            <p:cNvPr id="29" name="Rectangle 28"/>
            <p:cNvSpPr/>
            <p:nvPr/>
          </p:nvSpPr>
          <p:spPr>
            <a:xfrm>
              <a:off x="5961888" y="3108960"/>
              <a:ext cx="365760" cy="365760"/>
            </a:xfrm>
            <a:prstGeom prst="rect">
              <a:avLst/>
            </a:prstGeom>
            <a:solidFill>
              <a:srgbClr val="E8E8E8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Connector 29"/>
            <p:cNvCxnSpPr/>
            <p:nvPr/>
          </p:nvCxnSpPr>
          <p:spPr>
            <a:xfrm>
              <a:off x="5120640" y="2075688"/>
              <a:ext cx="2103120" cy="0"/>
            </a:xfrm>
            <a:prstGeom prst="line">
              <a:avLst/>
            </a:prstGeom>
            <a:ln w="44450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31" name="Rectangle 30"/>
            <p:cNvSpPr/>
            <p:nvPr/>
          </p:nvSpPr>
          <p:spPr>
            <a:xfrm>
              <a:off x="4892040" y="3931920"/>
              <a:ext cx="365760" cy="365760"/>
            </a:xfrm>
            <a:prstGeom prst="rect">
              <a:avLst/>
            </a:prstGeom>
            <a:solidFill>
              <a:srgbClr val="E8E8E8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303520" y="3931920"/>
              <a:ext cx="365760" cy="365760"/>
            </a:xfrm>
            <a:prstGeom prst="rect">
              <a:avLst/>
            </a:prstGeom>
            <a:solidFill>
              <a:srgbClr val="E8E8E8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675120" y="3931920"/>
              <a:ext cx="365760" cy="365760"/>
            </a:xfrm>
            <a:prstGeom prst="rect">
              <a:avLst/>
            </a:prstGeom>
            <a:solidFill>
              <a:srgbClr val="E8E8E8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086600" y="3931920"/>
              <a:ext cx="365760" cy="365760"/>
            </a:xfrm>
            <a:prstGeom prst="rect">
              <a:avLst/>
            </a:prstGeom>
            <a:solidFill>
              <a:srgbClr val="E8E8E8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Connector 34"/>
            <p:cNvCxnSpPr/>
            <p:nvPr/>
          </p:nvCxnSpPr>
          <p:spPr>
            <a:xfrm>
              <a:off x="5852160" y="4114800"/>
              <a:ext cx="685800" cy="0"/>
            </a:xfrm>
            <a:prstGeom prst="line">
              <a:avLst/>
            </a:prstGeom>
            <a:ln w="44450">
              <a:solidFill>
                <a:srgbClr val="F28C28"/>
              </a:solidFill>
              <a:tailEnd type="triangle" w="med" len="med"/>
            </a:ln>
          </p:spPr>
        </p:cxnSp>
      </p:grpSp>
      <p:grpSp>
        <p:nvGrpSpPr>
          <p:cNvPr id="36" name="DIAGRAM electric side" descr="An electric train on a raised beam, on the right."/>
          <p:cNvGrpSpPr/>
          <p:nvPr/>
        </p:nvGrpSpPr>
        <p:grpSpPr>
          <a:xfrm>
            <a:off x="8229600" y="3255264"/>
            <a:ext cx="3410712" cy="1591056"/>
            <a:chOff x="8229600" y="3255264"/>
            <a:chExt cx="3410712" cy="1591056"/>
          </a:xfrm>
        </p:grpSpPr>
        <p:sp>
          <p:nvSpPr>
            <p:cNvPr id="37" name="Rectangle 36"/>
            <p:cNvSpPr/>
            <p:nvPr/>
          </p:nvSpPr>
          <p:spPr>
            <a:xfrm>
              <a:off x="8229600" y="3822192"/>
              <a:ext cx="3410712" cy="18288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686800" y="4005072"/>
              <a:ext cx="146304" cy="4572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058400" y="4005072"/>
              <a:ext cx="146304" cy="4572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1247120" y="4005072"/>
              <a:ext cx="146304" cy="4572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8412480" y="3255264"/>
              <a:ext cx="1737360" cy="566928"/>
            </a:xfrm>
            <a:prstGeom prst="roundRect">
              <a:avLst>
                <a:gd name="adj" fmla="val 25806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586215" y="3364992"/>
              <a:ext cx="292607" cy="201168"/>
            </a:xfrm>
            <a:prstGeom prst="roundRect">
              <a:avLst>
                <a:gd name="adj" fmla="val 18181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951976" y="3364992"/>
              <a:ext cx="292607" cy="201168"/>
            </a:xfrm>
            <a:prstGeom prst="roundRect">
              <a:avLst>
                <a:gd name="adj" fmla="val 18181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9317736" y="3364992"/>
              <a:ext cx="292607" cy="201168"/>
            </a:xfrm>
            <a:prstGeom prst="roundRect">
              <a:avLst>
                <a:gd name="adj" fmla="val 18181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683495" y="3364992"/>
              <a:ext cx="292607" cy="201168"/>
            </a:xfrm>
            <a:prstGeom prst="roundRect">
              <a:avLst>
                <a:gd name="adj" fmla="val 18181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10241280" y="3255264"/>
              <a:ext cx="1371600" cy="566928"/>
            </a:xfrm>
            <a:prstGeom prst="roundRect">
              <a:avLst>
                <a:gd name="adj" fmla="val 25806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0415015" y="3364992"/>
              <a:ext cx="201167" cy="201168"/>
            </a:xfrm>
            <a:prstGeom prst="roundRect">
              <a:avLst>
                <a:gd name="adj" fmla="val 18181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689336" y="3364992"/>
              <a:ext cx="201167" cy="201168"/>
            </a:xfrm>
            <a:prstGeom prst="roundRect">
              <a:avLst>
                <a:gd name="adj" fmla="val 18181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10963655" y="3364992"/>
              <a:ext cx="201167" cy="201168"/>
            </a:xfrm>
            <a:prstGeom prst="roundRect">
              <a:avLst>
                <a:gd name="adj" fmla="val 18181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11237976" y="3364992"/>
              <a:ext cx="201167" cy="201168"/>
            </a:xfrm>
            <a:prstGeom prst="roundRect">
              <a:avLst>
                <a:gd name="adj" fmla="val 18181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229600" y="4526280"/>
              <a:ext cx="3383280" cy="32004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6CA0DC"/>
                  </a:solidFill>
                  <a:latin typeface="Arial"/>
                </a:rPr>
                <a:t>Electric network</a:t>
              </a:r>
            </a:p>
          </p:txBody>
        </p:sp>
      </p:grpSp>
      <p:grpSp>
        <p:nvGrpSpPr>
          <p:cNvPr id="52" name="NOTE" descr="Note: Steam trains cannot cross over (Agreed)."/>
          <p:cNvGrpSpPr/>
          <p:nvPr/>
        </p:nvGrpSpPr>
        <p:grpSpPr>
          <a:xfrm>
            <a:off x="548640" y="5029200"/>
            <a:ext cx="11091672" cy="594360"/>
            <a:chOff x="548640" y="5029200"/>
            <a:chExt cx="11091672" cy="594360"/>
          </a:xfrm>
        </p:grpSpPr>
        <p:sp>
          <p:nvSpPr>
            <p:cNvPr id="53" name="Rounded Rectangle 52"/>
            <p:cNvSpPr/>
            <p:nvPr/>
          </p:nvSpPr>
          <p:spPr>
            <a:xfrm>
              <a:off x="548640" y="5029200"/>
              <a:ext cx="11091672" cy="594360"/>
            </a:xfrm>
            <a:prstGeom prst="roundRect">
              <a:avLst>
                <a:gd name="adj" fmla="val 1230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ICHIP"/>
            <p:cNvSpPr/>
            <p:nvPr/>
          </p:nvSpPr>
          <p:spPr>
            <a:xfrm>
              <a:off x="777240" y="5170932"/>
              <a:ext cx="1217906" cy="310896"/>
            </a:xfrm>
            <a:prstGeom prst="roundRect">
              <a:avLst>
                <a:gd name="adj" fmla="val 50000"/>
              </a:avLst>
            </a:prstGeom>
            <a:solidFill>
              <a:srgbClr val="3FB950"/>
            </a:solidFill>
            <a:ln>
              <a:noFill/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AGREED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223746" y="5029200"/>
              <a:ext cx="9050805" cy="5943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Steam trains cannot cross over</a:t>
              </a:r>
            </a:p>
          </p:txBody>
        </p:sp>
      </p:grpSp>
      <p:sp>
        <p:nvSpPr>
          <p:cNvPr id="56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Freight moves between the two networks at an interchange. Steam trains cannot cross over.</a:t>
            </a:r>
          </a:p>
        </p:txBody>
      </p:sp>
      <p:sp>
        <p:nvSpPr>
          <p:cNvPr id="59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A Transfer Station?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UNDECIDED</a:t>
            </a:r>
          </a:p>
        </p:txBody>
      </p:sp>
      <p:grpSp>
        <p:nvGrpSpPr>
          <p:cNvPr id="4" name="DIAGRAM transfer station idea" descr="A dashed outline card showing a building silhouette with a large question mark, labelled Transfer Station."/>
          <p:cNvGrpSpPr/>
          <p:nvPr/>
        </p:nvGrpSpPr>
        <p:grpSpPr>
          <a:xfrm>
            <a:off x="3355848" y="1371600"/>
            <a:ext cx="5486400" cy="4023360"/>
            <a:chOff x="3355848" y="1371600"/>
            <a:chExt cx="5486400" cy="4023360"/>
          </a:xfrm>
        </p:grpSpPr>
        <p:sp>
          <p:nvSpPr>
            <p:cNvPr id="5" name="Rounded Rectangle 4"/>
            <p:cNvSpPr/>
            <p:nvPr/>
          </p:nvSpPr>
          <p:spPr>
            <a:xfrm>
              <a:off x="3355848" y="1371600"/>
              <a:ext cx="5486400" cy="4023360"/>
            </a:xfrm>
            <a:prstGeom prst="roundRect">
              <a:avLst>
                <a:gd name="adj" fmla="val 2272"/>
              </a:avLst>
            </a:prstGeom>
            <a:solidFill>
              <a:srgbClr val="2B2F36"/>
            </a:solidFill>
            <a:ln w="38100">
              <a:solidFill>
                <a:srgbClr val="A9B0B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4480560" y="1691640"/>
              <a:ext cx="3246119" cy="1005840"/>
            </a:xfrm>
            <a:custGeom>
              <a:avLst/>
              <a:gdLst/>
              <a:ahLst/>
              <a:cxnLst/>
              <a:rect l="l" t="t" r="r" b="b"/>
              <a:pathLst>
                <a:path w="3246119" h="1005840">
                  <a:moveTo>
                    <a:pt x="0" y="1005840"/>
                  </a:moveTo>
                  <a:lnTo>
                    <a:pt x="1618488" y="0"/>
                  </a:lnTo>
                  <a:lnTo>
                    <a:pt x="3246119" y="1005840"/>
                  </a:lnTo>
                  <a:close/>
                </a:path>
              </a:pathLst>
            </a:custGeom>
            <a:solidFill>
              <a:srgbClr val="3A404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572000" y="2697480"/>
              <a:ext cx="3063240" cy="1691640"/>
            </a:xfrm>
            <a:prstGeom prst="rect">
              <a:avLst/>
            </a:prstGeom>
            <a:solidFill>
              <a:srgbClr val="3A404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2000" y="2651760"/>
              <a:ext cx="3063240" cy="17373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9600" b="1" i="0" lang="en-GB">
                  <a:solidFill>
                    <a:srgbClr val="F2F2F2"/>
                  </a:solidFill>
                  <a:latin typeface="Arial"/>
                </a:rPr>
                <a:t>?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355848" y="4572000"/>
              <a:ext cx="5486400" cy="64008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800" b="1" i="0" lang="en-GB">
                  <a:solidFill>
                    <a:srgbClr val="F2F2F2"/>
                  </a:solidFill>
                  <a:latin typeface="Arial"/>
                </a:rPr>
                <a:t>Transfer Station</a:t>
              </a:r>
            </a:p>
          </p:txBody>
        </p:sp>
      </p:grpSp>
      <p:sp>
        <p:nvSpPr>
          <p:cNvPr id="10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A special transfer building is only an idea. It is not promised.</a:t>
            </a:r>
          </a:p>
        </p:txBody>
      </p:sp>
      <p:sp>
        <p:nvSpPr>
          <p:cNvPr id="13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What could go wrong?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UNDECIDED</a:t>
            </a:r>
          </a:p>
        </p:txBody>
      </p:sp>
      <p:grpSp>
        <p:nvGrpSpPr>
          <p:cNvPr id="4" name="SCENARIO 1" descr="A steam train on a section of track where a blue beam preview overlaps it. Marked with a question mark."/>
          <p:cNvGrpSpPr/>
          <p:nvPr/>
        </p:nvGrpSpPr>
        <p:grpSpPr>
          <a:xfrm>
            <a:off x="548640" y="1371600"/>
            <a:ext cx="2656332" cy="3520440"/>
            <a:chOff x="548640" y="1371600"/>
            <a:chExt cx="2656332" cy="352044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71600"/>
              <a:ext cx="2656332" cy="3520440"/>
            </a:xfrm>
            <a:prstGeom prst="roundRect">
              <a:avLst>
                <a:gd name="adj" fmla="val 275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58368" y="1965960"/>
              <a:ext cx="2436876" cy="2011680"/>
            </a:xfrm>
            <a:prstGeom prst="roundRect">
              <a:avLst>
                <a:gd name="adj" fmla="val 2727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QBADGE"/>
            <p:cNvSpPr/>
            <p:nvPr/>
          </p:nvSpPr>
          <p:spPr>
            <a:xfrm>
              <a:off x="2564891" y="1490472"/>
              <a:ext cx="457200" cy="457200"/>
            </a:xfrm>
            <a:prstGeom prst="ellipse">
              <a:avLst/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?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080" y="4069080"/>
              <a:ext cx="2473451" cy="68580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Train on the track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14399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88719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463039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737360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011679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285999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60319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34639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2959" y="2816352"/>
              <a:ext cx="2107691" cy="54864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22959" y="3127248"/>
              <a:ext cx="2107691" cy="54864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005839" y="2752344"/>
              <a:ext cx="822960" cy="438912"/>
            </a:xfrm>
            <a:prstGeom prst="roundRect">
              <a:avLst>
                <a:gd name="adj" fmla="val 16666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1691639" y="2889504"/>
              <a:ext cx="164592" cy="164592"/>
            </a:xfrm>
            <a:prstGeom prst="ellipse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920239" y="2788920"/>
              <a:ext cx="822960" cy="365760"/>
            </a:xfrm>
            <a:prstGeom prst="roundRect">
              <a:avLst>
                <a:gd name="adj" fmla="val 12500"/>
              </a:avLst>
            </a:prstGeom>
            <a:solidFill>
              <a:srgbClr val="6C748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77239" y="2560320"/>
              <a:ext cx="2199132" cy="822960"/>
            </a:xfrm>
            <a:prstGeom prst="roundRect">
              <a:avLst>
                <a:gd name="adj" fmla="val 11111"/>
              </a:avLst>
            </a:prstGeom>
            <a:solidFill>
              <a:srgbClr val="6CA0DC">
                <a:alpha val="30000"/>
              </a:srgbClr>
            </a:solidFill>
            <a:ln w="31750">
              <a:solidFill>
                <a:srgbClr val="6CA0DC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SCENARIO 2" descr="A steam train sitting on a section that is already a blue beam. Marked with a question mark."/>
          <p:cNvGrpSpPr/>
          <p:nvPr/>
        </p:nvGrpSpPr>
        <p:grpSpPr>
          <a:xfrm>
            <a:off x="3360420" y="1371600"/>
            <a:ext cx="2656332" cy="3520440"/>
            <a:chOff x="3360420" y="1371600"/>
            <a:chExt cx="2656332" cy="3520440"/>
          </a:xfrm>
        </p:grpSpPr>
        <p:sp>
          <p:nvSpPr>
            <p:cNvPr id="24" name="Rounded Rectangle 23"/>
            <p:cNvSpPr/>
            <p:nvPr/>
          </p:nvSpPr>
          <p:spPr>
            <a:xfrm>
              <a:off x="3360420" y="1371600"/>
              <a:ext cx="2656332" cy="3520440"/>
            </a:xfrm>
            <a:prstGeom prst="roundRect">
              <a:avLst>
                <a:gd name="adj" fmla="val 275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470148" y="1965960"/>
              <a:ext cx="2436876" cy="2011680"/>
            </a:xfrm>
            <a:prstGeom prst="roundRect">
              <a:avLst>
                <a:gd name="adj" fmla="val 2727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QBADGE"/>
            <p:cNvSpPr/>
            <p:nvPr/>
          </p:nvSpPr>
          <p:spPr>
            <a:xfrm>
              <a:off x="5376672" y="1490472"/>
              <a:ext cx="457200" cy="457200"/>
            </a:xfrm>
            <a:prstGeom prst="ellipse">
              <a:avLst/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?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451860" y="4069080"/>
              <a:ext cx="2473451" cy="68580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Steam train stranded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726179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000499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274819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634739" y="2816352"/>
              <a:ext cx="777240" cy="54864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634739" y="3127248"/>
              <a:ext cx="777240" cy="54864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503420" y="2852928"/>
              <a:ext cx="1239011" cy="237744"/>
            </a:xfrm>
            <a:prstGeom prst="roundRect">
              <a:avLst>
                <a:gd name="adj" fmla="val 23076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4594859" y="2697480"/>
              <a:ext cx="1005840" cy="457200"/>
            </a:xfrm>
            <a:prstGeom prst="roundRect">
              <a:avLst>
                <a:gd name="adj" fmla="val 160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5372100" y="2843784"/>
              <a:ext cx="164592" cy="164592"/>
            </a:xfrm>
            <a:prstGeom prst="ellipse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" name="SCENARIO 3" descr="A line with orange steam track on the left and a blue beam on the right. Marked with a question mark."/>
          <p:cNvGrpSpPr/>
          <p:nvPr/>
        </p:nvGrpSpPr>
        <p:grpSpPr>
          <a:xfrm>
            <a:off x="6172199" y="1371600"/>
            <a:ext cx="2656332" cy="3520440"/>
            <a:chOff x="6172199" y="1371600"/>
            <a:chExt cx="2656332" cy="3520440"/>
          </a:xfrm>
        </p:grpSpPr>
        <p:sp>
          <p:nvSpPr>
            <p:cNvPr id="37" name="Rounded Rectangle 36"/>
            <p:cNvSpPr/>
            <p:nvPr/>
          </p:nvSpPr>
          <p:spPr>
            <a:xfrm>
              <a:off x="6172199" y="1371600"/>
              <a:ext cx="2656332" cy="3520440"/>
            </a:xfrm>
            <a:prstGeom prst="roundRect">
              <a:avLst>
                <a:gd name="adj" fmla="val 275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6281927" y="1965960"/>
              <a:ext cx="2436876" cy="2011680"/>
            </a:xfrm>
            <a:prstGeom prst="roundRect">
              <a:avLst>
                <a:gd name="adj" fmla="val 2727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QBADGE"/>
            <p:cNvSpPr/>
            <p:nvPr/>
          </p:nvSpPr>
          <p:spPr>
            <a:xfrm>
              <a:off x="8188452" y="1490472"/>
              <a:ext cx="457200" cy="457200"/>
            </a:xfrm>
            <a:prstGeom prst="ellipse">
              <a:avLst/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?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263639" y="4069080"/>
              <a:ext cx="2473451" cy="68580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Half-upgraded line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537959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812279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086599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360919" y="2752344"/>
              <a:ext cx="54864" cy="49377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446519" y="2816352"/>
              <a:ext cx="1005840" cy="54864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446519" y="3127248"/>
              <a:ext cx="1005840" cy="54864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7543799" y="2852928"/>
              <a:ext cx="1010411" cy="237744"/>
            </a:xfrm>
            <a:prstGeom prst="roundRect">
              <a:avLst>
                <a:gd name="adj" fmla="val 23076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8" name="Connector 47"/>
            <p:cNvCxnSpPr/>
            <p:nvPr/>
          </p:nvCxnSpPr>
          <p:spPr>
            <a:xfrm>
              <a:off x="7498079" y="2423160"/>
              <a:ext cx="0" cy="1097280"/>
            </a:xfrm>
            <a:prstGeom prst="line">
              <a:avLst/>
            </a:prstGeom>
            <a:ln w="31750">
              <a:solidFill>
                <a:srgbClr val="A9B0B8"/>
              </a:solidFill>
              <a:prstDash val="dash"/>
            </a:ln>
          </p:spPr>
        </p:cxnSp>
      </p:grpSp>
      <p:grpSp>
        <p:nvGrpSpPr>
          <p:cNvPr id="49" name="SCENARIO 4" descr="A junction where the line splits, with a dashed boundary and blue beams beyond it. Marked with a question mark."/>
          <p:cNvGrpSpPr/>
          <p:nvPr/>
        </p:nvGrpSpPr>
        <p:grpSpPr>
          <a:xfrm>
            <a:off x="8983980" y="1371600"/>
            <a:ext cx="2656332" cy="3520440"/>
            <a:chOff x="8983980" y="1371600"/>
            <a:chExt cx="2656332" cy="3520440"/>
          </a:xfrm>
        </p:grpSpPr>
        <p:sp>
          <p:nvSpPr>
            <p:cNvPr id="50" name="Rounded Rectangle 49"/>
            <p:cNvSpPr/>
            <p:nvPr/>
          </p:nvSpPr>
          <p:spPr>
            <a:xfrm>
              <a:off x="8983980" y="1371600"/>
              <a:ext cx="2656332" cy="3520440"/>
            </a:xfrm>
            <a:prstGeom prst="roundRect">
              <a:avLst>
                <a:gd name="adj" fmla="val 275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9093707" y="1965960"/>
              <a:ext cx="2436876" cy="2011680"/>
            </a:xfrm>
            <a:prstGeom prst="roundRect">
              <a:avLst>
                <a:gd name="adj" fmla="val 2727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QBADGE"/>
            <p:cNvSpPr/>
            <p:nvPr/>
          </p:nvSpPr>
          <p:spPr>
            <a:xfrm>
              <a:off x="11000232" y="1490472"/>
              <a:ext cx="457200" cy="457200"/>
            </a:xfrm>
            <a:prstGeom prst="ellipse">
              <a:avLst/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?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075419" y="4069080"/>
              <a:ext cx="2473451" cy="68580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Junction boundary</a:t>
              </a:r>
            </a:p>
          </p:txBody>
        </p:sp>
        <p:sp>
          <p:nvSpPr>
            <p:cNvPr id="54" name="Freeform 53"/>
            <p:cNvSpPr/>
            <p:nvPr/>
          </p:nvSpPr>
          <p:spPr>
            <a:xfrm>
              <a:off x="9258300" y="2971800"/>
              <a:ext cx="868680" cy="0"/>
            </a:xfrm>
            <a:custGeom>
              <a:avLst/>
              <a:gdLst/>
              <a:ahLst/>
              <a:cxnLst/>
              <a:rect l="l" t="t" r="r" b="b"/>
              <a:pathLst>
                <a:path w="868680" h="0">
                  <a:moveTo>
                    <a:pt x="0" y="0"/>
                  </a:moveTo>
                  <a:lnTo>
                    <a:pt x="868680" y="0"/>
                  </a:lnTo>
                </a:path>
              </a:pathLst>
            </a:custGeom>
            <a:noFill/>
            <a:ln w="889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10126980" y="2514600"/>
              <a:ext cx="1239012" cy="457200"/>
            </a:xfrm>
            <a:custGeom>
              <a:avLst/>
              <a:gdLst/>
              <a:ahLst/>
              <a:cxnLst/>
              <a:rect l="l" t="t" r="r" b="b"/>
              <a:pathLst>
                <a:path w="1239012" h="457200">
                  <a:moveTo>
                    <a:pt x="0" y="457200"/>
                  </a:moveTo>
                  <a:lnTo>
                    <a:pt x="457200" y="0"/>
                  </a:lnTo>
                  <a:lnTo>
                    <a:pt x="1239012" y="0"/>
                  </a:lnTo>
                </a:path>
              </a:pathLst>
            </a:custGeom>
            <a:noFill/>
            <a:ln w="88900">
              <a:solidFill>
                <a:srgbClr val="6CA0D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10126980" y="2971800"/>
              <a:ext cx="1239012" cy="457200"/>
            </a:xfrm>
            <a:custGeom>
              <a:avLst/>
              <a:gdLst/>
              <a:ahLst/>
              <a:cxnLst/>
              <a:rect l="l" t="t" r="r" b="b"/>
              <a:pathLst>
                <a:path w="1239012" h="457200">
                  <a:moveTo>
                    <a:pt x="0" y="0"/>
                  </a:moveTo>
                  <a:lnTo>
                    <a:pt x="457200" y="457200"/>
                  </a:lnTo>
                  <a:lnTo>
                    <a:pt x="1239012" y="457200"/>
                  </a:lnTo>
                </a:path>
              </a:pathLst>
            </a:custGeom>
            <a:noFill/>
            <a:ln w="88900">
              <a:solidFill>
                <a:srgbClr val="6CA0D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Connector 56"/>
            <p:cNvCxnSpPr/>
            <p:nvPr/>
          </p:nvCxnSpPr>
          <p:spPr>
            <a:xfrm>
              <a:off x="10291572" y="2194560"/>
              <a:ext cx="0" cy="1554479"/>
            </a:xfrm>
            <a:prstGeom prst="line">
              <a:avLst/>
            </a:prstGeom>
            <a:ln w="31750">
              <a:solidFill>
                <a:srgbClr val="A9B0B8"/>
              </a:solidFill>
              <a:prstDash val="dash"/>
            </a:ln>
          </p:spPr>
        </p:cxnSp>
      </p:grpSp>
      <p:sp>
        <p:nvSpPr>
          <p:cNvPr id="58" name="FOOTER"/>
          <p:cNvSpPr txBox="1"/>
          <p:nvPr/>
        </p:nvSpPr>
        <p:spPr>
          <a:xfrm>
            <a:off x="9784080" y="5074920"/>
            <a:ext cx="1856231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OQ12</a:t>
            </a:r>
          </a:p>
        </p:txBody>
      </p:sp>
      <p:sp>
        <p:nvSpPr>
          <p:cNvPr id="59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Some cases still need answers: busy track, stranded trains, half-converted lines.</a:t>
            </a:r>
          </a:p>
        </p:txBody>
      </p:sp>
      <p:sp>
        <p:nvSpPr>
          <p:cNvPr id="62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Costs, refunds and undo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UNDECIDED</a:t>
            </a:r>
          </a:p>
        </p:txBody>
      </p:sp>
      <p:grpSp>
        <p:nvGrpSpPr>
          <p:cNvPr id="4" name="QUESTION 1" descr="Question card: cost and refund. Two small stacks of plates with arrows both ways."/>
          <p:cNvGrpSpPr/>
          <p:nvPr/>
        </p:nvGrpSpPr>
        <p:grpSpPr>
          <a:xfrm>
            <a:off x="548640" y="1417320"/>
            <a:ext cx="3545128" cy="3566160"/>
            <a:chOff x="548640" y="1417320"/>
            <a:chExt cx="3545128" cy="356616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417320"/>
              <a:ext cx="3545128" cy="3566160"/>
            </a:xfrm>
            <a:prstGeom prst="roundRect">
              <a:avLst>
                <a:gd name="adj" fmla="val 206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3886200"/>
              <a:ext cx="3270808" cy="8229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600" b="1" i="0" lang="en-GB">
                  <a:solidFill>
                    <a:srgbClr val="F2F2F2"/>
                  </a:solidFill>
                  <a:latin typeface="Arial"/>
                </a:rPr>
                <a:t>Cost and refund?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12444" y="3063240"/>
              <a:ext cx="1005840" cy="237744"/>
            </a:xfrm>
            <a:prstGeom prst="roundRect">
              <a:avLst>
                <a:gd name="adj" fmla="val 1923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824124" y="3063240"/>
              <a:ext cx="1005840" cy="237744"/>
            </a:xfrm>
            <a:prstGeom prst="roundRect">
              <a:avLst>
                <a:gd name="adj" fmla="val 1923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2444" y="2770632"/>
              <a:ext cx="1005840" cy="237744"/>
            </a:xfrm>
            <a:prstGeom prst="roundRect">
              <a:avLst>
                <a:gd name="adj" fmla="val 1923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824124" y="2770632"/>
              <a:ext cx="1005840" cy="237744"/>
            </a:xfrm>
            <a:prstGeom prst="roundRect">
              <a:avLst>
                <a:gd name="adj" fmla="val 1923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12444" y="2478024"/>
              <a:ext cx="1005840" cy="237744"/>
            </a:xfrm>
            <a:prstGeom prst="roundRect">
              <a:avLst>
                <a:gd name="adj" fmla="val 1923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824124" y="2478024"/>
              <a:ext cx="1005840" cy="237744"/>
            </a:xfrm>
            <a:prstGeom prst="roundRect">
              <a:avLst>
                <a:gd name="adj" fmla="val 1923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1955444" y="2560320"/>
              <a:ext cx="731520" cy="0"/>
            </a:xfrm>
            <a:prstGeom prst="line">
              <a:avLst/>
            </a:prstGeom>
            <a:ln w="50800">
              <a:solidFill>
                <a:srgbClr val="F28C28"/>
              </a:solidFill>
              <a:tailEnd type="triangle" w="med" len="med"/>
            </a:ln>
          </p:spPr>
        </p:cxnSp>
        <p:cxnSp>
          <p:nvCxnSpPr>
            <p:cNvPr id="14" name="Connector 13"/>
            <p:cNvCxnSpPr/>
            <p:nvPr/>
          </p:nvCxnSpPr>
          <p:spPr>
            <a:xfrm flipH="1">
              <a:off x="1955444" y="3017520"/>
              <a:ext cx="731520" cy="0"/>
            </a:xfrm>
            <a:prstGeom prst="line">
              <a:avLst/>
            </a:prstGeom>
            <a:ln w="50800">
              <a:solidFill>
                <a:srgbClr val="F28C28"/>
              </a:solidFill>
              <a:tailEnd type="triangle" w="med" len="med"/>
            </a:ln>
          </p:spPr>
        </p:cxnSp>
      </p:grpSp>
      <p:grpSp>
        <p:nvGrpSpPr>
          <p:cNvPr id="15" name="QUESTION 2" descr="Question card: undo or recovery. A circular undo arrow."/>
          <p:cNvGrpSpPr/>
          <p:nvPr/>
        </p:nvGrpSpPr>
        <p:grpSpPr>
          <a:xfrm>
            <a:off x="4322368" y="1417320"/>
            <a:ext cx="3545128" cy="3566160"/>
            <a:chOff x="4322368" y="1417320"/>
            <a:chExt cx="3545128" cy="3566160"/>
          </a:xfrm>
        </p:grpSpPr>
        <p:sp>
          <p:nvSpPr>
            <p:cNvPr id="16" name="Rounded Rectangle 15"/>
            <p:cNvSpPr/>
            <p:nvPr/>
          </p:nvSpPr>
          <p:spPr>
            <a:xfrm>
              <a:off x="4322368" y="1417320"/>
              <a:ext cx="3545128" cy="3566160"/>
            </a:xfrm>
            <a:prstGeom prst="roundRect">
              <a:avLst>
                <a:gd name="adj" fmla="val 206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59528" y="3886200"/>
              <a:ext cx="3270808" cy="8229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600" b="1" i="0" lang="en-GB">
                  <a:solidFill>
                    <a:srgbClr val="F2F2F2"/>
                  </a:solidFill>
                  <a:latin typeface="Arial"/>
                </a:rPr>
                <a:t>Undo or recovery?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363963" y="2013246"/>
              <a:ext cx="1393952" cy="1461439"/>
            </a:xfrm>
            <a:custGeom>
              <a:avLst/>
              <a:gdLst/>
              <a:ahLst/>
              <a:cxnLst/>
              <a:rect l="l" t="t" r="r" b="b"/>
              <a:pathLst>
                <a:path w="1393952" h="1461439">
                  <a:moveTo>
                    <a:pt x="1393952" y="420800"/>
                  </a:moveTo>
                  <a:lnTo>
                    <a:pt x="1346973" y="335414"/>
                  </a:lnTo>
                  <a:lnTo>
                    <a:pt x="1289060" y="257030"/>
                  </a:lnTo>
                  <a:lnTo>
                    <a:pt x="1221242" y="187041"/>
                  </a:lnTo>
                  <a:lnTo>
                    <a:pt x="1144722" y="126687"/>
                  </a:lnTo>
                  <a:lnTo>
                    <a:pt x="1060859" y="77041"/>
                  </a:lnTo>
                  <a:lnTo>
                    <a:pt x="971140" y="38983"/>
                  </a:lnTo>
                  <a:lnTo>
                    <a:pt x="877159" y="13190"/>
                  </a:lnTo>
                  <a:lnTo>
                    <a:pt x="780583" y="118"/>
                  </a:lnTo>
                  <a:lnTo>
                    <a:pt x="683126" y="0"/>
                  </a:lnTo>
                  <a:lnTo>
                    <a:pt x="586518" y="12838"/>
                  </a:lnTo>
                  <a:lnTo>
                    <a:pt x="492475" y="38403"/>
                  </a:lnTo>
                  <a:lnTo>
                    <a:pt x="402664" y="76243"/>
                  </a:lnTo>
                  <a:lnTo>
                    <a:pt x="318681" y="125686"/>
                  </a:lnTo>
                  <a:lnTo>
                    <a:pt x="242015" y="185854"/>
                  </a:lnTo>
                  <a:lnTo>
                    <a:pt x="174027" y="255679"/>
                  </a:lnTo>
                  <a:lnTo>
                    <a:pt x="115925" y="333922"/>
                  </a:lnTo>
                  <a:lnTo>
                    <a:pt x="68739" y="419194"/>
                  </a:lnTo>
                  <a:lnTo>
                    <a:pt x="33307" y="509981"/>
                  </a:lnTo>
                  <a:lnTo>
                    <a:pt x="10257" y="604673"/>
                  </a:lnTo>
                  <a:lnTo>
                    <a:pt x="0" y="701589"/>
                  </a:lnTo>
                  <a:lnTo>
                    <a:pt x="2716" y="799007"/>
                  </a:lnTo>
                  <a:lnTo>
                    <a:pt x="18358" y="895201"/>
                  </a:lnTo>
                  <a:lnTo>
                    <a:pt x="46649" y="988461"/>
                  </a:lnTo>
                  <a:lnTo>
                    <a:pt x="87085" y="1077133"/>
                  </a:lnTo>
                  <a:lnTo>
                    <a:pt x="138949" y="1159643"/>
                  </a:lnTo>
                  <a:lnTo>
                    <a:pt x="201321" y="1234527"/>
                  </a:lnTo>
                  <a:lnTo>
                    <a:pt x="273094" y="1300455"/>
                  </a:lnTo>
                  <a:lnTo>
                    <a:pt x="352994" y="1356257"/>
                  </a:lnTo>
                  <a:lnTo>
                    <a:pt x="439602" y="1400943"/>
                  </a:lnTo>
                  <a:lnTo>
                    <a:pt x="531382" y="1433719"/>
                  </a:lnTo>
                  <a:lnTo>
                    <a:pt x="626704" y="1454005"/>
                  </a:lnTo>
                  <a:lnTo>
                    <a:pt x="723877" y="1461439"/>
                  </a:lnTo>
                  <a:lnTo>
                    <a:pt x="821175" y="1455890"/>
                  </a:lnTo>
                  <a:lnTo>
                    <a:pt x="916873" y="1437457"/>
                  </a:lnTo>
                  <a:lnTo>
                    <a:pt x="1009271" y="1406466"/>
                  </a:lnTo>
                  <a:lnTo>
                    <a:pt x="1096730" y="1363468"/>
                  </a:lnTo>
                </a:path>
              </a:pathLst>
            </a:custGeom>
            <a:noFill/>
            <a:ln w="76200">
              <a:solidFill>
                <a:srgbClr val="F28C28"/>
              </a:solidFill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QUESTION 3" descr="Question card: longest piece. A short piece of track with a measuring line."/>
          <p:cNvGrpSpPr/>
          <p:nvPr/>
        </p:nvGrpSpPr>
        <p:grpSpPr>
          <a:xfrm>
            <a:off x="8096097" y="1417320"/>
            <a:ext cx="3545128" cy="3566160"/>
            <a:chOff x="8096097" y="1417320"/>
            <a:chExt cx="3545128" cy="3566160"/>
          </a:xfrm>
        </p:grpSpPr>
        <p:sp>
          <p:nvSpPr>
            <p:cNvPr id="20" name="Rounded Rectangle 19"/>
            <p:cNvSpPr/>
            <p:nvPr/>
          </p:nvSpPr>
          <p:spPr>
            <a:xfrm>
              <a:off x="8096097" y="1417320"/>
              <a:ext cx="3545128" cy="3566160"/>
            </a:xfrm>
            <a:prstGeom prst="roundRect">
              <a:avLst>
                <a:gd name="adj" fmla="val 206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233257" y="3886200"/>
              <a:ext cx="3270808" cy="8229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ctr"/>
              <a:r>
                <a:rPr sz="2600" b="1" i="0" lang="en-GB">
                  <a:solidFill>
                    <a:srgbClr val="F2F2F2"/>
                  </a:solidFill>
                  <a:latin typeface="Arial"/>
                </a:rPr>
                <a:t>Longest piece?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497061" y="2313432"/>
              <a:ext cx="54864" cy="530352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862822" y="2313432"/>
              <a:ext cx="54864" cy="530352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228582" y="2313432"/>
              <a:ext cx="54864" cy="530352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594342" y="2313432"/>
              <a:ext cx="54864" cy="530352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960102" y="2313432"/>
              <a:ext cx="54864" cy="530352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325862" y="2313432"/>
              <a:ext cx="54864" cy="530352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0691622" y="2313432"/>
              <a:ext cx="54864" cy="530352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1057382" y="2313432"/>
              <a:ext cx="54864" cy="530352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405622" y="2377440"/>
              <a:ext cx="2926080" cy="73152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05622" y="2706624"/>
              <a:ext cx="2926080" cy="73152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8405622" y="3200400"/>
              <a:ext cx="2926079" cy="0"/>
            </a:xfrm>
            <a:prstGeom prst="line">
              <a:avLst/>
            </a:prstGeom>
            <a:ln w="44450">
              <a:solidFill>
                <a:srgbClr val="F28C28"/>
              </a:solidFill>
              <a:headEnd type="triangle" w="med" len="med"/>
              <a:tailEnd type="triangle" w="med" len="med"/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8405622" y="3035808"/>
              <a:ext cx="0" cy="329184"/>
            </a:xfrm>
            <a:prstGeom prst="line">
              <a:avLst/>
            </a:prstGeom>
            <a:ln w="44450">
              <a:solidFill>
                <a:srgbClr val="F28C28"/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11331701" y="3035808"/>
              <a:ext cx="0" cy="329184"/>
            </a:xfrm>
            <a:prstGeom prst="line">
              <a:avLst/>
            </a:prstGeom>
            <a:ln w="44450">
              <a:solidFill>
                <a:srgbClr val="F28C28"/>
              </a:solidFill>
            </a:ln>
          </p:spPr>
        </p:cxnSp>
      </p:grpSp>
      <p:sp>
        <p:nvSpPr>
          <p:cNvPr id="35" name="FOOTER"/>
          <p:cNvSpPr txBox="1"/>
          <p:nvPr/>
        </p:nvSpPr>
        <p:spPr>
          <a:xfrm>
            <a:off x="9784080" y="5120640"/>
            <a:ext cx="1856231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OQ12</a:t>
            </a:r>
          </a:p>
        </p:txBody>
      </p:sp>
      <p:sp>
        <p:nvSpPr>
          <p:cNvPr id="36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Upgrade costs, refunds and an undo are not decided. Nor is the longest piece the game accepts.</a:t>
            </a:r>
          </a:p>
        </p:txBody>
      </p:sp>
      <p:sp>
        <p:nvSpPr>
          <p:cNvPr id="39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The road to electric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PROVISIONAL</a:t>
            </a:r>
          </a:p>
        </p:txBody>
      </p:sp>
      <p:grpSp>
        <p:nvGrpSpPr>
          <p:cNvPr id="4" name="DIAGRAM tier timeline" descr="A timeline of four tiers: Early Steam Railways, Railway Expansion, Heavy Steam, then the Monorail in blue."/>
          <p:cNvGrpSpPr/>
          <p:nvPr/>
        </p:nvGrpSpPr>
        <p:grpSpPr>
          <a:xfrm>
            <a:off x="548640" y="1691640"/>
            <a:ext cx="11091672" cy="2478024"/>
            <a:chOff x="548640" y="1691640"/>
            <a:chExt cx="11091672" cy="2478024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691640"/>
              <a:ext cx="2514600" cy="1920240"/>
            </a:xfrm>
            <a:prstGeom prst="roundRect">
              <a:avLst>
                <a:gd name="adj" fmla="val 380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48640" y="1691640"/>
              <a:ext cx="2514600" cy="128016"/>
            </a:xfrm>
            <a:prstGeom prst="roundRect">
              <a:avLst>
                <a:gd name="adj" fmla="val 35714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5800" y="2011680"/>
              <a:ext cx="2240280" cy="50292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400" b="1" i="0" lang="en-GB">
                  <a:solidFill>
                    <a:srgbClr val="F28C28"/>
                  </a:solidFill>
                  <a:latin typeface="Arial"/>
                </a:rPr>
                <a:t>Tier 3: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5800" y="2560320"/>
              <a:ext cx="2240280" cy="1188720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Early Steam Railways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099816" y="2651760"/>
              <a:ext cx="271272" cy="0"/>
            </a:xfrm>
            <a:prstGeom prst="line">
              <a:avLst/>
            </a:prstGeom>
            <a:ln w="38100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10" name="Oval 9"/>
            <p:cNvSpPr/>
            <p:nvPr/>
          </p:nvSpPr>
          <p:spPr>
            <a:xfrm>
              <a:off x="1687068" y="3931920"/>
              <a:ext cx="237744" cy="237744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407664" y="1691640"/>
              <a:ext cx="2514600" cy="1920240"/>
            </a:xfrm>
            <a:prstGeom prst="roundRect">
              <a:avLst>
                <a:gd name="adj" fmla="val 380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407664" y="1691640"/>
              <a:ext cx="2514600" cy="128016"/>
            </a:xfrm>
            <a:prstGeom prst="roundRect">
              <a:avLst>
                <a:gd name="adj" fmla="val 35714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44824" y="2011680"/>
              <a:ext cx="2240280" cy="50292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400" b="1" i="0" lang="en-GB">
                  <a:solidFill>
                    <a:srgbClr val="F28C28"/>
                  </a:solidFill>
                  <a:latin typeface="Arial"/>
                </a:rPr>
                <a:t>Tier 3 to 4: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44824" y="2560320"/>
              <a:ext cx="2240280" cy="1188720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Railway Expansion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5958840" y="2651760"/>
              <a:ext cx="271272" cy="0"/>
            </a:xfrm>
            <a:prstGeom prst="line">
              <a:avLst/>
            </a:prstGeom>
            <a:ln w="38100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16" name="Oval 15"/>
            <p:cNvSpPr/>
            <p:nvPr/>
          </p:nvSpPr>
          <p:spPr>
            <a:xfrm>
              <a:off x="4546092" y="3931920"/>
              <a:ext cx="237744" cy="237744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266688" y="1691640"/>
              <a:ext cx="2514600" cy="1920240"/>
            </a:xfrm>
            <a:prstGeom prst="roundRect">
              <a:avLst>
                <a:gd name="adj" fmla="val 380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266688" y="1691640"/>
              <a:ext cx="2514600" cy="128016"/>
            </a:xfrm>
            <a:prstGeom prst="roundRect">
              <a:avLst>
                <a:gd name="adj" fmla="val 35714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03848" y="2011680"/>
              <a:ext cx="2240280" cy="50292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400" b="1" i="0" lang="en-GB">
                  <a:solidFill>
                    <a:srgbClr val="F28C28"/>
                  </a:solidFill>
                  <a:latin typeface="Arial"/>
                </a:rPr>
                <a:t>Tier 4 to 5: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03848" y="2560320"/>
              <a:ext cx="2240280" cy="1188720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Heavy Steam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8817864" y="2651760"/>
              <a:ext cx="271272" cy="0"/>
            </a:xfrm>
            <a:prstGeom prst="line">
              <a:avLst/>
            </a:prstGeom>
            <a:ln w="38100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22" name="Oval 21"/>
            <p:cNvSpPr/>
            <p:nvPr/>
          </p:nvSpPr>
          <p:spPr>
            <a:xfrm>
              <a:off x="7405115" y="3931920"/>
              <a:ext cx="237744" cy="237744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25712" y="1691640"/>
              <a:ext cx="2514600" cy="1920240"/>
            </a:xfrm>
            <a:prstGeom prst="roundRect">
              <a:avLst>
                <a:gd name="adj" fmla="val 3809"/>
              </a:avLst>
            </a:prstGeom>
            <a:solidFill>
              <a:srgbClr val="2B2F36"/>
            </a:solidFill>
            <a:ln w="31750">
              <a:solidFill>
                <a:srgbClr val="6CA0D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125712" y="1691640"/>
              <a:ext cx="2514600" cy="128016"/>
            </a:xfrm>
            <a:prstGeom prst="roundRect">
              <a:avLst>
                <a:gd name="adj" fmla="val 35714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262872" y="2011680"/>
              <a:ext cx="2240280" cy="50292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400" b="1" i="0" lang="en-GB">
                  <a:solidFill>
                    <a:srgbClr val="6CA0DC"/>
                  </a:solidFill>
                  <a:latin typeface="Arial"/>
                </a:rPr>
                <a:t>Tier 6: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262872" y="2560320"/>
              <a:ext cx="2240280" cy="1188720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Monorail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10264140" y="3931920"/>
              <a:ext cx="237744" cy="237744"/>
            </a:xfrm>
            <a:prstGeom prst="ellipse">
              <a:avLst/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1805940" y="4050791"/>
              <a:ext cx="8439912" cy="0"/>
            </a:xfrm>
            <a:prstGeom prst="line">
              <a:avLst/>
            </a:prstGeom>
            <a:ln w="38100">
              <a:solidFill>
                <a:srgbClr val="4A515B"/>
              </a:solidFill>
            </a:ln>
          </p:spPr>
        </p:cxnSp>
      </p:grpSp>
      <p:grpSp>
        <p:nvGrpSpPr>
          <p:cNvPr id="29" name="NOTE" descr="Note: Tiers and prerequisites: provisional and undecided (OQ01) (Undecided)."/>
          <p:cNvGrpSpPr/>
          <p:nvPr/>
        </p:nvGrpSpPr>
        <p:grpSpPr>
          <a:xfrm>
            <a:off x="548640" y="4663440"/>
            <a:ext cx="11091672" cy="594360"/>
            <a:chOff x="548640" y="4663440"/>
            <a:chExt cx="11091672" cy="594360"/>
          </a:xfrm>
        </p:grpSpPr>
        <p:sp>
          <p:nvSpPr>
            <p:cNvPr id="30" name="Rounded Rectangle 29"/>
            <p:cNvSpPr/>
            <p:nvPr/>
          </p:nvSpPr>
          <p:spPr>
            <a:xfrm>
              <a:off x="548640" y="4663440"/>
              <a:ext cx="11091672" cy="594360"/>
            </a:xfrm>
            <a:prstGeom prst="roundRect">
              <a:avLst>
                <a:gd name="adj" fmla="val 1230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ICHIP"/>
            <p:cNvSpPr/>
            <p:nvPr/>
          </p:nvSpPr>
          <p:spPr>
            <a:xfrm>
              <a:off x="777240" y="4805172"/>
              <a:ext cx="1514221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520061" y="4663440"/>
              <a:ext cx="8754491" cy="5943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Tiers and prerequisites: provisional and undecided (OQ01)</a:t>
              </a:r>
            </a:p>
          </p:txBody>
        </p:sp>
      </p:grpSp>
      <p:sp>
        <p:nvSpPr>
          <p:cNvPr id="33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Steam starts early. The monorail arrives in a later tier.</a:t>
            </a:r>
          </a:p>
        </p:txBody>
      </p:sp>
      <p:sp>
        <p:nvSpPr>
          <p:cNvPr id="36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Every transport has a job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LANE 1" descr="Lane: belts, with a conveyor belt icon."/>
          <p:cNvGrpSpPr/>
          <p:nvPr/>
        </p:nvGrpSpPr>
        <p:grpSpPr>
          <a:xfrm>
            <a:off x="548640" y="1371600"/>
            <a:ext cx="11091672" cy="932688"/>
            <a:chOff x="548640" y="1371600"/>
            <a:chExt cx="11091672" cy="932688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71600"/>
              <a:ext cx="11091672" cy="932688"/>
            </a:xfrm>
            <a:prstGeom prst="roundRect">
              <a:avLst>
                <a:gd name="adj" fmla="val 784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48640" y="1444752"/>
              <a:ext cx="73152" cy="78638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14400" y="1847088"/>
              <a:ext cx="1554480" cy="182880"/>
            </a:xfrm>
            <a:prstGeom prst="roundRect">
              <a:avLst>
                <a:gd name="adj" fmla="val 50000"/>
              </a:avLst>
            </a:prstGeom>
            <a:solidFill>
              <a:srgbClr val="59616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1097280" y="1874520"/>
              <a:ext cx="91440" cy="128016"/>
            </a:xfrm>
            <a:custGeom>
              <a:avLst/>
              <a:gdLst/>
              <a:ahLst/>
              <a:cxnLst/>
              <a:rect l="l" t="t" r="r" b="b"/>
              <a:pathLst>
                <a:path w="91440" h="128016">
                  <a:moveTo>
                    <a:pt x="0" y="0"/>
                  </a:moveTo>
                  <a:lnTo>
                    <a:pt x="91440" y="64008"/>
                  </a:lnTo>
                  <a:lnTo>
                    <a:pt x="0" y="128016"/>
                  </a:lnTo>
                </a:path>
              </a:pathLst>
            </a:custGeom>
            <a:noFill/>
            <a:ln w="254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1389888" y="1874520"/>
              <a:ext cx="91440" cy="128016"/>
            </a:xfrm>
            <a:custGeom>
              <a:avLst/>
              <a:gdLst/>
              <a:ahLst/>
              <a:cxnLst/>
              <a:rect l="l" t="t" r="r" b="b"/>
              <a:pathLst>
                <a:path w="91440" h="128016">
                  <a:moveTo>
                    <a:pt x="0" y="0"/>
                  </a:moveTo>
                  <a:lnTo>
                    <a:pt x="91440" y="64008"/>
                  </a:lnTo>
                  <a:lnTo>
                    <a:pt x="0" y="128016"/>
                  </a:lnTo>
                </a:path>
              </a:pathLst>
            </a:custGeom>
            <a:noFill/>
            <a:ln w="254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1682495" y="1874520"/>
              <a:ext cx="91441" cy="128016"/>
            </a:xfrm>
            <a:custGeom>
              <a:avLst/>
              <a:gdLst/>
              <a:ahLst/>
              <a:cxnLst/>
              <a:rect l="l" t="t" r="r" b="b"/>
              <a:pathLst>
                <a:path w="91441" h="128016">
                  <a:moveTo>
                    <a:pt x="0" y="0"/>
                  </a:moveTo>
                  <a:lnTo>
                    <a:pt x="91441" y="64008"/>
                  </a:lnTo>
                  <a:lnTo>
                    <a:pt x="0" y="128016"/>
                  </a:lnTo>
                </a:path>
              </a:pathLst>
            </a:custGeom>
            <a:noFill/>
            <a:ln w="254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1975104" y="1874520"/>
              <a:ext cx="91440" cy="128016"/>
            </a:xfrm>
            <a:custGeom>
              <a:avLst/>
              <a:gdLst/>
              <a:ahLst/>
              <a:cxnLst/>
              <a:rect l="l" t="t" r="r" b="b"/>
              <a:pathLst>
                <a:path w="91440" h="128016">
                  <a:moveTo>
                    <a:pt x="0" y="0"/>
                  </a:moveTo>
                  <a:lnTo>
                    <a:pt x="91440" y="64008"/>
                  </a:lnTo>
                  <a:lnTo>
                    <a:pt x="0" y="128016"/>
                  </a:lnTo>
                </a:path>
              </a:pathLst>
            </a:custGeom>
            <a:noFill/>
            <a:ln w="254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2267712" y="1874520"/>
              <a:ext cx="91440" cy="128016"/>
            </a:xfrm>
            <a:custGeom>
              <a:avLst/>
              <a:gdLst/>
              <a:ahLst/>
              <a:cxnLst/>
              <a:rect l="l" t="t" r="r" b="b"/>
              <a:pathLst>
                <a:path w="91440" h="128016">
                  <a:moveTo>
                    <a:pt x="0" y="0"/>
                  </a:moveTo>
                  <a:lnTo>
                    <a:pt x="91440" y="64008"/>
                  </a:lnTo>
                  <a:lnTo>
                    <a:pt x="0" y="128016"/>
                  </a:lnTo>
                </a:path>
              </a:pathLst>
            </a:custGeom>
            <a:noFill/>
            <a:ln w="25400">
              <a:solidFill>
                <a:srgbClr val="E8E8E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868680" y="1801368"/>
              <a:ext cx="274320" cy="27432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240280" y="1801368"/>
              <a:ext cx="274320" cy="27432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463040" y="1554480"/>
              <a:ext cx="310896" cy="274320"/>
            </a:xfrm>
            <a:prstGeom prst="rect">
              <a:avLst/>
            </a:prstGeom>
            <a:solidFill>
              <a:srgbClr val="E8E8E8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874519" y="1554480"/>
              <a:ext cx="310896" cy="274320"/>
            </a:xfrm>
            <a:prstGeom prst="rect">
              <a:avLst/>
            </a:prstGeom>
            <a:solidFill>
              <a:srgbClr val="E8E8E8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926080" y="1371600"/>
              <a:ext cx="8503920" cy="932688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400" b="1" i="0" lang="en-GB">
                  <a:solidFill>
                    <a:srgbClr val="F2F2F2"/>
                  </a:solidFill>
                  <a:latin typeface="Arial"/>
                </a:rPr>
                <a:t>Belts: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 permanent short and medium links</a:t>
              </a:r>
            </a:p>
          </p:txBody>
        </p:sp>
      </p:grpSp>
      <p:grpSp>
        <p:nvGrpSpPr>
          <p:cNvPr id="18" name="LANE 2" descr="Lane: tractors, with a tractor icon."/>
          <p:cNvGrpSpPr/>
          <p:nvPr/>
        </p:nvGrpSpPr>
        <p:grpSpPr>
          <a:xfrm>
            <a:off x="548640" y="2414015"/>
            <a:ext cx="11091672" cy="932689"/>
            <a:chOff x="548640" y="2414015"/>
            <a:chExt cx="11091672" cy="932689"/>
          </a:xfrm>
        </p:grpSpPr>
        <p:sp>
          <p:nvSpPr>
            <p:cNvPr id="19" name="Rounded Rectangle 18"/>
            <p:cNvSpPr/>
            <p:nvPr/>
          </p:nvSpPr>
          <p:spPr>
            <a:xfrm>
              <a:off x="548640" y="2414015"/>
              <a:ext cx="11091672" cy="932688"/>
            </a:xfrm>
            <a:prstGeom prst="roundRect">
              <a:avLst>
                <a:gd name="adj" fmla="val 784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48640" y="2487168"/>
              <a:ext cx="73152" cy="786384"/>
            </a:xfrm>
            <a:prstGeom prst="rect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005840" y="2734056"/>
              <a:ext cx="1005840" cy="274320"/>
            </a:xfrm>
            <a:prstGeom prst="roundRect">
              <a:avLst>
                <a:gd name="adj" fmla="val 20000"/>
              </a:avLst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600200" y="2487168"/>
              <a:ext cx="457200" cy="320040"/>
            </a:xfrm>
            <a:prstGeom prst="roundRect">
              <a:avLst>
                <a:gd name="adj" fmla="val 14285"/>
              </a:avLst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691640" y="2551176"/>
              <a:ext cx="274320" cy="164592"/>
            </a:xfrm>
            <a:prstGeom prst="rect">
              <a:avLst/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Connector 23"/>
            <p:cNvCxnSpPr/>
            <p:nvPr/>
          </p:nvCxnSpPr>
          <p:spPr>
            <a:xfrm flipV="1">
              <a:off x="1188720" y="2505456"/>
              <a:ext cx="0" cy="228600"/>
            </a:xfrm>
            <a:prstGeom prst="line">
              <a:avLst/>
            </a:prstGeom>
            <a:ln w="38100">
              <a:solidFill>
                <a:srgbClr val="9AA0A6"/>
              </a:solidFill>
            </a:ln>
          </p:spPr>
        </p:cxnSp>
        <p:sp>
          <p:nvSpPr>
            <p:cNvPr id="25" name="Oval 24"/>
            <p:cNvSpPr/>
            <p:nvPr/>
          </p:nvSpPr>
          <p:spPr>
            <a:xfrm>
              <a:off x="1691640" y="2779776"/>
              <a:ext cx="566928" cy="566928"/>
            </a:xfrm>
            <a:prstGeom prst="ellipse">
              <a:avLst/>
            </a:prstGeom>
            <a:solidFill>
              <a:srgbClr val="101418"/>
            </a:solidFill>
            <a:ln w="381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960120" y="2935224"/>
              <a:ext cx="365760" cy="365760"/>
            </a:xfrm>
            <a:prstGeom prst="ellipse">
              <a:avLst/>
            </a:prstGeom>
            <a:solidFill>
              <a:srgbClr val="101418"/>
            </a:solidFill>
            <a:ln w="381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926080" y="2414015"/>
              <a:ext cx="8503920" cy="932688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400" b="1" i="0" lang="en-GB">
                  <a:solidFill>
                    <a:srgbClr val="F2C14E"/>
                  </a:solidFill>
                  <a:latin typeface="Arial"/>
                </a:rPr>
                <a:t>Tractors: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 flexible, little infrastructure</a:t>
              </a:r>
            </a:p>
          </p:txBody>
        </p:sp>
      </p:grpSp>
      <p:grpSp>
        <p:nvGrpSpPr>
          <p:cNvPr id="28" name="LANE 3" descr="Lane: steam, with a small steam engine icon."/>
          <p:cNvGrpSpPr/>
          <p:nvPr/>
        </p:nvGrpSpPr>
        <p:grpSpPr>
          <a:xfrm>
            <a:off x="548640" y="3456432"/>
            <a:ext cx="11091672" cy="932688"/>
            <a:chOff x="548640" y="3456432"/>
            <a:chExt cx="11091672" cy="932688"/>
          </a:xfrm>
        </p:grpSpPr>
        <p:sp>
          <p:nvSpPr>
            <p:cNvPr id="29" name="Rounded Rectangle 28"/>
            <p:cNvSpPr/>
            <p:nvPr/>
          </p:nvSpPr>
          <p:spPr>
            <a:xfrm>
              <a:off x="548640" y="3456432"/>
              <a:ext cx="11091672" cy="932688"/>
            </a:xfrm>
            <a:prstGeom prst="roundRect">
              <a:avLst>
                <a:gd name="adj" fmla="val 784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48640" y="3529584"/>
              <a:ext cx="73152" cy="786384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417320" y="3794759"/>
              <a:ext cx="960120" cy="411480"/>
            </a:xfrm>
            <a:prstGeom prst="roundRect">
              <a:avLst>
                <a:gd name="adj" fmla="val 17777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14400" y="3511296"/>
              <a:ext cx="457200" cy="713232"/>
            </a:xfrm>
            <a:prstGeom prst="roundRect">
              <a:avLst>
                <a:gd name="adj" fmla="val 100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87552" y="3602736"/>
              <a:ext cx="274320" cy="23774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94560" y="3511296"/>
              <a:ext cx="146304" cy="310896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1691640" y="3694176"/>
              <a:ext cx="237744" cy="182880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14400" y="4151376"/>
              <a:ext cx="1554480" cy="82296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1261872" y="4059935"/>
              <a:ext cx="310896" cy="310896"/>
            </a:xfrm>
            <a:prstGeom prst="ellipse">
              <a:avLst/>
            </a:prstGeom>
            <a:solidFill>
              <a:srgbClr val="101418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1627632" y="4059935"/>
              <a:ext cx="310896" cy="310896"/>
            </a:xfrm>
            <a:prstGeom prst="ellipse">
              <a:avLst/>
            </a:prstGeom>
            <a:solidFill>
              <a:srgbClr val="101418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1993391" y="4059935"/>
              <a:ext cx="310896" cy="310896"/>
            </a:xfrm>
            <a:prstGeom prst="ellipse">
              <a:avLst/>
            </a:prstGeom>
            <a:solidFill>
              <a:srgbClr val="101418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926080" y="3456432"/>
              <a:ext cx="8503920" cy="932688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400" b="1" i="0" lang="en-GB">
                  <a:solidFill>
                    <a:srgbClr val="F28C28"/>
                  </a:solidFill>
                  <a:latin typeface="Arial"/>
                </a:rPr>
                <a:t>Steam: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 early long-distance bulk</a:t>
              </a:r>
            </a:p>
          </p:txBody>
        </p:sp>
      </p:grpSp>
      <p:grpSp>
        <p:nvGrpSpPr>
          <p:cNvPr id="41" name="LANE 4" descr="Lane: electric, with a blue monorail carriage on a beam."/>
          <p:cNvGrpSpPr/>
          <p:nvPr/>
        </p:nvGrpSpPr>
        <p:grpSpPr>
          <a:xfrm>
            <a:off x="548640" y="4498848"/>
            <a:ext cx="11091672" cy="932688"/>
            <a:chOff x="548640" y="4498848"/>
            <a:chExt cx="11091672" cy="932688"/>
          </a:xfrm>
        </p:grpSpPr>
        <p:sp>
          <p:nvSpPr>
            <p:cNvPr id="42" name="Rounded Rectangle 41"/>
            <p:cNvSpPr/>
            <p:nvPr/>
          </p:nvSpPr>
          <p:spPr>
            <a:xfrm>
              <a:off x="548640" y="4498848"/>
              <a:ext cx="11091672" cy="932688"/>
            </a:xfrm>
            <a:prstGeom prst="roundRect">
              <a:avLst>
                <a:gd name="adj" fmla="val 784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548640" y="4572000"/>
              <a:ext cx="73152" cy="786384"/>
            </a:xfrm>
            <a:prstGeom prst="rect">
              <a:avLst/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68680" y="5248656"/>
              <a:ext cx="1645920" cy="109728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14400" y="4700016"/>
              <a:ext cx="1554480" cy="566928"/>
            </a:xfrm>
            <a:prstGeom prst="roundRect">
              <a:avLst>
                <a:gd name="adj" fmla="val 25806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1088136" y="4809744"/>
              <a:ext cx="246887" cy="201168"/>
            </a:xfrm>
            <a:prstGeom prst="roundRect">
              <a:avLst>
                <a:gd name="adj" fmla="val 18181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408176" y="4809744"/>
              <a:ext cx="246887" cy="201168"/>
            </a:xfrm>
            <a:prstGeom prst="roundRect">
              <a:avLst>
                <a:gd name="adj" fmla="val 18181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728216" y="4809744"/>
              <a:ext cx="246887" cy="201168"/>
            </a:xfrm>
            <a:prstGeom prst="roundRect">
              <a:avLst>
                <a:gd name="adj" fmla="val 18181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2048255" y="4809744"/>
              <a:ext cx="246887" cy="201168"/>
            </a:xfrm>
            <a:prstGeom prst="roundRect">
              <a:avLst>
                <a:gd name="adj" fmla="val 18181"/>
              </a:avLst>
            </a:prstGeom>
            <a:solidFill>
              <a:srgbClr val="1E21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926080" y="4498848"/>
              <a:ext cx="8503920" cy="932688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400" b="1" i="0" lang="en-GB">
                  <a:solidFill>
                    <a:srgbClr val="6CA0DC"/>
                  </a:solidFill>
                  <a:latin typeface="Arial"/>
                </a:rPr>
                <a:t>Electric: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 mature speed and throughput</a:t>
              </a:r>
            </a:p>
          </p:txBody>
        </p:sp>
      </p:grpSp>
      <p:sp>
        <p:nvSpPr>
          <p:cNvPr id="51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Belts, tractors, steam and electric rail each have a job. Electric leads when the factory matures.</a:t>
            </a:r>
          </a:p>
        </p:txBody>
      </p:sp>
      <p:sp>
        <p:nvSpPr>
          <p:cNvPr id="54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Where this stands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PROVISIONAL</a:t>
            </a:r>
          </a:p>
        </p:txBody>
      </p:sp>
      <p:pic>
        <p:nvPicPr>
          <p:cNvPr id="4" name="PICTURE R01" descr="Early test model of a tank engine (a yellow 'visual probe') on a short length of track. Not final art."/>
          <p:cNvPicPr>
            <a:picLocks noChangeAspect="1"/>
          </p:cNvPicPr>
          <p:nvPr/>
        </p:nvPicPr>
        <p:blipFill>
          <a:blip r:embed="rId2"/>
          <a:srcRect l="625" r="625"/>
          <a:stretch>
            <a:fillRect/>
          </a:stretch>
        </p:blipFill>
        <p:spPr>
          <a:xfrm>
            <a:off x="548640" y="1371600"/>
            <a:ext cx="2194560" cy="1234440"/>
          </a:xfrm>
          <a:prstGeom prst="roundRect">
            <a:avLst>
              <a:gd name="adj" fmla="val 5925"/>
            </a:avLst>
          </a:prstGeom>
        </p:spPr>
      </p:pic>
      <p:sp>
        <p:nvSpPr>
          <p:cNvPr id="5" name="CREDIT"/>
          <p:cNvSpPr txBox="1"/>
          <p:nvPr/>
        </p:nvSpPr>
        <p:spPr>
          <a:xfrm>
            <a:off x="548640" y="2633472"/>
            <a:ext cx="21945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000" b="0" i="0" lang="en-GB">
                <a:solidFill>
                  <a:srgbClr val="A9B0B8"/>
                </a:solidFill>
                <a:latin typeface="Arial"/>
              </a:rPr>
              <a:t>Early test model, not final art.</a:t>
            </a:r>
          </a:p>
        </p:txBody>
      </p:sp>
      <p:grpSp>
        <p:nvGrpSpPr>
          <p:cNvPr id="6" name="NOTE" descr="Note: Plans can change. (Provisional)."/>
          <p:cNvGrpSpPr/>
          <p:nvPr/>
        </p:nvGrpSpPr>
        <p:grpSpPr>
          <a:xfrm>
            <a:off x="3108960" y="1691640"/>
            <a:ext cx="8531352" cy="594360"/>
            <a:chOff x="3108960" y="1691640"/>
            <a:chExt cx="8531352" cy="594360"/>
          </a:xfrm>
        </p:grpSpPr>
        <p:sp>
          <p:nvSpPr>
            <p:cNvPr id="7" name="Rounded Rectangle 6"/>
            <p:cNvSpPr/>
            <p:nvPr/>
          </p:nvSpPr>
          <p:spPr>
            <a:xfrm>
              <a:off x="3108960" y="1691640"/>
              <a:ext cx="8531352" cy="594360"/>
            </a:xfrm>
            <a:prstGeom prst="roundRect">
              <a:avLst>
                <a:gd name="adj" fmla="val 1230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ICHIP"/>
            <p:cNvSpPr/>
            <p:nvPr/>
          </p:nvSpPr>
          <p:spPr>
            <a:xfrm>
              <a:off x="3337560" y="1833372"/>
              <a:ext cx="1682200" cy="310896"/>
            </a:xfrm>
            <a:prstGeom prst="roundRect">
              <a:avLst>
                <a:gd name="adj" fmla="val 50000"/>
              </a:avLst>
            </a:prstGeom>
            <a:solidFill>
              <a:srgbClr val="4DA3FF"/>
            </a:solidFill>
            <a:ln>
              <a:noFill/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PROVISIONAL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248360" y="1691640"/>
              <a:ext cx="6117631" cy="594360"/>
            </a:xfrm>
            <a:prstGeom prst="rect">
              <a:avLst/>
            </a:prstGeom>
            <a:noFill/>
          </p:spPr>
          <p:txBody>
            <a:bodyPr wrap="square" anchor="ctr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Plans can change.</a:t>
              </a:r>
            </a:p>
          </p:txBody>
        </p:sp>
      </p:grpSp>
      <p:grpSp>
        <p:nvGrpSpPr>
          <p:cNvPr id="10" name="ROADMAP" descr="Five steps. The test engine on the game's rails is under way. The other four steps are planned."/>
          <p:cNvGrpSpPr/>
          <p:nvPr/>
        </p:nvGrpSpPr>
        <p:grpSpPr>
          <a:xfrm>
            <a:off x="548640" y="3108960"/>
            <a:ext cx="11091672" cy="2331720"/>
            <a:chOff x="548640" y="3108960"/>
            <a:chExt cx="11091672" cy="2331720"/>
          </a:xfrm>
        </p:grpSpPr>
        <p:sp>
          <p:nvSpPr>
            <p:cNvPr id="11" name="Rounded Rectangle 10"/>
            <p:cNvSpPr/>
            <p:nvPr/>
          </p:nvSpPr>
          <p:spPr>
            <a:xfrm>
              <a:off x="548640" y="3108960"/>
              <a:ext cx="2103120" cy="2331720"/>
            </a:xfrm>
            <a:prstGeom prst="roundRect">
              <a:avLst>
                <a:gd name="adj" fmla="val 3478"/>
              </a:avLst>
            </a:prstGeom>
            <a:solidFill>
              <a:srgbClr val="2B2F36"/>
            </a:solidFill>
            <a:ln w="3175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BADGE"/>
            <p:cNvSpPr/>
            <p:nvPr/>
          </p:nvSpPr>
          <p:spPr>
            <a:xfrm>
              <a:off x="704088" y="3264408"/>
              <a:ext cx="420624" cy="420624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101418"/>
                  </a:solidFill>
                  <a:latin typeface="Arial"/>
                </a:rPr>
                <a:t>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58368" y="3794760"/>
              <a:ext cx="1883663" cy="914400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Test engine on the game's rails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85800" y="4800600"/>
              <a:ext cx="1828799" cy="411480"/>
            </a:xfrm>
            <a:prstGeom prst="roundRect">
              <a:avLst>
                <a:gd name="adj" fmla="val 48888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 lIns="54864" tIns="27432" rIns="54864" bIns="27432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101418"/>
                  </a:solidFill>
                  <a:latin typeface="Arial"/>
                </a:rPr>
                <a:t>Under way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795778" y="3108960"/>
              <a:ext cx="2103120" cy="2331720"/>
            </a:xfrm>
            <a:prstGeom prst="roundRect">
              <a:avLst>
                <a:gd name="adj" fmla="val 347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BADGE"/>
            <p:cNvSpPr/>
            <p:nvPr/>
          </p:nvSpPr>
          <p:spPr>
            <a:xfrm>
              <a:off x="2951226" y="3264408"/>
              <a:ext cx="420624" cy="420624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101418"/>
                  </a:solidFill>
                  <a:latin typeface="Arial"/>
                </a:rPr>
                <a:t>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905506" y="3794760"/>
              <a:ext cx="1883663" cy="914400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Upgrade in place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932938" y="4800600"/>
              <a:ext cx="1828799" cy="411480"/>
            </a:xfrm>
            <a:prstGeom prst="roundRect">
              <a:avLst>
                <a:gd name="adj" fmla="val 48888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54864" tIns="27432" rIns="54864" bIns="27432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F2F2F2"/>
                  </a:solidFill>
                  <a:latin typeface="Arial"/>
                </a:rPr>
                <a:t>Planned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042916" y="3108960"/>
              <a:ext cx="2103120" cy="2331720"/>
            </a:xfrm>
            <a:prstGeom prst="roundRect">
              <a:avLst>
                <a:gd name="adj" fmla="val 347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BADGE"/>
            <p:cNvSpPr/>
            <p:nvPr/>
          </p:nvSpPr>
          <p:spPr>
            <a:xfrm>
              <a:off x="5198364" y="3264408"/>
              <a:ext cx="420624" cy="420624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101418"/>
                  </a:solidFill>
                  <a:latin typeface="Arial"/>
                </a:rPr>
                <a:t>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152644" y="3794760"/>
              <a:ext cx="1883663" cy="914400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Station replacement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180076" y="4800600"/>
              <a:ext cx="1828799" cy="411480"/>
            </a:xfrm>
            <a:prstGeom prst="roundRect">
              <a:avLst>
                <a:gd name="adj" fmla="val 48888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54864" tIns="27432" rIns="54864" bIns="27432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F2F2F2"/>
                  </a:solidFill>
                  <a:latin typeface="Arial"/>
                </a:rPr>
                <a:t>Planned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7290054" y="3108960"/>
              <a:ext cx="2103120" cy="2331720"/>
            </a:xfrm>
            <a:prstGeom prst="roundRect">
              <a:avLst>
                <a:gd name="adj" fmla="val 347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BADGE"/>
            <p:cNvSpPr/>
            <p:nvPr/>
          </p:nvSpPr>
          <p:spPr>
            <a:xfrm>
              <a:off x="7445502" y="3264408"/>
              <a:ext cx="420624" cy="420624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101418"/>
                  </a:solidFill>
                  <a:latin typeface="Arial"/>
                </a:rPr>
                <a:t>4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99781" y="3794760"/>
              <a:ext cx="1883663" cy="914400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Mixed networks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427214" y="4800600"/>
              <a:ext cx="1828799" cy="411480"/>
            </a:xfrm>
            <a:prstGeom prst="roundRect">
              <a:avLst>
                <a:gd name="adj" fmla="val 48888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54864" tIns="27432" rIns="54864" bIns="27432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F2F2F2"/>
                  </a:solidFill>
                  <a:latin typeface="Arial"/>
                </a:rPr>
                <a:t>Planned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537192" y="3108960"/>
              <a:ext cx="2103120" cy="2331720"/>
            </a:xfrm>
            <a:prstGeom prst="roundRect">
              <a:avLst>
                <a:gd name="adj" fmla="val 347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BADGE"/>
            <p:cNvSpPr/>
            <p:nvPr/>
          </p:nvSpPr>
          <p:spPr>
            <a:xfrm>
              <a:off x="9692640" y="3264408"/>
              <a:ext cx="420624" cy="420624"/>
            </a:xfrm>
            <a:prstGeom prst="ellips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101418"/>
                  </a:solidFill>
                  <a:latin typeface="Arial"/>
                </a:rPr>
                <a:t>5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646919" y="3794760"/>
              <a:ext cx="1883663" cy="914400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Interchange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674352" y="4800600"/>
              <a:ext cx="1828799" cy="411480"/>
            </a:xfrm>
            <a:prstGeom prst="roundRect">
              <a:avLst>
                <a:gd name="adj" fmla="val 48888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54864" tIns="27432" rIns="54864" bIns="27432">
              <a:noAutofit/>
            </a:bodyPr>
            <a:lstStyle/>
            <a:p>
              <a:pPr algn="ctr"/>
              <a:r>
                <a:rPr sz="1600" b="1" i="0" lang="en-GB">
                  <a:solidFill>
                    <a:srgbClr val="F2F2F2"/>
                  </a:solidFill>
                  <a:latin typeface="Arial"/>
                </a:rPr>
                <a:t>Planned</a:t>
              </a:r>
            </a:p>
          </p:txBody>
        </p:sp>
      </p:grpSp>
      <p:sp>
        <p:nvSpPr>
          <p:cNvPr id="31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Conversion is planned. It is not built yet.</a:t>
            </a:r>
          </a:p>
        </p:txBody>
      </p:sp>
      <p:sp>
        <p:nvSpPr>
          <p:cNvPr id="34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Still undecided</a:t>
            </a:r>
          </a:p>
        </p:txBody>
      </p:sp>
      <p:sp>
        <p:nvSpPr>
          <p:cNvPr id="3" name="CHIP"/>
          <p:cNvSpPr/>
          <p:nvPr/>
        </p:nvSpPr>
        <p:spPr>
          <a:xfrm>
            <a:off x="10088575" y="548640"/>
            <a:ext cx="1554480" cy="36576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UNDECIDED</a:t>
            </a:r>
          </a:p>
        </p:txBody>
      </p:sp>
      <p:grpSp>
        <p:nvGrpSpPr>
          <p:cNvPr id="4" name="QUESTION GRID" descr="Eight open questions, each marked Undecided with its open-question code."/>
          <p:cNvGrpSpPr/>
          <p:nvPr/>
        </p:nvGrpSpPr>
        <p:grpSpPr>
          <a:xfrm>
            <a:off x="548640" y="1371600"/>
            <a:ext cx="11091672" cy="4069080"/>
            <a:chOff x="548640" y="1371600"/>
            <a:chExt cx="11091672" cy="406908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71600"/>
              <a:ext cx="2651760" cy="1920240"/>
            </a:xfrm>
            <a:prstGeom prst="roundRect">
              <a:avLst>
                <a:gd name="adj" fmla="val 380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CHIP"/>
            <p:cNvSpPr/>
            <p:nvPr/>
          </p:nvSpPr>
          <p:spPr>
            <a:xfrm>
              <a:off x="685800" y="1527048"/>
              <a:ext cx="2146591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 · OQ12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5800" y="1965960"/>
              <a:ext cx="2377440" cy="1261872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Exact copies of shapes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361944" y="1371600"/>
              <a:ext cx="2651760" cy="1920240"/>
            </a:xfrm>
            <a:prstGeom prst="roundRect">
              <a:avLst>
                <a:gd name="adj" fmla="val 380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ICHIP"/>
            <p:cNvSpPr/>
            <p:nvPr/>
          </p:nvSpPr>
          <p:spPr>
            <a:xfrm>
              <a:off x="3499104" y="1527048"/>
              <a:ext cx="2146591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 · OQ12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99104" y="1965960"/>
              <a:ext cx="2377440" cy="1261872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Costs and refunds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175248" y="1371600"/>
              <a:ext cx="2651760" cy="1920240"/>
            </a:xfrm>
            <a:prstGeom prst="roundRect">
              <a:avLst>
                <a:gd name="adj" fmla="val 380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ICHIP"/>
            <p:cNvSpPr/>
            <p:nvPr/>
          </p:nvSpPr>
          <p:spPr>
            <a:xfrm>
              <a:off x="6312408" y="1527048"/>
              <a:ext cx="2146591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 · OQ12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12408" y="1965960"/>
              <a:ext cx="2377440" cy="1261872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Undo and recovery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988552" y="1371600"/>
              <a:ext cx="2651760" cy="1920240"/>
            </a:xfrm>
            <a:prstGeom prst="roundRect">
              <a:avLst>
                <a:gd name="adj" fmla="val 380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ICHIP"/>
            <p:cNvSpPr/>
            <p:nvPr/>
          </p:nvSpPr>
          <p:spPr>
            <a:xfrm>
              <a:off x="9125712" y="1527048"/>
              <a:ext cx="2146591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 · OQ12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25712" y="1965960"/>
              <a:ext cx="2377440" cy="1261872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Occupied and stranded trains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48640" y="3520440"/>
              <a:ext cx="2651760" cy="1920240"/>
            </a:xfrm>
            <a:prstGeom prst="roundRect">
              <a:avLst>
                <a:gd name="adj" fmla="val 380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ICHIP"/>
            <p:cNvSpPr/>
            <p:nvPr/>
          </p:nvSpPr>
          <p:spPr>
            <a:xfrm>
              <a:off x="685800" y="3675888"/>
              <a:ext cx="2146591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 · OQ12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5800" y="4114800"/>
              <a:ext cx="2377440" cy="1261872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Station and timetable carry-over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361944" y="3520440"/>
              <a:ext cx="2651760" cy="1920240"/>
            </a:xfrm>
            <a:prstGeom prst="roundRect">
              <a:avLst>
                <a:gd name="adj" fmla="val 380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ICHIP"/>
            <p:cNvSpPr/>
            <p:nvPr/>
          </p:nvSpPr>
          <p:spPr>
            <a:xfrm>
              <a:off x="3499104" y="3675888"/>
              <a:ext cx="2146591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 · OQ03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99104" y="4114800"/>
              <a:ext cx="2377440" cy="1261872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Signal upgrades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175248" y="3520440"/>
              <a:ext cx="2651760" cy="1920240"/>
            </a:xfrm>
            <a:prstGeom prst="roundRect">
              <a:avLst>
                <a:gd name="adj" fmla="val 380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ICHIP"/>
            <p:cNvSpPr/>
            <p:nvPr/>
          </p:nvSpPr>
          <p:spPr>
            <a:xfrm>
              <a:off x="6312408" y="3675888"/>
              <a:ext cx="2146591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 · OQ13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12408" y="4114800"/>
              <a:ext cx="2377440" cy="1261872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Transfer buildings in or out of Core?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988552" y="3520440"/>
              <a:ext cx="2651760" cy="1920240"/>
            </a:xfrm>
            <a:prstGeom prst="roundRect">
              <a:avLst>
                <a:gd name="adj" fmla="val 380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ICHIP"/>
            <p:cNvSpPr/>
            <p:nvPr/>
          </p:nvSpPr>
          <p:spPr>
            <a:xfrm>
              <a:off x="9125712" y="3675888"/>
              <a:ext cx="2146591" cy="31089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square" lIns="36576" tIns="0" rIns="36576" bIns="0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 · OQ01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125712" y="4114800"/>
              <a:ext cx="2377440" cy="1261872"/>
            </a:xfrm>
            <a:prstGeom prst="rect">
              <a:avLst/>
            </a:prstGeom>
            <a:noFill/>
          </p:spPr>
          <p:txBody>
            <a:bodyPr wrap="square" anchor="t" lIns="18288" tIns="9144" rIns="18288" bIns="9144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Which tier unlocks the upgrade?</a:t>
              </a:r>
            </a:p>
          </p:txBody>
        </p:sp>
      </p:grpSp>
      <p:sp>
        <p:nvSpPr>
          <p:cNvPr id="29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These questions are open. Nothing here has been chosen yet.</a:t>
            </a:r>
          </a:p>
        </p:txBody>
      </p:sp>
      <p:sp>
        <p:nvSpPr>
          <p:cNvPr id="32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932688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Image credits</a:t>
            </a:r>
          </a:p>
        </p:txBody>
      </p:sp>
      <p:graphicFrame>
        <p:nvGraphicFramePr>
          <p:cNvPr id="3" name="CREDITS TABLE" descr="Image credits table: R01 on slide 20 and R02 on slide 1, both Early Locomotion project renders, not final art."/>
          <p:cNvGraphicFramePr>
            <a:graphicFrameLocks noGrp="1"/>
          </p:cNvGraphicFramePr>
          <p:nvPr/>
        </p:nvGraphicFramePr>
        <p:xfrm>
          <a:off x="548640" y="1463040"/>
          <a:ext cx="11091672" cy="13716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871423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 i="0" lang="en-GB">
                          <a:solidFill>
                            <a:srgbClr val="F2F2F2"/>
                          </a:solidFill>
                          <a:latin typeface="Arial"/>
                        </a:rPr>
                        <a:t>Slot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4A515B"/>
                      </a:solidFill>
                    </a:lnL>
                    <a:lnR w="9525">
                      <a:solidFill>
                        <a:srgbClr val="4A515B"/>
                      </a:solidFill>
                    </a:lnR>
                    <a:lnT w="9525">
                      <a:solidFill>
                        <a:srgbClr val="4A515B"/>
                      </a:solidFill>
                    </a:lnT>
                    <a:lnB w="9525">
                      <a:solidFill>
                        <a:srgbClr val="4A515B"/>
                      </a:solidFill>
                    </a:lnB>
                    <a:solidFill>
                      <a:srgbClr val="343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 lang="en-GB">
                          <a:solidFill>
                            <a:srgbClr val="F2F2F2"/>
                          </a:solidFill>
                          <a:latin typeface="Arial"/>
                        </a:rPr>
                        <a:t>Slide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4A515B"/>
                      </a:solidFill>
                    </a:lnL>
                    <a:lnR w="9525">
                      <a:solidFill>
                        <a:srgbClr val="4A515B"/>
                      </a:solidFill>
                    </a:lnR>
                    <a:lnT w="9525">
                      <a:solidFill>
                        <a:srgbClr val="4A515B"/>
                      </a:solidFill>
                    </a:lnT>
                    <a:lnB w="9525">
                      <a:solidFill>
                        <a:srgbClr val="4A515B"/>
                      </a:solidFill>
                    </a:lnB>
                    <a:solidFill>
                      <a:srgbClr val="343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 lang="en-GB">
                          <a:solidFill>
                            <a:srgbClr val="F2F2F2"/>
                          </a:solidFill>
                          <a:latin typeface="Arial"/>
                        </a:rPr>
                        <a:t>Credit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4A515B"/>
                      </a:solidFill>
                    </a:lnL>
                    <a:lnR w="9525">
                      <a:solidFill>
                        <a:srgbClr val="4A515B"/>
                      </a:solidFill>
                    </a:lnR>
                    <a:lnT w="9525">
                      <a:solidFill>
                        <a:srgbClr val="4A515B"/>
                      </a:solidFill>
                    </a:lnT>
                    <a:lnB w="9525">
                      <a:solidFill>
                        <a:srgbClr val="4A515B"/>
                      </a:solidFill>
                    </a:lnB>
                    <a:solidFill>
                      <a:srgbClr val="343A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 lang="en-GB">
                          <a:solidFill>
                            <a:srgbClr val="F2F2F2"/>
                          </a:solidFill>
                          <a:latin typeface="Arial"/>
                        </a:rPr>
                        <a:t>R01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4A515B"/>
                      </a:solidFill>
                    </a:lnL>
                    <a:lnR w="9525">
                      <a:solidFill>
                        <a:srgbClr val="4A515B"/>
                      </a:solidFill>
                    </a:lnR>
                    <a:lnT w="9525">
                      <a:solidFill>
                        <a:srgbClr val="4A515B"/>
                      </a:solidFill>
                    </a:lnT>
                    <a:lnB w="9525">
                      <a:solidFill>
                        <a:srgbClr val="4A515B"/>
                      </a:solidFill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 lang="en-GB">
                          <a:solidFill>
                            <a:srgbClr val="F2F2F2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4A515B"/>
                      </a:solidFill>
                    </a:lnL>
                    <a:lnR w="9525">
                      <a:solidFill>
                        <a:srgbClr val="4A515B"/>
                      </a:solidFill>
                    </a:lnR>
                    <a:lnT w="9525">
                      <a:solidFill>
                        <a:srgbClr val="4A515B"/>
                      </a:solidFill>
                    </a:lnT>
                    <a:lnB w="9525">
                      <a:solidFill>
                        <a:srgbClr val="4A515B"/>
                      </a:solidFill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 lang="en-GB">
                          <a:solidFill>
                            <a:srgbClr val="F2F2F2"/>
                          </a:solidFill>
                          <a:latin typeface="Arial"/>
                        </a:rPr>
                        <a:t>Early Locomotion project (test model, not final art).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4A515B"/>
                      </a:solidFill>
                    </a:lnL>
                    <a:lnR w="9525">
                      <a:solidFill>
                        <a:srgbClr val="4A515B"/>
                      </a:solidFill>
                    </a:lnR>
                    <a:lnT w="9525">
                      <a:solidFill>
                        <a:srgbClr val="4A515B"/>
                      </a:solidFill>
                    </a:lnT>
                    <a:lnB w="9525">
                      <a:solidFill>
                        <a:srgbClr val="4A515B"/>
                      </a:solidFill>
                    </a:lnB>
                    <a:solidFill>
                      <a:srgbClr val="2B2F3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 lang="en-GB">
                          <a:solidFill>
                            <a:srgbClr val="F2F2F2"/>
                          </a:solidFill>
                          <a:latin typeface="Arial"/>
                        </a:rPr>
                        <a:t>R02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4A515B"/>
                      </a:solidFill>
                    </a:lnL>
                    <a:lnR w="9525">
                      <a:solidFill>
                        <a:srgbClr val="4A515B"/>
                      </a:solidFill>
                    </a:lnR>
                    <a:lnT w="9525">
                      <a:solidFill>
                        <a:srgbClr val="4A515B"/>
                      </a:solidFill>
                    </a:lnT>
                    <a:lnB w="9525">
                      <a:solidFill>
                        <a:srgbClr val="4A515B"/>
                      </a:solidFill>
                    </a:lnB>
                    <a:solidFill>
                      <a:srgbClr val="1E21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 lang="en-GB">
                          <a:solidFill>
                            <a:srgbClr val="F2F2F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4A515B"/>
                      </a:solidFill>
                    </a:lnL>
                    <a:lnR w="9525">
                      <a:solidFill>
                        <a:srgbClr val="4A515B"/>
                      </a:solidFill>
                    </a:lnR>
                    <a:lnT w="9525">
                      <a:solidFill>
                        <a:srgbClr val="4A515B"/>
                      </a:solidFill>
                    </a:lnT>
                    <a:lnB w="9525">
                      <a:solidFill>
                        <a:srgbClr val="4A515B"/>
                      </a:solidFill>
                    </a:lnB>
                    <a:solidFill>
                      <a:srgbClr val="1E21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 lang="en-GB">
                          <a:solidFill>
                            <a:srgbClr val="F2F2F2"/>
                          </a:solidFill>
                          <a:latin typeface="Arial"/>
                        </a:rPr>
                        <a:t>Early Locomotion project (visual development, not final art).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4A515B"/>
                      </a:solidFill>
                    </a:lnL>
                    <a:lnR w="9525">
                      <a:solidFill>
                        <a:srgbClr val="4A515B"/>
                      </a:solidFill>
                    </a:lnR>
                    <a:lnT w="9525">
                      <a:solidFill>
                        <a:srgbClr val="4A515B"/>
                      </a:solidFill>
                    </a:lnT>
                    <a:lnB w="9525">
                      <a:solidFill>
                        <a:srgbClr val="4A515B"/>
                      </a:solidFill>
                    </a:lnB>
                    <a:solidFill>
                      <a:srgbClr val="1E2126"/>
                    </a:solidFill>
                  </a:tcPr>
                </a:tc>
              </a:tr>
            </a:tbl>
          </a:graphicData>
        </a:graphic>
      </p:graphicFrame>
      <p:sp>
        <p:nvSpPr>
          <p:cNvPr id="4" name="CAPTION BAR"/>
          <p:cNvSpPr/>
          <p:nvPr/>
        </p:nvSpPr>
        <p:spPr>
          <a:xfrm>
            <a:off x="548640" y="5760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APTION RULE"/>
          <p:cNvSpPr/>
          <p:nvPr/>
        </p:nvSpPr>
        <p:spPr>
          <a:xfrm>
            <a:off x="548640" y="5815583"/>
            <a:ext cx="73152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PTION"/>
          <p:cNvSpPr txBox="1"/>
          <p:nvPr/>
        </p:nvSpPr>
        <p:spPr>
          <a:xfrm>
            <a:off x="777240" y="5760720"/>
            <a:ext cx="10744200" cy="7315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This deck uses no photographs.</a:t>
            </a:r>
          </a:p>
        </p:txBody>
      </p:sp>
      <p:sp>
        <p:nvSpPr>
          <p:cNvPr id="7" name="NUM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FC7FF"/>
      </a:hlink>
      <a:folHlink>
        <a:srgbClr val="C9B2F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Monorail Transition, Explained</dc:title>
  <dc:subject>Explainer deck 4 of the Early Locomotion series</dc:subject>
  <dc:creator>Claude (Early Locomotion project)</dc:creator>
  <cp:keywords>Satisfactory; Early Locomotion; steam; monorail; transition</cp:keywords>
  <dc:description>generated using python-pptx</dc:description>
  <cp:lastModifiedBy>Claude (Early Locomotion project)</cp:lastModifiedBy>
  <cp:revision>1</cp:revision>
  <dcterms:created xsi:type="dcterms:W3CDTF">2013-01-27T09:14:16Z</dcterms:created>
  <dcterms:modified xsi:type="dcterms:W3CDTF">2013-01-27T09:15:58Z</dcterms:modified>
  <cp:category/>
  <dc:language>en-GB</dc:language>
</cp:coreProperties>
</file>