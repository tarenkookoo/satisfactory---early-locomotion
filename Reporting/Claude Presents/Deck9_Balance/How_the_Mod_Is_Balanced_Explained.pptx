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234440"/>
            <a:ext cx="5943600" cy="1920240"/>
          </a:xfrm>
        </p:spPr>
        <p:txBody>
          <a:bodyPr wrap="square" lIns="0" tIns="0" rIns="0" bIns="0" anchor="b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 i="0" lang="en-GB">
                <a:solidFill>
                  <a:srgbClr val="F2F2F2"/>
                </a:solidFill>
                <a:latin typeface="Arial"/>
              </a:rPr>
              <a:t>How the Mod Is Balanced</a:t>
            </a:r>
          </a:p>
        </p:txBody>
      </p:sp>
      <p:sp>
        <p:nvSpPr>
          <p:cNvPr id="3" name="Orange rule"/>
          <p:cNvSpPr/>
          <p:nvPr/>
        </p:nvSpPr>
        <p:spPr>
          <a:xfrm>
            <a:off x="548640" y="3364992"/>
            <a:ext cx="2011680" cy="82296"/>
          </a:xfrm>
          <a:prstGeom prst="rect">
            <a:avLst/>
          </a:prstGeom>
          <a:solidFill>
            <a:srgbClr val="F28C2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Caption text"/>
          <p:cNvSpPr txBox="1"/>
          <p:nvPr/>
        </p:nvSpPr>
        <p:spPr>
          <a:xfrm>
            <a:off x="548640" y="3639312"/>
            <a:ext cx="5760720" cy="12801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 i="0" lang="en-GB">
                <a:solidFill>
                  <a:srgbClr val="F2F2F2"/>
                </a:solidFill>
                <a:latin typeface="Arial"/>
              </a:rPr>
              <a:t>Why steam is cheap to start, and what keeps it from being too easy.</a:t>
            </a:r>
          </a:p>
        </p:txBody>
      </p:sp>
      <p:pic>
        <p:nvPicPr>
          <p:cNvPr id="5" name="Picture R02" descr="High-detail render of the mod's two-rail track. Visual development only: not Unreal-tested, not production-ready."/>
          <p:cNvPicPr>
            <a:picLocks noChangeAspect="1"/>
          </p:cNvPicPr>
          <p:nvPr/>
        </p:nvPicPr>
        <p:blipFill>
          <a:blip r:embed="rId2"/>
          <a:srcRect l="21729" r="31729"/>
          <a:stretch>
            <a:fillRect/>
          </a:stretch>
        </p:blipFill>
        <p:spPr>
          <a:xfrm>
            <a:off x="6949440" y="502920"/>
            <a:ext cx="4690872" cy="5669280"/>
          </a:xfrm>
          <a:prstGeom prst="roundRect">
            <a:avLst>
              <a:gd name="adj" fmla="val 779"/>
            </a:avLst>
          </a:prstGeom>
        </p:spPr>
      </p:pic>
      <p:sp>
        <p:nvSpPr>
          <p:cNvPr id="6" name="Credit line R02"/>
          <p:cNvSpPr txBox="1"/>
          <p:nvPr/>
        </p:nvSpPr>
        <p:spPr>
          <a:xfrm>
            <a:off x="6949440" y="6236208"/>
            <a:ext cx="4690872" cy="3657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 lang="en-GB">
                <a:solidFill>
                  <a:srgbClr val="A9B0B8"/>
                </a:solidFill>
                <a:latin typeface="Arial"/>
              </a:rPr>
              <a:t>Early Locomotion project render (visual development, not final art).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How to read this guide</a:t>
            </a:r>
          </a:p>
        </p:txBody>
      </p:sp>
      <p:grpSp>
        <p:nvGrpSpPr>
          <p:cNvPr id="3" name="Legend row: Agreed" descr="Legend row: the Agreed tag means 'Decided.'"/>
          <p:cNvGrpSpPr/>
          <p:nvPr/>
        </p:nvGrpSpPr>
        <p:grpSpPr>
          <a:xfrm>
            <a:off x="548640" y="1371600"/>
            <a:ext cx="11091672" cy="685800"/>
            <a:chOff x="548640" y="1371600"/>
            <a:chExt cx="11091672" cy="685800"/>
          </a:xfrm>
        </p:grpSpPr>
        <p:sp>
          <p:nvSpPr>
            <p:cNvPr id="4" name="Row panel"/>
            <p:cNvSpPr/>
            <p:nvPr/>
          </p:nvSpPr>
          <p:spPr>
            <a:xfrm>
              <a:off x="548640" y="1371600"/>
              <a:ext cx="11091672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Legend chip: Agreed"/>
            <p:cNvSpPr/>
            <p:nvPr/>
          </p:nvSpPr>
          <p:spPr>
            <a:xfrm>
              <a:off x="868680" y="1531620"/>
              <a:ext cx="1463040" cy="365760"/>
            </a:xfrm>
            <a:prstGeom prst="roundRect">
              <a:avLst>
                <a:gd name="adj" fmla="val 3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AGREED</a:t>
              </a:r>
            </a:p>
          </p:txBody>
        </p:sp>
        <p:sp>
          <p:nvSpPr>
            <p:cNvPr id="6" name="Legend meaning"/>
            <p:cNvSpPr txBox="1"/>
            <p:nvPr/>
          </p:nvSpPr>
          <p:spPr>
            <a:xfrm>
              <a:off x="2743200" y="1371600"/>
              <a:ext cx="8595360" cy="6858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Decided.</a:t>
              </a:r>
            </a:p>
          </p:txBody>
        </p:sp>
      </p:grpSp>
      <p:grpSp>
        <p:nvGrpSpPr>
          <p:cNvPr id="7" name="Legend row: Proposed" descr="Legend row: the Proposed tag means 'Suggested, not confirmed.'"/>
          <p:cNvGrpSpPr/>
          <p:nvPr/>
        </p:nvGrpSpPr>
        <p:grpSpPr>
          <a:xfrm>
            <a:off x="548640" y="2194560"/>
            <a:ext cx="11091672" cy="685800"/>
            <a:chOff x="548640" y="2194560"/>
            <a:chExt cx="11091672" cy="685800"/>
          </a:xfrm>
        </p:grpSpPr>
        <p:sp>
          <p:nvSpPr>
            <p:cNvPr id="8" name="Row panel"/>
            <p:cNvSpPr/>
            <p:nvPr/>
          </p:nvSpPr>
          <p:spPr>
            <a:xfrm>
              <a:off x="548640" y="2194560"/>
              <a:ext cx="11091672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Legend chip: Proposed"/>
            <p:cNvSpPr/>
            <p:nvPr/>
          </p:nvSpPr>
          <p:spPr>
            <a:xfrm>
              <a:off x="868680" y="2354580"/>
              <a:ext cx="1463040" cy="365760"/>
            </a:xfrm>
            <a:prstGeom prst="roundRect">
              <a:avLst>
                <a:gd name="adj" fmla="val 30000"/>
              </a:avLst>
            </a:prstGeom>
            <a:solidFill>
              <a:srgbClr val="B084F5"/>
            </a:solidFill>
            <a:ln>
              <a:noFill/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PROPOSED</a:t>
              </a:r>
            </a:p>
          </p:txBody>
        </p:sp>
        <p:sp>
          <p:nvSpPr>
            <p:cNvPr id="10" name="Legend meaning"/>
            <p:cNvSpPr txBox="1"/>
            <p:nvPr/>
          </p:nvSpPr>
          <p:spPr>
            <a:xfrm>
              <a:off x="2743200" y="2194560"/>
              <a:ext cx="8595360" cy="6858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Suggested, not confirmed.</a:t>
              </a:r>
            </a:p>
          </p:txBody>
        </p:sp>
      </p:grpSp>
      <p:grpSp>
        <p:nvGrpSpPr>
          <p:cNvPr id="11" name="Legend row: Provisional" descr="Legend row: the Provisional tag means 'A test number that may change.'"/>
          <p:cNvGrpSpPr/>
          <p:nvPr/>
        </p:nvGrpSpPr>
        <p:grpSpPr>
          <a:xfrm>
            <a:off x="548640" y="3017520"/>
            <a:ext cx="11091672" cy="685800"/>
            <a:chOff x="548640" y="3017520"/>
            <a:chExt cx="11091672" cy="685800"/>
          </a:xfrm>
        </p:grpSpPr>
        <p:sp>
          <p:nvSpPr>
            <p:cNvPr id="12" name="Row panel"/>
            <p:cNvSpPr/>
            <p:nvPr/>
          </p:nvSpPr>
          <p:spPr>
            <a:xfrm>
              <a:off x="548640" y="3017520"/>
              <a:ext cx="11091672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Legend chip: Provisional"/>
            <p:cNvSpPr/>
            <p:nvPr/>
          </p:nvSpPr>
          <p:spPr>
            <a:xfrm>
              <a:off x="868680" y="3177540"/>
              <a:ext cx="1463040" cy="365760"/>
            </a:xfrm>
            <a:prstGeom prst="roundRect">
              <a:avLst>
                <a:gd name="adj" fmla="val 30000"/>
              </a:avLst>
            </a:prstGeom>
            <a:solidFill>
              <a:srgbClr val="4DA3FF"/>
            </a:solidFill>
            <a:ln>
              <a:noFill/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101418"/>
                  </a:solidFill>
                  <a:latin typeface="Arial"/>
                </a:rPr>
                <a:t>PROVISIONAL</a:t>
              </a:r>
            </a:p>
          </p:txBody>
        </p:sp>
        <p:sp>
          <p:nvSpPr>
            <p:cNvPr id="14" name="Legend meaning"/>
            <p:cNvSpPr txBox="1"/>
            <p:nvPr/>
          </p:nvSpPr>
          <p:spPr>
            <a:xfrm>
              <a:off x="2743200" y="3017520"/>
              <a:ext cx="8595360" cy="6858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test number that may change.</a:t>
              </a:r>
            </a:p>
          </p:txBody>
        </p:sp>
      </p:grpSp>
      <p:grpSp>
        <p:nvGrpSpPr>
          <p:cNvPr id="15" name="Legend row: Undecided" descr="Legend row: the Undecided tag means 'Still an open question.'"/>
          <p:cNvGrpSpPr/>
          <p:nvPr/>
        </p:nvGrpSpPr>
        <p:grpSpPr>
          <a:xfrm>
            <a:off x="548640" y="3840480"/>
            <a:ext cx="11091672" cy="685800"/>
            <a:chOff x="548640" y="3840480"/>
            <a:chExt cx="11091672" cy="685800"/>
          </a:xfrm>
        </p:grpSpPr>
        <p:sp>
          <p:nvSpPr>
            <p:cNvPr id="16" name="Row panel"/>
            <p:cNvSpPr/>
            <p:nvPr/>
          </p:nvSpPr>
          <p:spPr>
            <a:xfrm>
              <a:off x="548640" y="3840480"/>
              <a:ext cx="11091672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Legend chip: Undecided"/>
            <p:cNvSpPr/>
            <p:nvPr/>
          </p:nvSpPr>
          <p:spPr>
            <a:xfrm>
              <a:off x="868680" y="4000500"/>
              <a:ext cx="1463040" cy="365760"/>
            </a:xfrm>
            <a:prstGeom prst="roundRect">
              <a:avLst>
                <a:gd name="adj" fmla="val 3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UNDECIDED</a:t>
              </a:r>
            </a:p>
          </p:txBody>
        </p:sp>
        <p:sp>
          <p:nvSpPr>
            <p:cNvPr id="18" name="Legend meaning"/>
            <p:cNvSpPr txBox="1"/>
            <p:nvPr/>
          </p:nvSpPr>
          <p:spPr>
            <a:xfrm>
              <a:off x="2743200" y="3840480"/>
              <a:ext cx="8595360" cy="6858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Still an open question.</a:t>
              </a:r>
            </a:p>
          </p:txBody>
        </p:sp>
      </p:grpSp>
      <p:grpSp>
        <p:nvGrpSpPr>
          <p:cNvPr id="19" name="Legend row: Background" descr="Legend row: the Background tag means 'A real-world fact.'"/>
          <p:cNvGrpSpPr/>
          <p:nvPr/>
        </p:nvGrpSpPr>
        <p:grpSpPr>
          <a:xfrm>
            <a:off x="548640" y="4663440"/>
            <a:ext cx="11091672" cy="685800"/>
            <a:chOff x="548640" y="4663440"/>
            <a:chExt cx="11091672" cy="685800"/>
          </a:xfrm>
        </p:grpSpPr>
        <p:sp>
          <p:nvSpPr>
            <p:cNvPr id="20" name="Row panel"/>
            <p:cNvSpPr/>
            <p:nvPr/>
          </p:nvSpPr>
          <p:spPr>
            <a:xfrm>
              <a:off x="548640" y="4663440"/>
              <a:ext cx="11091672" cy="685800"/>
            </a:xfrm>
            <a:prstGeom prst="roundRect">
              <a:avLst>
                <a:gd name="adj" fmla="val 10666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Legend chip: Background"/>
            <p:cNvSpPr/>
            <p:nvPr/>
          </p:nvSpPr>
          <p:spPr>
            <a:xfrm>
              <a:off x="868680" y="4823460"/>
              <a:ext cx="1463040" cy="365760"/>
            </a:xfrm>
            <a:prstGeom prst="roundRect">
              <a:avLst>
                <a:gd name="adj" fmla="val 30000"/>
              </a:avLst>
            </a:prstGeom>
            <a:solidFill>
              <a:srgbClr val="4A515B"/>
            </a:solidFill>
            <a:ln>
              <a:noFill/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BACKGROUND</a:t>
              </a:r>
            </a:p>
          </p:txBody>
        </p:sp>
        <p:sp>
          <p:nvSpPr>
            <p:cNvPr id="22" name="Legend meaning"/>
            <p:cNvSpPr txBox="1"/>
            <p:nvPr/>
          </p:nvSpPr>
          <p:spPr>
            <a:xfrm>
              <a:off x="2743200" y="4663440"/>
              <a:ext cx="8595360" cy="6858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real-world fact.</a:t>
              </a:r>
            </a:p>
          </p:txBody>
        </p:sp>
      </p:grpSp>
      <p:grpSp>
        <p:nvGrpSpPr>
          <p:cNvPr id="23" name="Caption" descr="Caption: Every idea carries a tag in the top-right corner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24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Every idea carries a tag in the top-right corner.</a:t>
              </a:r>
            </a:p>
          </p:txBody>
        </p:sp>
      </p:grpSp>
      <p:sp>
        <p:nvSpPr>
          <p:cNvPr id="27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Cheap to start</a:t>
            </a:r>
          </a:p>
        </p:txBody>
      </p:sp>
      <p:sp>
        <p:nvSpPr>
          <p:cNvPr id="3" name="Status chip" descr="Status tag: Agreed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cost against effort" descr="Two bars: the cost to build is short, the effort to run is long."/>
          <p:cNvGrpSpPr/>
          <p:nvPr/>
        </p:nvGrpSpPr>
        <p:grpSpPr>
          <a:xfrm>
            <a:off x="548640" y="1371600"/>
            <a:ext cx="11091672" cy="3931920"/>
            <a:chOff x="548640" y="1371600"/>
            <a:chExt cx="11091672" cy="3931920"/>
          </a:xfrm>
        </p:grpSpPr>
        <p:sp>
          <p:nvSpPr>
            <p:cNvPr id="5" name="Panel"/>
            <p:cNvSpPr/>
            <p:nvPr/>
          </p:nvSpPr>
          <p:spPr>
            <a:xfrm>
              <a:off x="548640" y="1371600"/>
              <a:ext cx="11091672" cy="3931920"/>
            </a:xfrm>
            <a:prstGeom prst="roundRect">
              <a:avLst>
                <a:gd name="adj" fmla="val 1860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Bar label"/>
            <p:cNvSpPr txBox="1"/>
            <p:nvPr/>
          </p:nvSpPr>
          <p:spPr>
            <a:xfrm>
              <a:off x="914400" y="2011680"/>
              <a:ext cx="2834640" cy="8686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Cost to build</a:t>
              </a:r>
            </a:p>
          </p:txBody>
        </p:sp>
        <p:sp>
          <p:nvSpPr>
            <p:cNvPr id="7" name="Bar track"/>
            <p:cNvSpPr/>
            <p:nvPr/>
          </p:nvSpPr>
          <p:spPr>
            <a:xfrm>
              <a:off x="3931920" y="2011680"/>
              <a:ext cx="7315200" cy="868680"/>
            </a:xfrm>
            <a:prstGeom prst="roundRect">
              <a:avLst>
                <a:gd name="adj" fmla="val 10526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Bar"/>
            <p:cNvSpPr/>
            <p:nvPr/>
          </p:nvSpPr>
          <p:spPr>
            <a:xfrm>
              <a:off x="3931920" y="2011680"/>
              <a:ext cx="1463040" cy="868680"/>
            </a:xfrm>
            <a:prstGeom prst="roundRect">
              <a:avLst>
                <a:gd name="adj" fmla="val 10526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ar label"/>
            <p:cNvSpPr txBox="1"/>
            <p:nvPr/>
          </p:nvSpPr>
          <p:spPr>
            <a:xfrm>
              <a:off x="914400" y="3383280"/>
              <a:ext cx="2834640" cy="86868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Effort to run</a:t>
              </a:r>
            </a:p>
          </p:txBody>
        </p:sp>
        <p:sp>
          <p:nvSpPr>
            <p:cNvPr id="10" name="Bar track"/>
            <p:cNvSpPr/>
            <p:nvPr/>
          </p:nvSpPr>
          <p:spPr>
            <a:xfrm>
              <a:off x="3931920" y="3383280"/>
              <a:ext cx="7315200" cy="868680"/>
            </a:xfrm>
            <a:prstGeom prst="roundRect">
              <a:avLst>
                <a:gd name="adj" fmla="val 10526"/>
              </a:avLst>
            </a:prstGeom>
            <a:solidFill>
              <a:srgbClr val="343A43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Bar"/>
            <p:cNvSpPr/>
            <p:nvPr/>
          </p:nvSpPr>
          <p:spPr>
            <a:xfrm>
              <a:off x="3931920" y="3383280"/>
              <a:ext cx="6291072" cy="868680"/>
            </a:xfrm>
            <a:prstGeom prst="roundRect">
              <a:avLst>
                <a:gd name="adj" fmla="val 10526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cale note"/>
            <p:cNvSpPr txBox="1"/>
            <p:nvPr/>
          </p:nvSpPr>
          <p:spPr>
            <a:xfrm>
              <a:off x="7589520" y="4754880"/>
              <a:ext cx="365760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r">
                <a:spcBef>
                  <a:spcPts val="0"/>
                </a:spcBef>
                <a:spcAft>
                  <a:spcPts val="0"/>
                </a:spcAft>
              </a:pPr>
              <a:r>
                <a:rPr sz="1400" b="0" i="0" lang="en-GB">
                  <a:solidFill>
                    <a:srgbClr val="A9B0B8"/>
                  </a:solidFill>
                  <a:latin typeface="Arial"/>
                </a:rPr>
                <a:t>Not to scale</a:t>
              </a:r>
            </a:p>
          </p:txBody>
        </p:sp>
      </p:grpSp>
      <p:grpSp>
        <p:nvGrpSpPr>
          <p:cNvPr id="13" name="Caption" descr="Caption: Early rail is cheap and easy to build. The challenge is running it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14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Early rail is cheap and easy to build. The challenge is running it.</a:t>
              </a:r>
            </a:p>
          </p:txBody>
        </p:sp>
      </p:grpSp>
      <p:sp>
        <p:nvSpPr>
          <p:cNvPr id="17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Cheap track and trains</a:t>
            </a:r>
          </a:p>
        </p:txBody>
      </p:sp>
      <p:sp>
        <p:nvSpPr>
          <p:cNvPr id="3" name="Status chip" descr="Status tag: Agreed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how track is made" descr="An iron plate and an iron rod arrow into a piece of two-rail track."/>
          <p:cNvGrpSpPr/>
          <p:nvPr/>
        </p:nvGrpSpPr>
        <p:grpSpPr>
          <a:xfrm>
            <a:off x="548640" y="1371600"/>
            <a:ext cx="5486400" cy="4069080"/>
            <a:chOff x="548640" y="1371600"/>
            <a:chExt cx="5486400" cy="4069080"/>
          </a:xfrm>
        </p:grpSpPr>
        <p:sp>
          <p:nvSpPr>
            <p:cNvPr id="5" name="Panel"/>
            <p:cNvSpPr/>
            <p:nvPr/>
          </p:nvSpPr>
          <p:spPr>
            <a:xfrm>
              <a:off x="548640" y="1371600"/>
              <a:ext cx="5486400" cy="4069080"/>
            </a:xfrm>
            <a:prstGeom prst="roundRect">
              <a:avLst>
                <a:gd name="adj" fmla="val 179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Iron plate"/>
            <p:cNvSpPr/>
            <p:nvPr/>
          </p:nvSpPr>
          <p:spPr>
            <a:xfrm>
              <a:off x="914400" y="1691640"/>
              <a:ext cx="1554480" cy="1005840"/>
            </a:xfrm>
            <a:prstGeom prst="roundRect">
              <a:avLst>
                <a:gd name="adj" fmla="val 5454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Plate face"/>
            <p:cNvSpPr/>
            <p:nvPr/>
          </p:nvSpPr>
          <p:spPr>
            <a:xfrm>
              <a:off x="1005840" y="1783080"/>
              <a:ext cx="1371600" cy="822960"/>
            </a:xfrm>
            <a:prstGeom prst="roundRect">
              <a:avLst>
                <a:gd name="adj" fmla="val 4444"/>
              </a:avLst>
            </a:prstGeom>
            <a:solidFill>
              <a:srgbClr val="B8BEC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Rivet"/>
            <p:cNvSpPr/>
            <p:nvPr/>
          </p:nvSpPr>
          <p:spPr>
            <a:xfrm>
              <a:off x="1051560" y="1828800"/>
              <a:ext cx="91440" cy="9144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Rivet"/>
            <p:cNvSpPr/>
            <p:nvPr/>
          </p:nvSpPr>
          <p:spPr>
            <a:xfrm>
              <a:off x="2148840" y="1828800"/>
              <a:ext cx="91440" cy="9144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Rivet"/>
            <p:cNvSpPr/>
            <p:nvPr/>
          </p:nvSpPr>
          <p:spPr>
            <a:xfrm>
              <a:off x="1051560" y="2377440"/>
              <a:ext cx="91440" cy="9144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Rivet"/>
            <p:cNvSpPr/>
            <p:nvPr/>
          </p:nvSpPr>
          <p:spPr>
            <a:xfrm>
              <a:off x="2148840" y="2377440"/>
              <a:ext cx="91440" cy="9144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914400" y="2743200"/>
              <a:ext cx="1554480" cy="36576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Iron plate</a:t>
              </a:r>
            </a:p>
          </p:txBody>
        </p:sp>
        <p:sp>
          <p:nvSpPr>
            <p:cNvPr id="13" name="Iron rod"/>
            <p:cNvSpPr/>
            <p:nvPr/>
          </p:nvSpPr>
          <p:spPr>
            <a:xfrm>
              <a:off x="914400" y="3657600"/>
              <a:ext cx="1554480" cy="146304"/>
            </a:xfrm>
            <a:prstGeom prst="roundRect">
              <a:avLst>
                <a:gd name="adj" fmla="val 50000"/>
              </a:avLst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Rod highlight"/>
            <p:cNvSpPr/>
            <p:nvPr/>
          </p:nvSpPr>
          <p:spPr>
            <a:xfrm>
              <a:off x="914400" y="3694176"/>
              <a:ext cx="1554480" cy="36576"/>
            </a:xfrm>
            <a:prstGeom prst="rect">
              <a:avLst/>
            </a:prstGeom>
            <a:solidFill>
              <a:srgbClr val="B8BEC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914400" y="3931920"/>
              <a:ext cx="1554480" cy="36576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Iron rod</a:t>
              </a:r>
            </a:p>
          </p:txBody>
        </p:sp>
        <p:cxnSp>
          <p:nvCxnSpPr>
            <p:cNvPr id="16" name="Arrow plate"/>
            <p:cNvCxnSpPr/>
            <p:nvPr/>
          </p:nvCxnSpPr>
          <p:spPr>
            <a:xfrm>
              <a:off x="2651760" y="2194560"/>
              <a:ext cx="777240" cy="822960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cxnSp>
          <p:nvCxnSpPr>
            <p:cNvPr id="17" name="Arrow rod"/>
            <p:cNvCxnSpPr/>
            <p:nvPr/>
          </p:nvCxnSpPr>
          <p:spPr>
            <a:xfrm flipV="1">
              <a:off x="2651760" y="3429000"/>
              <a:ext cx="777240" cy="301752"/>
            </a:xfrm>
            <a:prstGeom prst="line">
              <a:avLst/>
            </a:prstGeom>
            <a:ln w="28575">
              <a:solidFill>
                <a:srgbClr val="F28C28"/>
              </a:solidFill>
              <a:tailEnd type="triangle" w="med" len="med"/>
            </a:ln>
          </p:spPr>
        </p:cxnSp>
        <p:sp>
          <p:nvSpPr>
            <p:cNvPr id="18" name="Sleeper"/>
            <p:cNvSpPr/>
            <p:nvPr/>
          </p:nvSpPr>
          <p:spPr>
            <a:xfrm>
              <a:off x="3611880" y="2825496"/>
              <a:ext cx="64008" cy="5486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>
              <a:off x="3941064" y="2825496"/>
              <a:ext cx="64008" cy="5486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>
              <a:off x="4270248" y="2825496"/>
              <a:ext cx="64008" cy="5486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leeper"/>
            <p:cNvSpPr/>
            <p:nvPr/>
          </p:nvSpPr>
          <p:spPr>
            <a:xfrm>
              <a:off x="4599432" y="2825496"/>
              <a:ext cx="64008" cy="5486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leeper"/>
            <p:cNvSpPr/>
            <p:nvPr/>
          </p:nvSpPr>
          <p:spPr>
            <a:xfrm>
              <a:off x="4928616" y="2825496"/>
              <a:ext cx="64008" cy="5486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Sleeper"/>
            <p:cNvSpPr/>
            <p:nvPr/>
          </p:nvSpPr>
          <p:spPr>
            <a:xfrm>
              <a:off x="5257800" y="2825496"/>
              <a:ext cx="64008" cy="5486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Sleeper"/>
            <p:cNvSpPr/>
            <p:nvPr/>
          </p:nvSpPr>
          <p:spPr>
            <a:xfrm>
              <a:off x="5586984" y="2825496"/>
              <a:ext cx="64008" cy="54864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Rail"/>
            <p:cNvSpPr/>
            <p:nvPr/>
          </p:nvSpPr>
          <p:spPr>
            <a:xfrm>
              <a:off x="3566160" y="2880360"/>
              <a:ext cx="210312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Rail"/>
            <p:cNvSpPr/>
            <p:nvPr/>
          </p:nvSpPr>
          <p:spPr>
            <a:xfrm>
              <a:off x="3566160" y="3264408"/>
              <a:ext cx="210312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3566160" y="3611880"/>
              <a:ext cx="2103120" cy="36576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Track</a:t>
              </a:r>
            </a:p>
          </p:txBody>
        </p:sp>
        <p:sp>
          <p:nvSpPr>
            <p:cNvPr id="28" name="Inline chip: Exact recipes: undecided (OQ02)"/>
            <p:cNvSpPr/>
            <p:nvPr/>
          </p:nvSpPr>
          <p:spPr>
            <a:xfrm>
              <a:off x="822960" y="4846320"/>
              <a:ext cx="3097276" cy="329184"/>
            </a:xfrm>
            <a:prstGeom prst="roundRect">
              <a:avLst>
                <a:gd name="adj" fmla="val 50000"/>
              </a:avLst>
            </a:prstGeom>
            <a:noFill/>
            <a:ln w="25400">
              <a:solidFill>
                <a:srgbClr val="A9B0B8"/>
              </a:solidFill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400" b="1" i="0" lang="en-GB">
                  <a:solidFill>
                    <a:srgbClr val="F2F2F2"/>
                  </a:solidFill>
                  <a:latin typeface="Arial"/>
                </a:rPr>
                <a:t>Exact recipes: undecided (OQ02)</a:t>
              </a:r>
            </a:p>
          </p:txBody>
        </p:sp>
      </p:grpSp>
      <p:grpSp>
        <p:nvGrpSpPr>
          <p:cNvPr id="29" name="Diagram: steam train and pricier electric train" descr="A steam train with a short coin stack beside an electric train with a tall coin stack: steam trains cost less."/>
          <p:cNvGrpSpPr/>
          <p:nvPr/>
        </p:nvGrpSpPr>
        <p:grpSpPr>
          <a:xfrm>
            <a:off x="6263640" y="1371600"/>
            <a:ext cx="5376672" cy="4069080"/>
            <a:chOff x="6263640" y="1371600"/>
            <a:chExt cx="5376672" cy="4069080"/>
          </a:xfrm>
        </p:grpSpPr>
        <p:sp>
          <p:nvSpPr>
            <p:cNvPr id="30" name="Panel"/>
            <p:cNvSpPr/>
            <p:nvPr/>
          </p:nvSpPr>
          <p:spPr>
            <a:xfrm>
              <a:off x="6263640" y="1371600"/>
              <a:ext cx="5376672" cy="4069080"/>
            </a:xfrm>
            <a:prstGeom prst="roundRect">
              <a:avLst>
                <a:gd name="adj" fmla="val 179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Footplate"/>
            <p:cNvSpPr/>
            <p:nvPr/>
          </p:nvSpPr>
          <p:spPr>
            <a:xfrm>
              <a:off x="6492240" y="2603754"/>
              <a:ext cx="1783080" cy="6858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Boiler"/>
            <p:cNvSpPr/>
            <p:nvPr/>
          </p:nvSpPr>
          <p:spPr>
            <a:xfrm>
              <a:off x="7109460" y="2226564"/>
              <a:ext cx="1097280" cy="397764"/>
            </a:xfrm>
            <a:prstGeom prst="roundRect">
              <a:avLst>
                <a:gd name="adj" fmla="val 2586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Smokebox"/>
            <p:cNvSpPr/>
            <p:nvPr/>
          </p:nvSpPr>
          <p:spPr>
            <a:xfrm>
              <a:off x="8124444" y="2226564"/>
              <a:ext cx="96012" cy="39776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Chimney"/>
            <p:cNvSpPr/>
            <p:nvPr/>
          </p:nvSpPr>
          <p:spPr>
            <a:xfrm>
              <a:off x="8001000" y="2048256"/>
              <a:ext cx="89154" cy="19202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Chimney top"/>
            <p:cNvSpPr/>
            <p:nvPr/>
          </p:nvSpPr>
          <p:spPr>
            <a:xfrm>
              <a:off x="7966710" y="2020824"/>
              <a:ext cx="157734" cy="4114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ome"/>
            <p:cNvSpPr/>
            <p:nvPr/>
          </p:nvSpPr>
          <p:spPr>
            <a:xfrm>
              <a:off x="7520940" y="2130552"/>
              <a:ext cx="233172" cy="205740"/>
            </a:xfrm>
            <a:prstGeom prst="chord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Cab"/>
            <p:cNvSpPr/>
            <p:nvPr/>
          </p:nvSpPr>
          <p:spPr>
            <a:xfrm>
              <a:off x="6547104" y="2089404"/>
              <a:ext cx="617220" cy="534924"/>
            </a:xfrm>
            <a:prstGeom prst="rect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Cab roof"/>
            <p:cNvSpPr/>
            <p:nvPr/>
          </p:nvSpPr>
          <p:spPr>
            <a:xfrm>
              <a:off x="6505956" y="2034540"/>
              <a:ext cx="699516" cy="6172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Cab window"/>
            <p:cNvSpPr/>
            <p:nvPr/>
          </p:nvSpPr>
          <p:spPr>
            <a:xfrm>
              <a:off x="6697980" y="2185416"/>
              <a:ext cx="274320" cy="19202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Wheel"/>
            <p:cNvSpPr/>
            <p:nvPr/>
          </p:nvSpPr>
          <p:spPr>
            <a:xfrm>
              <a:off x="6718554" y="2617470"/>
              <a:ext cx="301752" cy="30175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ub"/>
            <p:cNvSpPr/>
            <p:nvPr/>
          </p:nvSpPr>
          <p:spPr>
            <a:xfrm>
              <a:off x="6827185" y="2726101"/>
              <a:ext cx="84491" cy="8449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Wheel"/>
            <p:cNvSpPr/>
            <p:nvPr/>
          </p:nvSpPr>
          <p:spPr>
            <a:xfrm>
              <a:off x="7267194" y="2617470"/>
              <a:ext cx="301752" cy="30175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ub"/>
            <p:cNvSpPr/>
            <p:nvPr/>
          </p:nvSpPr>
          <p:spPr>
            <a:xfrm>
              <a:off x="7375825" y="2726101"/>
              <a:ext cx="84491" cy="8449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Wheel"/>
            <p:cNvSpPr/>
            <p:nvPr/>
          </p:nvSpPr>
          <p:spPr>
            <a:xfrm>
              <a:off x="7815834" y="2617470"/>
              <a:ext cx="301752" cy="30175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ub"/>
            <p:cNvSpPr/>
            <p:nvPr/>
          </p:nvSpPr>
          <p:spPr>
            <a:xfrm>
              <a:off x="7924465" y="2726101"/>
              <a:ext cx="84491" cy="8449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6" name="Coupling rod"/>
            <p:cNvCxnSpPr/>
            <p:nvPr/>
          </p:nvCxnSpPr>
          <p:spPr>
            <a:xfrm>
              <a:off x="6869430" y="2768346"/>
              <a:ext cx="1097280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47" name="Wagon"/>
            <p:cNvSpPr/>
            <p:nvPr/>
          </p:nvSpPr>
          <p:spPr>
            <a:xfrm>
              <a:off x="8330184" y="2350008"/>
              <a:ext cx="1028700" cy="42519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8" name="Connector 47"/>
            <p:cNvCxnSpPr/>
            <p:nvPr/>
          </p:nvCxnSpPr>
          <p:spPr>
            <a:xfrm>
              <a:off x="8587359" y="2377440"/>
              <a:ext cx="0" cy="370332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49" name="Connector 48"/>
            <p:cNvCxnSpPr/>
            <p:nvPr/>
          </p:nvCxnSpPr>
          <p:spPr>
            <a:xfrm>
              <a:off x="8844534" y="2377440"/>
              <a:ext cx="0" cy="370332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50" name="Connector 49"/>
            <p:cNvCxnSpPr/>
            <p:nvPr/>
          </p:nvCxnSpPr>
          <p:spPr>
            <a:xfrm>
              <a:off x="9101709" y="2377440"/>
              <a:ext cx="0" cy="370332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51" name="Wheel"/>
            <p:cNvSpPr/>
            <p:nvPr/>
          </p:nvSpPr>
          <p:spPr>
            <a:xfrm>
              <a:off x="8439912" y="2734056"/>
              <a:ext cx="192024" cy="19202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Hub"/>
            <p:cNvSpPr/>
            <p:nvPr/>
          </p:nvSpPr>
          <p:spPr>
            <a:xfrm>
              <a:off x="8509041" y="2803185"/>
              <a:ext cx="53767" cy="537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Wheel"/>
            <p:cNvSpPr/>
            <p:nvPr/>
          </p:nvSpPr>
          <p:spPr>
            <a:xfrm>
              <a:off x="9057132" y="2734056"/>
              <a:ext cx="192024" cy="19202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Hub"/>
            <p:cNvSpPr/>
            <p:nvPr/>
          </p:nvSpPr>
          <p:spPr>
            <a:xfrm>
              <a:off x="9126261" y="2803185"/>
              <a:ext cx="53767" cy="537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Wagon"/>
            <p:cNvSpPr/>
            <p:nvPr/>
          </p:nvSpPr>
          <p:spPr>
            <a:xfrm>
              <a:off x="9413748" y="2350008"/>
              <a:ext cx="1028700" cy="425196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6" name="Connector 55"/>
            <p:cNvCxnSpPr/>
            <p:nvPr/>
          </p:nvCxnSpPr>
          <p:spPr>
            <a:xfrm>
              <a:off x="9670923" y="2377440"/>
              <a:ext cx="0" cy="370332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57" name="Connector 56"/>
            <p:cNvCxnSpPr/>
            <p:nvPr/>
          </p:nvCxnSpPr>
          <p:spPr>
            <a:xfrm>
              <a:off x="9928098" y="2377440"/>
              <a:ext cx="0" cy="370332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58" name="Connector 57"/>
            <p:cNvCxnSpPr/>
            <p:nvPr/>
          </p:nvCxnSpPr>
          <p:spPr>
            <a:xfrm>
              <a:off x="10185273" y="2377440"/>
              <a:ext cx="0" cy="370332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59" name="Wheel"/>
            <p:cNvSpPr/>
            <p:nvPr/>
          </p:nvSpPr>
          <p:spPr>
            <a:xfrm>
              <a:off x="9523476" y="2734056"/>
              <a:ext cx="192024" cy="19202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Hub"/>
            <p:cNvSpPr/>
            <p:nvPr/>
          </p:nvSpPr>
          <p:spPr>
            <a:xfrm>
              <a:off x="9592605" y="2803185"/>
              <a:ext cx="53767" cy="537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Wheel"/>
            <p:cNvSpPr/>
            <p:nvPr/>
          </p:nvSpPr>
          <p:spPr>
            <a:xfrm>
              <a:off x="10140696" y="2734056"/>
              <a:ext cx="192024" cy="19202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Hub"/>
            <p:cNvSpPr/>
            <p:nvPr/>
          </p:nvSpPr>
          <p:spPr>
            <a:xfrm>
              <a:off x="10209825" y="2803185"/>
              <a:ext cx="53767" cy="53767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Ground"/>
            <p:cNvSpPr/>
            <p:nvPr/>
          </p:nvSpPr>
          <p:spPr>
            <a:xfrm>
              <a:off x="6400800" y="2944368"/>
              <a:ext cx="4114800" cy="45720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6492240" y="3063240"/>
              <a:ext cx="2743200" cy="36576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Steam train</a:t>
              </a:r>
            </a:p>
          </p:txBody>
        </p:sp>
        <p:sp>
          <p:nvSpPr>
            <p:cNvPr id="65" name="Coin"/>
            <p:cNvSpPr/>
            <p:nvPr/>
          </p:nvSpPr>
          <p:spPr>
            <a:xfrm>
              <a:off x="10607040" y="2770632"/>
              <a:ext cx="777240" cy="155448"/>
            </a:xfrm>
            <a:prstGeom prst="roundRect">
              <a:avLst>
                <a:gd name="adj" fmla="val 50000"/>
              </a:avLst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Coin"/>
            <p:cNvSpPr/>
            <p:nvPr/>
          </p:nvSpPr>
          <p:spPr>
            <a:xfrm>
              <a:off x="10607040" y="2615184"/>
              <a:ext cx="777240" cy="155448"/>
            </a:xfrm>
            <a:prstGeom prst="roundRect">
              <a:avLst>
                <a:gd name="adj" fmla="val 50000"/>
              </a:avLst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7" name="Divider"/>
            <p:cNvCxnSpPr/>
            <p:nvPr/>
          </p:nvCxnSpPr>
          <p:spPr>
            <a:xfrm>
              <a:off x="6400800" y="3657600"/>
              <a:ext cx="5029200" cy="0"/>
            </a:xfrm>
            <a:prstGeom prst="line">
              <a:avLst/>
            </a:prstGeom>
            <a:ln w="19050">
              <a:solidFill>
                <a:srgbClr val="4A515B"/>
              </a:solidFill>
            </a:ln>
          </p:spPr>
        </p:cxnSp>
        <p:sp>
          <p:nvSpPr>
            <p:cNvPr id="68" name="Electric car"/>
            <p:cNvSpPr/>
            <p:nvPr/>
          </p:nvSpPr>
          <p:spPr>
            <a:xfrm>
              <a:off x="6492240" y="3931920"/>
              <a:ext cx="1645920" cy="562356"/>
            </a:xfrm>
            <a:prstGeom prst="roundRect">
              <a:avLst>
                <a:gd name="adj" fmla="val 30487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Windows"/>
            <p:cNvSpPr/>
            <p:nvPr/>
          </p:nvSpPr>
          <p:spPr>
            <a:xfrm>
              <a:off x="6629400" y="4055364"/>
              <a:ext cx="1303020" cy="17830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Electric car"/>
            <p:cNvSpPr/>
            <p:nvPr/>
          </p:nvSpPr>
          <p:spPr>
            <a:xfrm>
              <a:off x="8193024" y="3931920"/>
              <a:ext cx="1645920" cy="562356"/>
            </a:xfrm>
            <a:prstGeom prst="roundRect">
              <a:avLst>
                <a:gd name="adj" fmla="val 30487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Windows"/>
            <p:cNvSpPr/>
            <p:nvPr/>
          </p:nvSpPr>
          <p:spPr>
            <a:xfrm>
              <a:off x="8330184" y="4055364"/>
              <a:ext cx="1303020" cy="17830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Monorail beam"/>
            <p:cNvSpPr/>
            <p:nvPr/>
          </p:nvSpPr>
          <p:spPr>
            <a:xfrm>
              <a:off x="6423660" y="4549140"/>
              <a:ext cx="3483864" cy="96012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Pylon"/>
            <p:cNvSpPr/>
            <p:nvPr/>
          </p:nvSpPr>
          <p:spPr>
            <a:xfrm>
              <a:off x="6858000" y="4645152"/>
              <a:ext cx="82296" cy="150876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Pylon"/>
            <p:cNvSpPr/>
            <p:nvPr/>
          </p:nvSpPr>
          <p:spPr>
            <a:xfrm>
              <a:off x="9381744" y="4645152"/>
              <a:ext cx="82296" cy="150876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6492240" y="4937760"/>
              <a:ext cx="2743200" cy="36576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Electric train</a:t>
              </a:r>
            </a:p>
          </p:txBody>
        </p:sp>
        <p:sp>
          <p:nvSpPr>
            <p:cNvPr id="76" name="Coin"/>
            <p:cNvSpPr/>
            <p:nvPr/>
          </p:nvSpPr>
          <p:spPr>
            <a:xfrm>
              <a:off x="10607040" y="4553712"/>
              <a:ext cx="777240" cy="155448"/>
            </a:xfrm>
            <a:prstGeom prst="roundRect">
              <a:avLst>
                <a:gd name="adj" fmla="val 50000"/>
              </a:avLst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Coin"/>
            <p:cNvSpPr/>
            <p:nvPr/>
          </p:nvSpPr>
          <p:spPr>
            <a:xfrm>
              <a:off x="10607040" y="4398264"/>
              <a:ext cx="777240" cy="155448"/>
            </a:xfrm>
            <a:prstGeom prst="roundRect">
              <a:avLst>
                <a:gd name="adj" fmla="val 50000"/>
              </a:avLst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Coin"/>
            <p:cNvSpPr/>
            <p:nvPr/>
          </p:nvSpPr>
          <p:spPr>
            <a:xfrm>
              <a:off x="10607040" y="4242816"/>
              <a:ext cx="777240" cy="155448"/>
            </a:xfrm>
            <a:prstGeom prst="roundRect">
              <a:avLst>
                <a:gd name="adj" fmla="val 50000"/>
              </a:avLst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Coin"/>
            <p:cNvSpPr/>
            <p:nvPr/>
          </p:nvSpPr>
          <p:spPr>
            <a:xfrm>
              <a:off x="10607040" y="4087368"/>
              <a:ext cx="777240" cy="155448"/>
            </a:xfrm>
            <a:prstGeom prst="roundRect">
              <a:avLst>
                <a:gd name="adj" fmla="val 50000"/>
              </a:avLst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Coin"/>
            <p:cNvSpPr/>
            <p:nvPr/>
          </p:nvSpPr>
          <p:spPr>
            <a:xfrm>
              <a:off x="10607040" y="3931920"/>
              <a:ext cx="777240" cy="155448"/>
            </a:xfrm>
            <a:prstGeom prst="roundRect">
              <a:avLst>
                <a:gd name="adj" fmla="val 50000"/>
              </a:avLst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81" name="Caption" descr="Caption: Track is made from iron plates and rods. Trains cost less than the game's own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82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Track is made from iron plates and rods. Trains cost less than the game's own.</a:t>
              </a:r>
            </a:p>
          </p:txBody>
        </p:sp>
      </p:grpSp>
      <p:sp>
        <p:nvSpPr>
          <p:cNvPr id="85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Long pieces, few clicks</a:t>
            </a:r>
          </a:p>
        </p:txBody>
      </p:sp>
      <p:sp>
        <p:nvSpPr>
          <p:cNvPr id="3" name="Status chip" descr="Status tag: Agreed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Diagram: one long track piece" descr="One long curved piece of track in a single placement."/>
          <p:cNvGrpSpPr/>
          <p:nvPr/>
        </p:nvGrpSpPr>
        <p:grpSpPr>
          <a:xfrm>
            <a:off x="548640" y="1371600"/>
            <a:ext cx="5394960" cy="4069080"/>
            <a:chOff x="548640" y="1371600"/>
            <a:chExt cx="5394960" cy="4069080"/>
          </a:xfrm>
        </p:grpSpPr>
        <p:sp>
          <p:nvSpPr>
            <p:cNvPr id="5" name="Panel"/>
            <p:cNvSpPr/>
            <p:nvPr/>
          </p:nvSpPr>
          <p:spPr>
            <a:xfrm>
              <a:off x="548640" y="1371600"/>
              <a:ext cx="5394960" cy="4069080"/>
            </a:xfrm>
            <a:prstGeom prst="roundRect">
              <a:avLst>
                <a:gd name="adj" fmla="val 179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leeper"/>
            <p:cNvSpPr/>
            <p:nvPr/>
          </p:nvSpPr>
          <p:spPr>
            <a:xfrm rot="17292000">
              <a:off x="1810627" y="4365796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leeper"/>
            <p:cNvSpPr/>
            <p:nvPr/>
          </p:nvSpPr>
          <p:spPr>
            <a:xfrm rot="17556000">
              <a:off x="1920747" y="4069694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leeper"/>
            <p:cNvSpPr/>
            <p:nvPr/>
          </p:nvSpPr>
          <p:spPr>
            <a:xfrm rot="17688000">
              <a:off x="2053258" y="3782912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leeper"/>
            <p:cNvSpPr/>
            <p:nvPr/>
          </p:nvSpPr>
          <p:spPr>
            <a:xfrm rot="17952000">
              <a:off x="2207381" y="3507142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leeper"/>
            <p:cNvSpPr/>
            <p:nvPr/>
          </p:nvSpPr>
          <p:spPr>
            <a:xfrm rot="18216000">
              <a:off x="2382207" y="3244008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leeper"/>
            <p:cNvSpPr/>
            <p:nvPr/>
          </p:nvSpPr>
          <p:spPr>
            <a:xfrm rot="18612000">
              <a:off x="2576704" y="2995063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 rot="18744000">
              <a:off x="2789727" y="2761773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 rot="19008000">
              <a:off x="3020020" y="2545513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eeper"/>
            <p:cNvSpPr/>
            <p:nvPr/>
          </p:nvSpPr>
          <p:spPr>
            <a:xfrm rot="19404000">
              <a:off x="3266226" y="2347559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eeper"/>
            <p:cNvSpPr/>
            <p:nvPr/>
          </p:nvSpPr>
          <p:spPr>
            <a:xfrm rot="19536000">
              <a:off x="3526893" y="2169076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eeper"/>
            <p:cNvSpPr/>
            <p:nvPr/>
          </p:nvSpPr>
          <p:spPr>
            <a:xfrm rot="19800000">
              <a:off x="3800484" y="2011118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eeper"/>
            <p:cNvSpPr/>
            <p:nvPr/>
          </p:nvSpPr>
          <p:spPr>
            <a:xfrm rot="20196000">
              <a:off x="4085388" y="1874615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eeper"/>
            <p:cNvSpPr/>
            <p:nvPr/>
          </p:nvSpPr>
          <p:spPr>
            <a:xfrm rot="20328000">
              <a:off x="4379924" y="1760372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 rot="20592000">
              <a:off x="4682357" y="1669062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 rot="20856000">
              <a:off x="4990904" y="1601224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Rail"/>
            <p:cNvSpPr/>
            <p:nvPr/>
          </p:nvSpPr>
          <p:spPr>
            <a:xfrm>
              <a:off x="1656744" y="1715353"/>
              <a:ext cx="3506721" cy="3048346"/>
            </a:xfrm>
            <a:custGeom>
              <a:avLst/>
              <a:gdLst/>
              <a:ahLst/>
              <a:cxnLst/>
              <a:rect l="l" t="t" r="r" b="b"/>
              <a:pathLst>
                <a:path w="3506721" h="3048346">
                  <a:moveTo>
                    <a:pt x="0" y="3048346"/>
                  </a:moveTo>
                  <a:lnTo>
                    <a:pt x="47360" y="2894499"/>
                  </a:lnTo>
                  <a:lnTo>
                    <a:pt x="101549" y="2739758"/>
                  </a:lnTo>
                  <a:lnTo>
                    <a:pt x="161639" y="2587211"/>
                  </a:lnTo>
                  <a:lnTo>
                    <a:pt x="227541" y="2437083"/>
                  </a:lnTo>
                  <a:lnTo>
                    <a:pt x="299157" y="2289595"/>
                  </a:lnTo>
                  <a:lnTo>
                    <a:pt x="376382" y="2144965"/>
                  </a:lnTo>
                  <a:lnTo>
                    <a:pt x="459102" y="2003407"/>
                  </a:lnTo>
                  <a:lnTo>
                    <a:pt x="547196" y="1865128"/>
                  </a:lnTo>
                  <a:lnTo>
                    <a:pt x="640532" y="1730333"/>
                  </a:lnTo>
                  <a:lnTo>
                    <a:pt x="738975" y="1599220"/>
                  </a:lnTo>
                  <a:lnTo>
                    <a:pt x="842378" y="1471983"/>
                  </a:lnTo>
                  <a:lnTo>
                    <a:pt x="950589" y="1348809"/>
                  </a:lnTo>
                  <a:lnTo>
                    <a:pt x="1063448" y="1229879"/>
                  </a:lnTo>
                  <a:lnTo>
                    <a:pt x="1180790" y="1115370"/>
                  </a:lnTo>
                  <a:lnTo>
                    <a:pt x="1302441" y="1005450"/>
                  </a:lnTo>
                  <a:lnTo>
                    <a:pt x="1428222" y="900281"/>
                  </a:lnTo>
                  <a:lnTo>
                    <a:pt x="1557948" y="800017"/>
                  </a:lnTo>
                  <a:lnTo>
                    <a:pt x="1691427" y="704808"/>
                  </a:lnTo>
                  <a:lnTo>
                    <a:pt x="1828462" y="614792"/>
                  </a:lnTo>
                  <a:lnTo>
                    <a:pt x="1968852" y="530104"/>
                  </a:lnTo>
                  <a:lnTo>
                    <a:pt x="2112389" y="450867"/>
                  </a:lnTo>
                  <a:lnTo>
                    <a:pt x="2258863" y="377198"/>
                  </a:lnTo>
                  <a:lnTo>
                    <a:pt x="2408056" y="309207"/>
                  </a:lnTo>
                  <a:lnTo>
                    <a:pt x="2559749" y="246993"/>
                  </a:lnTo>
                  <a:lnTo>
                    <a:pt x="2713719" y="190648"/>
                  </a:lnTo>
                  <a:lnTo>
                    <a:pt x="2869739" y="140255"/>
                  </a:lnTo>
                  <a:lnTo>
                    <a:pt x="3027577" y="95889"/>
                  </a:lnTo>
                  <a:lnTo>
                    <a:pt x="3187003" y="57614"/>
                  </a:lnTo>
                  <a:lnTo>
                    <a:pt x="3347780" y="25488"/>
                  </a:lnTo>
                  <a:lnTo>
                    <a:pt x="3506721" y="0"/>
                  </a:lnTo>
                </a:path>
              </a:pathLst>
            </a:custGeom>
            <a:noFill/>
            <a:ln w="317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Rail"/>
            <p:cNvSpPr/>
            <p:nvPr/>
          </p:nvSpPr>
          <p:spPr>
            <a:xfrm>
              <a:off x="1953896" y="2022336"/>
              <a:ext cx="3258740" cy="2832779"/>
            </a:xfrm>
            <a:custGeom>
              <a:avLst/>
              <a:gdLst/>
              <a:ahLst/>
              <a:cxnLst/>
              <a:rect l="l" t="t" r="r" b="b"/>
              <a:pathLst>
                <a:path w="3258740" h="2832779">
                  <a:moveTo>
                    <a:pt x="0" y="2832779"/>
                  </a:moveTo>
                  <a:lnTo>
                    <a:pt x="45550" y="2684620"/>
                  </a:lnTo>
                  <a:lnTo>
                    <a:pt x="95795" y="2541145"/>
                  </a:lnTo>
                  <a:lnTo>
                    <a:pt x="151510" y="2399704"/>
                  </a:lnTo>
                  <a:lnTo>
                    <a:pt x="212613" y="2260506"/>
                  </a:lnTo>
                  <a:lnTo>
                    <a:pt x="279016" y="2123756"/>
                  </a:lnTo>
                  <a:lnTo>
                    <a:pt x="350618" y="1989656"/>
                  </a:lnTo>
                  <a:lnTo>
                    <a:pt x="427316" y="1858403"/>
                  </a:lnTo>
                  <a:lnTo>
                    <a:pt x="508996" y="1730192"/>
                  </a:lnTo>
                  <a:lnTo>
                    <a:pt x="595537" y="1605211"/>
                  </a:lnTo>
                  <a:lnTo>
                    <a:pt x="686812" y="1483644"/>
                  </a:lnTo>
                  <a:lnTo>
                    <a:pt x="782687" y="1365670"/>
                  </a:lnTo>
                  <a:lnTo>
                    <a:pt x="883019" y="1251463"/>
                  </a:lnTo>
                  <a:lnTo>
                    <a:pt x="987662" y="1141193"/>
                  </a:lnTo>
                  <a:lnTo>
                    <a:pt x="1096461" y="1035021"/>
                  </a:lnTo>
                  <a:lnTo>
                    <a:pt x="1209255" y="933103"/>
                  </a:lnTo>
                  <a:lnTo>
                    <a:pt x="1325879" y="835591"/>
                  </a:lnTo>
                  <a:lnTo>
                    <a:pt x="1446160" y="742627"/>
                  </a:lnTo>
                  <a:lnTo>
                    <a:pt x="1569921" y="654349"/>
                  </a:lnTo>
                  <a:lnTo>
                    <a:pt x="1696979" y="570887"/>
                  </a:lnTo>
                  <a:lnTo>
                    <a:pt x="1827148" y="492365"/>
                  </a:lnTo>
                  <a:lnTo>
                    <a:pt x="1960235" y="418897"/>
                  </a:lnTo>
                  <a:lnTo>
                    <a:pt x="2096044" y="350592"/>
                  </a:lnTo>
                  <a:lnTo>
                    <a:pt x="2234376" y="287550"/>
                  </a:lnTo>
                  <a:lnTo>
                    <a:pt x="2375025" y="229866"/>
                  </a:lnTo>
                  <a:lnTo>
                    <a:pt x="2517785" y="177623"/>
                  </a:lnTo>
                  <a:lnTo>
                    <a:pt x="2662445" y="130899"/>
                  </a:lnTo>
                  <a:lnTo>
                    <a:pt x="2808793" y="89763"/>
                  </a:lnTo>
                  <a:lnTo>
                    <a:pt x="2956611" y="54275"/>
                  </a:lnTo>
                  <a:lnTo>
                    <a:pt x="3105683" y="24487"/>
                  </a:lnTo>
                  <a:lnTo>
                    <a:pt x="3258740" y="0"/>
                  </a:lnTo>
                </a:path>
              </a:pathLst>
            </a:custGeom>
            <a:noFill/>
            <a:ln w="317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822960" y="4983480"/>
              <a:ext cx="292608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One long piece</a:t>
              </a:r>
            </a:p>
          </p:txBody>
        </p:sp>
      </p:grpSp>
      <p:grpSp>
        <p:nvGrpSpPr>
          <p:cNvPr id="24" name="Diagram: many short pieces crossed out" descr="A pile of many short pieces of track with a red cross over it: not needed."/>
          <p:cNvGrpSpPr/>
          <p:nvPr/>
        </p:nvGrpSpPr>
        <p:grpSpPr>
          <a:xfrm>
            <a:off x="6263640" y="1371600"/>
            <a:ext cx="5376672" cy="4069080"/>
            <a:chOff x="6263640" y="1371600"/>
            <a:chExt cx="5376672" cy="4069080"/>
          </a:xfrm>
        </p:grpSpPr>
        <p:sp>
          <p:nvSpPr>
            <p:cNvPr id="25" name="Panel"/>
            <p:cNvSpPr/>
            <p:nvPr/>
          </p:nvSpPr>
          <p:spPr>
            <a:xfrm>
              <a:off x="6263640" y="1371600"/>
              <a:ext cx="5376672" cy="4069080"/>
            </a:xfrm>
            <a:prstGeom prst="roundRect">
              <a:avLst>
                <a:gd name="adj" fmla="val 179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Sleeper"/>
            <p:cNvSpPr/>
            <p:nvPr/>
          </p:nvSpPr>
          <p:spPr>
            <a:xfrm>
              <a:off x="7178040" y="1636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Sleeper"/>
            <p:cNvSpPr/>
            <p:nvPr/>
          </p:nvSpPr>
          <p:spPr>
            <a:xfrm>
              <a:off x="7452360" y="1636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Sleeper"/>
            <p:cNvSpPr/>
            <p:nvPr/>
          </p:nvSpPr>
          <p:spPr>
            <a:xfrm>
              <a:off x="7726680" y="1636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Sleeper"/>
            <p:cNvSpPr/>
            <p:nvPr/>
          </p:nvSpPr>
          <p:spPr>
            <a:xfrm>
              <a:off x="8001000" y="1636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Sleeper"/>
            <p:cNvSpPr/>
            <p:nvPr/>
          </p:nvSpPr>
          <p:spPr>
            <a:xfrm>
              <a:off x="8275320" y="1636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Sleeper"/>
            <p:cNvSpPr/>
            <p:nvPr/>
          </p:nvSpPr>
          <p:spPr>
            <a:xfrm>
              <a:off x="8549640" y="1636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Sleeper"/>
            <p:cNvSpPr/>
            <p:nvPr/>
          </p:nvSpPr>
          <p:spPr>
            <a:xfrm>
              <a:off x="8823960" y="1636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Sleeper"/>
            <p:cNvSpPr/>
            <p:nvPr/>
          </p:nvSpPr>
          <p:spPr>
            <a:xfrm>
              <a:off x="9098280" y="1636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Sleeper"/>
            <p:cNvSpPr/>
            <p:nvPr/>
          </p:nvSpPr>
          <p:spPr>
            <a:xfrm>
              <a:off x="9372600" y="1636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Sleeper"/>
            <p:cNvSpPr/>
            <p:nvPr/>
          </p:nvSpPr>
          <p:spPr>
            <a:xfrm>
              <a:off x="9646920" y="1636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Rail"/>
            <p:cNvSpPr/>
            <p:nvPr/>
          </p:nvSpPr>
          <p:spPr>
            <a:xfrm>
              <a:off x="7132320" y="1691640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Rail"/>
            <p:cNvSpPr/>
            <p:nvPr/>
          </p:nvSpPr>
          <p:spPr>
            <a:xfrm>
              <a:off x="7132320" y="1892808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Sleeper"/>
            <p:cNvSpPr/>
            <p:nvPr/>
          </p:nvSpPr>
          <p:spPr>
            <a:xfrm>
              <a:off x="7498080" y="20939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Sleeper"/>
            <p:cNvSpPr/>
            <p:nvPr/>
          </p:nvSpPr>
          <p:spPr>
            <a:xfrm>
              <a:off x="7772400" y="20939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Sleeper"/>
            <p:cNvSpPr/>
            <p:nvPr/>
          </p:nvSpPr>
          <p:spPr>
            <a:xfrm>
              <a:off x="8046720" y="20939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Sleeper"/>
            <p:cNvSpPr/>
            <p:nvPr/>
          </p:nvSpPr>
          <p:spPr>
            <a:xfrm>
              <a:off x="8321040" y="20939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Sleeper"/>
            <p:cNvSpPr/>
            <p:nvPr/>
          </p:nvSpPr>
          <p:spPr>
            <a:xfrm>
              <a:off x="8595360" y="20939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Sleeper"/>
            <p:cNvSpPr/>
            <p:nvPr/>
          </p:nvSpPr>
          <p:spPr>
            <a:xfrm>
              <a:off x="8869680" y="20939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Sleeper"/>
            <p:cNvSpPr/>
            <p:nvPr/>
          </p:nvSpPr>
          <p:spPr>
            <a:xfrm>
              <a:off x="9144000" y="20939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Sleeper"/>
            <p:cNvSpPr/>
            <p:nvPr/>
          </p:nvSpPr>
          <p:spPr>
            <a:xfrm>
              <a:off x="9418320" y="20939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Sleeper"/>
            <p:cNvSpPr/>
            <p:nvPr/>
          </p:nvSpPr>
          <p:spPr>
            <a:xfrm>
              <a:off x="9692640" y="20939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Sleeper"/>
            <p:cNvSpPr/>
            <p:nvPr/>
          </p:nvSpPr>
          <p:spPr>
            <a:xfrm>
              <a:off x="9966960" y="20939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Rail"/>
            <p:cNvSpPr/>
            <p:nvPr/>
          </p:nvSpPr>
          <p:spPr>
            <a:xfrm>
              <a:off x="7452360" y="2148840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Rail"/>
            <p:cNvSpPr/>
            <p:nvPr/>
          </p:nvSpPr>
          <p:spPr>
            <a:xfrm>
              <a:off x="7452360" y="2350008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Sleeper"/>
            <p:cNvSpPr/>
            <p:nvPr/>
          </p:nvSpPr>
          <p:spPr>
            <a:xfrm>
              <a:off x="7178040" y="25511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Sleeper"/>
            <p:cNvSpPr/>
            <p:nvPr/>
          </p:nvSpPr>
          <p:spPr>
            <a:xfrm>
              <a:off x="7452360" y="25511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Sleeper"/>
            <p:cNvSpPr/>
            <p:nvPr/>
          </p:nvSpPr>
          <p:spPr>
            <a:xfrm>
              <a:off x="7726680" y="25511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Sleeper"/>
            <p:cNvSpPr/>
            <p:nvPr/>
          </p:nvSpPr>
          <p:spPr>
            <a:xfrm>
              <a:off x="8001000" y="25511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Sleeper"/>
            <p:cNvSpPr/>
            <p:nvPr/>
          </p:nvSpPr>
          <p:spPr>
            <a:xfrm>
              <a:off x="8275320" y="25511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Sleeper"/>
            <p:cNvSpPr/>
            <p:nvPr/>
          </p:nvSpPr>
          <p:spPr>
            <a:xfrm>
              <a:off x="8549640" y="25511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Sleeper"/>
            <p:cNvSpPr/>
            <p:nvPr/>
          </p:nvSpPr>
          <p:spPr>
            <a:xfrm>
              <a:off x="8823960" y="25511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Sleeper"/>
            <p:cNvSpPr/>
            <p:nvPr/>
          </p:nvSpPr>
          <p:spPr>
            <a:xfrm>
              <a:off x="9098280" y="25511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Sleeper"/>
            <p:cNvSpPr/>
            <p:nvPr/>
          </p:nvSpPr>
          <p:spPr>
            <a:xfrm>
              <a:off x="9372600" y="25511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Sleeper"/>
            <p:cNvSpPr/>
            <p:nvPr/>
          </p:nvSpPr>
          <p:spPr>
            <a:xfrm>
              <a:off x="9646920" y="25511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Rail"/>
            <p:cNvSpPr/>
            <p:nvPr/>
          </p:nvSpPr>
          <p:spPr>
            <a:xfrm>
              <a:off x="7132320" y="2606040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Rail"/>
            <p:cNvSpPr/>
            <p:nvPr/>
          </p:nvSpPr>
          <p:spPr>
            <a:xfrm>
              <a:off x="7132320" y="2807208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Sleeper"/>
            <p:cNvSpPr/>
            <p:nvPr/>
          </p:nvSpPr>
          <p:spPr>
            <a:xfrm>
              <a:off x="7498080" y="30083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Sleeper"/>
            <p:cNvSpPr/>
            <p:nvPr/>
          </p:nvSpPr>
          <p:spPr>
            <a:xfrm>
              <a:off x="7772400" y="30083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Sleeper"/>
            <p:cNvSpPr/>
            <p:nvPr/>
          </p:nvSpPr>
          <p:spPr>
            <a:xfrm>
              <a:off x="8046720" y="30083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Sleeper"/>
            <p:cNvSpPr/>
            <p:nvPr/>
          </p:nvSpPr>
          <p:spPr>
            <a:xfrm>
              <a:off x="8321040" y="30083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Sleeper"/>
            <p:cNvSpPr/>
            <p:nvPr/>
          </p:nvSpPr>
          <p:spPr>
            <a:xfrm>
              <a:off x="8595360" y="30083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Sleeper"/>
            <p:cNvSpPr/>
            <p:nvPr/>
          </p:nvSpPr>
          <p:spPr>
            <a:xfrm>
              <a:off x="8869680" y="30083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Sleeper"/>
            <p:cNvSpPr/>
            <p:nvPr/>
          </p:nvSpPr>
          <p:spPr>
            <a:xfrm>
              <a:off x="9144000" y="30083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Sleeper"/>
            <p:cNvSpPr/>
            <p:nvPr/>
          </p:nvSpPr>
          <p:spPr>
            <a:xfrm>
              <a:off x="9418320" y="30083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Sleeper"/>
            <p:cNvSpPr/>
            <p:nvPr/>
          </p:nvSpPr>
          <p:spPr>
            <a:xfrm>
              <a:off x="9692640" y="30083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Sleeper"/>
            <p:cNvSpPr/>
            <p:nvPr/>
          </p:nvSpPr>
          <p:spPr>
            <a:xfrm>
              <a:off x="9966960" y="30083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Rail"/>
            <p:cNvSpPr/>
            <p:nvPr/>
          </p:nvSpPr>
          <p:spPr>
            <a:xfrm>
              <a:off x="7452360" y="3063240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Rail"/>
            <p:cNvSpPr/>
            <p:nvPr/>
          </p:nvSpPr>
          <p:spPr>
            <a:xfrm>
              <a:off x="7452360" y="3264408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Sleeper"/>
            <p:cNvSpPr/>
            <p:nvPr/>
          </p:nvSpPr>
          <p:spPr>
            <a:xfrm>
              <a:off x="7178040" y="34655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Sleeper"/>
            <p:cNvSpPr/>
            <p:nvPr/>
          </p:nvSpPr>
          <p:spPr>
            <a:xfrm>
              <a:off x="7452360" y="34655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Sleeper"/>
            <p:cNvSpPr/>
            <p:nvPr/>
          </p:nvSpPr>
          <p:spPr>
            <a:xfrm>
              <a:off x="7726680" y="34655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Sleeper"/>
            <p:cNvSpPr/>
            <p:nvPr/>
          </p:nvSpPr>
          <p:spPr>
            <a:xfrm>
              <a:off x="8001000" y="34655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Sleeper"/>
            <p:cNvSpPr/>
            <p:nvPr/>
          </p:nvSpPr>
          <p:spPr>
            <a:xfrm>
              <a:off x="8275320" y="34655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Sleeper"/>
            <p:cNvSpPr/>
            <p:nvPr/>
          </p:nvSpPr>
          <p:spPr>
            <a:xfrm>
              <a:off x="8549640" y="34655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Sleeper"/>
            <p:cNvSpPr/>
            <p:nvPr/>
          </p:nvSpPr>
          <p:spPr>
            <a:xfrm>
              <a:off x="8823960" y="34655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1" name="Sleeper"/>
            <p:cNvSpPr/>
            <p:nvPr/>
          </p:nvSpPr>
          <p:spPr>
            <a:xfrm>
              <a:off x="9098280" y="34655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2" name="Sleeper"/>
            <p:cNvSpPr/>
            <p:nvPr/>
          </p:nvSpPr>
          <p:spPr>
            <a:xfrm>
              <a:off x="9372600" y="34655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3" name="Sleeper"/>
            <p:cNvSpPr/>
            <p:nvPr/>
          </p:nvSpPr>
          <p:spPr>
            <a:xfrm>
              <a:off x="9646920" y="34655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4" name="Rail"/>
            <p:cNvSpPr/>
            <p:nvPr/>
          </p:nvSpPr>
          <p:spPr>
            <a:xfrm>
              <a:off x="7132320" y="3520440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Rail"/>
            <p:cNvSpPr/>
            <p:nvPr/>
          </p:nvSpPr>
          <p:spPr>
            <a:xfrm>
              <a:off x="7132320" y="3721608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Sleeper"/>
            <p:cNvSpPr/>
            <p:nvPr/>
          </p:nvSpPr>
          <p:spPr>
            <a:xfrm>
              <a:off x="7498080" y="3922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Sleeper"/>
            <p:cNvSpPr/>
            <p:nvPr/>
          </p:nvSpPr>
          <p:spPr>
            <a:xfrm>
              <a:off x="7772400" y="3922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Sleeper"/>
            <p:cNvSpPr/>
            <p:nvPr/>
          </p:nvSpPr>
          <p:spPr>
            <a:xfrm>
              <a:off x="8046720" y="3922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9" name="Sleeper"/>
            <p:cNvSpPr/>
            <p:nvPr/>
          </p:nvSpPr>
          <p:spPr>
            <a:xfrm>
              <a:off x="8321040" y="3922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" name="Sleeper"/>
            <p:cNvSpPr/>
            <p:nvPr/>
          </p:nvSpPr>
          <p:spPr>
            <a:xfrm>
              <a:off x="8595360" y="3922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" name="Sleeper"/>
            <p:cNvSpPr/>
            <p:nvPr/>
          </p:nvSpPr>
          <p:spPr>
            <a:xfrm>
              <a:off x="8869680" y="3922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" name="Sleeper"/>
            <p:cNvSpPr/>
            <p:nvPr/>
          </p:nvSpPr>
          <p:spPr>
            <a:xfrm>
              <a:off x="9144000" y="3922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Sleeper"/>
            <p:cNvSpPr/>
            <p:nvPr/>
          </p:nvSpPr>
          <p:spPr>
            <a:xfrm>
              <a:off x="9418320" y="3922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Sleeper"/>
            <p:cNvSpPr/>
            <p:nvPr/>
          </p:nvSpPr>
          <p:spPr>
            <a:xfrm>
              <a:off x="9692640" y="3922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Sleeper"/>
            <p:cNvSpPr/>
            <p:nvPr/>
          </p:nvSpPr>
          <p:spPr>
            <a:xfrm>
              <a:off x="9966960" y="3922776"/>
              <a:ext cx="64008" cy="365760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Rail"/>
            <p:cNvSpPr/>
            <p:nvPr/>
          </p:nvSpPr>
          <p:spPr>
            <a:xfrm>
              <a:off x="7452360" y="3977640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" name="Rail"/>
            <p:cNvSpPr/>
            <p:nvPr/>
          </p:nvSpPr>
          <p:spPr>
            <a:xfrm>
              <a:off x="7452360" y="4178808"/>
              <a:ext cx="2468880" cy="54864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8" name="Cross"/>
            <p:cNvCxnSpPr/>
            <p:nvPr/>
          </p:nvCxnSpPr>
          <p:spPr>
            <a:xfrm>
              <a:off x="7543800" y="2057400"/>
              <a:ext cx="2377440" cy="2377440"/>
            </a:xfrm>
            <a:prstGeom prst="line">
              <a:avLst/>
            </a:prstGeom>
            <a:ln w="101600">
              <a:solidFill>
                <a:srgbClr val="E5484D"/>
              </a:solidFill>
            </a:ln>
          </p:spPr>
        </p:cxnSp>
        <p:cxnSp>
          <p:nvCxnSpPr>
            <p:cNvPr id="99" name="Cross"/>
            <p:cNvCxnSpPr/>
            <p:nvPr/>
          </p:nvCxnSpPr>
          <p:spPr>
            <a:xfrm flipV="1">
              <a:off x="7543800" y="2057400"/>
              <a:ext cx="2377440" cy="2377440"/>
            </a:xfrm>
            <a:prstGeom prst="line">
              <a:avLst/>
            </a:prstGeom>
            <a:ln w="101600">
              <a:solidFill>
                <a:srgbClr val="E5484D"/>
              </a:solidFill>
            </a:ln>
          </p:spPr>
        </p:cxnSp>
        <p:sp>
          <p:nvSpPr>
            <p:cNvPr id="100" name="TextBox 99"/>
            <p:cNvSpPr txBox="1"/>
            <p:nvPr/>
          </p:nvSpPr>
          <p:spPr>
            <a:xfrm>
              <a:off x="6492240" y="4983480"/>
              <a:ext cx="3108960" cy="3657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F2F2F2"/>
                  </a:solidFill>
                  <a:latin typeface="Arial"/>
                </a:rPr>
                <a:t>Many short pieces</a:t>
              </a:r>
            </a:p>
          </p:txBody>
        </p:sp>
      </p:grpSp>
      <p:grpSp>
        <p:nvGrpSpPr>
          <p:cNvPr id="101" name="Caption" descr="Caption: Track can be laid in long pieces. The challenge is the trains, not the clicking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102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Track can be laid in long pieces. The challenge is the trains, not the clicking.</a:t>
              </a:r>
            </a:p>
          </p:txBody>
        </p:sp>
      </p:grpSp>
      <p:sp>
        <p:nvSpPr>
          <p:cNvPr id="105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A 150 metre experiment</a:t>
            </a:r>
          </a:p>
        </p:txBody>
      </p:sp>
      <p:sp>
        <p:nvSpPr>
          <p:cNvPr id="3" name="Status chip" descr="Status tag: Proposed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Diagram: a ruler along a curved track" descr="A ruler marked 150 m laid along a curved piece of track, with a question mark: the limit is only an experiment."/>
          <p:cNvGrpSpPr/>
          <p:nvPr/>
        </p:nvGrpSpPr>
        <p:grpSpPr>
          <a:xfrm>
            <a:off x="548640" y="1371600"/>
            <a:ext cx="11091672" cy="4069080"/>
            <a:chOff x="548640" y="1371600"/>
            <a:chExt cx="11091672" cy="4069080"/>
          </a:xfrm>
        </p:grpSpPr>
        <p:sp>
          <p:nvSpPr>
            <p:cNvPr id="5" name="Panel"/>
            <p:cNvSpPr/>
            <p:nvPr/>
          </p:nvSpPr>
          <p:spPr>
            <a:xfrm>
              <a:off x="548640" y="1371600"/>
              <a:ext cx="11091672" cy="4069080"/>
            </a:xfrm>
            <a:prstGeom prst="roundRect">
              <a:avLst>
                <a:gd name="adj" fmla="val 179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Sleeper"/>
            <p:cNvSpPr/>
            <p:nvPr/>
          </p:nvSpPr>
          <p:spPr>
            <a:xfrm rot="19616667">
              <a:off x="2540711" y="2902073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Sleeper"/>
            <p:cNvSpPr/>
            <p:nvPr/>
          </p:nvSpPr>
          <p:spPr>
            <a:xfrm rot="19786667">
              <a:off x="2786279" y="2751698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Sleeper"/>
            <p:cNvSpPr/>
            <p:nvPr/>
          </p:nvSpPr>
          <p:spPr>
            <a:xfrm rot="19900000">
              <a:off x="3038984" y="2613643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leeper"/>
            <p:cNvSpPr/>
            <p:nvPr/>
          </p:nvSpPr>
          <p:spPr>
            <a:xfrm rot="20013333">
              <a:off x="3297276" y="2486354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leeper"/>
            <p:cNvSpPr/>
            <p:nvPr/>
          </p:nvSpPr>
          <p:spPr>
            <a:xfrm rot="20240000">
              <a:off x="3561329" y="2371507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Sleeper"/>
            <p:cNvSpPr/>
            <p:nvPr/>
          </p:nvSpPr>
          <p:spPr>
            <a:xfrm rot="20353333">
              <a:off x="3830366" y="2268865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Sleeper"/>
            <p:cNvSpPr/>
            <p:nvPr/>
          </p:nvSpPr>
          <p:spPr>
            <a:xfrm rot="20580000">
              <a:off x="4103494" y="2177641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Sleeper"/>
            <p:cNvSpPr/>
            <p:nvPr/>
          </p:nvSpPr>
          <p:spPr>
            <a:xfrm rot="20693333">
              <a:off x="4380939" y="2100538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Sleeper"/>
            <p:cNvSpPr/>
            <p:nvPr/>
          </p:nvSpPr>
          <p:spPr>
            <a:xfrm rot="20806667">
              <a:off x="4661377" y="2035188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Sleeper"/>
            <p:cNvSpPr/>
            <p:nvPr/>
          </p:nvSpPr>
          <p:spPr>
            <a:xfrm rot="21033333">
              <a:off x="4944509" y="1982745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Sleeper"/>
            <p:cNvSpPr/>
            <p:nvPr/>
          </p:nvSpPr>
          <p:spPr>
            <a:xfrm rot="21146667">
              <a:off x="5229822" y="1943837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Sleeper"/>
            <p:cNvSpPr/>
            <p:nvPr/>
          </p:nvSpPr>
          <p:spPr>
            <a:xfrm rot="21260000">
              <a:off x="5516523" y="1916979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Sleeper"/>
            <p:cNvSpPr/>
            <p:nvPr/>
          </p:nvSpPr>
          <p:spPr>
            <a:xfrm rot="21486667">
              <a:off x="5804196" y="1904325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Sleeper"/>
            <p:cNvSpPr/>
            <p:nvPr/>
          </p:nvSpPr>
          <p:spPr>
            <a:xfrm>
              <a:off x="6092148" y="1904325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Sleeper"/>
            <p:cNvSpPr/>
            <p:nvPr/>
          </p:nvSpPr>
          <p:spPr>
            <a:xfrm rot="226667">
              <a:off x="6379821" y="1916979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Sleeper"/>
            <p:cNvSpPr/>
            <p:nvPr/>
          </p:nvSpPr>
          <p:spPr>
            <a:xfrm rot="340000">
              <a:off x="6666522" y="1943837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Sleeper"/>
            <p:cNvSpPr/>
            <p:nvPr/>
          </p:nvSpPr>
          <p:spPr>
            <a:xfrm rot="453333">
              <a:off x="6951835" y="1982745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Sleeper"/>
            <p:cNvSpPr/>
            <p:nvPr/>
          </p:nvSpPr>
          <p:spPr>
            <a:xfrm rot="680000">
              <a:off x="7234967" y="2035188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Sleeper"/>
            <p:cNvSpPr/>
            <p:nvPr/>
          </p:nvSpPr>
          <p:spPr>
            <a:xfrm rot="793333">
              <a:off x="7515405" y="2100538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Sleeper"/>
            <p:cNvSpPr/>
            <p:nvPr/>
          </p:nvSpPr>
          <p:spPr>
            <a:xfrm rot="1020000">
              <a:off x="7792850" y="2177641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Sleeper"/>
            <p:cNvSpPr/>
            <p:nvPr/>
          </p:nvSpPr>
          <p:spPr>
            <a:xfrm rot="1133333">
              <a:off x="8065978" y="2268865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Sleeper"/>
            <p:cNvSpPr/>
            <p:nvPr/>
          </p:nvSpPr>
          <p:spPr>
            <a:xfrm rot="1246667">
              <a:off x="8335015" y="2371507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Sleeper"/>
            <p:cNvSpPr/>
            <p:nvPr/>
          </p:nvSpPr>
          <p:spPr>
            <a:xfrm rot="1473333">
              <a:off x="8599068" y="2486354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Sleeper"/>
            <p:cNvSpPr/>
            <p:nvPr/>
          </p:nvSpPr>
          <p:spPr>
            <a:xfrm rot="1586667">
              <a:off x="8857360" y="2613643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Sleeper"/>
            <p:cNvSpPr/>
            <p:nvPr/>
          </p:nvSpPr>
          <p:spPr>
            <a:xfrm rot="1700000">
              <a:off x="9110065" y="2751698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Sleeper"/>
            <p:cNvSpPr/>
            <p:nvPr/>
          </p:nvSpPr>
          <p:spPr>
            <a:xfrm rot="1926667">
              <a:off x="9355633" y="2902073"/>
              <a:ext cx="82296" cy="585216"/>
            </a:xfrm>
            <a:prstGeom prst="rect">
              <a:avLst/>
            </a:prstGeom>
            <a:solidFill>
              <a:srgbClr val="6B5B4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Rail"/>
            <p:cNvSpPr/>
            <p:nvPr/>
          </p:nvSpPr>
          <p:spPr>
            <a:xfrm>
              <a:off x="2376381" y="2039112"/>
              <a:ext cx="7225878" cy="1103824"/>
            </a:xfrm>
            <a:custGeom>
              <a:avLst/>
              <a:gdLst/>
              <a:ahLst/>
              <a:cxnLst/>
              <a:rect l="l" t="t" r="r" b="b"/>
              <a:pathLst>
                <a:path w="7225878" h="1103824">
                  <a:moveTo>
                    <a:pt x="0" y="1103824"/>
                  </a:moveTo>
                  <a:lnTo>
                    <a:pt x="176487" y="988994"/>
                  </a:lnTo>
                  <a:lnTo>
                    <a:pt x="358845" y="878699"/>
                  </a:lnTo>
                  <a:lnTo>
                    <a:pt x="544739" y="774475"/>
                  </a:lnTo>
                  <a:lnTo>
                    <a:pt x="733967" y="676435"/>
                  </a:lnTo>
                  <a:lnTo>
                    <a:pt x="926324" y="584685"/>
                  </a:lnTo>
                  <a:lnTo>
                    <a:pt x="1121601" y="499326"/>
                  </a:lnTo>
                  <a:lnTo>
                    <a:pt x="1319585" y="420450"/>
                  </a:lnTo>
                  <a:lnTo>
                    <a:pt x="1520061" y="348142"/>
                  </a:lnTo>
                  <a:lnTo>
                    <a:pt x="1722812" y="282481"/>
                  </a:lnTo>
                  <a:lnTo>
                    <a:pt x="1927617" y="223540"/>
                  </a:lnTo>
                  <a:lnTo>
                    <a:pt x="2134253" y="171380"/>
                  </a:lnTo>
                  <a:lnTo>
                    <a:pt x="2342497" y="126061"/>
                  </a:lnTo>
                  <a:lnTo>
                    <a:pt x="2552121" y="87629"/>
                  </a:lnTo>
                  <a:lnTo>
                    <a:pt x="2762898" y="56129"/>
                  </a:lnTo>
                  <a:lnTo>
                    <a:pt x="2974598" y="31592"/>
                  </a:lnTo>
                  <a:lnTo>
                    <a:pt x="3186993" y="14047"/>
                  </a:lnTo>
                  <a:lnTo>
                    <a:pt x="3399850" y="3513"/>
                  </a:lnTo>
                  <a:lnTo>
                    <a:pt x="3612939" y="0"/>
                  </a:lnTo>
                  <a:lnTo>
                    <a:pt x="3826028" y="3513"/>
                  </a:lnTo>
                  <a:lnTo>
                    <a:pt x="4038885" y="14047"/>
                  </a:lnTo>
                  <a:lnTo>
                    <a:pt x="4251280" y="31592"/>
                  </a:lnTo>
                  <a:lnTo>
                    <a:pt x="4462980" y="56129"/>
                  </a:lnTo>
                  <a:lnTo>
                    <a:pt x="4673757" y="87629"/>
                  </a:lnTo>
                  <a:lnTo>
                    <a:pt x="4883381" y="126061"/>
                  </a:lnTo>
                  <a:lnTo>
                    <a:pt x="5091625" y="171380"/>
                  </a:lnTo>
                  <a:lnTo>
                    <a:pt x="5298261" y="223540"/>
                  </a:lnTo>
                  <a:lnTo>
                    <a:pt x="5503066" y="282481"/>
                  </a:lnTo>
                  <a:lnTo>
                    <a:pt x="5705817" y="348142"/>
                  </a:lnTo>
                  <a:lnTo>
                    <a:pt x="5906293" y="420450"/>
                  </a:lnTo>
                  <a:lnTo>
                    <a:pt x="6104277" y="499326"/>
                  </a:lnTo>
                  <a:lnTo>
                    <a:pt x="6299554" y="584685"/>
                  </a:lnTo>
                  <a:lnTo>
                    <a:pt x="6491911" y="676435"/>
                  </a:lnTo>
                  <a:lnTo>
                    <a:pt x="6681139" y="774475"/>
                  </a:lnTo>
                  <a:lnTo>
                    <a:pt x="6867033" y="878699"/>
                  </a:lnTo>
                  <a:lnTo>
                    <a:pt x="7049391" y="988994"/>
                  </a:lnTo>
                  <a:lnTo>
                    <a:pt x="7225878" y="1103824"/>
                  </a:lnTo>
                </a:path>
              </a:pathLst>
            </a:custGeom>
            <a:noFill/>
            <a:ln w="317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Rail"/>
            <p:cNvSpPr/>
            <p:nvPr/>
          </p:nvSpPr>
          <p:spPr>
            <a:xfrm>
              <a:off x="2545960" y="2350008"/>
              <a:ext cx="6886720" cy="1053503"/>
            </a:xfrm>
            <a:custGeom>
              <a:avLst/>
              <a:gdLst/>
              <a:ahLst/>
              <a:cxnLst/>
              <a:rect l="l" t="t" r="r" b="b"/>
              <a:pathLst>
                <a:path w="6886720" h="1053503">
                  <a:moveTo>
                    <a:pt x="0" y="1053503"/>
                  </a:moveTo>
                  <a:lnTo>
                    <a:pt x="172169" y="941433"/>
                  </a:lnTo>
                  <a:lnTo>
                    <a:pt x="345757" y="836442"/>
                  </a:lnTo>
                  <a:lnTo>
                    <a:pt x="522711" y="737230"/>
                  </a:lnTo>
                  <a:lnTo>
                    <a:pt x="702839" y="643905"/>
                  </a:lnTo>
                  <a:lnTo>
                    <a:pt x="885946" y="556568"/>
                  </a:lnTo>
                  <a:lnTo>
                    <a:pt x="1071831" y="475313"/>
                  </a:lnTo>
                  <a:lnTo>
                    <a:pt x="1260294" y="400230"/>
                  </a:lnTo>
                  <a:lnTo>
                    <a:pt x="1451130" y="331400"/>
                  </a:lnTo>
                  <a:lnTo>
                    <a:pt x="1644130" y="268897"/>
                  </a:lnTo>
                  <a:lnTo>
                    <a:pt x="1839086" y="212789"/>
                  </a:lnTo>
                  <a:lnTo>
                    <a:pt x="2035785" y="163139"/>
                  </a:lnTo>
                  <a:lnTo>
                    <a:pt x="2234014" y="119998"/>
                  </a:lnTo>
                  <a:lnTo>
                    <a:pt x="2433557" y="83415"/>
                  </a:lnTo>
                  <a:lnTo>
                    <a:pt x="2634198" y="53429"/>
                  </a:lnTo>
                  <a:lnTo>
                    <a:pt x="2835718" y="30073"/>
                  </a:lnTo>
                  <a:lnTo>
                    <a:pt x="3037898" y="13372"/>
                  </a:lnTo>
                  <a:lnTo>
                    <a:pt x="3240519" y="3344"/>
                  </a:lnTo>
                  <a:lnTo>
                    <a:pt x="3443360" y="0"/>
                  </a:lnTo>
                  <a:lnTo>
                    <a:pt x="3646201" y="3344"/>
                  </a:lnTo>
                  <a:lnTo>
                    <a:pt x="3848822" y="13372"/>
                  </a:lnTo>
                  <a:lnTo>
                    <a:pt x="4051002" y="30073"/>
                  </a:lnTo>
                  <a:lnTo>
                    <a:pt x="4252522" y="53429"/>
                  </a:lnTo>
                  <a:lnTo>
                    <a:pt x="4453163" y="83415"/>
                  </a:lnTo>
                  <a:lnTo>
                    <a:pt x="4652706" y="119998"/>
                  </a:lnTo>
                  <a:lnTo>
                    <a:pt x="4850935" y="163139"/>
                  </a:lnTo>
                  <a:lnTo>
                    <a:pt x="5047634" y="212789"/>
                  </a:lnTo>
                  <a:lnTo>
                    <a:pt x="5242590" y="268897"/>
                  </a:lnTo>
                  <a:lnTo>
                    <a:pt x="5435590" y="331400"/>
                  </a:lnTo>
                  <a:lnTo>
                    <a:pt x="5626426" y="400230"/>
                  </a:lnTo>
                  <a:lnTo>
                    <a:pt x="5814889" y="475313"/>
                  </a:lnTo>
                  <a:lnTo>
                    <a:pt x="6000774" y="556568"/>
                  </a:lnTo>
                  <a:lnTo>
                    <a:pt x="6183881" y="643905"/>
                  </a:lnTo>
                  <a:lnTo>
                    <a:pt x="6364009" y="737230"/>
                  </a:lnTo>
                  <a:lnTo>
                    <a:pt x="6540963" y="836442"/>
                  </a:lnTo>
                  <a:lnTo>
                    <a:pt x="6714551" y="941433"/>
                  </a:lnTo>
                  <a:lnTo>
                    <a:pt x="6886720" y="1053503"/>
                  </a:lnTo>
                </a:path>
              </a:pathLst>
            </a:custGeom>
            <a:noFill/>
            <a:ln w="317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Ruler"/>
            <p:cNvSpPr/>
            <p:nvPr/>
          </p:nvSpPr>
          <p:spPr>
            <a:xfrm>
              <a:off x="2870231" y="2926080"/>
              <a:ext cx="6238178" cy="1370541"/>
            </a:xfrm>
            <a:custGeom>
              <a:avLst/>
              <a:gdLst/>
              <a:ahLst/>
              <a:cxnLst/>
              <a:rect l="l" t="t" r="r" b="b"/>
              <a:pathLst>
                <a:path w="6238178" h="1370541">
                  <a:moveTo>
                    <a:pt x="0" y="953601"/>
                  </a:moveTo>
                  <a:lnTo>
                    <a:pt x="154116" y="853304"/>
                  </a:lnTo>
                  <a:lnTo>
                    <a:pt x="311455" y="758142"/>
                  </a:lnTo>
                  <a:lnTo>
                    <a:pt x="471844" y="668217"/>
                  </a:lnTo>
                  <a:lnTo>
                    <a:pt x="635110" y="583628"/>
                  </a:lnTo>
                  <a:lnTo>
                    <a:pt x="801076" y="504467"/>
                  </a:lnTo>
                  <a:lnTo>
                    <a:pt x="969561" y="430819"/>
                  </a:lnTo>
                  <a:lnTo>
                    <a:pt x="1140382" y="362764"/>
                  </a:lnTo>
                  <a:lnTo>
                    <a:pt x="1313353" y="300377"/>
                  </a:lnTo>
                  <a:lnTo>
                    <a:pt x="1488286" y="243725"/>
                  </a:lnTo>
                  <a:lnTo>
                    <a:pt x="1664992" y="192870"/>
                  </a:lnTo>
                  <a:lnTo>
                    <a:pt x="1843278" y="147867"/>
                  </a:lnTo>
                  <a:lnTo>
                    <a:pt x="2022951" y="108765"/>
                  </a:lnTo>
                  <a:lnTo>
                    <a:pt x="2203815" y="75607"/>
                  </a:lnTo>
                  <a:lnTo>
                    <a:pt x="2385673" y="48428"/>
                  </a:lnTo>
                  <a:lnTo>
                    <a:pt x="2568328" y="27258"/>
                  </a:lnTo>
                  <a:lnTo>
                    <a:pt x="2751582" y="12120"/>
                  </a:lnTo>
                  <a:lnTo>
                    <a:pt x="2935236" y="3031"/>
                  </a:lnTo>
                  <a:lnTo>
                    <a:pt x="3119089" y="0"/>
                  </a:lnTo>
                  <a:lnTo>
                    <a:pt x="3302942" y="3031"/>
                  </a:lnTo>
                  <a:lnTo>
                    <a:pt x="3486596" y="12120"/>
                  </a:lnTo>
                  <a:lnTo>
                    <a:pt x="3669850" y="27258"/>
                  </a:lnTo>
                  <a:lnTo>
                    <a:pt x="3852505" y="48428"/>
                  </a:lnTo>
                  <a:lnTo>
                    <a:pt x="4034363" y="75607"/>
                  </a:lnTo>
                  <a:lnTo>
                    <a:pt x="4215227" y="108765"/>
                  </a:lnTo>
                  <a:lnTo>
                    <a:pt x="4394900" y="147867"/>
                  </a:lnTo>
                  <a:lnTo>
                    <a:pt x="4573186" y="192870"/>
                  </a:lnTo>
                  <a:lnTo>
                    <a:pt x="4749892" y="243725"/>
                  </a:lnTo>
                  <a:lnTo>
                    <a:pt x="4924825" y="300377"/>
                  </a:lnTo>
                  <a:lnTo>
                    <a:pt x="5097796" y="362764"/>
                  </a:lnTo>
                  <a:lnTo>
                    <a:pt x="5268617" y="430819"/>
                  </a:lnTo>
                  <a:lnTo>
                    <a:pt x="5437102" y="504467"/>
                  </a:lnTo>
                  <a:lnTo>
                    <a:pt x="5603068" y="583628"/>
                  </a:lnTo>
                  <a:lnTo>
                    <a:pt x="5766334" y="668217"/>
                  </a:lnTo>
                  <a:lnTo>
                    <a:pt x="5926723" y="758142"/>
                  </a:lnTo>
                  <a:lnTo>
                    <a:pt x="6084062" y="853304"/>
                  </a:lnTo>
                  <a:lnTo>
                    <a:pt x="6238178" y="953601"/>
                  </a:lnTo>
                  <a:lnTo>
                    <a:pt x="5956948" y="1370541"/>
                  </a:lnTo>
                  <a:lnTo>
                    <a:pt x="5816728" y="1279287"/>
                  </a:lnTo>
                  <a:lnTo>
                    <a:pt x="5673576" y="1192705"/>
                  </a:lnTo>
                  <a:lnTo>
                    <a:pt x="5527648" y="1110888"/>
                  </a:lnTo>
                  <a:lnTo>
                    <a:pt x="5379102" y="1033926"/>
                  </a:lnTo>
                  <a:lnTo>
                    <a:pt x="5228101" y="961902"/>
                  </a:lnTo>
                  <a:lnTo>
                    <a:pt x="5074807" y="894894"/>
                  </a:lnTo>
                  <a:lnTo>
                    <a:pt x="4919388" y="832976"/>
                  </a:lnTo>
                  <a:lnTo>
                    <a:pt x="4762013" y="776214"/>
                  </a:lnTo>
                  <a:lnTo>
                    <a:pt x="4602852" y="724670"/>
                  </a:lnTo>
                  <a:lnTo>
                    <a:pt x="4442079" y="678400"/>
                  </a:lnTo>
                  <a:lnTo>
                    <a:pt x="4279868" y="637455"/>
                  </a:lnTo>
                  <a:lnTo>
                    <a:pt x="4116395" y="601878"/>
                  </a:lnTo>
                  <a:lnTo>
                    <a:pt x="3951839" y="571710"/>
                  </a:lnTo>
                  <a:lnTo>
                    <a:pt x="3786377" y="546981"/>
                  </a:lnTo>
                  <a:lnTo>
                    <a:pt x="3620191" y="527720"/>
                  </a:lnTo>
                  <a:lnTo>
                    <a:pt x="3453460" y="513947"/>
                  </a:lnTo>
                  <a:lnTo>
                    <a:pt x="3286365" y="505678"/>
                  </a:lnTo>
                  <a:lnTo>
                    <a:pt x="3119089" y="502920"/>
                  </a:lnTo>
                  <a:lnTo>
                    <a:pt x="2951813" y="505678"/>
                  </a:lnTo>
                  <a:lnTo>
                    <a:pt x="2784718" y="513947"/>
                  </a:lnTo>
                  <a:lnTo>
                    <a:pt x="2617987" y="527720"/>
                  </a:lnTo>
                  <a:lnTo>
                    <a:pt x="2451801" y="546981"/>
                  </a:lnTo>
                  <a:lnTo>
                    <a:pt x="2286339" y="571710"/>
                  </a:lnTo>
                  <a:lnTo>
                    <a:pt x="2121783" y="601878"/>
                  </a:lnTo>
                  <a:lnTo>
                    <a:pt x="1958310" y="637455"/>
                  </a:lnTo>
                  <a:lnTo>
                    <a:pt x="1796099" y="678400"/>
                  </a:lnTo>
                  <a:lnTo>
                    <a:pt x="1635326" y="724670"/>
                  </a:lnTo>
                  <a:lnTo>
                    <a:pt x="1476165" y="776214"/>
                  </a:lnTo>
                  <a:lnTo>
                    <a:pt x="1318790" y="832976"/>
                  </a:lnTo>
                  <a:lnTo>
                    <a:pt x="1163371" y="894894"/>
                  </a:lnTo>
                  <a:lnTo>
                    <a:pt x="1010077" y="961902"/>
                  </a:lnTo>
                  <a:lnTo>
                    <a:pt x="859076" y="1033926"/>
                  </a:lnTo>
                  <a:lnTo>
                    <a:pt x="710530" y="1110888"/>
                  </a:lnTo>
                  <a:lnTo>
                    <a:pt x="564602" y="1192705"/>
                  </a:lnTo>
                  <a:lnTo>
                    <a:pt x="421450" y="1279287"/>
                  </a:lnTo>
                  <a:lnTo>
                    <a:pt x="281230" y="1370541"/>
                  </a:lnTo>
                  <a:close/>
                </a:path>
              </a:pathLst>
            </a:custGeom>
            <a:solidFill>
              <a:srgbClr val="F2C14E"/>
            </a:solidFill>
            <a:ln w="1905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5" name="Tick"/>
            <p:cNvCxnSpPr/>
            <p:nvPr/>
          </p:nvCxnSpPr>
          <p:spPr>
            <a:xfrm>
              <a:off x="2870231" y="3879681"/>
              <a:ext cx="173851" cy="257745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36" name="Tick"/>
            <p:cNvCxnSpPr/>
            <p:nvPr/>
          </p:nvCxnSpPr>
          <p:spPr>
            <a:xfrm>
              <a:off x="3055563" y="3759938"/>
              <a:ext cx="96189" cy="155540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37" name="Tick"/>
            <p:cNvCxnSpPr/>
            <p:nvPr/>
          </p:nvCxnSpPr>
          <p:spPr>
            <a:xfrm>
              <a:off x="3245485" y="3647618"/>
              <a:ext cx="89962" cy="159223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38" name="Tick"/>
            <p:cNvCxnSpPr/>
            <p:nvPr/>
          </p:nvCxnSpPr>
          <p:spPr>
            <a:xfrm>
              <a:off x="3439701" y="3542898"/>
              <a:ext cx="83594" cy="162656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39" name="Tick"/>
            <p:cNvCxnSpPr/>
            <p:nvPr/>
          </p:nvCxnSpPr>
          <p:spPr>
            <a:xfrm>
              <a:off x="3637907" y="3445941"/>
              <a:ext cx="77095" cy="165835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40" name="Tick"/>
            <p:cNvCxnSpPr/>
            <p:nvPr/>
          </p:nvCxnSpPr>
          <p:spPr>
            <a:xfrm>
              <a:off x="3839792" y="3356899"/>
              <a:ext cx="119810" cy="286883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41" name="Tick"/>
            <p:cNvCxnSpPr/>
            <p:nvPr/>
          </p:nvCxnSpPr>
          <p:spPr>
            <a:xfrm>
              <a:off x="4045041" y="3275911"/>
              <a:ext cx="63747" cy="171410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42" name="Tick"/>
            <p:cNvCxnSpPr/>
            <p:nvPr/>
          </p:nvCxnSpPr>
          <p:spPr>
            <a:xfrm>
              <a:off x="4253332" y="3203104"/>
              <a:ext cx="56918" cy="173798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43" name="Tick"/>
            <p:cNvCxnSpPr/>
            <p:nvPr/>
          </p:nvCxnSpPr>
          <p:spPr>
            <a:xfrm>
              <a:off x="4464340" y="3138593"/>
              <a:ext cx="50000" cy="175912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44" name="Tick"/>
            <p:cNvCxnSpPr/>
            <p:nvPr/>
          </p:nvCxnSpPr>
          <p:spPr>
            <a:xfrm>
              <a:off x="4677735" y="3082477"/>
              <a:ext cx="43003" cy="177752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45" name="Tick"/>
            <p:cNvCxnSpPr/>
            <p:nvPr/>
          </p:nvCxnSpPr>
          <p:spPr>
            <a:xfrm>
              <a:off x="4893182" y="3034845"/>
              <a:ext cx="61096" cy="304834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46" name="Tick"/>
            <p:cNvCxnSpPr/>
            <p:nvPr/>
          </p:nvCxnSpPr>
          <p:spPr>
            <a:xfrm>
              <a:off x="5110344" y="2995771"/>
              <a:ext cx="28819" cy="180596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47" name="Tick"/>
            <p:cNvCxnSpPr/>
            <p:nvPr/>
          </p:nvCxnSpPr>
          <p:spPr>
            <a:xfrm>
              <a:off x="5328882" y="2965317"/>
              <a:ext cx="21653" cy="181594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48" name="Tick"/>
            <p:cNvCxnSpPr/>
            <p:nvPr/>
          </p:nvCxnSpPr>
          <p:spPr>
            <a:xfrm>
              <a:off x="5548453" y="2943530"/>
              <a:ext cx="14454" cy="182308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49" name="Tick"/>
            <p:cNvCxnSpPr/>
            <p:nvPr/>
          </p:nvCxnSpPr>
          <p:spPr>
            <a:xfrm>
              <a:off x="5768714" y="2930444"/>
              <a:ext cx="7233" cy="182737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50" name="Tick"/>
            <p:cNvCxnSpPr/>
            <p:nvPr/>
          </p:nvCxnSpPr>
          <p:spPr>
            <a:xfrm>
              <a:off x="5989320" y="2926080"/>
              <a:ext cx="0" cy="310896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51" name="Tick"/>
            <p:cNvCxnSpPr/>
            <p:nvPr/>
          </p:nvCxnSpPr>
          <p:spPr>
            <a:xfrm flipH="1">
              <a:off x="6202693" y="2930444"/>
              <a:ext cx="7233" cy="182737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52" name="Tick"/>
            <p:cNvCxnSpPr/>
            <p:nvPr/>
          </p:nvCxnSpPr>
          <p:spPr>
            <a:xfrm flipH="1">
              <a:off x="6415733" y="2943530"/>
              <a:ext cx="14454" cy="182308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53" name="Tick"/>
            <p:cNvCxnSpPr/>
            <p:nvPr/>
          </p:nvCxnSpPr>
          <p:spPr>
            <a:xfrm flipH="1">
              <a:off x="6628105" y="2965317"/>
              <a:ext cx="21653" cy="181594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54" name="Tick"/>
            <p:cNvCxnSpPr/>
            <p:nvPr/>
          </p:nvCxnSpPr>
          <p:spPr>
            <a:xfrm flipH="1">
              <a:off x="6839477" y="2995771"/>
              <a:ext cx="28819" cy="180596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55" name="Tick"/>
            <p:cNvCxnSpPr/>
            <p:nvPr/>
          </p:nvCxnSpPr>
          <p:spPr>
            <a:xfrm flipH="1">
              <a:off x="7024362" y="3034845"/>
              <a:ext cx="61096" cy="304834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56" name="Tick"/>
            <p:cNvCxnSpPr/>
            <p:nvPr/>
          </p:nvCxnSpPr>
          <p:spPr>
            <a:xfrm flipH="1">
              <a:off x="7257902" y="3082477"/>
              <a:ext cx="43003" cy="177752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57" name="Tick"/>
            <p:cNvCxnSpPr/>
            <p:nvPr/>
          </p:nvCxnSpPr>
          <p:spPr>
            <a:xfrm flipH="1">
              <a:off x="7464300" y="3138593"/>
              <a:ext cx="50000" cy="175912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58" name="Tick"/>
            <p:cNvCxnSpPr/>
            <p:nvPr/>
          </p:nvCxnSpPr>
          <p:spPr>
            <a:xfrm flipH="1">
              <a:off x="7668390" y="3203104"/>
              <a:ext cx="56918" cy="173798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59" name="Tick"/>
            <p:cNvCxnSpPr/>
            <p:nvPr/>
          </p:nvCxnSpPr>
          <p:spPr>
            <a:xfrm flipH="1">
              <a:off x="7869852" y="3275911"/>
              <a:ext cx="63747" cy="171410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60" name="Tick"/>
            <p:cNvCxnSpPr/>
            <p:nvPr/>
          </p:nvCxnSpPr>
          <p:spPr>
            <a:xfrm flipH="1">
              <a:off x="8019038" y="3356899"/>
              <a:ext cx="119810" cy="286883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61" name="Tick"/>
            <p:cNvCxnSpPr/>
            <p:nvPr/>
          </p:nvCxnSpPr>
          <p:spPr>
            <a:xfrm flipH="1">
              <a:off x="8263638" y="3445941"/>
              <a:ext cx="77095" cy="165835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62" name="Tick"/>
            <p:cNvCxnSpPr/>
            <p:nvPr/>
          </p:nvCxnSpPr>
          <p:spPr>
            <a:xfrm flipH="1">
              <a:off x="8455345" y="3542898"/>
              <a:ext cx="83594" cy="162656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63" name="Tick"/>
            <p:cNvCxnSpPr/>
            <p:nvPr/>
          </p:nvCxnSpPr>
          <p:spPr>
            <a:xfrm flipH="1">
              <a:off x="8643193" y="3647618"/>
              <a:ext cx="89962" cy="159223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64" name="Tick"/>
            <p:cNvCxnSpPr/>
            <p:nvPr/>
          </p:nvCxnSpPr>
          <p:spPr>
            <a:xfrm flipH="1">
              <a:off x="8826888" y="3759938"/>
              <a:ext cx="96189" cy="155540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cxnSp>
          <p:nvCxnSpPr>
            <p:cNvPr id="65" name="Tick"/>
            <p:cNvCxnSpPr/>
            <p:nvPr/>
          </p:nvCxnSpPr>
          <p:spPr>
            <a:xfrm flipH="1">
              <a:off x="8934558" y="3879681"/>
              <a:ext cx="173851" cy="257745"/>
            </a:xfrm>
            <a:prstGeom prst="line">
              <a:avLst/>
            </a:prstGeom>
            <a:ln w="19050">
              <a:solidFill>
                <a:srgbClr val="101418"/>
              </a:solidFill>
            </a:ln>
          </p:spPr>
        </p:cxnSp>
        <p:sp>
          <p:nvSpPr>
            <p:cNvPr id="66" name="TextBox 65"/>
            <p:cNvSpPr txBox="1"/>
            <p:nvPr/>
          </p:nvSpPr>
          <p:spPr>
            <a:xfrm>
              <a:off x="4892040" y="3611880"/>
              <a:ext cx="2194560" cy="45720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C14E"/>
                  </a:solidFill>
                  <a:latin typeface="Arial"/>
                </a:rPr>
                <a:t>150 m</a:t>
              </a:r>
            </a:p>
          </p:txBody>
        </p:sp>
        <p:sp>
          <p:nvSpPr>
            <p:cNvPr id="67" name="Question mark"/>
            <p:cNvSpPr/>
            <p:nvPr/>
          </p:nvSpPr>
          <p:spPr>
            <a:xfrm>
              <a:off x="10149840" y="2194560"/>
              <a:ext cx="822960" cy="822960"/>
            </a:xfrm>
            <a:prstGeom prst="ellipse">
              <a:avLst/>
            </a:prstGeom>
            <a:noFill/>
            <a:ln w="38100">
              <a:solidFill>
                <a:srgbClr val="F28C28"/>
              </a:solidFill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3200" b="1" i="0" lang="en-GB">
                  <a:solidFill>
                    <a:srgbClr val="F28C28"/>
                  </a:solidFill>
                  <a:latin typeface="Arial"/>
                </a:rPr>
                <a:t>?</a:t>
              </a: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10607040" y="4892040"/>
              <a:ext cx="868680" cy="365760"/>
            </a:xfrm>
            <a:prstGeom prst="rect">
              <a:avLst/>
            </a:prstGeom>
            <a:noFill/>
          </p:spPr>
          <p:txBody>
            <a:bodyPr wrap="square" lIns="45720" tIns="27432" rIns="45720" bIns="27432" anchor="ctr">
              <a:noAutofit/>
            </a:bodyPr>
            <a:lstStyle/>
            <a:p>
              <a:pPr algn="r">
                <a:spcBef>
                  <a:spcPts val="0"/>
                </a:spcBef>
                <a:spcAft>
                  <a:spcPts val="0"/>
                </a:spcAft>
              </a:pPr>
              <a:r>
                <a:rPr sz="1400" b="0" i="0" lang="en-GB">
                  <a:solidFill>
                    <a:srgbClr val="A9B0B8"/>
                  </a:solidFill>
                  <a:latin typeface="Arial"/>
                </a:rPr>
                <a:t>OQ02</a:t>
              </a:r>
            </a:p>
          </p:txBody>
        </p:sp>
      </p:grpSp>
      <p:grpSp>
        <p:nvGrpSpPr>
          <p:cNvPr id="69" name="Caption" descr="Caption: A 150 metre piece limit is only an experiment. It may not work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70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A 150 metre piece limit is only an experiment. It may not work.</a:t>
              </a:r>
            </a:p>
          </p:txBody>
        </p:sp>
      </p:grpSp>
      <p:sp>
        <p:nvSpPr>
          <p:cNvPr id="73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Every transport has a job</a:t>
            </a:r>
          </a:p>
        </p:txBody>
      </p:sp>
      <p:sp>
        <p:nvSpPr>
          <p:cNvPr id="3" name="Status chip" descr="Status tag: Agreed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Lane: Belts" descr="Belts: permanent short and medium links"/>
          <p:cNvGrpSpPr/>
          <p:nvPr/>
        </p:nvGrpSpPr>
        <p:grpSpPr>
          <a:xfrm>
            <a:off x="548640" y="1325880"/>
            <a:ext cx="11091672" cy="960120"/>
            <a:chOff x="548640" y="1325880"/>
            <a:chExt cx="11091672" cy="960120"/>
          </a:xfrm>
        </p:grpSpPr>
        <p:sp>
          <p:nvSpPr>
            <p:cNvPr id="5" name="Lane panel"/>
            <p:cNvSpPr/>
            <p:nvPr/>
          </p:nvSpPr>
          <p:spPr>
            <a:xfrm>
              <a:off x="548640" y="1325880"/>
              <a:ext cx="11091672" cy="9601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Lane accent"/>
            <p:cNvSpPr/>
            <p:nvPr/>
          </p:nvSpPr>
          <p:spPr>
            <a:xfrm>
              <a:off x="548640" y="1417320"/>
              <a:ext cx="91440" cy="77724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Belt"/>
            <p:cNvSpPr/>
            <p:nvPr/>
          </p:nvSpPr>
          <p:spPr>
            <a:xfrm>
              <a:off x="960120" y="1828800"/>
              <a:ext cx="2286000" cy="274320"/>
            </a:xfrm>
            <a:prstGeom prst="roundRect">
              <a:avLst>
                <a:gd name="adj" fmla="val 50000"/>
              </a:avLst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Chevron"/>
            <p:cNvSpPr/>
            <p:nvPr/>
          </p:nvSpPr>
          <p:spPr>
            <a:xfrm>
              <a:off x="1143000" y="1892808"/>
              <a:ext cx="164592" cy="146304"/>
            </a:xfrm>
            <a:prstGeom prst="chevron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Chevron"/>
            <p:cNvSpPr/>
            <p:nvPr/>
          </p:nvSpPr>
          <p:spPr>
            <a:xfrm>
              <a:off x="1490472" y="1892808"/>
              <a:ext cx="164592" cy="146304"/>
            </a:xfrm>
            <a:prstGeom prst="chevron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Chevron"/>
            <p:cNvSpPr/>
            <p:nvPr/>
          </p:nvSpPr>
          <p:spPr>
            <a:xfrm>
              <a:off x="1837944" y="1892808"/>
              <a:ext cx="164592" cy="146304"/>
            </a:xfrm>
            <a:prstGeom prst="chevron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Chevron"/>
            <p:cNvSpPr/>
            <p:nvPr/>
          </p:nvSpPr>
          <p:spPr>
            <a:xfrm>
              <a:off x="2185416" y="1892808"/>
              <a:ext cx="164592" cy="146304"/>
            </a:xfrm>
            <a:prstGeom prst="chevron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Chevron"/>
            <p:cNvSpPr/>
            <p:nvPr/>
          </p:nvSpPr>
          <p:spPr>
            <a:xfrm>
              <a:off x="2532888" y="1892808"/>
              <a:ext cx="164592" cy="146304"/>
            </a:xfrm>
            <a:prstGeom prst="chevron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Chevron"/>
            <p:cNvSpPr/>
            <p:nvPr/>
          </p:nvSpPr>
          <p:spPr>
            <a:xfrm>
              <a:off x="2880360" y="1892808"/>
              <a:ext cx="164592" cy="146304"/>
            </a:xfrm>
            <a:prstGeom prst="chevron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Crate"/>
            <p:cNvSpPr/>
            <p:nvPr/>
          </p:nvSpPr>
          <p:spPr>
            <a:xfrm>
              <a:off x="1325880" y="1600200"/>
              <a:ext cx="274320" cy="228600"/>
            </a:xfrm>
            <a:prstGeom prst="rect">
              <a:avLst/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rate"/>
            <p:cNvSpPr/>
            <p:nvPr/>
          </p:nvSpPr>
          <p:spPr>
            <a:xfrm>
              <a:off x="2331720" y="1600200"/>
              <a:ext cx="274320" cy="228600"/>
            </a:xfrm>
            <a:prstGeom prst="rect">
              <a:avLst/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Lane label"/>
            <p:cNvSpPr txBox="1"/>
            <p:nvPr/>
          </p:nvSpPr>
          <p:spPr>
            <a:xfrm>
              <a:off x="3657600" y="1325880"/>
              <a:ext cx="7772400" cy="9601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Belts: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 permanent short and medium links</a:t>
              </a:r>
            </a:p>
          </p:txBody>
        </p:sp>
      </p:grpSp>
      <p:grpSp>
        <p:nvGrpSpPr>
          <p:cNvPr id="17" name="Lane: Tractors" descr="Tractors: flexible, little infrastructure"/>
          <p:cNvGrpSpPr/>
          <p:nvPr/>
        </p:nvGrpSpPr>
        <p:grpSpPr>
          <a:xfrm>
            <a:off x="548640" y="2395728"/>
            <a:ext cx="11091672" cy="960120"/>
            <a:chOff x="548640" y="2395728"/>
            <a:chExt cx="11091672" cy="960120"/>
          </a:xfrm>
        </p:grpSpPr>
        <p:sp>
          <p:nvSpPr>
            <p:cNvPr id="18" name="Lane panel"/>
            <p:cNvSpPr/>
            <p:nvPr/>
          </p:nvSpPr>
          <p:spPr>
            <a:xfrm>
              <a:off x="548640" y="2395728"/>
              <a:ext cx="11091672" cy="9601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Lane accent"/>
            <p:cNvSpPr/>
            <p:nvPr/>
          </p:nvSpPr>
          <p:spPr>
            <a:xfrm>
              <a:off x="548640" y="2487168"/>
              <a:ext cx="91440" cy="777240"/>
            </a:xfrm>
            <a:prstGeom prst="rect">
              <a:avLst/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Tractor body"/>
            <p:cNvSpPr/>
            <p:nvPr/>
          </p:nvSpPr>
          <p:spPr>
            <a:xfrm>
              <a:off x="1234440" y="2852928"/>
              <a:ext cx="1371600" cy="274320"/>
            </a:xfrm>
            <a:prstGeom prst="roundRect">
              <a:avLst>
                <a:gd name="adj" fmla="val 20000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Cab"/>
            <p:cNvSpPr/>
            <p:nvPr/>
          </p:nvSpPr>
          <p:spPr>
            <a:xfrm>
              <a:off x="1325880" y="2596896"/>
              <a:ext cx="594360" cy="274320"/>
            </a:xfrm>
            <a:prstGeom prst="roundRect">
              <a:avLst>
                <a:gd name="adj" fmla="val 16666"/>
              </a:avLst>
            </a:prstGeom>
            <a:solidFill>
              <a:srgbClr val="F2C14E"/>
            </a:solidFill>
            <a:ln w="12700">
              <a:solidFill>
                <a:srgbClr val="101418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Exhaust"/>
            <p:cNvSpPr/>
            <p:nvPr/>
          </p:nvSpPr>
          <p:spPr>
            <a:xfrm>
              <a:off x="2377440" y="2670048"/>
              <a:ext cx="64008" cy="228600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Wheel"/>
            <p:cNvSpPr/>
            <p:nvPr/>
          </p:nvSpPr>
          <p:spPr>
            <a:xfrm>
              <a:off x="1307592" y="2862072"/>
              <a:ext cx="438912" cy="43891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Hub"/>
            <p:cNvSpPr/>
            <p:nvPr/>
          </p:nvSpPr>
          <p:spPr>
            <a:xfrm>
              <a:off x="1465600" y="3020080"/>
              <a:ext cx="122895" cy="12289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Wheel"/>
            <p:cNvSpPr/>
            <p:nvPr/>
          </p:nvSpPr>
          <p:spPr>
            <a:xfrm>
              <a:off x="2231136" y="2999232"/>
              <a:ext cx="292608" cy="29260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Hub"/>
            <p:cNvSpPr/>
            <p:nvPr/>
          </p:nvSpPr>
          <p:spPr>
            <a:xfrm>
              <a:off x="2336475" y="3104571"/>
              <a:ext cx="81930" cy="8193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Lane label"/>
            <p:cNvSpPr txBox="1"/>
            <p:nvPr/>
          </p:nvSpPr>
          <p:spPr>
            <a:xfrm>
              <a:off x="3657600" y="2395728"/>
              <a:ext cx="7772400" cy="9601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Tractors: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 flexible, little infrastructure</a:t>
              </a:r>
            </a:p>
          </p:txBody>
        </p:sp>
      </p:grpSp>
      <p:grpSp>
        <p:nvGrpSpPr>
          <p:cNvPr id="28" name="Lane: Steam" descr="Steam: early long-distance bulk"/>
          <p:cNvGrpSpPr/>
          <p:nvPr/>
        </p:nvGrpSpPr>
        <p:grpSpPr>
          <a:xfrm>
            <a:off x="548640" y="3465576"/>
            <a:ext cx="11091672" cy="960120"/>
            <a:chOff x="548640" y="3465576"/>
            <a:chExt cx="11091672" cy="960120"/>
          </a:xfrm>
        </p:grpSpPr>
        <p:sp>
          <p:nvSpPr>
            <p:cNvPr id="29" name="Lane panel"/>
            <p:cNvSpPr/>
            <p:nvPr/>
          </p:nvSpPr>
          <p:spPr>
            <a:xfrm>
              <a:off x="548640" y="3465576"/>
              <a:ext cx="11091672" cy="9601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Lane accent"/>
            <p:cNvSpPr/>
            <p:nvPr/>
          </p:nvSpPr>
          <p:spPr>
            <a:xfrm>
              <a:off x="548640" y="3557016"/>
              <a:ext cx="91440" cy="77724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Footplate"/>
            <p:cNvSpPr/>
            <p:nvPr/>
          </p:nvSpPr>
          <p:spPr>
            <a:xfrm>
              <a:off x="1280160" y="4131259"/>
              <a:ext cx="1426464" cy="5486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Boiler"/>
            <p:cNvSpPr/>
            <p:nvPr/>
          </p:nvSpPr>
          <p:spPr>
            <a:xfrm>
              <a:off x="1773936" y="3829507"/>
              <a:ext cx="877824" cy="318211"/>
            </a:xfrm>
            <a:prstGeom prst="roundRect">
              <a:avLst>
                <a:gd name="adj" fmla="val 2586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Smokebox"/>
            <p:cNvSpPr/>
            <p:nvPr/>
          </p:nvSpPr>
          <p:spPr>
            <a:xfrm>
              <a:off x="2585923" y="3829507"/>
              <a:ext cx="76810" cy="318211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Chimney"/>
            <p:cNvSpPr/>
            <p:nvPr/>
          </p:nvSpPr>
          <p:spPr>
            <a:xfrm>
              <a:off x="2487168" y="3686861"/>
              <a:ext cx="71323" cy="15361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Chimney top"/>
            <p:cNvSpPr/>
            <p:nvPr/>
          </p:nvSpPr>
          <p:spPr>
            <a:xfrm>
              <a:off x="2459736" y="3664915"/>
              <a:ext cx="126187" cy="3291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ome"/>
            <p:cNvSpPr/>
            <p:nvPr/>
          </p:nvSpPr>
          <p:spPr>
            <a:xfrm>
              <a:off x="2103120" y="3752698"/>
              <a:ext cx="186538" cy="164592"/>
            </a:xfrm>
            <a:prstGeom prst="chord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Cab"/>
            <p:cNvSpPr/>
            <p:nvPr/>
          </p:nvSpPr>
          <p:spPr>
            <a:xfrm>
              <a:off x="1324051" y="3719779"/>
              <a:ext cx="493776" cy="427939"/>
            </a:xfrm>
            <a:prstGeom prst="rect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Cab roof"/>
            <p:cNvSpPr/>
            <p:nvPr/>
          </p:nvSpPr>
          <p:spPr>
            <a:xfrm>
              <a:off x="1291133" y="3675888"/>
              <a:ext cx="559613" cy="4937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Cab window"/>
            <p:cNvSpPr/>
            <p:nvPr/>
          </p:nvSpPr>
          <p:spPr>
            <a:xfrm>
              <a:off x="1444752" y="3796589"/>
              <a:ext cx="219456" cy="15361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Wheel"/>
            <p:cNvSpPr/>
            <p:nvPr/>
          </p:nvSpPr>
          <p:spPr>
            <a:xfrm>
              <a:off x="1461211" y="4142232"/>
              <a:ext cx="241402" cy="24140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Hub"/>
            <p:cNvSpPr/>
            <p:nvPr/>
          </p:nvSpPr>
          <p:spPr>
            <a:xfrm>
              <a:off x="1548116" y="4229137"/>
              <a:ext cx="67592" cy="6759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Wheel"/>
            <p:cNvSpPr/>
            <p:nvPr/>
          </p:nvSpPr>
          <p:spPr>
            <a:xfrm>
              <a:off x="1900123" y="4142232"/>
              <a:ext cx="241402" cy="24140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Hub"/>
            <p:cNvSpPr/>
            <p:nvPr/>
          </p:nvSpPr>
          <p:spPr>
            <a:xfrm>
              <a:off x="1987028" y="4229137"/>
              <a:ext cx="67592" cy="6759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Wheel"/>
            <p:cNvSpPr/>
            <p:nvPr/>
          </p:nvSpPr>
          <p:spPr>
            <a:xfrm>
              <a:off x="2339035" y="4142232"/>
              <a:ext cx="241402" cy="24140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ub"/>
            <p:cNvSpPr/>
            <p:nvPr/>
          </p:nvSpPr>
          <p:spPr>
            <a:xfrm>
              <a:off x="2425940" y="4229137"/>
              <a:ext cx="67592" cy="6759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6" name="Coupling rod"/>
            <p:cNvCxnSpPr/>
            <p:nvPr/>
          </p:nvCxnSpPr>
          <p:spPr>
            <a:xfrm>
              <a:off x="1581912" y="4262933"/>
              <a:ext cx="877824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47" name="Lane label"/>
            <p:cNvSpPr txBox="1"/>
            <p:nvPr/>
          </p:nvSpPr>
          <p:spPr>
            <a:xfrm>
              <a:off x="3657600" y="3465576"/>
              <a:ext cx="7772400" cy="9601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Steam: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 early long-distance bulk</a:t>
              </a:r>
            </a:p>
          </p:txBody>
        </p:sp>
      </p:grpSp>
      <p:grpSp>
        <p:nvGrpSpPr>
          <p:cNvPr id="48" name="Lane: Electric" descr="Electric: mature speed and throughput"/>
          <p:cNvGrpSpPr/>
          <p:nvPr/>
        </p:nvGrpSpPr>
        <p:grpSpPr>
          <a:xfrm>
            <a:off x="548640" y="4535424"/>
            <a:ext cx="11091672" cy="960120"/>
            <a:chOff x="548640" y="4535424"/>
            <a:chExt cx="11091672" cy="960120"/>
          </a:xfrm>
        </p:grpSpPr>
        <p:sp>
          <p:nvSpPr>
            <p:cNvPr id="49" name="Lane panel"/>
            <p:cNvSpPr/>
            <p:nvPr/>
          </p:nvSpPr>
          <p:spPr>
            <a:xfrm>
              <a:off x="548640" y="4535424"/>
              <a:ext cx="11091672" cy="960120"/>
            </a:xfrm>
            <a:prstGeom prst="roundRect">
              <a:avLst>
                <a:gd name="adj" fmla="val 7619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0" name="Lane accent"/>
            <p:cNvSpPr/>
            <p:nvPr/>
          </p:nvSpPr>
          <p:spPr>
            <a:xfrm>
              <a:off x="548640" y="4626864"/>
              <a:ext cx="91440" cy="777240"/>
            </a:xfrm>
            <a:prstGeom prst="rect">
              <a:avLst/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1" name="Electric car"/>
            <p:cNvSpPr/>
            <p:nvPr/>
          </p:nvSpPr>
          <p:spPr>
            <a:xfrm>
              <a:off x="1234440" y="4672584"/>
              <a:ext cx="1316736" cy="449885"/>
            </a:xfrm>
            <a:prstGeom prst="roundRect">
              <a:avLst>
                <a:gd name="adj" fmla="val 30487"/>
              </a:avLst>
            </a:prstGeom>
            <a:solidFill>
              <a:srgbClr val="6CA0DC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Windows"/>
            <p:cNvSpPr/>
            <p:nvPr/>
          </p:nvSpPr>
          <p:spPr>
            <a:xfrm>
              <a:off x="1344168" y="4771339"/>
              <a:ext cx="1042416" cy="14264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Monorail beam"/>
            <p:cNvSpPr/>
            <p:nvPr/>
          </p:nvSpPr>
          <p:spPr>
            <a:xfrm>
              <a:off x="1179576" y="5166360"/>
              <a:ext cx="1426464" cy="76810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Pylon"/>
            <p:cNvSpPr/>
            <p:nvPr/>
          </p:nvSpPr>
          <p:spPr>
            <a:xfrm>
              <a:off x="1600200" y="5243170"/>
              <a:ext cx="65837" cy="120701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Pylon"/>
            <p:cNvSpPr/>
            <p:nvPr/>
          </p:nvSpPr>
          <p:spPr>
            <a:xfrm>
              <a:off x="2093976" y="5243170"/>
              <a:ext cx="65837" cy="120701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Lane label"/>
            <p:cNvSpPr txBox="1"/>
            <p:nvPr/>
          </p:nvSpPr>
          <p:spPr>
            <a:xfrm>
              <a:off x="3657600" y="4535424"/>
              <a:ext cx="7772400" cy="96012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1" i="0" lang="en-GB">
                  <a:solidFill>
                    <a:srgbClr val="F2F2F2"/>
                  </a:solidFill>
                  <a:latin typeface="Arial"/>
                </a:rPr>
                <a:t>Electric:</a:t>
              </a: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 mature speed and throughput</a:t>
              </a:r>
            </a:p>
          </p:txBody>
        </p:sp>
      </p:grpSp>
      <p:grpSp>
        <p:nvGrpSpPr>
          <p:cNvPr id="57" name="Caption" descr="Caption: Belts, tractors, steam and electric rail each have a job. Electric leads when the factory matures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58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Belts, tractors, steam and electric rail each have a job. Electric leads when the factory matures.</a:t>
              </a:r>
            </a:p>
          </p:txBody>
        </p:sp>
      </p:grpSp>
      <p:sp>
        <p:nvSpPr>
          <p:cNvPr id="61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Pick the right engine</a:t>
            </a:r>
          </a:p>
        </p:txBody>
      </p:sp>
      <p:sp>
        <p:nvSpPr>
          <p:cNvPr id="3" name="Status chip" descr="Status tag: Agreed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3FB950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AGREED</a:t>
            </a:r>
          </a:p>
        </p:txBody>
      </p:sp>
      <p:grpSp>
        <p:nvGrpSpPr>
          <p:cNvPr id="4" name="Row: Struggles" descr="A small engine with a very long train: it struggles."/>
          <p:cNvGrpSpPr/>
          <p:nvPr/>
        </p:nvGrpSpPr>
        <p:grpSpPr>
          <a:xfrm>
            <a:off x="548640" y="1325880"/>
            <a:ext cx="11091672" cy="1325880"/>
            <a:chOff x="548640" y="1325880"/>
            <a:chExt cx="11091672" cy="1325880"/>
          </a:xfrm>
        </p:grpSpPr>
        <p:sp>
          <p:nvSpPr>
            <p:cNvPr id="5" name="Row panel"/>
            <p:cNvSpPr/>
            <p:nvPr/>
          </p:nvSpPr>
          <p:spPr>
            <a:xfrm>
              <a:off x="548640" y="1325880"/>
              <a:ext cx="11091672" cy="132588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Verdict: Struggles"/>
            <p:cNvSpPr/>
            <p:nvPr/>
          </p:nvSpPr>
          <p:spPr>
            <a:xfrm>
              <a:off x="777240" y="1755648"/>
              <a:ext cx="1737360" cy="457200"/>
            </a:xfrm>
            <a:prstGeom prst="roundRect">
              <a:avLst>
                <a:gd name="adj" fmla="val 50000"/>
              </a:avLst>
            </a:prstGeom>
            <a:solidFill>
              <a:srgbClr val="E5484D"/>
            </a:solidFill>
            <a:ln>
              <a:noFill/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Struggles</a:t>
              </a:r>
            </a:p>
          </p:txBody>
        </p:sp>
        <p:sp>
          <p:nvSpPr>
            <p:cNvPr id="7" name="Rail"/>
            <p:cNvSpPr/>
            <p:nvPr/>
          </p:nvSpPr>
          <p:spPr>
            <a:xfrm>
              <a:off x="2834640" y="2505456"/>
              <a:ext cx="8595360" cy="45720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Footplate"/>
            <p:cNvSpPr/>
            <p:nvPr/>
          </p:nvSpPr>
          <p:spPr>
            <a:xfrm>
              <a:off x="2880360" y="2302916"/>
              <a:ext cx="1069848" cy="4114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Boiler"/>
            <p:cNvSpPr/>
            <p:nvPr/>
          </p:nvSpPr>
          <p:spPr>
            <a:xfrm>
              <a:off x="3250692" y="2076602"/>
              <a:ext cx="658368" cy="238658"/>
            </a:xfrm>
            <a:prstGeom prst="roundRect">
              <a:avLst>
                <a:gd name="adj" fmla="val 2586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Smokebox"/>
            <p:cNvSpPr/>
            <p:nvPr/>
          </p:nvSpPr>
          <p:spPr>
            <a:xfrm>
              <a:off x="3859682" y="2076602"/>
              <a:ext cx="57607" cy="23865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Chimney"/>
            <p:cNvSpPr/>
            <p:nvPr/>
          </p:nvSpPr>
          <p:spPr>
            <a:xfrm>
              <a:off x="3785616" y="1969618"/>
              <a:ext cx="53492" cy="11521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Chimney top"/>
            <p:cNvSpPr/>
            <p:nvPr/>
          </p:nvSpPr>
          <p:spPr>
            <a:xfrm>
              <a:off x="3765042" y="1953158"/>
              <a:ext cx="94640" cy="2468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ome"/>
            <p:cNvSpPr/>
            <p:nvPr/>
          </p:nvSpPr>
          <p:spPr>
            <a:xfrm>
              <a:off x="3497580" y="2018995"/>
              <a:ext cx="139903" cy="123444"/>
            </a:xfrm>
            <a:prstGeom prst="chord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Cab"/>
            <p:cNvSpPr/>
            <p:nvPr/>
          </p:nvSpPr>
          <p:spPr>
            <a:xfrm>
              <a:off x="2913278" y="1994306"/>
              <a:ext cx="370332" cy="320954"/>
            </a:xfrm>
            <a:prstGeom prst="rect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ab roof"/>
            <p:cNvSpPr/>
            <p:nvPr/>
          </p:nvSpPr>
          <p:spPr>
            <a:xfrm>
              <a:off x="2888590" y="1961388"/>
              <a:ext cx="419710" cy="3703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Cab window"/>
            <p:cNvSpPr/>
            <p:nvPr/>
          </p:nvSpPr>
          <p:spPr>
            <a:xfrm>
              <a:off x="3003804" y="2051914"/>
              <a:ext cx="164592" cy="11521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Wheel"/>
            <p:cNvSpPr/>
            <p:nvPr/>
          </p:nvSpPr>
          <p:spPr>
            <a:xfrm>
              <a:off x="3016148" y="2311146"/>
              <a:ext cx="181051" cy="18105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Hub"/>
            <p:cNvSpPr/>
            <p:nvPr/>
          </p:nvSpPr>
          <p:spPr>
            <a:xfrm>
              <a:off x="3081327" y="2376324"/>
              <a:ext cx="50694" cy="5069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Wheel"/>
            <p:cNvSpPr/>
            <p:nvPr/>
          </p:nvSpPr>
          <p:spPr>
            <a:xfrm>
              <a:off x="3345332" y="2311146"/>
              <a:ext cx="181051" cy="18105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Hub"/>
            <p:cNvSpPr/>
            <p:nvPr/>
          </p:nvSpPr>
          <p:spPr>
            <a:xfrm>
              <a:off x="3410511" y="2376324"/>
              <a:ext cx="50694" cy="5069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Wheel"/>
            <p:cNvSpPr/>
            <p:nvPr/>
          </p:nvSpPr>
          <p:spPr>
            <a:xfrm>
              <a:off x="3674516" y="2311146"/>
              <a:ext cx="181051" cy="18105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Hub"/>
            <p:cNvSpPr/>
            <p:nvPr/>
          </p:nvSpPr>
          <p:spPr>
            <a:xfrm>
              <a:off x="3739695" y="2376324"/>
              <a:ext cx="50694" cy="50694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3" name="Coupling rod"/>
            <p:cNvCxnSpPr/>
            <p:nvPr/>
          </p:nvCxnSpPr>
          <p:spPr>
            <a:xfrm>
              <a:off x="3106674" y="2401672"/>
              <a:ext cx="658368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4" name="Wagon"/>
            <p:cNvSpPr/>
            <p:nvPr/>
          </p:nvSpPr>
          <p:spPr>
            <a:xfrm>
              <a:off x="3995928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5" name="Connector 24"/>
            <p:cNvCxnSpPr/>
            <p:nvPr/>
          </p:nvCxnSpPr>
          <p:spPr>
            <a:xfrm>
              <a:off x="4150233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26" name="Connector 25"/>
            <p:cNvCxnSpPr/>
            <p:nvPr/>
          </p:nvCxnSpPr>
          <p:spPr>
            <a:xfrm>
              <a:off x="4304538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27" name="Connector 26"/>
            <p:cNvCxnSpPr/>
            <p:nvPr/>
          </p:nvCxnSpPr>
          <p:spPr>
            <a:xfrm>
              <a:off x="4458843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28" name="Wheel"/>
            <p:cNvSpPr/>
            <p:nvPr/>
          </p:nvSpPr>
          <p:spPr>
            <a:xfrm>
              <a:off x="4061765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Hub"/>
            <p:cNvSpPr/>
            <p:nvPr/>
          </p:nvSpPr>
          <p:spPr>
            <a:xfrm>
              <a:off x="4103242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Wheel"/>
            <p:cNvSpPr/>
            <p:nvPr/>
          </p:nvSpPr>
          <p:spPr>
            <a:xfrm>
              <a:off x="4432097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Hub"/>
            <p:cNvSpPr/>
            <p:nvPr/>
          </p:nvSpPr>
          <p:spPr>
            <a:xfrm>
              <a:off x="4473574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Wagon"/>
            <p:cNvSpPr/>
            <p:nvPr/>
          </p:nvSpPr>
          <p:spPr>
            <a:xfrm>
              <a:off x="4649724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33" name="Connector 32"/>
            <p:cNvCxnSpPr/>
            <p:nvPr/>
          </p:nvCxnSpPr>
          <p:spPr>
            <a:xfrm>
              <a:off x="4804029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34" name="Connector 33"/>
            <p:cNvCxnSpPr/>
            <p:nvPr/>
          </p:nvCxnSpPr>
          <p:spPr>
            <a:xfrm>
              <a:off x="4958334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35" name="Connector 34"/>
            <p:cNvCxnSpPr/>
            <p:nvPr/>
          </p:nvCxnSpPr>
          <p:spPr>
            <a:xfrm>
              <a:off x="5112639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36" name="Wheel"/>
            <p:cNvSpPr/>
            <p:nvPr/>
          </p:nvSpPr>
          <p:spPr>
            <a:xfrm>
              <a:off x="4715561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Hub"/>
            <p:cNvSpPr/>
            <p:nvPr/>
          </p:nvSpPr>
          <p:spPr>
            <a:xfrm>
              <a:off x="4757038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Wheel"/>
            <p:cNvSpPr/>
            <p:nvPr/>
          </p:nvSpPr>
          <p:spPr>
            <a:xfrm>
              <a:off x="5085893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Hub"/>
            <p:cNvSpPr/>
            <p:nvPr/>
          </p:nvSpPr>
          <p:spPr>
            <a:xfrm>
              <a:off x="5127370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Wagon"/>
            <p:cNvSpPr/>
            <p:nvPr/>
          </p:nvSpPr>
          <p:spPr>
            <a:xfrm>
              <a:off x="5303520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1" name="Connector 40"/>
            <p:cNvCxnSpPr/>
            <p:nvPr/>
          </p:nvCxnSpPr>
          <p:spPr>
            <a:xfrm>
              <a:off x="5457825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42" name="Connector 41"/>
            <p:cNvCxnSpPr/>
            <p:nvPr/>
          </p:nvCxnSpPr>
          <p:spPr>
            <a:xfrm>
              <a:off x="5612130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43" name="Connector 42"/>
            <p:cNvCxnSpPr/>
            <p:nvPr/>
          </p:nvCxnSpPr>
          <p:spPr>
            <a:xfrm>
              <a:off x="5766435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44" name="Wheel"/>
            <p:cNvSpPr/>
            <p:nvPr/>
          </p:nvSpPr>
          <p:spPr>
            <a:xfrm>
              <a:off x="5369357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ub"/>
            <p:cNvSpPr/>
            <p:nvPr/>
          </p:nvSpPr>
          <p:spPr>
            <a:xfrm>
              <a:off x="5410834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Wheel"/>
            <p:cNvSpPr/>
            <p:nvPr/>
          </p:nvSpPr>
          <p:spPr>
            <a:xfrm>
              <a:off x="5739689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ub"/>
            <p:cNvSpPr/>
            <p:nvPr/>
          </p:nvSpPr>
          <p:spPr>
            <a:xfrm>
              <a:off x="5781166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Wagon"/>
            <p:cNvSpPr/>
            <p:nvPr/>
          </p:nvSpPr>
          <p:spPr>
            <a:xfrm>
              <a:off x="5957316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9" name="Connector 48"/>
            <p:cNvCxnSpPr/>
            <p:nvPr/>
          </p:nvCxnSpPr>
          <p:spPr>
            <a:xfrm>
              <a:off x="6111621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50" name="Connector 49"/>
            <p:cNvCxnSpPr/>
            <p:nvPr/>
          </p:nvCxnSpPr>
          <p:spPr>
            <a:xfrm>
              <a:off x="6265926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51" name="Connector 50"/>
            <p:cNvCxnSpPr/>
            <p:nvPr/>
          </p:nvCxnSpPr>
          <p:spPr>
            <a:xfrm>
              <a:off x="6420231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52" name="Wheel"/>
            <p:cNvSpPr/>
            <p:nvPr/>
          </p:nvSpPr>
          <p:spPr>
            <a:xfrm>
              <a:off x="6023153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3" name="Hub"/>
            <p:cNvSpPr/>
            <p:nvPr/>
          </p:nvSpPr>
          <p:spPr>
            <a:xfrm>
              <a:off x="6064630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4" name="Wheel"/>
            <p:cNvSpPr/>
            <p:nvPr/>
          </p:nvSpPr>
          <p:spPr>
            <a:xfrm>
              <a:off x="6393485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Hub"/>
            <p:cNvSpPr/>
            <p:nvPr/>
          </p:nvSpPr>
          <p:spPr>
            <a:xfrm>
              <a:off x="6434962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6" name="Wagon"/>
            <p:cNvSpPr/>
            <p:nvPr/>
          </p:nvSpPr>
          <p:spPr>
            <a:xfrm>
              <a:off x="6611112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7" name="Connector 56"/>
            <p:cNvCxnSpPr/>
            <p:nvPr/>
          </p:nvCxnSpPr>
          <p:spPr>
            <a:xfrm>
              <a:off x="6765417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58" name="Connector 57"/>
            <p:cNvCxnSpPr/>
            <p:nvPr/>
          </p:nvCxnSpPr>
          <p:spPr>
            <a:xfrm>
              <a:off x="6919722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59" name="Connector 58"/>
            <p:cNvCxnSpPr/>
            <p:nvPr/>
          </p:nvCxnSpPr>
          <p:spPr>
            <a:xfrm>
              <a:off x="7074027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60" name="Wheel"/>
            <p:cNvSpPr/>
            <p:nvPr/>
          </p:nvSpPr>
          <p:spPr>
            <a:xfrm>
              <a:off x="6676949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Hub"/>
            <p:cNvSpPr/>
            <p:nvPr/>
          </p:nvSpPr>
          <p:spPr>
            <a:xfrm>
              <a:off x="6718426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Wheel"/>
            <p:cNvSpPr/>
            <p:nvPr/>
          </p:nvSpPr>
          <p:spPr>
            <a:xfrm>
              <a:off x="7047281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Hub"/>
            <p:cNvSpPr/>
            <p:nvPr/>
          </p:nvSpPr>
          <p:spPr>
            <a:xfrm>
              <a:off x="7088758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Wagon"/>
            <p:cNvSpPr/>
            <p:nvPr/>
          </p:nvSpPr>
          <p:spPr>
            <a:xfrm>
              <a:off x="7264908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65" name="Connector 64"/>
            <p:cNvCxnSpPr/>
            <p:nvPr/>
          </p:nvCxnSpPr>
          <p:spPr>
            <a:xfrm>
              <a:off x="7419213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66" name="Connector 65"/>
            <p:cNvCxnSpPr/>
            <p:nvPr/>
          </p:nvCxnSpPr>
          <p:spPr>
            <a:xfrm>
              <a:off x="7573518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67" name="Connector 66"/>
            <p:cNvCxnSpPr/>
            <p:nvPr/>
          </p:nvCxnSpPr>
          <p:spPr>
            <a:xfrm>
              <a:off x="7727823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68" name="Wheel"/>
            <p:cNvSpPr/>
            <p:nvPr/>
          </p:nvSpPr>
          <p:spPr>
            <a:xfrm>
              <a:off x="7330745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Hub"/>
            <p:cNvSpPr/>
            <p:nvPr/>
          </p:nvSpPr>
          <p:spPr>
            <a:xfrm>
              <a:off x="7372222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Wheel"/>
            <p:cNvSpPr/>
            <p:nvPr/>
          </p:nvSpPr>
          <p:spPr>
            <a:xfrm>
              <a:off x="7701077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Hub"/>
            <p:cNvSpPr/>
            <p:nvPr/>
          </p:nvSpPr>
          <p:spPr>
            <a:xfrm>
              <a:off x="7742554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Wagon"/>
            <p:cNvSpPr/>
            <p:nvPr/>
          </p:nvSpPr>
          <p:spPr>
            <a:xfrm>
              <a:off x="7918704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3" name="Connector 72"/>
            <p:cNvCxnSpPr/>
            <p:nvPr/>
          </p:nvCxnSpPr>
          <p:spPr>
            <a:xfrm>
              <a:off x="8073009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74" name="Connector 73"/>
            <p:cNvCxnSpPr/>
            <p:nvPr/>
          </p:nvCxnSpPr>
          <p:spPr>
            <a:xfrm>
              <a:off x="8227314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75" name="Connector 74"/>
            <p:cNvCxnSpPr/>
            <p:nvPr/>
          </p:nvCxnSpPr>
          <p:spPr>
            <a:xfrm>
              <a:off x="8381619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76" name="Wheel"/>
            <p:cNvSpPr/>
            <p:nvPr/>
          </p:nvSpPr>
          <p:spPr>
            <a:xfrm>
              <a:off x="7984541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Hub"/>
            <p:cNvSpPr/>
            <p:nvPr/>
          </p:nvSpPr>
          <p:spPr>
            <a:xfrm>
              <a:off x="8026018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8" name="Wheel"/>
            <p:cNvSpPr/>
            <p:nvPr/>
          </p:nvSpPr>
          <p:spPr>
            <a:xfrm>
              <a:off x="8354873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9" name="Hub"/>
            <p:cNvSpPr/>
            <p:nvPr/>
          </p:nvSpPr>
          <p:spPr>
            <a:xfrm>
              <a:off x="8396350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Wagon"/>
            <p:cNvSpPr/>
            <p:nvPr/>
          </p:nvSpPr>
          <p:spPr>
            <a:xfrm>
              <a:off x="8572500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1" name="Connector 80"/>
            <p:cNvCxnSpPr/>
            <p:nvPr/>
          </p:nvCxnSpPr>
          <p:spPr>
            <a:xfrm>
              <a:off x="8726805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82" name="Connector 81"/>
            <p:cNvCxnSpPr/>
            <p:nvPr/>
          </p:nvCxnSpPr>
          <p:spPr>
            <a:xfrm>
              <a:off x="8881110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83" name="Connector 82"/>
            <p:cNvCxnSpPr/>
            <p:nvPr/>
          </p:nvCxnSpPr>
          <p:spPr>
            <a:xfrm>
              <a:off x="9035415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84" name="Wheel"/>
            <p:cNvSpPr/>
            <p:nvPr/>
          </p:nvSpPr>
          <p:spPr>
            <a:xfrm>
              <a:off x="8638337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Hub"/>
            <p:cNvSpPr/>
            <p:nvPr/>
          </p:nvSpPr>
          <p:spPr>
            <a:xfrm>
              <a:off x="8679814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Wheel"/>
            <p:cNvSpPr/>
            <p:nvPr/>
          </p:nvSpPr>
          <p:spPr>
            <a:xfrm>
              <a:off x="9008669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7" name="Hub"/>
            <p:cNvSpPr/>
            <p:nvPr/>
          </p:nvSpPr>
          <p:spPr>
            <a:xfrm>
              <a:off x="9050146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8" name="Wagon"/>
            <p:cNvSpPr/>
            <p:nvPr/>
          </p:nvSpPr>
          <p:spPr>
            <a:xfrm>
              <a:off x="9226296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89" name="Connector 88"/>
            <p:cNvCxnSpPr/>
            <p:nvPr/>
          </p:nvCxnSpPr>
          <p:spPr>
            <a:xfrm>
              <a:off x="9380601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90" name="Connector 89"/>
            <p:cNvCxnSpPr/>
            <p:nvPr/>
          </p:nvCxnSpPr>
          <p:spPr>
            <a:xfrm>
              <a:off x="9534906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91" name="Connector 90"/>
            <p:cNvCxnSpPr/>
            <p:nvPr/>
          </p:nvCxnSpPr>
          <p:spPr>
            <a:xfrm>
              <a:off x="9689211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92" name="Wheel"/>
            <p:cNvSpPr/>
            <p:nvPr/>
          </p:nvSpPr>
          <p:spPr>
            <a:xfrm>
              <a:off x="9292133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" name="Hub"/>
            <p:cNvSpPr/>
            <p:nvPr/>
          </p:nvSpPr>
          <p:spPr>
            <a:xfrm>
              <a:off x="9333610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" name="Wheel"/>
            <p:cNvSpPr/>
            <p:nvPr/>
          </p:nvSpPr>
          <p:spPr>
            <a:xfrm>
              <a:off x="9662465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" name="Hub"/>
            <p:cNvSpPr/>
            <p:nvPr/>
          </p:nvSpPr>
          <p:spPr>
            <a:xfrm>
              <a:off x="9703942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" name="Wagon"/>
            <p:cNvSpPr/>
            <p:nvPr/>
          </p:nvSpPr>
          <p:spPr>
            <a:xfrm>
              <a:off x="9880092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7" name="Connector 96"/>
            <p:cNvCxnSpPr/>
            <p:nvPr/>
          </p:nvCxnSpPr>
          <p:spPr>
            <a:xfrm>
              <a:off x="10034397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98" name="Connector 97"/>
            <p:cNvCxnSpPr/>
            <p:nvPr/>
          </p:nvCxnSpPr>
          <p:spPr>
            <a:xfrm>
              <a:off x="10188702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99" name="Connector 98"/>
            <p:cNvCxnSpPr/>
            <p:nvPr/>
          </p:nvCxnSpPr>
          <p:spPr>
            <a:xfrm>
              <a:off x="10343007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100" name="Wheel"/>
            <p:cNvSpPr/>
            <p:nvPr/>
          </p:nvSpPr>
          <p:spPr>
            <a:xfrm>
              <a:off x="9945929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" name="Hub"/>
            <p:cNvSpPr/>
            <p:nvPr/>
          </p:nvSpPr>
          <p:spPr>
            <a:xfrm>
              <a:off x="9987406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" name="Wheel"/>
            <p:cNvSpPr/>
            <p:nvPr/>
          </p:nvSpPr>
          <p:spPr>
            <a:xfrm>
              <a:off x="10316261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" name="Hub"/>
            <p:cNvSpPr/>
            <p:nvPr/>
          </p:nvSpPr>
          <p:spPr>
            <a:xfrm>
              <a:off x="10357738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" name="Wagon"/>
            <p:cNvSpPr/>
            <p:nvPr/>
          </p:nvSpPr>
          <p:spPr>
            <a:xfrm>
              <a:off x="10533888" y="2150669"/>
              <a:ext cx="617220" cy="255118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05" name="Connector 104"/>
            <p:cNvCxnSpPr/>
            <p:nvPr/>
          </p:nvCxnSpPr>
          <p:spPr>
            <a:xfrm>
              <a:off x="10688193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106" name="Connector 105"/>
            <p:cNvCxnSpPr/>
            <p:nvPr/>
          </p:nvCxnSpPr>
          <p:spPr>
            <a:xfrm>
              <a:off x="10842498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107" name="Connector 106"/>
            <p:cNvCxnSpPr/>
            <p:nvPr/>
          </p:nvCxnSpPr>
          <p:spPr>
            <a:xfrm>
              <a:off x="10996803" y="2167128"/>
              <a:ext cx="0" cy="222199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108" name="Wheel"/>
            <p:cNvSpPr/>
            <p:nvPr/>
          </p:nvSpPr>
          <p:spPr>
            <a:xfrm>
              <a:off x="10599725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" name="Hub"/>
            <p:cNvSpPr/>
            <p:nvPr/>
          </p:nvSpPr>
          <p:spPr>
            <a:xfrm>
              <a:off x="10641202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" name="Wheel"/>
            <p:cNvSpPr/>
            <p:nvPr/>
          </p:nvSpPr>
          <p:spPr>
            <a:xfrm>
              <a:off x="10970057" y="2381098"/>
              <a:ext cx="115214" cy="11521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" name="Hub"/>
            <p:cNvSpPr/>
            <p:nvPr/>
          </p:nvSpPr>
          <p:spPr>
            <a:xfrm>
              <a:off x="11011534" y="2422575"/>
              <a:ext cx="32260" cy="3226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2" name="Row: Wasteful" descr="A large engine with a single wagon: wasteful."/>
          <p:cNvGrpSpPr/>
          <p:nvPr/>
        </p:nvGrpSpPr>
        <p:grpSpPr>
          <a:xfrm>
            <a:off x="548640" y="2761488"/>
            <a:ext cx="11091672" cy="1325880"/>
            <a:chOff x="548640" y="2761488"/>
            <a:chExt cx="11091672" cy="1325880"/>
          </a:xfrm>
        </p:grpSpPr>
        <p:sp>
          <p:nvSpPr>
            <p:cNvPr id="113" name="Row panel"/>
            <p:cNvSpPr/>
            <p:nvPr/>
          </p:nvSpPr>
          <p:spPr>
            <a:xfrm>
              <a:off x="548640" y="2761488"/>
              <a:ext cx="11091672" cy="132588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" name="Verdict: Wasteful"/>
            <p:cNvSpPr/>
            <p:nvPr/>
          </p:nvSpPr>
          <p:spPr>
            <a:xfrm>
              <a:off x="777240" y="3191256"/>
              <a:ext cx="1737360" cy="457200"/>
            </a:xfrm>
            <a:prstGeom prst="roundRect">
              <a:avLst>
                <a:gd name="adj" fmla="val 50000"/>
              </a:avLst>
            </a:prstGeom>
            <a:solidFill>
              <a:srgbClr val="F2C14E"/>
            </a:solidFill>
            <a:ln>
              <a:noFill/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Wasteful</a:t>
              </a:r>
            </a:p>
          </p:txBody>
        </p:sp>
        <p:sp>
          <p:nvSpPr>
            <p:cNvPr id="115" name="Rail"/>
            <p:cNvSpPr/>
            <p:nvPr/>
          </p:nvSpPr>
          <p:spPr>
            <a:xfrm>
              <a:off x="2834640" y="3941064"/>
              <a:ext cx="8595360" cy="45720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" name="Tender"/>
            <p:cNvSpPr/>
            <p:nvPr/>
          </p:nvSpPr>
          <p:spPr>
            <a:xfrm>
              <a:off x="2880360" y="3215030"/>
              <a:ext cx="950976" cy="438912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" name="Coal"/>
            <p:cNvSpPr/>
            <p:nvPr/>
          </p:nvSpPr>
          <p:spPr>
            <a:xfrm>
              <a:off x="2953512" y="3054096"/>
              <a:ext cx="804672" cy="160934"/>
            </a:xfrm>
            <a:custGeom>
              <a:avLst/>
              <a:gdLst/>
              <a:ahLst/>
              <a:cxnLst/>
              <a:rect l="l" t="t" r="r" b="b"/>
              <a:pathLst>
                <a:path w="804672" h="160934">
                  <a:moveTo>
                    <a:pt x="0" y="160934"/>
                  </a:moveTo>
                  <a:lnTo>
                    <a:pt x="146304" y="43891"/>
                  </a:lnTo>
                  <a:lnTo>
                    <a:pt x="365760" y="0"/>
                  </a:lnTo>
                  <a:lnTo>
                    <a:pt x="621792" y="51206"/>
                  </a:lnTo>
                  <a:lnTo>
                    <a:pt x="804672" y="160934"/>
                  </a:lnTo>
                  <a:close/>
                </a:path>
              </a:pathLst>
            </a:cu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" name="Coupling"/>
            <p:cNvSpPr/>
            <p:nvPr/>
          </p:nvSpPr>
          <p:spPr>
            <a:xfrm>
              <a:off x="3831336" y="3551530"/>
              <a:ext cx="73152" cy="36576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" name="Wheel"/>
            <p:cNvSpPr/>
            <p:nvPr/>
          </p:nvSpPr>
          <p:spPr>
            <a:xfrm>
              <a:off x="2953512" y="3617366"/>
              <a:ext cx="292608" cy="29260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" name="Hub"/>
            <p:cNvSpPr/>
            <p:nvPr/>
          </p:nvSpPr>
          <p:spPr>
            <a:xfrm>
              <a:off x="3058851" y="3722705"/>
              <a:ext cx="81930" cy="8193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" name="Wheel"/>
            <p:cNvSpPr/>
            <p:nvPr/>
          </p:nvSpPr>
          <p:spPr>
            <a:xfrm>
              <a:off x="3465576" y="3617366"/>
              <a:ext cx="292608" cy="29260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" name="Hub"/>
            <p:cNvSpPr/>
            <p:nvPr/>
          </p:nvSpPr>
          <p:spPr>
            <a:xfrm>
              <a:off x="3570915" y="3722705"/>
              <a:ext cx="81930" cy="8193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" name="Footplate"/>
            <p:cNvSpPr/>
            <p:nvPr/>
          </p:nvSpPr>
          <p:spPr>
            <a:xfrm>
              <a:off x="3904488" y="3588106"/>
              <a:ext cx="1901952" cy="7315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" name="Boiler"/>
            <p:cNvSpPr/>
            <p:nvPr/>
          </p:nvSpPr>
          <p:spPr>
            <a:xfrm>
              <a:off x="4562856" y="3185770"/>
              <a:ext cx="1170432" cy="424282"/>
            </a:xfrm>
            <a:prstGeom prst="roundRect">
              <a:avLst>
                <a:gd name="adj" fmla="val 2586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" name="Smokebox"/>
            <p:cNvSpPr/>
            <p:nvPr/>
          </p:nvSpPr>
          <p:spPr>
            <a:xfrm>
              <a:off x="5645506" y="3185770"/>
              <a:ext cx="102413" cy="42428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6" name="Chimney"/>
            <p:cNvSpPr/>
            <p:nvPr/>
          </p:nvSpPr>
          <p:spPr>
            <a:xfrm>
              <a:off x="5513832" y="2995574"/>
              <a:ext cx="95098" cy="20482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" name="Chimney top"/>
            <p:cNvSpPr/>
            <p:nvPr/>
          </p:nvSpPr>
          <p:spPr>
            <a:xfrm>
              <a:off x="5477256" y="2966314"/>
              <a:ext cx="168250" cy="43891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" name="Dome"/>
            <p:cNvSpPr/>
            <p:nvPr/>
          </p:nvSpPr>
          <p:spPr>
            <a:xfrm>
              <a:off x="5001768" y="3083357"/>
              <a:ext cx="248717" cy="219456"/>
            </a:xfrm>
            <a:prstGeom prst="chord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" name="Cab"/>
            <p:cNvSpPr/>
            <p:nvPr/>
          </p:nvSpPr>
          <p:spPr>
            <a:xfrm>
              <a:off x="3963010" y="3039466"/>
              <a:ext cx="658368" cy="570586"/>
            </a:xfrm>
            <a:prstGeom prst="rect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" name="Cab roof"/>
            <p:cNvSpPr/>
            <p:nvPr/>
          </p:nvSpPr>
          <p:spPr>
            <a:xfrm>
              <a:off x="3919118" y="2980944"/>
              <a:ext cx="746150" cy="65837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" name="Cab window"/>
            <p:cNvSpPr/>
            <p:nvPr/>
          </p:nvSpPr>
          <p:spPr>
            <a:xfrm>
              <a:off x="4123944" y="3141878"/>
              <a:ext cx="292608" cy="20482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" name="Wheel"/>
            <p:cNvSpPr/>
            <p:nvPr/>
          </p:nvSpPr>
          <p:spPr>
            <a:xfrm>
              <a:off x="4145890" y="3602736"/>
              <a:ext cx="321869" cy="321869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" name="Hub"/>
            <p:cNvSpPr/>
            <p:nvPr/>
          </p:nvSpPr>
          <p:spPr>
            <a:xfrm>
              <a:off x="4261762" y="3718609"/>
              <a:ext cx="90123" cy="901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" name="Wheel"/>
            <p:cNvSpPr/>
            <p:nvPr/>
          </p:nvSpPr>
          <p:spPr>
            <a:xfrm>
              <a:off x="4731106" y="3602736"/>
              <a:ext cx="321869" cy="321869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" name="Hub"/>
            <p:cNvSpPr/>
            <p:nvPr/>
          </p:nvSpPr>
          <p:spPr>
            <a:xfrm>
              <a:off x="4846978" y="3718609"/>
              <a:ext cx="90123" cy="901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6" name="Wheel"/>
            <p:cNvSpPr/>
            <p:nvPr/>
          </p:nvSpPr>
          <p:spPr>
            <a:xfrm>
              <a:off x="5316322" y="3602736"/>
              <a:ext cx="321869" cy="321869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" name="Hub"/>
            <p:cNvSpPr/>
            <p:nvPr/>
          </p:nvSpPr>
          <p:spPr>
            <a:xfrm>
              <a:off x="5432194" y="3718609"/>
              <a:ext cx="90123" cy="90123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38" name="Coupling rod"/>
            <p:cNvCxnSpPr/>
            <p:nvPr/>
          </p:nvCxnSpPr>
          <p:spPr>
            <a:xfrm>
              <a:off x="4306824" y="3763670"/>
              <a:ext cx="1170432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39" name="Wagon"/>
            <p:cNvSpPr/>
            <p:nvPr/>
          </p:nvSpPr>
          <p:spPr>
            <a:xfrm>
              <a:off x="5852160" y="3317443"/>
              <a:ext cx="1097280" cy="453542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40" name="Connector 139"/>
            <p:cNvCxnSpPr/>
            <p:nvPr/>
          </p:nvCxnSpPr>
          <p:spPr>
            <a:xfrm>
              <a:off x="6126480" y="3346704"/>
              <a:ext cx="0" cy="395021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141" name="Connector 140"/>
            <p:cNvCxnSpPr/>
            <p:nvPr/>
          </p:nvCxnSpPr>
          <p:spPr>
            <a:xfrm>
              <a:off x="6400800" y="3346704"/>
              <a:ext cx="0" cy="395021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142" name="Connector 141"/>
            <p:cNvCxnSpPr/>
            <p:nvPr/>
          </p:nvCxnSpPr>
          <p:spPr>
            <a:xfrm>
              <a:off x="6675120" y="3346704"/>
              <a:ext cx="0" cy="395021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143" name="Wheel"/>
            <p:cNvSpPr/>
            <p:nvPr/>
          </p:nvSpPr>
          <p:spPr>
            <a:xfrm>
              <a:off x="5969203" y="3727094"/>
              <a:ext cx="204826" cy="20482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4" name="Hub"/>
            <p:cNvSpPr/>
            <p:nvPr/>
          </p:nvSpPr>
          <p:spPr>
            <a:xfrm>
              <a:off x="6042940" y="3800832"/>
              <a:ext cx="57351" cy="5735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5" name="Wheel"/>
            <p:cNvSpPr/>
            <p:nvPr/>
          </p:nvSpPr>
          <p:spPr>
            <a:xfrm>
              <a:off x="6627571" y="3727094"/>
              <a:ext cx="204826" cy="20482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6" name="Hub"/>
            <p:cNvSpPr/>
            <p:nvPr/>
          </p:nvSpPr>
          <p:spPr>
            <a:xfrm>
              <a:off x="6701308" y="3800832"/>
              <a:ext cx="57351" cy="5735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47" name="Row: Fits" descr="A well-matched engine and train: it fits."/>
          <p:cNvGrpSpPr/>
          <p:nvPr/>
        </p:nvGrpSpPr>
        <p:grpSpPr>
          <a:xfrm>
            <a:off x="548640" y="4197096"/>
            <a:ext cx="11091672" cy="1325880"/>
            <a:chOff x="548640" y="4197096"/>
            <a:chExt cx="11091672" cy="1325880"/>
          </a:xfrm>
        </p:grpSpPr>
        <p:sp>
          <p:nvSpPr>
            <p:cNvPr id="148" name="Row panel"/>
            <p:cNvSpPr/>
            <p:nvPr/>
          </p:nvSpPr>
          <p:spPr>
            <a:xfrm>
              <a:off x="548640" y="4197096"/>
              <a:ext cx="11091672" cy="1325880"/>
            </a:xfrm>
            <a:prstGeom prst="roundRect">
              <a:avLst>
                <a:gd name="adj" fmla="val 5517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9" name="Verdict: Fits"/>
            <p:cNvSpPr/>
            <p:nvPr/>
          </p:nvSpPr>
          <p:spPr>
            <a:xfrm>
              <a:off x="777240" y="4626864"/>
              <a:ext cx="1737360" cy="457200"/>
            </a:xfrm>
            <a:prstGeom prst="roundRect">
              <a:avLst>
                <a:gd name="adj" fmla="val 50000"/>
              </a:avLst>
            </a:prstGeom>
            <a:solidFill>
              <a:srgbClr val="3FB950"/>
            </a:solidFill>
            <a:ln>
              <a:noFill/>
            </a:ln>
          </p:spPr>
          <p:txBody>
            <a:bodyPr rtlCol="0" anchor="ctr" wrap="none" lIns="0" tIns="0" rIns="0" bIns="0">
              <a:noAutofit/>
            </a:bodyPr>
            <a:lstStyle/>
            <a:p>
              <a:pPr algn="ctr">
                <a:spcBef>
                  <a:spcPts val="0"/>
                </a:spcBef>
                <a:spcAft>
                  <a:spcPts val="0"/>
                </a:spcAft>
              </a:pPr>
              <a:r>
                <a:rPr sz="1800" b="1" i="0" lang="en-GB">
                  <a:solidFill>
                    <a:srgbClr val="101418"/>
                  </a:solidFill>
                  <a:latin typeface="Arial"/>
                </a:rPr>
                <a:t>Fits</a:t>
              </a:r>
            </a:p>
          </p:txBody>
        </p:sp>
        <p:sp>
          <p:nvSpPr>
            <p:cNvPr id="150" name="Rail"/>
            <p:cNvSpPr/>
            <p:nvPr/>
          </p:nvSpPr>
          <p:spPr>
            <a:xfrm>
              <a:off x="2834640" y="5376672"/>
              <a:ext cx="8595360" cy="45720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1" name="Tender"/>
            <p:cNvSpPr/>
            <p:nvPr/>
          </p:nvSpPr>
          <p:spPr>
            <a:xfrm>
              <a:off x="2880360" y="4785055"/>
              <a:ext cx="772668" cy="356616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2" name="Coal"/>
            <p:cNvSpPr/>
            <p:nvPr/>
          </p:nvSpPr>
          <p:spPr>
            <a:xfrm>
              <a:off x="2939796" y="4654296"/>
              <a:ext cx="653796" cy="130759"/>
            </a:xfrm>
            <a:custGeom>
              <a:avLst/>
              <a:gdLst/>
              <a:ahLst/>
              <a:cxnLst/>
              <a:rect l="l" t="t" r="r" b="b"/>
              <a:pathLst>
                <a:path w="653796" h="130759">
                  <a:moveTo>
                    <a:pt x="0" y="130759"/>
                  </a:moveTo>
                  <a:lnTo>
                    <a:pt x="118872" y="35662"/>
                  </a:lnTo>
                  <a:lnTo>
                    <a:pt x="297180" y="0"/>
                  </a:lnTo>
                  <a:lnTo>
                    <a:pt x="505206" y="41605"/>
                  </a:lnTo>
                  <a:lnTo>
                    <a:pt x="653796" y="130759"/>
                  </a:lnTo>
                  <a:close/>
                </a:path>
              </a:pathLst>
            </a:cu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3" name="Coupling"/>
            <p:cNvSpPr/>
            <p:nvPr/>
          </p:nvSpPr>
          <p:spPr>
            <a:xfrm>
              <a:off x="3653028" y="5058461"/>
              <a:ext cx="59436" cy="29718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4" name="Wheel"/>
            <p:cNvSpPr/>
            <p:nvPr/>
          </p:nvSpPr>
          <p:spPr>
            <a:xfrm>
              <a:off x="2939796" y="5111953"/>
              <a:ext cx="237744" cy="23774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5" name="Hub"/>
            <p:cNvSpPr/>
            <p:nvPr/>
          </p:nvSpPr>
          <p:spPr>
            <a:xfrm>
              <a:off x="3025384" y="5197541"/>
              <a:ext cx="66568" cy="6656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6" name="Wheel"/>
            <p:cNvSpPr/>
            <p:nvPr/>
          </p:nvSpPr>
          <p:spPr>
            <a:xfrm>
              <a:off x="3355848" y="5111953"/>
              <a:ext cx="237744" cy="237744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7" name="Hub"/>
            <p:cNvSpPr/>
            <p:nvPr/>
          </p:nvSpPr>
          <p:spPr>
            <a:xfrm>
              <a:off x="3441436" y="5197541"/>
              <a:ext cx="66568" cy="6656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8" name="Footplate"/>
            <p:cNvSpPr/>
            <p:nvPr/>
          </p:nvSpPr>
          <p:spPr>
            <a:xfrm>
              <a:off x="3712464" y="5088179"/>
              <a:ext cx="1545336" cy="5943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9" name="Boiler"/>
            <p:cNvSpPr/>
            <p:nvPr/>
          </p:nvSpPr>
          <p:spPr>
            <a:xfrm>
              <a:off x="4247388" y="4761281"/>
              <a:ext cx="950976" cy="344729"/>
            </a:xfrm>
            <a:prstGeom prst="roundRect">
              <a:avLst>
                <a:gd name="adj" fmla="val 2586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0" name="Smokebox"/>
            <p:cNvSpPr/>
            <p:nvPr/>
          </p:nvSpPr>
          <p:spPr>
            <a:xfrm>
              <a:off x="5127041" y="4761281"/>
              <a:ext cx="83210" cy="34472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1" name="Chimney"/>
            <p:cNvSpPr/>
            <p:nvPr/>
          </p:nvSpPr>
          <p:spPr>
            <a:xfrm>
              <a:off x="5020056" y="4606747"/>
              <a:ext cx="77267" cy="166421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2" name="Chimney top"/>
            <p:cNvSpPr/>
            <p:nvPr/>
          </p:nvSpPr>
          <p:spPr>
            <a:xfrm>
              <a:off x="4990338" y="4582973"/>
              <a:ext cx="136703" cy="3566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3" name="Dome"/>
            <p:cNvSpPr/>
            <p:nvPr/>
          </p:nvSpPr>
          <p:spPr>
            <a:xfrm>
              <a:off x="4604004" y="4678070"/>
              <a:ext cx="202082" cy="178308"/>
            </a:xfrm>
            <a:prstGeom prst="chord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4" name="Cab"/>
            <p:cNvSpPr/>
            <p:nvPr/>
          </p:nvSpPr>
          <p:spPr>
            <a:xfrm>
              <a:off x="3760013" y="4642409"/>
              <a:ext cx="534924" cy="463601"/>
            </a:xfrm>
            <a:prstGeom prst="rect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5" name="Cab roof"/>
            <p:cNvSpPr/>
            <p:nvPr/>
          </p:nvSpPr>
          <p:spPr>
            <a:xfrm>
              <a:off x="3724351" y="4594860"/>
              <a:ext cx="606247" cy="5349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6" name="Cab window"/>
            <p:cNvSpPr/>
            <p:nvPr/>
          </p:nvSpPr>
          <p:spPr>
            <a:xfrm>
              <a:off x="3890772" y="4725619"/>
              <a:ext cx="237744" cy="166421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7" name="Wheel"/>
            <p:cNvSpPr/>
            <p:nvPr/>
          </p:nvSpPr>
          <p:spPr>
            <a:xfrm>
              <a:off x="3908603" y="5100066"/>
              <a:ext cx="261518" cy="26151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8" name="Hub"/>
            <p:cNvSpPr/>
            <p:nvPr/>
          </p:nvSpPr>
          <p:spPr>
            <a:xfrm>
              <a:off x="4002749" y="5194213"/>
              <a:ext cx="73225" cy="7322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9" name="Wheel"/>
            <p:cNvSpPr/>
            <p:nvPr/>
          </p:nvSpPr>
          <p:spPr>
            <a:xfrm>
              <a:off x="4384091" y="5100066"/>
              <a:ext cx="261518" cy="26151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0" name="Hub"/>
            <p:cNvSpPr/>
            <p:nvPr/>
          </p:nvSpPr>
          <p:spPr>
            <a:xfrm>
              <a:off x="4478237" y="5194213"/>
              <a:ext cx="73225" cy="7322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1" name="Wheel"/>
            <p:cNvSpPr/>
            <p:nvPr/>
          </p:nvSpPr>
          <p:spPr>
            <a:xfrm>
              <a:off x="4859579" y="5100066"/>
              <a:ext cx="261518" cy="261518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2" name="Hub"/>
            <p:cNvSpPr/>
            <p:nvPr/>
          </p:nvSpPr>
          <p:spPr>
            <a:xfrm>
              <a:off x="4953725" y="5194213"/>
              <a:ext cx="73225" cy="73225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3" name="Coupling rod"/>
            <p:cNvCxnSpPr/>
            <p:nvPr/>
          </p:nvCxnSpPr>
          <p:spPr>
            <a:xfrm>
              <a:off x="4039362" y="5230825"/>
              <a:ext cx="950976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174" name="Wagon"/>
            <p:cNvSpPr/>
            <p:nvPr/>
          </p:nvSpPr>
          <p:spPr>
            <a:xfrm>
              <a:off x="5303520" y="4868266"/>
              <a:ext cx="891540" cy="368503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75" name="Connector 174"/>
            <p:cNvCxnSpPr/>
            <p:nvPr/>
          </p:nvCxnSpPr>
          <p:spPr>
            <a:xfrm>
              <a:off x="5526405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176" name="Connector 175"/>
            <p:cNvCxnSpPr/>
            <p:nvPr/>
          </p:nvCxnSpPr>
          <p:spPr>
            <a:xfrm>
              <a:off x="5749290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177" name="Connector 176"/>
            <p:cNvCxnSpPr/>
            <p:nvPr/>
          </p:nvCxnSpPr>
          <p:spPr>
            <a:xfrm>
              <a:off x="5972175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178" name="Wheel"/>
            <p:cNvSpPr/>
            <p:nvPr/>
          </p:nvSpPr>
          <p:spPr>
            <a:xfrm>
              <a:off x="5398618" y="5201107"/>
              <a:ext cx="166421" cy="16642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9" name="Hub"/>
            <p:cNvSpPr/>
            <p:nvPr/>
          </p:nvSpPr>
          <p:spPr>
            <a:xfrm>
              <a:off x="5458529" y="5261019"/>
              <a:ext cx="46598" cy="4659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0" name="Wheel"/>
            <p:cNvSpPr/>
            <p:nvPr/>
          </p:nvSpPr>
          <p:spPr>
            <a:xfrm>
              <a:off x="5933542" y="5201107"/>
              <a:ext cx="166421" cy="16642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1" name="Hub"/>
            <p:cNvSpPr/>
            <p:nvPr/>
          </p:nvSpPr>
          <p:spPr>
            <a:xfrm>
              <a:off x="5993453" y="5261019"/>
              <a:ext cx="46598" cy="4659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2" name="Wagon"/>
            <p:cNvSpPr/>
            <p:nvPr/>
          </p:nvSpPr>
          <p:spPr>
            <a:xfrm>
              <a:off x="6240780" y="4868266"/>
              <a:ext cx="891540" cy="368503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83" name="Connector 182"/>
            <p:cNvCxnSpPr/>
            <p:nvPr/>
          </p:nvCxnSpPr>
          <p:spPr>
            <a:xfrm>
              <a:off x="6463665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184" name="Connector 183"/>
            <p:cNvCxnSpPr/>
            <p:nvPr/>
          </p:nvCxnSpPr>
          <p:spPr>
            <a:xfrm>
              <a:off x="6686550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185" name="Connector 184"/>
            <p:cNvCxnSpPr/>
            <p:nvPr/>
          </p:nvCxnSpPr>
          <p:spPr>
            <a:xfrm>
              <a:off x="6909435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186" name="Wheel"/>
            <p:cNvSpPr/>
            <p:nvPr/>
          </p:nvSpPr>
          <p:spPr>
            <a:xfrm>
              <a:off x="6335878" y="5201107"/>
              <a:ext cx="166421" cy="16642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7" name="Hub"/>
            <p:cNvSpPr/>
            <p:nvPr/>
          </p:nvSpPr>
          <p:spPr>
            <a:xfrm>
              <a:off x="6395789" y="5261019"/>
              <a:ext cx="46598" cy="4659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8" name="Wheel"/>
            <p:cNvSpPr/>
            <p:nvPr/>
          </p:nvSpPr>
          <p:spPr>
            <a:xfrm>
              <a:off x="6870802" y="5201107"/>
              <a:ext cx="166421" cy="16642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9" name="Hub"/>
            <p:cNvSpPr/>
            <p:nvPr/>
          </p:nvSpPr>
          <p:spPr>
            <a:xfrm>
              <a:off x="6930713" y="5261019"/>
              <a:ext cx="46598" cy="4659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0" name="Wagon"/>
            <p:cNvSpPr/>
            <p:nvPr/>
          </p:nvSpPr>
          <p:spPr>
            <a:xfrm>
              <a:off x="7178040" y="4868266"/>
              <a:ext cx="891540" cy="368503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91" name="Connector 190"/>
            <p:cNvCxnSpPr/>
            <p:nvPr/>
          </p:nvCxnSpPr>
          <p:spPr>
            <a:xfrm>
              <a:off x="7400925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192" name="Connector 191"/>
            <p:cNvCxnSpPr/>
            <p:nvPr/>
          </p:nvCxnSpPr>
          <p:spPr>
            <a:xfrm>
              <a:off x="7623810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193" name="Connector 192"/>
            <p:cNvCxnSpPr/>
            <p:nvPr/>
          </p:nvCxnSpPr>
          <p:spPr>
            <a:xfrm>
              <a:off x="7846695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194" name="Wheel"/>
            <p:cNvSpPr/>
            <p:nvPr/>
          </p:nvSpPr>
          <p:spPr>
            <a:xfrm>
              <a:off x="7273138" y="5201107"/>
              <a:ext cx="166421" cy="16642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5" name="Hub"/>
            <p:cNvSpPr/>
            <p:nvPr/>
          </p:nvSpPr>
          <p:spPr>
            <a:xfrm>
              <a:off x="7333049" y="5261019"/>
              <a:ext cx="46598" cy="4659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6" name="Wheel"/>
            <p:cNvSpPr/>
            <p:nvPr/>
          </p:nvSpPr>
          <p:spPr>
            <a:xfrm>
              <a:off x="7808062" y="5201107"/>
              <a:ext cx="166421" cy="16642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7" name="Hub"/>
            <p:cNvSpPr/>
            <p:nvPr/>
          </p:nvSpPr>
          <p:spPr>
            <a:xfrm>
              <a:off x="7867973" y="5261019"/>
              <a:ext cx="46598" cy="4659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8" name="Wagon"/>
            <p:cNvSpPr/>
            <p:nvPr/>
          </p:nvSpPr>
          <p:spPr>
            <a:xfrm>
              <a:off x="8115300" y="4868266"/>
              <a:ext cx="891540" cy="368503"/>
            </a:xfrm>
            <a:prstGeom prst="rect">
              <a:avLst/>
            </a:prstGeom>
            <a:solidFill>
              <a:srgbClr val="6C7480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199" name="Connector 198"/>
            <p:cNvCxnSpPr/>
            <p:nvPr/>
          </p:nvCxnSpPr>
          <p:spPr>
            <a:xfrm>
              <a:off x="8338185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200" name="Connector 199"/>
            <p:cNvCxnSpPr/>
            <p:nvPr/>
          </p:nvCxnSpPr>
          <p:spPr>
            <a:xfrm>
              <a:off x="8561070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cxnSp>
          <p:nvCxnSpPr>
            <p:cNvPr id="201" name="Connector 200"/>
            <p:cNvCxnSpPr/>
            <p:nvPr/>
          </p:nvCxnSpPr>
          <p:spPr>
            <a:xfrm>
              <a:off x="8783955" y="4892040"/>
              <a:ext cx="0" cy="320954"/>
            </a:xfrm>
            <a:prstGeom prst="line">
              <a:avLst/>
            </a:prstGeom>
            <a:ln w="12700">
              <a:solidFill>
                <a:srgbClr val="343A43"/>
              </a:solidFill>
            </a:ln>
          </p:spPr>
        </p:cxnSp>
        <p:sp>
          <p:nvSpPr>
            <p:cNvPr id="202" name="Wheel"/>
            <p:cNvSpPr/>
            <p:nvPr/>
          </p:nvSpPr>
          <p:spPr>
            <a:xfrm>
              <a:off x="8210398" y="5201107"/>
              <a:ext cx="166421" cy="16642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3" name="Hub"/>
            <p:cNvSpPr/>
            <p:nvPr/>
          </p:nvSpPr>
          <p:spPr>
            <a:xfrm>
              <a:off x="8270309" y="5261019"/>
              <a:ext cx="46598" cy="4659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4" name="Wheel"/>
            <p:cNvSpPr/>
            <p:nvPr/>
          </p:nvSpPr>
          <p:spPr>
            <a:xfrm>
              <a:off x="8745322" y="5201107"/>
              <a:ext cx="166421" cy="166421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5" name="Hub"/>
            <p:cNvSpPr/>
            <p:nvPr/>
          </p:nvSpPr>
          <p:spPr>
            <a:xfrm>
              <a:off x="8805233" y="5261019"/>
              <a:ext cx="46598" cy="4659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206" name="Caption" descr="Caption: Pick the engine for the load. A big engine on one wagon wastes effort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207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8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9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Pick the engine for the load. A big engine on one wagon wastes effort.</a:t>
              </a:r>
            </a:p>
          </p:txBody>
        </p:sp>
      </p:grpSp>
      <p:sp>
        <p:nvSpPr>
          <p:cNvPr id="210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1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411480"/>
            <a:ext cx="9418320" cy="731520"/>
          </a:xfrm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 i="0" lang="en-GB">
                <a:solidFill>
                  <a:srgbClr val="F2F2F2"/>
                </a:solidFill>
                <a:latin typeface="Arial"/>
              </a:rPr>
              <a:t>How engines may feel</a:t>
            </a:r>
          </a:p>
        </p:txBody>
      </p:sp>
      <p:sp>
        <p:nvSpPr>
          <p:cNvPr id="3" name="Status chip" descr="Status tag: Proposed"/>
          <p:cNvSpPr/>
          <p:nvPr/>
        </p:nvSpPr>
        <p:spPr>
          <a:xfrm>
            <a:off x="10180015" y="457200"/>
            <a:ext cx="1463040" cy="365760"/>
          </a:xfrm>
          <a:prstGeom prst="roundRect">
            <a:avLst>
              <a:gd name="adj" fmla="val 30000"/>
            </a:avLst>
          </a:prstGeom>
          <a:solidFill>
            <a:srgbClr val="B084F5"/>
          </a:solidFill>
          <a:ln>
            <a:noFill/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101418"/>
                </a:solidFill>
                <a:latin typeface="Arial"/>
              </a:rPr>
              <a:t>PROPOSED</a:t>
            </a:r>
          </a:p>
        </p:txBody>
      </p:sp>
      <p:grpSp>
        <p:nvGrpSpPr>
          <p:cNvPr id="4" name="Card: Small" descr="Small engine: A few wagons, confidently; struggles on hills."/>
          <p:cNvGrpSpPr/>
          <p:nvPr/>
        </p:nvGrpSpPr>
        <p:grpSpPr>
          <a:xfrm>
            <a:off x="548640" y="1371600"/>
            <a:ext cx="3520440" cy="3063240"/>
            <a:chOff x="548640" y="1371600"/>
            <a:chExt cx="3520440" cy="3063240"/>
          </a:xfrm>
        </p:grpSpPr>
        <p:sp>
          <p:nvSpPr>
            <p:cNvPr id="5" name="Card panel"/>
            <p:cNvSpPr/>
            <p:nvPr/>
          </p:nvSpPr>
          <p:spPr>
            <a:xfrm>
              <a:off x="548640" y="1371600"/>
              <a:ext cx="3520440" cy="3063240"/>
            </a:xfrm>
            <a:prstGeom prst="roundRect">
              <a:avLst>
                <a:gd name="adj" fmla="val 23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Card title"/>
            <p:cNvSpPr txBox="1"/>
            <p:nvPr/>
          </p:nvSpPr>
          <p:spPr>
            <a:xfrm>
              <a:off x="777240" y="1481328"/>
              <a:ext cx="306324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Small</a:t>
              </a:r>
            </a:p>
          </p:txBody>
        </p:sp>
        <p:sp>
          <p:nvSpPr>
            <p:cNvPr id="7" name="Footplate"/>
            <p:cNvSpPr/>
            <p:nvPr/>
          </p:nvSpPr>
          <p:spPr>
            <a:xfrm>
              <a:off x="1476756" y="2853842"/>
              <a:ext cx="1664208" cy="64008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Boiler"/>
            <p:cNvSpPr/>
            <p:nvPr/>
          </p:nvSpPr>
          <p:spPr>
            <a:xfrm>
              <a:off x="2052828" y="2501798"/>
              <a:ext cx="1024128" cy="371246"/>
            </a:xfrm>
            <a:prstGeom prst="roundRect">
              <a:avLst>
                <a:gd name="adj" fmla="val 2586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Smokebox"/>
            <p:cNvSpPr/>
            <p:nvPr/>
          </p:nvSpPr>
          <p:spPr>
            <a:xfrm>
              <a:off x="3000146" y="2501798"/>
              <a:ext cx="89611" cy="371246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Chimney"/>
            <p:cNvSpPr/>
            <p:nvPr/>
          </p:nvSpPr>
          <p:spPr>
            <a:xfrm>
              <a:off x="2884932" y="2335378"/>
              <a:ext cx="83210" cy="17922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Chimney top"/>
            <p:cNvSpPr/>
            <p:nvPr/>
          </p:nvSpPr>
          <p:spPr>
            <a:xfrm>
              <a:off x="2852928" y="2309774"/>
              <a:ext cx="147218" cy="3840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ome"/>
            <p:cNvSpPr/>
            <p:nvPr/>
          </p:nvSpPr>
          <p:spPr>
            <a:xfrm>
              <a:off x="2436876" y="2412187"/>
              <a:ext cx="217627" cy="192024"/>
            </a:xfrm>
            <a:prstGeom prst="chord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Cab"/>
            <p:cNvSpPr/>
            <p:nvPr/>
          </p:nvSpPr>
          <p:spPr>
            <a:xfrm>
              <a:off x="1527962" y="2373782"/>
              <a:ext cx="576072" cy="499262"/>
            </a:xfrm>
            <a:prstGeom prst="rect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Cab roof"/>
            <p:cNvSpPr/>
            <p:nvPr/>
          </p:nvSpPr>
          <p:spPr>
            <a:xfrm>
              <a:off x="1489558" y="2322576"/>
              <a:ext cx="652882" cy="57607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Cab window"/>
            <p:cNvSpPr/>
            <p:nvPr/>
          </p:nvSpPr>
          <p:spPr>
            <a:xfrm>
              <a:off x="1668780" y="2463394"/>
              <a:ext cx="256032" cy="17922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Wheel"/>
            <p:cNvSpPr/>
            <p:nvPr/>
          </p:nvSpPr>
          <p:spPr>
            <a:xfrm>
              <a:off x="1687982" y="2866644"/>
              <a:ext cx="281635" cy="281635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Hub"/>
            <p:cNvSpPr/>
            <p:nvPr/>
          </p:nvSpPr>
          <p:spPr>
            <a:xfrm>
              <a:off x="1789371" y="2968033"/>
              <a:ext cx="78858" cy="7885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Wheel"/>
            <p:cNvSpPr/>
            <p:nvPr/>
          </p:nvSpPr>
          <p:spPr>
            <a:xfrm>
              <a:off x="2200046" y="2866644"/>
              <a:ext cx="281635" cy="281635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Hub"/>
            <p:cNvSpPr/>
            <p:nvPr/>
          </p:nvSpPr>
          <p:spPr>
            <a:xfrm>
              <a:off x="2301435" y="2968033"/>
              <a:ext cx="78858" cy="7885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Wheel"/>
            <p:cNvSpPr/>
            <p:nvPr/>
          </p:nvSpPr>
          <p:spPr>
            <a:xfrm>
              <a:off x="2712110" y="2866644"/>
              <a:ext cx="281635" cy="281635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Hub"/>
            <p:cNvSpPr/>
            <p:nvPr/>
          </p:nvSpPr>
          <p:spPr>
            <a:xfrm>
              <a:off x="2813499" y="2968033"/>
              <a:ext cx="78858" cy="78858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Coupling rod"/>
            <p:cNvCxnSpPr/>
            <p:nvPr/>
          </p:nvCxnSpPr>
          <p:spPr>
            <a:xfrm>
              <a:off x="1828800" y="3007462"/>
              <a:ext cx="1024128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23" name="Rail"/>
            <p:cNvSpPr/>
            <p:nvPr/>
          </p:nvSpPr>
          <p:spPr>
            <a:xfrm>
              <a:off x="777240" y="3172968"/>
              <a:ext cx="3063240" cy="36576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Card text"/>
            <p:cNvSpPr txBox="1"/>
            <p:nvPr/>
          </p:nvSpPr>
          <p:spPr>
            <a:xfrm>
              <a:off x="777240" y="3429000"/>
              <a:ext cx="3063240" cy="914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A few wagons, confidently; struggles on hills</a:t>
              </a:r>
            </a:p>
          </p:txBody>
        </p:sp>
      </p:grpSp>
      <p:grpSp>
        <p:nvGrpSpPr>
          <p:cNvPr id="25" name="Card: Medium" descr="Medium engine: Speed and range; burns more."/>
          <p:cNvGrpSpPr/>
          <p:nvPr/>
        </p:nvGrpSpPr>
        <p:grpSpPr>
          <a:xfrm>
            <a:off x="4334256" y="1371600"/>
            <a:ext cx="3520440" cy="3063240"/>
            <a:chOff x="4334256" y="1371600"/>
            <a:chExt cx="3520440" cy="3063240"/>
          </a:xfrm>
        </p:grpSpPr>
        <p:sp>
          <p:nvSpPr>
            <p:cNvPr id="26" name="Card panel"/>
            <p:cNvSpPr/>
            <p:nvPr/>
          </p:nvSpPr>
          <p:spPr>
            <a:xfrm>
              <a:off x="4334256" y="1371600"/>
              <a:ext cx="3520440" cy="3063240"/>
            </a:xfrm>
            <a:prstGeom prst="roundRect">
              <a:avLst>
                <a:gd name="adj" fmla="val 23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Card title"/>
            <p:cNvSpPr txBox="1"/>
            <p:nvPr/>
          </p:nvSpPr>
          <p:spPr>
            <a:xfrm>
              <a:off x="4562856" y="1481328"/>
              <a:ext cx="306324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Medium</a:t>
              </a:r>
            </a:p>
          </p:txBody>
        </p:sp>
        <p:sp>
          <p:nvSpPr>
            <p:cNvPr id="28" name="Tender"/>
            <p:cNvSpPr/>
            <p:nvPr/>
          </p:nvSpPr>
          <p:spPr>
            <a:xfrm>
              <a:off x="4668012" y="2455713"/>
              <a:ext cx="927202" cy="427939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Coal"/>
            <p:cNvSpPr/>
            <p:nvPr/>
          </p:nvSpPr>
          <p:spPr>
            <a:xfrm>
              <a:off x="4739335" y="2298802"/>
              <a:ext cx="784555" cy="156911"/>
            </a:xfrm>
            <a:custGeom>
              <a:avLst/>
              <a:gdLst/>
              <a:ahLst/>
              <a:cxnLst/>
              <a:rect l="l" t="t" r="r" b="b"/>
              <a:pathLst>
                <a:path w="784555" h="156911">
                  <a:moveTo>
                    <a:pt x="0" y="156911"/>
                  </a:moveTo>
                  <a:lnTo>
                    <a:pt x="142647" y="42794"/>
                  </a:lnTo>
                  <a:lnTo>
                    <a:pt x="356616" y="0"/>
                  </a:lnTo>
                  <a:lnTo>
                    <a:pt x="606247" y="49926"/>
                  </a:lnTo>
                  <a:lnTo>
                    <a:pt x="784555" y="156911"/>
                  </a:lnTo>
                  <a:close/>
                </a:path>
              </a:pathLst>
            </a:cu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Coupling"/>
            <p:cNvSpPr/>
            <p:nvPr/>
          </p:nvSpPr>
          <p:spPr>
            <a:xfrm>
              <a:off x="5595214" y="2783799"/>
              <a:ext cx="71323" cy="35662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Wheel"/>
            <p:cNvSpPr/>
            <p:nvPr/>
          </p:nvSpPr>
          <p:spPr>
            <a:xfrm>
              <a:off x="4739335" y="2847990"/>
              <a:ext cx="285293" cy="285293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Hub"/>
            <p:cNvSpPr/>
            <p:nvPr/>
          </p:nvSpPr>
          <p:spPr>
            <a:xfrm>
              <a:off x="4842041" y="2950696"/>
              <a:ext cx="79882" cy="7988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Wheel"/>
            <p:cNvSpPr/>
            <p:nvPr/>
          </p:nvSpPr>
          <p:spPr>
            <a:xfrm>
              <a:off x="5238598" y="2847990"/>
              <a:ext cx="285293" cy="285293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Hub"/>
            <p:cNvSpPr/>
            <p:nvPr/>
          </p:nvSpPr>
          <p:spPr>
            <a:xfrm>
              <a:off x="5341303" y="2950696"/>
              <a:ext cx="79882" cy="79882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Footplate"/>
            <p:cNvSpPr/>
            <p:nvPr/>
          </p:nvSpPr>
          <p:spPr>
            <a:xfrm>
              <a:off x="5666537" y="2819461"/>
              <a:ext cx="1854403" cy="71323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Boiler"/>
            <p:cNvSpPr/>
            <p:nvPr/>
          </p:nvSpPr>
          <p:spPr>
            <a:xfrm>
              <a:off x="6308446" y="2427183"/>
              <a:ext cx="1141171" cy="413675"/>
            </a:xfrm>
            <a:prstGeom prst="roundRect">
              <a:avLst>
                <a:gd name="adj" fmla="val 2586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Smokebox"/>
            <p:cNvSpPr/>
            <p:nvPr/>
          </p:nvSpPr>
          <p:spPr>
            <a:xfrm>
              <a:off x="7364029" y="2427183"/>
              <a:ext cx="99852" cy="41367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Chimney"/>
            <p:cNvSpPr/>
            <p:nvPr/>
          </p:nvSpPr>
          <p:spPr>
            <a:xfrm>
              <a:off x="7235647" y="2241743"/>
              <a:ext cx="92720" cy="19970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Chimney top"/>
            <p:cNvSpPr/>
            <p:nvPr/>
          </p:nvSpPr>
          <p:spPr>
            <a:xfrm>
              <a:off x="7199986" y="2213214"/>
              <a:ext cx="164043" cy="4279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ome"/>
            <p:cNvSpPr/>
            <p:nvPr/>
          </p:nvSpPr>
          <p:spPr>
            <a:xfrm>
              <a:off x="6736385" y="2327331"/>
              <a:ext cx="242499" cy="213970"/>
            </a:xfrm>
            <a:prstGeom prst="chord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Cab"/>
            <p:cNvSpPr/>
            <p:nvPr/>
          </p:nvSpPr>
          <p:spPr>
            <a:xfrm>
              <a:off x="5723595" y="2284537"/>
              <a:ext cx="641909" cy="556321"/>
            </a:xfrm>
            <a:prstGeom prst="rect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Cab roof"/>
            <p:cNvSpPr/>
            <p:nvPr/>
          </p:nvSpPr>
          <p:spPr>
            <a:xfrm>
              <a:off x="5680801" y="2227478"/>
              <a:ext cx="727497" cy="64191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Cab window"/>
            <p:cNvSpPr/>
            <p:nvPr/>
          </p:nvSpPr>
          <p:spPr>
            <a:xfrm>
              <a:off x="5880506" y="2384389"/>
              <a:ext cx="285293" cy="199705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Wheel"/>
            <p:cNvSpPr/>
            <p:nvPr/>
          </p:nvSpPr>
          <p:spPr>
            <a:xfrm>
              <a:off x="5901903" y="2833726"/>
              <a:ext cx="313822" cy="31382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Hub"/>
            <p:cNvSpPr/>
            <p:nvPr/>
          </p:nvSpPr>
          <p:spPr>
            <a:xfrm>
              <a:off x="6014879" y="2946702"/>
              <a:ext cx="87870" cy="8787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Wheel"/>
            <p:cNvSpPr/>
            <p:nvPr/>
          </p:nvSpPr>
          <p:spPr>
            <a:xfrm>
              <a:off x="6472489" y="2833726"/>
              <a:ext cx="313822" cy="31382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Hub"/>
            <p:cNvSpPr/>
            <p:nvPr/>
          </p:nvSpPr>
          <p:spPr>
            <a:xfrm>
              <a:off x="6585465" y="2946702"/>
              <a:ext cx="87870" cy="8787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Wheel"/>
            <p:cNvSpPr/>
            <p:nvPr/>
          </p:nvSpPr>
          <p:spPr>
            <a:xfrm>
              <a:off x="7043075" y="2833726"/>
              <a:ext cx="313822" cy="313822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9" name="Hub"/>
            <p:cNvSpPr/>
            <p:nvPr/>
          </p:nvSpPr>
          <p:spPr>
            <a:xfrm>
              <a:off x="7156051" y="2946702"/>
              <a:ext cx="87870" cy="87870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50" name="Coupling rod"/>
            <p:cNvCxnSpPr/>
            <p:nvPr/>
          </p:nvCxnSpPr>
          <p:spPr>
            <a:xfrm>
              <a:off x="6058814" y="2990637"/>
              <a:ext cx="1141172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51" name="Rail"/>
            <p:cNvSpPr/>
            <p:nvPr/>
          </p:nvSpPr>
          <p:spPr>
            <a:xfrm>
              <a:off x="4562856" y="3172968"/>
              <a:ext cx="3063240" cy="36576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2" name="Card text"/>
            <p:cNvSpPr txBox="1"/>
            <p:nvPr/>
          </p:nvSpPr>
          <p:spPr>
            <a:xfrm>
              <a:off x="4562856" y="3429000"/>
              <a:ext cx="3063240" cy="914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Speed and range; burns more</a:t>
              </a:r>
            </a:p>
          </p:txBody>
        </p:sp>
      </p:grpSp>
      <p:grpSp>
        <p:nvGrpSpPr>
          <p:cNvPr id="53" name="Card: Large" descr="Large engine: Heavy hauling; slow to speed up; thirsty."/>
          <p:cNvGrpSpPr/>
          <p:nvPr/>
        </p:nvGrpSpPr>
        <p:grpSpPr>
          <a:xfrm>
            <a:off x="8119872" y="1371600"/>
            <a:ext cx="3520440" cy="3063240"/>
            <a:chOff x="8119872" y="1371600"/>
            <a:chExt cx="3520440" cy="3063240"/>
          </a:xfrm>
        </p:grpSpPr>
        <p:sp>
          <p:nvSpPr>
            <p:cNvPr id="54" name="Card panel"/>
            <p:cNvSpPr/>
            <p:nvPr/>
          </p:nvSpPr>
          <p:spPr>
            <a:xfrm>
              <a:off x="8119872" y="1371600"/>
              <a:ext cx="3520440" cy="3063240"/>
            </a:xfrm>
            <a:prstGeom prst="roundRect">
              <a:avLst>
                <a:gd name="adj" fmla="val 23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5" name="Card title"/>
            <p:cNvSpPr txBox="1"/>
            <p:nvPr/>
          </p:nvSpPr>
          <p:spPr>
            <a:xfrm>
              <a:off x="8348472" y="1481328"/>
              <a:ext cx="3063240" cy="45720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200" b="1" i="0" lang="en-GB">
                  <a:solidFill>
                    <a:srgbClr val="F28C28"/>
                  </a:solidFill>
                  <a:latin typeface="Arial"/>
                </a:rPr>
                <a:t>Large</a:t>
              </a:r>
            </a:p>
          </p:txBody>
        </p:sp>
        <p:sp>
          <p:nvSpPr>
            <p:cNvPr id="56" name="Tender"/>
            <p:cNvSpPr/>
            <p:nvPr/>
          </p:nvSpPr>
          <p:spPr>
            <a:xfrm>
              <a:off x="8325612" y="2392985"/>
              <a:ext cx="1010412" cy="466344"/>
            </a:xfrm>
            <a:prstGeom prst="rect">
              <a:avLst/>
            </a:prstGeom>
            <a:solidFill>
              <a:srgbClr val="343A43"/>
            </a:solidFill>
            <a:ln w="1270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7" name="Coal"/>
            <p:cNvSpPr/>
            <p:nvPr/>
          </p:nvSpPr>
          <p:spPr>
            <a:xfrm>
              <a:off x="8403336" y="2221992"/>
              <a:ext cx="854964" cy="170993"/>
            </a:xfrm>
            <a:custGeom>
              <a:avLst/>
              <a:gdLst/>
              <a:ahLst/>
              <a:cxnLst/>
              <a:rect l="l" t="t" r="r" b="b"/>
              <a:pathLst>
                <a:path w="854964" h="170993">
                  <a:moveTo>
                    <a:pt x="0" y="170993"/>
                  </a:moveTo>
                  <a:lnTo>
                    <a:pt x="155448" y="46634"/>
                  </a:lnTo>
                  <a:lnTo>
                    <a:pt x="388620" y="0"/>
                  </a:lnTo>
                  <a:lnTo>
                    <a:pt x="660654" y="54407"/>
                  </a:lnTo>
                  <a:lnTo>
                    <a:pt x="854964" y="170993"/>
                  </a:lnTo>
                  <a:close/>
                </a:path>
              </a:pathLst>
            </a:cu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8" name="Coupling"/>
            <p:cNvSpPr/>
            <p:nvPr/>
          </p:nvSpPr>
          <p:spPr>
            <a:xfrm>
              <a:off x="9336024" y="2750515"/>
              <a:ext cx="77724" cy="38862"/>
            </a:xfrm>
            <a:prstGeom prst="rect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9" name="Wheel"/>
            <p:cNvSpPr/>
            <p:nvPr/>
          </p:nvSpPr>
          <p:spPr>
            <a:xfrm>
              <a:off x="8403336" y="2820467"/>
              <a:ext cx="310896" cy="31089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0" name="Hub"/>
            <p:cNvSpPr/>
            <p:nvPr/>
          </p:nvSpPr>
          <p:spPr>
            <a:xfrm>
              <a:off x="8515259" y="2932389"/>
              <a:ext cx="87051" cy="8705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1" name="Wheel"/>
            <p:cNvSpPr/>
            <p:nvPr/>
          </p:nvSpPr>
          <p:spPr>
            <a:xfrm>
              <a:off x="8947404" y="2820467"/>
              <a:ext cx="310896" cy="31089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2" name="Hub"/>
            <p:cNvSpPr/>
            <p:nvPr/>
          </p:nvSpPr>
          <p:spPr>
            <a:xfrm>
              <a:off x="9059327" y="2932389"/>
              <a:ext cx="87051" cy="87051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3" name="Footplate"/>
            <p:cNvSpPr/>
            <p:nvPr/>
          </p:nvSpPr>
          <p:spPr>
            <a:xfrm>
              <a:off x="9413748" y="2789377"/>
              <a:ext cx="2020824" cy="7772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4" name="Boiler"/>
            <p:cNvSpPr/>
            <p:nvPr/>
          </p:nvSpPr>
          <p:spPr>
            <a:xfrm>
              <a:off x="10113264" y="2361895"/>
              <a:ext cx="1243584" cy="450799"/>
            </a:xfrm>
            <a:prstGeom prst="roundRect">
              <a:avLst>
                <a:gd name="adj" fmla="val 25862"/>
              </a:avLst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5" name="Smokebox"/>
            <p:cNvSpPr/>
            <p:nvPr/>
          </p:nvSpPr>
          <p:spPr>
            <a:xfrm>
              <a:off x="11263579" y="2361895"/>
              <a:ext cx="108814" cy="450799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6" name="Chimney"/>
            <p:cNvSpPr/>
            <p:nvPr/>
          </p:nvSpPr>
          <p:spPr>
            <a:xfrm>
              <a:off x="11123676" y="2159813"/>
              <a:ext cx="101041" cy="217627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7" name="Chimney top"/>
            <p:cNvSpPr/>
            <p:nvPr/>
          </p:nvSpPr>
          <p:spPr>
            <a:xfrm>
              <a:off x="11084814" y="2128723"/>
              <a:ext cx="178765" cy="46634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8" name="Dome"/>
            <p:cNvSpPr/>
            <p:nvPr/>
          </p:nvSpPr>
          <p:spPr>
            <a:xfrm>
              <a:off x="10579608" y="2253082"/>
              <a:ext cx="264262" cy="233172"/>
            </a:xfrm>
            <a:prstGeom prst="chord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9" name="Cab"/>
            <p:cNvSpPr/>
            <p:nvPr/>
          </p:nvSpPr>
          <p:spPr>
            <a:xfrm>
              <a:off x="9475927" y="2206447"/>
              <a:ext cx="699516" cy="606247"/>
            </a:xfrm>
            <a:prstGeom prst="rect">
              <a:avLst/>
            </a:prstGeom>
            <a:solidFill>
              <a:srgbClr val="C46E14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0" name="Cab roof"/>
            <p:cNvSpPr/>
            <p:nvPr/>
          </p:nvSpPr>
          <p:spPr>
            <a:xfrm>
              <a:off x="9429293" y="2144268"/>
              <a:ext cx="792785" cy="69952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1" name="Cab window"/>
            <p:cNvSpPr/>
            <p:nvPr/>
          </p:nvSpPr>
          <p:spPr>
            <a:xfrm>
              <a:off x="9646920" y="2315261"/>
              <a:ext cx="310896" cy="217627"/>
            </a:xfrm>
            <a:prstGeom prst="rect">
              <a:avLst/>
            </a:prstGeom>
            <a:solidFill>
              <a:srgbClr val="1B1D2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2" name="Wheel"/>
            <p:cNvSpPr/>
            <p:nvPr/>
          </p:nvSpPr>
          <p:spPr>
            <a:xfrm>
              <a:off x="9670237" y="2804922"/>
              <a:ext cx="341986" cy="34198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3" name="Hub"/>
            <p:cNvSpPr/>
            <p:nvPr/>
          </p:nvSpPr>
          <p:spPr>
            <a:xfrm>
              <a:off x="9793352" y="2928037"/>
              <a:ext cx="95756" cy="9575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4" name="Wheel"/>
            <p:cNvSpPr/>
            <p:nvPr/>
          </p:nvSpPr>
          <p:spPr>
            <a:xfrm>
              <a:off x="10292029" y="2804922"/>
              <a:ext cx="341986" cy="34198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5" name="Hub"/>
            <p:cNvSpPr/>
            <p:nvPr/>
          </p:nvSpPr>
          <p:spPr>
            <a:xfrm>
              <a:off x="10415144" y="2928037"/>
              <a:ext cx="95756" cy="9575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6" name="Wheel"/>
            <p:cNvSpPr/>
            <p:nvPr/>
          </p:nvSpPr>
          <p:spPr>
            <a:xfrm>
              <a:off x="10913821" y="2804922"/>
              <a:ext cx="341986" cy="341986"/>
            </a:xfrm>
            <a:prstGeom prst="ellipse">
              <a:avLst/>
            </a:prstGeom>
            <a:solidFill>
              <a:srgbClr val="1B1D21"/>
            </a:solidFill>
            <a:ln w="19050">
              <a:solidFill>
                <a:srgbClr val="9AA0A6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7" name="Hub"/>
            <p:cNvSpPr/>
            <p:nvPr/>
          </p:nvSpPr>
          <p:spPr>
            <a:xfrm>
              <a:off x="11036936" y="2928037"/>
              <a:ext cx="95756" cy="95756"/>
            </a:xfrm>
            <a:prstGeom prst="ellipse">
              <a:avLst/>
            </a:prstGeom>
            <a:solidFill>
              <a:srgbClr val="9AA0A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78" name="Coupling rod"/>
            <p:cNvCxnSpPr/>
            <p:nvPr/>
          </p:nvCxnSpPr>
          <p:spPr>
            <a:xfrm>
              <a:off x="9841230" y="2975915"/>
              <a:ext cx="1243584" cy="0"/>
            </a:xfrm>
            <a:prstGeom prst="line">
              <a:avLst/>
            </a:prstGeom>
            <a:ln w="25400">
              <a:solidFill>
                <a:srgbClr val="9AA0A6"/>
              </a:solidFill>
            </a:ln>
          </p:spPr>
        </p:cxnSp>
        <p:sp>
          <p:nvSpPr>
            <p:cNvPr id="79" name="Rail"/>
            <p:cNvSpPr/>
            <p:nvPr/>
          </p:nvSpPr>
          <p:spPr>
            <a:xfrm>
              <a:off x="8348472" y="3172968"/>
              <a:ext cx="3063240" cy="36576"/>
            </a:xfrm>
            <a:prstGeom prst="rect">
              <a:avLst/>
            </a:prstGeom>
            <a:solidFill>
              <a:srgbClr val="4A515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0" name="Card text"/>
            <p:cNvSpPr txBox="1"/>
            <p:nvPr/>
          </p:nvSpPr>
          <p:spPr>
            <a:xfrm>
              <a:off x="8348472" y="3429000"/>
              <a:ext cx="3063240" cy="914400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1800" b="0" i="0" lang="en-GB">
                  <a:solidFill>
                    <a:srgbClr val="F2F2F2"/>
                  </a:solidFill>
                  <a:latin typeface="Arial"/>
                </a:rPr>
                <a:t>Heavy hauling; slow to speed up; thirsty</a:t>
              </a:r>
            </a:p>
          </p:txBody>
        </p:sp>
      </p:grpSp>
      <p:sp>
        <p:nvSpPr>
          <p:cNvPr id="81" name="TextBox 80"/>
          <p:cNvSpPr txBox="1"/>
          <p:nvPr/>
        </p:nvSpPr>
        <p:spPr>
          <a:xfrm>
            <a:off x="548640" y="4681728"/>
            <a:ext cx="4114800" cy="3657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Shape only. Not measured.</a:t>
            </a:r>
          </a:p>
        </p:txBody>
      </p:sp>
      <p:sp>
        <p:nvSpPr>
          <p:cNvPr id="82" name="Inline chip: Exact curves: undecided"/>
          <p:cNvSpPr/>
          <p:nvPr/>
        </p:nvSpPr>
        <p:spPr>
          <a:xfrm>
            <a:off x="9234591" y="4663440"/>
            <a:ext cx="2405721" cy="329184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9B0B8"/>
            </a:solidFill>
          </a:ln>
        </p:spPr>
        <p:txBody>
          <a:bodyPr rtlCol="0" anchor="ctr" wrap="none" lIns="0" tIns="0" r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1" i="0" lang="en-GB">
                <a:solidFill>
                  <a:srgbClr val="F2F2F2"/>
                </a:solidFill>
                <a:latin typeface="Arial"/>
              </a:rPr>
              <a:t>Exact curves: undecided</a:t>
            </a:r>
          </a:p>
        </p:txBody>
      </p:sp>
      <p:grpSp>
        <p:nvGrpSpPr>
          <p:cNvPr id="83" name="Caption" descr="Caption: Small is nimble, Medium is quick, Large is strong. These are ideas about their character."/>
          <p:cNvGrpSpPr/>
          <p:nvPr/>
        </p:nvGrpSpPr>
        <p:grpSpPr>
          <a:xfrm>
            <a:off x="548640" y="5669280"/>
            <a:ext cx="11091672" cy="822960"/>
            <a:chOff x="548640" y="5669280"/>
            <a:chExt cx="11091672" cy="822960"/>
          </a:xfrm>
        </p:grpSpPr>
        <p:sp>
          <p:nvSpPr>
            <p:cNvPr id="84" name="Caption panel"/>
            <p:cNvSpPr/>
            <p:nvPr/>
          </p:nvSpPr>
          <p:spPr>
            <a:xfrm>
              <a:off x="548640" y="5669280"/>
              <a:ext cx="11091672" cy="822960"/>
            </a:xfrm>
            <a:prstGeom prst="roundRect">
              <a:avLst>
                <a:gd name="adj" fmla="val 8888"/>
              </a:avLst>
            </a:prstGeom>
            <a:solidFill>
              <a:srgbClr val="2B2F36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5" name="Caption rule"/>
            <p:cNvSpPr/>
            <p:nvPr/>
          </p:nvSpPr>
          <p:spPr>
            <a:xfrm>
              <a:off x="548640" y="5669280"/>
              <a:ext cx="73152" cy="822960"/>
            </a:xfrm>
            <a:prstGeom prst="rect">
              <a:avLst/>
            </a:prstGeom>
            <a:solidFill>
              <a:srgbClr val="F28C28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6" name="Caption text"/>
            <p:cNvSpPr txBox="1"/>
            <p:nvPr/>
          </p:nvSpPr>
          <p:spPr>
            <a:xfrm>
              <a:off x="850392" y="5669280"/>
              <a:ext cx="10607040" cy="822960"/>
            </a:xfrm>
            <a:prstGeom prst="rect">
              <a:avLst/>
            </a:prstGeom>
            <a:noFill/>
          </p:spPr>
          <p:txBody>
            <a:bodyPr wrap="square" lIns="0" tIns="0" rIns="0" bIns="0" anchor="ctr">
              <a:noAutofit/>
            </a:bodyPr>
            <a:lstStyle/>
            <a:p>
              <a:pPr algn="l">
                <a:spcBef>
                  <a:spcPts val="0"/>
                </a:spcBef>
                <a:spcAft>
                  <a:spcPts val="0"/>
                </a:spcAft>
              </a:pPr>
              <a:r>
                <a:rPr sz="2000" b="0" i="0" lang="en-GB">
                  <a:solidFill>
                    <a:srgbClr val="F2F2F2"/>
                  </a:solidFill>
                  <a:latin typeface="Arial"/>
                </a:rPr>
                <a:t>Small is nimble, Medium is quick, Large is strong. These are ideas about their character.</a:t>
              </a:r>
            </a:p>
          </p:txBody>
        </p:sp>
      </p:grpSp>
      <p:sp>
        <p:nvSpPr>
          <p:cNvPr id="87" name="Slide number"/>
          <p:cNvSpPr txBox="1"/>
          <p:nvPr/>
        </p:nvSpPr>
        <p:spPr>
          <a:xfrm>
            <a:off x="10911535" y="6510528"/>
            <a:ext cx="731520" cy="27432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400" b="0" i="0" lang="en-GB">
                <a:solidFill>
                  <a:srgbClr val="A9B0B8"/>
                </a:solidFill>
                <a:latin typeface="Arial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E2126"/>
      </a:dk1>
      <a:lt1>
        <a:srgbClr val="F2F2F2"/>
      </a:lt1>
      <a:dk2>
        <a:srgbClr val="2B2F36"/>
      </a:dk2>
      <a:lt2>
        <a:srgbClr val="A9B0B8"/>
      </a:lt2>
      <a:accent1>
        <a:srgbClr val="F28C28"/>
      </a:accent1>
      <a:accent2>
        <a:srgbClr val="4DA3FF"/>
      </a:accent2>
      <a:accent3>
        <a:srgbClr val="3FB950"/>
      </a:accent3>
      <a:accent4>
        <a:srgbClr val="F2C14E"/>
      </a:accent4>
      <a:accent5>
        <a:srgbClr val="B084F5"/>
      </a:accent5>
      <a:accent6>
        <a:srgbClr val="E5484D"/>
      </a:accent6>
      <a:hlink>
        <a:srgbClr val="4DA3FF"/>
      </a:hlink>
      <a:folHlink>
        <a:srgbClr val="B084F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the Mod Is Balanced, Explained</dc:title>
  <dc:subject>Explainer deck 9 for the Satisfactory mod Early Locomotion</dc:subject>
  <dc:creator>Claude (Early Locomotion project)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en-GB</dc:language>
</cp:coreProperties>
</file>