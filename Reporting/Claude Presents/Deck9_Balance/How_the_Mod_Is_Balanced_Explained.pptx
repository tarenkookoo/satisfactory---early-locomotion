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1234440"/>
            <a:ext cx="5943600" cy="1920240"/>
          </a:xfrm>
        </p:spPr>
        <p:txBody>
          <a:bodyPr wrap="square" lIns="0" tIns="0" rIns="0" bIns="0" anchor="b">
            <a:noAutofit/>
          </a:bodyPr>
          <a:lstStyle/>
          <a:p>
            <a:pPr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</a:pPr>
            <a:r>
              <a:rPr sz="5400" b="1" i="0" lang="en-GB">
                <a:solidFill>
                  <a:srgbClr val="F2F2F2"/>
                </a:solidFill>
                <a:latin typeface="Arial"/>
              </a:rPr>
              <a:t>How the Mod Is Balanced</a:t>
            </a:r>
          </a:p>
        </p:txBody>
      </p:sp>
      <p:sp>
        <p:nvSpPr>
          <p:cNvPr id="3" name="Orange rule"/>
          <p:cNvSpPr/>
          <p:nvPr/>
        </p:nvSpPr>
        <p:spPr>
          <a:xfrm>
            <a:off x="548640" y="3364992"/>
            <a:ext cx="2011680" cy="82296"/>
          </a:xfrm>
          <a:prstGeom prst="rect">
            <a:avLst/>
          </a:prstGeom>
          <a:solidFill>
            <a:srgbClr val="F28C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Caption text"/>
          <p:cNvSpPr txBox="1"/>
          <p:nvPr/>
        </p:nvSpPr>
        <p:spPr>
          <a:xfrm>
            <a:off x="548640" y="3639312"/>
            <a:ext cx="5760720" cy="12801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000" b="0" i="0" lang="en-GB">
                <a:solidFill>
                  <a:srgbClr val="F2F2F2"/>
                </a:solidFill>
                <a:latin typeface="Arial"/>
              </a:rPr>
              <a:t>Why steam is cheap to start, and what keeps it from being too easy.</a:t>
            </a:r>
          </a:p>
        </p:txBody>
      </p:sp>
      <p:pic>
        <p:nvPicPr>
          <p:cNvPr id="5" name="Picture R02" descr="High-detail render of the mod's two-rail track. Visual development only: not Unreal-tested, not production-ready."/>
          <p:cNvPicPr>
            <a:picLocks noChangeAspect="1"/>
          </p:cNvPicPr>
          <p:nvPr/>
        </p:nvPicPr>
        <p:blipFill>
          <a:blip r:embed="rId2"/>
          <a:srcRect l="21729" r="31729"/>
          <a:stretch>
            <a:fillRect/>
          </a:stretch>
        </p:blipFill>
        <p:spPr>
          <a:xfrm>
            <a:off x="6949440" y="502920"/>
            <a:ext cx="4690872" cy="5669280"/>
          </a:xfrm>
          <a:prstGeom prst="roundRect">
            <a:avLst>
              <a:gd name="adj" fmla="val 779"/>
            </a:avLst>
          </a:prstGeom>
        </p:spPr>
      </p:pic>
      <p:sp>
        <p:nvSpPr>
          <p:cNvPr id="6" name="Credit line R02"/>
          <p:cNvSpPr txBox="1"/>
          <p:nvPr/>
        </p:nvSpPr>
        <p:spPr>
          <a:xfrm>
            <a:off x="6949440" y="6236208"/>
            <a:ext cx="4690872" cy="365760"/>
          </a:xfrm>
          <a:prstGeom prst="rect">
            <a:avLst/>
          </a:prstGeom>
          <a:noFill/>
        </p:spPr>
        <p:txBody>
          <a:bodyPr wrap="square" lIns="0" tIns="0" rIns="0" bIns="0" anchor="t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0" i="0" lang="en-GB">
                <a:solidFill>
                  <a:srgbClr val="A9B0B8"/>
                </a:solidFill>
                <a:latin typeface="Arial"/>
              </a:rPr>
              <a:t>Early Locomotion project render (visual development, not final art).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How to read this guide</a:t>
            </a:r>
          </a:p>
        </p:txBody>
      </p:sp>
      <p:grpSp>
        <p:nvGrpSpPr>
          <p:cNvPr id="3" name="Legend row: Agreed" descr="Legend row: the Agreed tag means 'Decided.'"/>
          <p:cNvGrpSpPr/>
          <p:nvPr/>
        </p:nvGrpSpPr>
        <p:grpSpPr>
          <a:xfrm>
            <a:off x="548640" y="1371600"/>
            <a:ext cx="11091672" cy="685800"/>
            <a:chOff x="548640" y="1371600"/>
            <a:chExt cx="11091672" cy="685800"/>
          </a:xfrm>
        </p:grpSpPr>
        <p:sp>
          <p:nvSpPr>
            <p:cNvPr id="4" name="Row panel"/>
            <p:cNvSpPr/>
            <p:nvPr/>
          </p:nvSpPr>
          <p:spPr>
            <a:xfrm>
              <a:off x="548640" y="1371600"/>
              <a:ext cx="11091672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Legend chip: Agreed"/>
            <p:cNvSpPr/>
            <p:nvPr/>
          </p:nvSpPr>
          <p:spPr>
            <a:xfrm>
              <a:off x="868680" y="1531620"/>
              <a:ext cx="1463040" cy="365760"/>
            </a:xfrm>
            <a:prstGeom prst="roundRect">
              <a:avLst>
                <a:gd name="adj" fmla="val 30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AGREED</a:t>
              </a:r>
            </a:p>
          </p:txBody>
        </p:sp>
        <p:sp>
          <p:nvSpPr>
            <p:cNvPr id="6" name="Legend meaning"/>
            <p:cNvSpPr txBox="1"/>
            <p:nvPr/>
          </p:nvSpPr>
          <p:spPr>
            <a:xfrm>
              <a:off x="2743200" y="1371600"/>
              <a:ext cx="859536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Decided.</a:t>
              </a:r>
            </a:p>
          </p:txBody>
        </p:sp>
      </p:grpSp>
      <p:grpSp>
        <p:nvGrpSpPr>
          <p:cNvPr id="7" name="Legend row: Proposed" descr="Legend row: the Proposed tag means 'Suggested, not confirmed.'"/>
          <p:cNvGrpSpPr/>
          <p:nvPr/>
        </p:nvGrpSpPr>
        <p:grpSpPr>
          <a:xfrm>
            <a:off x="548640" y="2194560"/>
            <a:ext cx="11091672" cy="685800"/>
            <a:chOff x="548640" y="2194560"/>
            <a:chExt cx="11091672" cy="685800"/>
          </a:xfrm>
        </p:grpSpPr>
        <p:sp>
          <p:nvSpPr>
            <p:cNvPr id="8" name="Row panel"/>
            <p:cNvSpPr/>
            <p:nvPr/>
          </p:nvSpPr>
          <p:spPr>
            <a:xfrm>
              <a:off x="548640" y="2194560"/>
              <a:ext cx="11091672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Legend chip: Proposed"/>
            <p:cNvSpPr/>
            <p:nvPr/>
          </p:nvSpPr>
          <p:spPr>
            <a:xfrm>
              <a:off x="868680" y="2354580"/>
              <a:ext cx="1463040" cy="365760"/>
            </a:xfrm>
            <a:prstGeom prst="roundRect">
              <a:avLst>
                <a:gd name="adj" fmla="val 30000"/>
              </a:avLst>
            </a:prstGeom>
            <a:solidFill>
              <a:srgbClr val="B084F5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PROPOSED</a:t>
              </a:r>
            </a:p>
          </p:txBody>
        </p:sp>
        <p:sp>
          <p:nvSpPr>
            <p:cNvPr id="10" name="Legend meaning"/>
            <p:cNvSpPr txBox="1"/>
            <p:nvPr/>
          </p:nvSpPr>
          <p:spPr>
            <a:xfrm>
              <a:off x="2743200" y="2194560"/>
              <a:ext cx="859536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Suggested, not confirmed.</a:t>
              </a:r>
            </a:p>
          </p:txBody>
        </p:sp>
      </p:grpSp>
      <p:grpSp>
        <p:nvGrpSpPr>
          <p:cNvPr id="11" name="Legend row: Provisional" descr="Legend row: the Provisional tag means 'A test number that may change.'"/>
          <p:cNvGrpSpPr/>
          <p:nvPr/>
        </p:nvGrpSpPr>
        <p:grpSpPr>
          <a:xfrm>
            <a:off x="548640" y="3017520"/>
            <a:ext cx="11091672" cy="685800"/>
            <a:chOff x="548640" y="3017520"/>
            <a:chExt cx="11091672" cy="685800"/>
          </a:xfrm>
        </p:grpSpPr>
        <p:sp>
          <p:nvSpPr>
            <p:cNvPr id="12" name="Row panel"/>
            <p:cNvSpPr/>
            <p:nvPr/>
          </p:nvSpPr>
          <p:spPr>
            <a:xfrm>
              <a:off x="548640" y="3017520"/>
              <a:ext cx="11091672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Legend chip: Provisional"/>
            <p:cNvSpPr/>
            <p:nvPr/>
          </p:nvSpPr>
          <p:spPr>
            <a:xfrm>
              <a:off x="868680" y="3177540"/>
              <a:ext cx="1463040" cy="365760"/>
            </a:xfrm>
            <a:prstGeom prst="roundRect">
              <a:avLst>
                <a:gd name="adj" fmla="val 30000"/>
              </a:avLst>
            </a:prstGeom>
            <a:solidFill>
              <a:srgbClr val="4DA3FF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101418"/>
                  </a:solidFill>
                  <a:latin typeface="Arial"/>
                </a:rPr>
                <a:t>PROVISIONAL</a:t>
              </a:r>
            </a:p>
          </p:txBody>
        </p:sp>
        <p:sp>
          <p:nvSpPr>
            <p:cNvPr id="14" name="Legend meaning"/>
            <p:cNvSpPr txBox="1"/>
            <p:nvPr/>
          </p:nvSpPr>
          <p:spPr>
            <a:xfrm>
              <a:off x="2743200" y="3017520"/>
              <a:ext cx="859536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test number that may change.</a:t>
              </a:r>
            </a:p>
          </p:txBody>
        </p:sp>
      </p:grpSp>
      <p:grpSp>
        <p:nvGrpSpPr>
          <p:cNvPr id="15" name="Legend row: Undecided" descr="Legend row: the Undecided tag means 'Still an open question.'"/>
          <p:cNvGrpSpPr/>
          <p:nvPr/>
        </p:nvGrpSpPr>
        <p:grpSpPr>
          <a:xfrm>
            <a:off x="548640" y="3840480"/>
            <a:ext cx="11091672" cy="685800"/>
            <a:chOff x="548640" y="3840480"/>
            <a:chExt cx="11091672" cy="685800"/>
          </a:xfrm>
        </p:grpSpPr>
        <p:sp>
          <p:nvSpPr>
            <p:cNvPr id="16" name="Row panel"/>
            <p:cNvSpPr/>
            <p:nvPr/>
          </p:nvSpPr>
          <p:spPr>
            <a:xfrm>
              <a:off x="548640" y="3840480"/>
              <a:ext cx="11091672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Legend chip: Undecided"/>
            <p:cNvSpPr/>
            <p:nvPr/>
          </p:nvSpPr>
          <p:spPr>
            <a:xfrm>
              <a:off x="868680" y="4000500"/>
              <a:ext cx="1463040" cy="365760"/>
            </a:xfrm>
            <a:prstGeom prst="roundRect">
              <a:avLst>
                <a:gd name="adj" fmla="val 3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8" name="Legend meaning"/>
            <p:cNvSpPr txBox="1"/>
            <p:nvPr/>
          </p:nvSpPr>
          <p:spPr>
            <a:xfrm>
              <a:off x="2743200" y="3840480"/>
              <a:ext cx="859536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Still an open question.</a:t>
              </a:r>
            </a:p>
          </p:txBody>
        </p:sp>
      </p:grpSp>
      <p:grpSp>
        <p:nvGrpSpPr>
          <p:cNvPr id="19" name="Legend row: Background" descr="Legend row: the Background tag means 'A real-world fact.'"/>
          <p:cNvGrpSpPr/>
          <p:nvPr/>
        </p:nvGrpSpPr>
        <p:grpSpPr>
          <a:xfrm>
            <a:off x="548640" y="4663440"/>
            <a:ext cx="11091672" cy="685800"/>
            <a:chOff x="548640" y="4663440"/>
            <a:chExt cx="11091672" cy="685800"/>
          </a:xfrm>
        </p:grpSpPr>
        <p:sp>
          <p:nvSpPr>
            <p:cNvPr id="20" name="Row panel"/>
            <p:cNvSpPr/>
            <p:nvPr/>
          </p:nvSpPr>
          <p:spPr>
            <a:xfrm>
              <a:off x="548640" y="4663440"/>
              <a:ext cx="11091672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Legend chip: Background"/>
            <p:cNvSpPr/>
            <p:nvPr/>
          </p:nvSpPr>
          <p:spPr>
            <a:xfrm>
              <a:off x="868680" y="4823460"/>
              <a:ext cx="1463040" cy="365760"/>
            </a:xfrm>
            <a:prstGeom prst="roundRect">
              <a:avLst>
                <a:gd name="adj" fmla="val 30000"/>
              </a:avLst>
            </a:prstGeom>
            <a:solidFill>
              <a:srgbClr val="4A515B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BACKGROUND</a:t>
              </a:r>
            </a:p>
          </p:txBody>
        </p:sp>
        <p:sp>
          <p:nvSpPr>
            <p:cNvPr id="22" name="Legend meaning"/>
            <p:cNvSpPr txBox="1"/>
            <p:nvPr/>
          </p:nvSpPr>
          <p:spPr>
            <a:xfrm>
              <a:off x="2743200" y="4663440"/>
              <a:ext cx="859536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real-world fact.</a:t>
              </a:r>
            </a:p>
          </p:txBody>
        </p:sp>
      </p:grpSp>
      <p:grpSp>
        <p:nvGrpSpPr>
          <p:cNvPr id="23" name="Caption" descr="Caption: Every idea carries a tag in the top-right corner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24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Every idea carries a tag in the top-right corner.</a:t>
              </a:r>
            </a:p>
          </p:txBody>
        </p:sp>
      </p:grpSp>
      <p:sp>
        <p:nvSpPr>
          <p:cNvPr id="27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Cheap to start</a:t>
            </a:r>
          </a:p>
        </p:txBody>
      </p:sp>
      <p:sp>
        <p:nvSpPr>
          <p:cNvPr id="3" name="Status chip" descr="Status tag: Agre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cost against effort" descr="Two bars: the cost to build is short, the effort to run is long."/>
          <p:cNvGrpSpPr/>
          <p:nvPr/>
        </p:nvGrpSpPr>
        <p:grpSpPr>
          <a:xfrm>
            <a:off x="548640" y="1371600"/>
            <a:ext cx="11091672" cy="3931920"/>
            <a:chOff x="548640" y="1371600"/>
            <a:chExt cx="11091672" cy="3931920"/>
          </a:xfrm>
        </p:grpSpPr>
        <p:sp>
          <p:nvSpPr>
            <p:cNvPr id="5" name="Panel"/>
            <p:cNvSpPr/>
            <p:nvPr/>
          </p:nvSpPr>
          <p:spPr>
            <a:xfrm>
              <a:off x="548640" y="1371600"/>
              <a:ext cx="11091672" cy="3931920"/>
            </a:xfrm>
            <a:prstGeom prst="roundRect">
              <a:avLst>
                <a:gd name="adj" fmla="val 1860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Bar label"/>
            <p:cNvSpPr txBox="1"/>
            <p:nvPr/>
          </p:nvSpPr>
          <p:spPr>
            <a:xfrm>
              <a:off x="914400" y="2011680"/>
              <a:ext cx="2834640" cy="868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Cost to build</a:t>
              </a:r>
            </a:p>
          </p:txBody>
        </p:sp>
        <p:sp>
          <p:nvSpPr>
            <p:cNvPr id="7" name="Bar track"/>
            <p:cNvSpPr/>
            <p:nvPr/>
          </p:nvSpPr>
          <p:spPr>
            <a:xfrm>
              <a:off x="3931920" y="2011680"/>
              <a:ext cx="7315200" cy="868680"/>
            </a:xfrm>
            <a:prstGeom prst="roundRect">
              <a:avLst>
                <a:gd name="adj" fmla="val 10526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Bar"/>
            <p:cNvSpPr/>
            <p:nvPr/>
          </p:nvSpPr>
          <p:spPr>
            <a:xfrm>
              <a:off x="3931920" y="2011680"/>
              <a:ext cx="1463040" cy="868680"/>
            </a:xfrm>
            <a:prstGeom prst="roundRect">
              <a:avLst>
                <a:gd name="adj" fmla="val 10526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ar label"/>
            <p:cNvSpPr txBox="1"/>
            <p:nvPr/>
          </p:nvSpPr>
          <p:spPr>
            <a:xfrm>
              <a:off x="914400" y="3383280"/>
              <a:ext cx="2834640" cy="8686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Effort to run</a:t>
              </a:r>
            </a:p>
          </p:txBody>
        </p:sp>
        <p:sp>
          <p:nvSpPr>
            <p:cNvPr id="10" name="Bar track"/>
            <p:cNvSpPr/>
            <p:nvPr/>
          </p:nvSpPr>
          <p:spPr>
            <a:xfrm>
              <a:off x="3931920" y="3383280"/>
              <a:ext cx="7315200" cy="868680"/>
            </a:xfrm>
            <a:prstGeom prst="roundRect">
              <a:avLst>
                <a:gd name="adj" fmla="val 10526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Bar"/>
            <p:cNvSpPr/>
            <p:nvPr/>
          </p:nvSpPr>
          <p:spPr>
            <a:xfrm>
              <a:off x="3931920" y="3383280"/>
              <a:ext cx="6291072" cy="868680"/>
            </a:xfrm>
            <a:prstGeom prst="roundRect">
              <a:avLst>
                <a:gd name="adj" fmla="val 10526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cale note"/>
            <p:cNvSpPr txBox="1"/>
            <p:nvPr/>
          </p:nvSpPr>
          <p:spPr>
            <a:xfrm>
              <a:off x="7589520" y="4754880"/>
              <a:ext cx="365760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400" b="0" i="0" lang="en-GB">
                  <a:solidFill>
                    <a:srgbClr val="A9B0B8"/>
                  </a:solidFill>
                  <a:latin typeface="Arial"/>
                </a:rPr>
                <a:t>Not to scale</a:t>
              </a:r>
            </a:p>
          </p:txBody>
        </p:sp>
      </p:grpSp>
      <p:grpSp>
        <p:nvGrpSpPr>
          <p:cNvPr id="13" name="Caption" descr="Caption: Early rail is cheap and easy to build. The challenge is running it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14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Early rail is cheap and easy to build. The challenge is running it.</a:t>
              </a:r>
            </a:p>
          </p:txBody>
        </p:sp>
      </p:grpSp>
      <p:sp>
        <p:nvSpPr>
          <p:cNvPr id="17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Cheap track and trains</a:t>
            </a:r>
          </a:p>
        </p:txBody>
      </p:sp>
      <p:sp>
        <p:nvSpPr>
          <p:cNvPr id="3" name="Status chip" descr="Status tag: Agre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how track is made" descr="An iron plate and an iron rod arrow into a piece of two-rail track."/>
          <p:cNvGrpSpPr/>
          <p:nvPr/>
        </p:nvGrpSpPr>
        <p:grpSpPr>
          <a:xfrm>
            <a:off x="548640" y="1371600"/>
            <a:ext cx="5486400" cy="4069080"/>
            <a:chOff x="548640" y="1371600"/>
            <a:chExt cx="5486400" cy="4069080"/>
          </a:xfrm>
        </p:grpSpPr>
        <p:sp>
          <p:nvSpPr>
            <p:cNvPr id="5" name="Panel"/>
            <p:cNvSpPr/>
            <p:nvPr/>
          </p:nvSpPr>
          <p:spPr>
            <a:xfrm>
              <a:off x="548640" y="1371600"/>
              <a:ext cx="5486400" cy="4069080"/>
            </a:xfrm>
            <a:prstGeom prst="roundRect">
              <a:avLst>
                <a:gd name="adj" fmla="val 179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ron plate"/>
            <p:cNvSpPr/>
            <p:nvPr/>
          </p:nvSpPr>
          <p:spPr>
            <a:xfrm>
              <a:off x="914400" y="1691640"/>
              <a:ext cx="1554480" cy="1005840"/>
            </a:xfrm>
            <a:prstGeom prst="roundRect">
              <a:avLst>
                <a:gd name="adj" fmla="val 5454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Plate face"/>
            <p:cNvSpPr/>
            <p:nvPr/>
          </p:nvSpPr>
          <p:spPr>
            <a:xfrm>
              <a:off x="1005840" y="1783080"/>
              <a:ext cx="1371600" cy="822960"/>
            </a:xfrm>
            <a:prstGeom prst="roundRect">
              <a:avLst>
                <a:gd name="adj" fmla="val 4444"/>
              </a:avLst>
            </a:prstGeom>
            <a:solidFill>
              <a:srgbClr val="B8BEC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Rivet"/>
            <p:cNvSpPr/>
            <p:nvPr/>
          </p:nvSpPr>
          <p:spPr>
            <a:xfrm>
              <a:off x="1051560" y="1828800"/>
              <a:ext cx="91440" cy="9144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Rivet"/>
            <p:cNvSpPr/>
            <p:nvPr/>
          </p:nvSpPr>
          <p:spPr>
            <a:xfrm>
              <a:off x="2148840" y="1828800"/>
              <a:ext cx="91440" cy="9144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Rivet"/>
            <p:cNvSpPr/>
            <p:nvPr/>
          </p:nvSpPr>
          <p:spPr>
            <a:xfrm>
              <a:off x="1051560" y="2377440"/>
              <a:ext cx="91440" cy="9144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Rivet"/>
            <p:cNvSpPr/>
            <p:nvPr/>
          </p:nvSpPr>
          <p:spPr>
            <a:xfrm>
              <a:off x="2148840" y="2377440"/>
              <a:ext cx="91440" cy="9144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914400" y="2743200"/>
              <a:ext cx="155448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Iron plate</a:t>
              </a:r>
            </a:p>
          </p:txBody>
        </p:sp>
        <p:sp>
          <p:nvSpPr>
            <p:cNvPr id="13" name="Iron rod"/>
            <p:cNvSpPr/>
            <p:nvPr/>
          </p:nvSpPr>
          <p:spPr>
            <a:xfrm>
              <a:off x="914400" y="3657600"/>
              <a:ext cx="1554480" cy="146304"/>
            </a:xfrm>
            <a:prstGeom prst="roundRect">
              <a:avLst>
                <a:gd name="adj" fmla="val 50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Rod highlight"/>
            <p:cNvSpPr/>
            <p:nvPr/>
          </p:nvSpPr>
          <p:spPr>
            <a:xfrm>
              <a:off x="914400" y="3694176"/>
              <a:ext cx="1554480" cy="36576"/>
            </a:xfrm>
            <a:prstGeom prst="rect">
              <a:avLst/>
            </a:prstGeom>
            <a:solidFill>
              <a:srgbClr val="B8BEC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914400" y="3931920"/>
              <a:ext cx="155448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Iron rod</a:t>
              </a:r>
            </a:p>
          </p:txBody>
        </p:sp>
        <p:cxnSp>
          <p:nvCxnSpPr>
            <p:cNvPr id="16" name="Arrow plate"/>
            <p:cNvCxnSpPr/>
            <p:nvPr/>
          </p:nvCxnSpPr>
          <p:spPr>
            <a:xfrm>
              <a:off x="2651760" y="2194560"/>
              <a:ext cx="777240" cy="822960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cxnSp>
          <p:nvCxnSpPr>
            <p:cNvPr id="17" name="Arrow rod"/>
            <p:cNvCxnSpPr/>
            <p:nvPr/>
          </p:nvCxnSpPr>
          <p:spPr>
            <a:xfrm flipV="1">
              <a:off x="2651760" y="3429000"/>
              <a:ext cx="777240" cy="301752"/>
            </a:xfrm>
            <a:prstGeom prst="line">
              <a:avLst/>
            </a:prstGeom>
            <a:ln w="28575">
              <a:solidFill>
                <a:srgbClr val="F28C28"/>
              </a:solidFill>
              <a:tailEnd type="triangle" w="med" len="med"/>
            </a:ln>
          </p:spPr>
        </p:cxnSp>
        <p:sp>
          <p:nvSpPr>
            <p:cNvPr id="18" name="Sleeper"/>
            <p:cNvSpPr/>
            <p:nvPr/>
          </p:nvSpPr>
          <p:spPr>
            <a:xfrm>
              <a:off x="3611880" y="2825496"/>
              <a:ext cx="64008" cy="5486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3941064" y="2825496"/>
              <a:ext cx="64008" cy="5486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>
              <a:off x="4270248" y="2825496"/>
              <a:ext cx="64008" cy="5486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leeper"/>
            <p:cNvSpPr/>
            <p:nvPr/>
          </p:nvSpPr>
          <p:spPr>
            <a:xfrm>
              <a:off x="4599432" y="2825496"/>
              <a:ext cx="64008" cy="5486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leeper"/>
            <p:cNvSpPr/>
            <p:nvPr/>
          </p:nvSpPr>
          <p:spPr>
            <a:xfrm>
              <a:off x="4928616" y="2825496"/>
              <a:ext cx="64008" cy="5486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leeper"/>
            <p:cNvSpPr/>
            <p:nvPr/>
          </p:nvSpPr>
          <p:spPr>
            <a:xfrm>
              <a:off x="5257800" y="2825496"/>
              <a:ext cx="64008" cy="5486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leeper"/>
            <p:cNvSpPr/>
            <p:nvPr/>
          </p:nvSpPr>
          <p:spPr>
            <a:xfrm>
              <a:off x="5586984" y="2825496"/>
              <a:ext cx="64008" cy="54864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ail"/>
            <p:cNvSpPr/>
            <p:nvPr/>
          </p:nvSpPr>
          <p:spPr>
            <a:xfrm>
              <a:off x="3566160" y="2880360"/>
              <a:ext cx="210312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Rail"/>
            <p:cNvSpPr/>
            <p:nvPr/>
          </p:nvSpPr>
          <p:spPr>
            <a:xfrm>
              <a:off x="3566160" y="3264408"/>
              <a:ext cx="210312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3566160" y="3611880"/>
              <a:ext cx="210312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Track</a:t>
              </a:r>
            </a:p>
          </p:txBody>
        </p:sp>
        <p:sp>
          <p:nvSpPr>
            <p:cNvPr id="28" name="Inline chip: Exact recipes: undecided (OQ02)"/>
            <p:cNvSpPr/>
            <p:nvPr/>
          </p:nvSpPr>
          <p:spPr>
            <a:xfrm>
              <a:off x="822960" y="4846320"/>
              <a:ext cx="3097276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Exact recipes: undecided (OQ02)</a:t>
              </a:r>
            </a:p>
          </p:txBody>
        </p:sp>
      </p:grpSp>
      <p:grpSp>
        <p:nvGrpSpPr>
          <p:cNvPr id="29" name="Diagram: steam train and pricier electric train" descr="A steam train with a short coin stack beside an electric train with a tall coin stack: steam trains cost less."/>
          <p:cNvGrpSpPr/>
          <p:nvPr/>
        </p:nvGrpSpPr>
        <p:grpSpPr>
          <a:xfrm>
            <a:off x="6263640" y="1371600"/>
            <a:ext cx="5376672" cy="4069080"/>
            <a:chOff x="6263640" y="1371600"/>
            <a:chExt cx="5376672" cy="4069080"/>
          </a:xfrm>
        </p:grpSpPr>
        <p:sp>
          <p:nvSpPr>
            <p:cNvPr id="30" name="Panel"/>
            <p:cNvSpPr/>
            <p:nvPr/>
          </p:nvSpPr>
          <p:spPr>
            <a:xfrm>
              <a:off x="6263640" y="1371600"/>
              <a:ext cx="5376672" cy="4069080"/>
            </a:xfrm>
            <a:prstGeom prst="roundRect">
              <a:avLst>
                <a:gd name="adj" fmla="val 179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ootplate"/>
            <p:cNvSpPr/>
            <p:nvPr/>
          </p:nvSpPr>
          <p:spPr>
            <a:xfrm>
              <a:off x="6492240" y="2603754"/>
              <a:ext cx="1783080" cy="68580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oiler"/>
            <p:cNvSpPr/>
            <p:nvPr/>
          </p:nvSpPr>
          <p:spPr>
            <a:xfrm>
              <a:off x="7109460" y="2226564"/>
              <a:ext cx="1097280" cy="397764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Smokebox"/>
            <p:cNvSpPr/>
            <p:nvPr/>
          </p:nvSpPr>
          <p:spPr>
            <a:xfrm>
              <a:off x="8124444" y="2226564"/>
              <a:ext cx="96012" cy="39776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Chimney"/>
            <p:cNvSpPr/>
            <p:nvPr/>
          </p:nvSpPr>
          <p:spPr>
            <a:xfrm>
              <a:off x="8001000" y="2048256"/>
              <a:ext cx="89154" cy="19202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Chimney top"/>
            <p:cNvSpPr/>
            <p:nvPr/>
          </p:nvSpPr>
          <p:spPr>
            <a:xfrm>
              <a:off x="7966710" y="2020824"/>
              <a:ext cx="157734" cy="4114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ome"/>
            <p:cNvSpPr/>
            <p:nvPr/>
          </p:nvSpPr>
          <p:spPr>
            <a:xfrm>
              <a:off x="7520940" y="2130552"/>
              <a:ext cx="233172" cy="205740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Cab"/>
            <p:cNvSpPr/>
            <p:nvPr/>
          </p:nvSpPr>
          <p:spPr>
            <a:xfrm>
              <a:off x="6547104" y="2089404"/>
              <a:ext cx="617220" cy="534924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Cab roof"/>
            <p:cNvSpPr/>
            <p:nvPr/>
          </p:nvSpPr>
          <p:spPr>
            <a:xfrm>
              <a:off x="6505956" y="2034540"/>
              <a:ext cx="699516" cy="61722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ab window"/>
            <p:cNvSpPr/>
            <p:nvPr/>
          </p:nvSpPr>
          <p:spPr>
            <a:xfrm>
              <a:off x="6697980" y="2185416"/>
              <a:ext cx="274320" cy="19202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Wheel"/>
            <p:cNvSpPr/>
            <p:nvPr/>
          </p:nvSpPr>
          <p:spPr>
            <a:xfrm>
              <a:off x="6718554" y="2617470"/>
              <a:ext cx="301752" cy="30175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ub"/>
            <p:cNvSpPr/>
            <p:nvPr/>
          </p:nvSpPr>
          <p:spPr>
            <a:xfrm>
              <a:off x="6827185" y="2726101"/>
              <a:ext cx="84491" cy="84491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Wheel"/>
            <p:cNvSpPr/>
            <p:nvPr/>
          </p:nvSpPr>
          <p:spPr>
            <a:xfrm>
              <a:off x="7267194" y="2617470"/>
              <a:ext cx="301752" cy="30175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ub"/>
            <p:cNvSpPr/>
            <p:nvPr/>
          </p:nvSpPr>
          <p:spPr>
            <a:xfrm>
              <a:off x="7375825" y="2726101"/>
              <a:ext cx="84491" cy="84491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Wheel"/>
            <p:cNvSpPr/>
            <p:nvPr/>
          </p:nvSpPr>
          <p:spPr>
            <a:xfrm>
              <a:off x="7815834" y="2617470"/>
              <a:ext cx="301752" cy="30175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ub"/>
            <p:cNvSpPr/>
            <p:nvPr/>
          </p:nvSpPr>
          <p:spPr>
            <a:xfrm>
              <a:off x="7924465" y="2726101"/>
              <a:ext cx="84491" cy="84491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Coupling rod"/>
            <p:cNvCxnSpPr/>
            <p:nvPr/>
          </p:nvCxnSpPr>
          <p:spPr>
            <a:xfrm>
              <a:off x="6869430" y="2768346"/>
              <a:ext cx="1097280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47" name="Wagon"/>
            <p:cNvSpPr/>
            <p:nvPr/>
          </p:nvSpPr>
          <p:spPr>
            <a:xfrm>
              <a:off x="8330184" y="2350008"/>
              <a:ext cx="1028700" cy="42519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8" name="Connector 47"/>
            <p:cNvCxnSpPr/>
            <p:nvPr/>
          </p:nvCxnSpPr>
          <p:spPr>
            <a:xfrm>
              <a:off x="8587359" y="2377440"/>
              <a:ext cx="0" cy="370332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49" name="Connector 48"/>
            <p:cNvCxnSpPr/>
            <p:nvPr/>
          </p:nvCxnSpPr>
          <p:spPr>
            <a:xfrm>
              <a:off x="8844534" y="2377440"/>
              <a:ext cx="0" cy="370332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50" name="Connector 49"/>
            <p:cNvCxnSpPr/>
            <p:nvPr/>
          </p:nvCxnSpPr>
          <p:spPr>
            <a:xfrm>
              <a:off x="9101709" y="2377440"/>
              <a:ext cx="0" cy="370332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51" name="Wheel"/>
            <p:cNvSpPr/>
            <p:nvPr/>
          </p:nvSpPr>
          <p:spPr>
            <a:xfrm>
              <a:off x="8439912" y="2734056"/>
              <a:ext cx="192024" cy="19202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ub"/>
            <p:cNvSpPr/>
            <p:nvPr/>
          </p:nvSpPr>
          <p:spPr>
            <a:xfrm>
              <a:off x="8509041" y="2803185"/>
              <a:ext cx="53767" cy="5376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Wheel"/>
            <p:cNvSpPr/>
            <p:nvPr/>
          </p:nvSpPr>
          <p:spPr>
            <a:xfrm>
              <a:off x="9057132" y="2734056"/>
              <a:ext cx="192024" cy="19202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ub"/>
            <p:cNvSpPr/>
            <p:nvPr/>
          </p:nvSpPr>
          <p:spPr>
            <a:xfrm>
              <a:off x="9126261" y="2803185"/>
              <a:ext cx="53767" cy="5376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Wagon"/>
            <p:cNvSpPr/>
            <p:nvPr/>
          </p:nvSpPr>
          <p:spPr>
            <a:xfrm>
              <a:off x="9413748" y="2350008"/>
              <a:ext cx="1028700" cy="425196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6" name="Connector 55"/>
            <p:cNvCxnSpPr/>
            <p:nvPr/>
          </p:nvCxnSpPr>
          <p:spPr>
            <a:xfrm>
              <a:off x="9670923" y="2377440"/>
              <a:ext cx="0" cy="370332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57" name="Connector 56"/>
            <p:cNvCxnSpPr/>
            <p:nvPr/>
          </p:nvCxnSpPr>
          <p:spPr>
            <a:xfrm>
              <a:off x="9928098" y="2377440"/>
              <a:ext cx="0" cy="370332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58" name="Connector 57"/>
            <p:cNvCxnSpPr/>
            <p:nvPr/>
          </p:nvCxnSpPr>
          <p:spPr>
            <a:xfrm>
              <a:off x="10185273" y="2377440"/>
              <a:ext cx="0" cy="370332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59" name="Wheel"/>
            <p:cNvSpPr/>
            <p:nvPr/>
          </p:nvSpPr>
          <p:spPr>
            <a:xfrm>
              <a:off x="9523476" y="2734056"/>
              <a:ext cx="192024" cy="19202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Hub"/>
            <p:cNvSpPr/>
            <p:nvPr/>
          </p:nvSpPr>
          <p:spPr>
            <a:xfrm>
              <a:off x="9592605" y="2803185"/>
              <a:ext cx="53767" cy="5376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Wheel"/>
            <p:cNvSpPr/>
            <p:nvPr/>
          </p:nvSpPr>
          <p:spPr>
            <a:xfrm>
              <a:off x="10140696" y="2734056"/>
              <a:ext cx="192024" cy="19202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Hub"/>
            <p:cNvSpPr/>
            <p:nvPr/>
          </p:nvSpPr>
          <p:spPr>
            <a:xfrm>
              <a:off x="10209825" y="2803185"/>
              <a:ext cx="53767" cy="53767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Ground"/>
            <p:cNvSpPr/>
            <p:nvPr/>
          </p:nvSpPr>
          <p:spPr>
            <a:xfrm>
              <a:off x="6400800" y="2944368"/>
              <a:ext cx="4114800" cy="4572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TextBox 63"/>
            <p:cNvSpPr txBox="1"/>
            <p:nvPr/>
          </p:nvSpPr>
          <p:spPr>
            <a:xfrm>
              <a:off x="6492240" y="3063240"/>
              <a:ext cx="274320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Steam train</a:t>
              </a:r>
            </a:p>
          </p:txBody>
        </p:sp>
        <p:sp>
          <p:nvSpPr>
            <p:cNvPr id="65" name="Coin"/>
            <p:cNvSpPr/>
            <p:nvPr/>
          </p:nvSpPr>
          <p:spPr>
            <a:xfrm>
              <a:off x="10607040" y="2770632"/>
              <a:ext cx="777240" cy="155448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Coin"/>
            <p:cNvSpPr/>
            <p:nvPr/>
          </p:nvSpPr>
          <p:spPr>
            <a:xfrm>
              <a:off x="10607040" y="2615184"/>
              <a:ext cx="777240" cy="155448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7" name="Divider"/>
            <p:cNvCxnSpPr/>
            <p:nvPr/>
          </p:nvCxnSpPr>
          <p:spPr>
            <a:xfrm>
              <a:off x="6400800" y="3657600"/>
              <a:ext cx="5029200" cy="0"/>
            </a:xfrm>
            <a:prstGeom prst="line">
              <a:avLst/>
            </a:prstGeom>
            <a:ln w="19050">
              <a:solidFill>
                <a:srgbClr val="4A515B"/>
              </a:solidFill>
            </a:ln>
          </p:spPr>
        </p:cxnSp>
        <p:sp>
          <p:nvSpPr>
            <p:cNvPr id="68" name="Electric car"/>
            <p:cNvSpPr/>
            <p:nvPr/>
          </p:nvSpPr>
          <p:spPr>
            <a:xfrm>
              <a:off x="6492240" y="3931920"/>
              <a:ext cx="1645920" cy="562356"/>
            </a:xfrm>
            <a:prstGeom prst="roundRect">
              <a:avLst>
                <a:gd name="adj" fmla="val 30487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Windows"/>
            <p:cNvSpPr/>
            <p:nvPr/>
          </p:nvSpPr>
          <p:spPr>
            <a:xfrm>
              <a:off x="6629400" y="4055364"/>
              <a:ext cx="1303020" cy="17830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Electric car"/>
            <p:cNvSpPr/>
            <p:nvPr/>
          </p:nvSpPr>
          <p:spPr>
            <a:xfrm>
              <a:off x="8193024" y="3931920"/>
              <a:ext cx="1645920" cy="562356"/>
            </a:xfrm>
            <a:prstGeom prst="roundRect">
              <a:avLst>
                <a:gd name="adj" fmla="val 30487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Windows"/>
            <p:cNvSpPr/>
            <p:nvPr/>
          </p:nvSpPr>
          <p:spPr>
            <a:xfrm>
              <a:off x="8330184" y="4055364"/>
              <a:ext cx="1303020" cy="17830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Monorail beam"/>
            <p:cNvSpPr/>
            <p:nvPr/>
          </p:nvSpPr>
          <p:spPr>
            <a:xfrm>
              <a:off x="6423660" y="4549140"/>
              <a:ext cx="3483864" cy="96012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Pylon"/>
            <p:cNvSpPr/>
            <p:nvPr/>
          </p:nvSpPr>
          <p:spPr>
            <a:xfrm>
              <a:off x="6858000" y="4645152"/>
              <a:ext cx="82296" cy="15087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Pylon"/>
            <p:cNvSpPr/>
            <p:nvPr/>
          </p:nvSpPr>
          <p:spPr>
            <a:xfrm>
              <a:off x="9381744" y="4645152"/>
              <a:ext cx="82296" cy="15087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TextBox 74"/>
            <p:cNvSpPr txBox="1"/>
            <p:nvPr/>
          </p:nvSpPr>
          <p:spPr>
            <a:xfrm>
              <a:off x="6492240" y="4937760"/>
              <a:ext cx="274320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Electric train</a:t>
              </a:r>
            </a:p>
          </p:txBody>
        </p:sp>
        <p:sp>
          <p:nvSpPr>
            <p:cNvPr id="76" name="Coin"/>
            <p:cNvSpPr/>
            <p:nvPr/>
          </p:nvSpPr>
          <p:spPr>
            <a:xfrm>
              <a:off x="10607040" y="4553712"/>
              <a:ext cx="777240" cy="155448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Coin"/>
            <p:cNvSpPr/>
            <p:nvPr/>
          </p:nvSpPr>
          <p:spPr>
            <a:xfrm>
              <a:off x="10607040" y="4398264"/>
              <a:ext cx="777240" cy="155448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Coin"/>
            <p:cNvSpPr/>
            <p:nvPr/>
          </p:nvSpPr>
          <p:spPr>
            <a:xfrm>
              <a:off x="10607040" y="4242816"/>
              <a:ext cx="777240" cy="155448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Coin"/>
            <p:cNvSpPr/>
            <p:nvPr/>
          </p:nvSpPr>
          <p:spPr>
            <a:xfrm>
              <a:off x="10607040" y="4087368"/>
              <a:ext cx="777240" cy="155448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Coin"/>
            <p:cNvSpPr/>
            <p:nvPr/>
          </p:nvSpPr>
          <p:spPr>
            <a:xfrm>
              <a:off x="10607040" y="3931920"/>
              <a:ext cx="777240" cy="155448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1" name="Caption" descr="Caption: Track is made from iron plates and rods. Trains cost less than the game's own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82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Track is made from iron plates and rods. Trains cost less than the game's own.</a:t>
              </a:r>
            </a:p>
          </p:txBody>
        </p:sp>
      </p:grpSp>
      <p:sp>
        <p:nvSpPr>
          <p:cNvPr id="85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Long pieces, few clicks</a:t>
            </a:r>
          </a:p>
        </p:txBody>
      </p:sp>
      <p:sp>
        <p:nvSpPr>
          <p:cNvPr id="3" name="Status chip" descr="Status tag: Agre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one long track piece" descr="One long curved piece of track in a single placement."/>
          <p:cNvGrpSpPr/>
          <p:nvPr/>
        </p:nvGrpSpPr>
        <p:grpSpPr>
          <a:xfrm>
            <a:off x="548640" y="1371600"/>
            <a:ext cx="5394960" cy="4069080"/>
            <a:chOff x="548640" y="1371600"/>
            <a:chExt cx="5394960" cy="4069080"/>
          </a:xfrm>
        </p:grpSpPr>
        <p:sp>
          <p:nvSpPr>
            <p:cNvPr id="5" name="Panel"/>
            <p:cNvSpPr/>
            <p:nvPr/>
          </p:nvSpPr>
          <p:spPr>
            <a:xfrm>
              <a:off x="548640" y="1371600"/>
              <a:ext cx="5394960" cy="4069080"/>
            </a:xfrm>
            <a:prstGeom prst="roundRect">
              <a:avLst>
                <a:gd name="adj" fmla="val 179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leeper"/>
            <p:cNvSpPr/>
            <p:nvPr/>
          </p:nvSpPr>
          <p:spPr>
            <a:xfrm rot="17292000">
              <a:off x="1810627" y="4365796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 rot="17556000">
              <a:off x="1920747" y="4069694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 rot="17688000">
              <a:off x="2053258" y="3782912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 rot="17952000">
              <a:off x="2207381" y="3507142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 rot="18216000">
              <a:off x="2382207" y="3244008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 rot="18612000">
              <a:off x="2576704" y="2995063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 rot="18744000">
              <a:off x="2789727" y="2761773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 rot="19008000">
              <a:off x="3020020" y="2545513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 rot="19404000">
              <a:off x="3266226" y="2347559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 rot="19536000">
              <a:off x="3526893" y="2169076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 rot="19800000">
              <a:off x="3800484" y="2011118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 rot="20196000">
              <a:off x="4085388" y="1874615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 rot="20328000">
              <a:off x="4379924" y="1760372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 rot="20592000">
              <a:off x="4682357" y="1669062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 rot="20856000">
              <a:off x="4990904" y="1601224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Rail"/>
            <p:cNvSpPr/>
            <p:nvPr/>
          </p:nvSpPr>
          <p:spPr>
            <a:xfrm>
              <a:off x="1656744" y="1715353"/>
              <a:ext cx="3506721" cy="3048346"/>
            </a:xfrm>
            <a:custGeom>
              <a:avLst/>
              <a:gdLst/>
              <a:ahLst/>
              <a:cxnLst/>
              <a:rect l="l" t="t" r="r" b="b"/>
              <a:pathLst>
                <a:path w="3506721" h="3048346">
                  <a:moveTo>
                    <a:pt x="0" y="3048346"/>
                  </a:moveTo>
                  <a:lnTo>
                    <a:pt x="47360" y="2894499"/>
                  </a:lnTo>
                  <a:lnTo>
                    <a:pt x="101549" y="2739758"/>
                  </a:lnTo>
                  <a:lnTo>
                    <a:pt x="161639" y="2587211"/>
                  </a:lnTo>
                  <a:lnTo>
                    <a:pt x="227541" y="2437083"/>
                  </a:lnTo>
                  <a:lnTo>
                    <a:pt x="299157" y="2289595"/>
                  </a:lnTo>
                  <a:lnTo>
                    <a:pt x="376382" y="2144965"/>
                  </a:lnTo>
                  <a:lnTo>
                    <a:pt x="459102" y="2003407"/>
                  </a:lnTo>
                  <a:lnTo>
                    <a:pt x="547196" y="1865128"/>
                  </a:lnTo>
                  <a:lnTo>
                    <a:pt x="640532" y="1730333"/>
                  </a:lnTo>
                  <a:lnTo>
                    <a:pt x="738975" y="1599220"/>
                  </a:lnTo>
                  <a:lnTo>
                    <a:pt x="842378" y="1471983"/>
                  </a:lnTo>
                  <a:lnTo>
                    <a:pt x="950589" y="1348809"/>
                  </a:lnTo>
                  <a:lnTo>
                    <a:pt x="1063448" y="1229879"/>
                  </a:lnTo>
                  <a:lnTo>
                    <a:pt x="1180790" y="1115370"/>
                  </a:lnTo>
                  <a:lnTo>
                    <a:pt x="1302441" y="1005450"/>
                  </a:lnTo>
                  <a:lnTo>
                    <a:pt x="1428222" y="900281"/>
                  </a:lnTo>
                  <a:lnTo>
                    <a:pt x="1557948" y="800017"/>
                  </a:lnTo>
                  <a:lnTo>
                    <a:pt x="1691427" y="704808"/>
                  </a:lnTo>
                  <a:lnTo>
                    <a:pt x="1828462" y="614792"/>
                  </a:lnTo>
                  <a:lnTo>
                    <a:pt x="1968852" y="530104"/>
                  </a:lnTo>
                  <a:lnTo>
                    <a:pt x="2112389" y="450867"/>
                  </a:lnTo>
                  <a:lnTo>
                    <a:pt x="2258863" y="377198"/>
                  </a:lnTo>
                  <a:lnTo>
                    <a:pt x="2408056" y="309207"/>
                  </a:lnTo>
                  <a:lnTo>
                    <a:pt x="2559749" y="246993"/>
                  </a:lnTo>
                  <a:lnTo>
                    <a:pt x="2713719" y="190648"/>
                  </a:lnTo>
                  <a:lnTo>
                    <a:pt x="2869739" y="140255"/>
                  </a:lnTo>
                  <a:lnTo>
                    <a:pt x="3027577" y="95889"/>
                  </a:lnTo>
                  <a:lnTo>
                    <a:pt x="3187003" y="57614"/>
                  </a:lnTo>
                  <a:lnTo>
                    <a:pt x="3347780" y="25488"/>
                  </a:lnTo>
                  <a:lnTo>
                    <a:pt x="3506721" y="0"/>
                  </a:lnTo>
                </a:path>
              </a:pathLst>
            </a:custGeom>
            <a:noFill/>
            <a:ln w="317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Rail"/>
            <p:cNvSpPr/>
            <p:nvPr/>
          </p:nvSpPr>
          <p:spPr>
            <a:xfrm>
              <a:off x="1953896" y="2022336"/>
              <a:ext cx="3258740" cy="2832779"/>
            </a:xfrm>
            <a:custGeom>
              <a:avLst/>
              <a:gdLst/>
              <a:ahLst/>
              <a:cxnLst/>
              <a:rect l="l" t="t" r="r" b="b"/>
              <a:pathLst>
                <a:path w="3258740" h="2832779">
                  <a:moveTo>
                    <a:pt x="0" y="2832779"/>
                  </a:moveTo>
                  <a:lnTo>
                    <a:pt x="45550" y="2684620"/>
                  </a:lnTo>
                  <a:lnTo>
                    <a:pt x="95795" y="2541145"/>
                  </a:lnTo>
                  <a:lnTo>
                    <a:pt x="151510" y="2399704"/>
                  </a:lnTo>
                  <a:lnTo>
                    <a:pt x="212613" y="2260506"/>
                  </a:lnTo>
                  <a:lnTo>
                    <a:pt x="279016" y="2123756"/>
                  </a:lnTo>
                  <a:lnTo>
                    <a:pt x="350618" y="1989656"/>
                  </a:lnTo>
                  <a:lnTo>
                    <a:pt x="427316" y="1858403"/>
                  </a:lnTo>
                  <a:lnTo>
                    <a:pt x="508996" y="1730192"/>
                  </a:lnTo>
                  <a:lnTo>
                    <a:pt x="595537" y="1605211"/>
                  </a:lnTo>
                  <a:lnTo>
                    <a:pt x="686812" y="1483644"/>
                  </a:lnTo>
                  <a:lnTo>
                    <a:pt x="782687" y="1365670"/>
                  </a:lnTo>
                  <a:lnTo>
                    <a:pt x="883019" y="1251463"/>
                  </a:lnTo>
                  <a:lnTo>
                    <a:pt x="987662" y="1141193"/>
                  </a:lnTo>
                  <a:lnTo>
                    <a:pt x="1096461" y="1035021"/>
                  </a:lnTo>
                  <a:lnTo>
                    <a:pt x="1209255" y="933103"/>
                  </a:lnTo>
                  <a:lnTo>
                    <a:pt x="1325879" y="835591"/>
                  </a:lnTo>
                  <a:lnTo>
                    <a:pt x="1446160" y="742627"/>
                  </a:lnTo>
                  <a:lnTo>
                    <a:pt x="1569921" y="654349"/>
                  </a:lnTo>
                  <a:lnTo>
                    <a:pt x="1696979" y="570887"/>
                  </a:lnTo>
                  <a:lnTo>
                    <a:pt x="1827148" y="492365"/>
                  </a:lnTo>
                  <a:lnTo>
                    <a:pt x="1960235" y="418897"/>
                  </a:lnTo>
                  <a:lnTo>
                    <a:pt x="2096044" y="350592"/>
                  </a:lnTo>
                  <a:lnTo>
                    <a:pt x="2234376" y="287550"/>
                  </a:lnTo>
                  <a:lnTo>
                    <a:pt x="2375025" y="229866"/>
                  </a:lnTo>
                  <a:lnTo>
                    <a:pt x="2517785" y="177623"/>
                  </a:lnTo>
                  <a:lnTo>
                    <a:pt x="2662445" y="130899"/>
                  </a:lnTo>
                  <a:lnTo>
                    <a:pt x="2808793" y="89763"/>
                  </a:lnTo>
                  <a:lnTo>
                    <a:pt x="2956611" y="54275"/>
                  </a:lnTo>
                  <a:lnTo>
                    <a:pt x="3105683" y="24487"/>
                  </a:lnTo>
                  <a:lnTo>
                    <a:pt x="3258740" y="0"/>
                  </a:lnTo>
                </a:path>
              </a:pathLst>
            </a:custGeom>
            <a:noFill/>
            <a:ln w="317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22960" y="4983480"/>
              <a:ext cx="292608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One long piece</a:t>
              </a:r>
            </a:p>
          </p:txBody>
        </p:sp>
      </p:grpSp>
      <p:grpSp>
        <p:nvGrpSpPr>
          <p:cNvPr id="24" name="Diagram: many short pieces crossed out" descr="A pile of many short pieces of track with a red cross over it: not needed."/>
          <p:cNvGrpSpPr/>
          <p:nvPr/>
        </p:nvGrpSpPr>
        <p:grpSpPr>
          <a:xfrm>
            <a:off x="6263640" y="1371600"/>
            <a:ext cx="5376672" cy="4069080"/>
            <a:chOff x="6263640" y="1371600"/>
            <a:chExt cx="5376672" cy="4069080"/>
          </a:xfrm>
        </p:grpSpPr>
        <p:sp>
          <p:nvSpPr>
            <p:cNvPr id="25" name="Panel"/>
            <p:cNvSpPr/>
            <p:nvPr/>
          </p:nvSpPr>
          <p:spPr>
            <a:xfrm>
              <a:off x="6263640" y="1371600"/>
              <a:ext cx="5376672" cy="4069080"/>
            </a:xfrm>
            <a:prstGeom prst="roundRect">
              <a:avLst>
                <a:gd name="adj" fmla="val 179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leeper"/>
            <p:cNvSpPr/>
            <p:nvPr/>
          </p:nvSpPr>
          <p:spPr>
            <a:xfrm>
              <a:off x="717804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Sleeper"/>
            <p:cNvSpPr/>
            <p:nvPr/>
          </p:nvSpPr>
          <p:spPr>
            <a:xfrm>
              <a:off x="745236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leeper"/>
            <p:cNvSpPr/>
            <p:nvPr/>
          </p:nvSpPr>
          <p:spPr>
            <a:xfrm>
              <a:off x="772668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Sleeper"/>
            <p:cNvSpPr/>
            <p:nvPr/>
          </p:nvSpPr>
          <p:spPr>
            <a:xfrm>
              <a:off x="800100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Sleeper"/>
            <p:cNvSpPr/>
            <p:nvPr/>
          </p:nvSpPr>
          <p:spPr>
            <a:xfrm>
              <a:off x="827532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Sleeper"/>
            <p:cNvSpPr/>
            <p:nvPr/>
          </p:nvSpPr>
          <p:spPr>
            <a:xfrm>
              <a:off x="854964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Sleeper"/>
            <p:cNvSpPr/>
            <p:nvPr/>
          </p:nvSpPr>
          <p:spPr>
            <a:xfrm>
              <a:off x="882396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Sleeper"/>
            <p:cNvSpPr/>
            <p:nvPr/>
          </p:nvSpPr>
          <p:spPr>
            <a:xfrm>
              <a:off x="909828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Sleeper"/>
            <p:cNvSpPr/>
            <p:nvPr/>
          </p:nvSpPr>
          <p:spPr>
            <a:xfrm>
              <a:off x="937260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Sleeper"/>
            <p:cNvSpPr/>
            <p:nvPr/>
          </p:nvSpPr>
          <p:spPr>
            <a:xfrm>
              <a:off x="9646920" y="1636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Rail"/>
            <p:cNvSpPr/>
            <p:nvPr/>
          </p:nvSpPr>
          <p:spPr>
            <a:xfrm>
              <a:off x="7132320" y="1691640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Rail"/>
            <p:cNvSpPr/>
            <p:nvPr/>
          </p:nvSpPr>
          <p:spPr>
            <a:xfrm>
              <a:off x="7132320" y="1892808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Sleeper"/>
            <p:cNvSpPr/>
            <p:nvPr/>
          </p:nvSpPr>
          <p:spPr>
            <a:xfrm>
              <a:off x="749808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Sleeper"/>
            <p:cNvSpPr/>
            <p:nvPr/>
          </p:nvSpPr>
          <p:spPr>
            <a:xfrm>
              <a:off x="777240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Sleeper"/>
            <p:cNvSpPr/>
            <p:nvPr/>
          </p:nvSpPr>
          <p:spPr>
            <a:xfrm>
              <a:off x="804672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Sleeper"/>
            <p:cNvSpPr/>
            <p:nvPr/>
          </p:nvSpPr>
          <p:spPr>
            <a:xfrm>
              <a:off x="832104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Sleeper"/>
            <p:cNvSpPr/>
            <p:nvPr/>
          </p:nvSpPr>
          <p:spPr>
            <a:xfrm>
              <a:off x="859536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Sleeper"/>
            <p:cNvSpPr/>
            <p:nvPr/>
          </p:nvSpPr>
          <p:spPr>
            <a:xfrm>
              <a:off x="886968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Sleeper"/>
            <p:cNvSpPr/>
            <p:nvPr/>
          </p:nvSpPr>
          <p:spPr>
            <a:xfrm>
              <a:off x="914400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Sleeper"/>
            <p:cNvSpPr/>
            <p:nvPr/>
          </p:nvSpPr>
          <p:spPr>
            <a:xfrm>
              <a:off x="941832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Sleeper"/>
            <p:cNvSpPr/>
            <p:nvPr/>
          </p:nvSpPr>
          <p:spPr>
            <a:xfrm>
              <a:off x="969264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Sleeper"/>
            <p:cNvSpPr/>
            <p:nvPr/>
          </p:nvSpPr>
          <p:spPr>
            <a:xfrm>
              <a:off x="9966960" y="20939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Rail"/>
            <p:cNvSpPr/>
            <p:nvPr/>
          </p:nvSpPr>
          <p:spPr>
            <a:xfrm>
              <a:off x="7452360" y="2148840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ail"/>
            <p:cNvSpPr/>
            <p:nvPr/>
          </p:nvSpPr>
          <p:spPr>
            <a:xfrm>
              <a:off x="7452360" y="2350008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Sleeper"/>
            <p:cNvSpPr/>
            <p:nvPr/>
          </p:nvSpPr>
          <p:spPr>
            <a:xfrm>
              <a:off x="717804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Sleeper"/>
            <p:cNvSpPr/>
            <p:nvPr/>
          </p:nvSpPr>
          <p:spPr>
            <a:xfrm>
              <a:off x="745236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Sleeper"/>
            <p:cNvSpPr/>
            <p:nvPr/>
          </p:nvSpPr>
          <p:spPr>
            <a:xfrm>
              <a:off x="772668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Sleeper"/>
            <p:cNvSpPr/>
            <p:nvPr/>
          </p:nvSpPr>
          <p:spPr>
            <a:xfrm>
              <a:off x="800100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Sleeper"/>
            <p:cNvSpPr/>
            <p:nvPr/>
          </p:nvSpPr>
          <p:spPr>
            <a:xfrm>
              <a:off x="827532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Sleeper"/>
            <p:cNvSpPr/>
            <p:nvPr/>
          </p:nvSpPr>
          <p:spPr>
            <a:xfrm>
              <a:off x="854964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Sleeper"/>
            <p:cNvSpPr/>
            <p:nvPr/>
          </p:nvSpPr>
          <p:spPr>
            <a:xfrm>
              <a:off x="882396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Sleeper"/>
            <p:cNvSpPr/>
            <p:nvPr/>
          </p:nvSpPr>
          <p:spPr>
            <a:xfrm>
              <a:off x="909828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Sleeper"/>
            <p:cNvSpPr/>
            <p:nvPr/>
          </p:nvSpPr>
          <p:spPr>
            <a:xfrm>
              <a:off x="937260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Sleeper"/>
            <p:cNvSpPr/>
            <p:nvPr/>
          </p:nvSpPr>
          <p:spPr>
            <a:xfrm>
              <a:off x="9646920" y="25511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Rail"/>
            <p:cNvSpPr/>
            <p:nvPr/>
          </p:nvSpPr>
          <p:spPr>
            <a:xfrm>
              <a:off x="7132320" y="2606040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Rail"/>
            <p:cNvSpPr/>
            <p:nvPr/>
          </p:nvSpPr>
          <p:spPr>
            <a:xfrm>
              <a:off x="7132320" y="2807208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Sleeper"/>
            <p:cNvSpPr/>
            <p:nvPr/>
          </p:nvSpPr>
          <p:spPr>
            <a:xfrm>
              <a:off x="749808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Sleeper"/>
            <p:cNvSpPr/>
            <p:nvPr/>
          </p:nvSpPr>
          <p:spPr>
            <a:xfrm>
              <a:off x="777240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Sleeper"/>
            <p:cNvSpPr/>
            <p:nvPr/>
          </p:nvSpPr>
          <p:spPr>
            <a:xfrm>
              <a:off x="804672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Sleeper"/>
            <p:cNvSpPr/>
            <p:nvPr/>
          </p:nvSpPr>
          <p:spPr>
            <a:xfrm>
              <a:off x="832104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Sleeper"/>
            <p:cNvSpPr/>
            <p:nvPr/>
          </p:nvSpPr>
          <p:spPr>
            <a:xfrm>
              <a:off x="859536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Sleeper"/>
            <p:cNvSpPr/>
            <p:nvPr/>
          </p:nvSpPr>
          <p:spPr>
            <a:xfrm>
              <a:off x="886968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Sleeper"/>
            <p:cNvSpPr/>
            <p:nvPr/>
          </p:nvSpPr>
          <p:spPr>
            <a:xfrm>
              <a:off x="914400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Sleeper"/>
            <p:cNvSpPr/>
            <p:nvPr/>
          </p:nvSpPr>
          <p:spPr>
            <a:xfrm>
              <a:off x="941832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Sleeper"/>
            <p:cNvSpPr/>
            <p:nvPr/>
          </p:nvSpPr>
          <p:spPr>
            <a:xfrm>
              <a:off x="969264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Sleeper"/>
            <p:cNvSpPr/>
            <p:nvPr/>
          </p:nvSpPr>
          <p:spPr>
            <a:xfrm>
              <a:off x="9966960" y="30083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Rail"/>
            <p:cNvSpPr/>
            <p:nvPr/>
          </p:nvSpPr>
          <p:spPr>
            <a:xfrm>
              <a:off x="7452360" y="3063240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Rail"/>
            <p:cNvSpPr/>
            <p:nvPr/>
          </p:nvSpPr>
          <p:spPr>
            <a:xfrm>
              <a:off x="7452360" y="3264408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Sleeper"/>
            <p:cNvSpPr/>
            <p:nvPr/>
          </p:nvSpPr>
          <p:spPr>
            <a:xfrm>
              <a:off x="717804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Sleeper"/>
            <p:cNvSpPr/>
            <p:nvPr/>
          </p:nvSpPr>
          <p:spPr>
            <a:xfrm>
              <a:off x="745236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Sleeper"/>
            <p:cNvSpPr/>
            <p:nvPr/>
          </p:nvSpPr>
          <p:spPr>
            <a:xfrm>
              <a:off x="772668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Sleeper"/>
            <p:cNvSpPr/>
            <p:nvPr/>
          </p:nvSpPr>
          <p:spPr>
            <a:xfrm>
              <a:off x="800100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Sleeper"/>
            <p:cNvSpPr/>
            <p:nvPr/>
          </p:nvSpPr>
          <p:spPr>
            <a:xfrm>
              <a:off x="827532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Sleeper"/>
            <p:cNvSpPr/>
            <p:nvPr/>
          </p:nvSpPr>
          <p:spPr>
            <a:xfrm>
              <a:off x="854964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Sleeper"/>
            <p:cNvSpPr/>
            <p:nvPr/>
          </p:nvSpPr>
          <p:spPr>
            <a:xfrm>
              <a:off x="882396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Sleeper"/>
            <p:cNvSpPr/>
            <p:nvPr/>
          </p:nvSpPr>
          <p:spPr>
            <a:xfrm>
              <a:off x="909828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Sleeper"/>
            <p:cNvSpPr/>
            <p:nvPr/>
          </p:nvSpPr>
          <p:spPr>
            <a:xfrm>
              <a:off x="937260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3" name="Sleeper"/>
            <p:cNvSpPr/>
            <p:nvPr/>
          </p:nvSpPr>
          <p:spPr>
            <a:xfrm>
              <a:off x="9646920" y="34655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4" name="Rail"/>
            <p:cNvSpPr/>
            <p:nvPr/>
          </p:nvSpPr>
          <p:spPr>
            <a:xfrm>
              <a:off x="7132320" y="3520440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Rail"/>
            <p:cNvSpPr/>
            <p:nvPr/>
          </p:nvSpPr>
          <p:spPr>
            <a:xfrm>
              <a:off x="7132320" y="3721608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Sleeper"/>
            <p:cNvSpPr/>
            <p:nvPr/>
          </p:nvSpPr>
          <p:spPr>
            <a:xfrm>
              <a:off x="749808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Sleeper"/>
            <p:cNvSpPr/>
            <p:nvPr/>
          </p:nvSpPr>
          <p:spPr>
            <a:xfrm>
              <a:off x="777240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Sleeper"/>
            <p:cNvSpPr/>
            <p:nvPr/>
          </p:nvSpPr>
          <p:spPr>
            <a:xfrm>
              <a:off x="804672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9" name="Sleeper"/>
            <p:cNvSpPr/>
            <p:nvPr/>
          </p:nvSpPr>
          <p:spPr>
            <a:xfrm>
              <a:off x="832104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0" name="Sleeper"/>
            <p:cNvSpPr/>
            <p:nvPr/>
          </p:nvSpPr>
          <p:spPr>
            <a:xfrm>
              <a:off x="859536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1" name="Sleeper"/>
            <p:cNvSpPr/>
            <p:nvPr/>
          </p:nvSpPr>
          <p:spPr>
            <a:xfrm>
              <a:off x="886968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2" name="Sleeper"/>
            <p:cNvSpPr/>
            <p:nvPr/>
          </p:nvSpPr>
          <p:spPr>
            <a:xfrm>
              <a:off x="914400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Sleeper"/>
            <p:cNvSpPr/>
            <p:nvPr/>
          </p:nvSpPr>
          <p:spPr>
            <a:xfrm>
              <a:off x="941832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Sleeper"/>
            <p:cNvSpPr/>
            <p:nvPr/>
          </p:nvSpPr>
          <p:spPr>
            <a:xfrm>
              <a:off x="969264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Sleeper"/>
            <p:cNvSpPr/>
            <p:nvPr/>
          </p:nvSpPr>
          <p:spPr>
            <a:xfrm>
              <a:off x="9966960" y="3922776"/>
              <a:ext cx="64008" cy="365760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Rail"/>
            <p:cNvSpPr/>
            <p:nvPr/>
          </p:nvSpPr>
          <p:spPr>
            <a:xfrm>
              <a:off x="7452360" y="3977640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7" name="Rail"/>
            <p:cNvSpPr/>
            <p:nvPr/>
          </p:nvSpPr>
          <p:spPr>
            <a:xfrm>
              <a:off x="7452360" y="4178808"/>
              <a:ext cx="246888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8" name="Cross"/>
            <p:cNvCxnSpPr/>
            <p:nvPr/>
          </p:nvCxnSpPr>
          <p:spPr>
            <a:xfrm>
              <a:off x="7543800" y="2057400"/>
              <a:ext cx="2377440" cy="2377440"/>
            </a:xfrm>
            <a:prstGeom prst="line">
              <a:avLst/>
            </a:prstGeom>
            <a:ln w="101600">
              <a:solidFill>
                <a:srgbClr val="E5484D"/>
              </a:solidFill>
            </a:ln>
          </p:spPr>
        </p:cxnSp>
        <p:cxnSp>
          <p:nvCxnSpPr>
            <p:cNvPr id="99" name="Cross"/>
            <p:cNvCxnSpPr/>
            <p:nvPr/>
          </p:nvCxnSpPr>
          <p:spPr>
            <a:xfrm flipV="1">
              <a:off x="7543800" y="2057400"/>
              <a:ext cx="2377440" cy="2377440"/>
            </a:xfrm>
            <a:prstGeom prst="line">
              <a:avLst/>
            </a:prstGeom>
            <a:ln w="101600">
              <a:solidFill>
                <a:srgbClr val="E5484D"/>
              </a:solidFill>
            </a:ln>
          </p:spPr>
        </p:cxnSp>
        <p:sp>
          <p:nvSpPr>
            <p:cNvPr id="100" name="TextBox 99"/>
            <p:cNvSpPr txBox="1"/>
            <p:nvPr/>
          </p:nvSpPr>
          <p:spPr>
            <a:xfrm>
              <a:off x="6492240" y="4983480"/>
              <a:ext cx="310896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Many short pieces</a:t>
              </a:r>
            </a:p>
          </p:txBody>
        </p:sp>
      </p:grpSp>
      <p:grpSp>
        <p:nvGrpSpPr>
          <p:cNvPr id="101" name="Caption" descr="Caption: Track can be laid in long pieces. The challenge is the trains, not the clicking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102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Track can be laid in long pieces. The challenge is the trains, not the clicking.</a:t>
              </a:r>
            </a:p>
          </p:txBody>
        </p:sp>
      </p:grpSp>
      <p:sp>
        <p:nvSpPr>
          <p:cNvPr id="105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A 150 metre experiment</a:t>
            </a:r>
          </a:p>
        </p:txBody>
      </p:sp>
      <p:sp>
        <p:nvSpPr>
          <p:cNvPr id="3" name="Status chip" descr="Status tag: Propos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Diagram: a ruler along a curved track" descr="A ruler marked 150 m laid along a curved piece of track, with a question mark: the limit is only an experiment."/>
          <p:cNvGrpSpPr/>
          <p:nvPr/>
        </p:nvGrpSpPr>
        <p:grpSpPr>
          <a:xfrm>
            <a:off x="548640" y="1371600"/>
            <a:ext cx="11091672" cy="4069080"/>
            <a:chOff x="548640" y="1371600"/>
            <a:chExt cx="11091672" cy="4069080"/>
          </a:xfrm>
        </p:grpSpPr>
        <p:sp>
          <p:nvSpPr>
            <p:cNvPr id="5" name="Panel"/>
            <p:cNvSpPr/>
            <p:nvPr/>
          </p:nvSpPr>
          <p:spPr>
            <a:xfrm>
              <a:off x="548640" y="1371600"/>
              <a:ext cx="11091672" cy="4069080"/>
            </a:xfrm>
            <a:prstGeom prst="roundRect">
              <a:avLst>
                <a:gd name="adj" fmla="val 179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leeper"/>
            <p:cNvSpPr/>
            <p:nvPr/>
          </p:nvSpPr>
          <p:spPr>
            <a:xfrm rot="19616667">
              <a:off x="2540711" y="2902073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leeper"/>
            <p:cNvSpPr/>
            <p:nvPr/>
          </p:nvSpPr>
          <p:spPr>
            <a:xfrm rot="19786667">
              <a:off x="2786279" y="2751698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leeper"/>
            <p:cNvSpPr/>
            <p:nvPr/>
          </p:nvSpPr>
          <p:spPr>
            <a:xfrm rot="19900000">
              <a:off x="3038984" y="2613643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leeper"/>
            <p:cNvSpPr/>
            <p:nvPr/>
          </p:nvSpPr>
          <p:spPr>
            <a:xfrm rot="20013333">
              <a:off x="3297276" y="2486354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leeper"/>
            <p:cNvSpPr/>
            <p:nvPr/>
          </p:nvSpPr>
          <p:spPr>
            <a:xfrm rot="20240000">
              <a:off x="3561329" y="2371507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leeper"/>
            <p:cNvSpPr/>
            <p:nvPr/>
          </p:nvSpPr>
          <p:spPr>
            <a:xfrm rot="20353333">
              <a:off x="3830366" y="2268865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leeper"/>
            <p:cNvSpPr/>
            <p:nvPr/>
          </p:nvSpPr>
          <p:spPr>
            <a:xfrm rot="20580000">
              <a:off x="4103494" y="2177641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leeper"/>
            <p:cNvSpPr/>
            <p:nvPr/>
          </p:nvSpPr>
          <p:spPr>
            <a:xfrm rot="20693333">
              <a:off x="4380939" y="2100538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leeper"/>
            <p:cNvSpPr/>
            <p:nvPr/>
          </p:nvSpPr>
          <p:spPr>
            <a:xfrm rot="20806667">
              <a:off x="4661377" y="2035188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leeper"/>
            <p:cNvSpPr/>
            <p:nvPr/>
          </p:nvSpPr>
          <p:spPr>
            <a:xfrm rot="21033333">
              <a:off x="4944509" y="1982745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leeper"/>
            <p:cNvSpPr/>
            <p:nvPr/>
          </p:nvSpPr>
          <p:spPr>
            <a:xfrm rot="21146667">
              <a:off x="5229822" y="1943837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leeper"/>
            <p:cNvSpPr/>
            <p:nvPr/>
          </p:nvSpPr>
          <p:spPr>
            <a:xfrm rot="21260000">
              <a:off x="5516523" y="1916979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leeper"/>
            <p:cNvSpPr/>
            <p:nvPr/>
          </p:nvSpPr>
          <p:spPr>
            <a:xfrm rot="21486667">
              <a:off x="5804196" y="1904325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leeper"/>
            <p:cNvSpPr/>
            <p:nvPr/>
          </p:nvSpPr>
          <p:spPr>
            <a:xfrm>
              <a:off x="6092148" y="1904325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leeper"/>
            <p:cNvSpPr/>
            <p:nvPr/>
          </p:nvSpPr>
          <p:spPr>
            <a:xfrm rot="226667">
              <a:off x="6379821" y="1916979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leeper"/>
            <p:cNvSpPr/>
            <p:nvPr/>
          </p:nvSpPr>
          <p:spPr>
            <a:xfrm rot="340000">
              <a:off x="6666522" y="1943837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leeper"/>
            <p:cNvSpPr/>
            <p:nvPr/>
          </p:nvSpPr>
          <p:spPr>
            <a:xfrm rot="453333">
              <a:off x="6951835" y="1982745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leeper"/>
            <p:cNvSpPr/>
            <p:nvPr/>
          </p:nvSpPr>
          <p:spPr>
            <a:xfrm rot="680000">
              <a:off x="7234967" y="2035188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leeper"/>
            <p:cNvSpPr/>
            <p:nvPr/>
          </p:nvSpPr>
          <p:spPr>
            <a:xfrm rot="793333">
              <a:off x="7515405" y="2100538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leeper"/>
            <p:cNvSpPr/>
            <p:nvPr/>
          </p:nvSpPr>
          <p:spPr>
            <a:xfrm rot="1020000">
              <a:off x="7792850" y="2177641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leeper"/>
            <p:cNvSpPr/>
            <p:nvPr/>
          </p:nvSpPr>
          <p:spPr>
            <a:xfrm rot="1133333">
              <a:off x="8065978" y="2268865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Sleeper"/>
            <p:cNvSpPr/>
            <p:nvPr/>
          </p:nvSpPr>
          <p:spPr>
            <a:xfrm rot="1246667">
              <a:off x="8335015" y="2371507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Sleeper"/>
            <p:cNvSpPr/>
            <p:nvPr/>
          </p:nvSpPr>
          <p:spPr>
            <a:xfrm rot="1473333">
              <a:off x="8599068" y="2486354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Sleeper"/>
            <p:cNvSpPr/>
            <p:nvPr/>
          </p:nvSpPr>
          <p:spPr>
            <a:xfrm rot="1586667">
              <a:off x="8857360" y="2613643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Sleeper"/>
            <p:cNvSpPr/>
            <p:nvPr/>
          </p:nvSpPr>
          <p:spPr>
            <a:xfrm rot="1700000">
              <a:off x="9110065" y="2751698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Sleeper"/>
            <p:cNvSpPr/>
            <p:nvPr/>
          </p:nvSpPr>
          <p:spPr>
            <a:xfrm rot="1926667">
              <a:off x="9355633" y="2902073"/>
              <a:ext cx="82296" cy="585216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Rail"/>
            <p:cNvSpPr/>
            <p:nvPr/>
          </p:nvSpPr>
          <p:spPr>
            <a:xfrm>
              <a:off x="2376381" y="2039112"/>
              <a:ext cx="7225878" cy="1103824"/>
            </a:xfrm>
            <a:custGeom>
              <a:avLst/>
              <a:gdLst/>
              <a:ahLst/>
              <a:cxnLst/>
              <a:rect l="l" t="t" r="r" b="b"/>
              <a:pathLst>
                <a:path w="7225878" h="1103824">
                  <a:moveTo>
                    <a:pt x="0" y="1103824"/>
                  </a:moveTo>
                  <a:lnTo>
                    <a:pt x="176487" y="988994"/>
                  </a:lnTo>
                  <a:lnTo>
                    <a:pt x="358845" y="878699"/>
                  </a:lnTo>
                  <a:lnTo>
                    <a:pt x="544739" y="774475"/>
                  </a:lnTo>
                  <a:lnTo>
                    <a:pt x="733967" y="676435"/>
                  </a:lnTo>
                  <a:lnTo>
                    <a:pt x="926324" y="584685"/>
                  </a:lnTo>
                  <a:lnTo>
                    <a:pt x="1121601" y="499326"/>
                  </a:lnTo>
                  <a:lnTo>
                    <a:pt x="1319585" y="420450"/>
                  </a:lnTo>
                  <a:lnTo>
                    <a:pt x="1520061" y="348142"/>
                  </a:lnTo>
                  <a:lnTo>
                    <a:pt x="1722812" y="282481"/>
                  </a:lnTo>
                  <a:lnTo>
                    <a:pt x="1927617" y="223540"/>
                  </a:lnTo>
                  <a:lnTo>
                    <a:pt x="2134253" y="171380"/>
                  </a:lnTo>
                  <a:lnTo>
                    <a:pt x="2342497" y="126061"/>
                  </a:lnTo>
                  <a:lnTo>
                    <a:pt x="2552121" y="87629"/>
                  </a:lnTo>
                  <a:lnTo>
                    <a:pt x="2762898" y="56129"/>
                  </a:lnTo>
                  <a:lnTo>
                    <a:pt x="2974598" y="31592"/>
                  </a:lnTo>
                  <a:lnTo>
                    <a:pt x="3186993" y="14047"/>
                  </a:lnTo>
                  <a:lnTo>
                    <a:pt x="3399850" y="3513"/>
                  </a:lnTo>
                  <a:lnTo>
                    <a:pt x="3612939" y="0"/>
                  </a:lnTo>
                  <a:lnTo>
                    <a:pt x="3826028" y="3513"/>
                  </a:lnTo>
                  <a:lnTo>
                    <a:pt x="4038885" y="14047"/>
                  </a:lnTo>
                  <a:lnTo>
                    <a:pt x="4251280" y="31592"/>
                  </a:lnTo>
                  <a:lnTo>
                    <a:pt x="4462980" y="56129"/>
                  </a:lnTo>
                  <a:lnTo>
                    <a:pt x="4673757" y="87629"/>
                  </a:lnTo>
                  <a:lnTo>
                    <a:pt x="4883381" y="126061"/>
                  </a:lnTo>
                  <a:lnTo>
                    <a:pt x="5091625" y="171380"/>
                  </a:lnTo>
                  <a:lnTo>
                    <a:pt x="5298261" y="223540"/>
                  </a:lnTo>
                  <a:lnTo>
                    <a:pt x="5503066" y="282481"/>
                  </a:lnTo>
                  <a:lnTo>
                    <a:pt x="5705817" y="348142"/>
                  </a:lnTo>
                  <a:lnTo>
                    <a:pt x="5906293" y="420450"/>
                  </a:lnTo>
                  <a:lnTo>
                    <a:pt x="6104277" y="499326"/>
                  </a:lnTo>
                  <a:lnTo>
                    <a:pt x="6299554" y="584685"/>
                  </a:lnTo>
                  <a:lnTo>
                    <a:pt x="6491911" y="676435"/>
                  </a:lnTo>
                  <a:lnTo>
                    <a:pt x="6681139" y="774475"/>
                  </a:lnTo>
                  <a:lnTo>
                    <a:pt x="6867033" y="878699"/>
                  </a:lnTo>
                  <a:lnTo>
                    <a:pt x="7049391" y="988994"/>
                  </a:lnTo>
                  <a:lnTo>
                    <a:pt x="7225878" y="1103824"/>
                  </a:lnTo>
                </a:path>
              </a:pathLst>
            </a:custGeom>
            <a:noFill/>
            <a:ln w="317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Rail"/>
            <p:cNvSpPr/>
            <p:nvPr/>
          </p:nvSpPr>
          <p:spPr>
            <a:xfrm>
              <a:off x="2545960" y="2350008"/>
              <a:ext cx="6886720" cy="1053503"/>
            </a:xfrm>
            <a:custGeom>
              <a:avLst/>
              <a:gdLst/>
              <a:ahLst/>
              <a:cxnLst/>
              <a:rect l="l" t="t" r="r" b="b"/>
              <a:pathLst>
                <a:path w="6886720" h="1053503">
                  <a:moveTo>
                    <a:pt x="0" y="1053503"/>
                  </a:moveTo>
                  <a:lnTo>
                    <a:pt x="172169" y="941433"/>
                  </a:lnTo>
                  <a:lnTo>
                    <a:pt x="345757" y="836442"/>
                  </a:lnTo>
                  <a:lnTo>
                    <a:pt x="522711" y="737230"/>
                  </a:lnTo>
                  <a:lnTo>
                    <a:pt x="702839" y="643905"/>
                  </a:lnTo>
                  <a:lnTo>
                    <a:pt x="885946" y="556568"/>
                  </a:lnTo>
                  <a:lnTo>
                    <a:pt x="1071831" y="475313"/>
                  </a:lnTo>
                  <a:lnTo>
                    <a:pt x="1260294" y="400230"/>
                  </a:lnTo>
                  <a:lnTo>
                    <a:pt x="1451130" y="331400"/>
                  </a:lnTo>
                  <a:lnTo>
                    <a:pt x="1644130" y="268897"/>
                  </a:lnTo>
                  <a:lnTo>
                    <a:pt x="1839086" y="212789"/>
                  </a:lnTo>
                  <a:lnTo>
                    <a:pt x="2035785" y="163139"/>
                  </a:lnTo>
                  <a:lnTo>
                    <a:pt x="2234014" y="119998"/>
                  </a:lnTo>
                  <a:lnTo>
                    <a:pt x="2433557" y="83415"/>
                  </a:lnTo>
                  <a:lnTo>
                    <a:pt x="2634198" y="53429"/>
                  </a:lnTo>
                  <a:lnTo>
                    <a:pt x="2835718" y="30073"/>
                  </a:lnTo>
                  <a:lnTo>
                    <a:pt x="3037898" y="13372"/>
                  </a:lnTo>
                  <a:lnTo>
                    <a:pt x="3240519" y="3344"/>
                  </a:lnTo>
                  <a:lnTo>
                    <a:pt x="3443360" y="0"/>
                  </a:lnTo>
                  <a:lnTo>
                    <a:pt x="3646201" y="3344"/>
                  </a:lnTo>
                  <a:lnTo>
                    <a:pt x="3848822" y="13372"/>
                  </a:lnTo>
                  <a:lnTo>
                    <a:pt x="4051002" y="30073"/>
                  </a:lnTo>
                  <a:lnTo>
                    <a:pt x="4252522" y="53429"/>
                  </a:lnTo>
                  <a:lnTo>
                    <a:pt x="4453163" y="83415"/>
                  </a:lnTo>
                  <a:lnTo>
                    <a:pt x="4652706" y="119998"/>
                  </a:lnTo>
                  <a:lnTo>
                    <a:pt x="4850935" y="163139"/>
                  </a:lnTo>
                  <a:lnTo>
                    <a:pt x="5047634" y="212789"/>
                  </a:lnTo>
                  <a:lnTo>
                    <a:pt x="5242590" y="268897"/>
                  </a:lnTo>
                  <a:lnTo>
                    <a:pt x="5435590" y="331400"/>
                  </a:lnTo>
                  <a:lnTo>
                    <a:pt x="5626426" y="400230"/>
                  </a:lnTo>
                  <a:lnTo>
                    <a:pt x="5814889" y="475313"/>
                  </a:lnTo>
                  <a:lnTo>
                    <a:pt x="6000774" y="556568"/>
                  </a:lnTo>
                  <a:lnTo>
                    <a:pt x="6183881" y="643905"/>
                  </a:lnTo>
                  <a:lnTo>
                    <a:pt x="6364009" y="737230"/>
                  </a:lnTo>
                  <a:lnTo>
                    <a:pt x="6540963" y="836442"/>
                  </a:lnTo>
                  <a:lnTo>
                    <a:pt x="6714551" y="941433"/>
                  </a:lnTo>
                  <a:lnTo>
                    <a:pt x="6886720" y="1053503"/>
                  </a:lnTo>
                </a:path>
              </a:pathLst>
            </a:custGeom>
            <a:noFill/>
            <a:ln w="317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Ruler"/>
            <p:cNvSpPr/>
            <p:nvPr/>
          </p:nvSpPr>
          <p:spPr>
            <a:xfrm>
              <a:off x="2870231" y="2926080"/>
              <a:ext cx="6238178" cy="1370541"/>
            </a:xfrm>
            <a:custGeom>
              <a:avLst/>
              <a:gdLst/>
              <a:ahLst/>
              <a:cxnLst/>
              <a:rect l="l" t="t" r="r" b="b"/>
              <a:pathLst>
                <a:path w="6238178" h="1370541">
                  <a:moveTo>
                    <a:pt x="0" y="953601"/>
                  </a:moveTo>
                  <a:lnTo>
                    <a:pt x="154116" y="853304"/>
                  </a:lnTo>
                  <a:lnTo>
                    <a:pt x="311455" y="758142"/>
                  </a:lnTo>
                  <a:lnTo>
                    <a:pt x="471844" y="668217"/>
                  </a:lnTo>
                  <a:lnTo>
                    <a:pt x="635110" y="583628"/>
                  </a:lnTo>
                  <a:lnTo>
                    <a:pt x="801076" y="504467"/>
                  </a:lnTo>
                  <a:lnTo>
                    <a:pt x="969561" y="430819"/>
                  </a:lnTo>
                  <a:lnTo>
                    <a:pt x="1140382" y="362764"/>
                  </a:lnTo>
                  <a:lnTo>
                    <a:pt x="1313353" y="300377"/>
                  </a:lnTo>
                  <a:lnTo>
                    <a:pt x="1488286" y="243725"/>
                  </a:lnTo>
                  <a:lnTo>
                    <a:pt x="1664992" y="192870"/>
                  </a:lnTo>
                  <a:lnTo>
                    <a:pt x="1843278" y="147867"/>
                  </a:lnTo>
                  <a:lnTo>
                    <a:pt x="2022951" y="108765"/>
                  </a:lnTo>
                  <a:lnTo>
                    <a:pt x="2203815" y="75607"/>
                  </a:lnTo>
                  <a:lnTo>
                    <a:pt x="2385673" y="48428"/>
                  </a:lnTo>
                  <a:lnTo>
                    <a:pt x="2568328" y="27258"/>
                  </a:lnTo>
                  <a:lnTo>
                    <a:pt x="2751582" y="12120"/>
                  </a:lnTo>
                  <a:lnTo>
                    <a:pt x="2935236" y="3031"/>
                  </a:lnTo>
                  <a:lnTo>
                    <a:pt x="3119089" y="0"/>
                  </a:lnTo>
                  <a:lnTo>
                    <a:pt x="3302942" y="3031"/>
                  </a:lnTo>
                  <a:lnTo>
                    <a:pt x="3486596" y="12120"/>
                  </a:lnTo>
                  <a:lnTo>
                    <a:pt x="3669850" y="27258"/>
                  </a:lnTo>
                  <a:lnTo>
                    <a:pt x="3852505" y="48428"/>
                  </a:lnTo>
                  <a:lnTo>
                    <a:pt x="4034363" y="75607"/>
                  </a:lnTo>
                  <a:lnTo>
                    <a:pt x="4215227" y="108765"/>
                  </a:lnTo>
                  <a:lnTo>
                    <a:pt x="4394900" y="147867"/>
                  </a:lnTo>
                  <a:lnTo>
                    <a:pt x="4573186" y="192870"/>
                  </a:lnTo>
                  <a:lnTo>
                    <a:pt x="4749892" y="243725"/>
                  </a:lnTo>
                  <a:lnTo>
                    <a:pt x="4924825" y="300377"/>
                  </a:lnTo>
                  <a:lnTo>
                    <a:pt x="5097796" y="362764"/>
                  </a:lnTo>
                  <a:lnTo>
                    <a:pt x="5268617" y="430819"/>
                  </a:lnTo>
                  <a:lnTo>
                    <a:pt x="5437102" y="504467"/>
                  </a:lnTo>
                  <a:lnTo>
                    <a:pt x="5603068" y="583628"/>
                  </a:lnTo>
                  <a:lnTo>
                    <a:pt x="5766334" y="668217"/>
                  </a:lnTo>
                  <a:lnTo>
                    <a:pt x="5926723" y="758142"/>
                  </a:lnTo>
                  <a:lnTo>
                    <a:pt x="6084062" y="853304"/>
                  </a:lnTo>
                  <a:lnTo>
                    <a:pt x="6238178" y="953601"/>
                  </a:lnTo>
                  <a:lnTo>
                    <a:pt x="5956948" y="1370541"/>
                  </a:lnTo>
                  <a:lnTo>
                    <a:pt x="5816728" y="1279287"/>
                  </a:lnTo>
                  <a:lnTo>
                    <a:pt x="5673576" y="1192705"/>
                  </a:lnTo>
                  <a:lnTo>
                    <a:pt x="5527648" y="1110888"/>
                  </a:lnTo>
                  <a:lnTo>
                    <a:pt x="5379102" y="1033926"/>
                  </a:lnTo>
                  <a:lnTo>
                    <a:pt x="5228101" y="961902"/>
                  </a:lnTo>
                  <a:lnTo>
                    <a:pt x="5074807" y="894894"/>
                  </a:lnTo>
                  <a:lnTo>
                    <a:pt x="4919388" y="832976"/>
                  </a:lnTo>
                  <a:lnTo>
                    <a:pt x="4762013" y="776214"/>
                  </a:lnTo>
                  <a:lnTo>
                    <a:pt x="4602852" y="724670"/>
                  </a:lnTo>
                  <a:lnTo>
                    <a:pt x="4442079" y="678400"/>
                  </a:lnTo>
                  <a:lnTo>
                    <a:pt x="4279868" y="637455"/>
                  </a:lnTo>
                  <a:lnTo>
                    <a:pt x="4116395" y="601878"/>
                  </a:lnTo>
                  <a:lnTo>
                    <a:pt x="3951839" y="571710"/>
                  </a:lnTo>
                  <a:lnTo>
                    <a:pt x="3786377" y="546981"/>
                  </a:lnTo>
                  <a:lnTo>
                    <a:pt x="3620191" y="527720"/>
                  </a:lnTo>
                  <a:lnTo>
                    <a:pt x="3453460" y="513947"/>
                  </a:lnTo>
                  <a:lnTo>
                    <a:pt x="3286365" y="505678"/>
                  </a:lnTo>
                  <a:lnTo>
                    <a:pt x="3119089" y="502920"/>
                  </a:lnTo>
                  <a:lnTo>
                    <a:pt x="2951813" y="505678"/>
                  </a:lnTo>
                  <a:lnTo>
                    <a:pt x="2784718" y="513947"/>
                  </a:lnTo>
                  <a:lnTo>
                    <a:pt x="2617987" y="527720"/>
                  </a:lnTo>
                  <a:lnTo>
                    <a:pt x="2451801" y="546981"/>
                  </a:lnTo>
                  <a:lnTo>
                    <a:pt x="2286339" y="571710"/>
                  </a:lnTo>
                  <a:lnTo>
                    <a:pt x="2121783" y="601878"/>
                  </a:lnTo>
                  <a:lnTo>
                    <a:pt x="1958310" y="637455"/>
                  </a:lnTo>
                  <a:lnTo>
                    <a:pt x="1796099" y="678400"/>
                  </a:lnTo>
                  <a:lnTo>
                    <a:pt x="1635326" y="724670"/>
                  </a:lnTo>
                  <a:lnTo>
                    <a:pt x="1476165" y="776214"/>
                  </a:lnTo>
                  <a:lnTo>
                    <a:pt x="1318790" y="832976"/>
                  </a:lnTo>
                  <a:lnTo>
                    <a:pt x="1163371" y="894894"/>
                  </a:lnTo>
                  <a:lnTo>
                    <a:pt x="1010077" y="961902"/>
                  </a:lnTo>
                  <a:lnTo>
                    <a:pt x="859076" y="1033926"/>
                  </a:lnTo>
                  <a:lnTo>
                    <a:pt x="710530" y="1110888"/>
                  </a:lnTo>
                  <a:lnTo>
                    <a:pt x="564602" y="1192705"/>
                  </a:lnTo>
                  <a:lnTo>
                    <a:pt x="421450" y="1279287"/>
                  </a:lnTo>
                  <a:lnTo>
                    <a:pt x="281230" y="1370541"/>
                  </a:lnTo>
                  <a:close/>
                </a:path>
              </a:pathLst>
            </a:custGeom>
            <a:solidFill>
              <a:srgbClr val="F2C14E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5" name="Tick"/>
            <p:cNvCxnSpPr/>
            <p:nvPr/>
          </p:nvCxnSpPr>
          <p:spPr>
            <a:xfrm>
              <a:off x="2870231" y="3879681"/>
              <a:ext cx="173851" cy="257745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36" name="Tick"/>
            <p:cNvCxnSpPr/>
            <p:nvPr/>
          </p:nvCxnSpPr>
          <p:spPr>
            <a:xfrm>
              <a:off x="3055563" y="3759938"/>
              <a:ext cx="96189" cy="155540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37" name="Tick"/>
            <p:cNvCxnSpPr/>
            <p:nvPr/>
          </p:nvCxnSpPr>
          <p:spPr>
            <a:xfrm>
              <a:off x="3245485" y="3647618"/>
              <a:ext cx="89962" cy="159223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38" name="Tick"/>
            <p:cNvCxnSpPr/>
            <p:nvPr/>
          </p:nvCxnSpPr>
          <p:spPr>
            <a:xfrm>
              <a:off x="3439701" y="3542898"/>
              <a:ext cx="83594" cy="162656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39" name="Tick"/>
            <p:cNvCxnSpPr/>
            <p:nvPr/>
          </p:nvCxnSpPr>
          <p:spPr>
            <a:xfrm>
              <a:off x="3637907" y="3445941"/>
              <a:ext cx="77095" cy="165835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0" name="Tick"/>
            <p:cNvCxnSpPr/>
            <p:nvPr/>
          </p:nvCxnSpPr>
          <p:spPr>
            <a:xfrm>
              <a:off x="3839792" y="3356899"/>
              <a:ext cx="119810" cy="286883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1" name="Tick"/>
            <p:cNvCxnSpPr/>
            <p:nvPr/>
          </p:nvCxnSpPr>
          <p:spPr>
            <a:xfrm>
              <a:off x="4045041" y="3275911"/>
              <a:ext cx="63747" cy="171410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2" name="Tick"/>
            <p:cNvCxnSpPr/>
            <p:nvPr/>
          </p:nvCxnSpPr>
          <p:spPr>
            <a:xfrm>
              <a:off x="4253332" y="3203104"/>
              <a:ext cx="56918" cy="173798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3" name="Tick"/>
            <p:cNvCxnSpPr/>
            <p:nvPr/>
          </p:nvCxnSpPr>
          <p:spPr>
            <a:xfrm>
              <a:off x="4464340" y="3138593"/>
              <a:ext cx="50000" cy="175912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4" name="Tick"/>
            <p:cNvCxnSpPr/>
            <p:nvPr/>
          </p:nvCxnSpPr>
          <p:spPr>
            <a:xfrm>
              <a:off x="4677735" y="3082477"/>
              <a:ext cx="43003" cy="177752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5" name="Tick"/>
            <p:cNvCxnSpPr/>
            <p:nvPr/>
          </p:nvCxnSpPr>
          <p:spPr>
            <a:xfrm>
              <a:off x="4893182" y="3034845"/>
              <a:ext cx="61096" cy="304834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6" name="Tick"/>
            <p:cNvCxnSpPr/>
            <p:nvPr/>
          </p:nvCxnSpPr>
          <p:spPr>
            <a:xfrm>
              <a:off x="5110344" y="2995771"/>
              <a:ext cx="28819" cy="180596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7" name="Tick"/>
            <p:cNvCxnSpPr/>
            <p:nvPr/>
          </p:nvCxnSpPr>
          <p:spPr>
            <a:xfrm>
              <a:off x="5328882" y="2965317"/>
              <a:ext cx="21653" cy="181594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8" name="Tick"/>
            <p:cNvCxnSpPr/>
            <p:nvPr/>
          </p:nvCxnSpPr>
          <p:spPr>
            <a:xfrm>
              <a:off x="5548453" y="2943530"/>
              <a:ext cx="14454" cy="182308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49" name="Tick"/>
            <p:cNvCxnSpPr/>
            <p:nvPr/>
          </p:nvCxnSpPr>
          <p:spPr>
            <a:xfrm>
              <a:off x="5768714" y="2930444"/>
              <a:ext cx="7233" cy="182737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0" name="Tick"/>
            <p:cNvCxnSpPr/>
            <p:nvPr/>
          </p:nvCxnSpPr>
          <p:spPr>
            <a:xfrm>
              <a:off x="5989320" y="2926080"/>
              <a:ext cx="0" cy="310896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1" name="Tick"/>
            <p:cNvCxnSpPr/>
            <p:nvPr/>
          </p:nvCxnSpPr>
          <p:spPr>
            <a:xfrm flipH="1">
              <a:off x="6202693" y="2930444"/>
              <a:ext cx="7233" cy="182737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2" name="Tick"/>
            <p:cNvCxnSpPr/>
            <p:nvPr/>
          </p:nvCxnSpPr>
          <p:spPr>
            <a:xfrm flipH="1">
              <a:off x="6415733" y="2943530"/>
              <a:ext cx="14454" cy="182308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3" name="Tick"/>
            <p:cNvCxnSpPr/>
            <p:nvPr/>
          </p:nvCxnSpPr>
          <p:spPr>
            <a:xfrm flipH="1">
              <a:off x="6628105" y="2965317"/>
              <a:ext cx="21653" cy="181594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4" name="Tick"/>
            <p:cNvCxnSpPr/>
            <p:nvPr/>
          </p:nvCxnSpPr>
          <p:spPr>
            <a:xfrm flipH="1">
              <a:off x="6839477" y="2995771"/>
              <a:ext cx="28819" cy="180596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5" name="Tick"/>
            <p:cNvCxnSpPr/>
            <p:nvPr/>
          </p:nvCxnSpPr>
          <p:spPr>
            <a:xfrm flipH="1">
              <a:off x="7024362" y="3034845"/>
              <a:ext cx="61096" cy="304834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6" name="Tick"/>
            <p:cNvCxnSpPr/>
            <p:nvPr/>
          </p:nvCxnSpPr>
          <p:spPr>
            <a:xfrm flipH="1">
              <a:off x="7257902" y="3082477"/>
              <a:ext cx="43003" cy="177752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7" name="Tick"/>
            <p:cNvCxnSpPr/>
            <p:nvPr/>
          </p:nvCxnSpPr>
          <p:spPr>
            <a:xfrm flipH="1">
              <a:off x="7464300" y="3138593"/>
              <a:ext cx="50000" cy="175912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8" name="Tick"/>
            <p:cNvCxnSpPr/>
            <p:nvPr/>
          </p:nvCxnSpPr>
          <p:spPr>
            <a:xfrm flipH="1">
              <a:off x="7668390" y="3203104"/>
              <a:ext cx="56918" cy="173798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59" name="Tick"/>
            <p:cNvCxnSpPr/>
            <p:nvPr/>
          </p:nvCxnSpPr>
          <p:spPr>
            <a:xfrm flipH="1">
              <a:off x="7869852" y="3275911"/>
              <a:ext cx="63747" cy="171410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60" name="Tick"/>
            <p:cNvCxnSpPr/>
            <p:nvPr/>
          </p:nvCxnSpPr>
          <p:spPr>
            <a:xfrm flipH="1">
              <a:off x="8019038" y="3356899"/>
              <a:ext cx="119810" cy="286883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61" name="Tick"/>
            <p:cNvCxnSpPr/>
            <p:nvPr/>
          </p:nvCxnSpPr>
          <p:spPr>
            <a:xfrm flipH="1">
              <a:off x="8263638" y="3445941"/>
              <a:ext cx="77095" cy="165835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62" name="Tick"/>
            <p:cNvCxnSpPr/>
            <p:nvPr/>
          </p:nvCxnSpPr>
          <p:spPr>
            <a:xfrm flipH="1">
              <a:off x="8455345" y="3542898"/>
              <a:ext cx="83594" cy="162656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63" name="Tick"/>
            <p:cNvCxnSpPr/>
            <p:nvPr/>
          </p:nvCxnSpPr>
          <p:spPr>
            <a:xfrm flipH="1">
              <a:off x="8643193" y="3647618"/>
              <a:ext cx="89962" cy="159223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64" name="Tick"/>
            <p:cNvCxnSpPr/>
            <p:nvPr/>
          </p:nvCxnSpPr>
          <p:spPr>
            <a:xfrm flipH="1">
              <a:off x="8826888" y="3759938"/>
              <a:ext cx="96189" cy="155540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cxnSp>
          <p:nvCxnSpPr>
            <p:cNvPr id="65" name="Tick"/>
            <p:cNvCxnSpPr/>
            <p:nvPr/>
          </p:nvCxnSpPr>
          <p:spPr>
            <a:xfrm flipH="1">
              <a:off x="8934558" y="3879681"/>
              <a:ext cx="173851" cy="257745"/>
            </a:xfrm>
            <a:prstGeom prst="line">
              <a:avLst/>
            </a:prstGeom>
            <a:ln w="19050">
              <a:solidFill>
                <a:srgbClr val="101418"/>
              </a:solidFill>
            </a:ln>
          </p:spPr>
        </p:cxnSp>
        <p:sp>
          <p:nvSpPr>
            <p:cNvPr id="66" name="TextBox 65"/>
            <p:cNvSpPr txBox="1"/>
            <p:nvPr/>
          </p:nvSpPr>
          <p:spPr>
            <a:xfrm>
              <a:off x="4892040" y="3611880"/>
              <a:ext cx="219456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C14E"/>
                  </a:solidFill>
                  <a:latin typeface="Arial"/>
                </a:rPr>
                <a:t>150 m</a:t>
              </a:r>
            </a:p>
          </p:txBody>
        </p:sp>
        <p:sp>
          <p:nvSpPr>
            <p:cNvPr id="67" name="Question mark"/>
            <p:cNvSpPr/>
            <p:nvPr/>
          </p:nvSpPr>
          <p:spPr>
            <a:xfrm>
              <a:off x="10149840" y="2194560"/>
              <a:ext cx="822960" cy="822960"/>
            </a:xfrm>
            <a:prstGeom prst="ellipse">
              <a:avLst/>
            </a:prstGeom>
            <a:noFill/>
            <a:ln w="38100">
              <a:solidFill>
                <a:srgbClr val="F28C2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3200" b="1" i="0" lang="en-GB">
                  <a:solidFill>
                    <a:srgbClr val="F28C28"/>
                  </a:solidFill>
                  <a:latin typeface="Arial"/>
                </a:rPr>
                <a:t>?</a:t>
              </a:r>
            </a:p>
          </p:txBody>
        </p:sp>
        <p:sp>
          <p:nvSpPr>
            <p:cNvPr id="68" name="TextBox 67"/>
            <p:cNvSpPr txBox="1"/>
            <p:nvPr/>
          </p:nvSpPr>
          <p:spPr>
            <a:xfrm>
              <a:off x="10607040" y="4892040"/>
              <a:ext cx="86868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400" b="0" i="0" lang="en-GB">
                  <a:solidFill>
                    <a:srgbClr val="A9B0B8"/>
                  </a:solidFill>
                  <a:latin typeface="Arial"/>
                </a:rPr>
                <a:t>OQ02</a:t>
              </a:r>
            </a:p>
          </p:txBody>
        </p:sp>
      </p:grpSp>
      <p:grpSp>
        <p:nvGrpSpPr>
          <p:cNvPr id="69" name="Caption" descr="Caption: A 150 metre piece limit is only an experiment. It may not work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70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150 metre piece limit is only an experiment. It may not work.</a:t>
              </a:r>
            </a:p>
          </p:txBody>
        </p:sp>
      </p:grpSp>
      <p:sp>
        <p:nvSpPr>
          <p:cNvPr id="73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Every transport has a job</a:t>
            </a:r>
          </a:p>
        </p:txBody>
      </p:sp>
      <p:sp>
        <p:nvSpPr>
          <p:cNvPr id="3" name="Status chip" descr="Status tag: Agre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Lane: Belts" descr="Belts: permanent short and medium links"/>
          <p:cNvGrpSpPr/>
          <p:nvPr/>
        </p:nvGrpSpPr>
        <p:grpSpPr>
          <a:xfrm>
            <a:off x="548640" y="1325880"/>
            <a:ext cx="11091672" cy="960120"/>
            <a:chOff x="548640" y="1325880"/>
            <a:chExt cx="11091672" cy="960120"/>
          </a:xfrm>
        </p:grpSpPr>
        <p:sp>
          <p:nvSpPr>
            <p:cNvPr id="5" name="Lane panel"/>
            <p:cNvSpPr/>
            <p:nvPr/>
          </p:nvSpPr>
          <p:spPr>
            <a:xfrm>
              <a:off x="548640" y="1325880"/>
              <a:ext cx="11091672" cy="960120"/>
            </a:xfrm>
            <a:prstGeom prst="roundRect">
              <a:avLst>
                <a:gd name="adj" fmla="val 761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Lane accent"/>
            <p:cNvSpPr/>
            <p:nvPr/>
          </p:nvSpPr>
          <p:spPr>
            <a:xfrm>
              <a:off x="548640" y="1417320"/>
              <a:ext cx="91440" cy="77724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Belt"/>
            <p:cNvSpPr/>
            <p:nvPr/>
          </p:nvSpPr>
          <p:spPr>
            <a:xfrm>
              <a:off x="960120" y="1828800"/>
              <a:ext cx="2286000" cy="274320"/>
            </a:xfrm>
            <a:prstGeom prst="roundRect">
              <a:avLst>
                <a:gd name="adj" fmla="val 50000"/>
              </a:avLst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Chevron"/>
            <p:cNvSpPr/>
            <p:nvPr/>
          </p:nvSpPr>
          <p:spPr>
            <a:xfrm>
              <a:off x="1143000" y="1892808"/>
              <a:ext cx="164592" cy="146304"/>
            </a:xfrm>
            <a:prstGeom prst="chevron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Chevron"/>
            <p:cNvSpPr/>
            <p:nvPr/>
          </p:nvSpPr>
          <p:spPr>
            <a:xfrm>
              <a:off x="1490472" y="1892808"/>
              <a:ext cx="164592" cy="146304"/>
            </a:xfrm>
            <a:prstGeom prst="chevron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Chevron"/>
            <p:cNvSpPr/>
            <p:nvPr/>
          </p:nvSpPr>
          <p:spPr>
            <a:xfrm>
              <a:off x="1837944" y="1892808"/>
              <a:ext cx="164592" cy="146304"/>
            </a:xfrm>
            <a:prstGeom prst="chevron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hevron"/>
            <p:cNvSpPr/>
            <p:nvPr/>
          </p:nvSpPr>
          <p:spPr>
            <a:xfrm>
              <a:off x="2185416" y="1892808"/>
              <a:ext cx="164592" cy="146304"/>
            </a:xfrm>
            <a:prstGeom prst="chevron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Chevron"/>
            <p:cNvSpPr/>
            <p:nvPr/>
          </p:nvSpPr>
          <p:spPr>
            <a:xfrm>
              <a:off x="2532888" y="1892808"/>
              <a:ext cx="164592" cy="146304"/>
            </a:xfrm>
            <a:prstGeom prst="chevron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Chevron"/>
            <p:cNvSpPr/>
            <p:nvPr/>
          </p:nvSpPr>
          <p:spPr>
            <a:xfrm>
              <a:off x="2880360" y="1892808"/>
              <a:ext cx="164592" cy="146304"/>
            </a:xfrm>
            <a:prstGeom prst="chevron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rate"/>
            <p:cNvSpPr/>
            <p:nvPr/>
          </p:nvSpPr>
          <p:spPr>
            <a:xfrm>
              <a:off x="1325880" y="1600200"/>
              <a:ext cx="274320" cy="228600"/>
            </a:xfrm>
            <a:prstGeom prst="rect">
              <a:avLst/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rate"/>
            <p:cNvSpPr/>
            <p:nvPr/>
          </p:nvSpPr>
          <p:spPr>
            <a:xfrm>
              <a:off x="2331720" y="1600200"/>
              <a:ext cx="274320" cy="228600"/>
            </a:xfrm>
            <a:prstGeom prst="rect">
              <a:avLst/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Lane label"/>
            <p:cNvSpPr txBox="1"/>
            <p:nvPr/>
          </p:nvSpPr>
          <p:spPr>
            <a:xfrm>
              <a:off x="3657600" y="1325880"/>
              <a:ext cx="7772400" cy="9601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Belts: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permanent short and medium links</a:t>
              </a:r>
            </a:p>
          </p:txBody>
        </p:sp>
      </p:grpSp>
      <p:grpSp>
        <p:nvGrpSpPr>
          <p:cNvPr id="17" name="Lane: Tractors" descr="Tractors: flexible, little infrastructure"/>
          <p:cNvGrpSpPr/>
          <p:nvPr/>
        </p:nvGrpSpPr>
        <p:grpSpPr>
          <a:xfrm>
            <a:off x="548640" y="2395728"/>
            <a:ext cx="11091672" cy="960120"/>
            <a:chOff x="548640" y="2395728"/>
            <a:chExt cx="11091672" cy="960120"/>
          </a:xfrm>
        </p:grpSpPr>
        <p:sp>
          <p:nvSpPr>
            <p:cNvPr id="18" name="Lane panel"/>
            <p:cNvSpPr/>
            <p:nvPr/>
          </p:nvSpPr>
          <p:spPr>
            <a:xfrm>
              <a:off x="548640" y="2395728"/>
              <a:ext cx="11091672" cy="960120"/>
            </a:xfrm>
            <a:prstGeom prst="roundRect">
              <a:avLst>
                <a:gd name="adj" fmla="val 761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Lane accent"/>
            <p:cNvSpPr/>
            <p:nvPr/>
          </p:nvSpPr>
          <p:spPr>
            <a:xfrm>
              <a:off x="548640" y="2487168"/>
              <a:ext cx="91440" cy="777240"/>
            </a:xfrm>
            <a:prstGeom prst="rect">
              <a:avLst/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Tractor body"/>
            <p:cNvSpPr/>
            <p:nvPr/>
          </p:nvSpPr>
          <p:spPr>
            <a:xfrm>
              <a:off x="1234440" y="2852928"/>
              <a:ext cx="1371600" cy="274320"/>
            </a:xfrm>
            <a:prstGeom prst="roundRect">
              <a:avLst>
                <a:gd name="adj" fmla="val 20000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Cab"/>
            <p:cNvSpPr/>
            <p:nvPr/>
          </p:nvSpPr>
          <p:spPr>
            <a:xfrm>
              <a:off x="1325880" y="2596896"/>
              <a:ext cx="594360" cy="274320"/>
            </a:xfrm>
            <a:prstGeom prst="roundRect">
              <a:avLst>
                <a:gd name="adj" fmla="val 16666"/>
              </a:avLst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Exhaust"/>
            <p:cNvSpPr/>
            <p:nvPr/>
          </p:nvSpPr>
          <p:spPr>
            <a:xfrm>
              <a:off x="2377440" y="2670048"/>
              <a:ext cx="64008" cy="228600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Wheel"/>
            <p:cNvSpPr/>
            <p:nvPr/>
          </p:nvSpPr>
          <p:spPr>
            <a:xfrm>
              <a:off x="1307592" y="2862072"/>
              <a:ext cx="438912" cy="43891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Hub"/>
            <p:cNvSpPr/>
            <p:nvPr/>
          </p:nvSpPr>
          <p:spPr>
            <a:xfrm>
              <a:off x="1465600" y="3020080"/>
              <a:ext cx="122895" cy="12289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Wheel"/>
            <p:cNvSpPr/>
            <p:nvPr/>
          </p:nvSpPr>
          <p:spPr>
            <a:xfrm>
              <a:off x="2231136" y="2999232"/>
              <a:ext cx="292608" cy="292608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Hub"/>
            <p:cNvSpPr/>
            <p:nvPr/>
          </p:nvSpPr>
          <p:spPr>
            <a:xfrm>
              <a:off x="2336475" y="3104571"/>
              <a:ext cx="81930" cy="8193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Lane label"/>
            <p:cNvSpPr txBox="1"/>
            <p:nvPr/>
          </p:nvSpPr>
          <p:spPr>
            <a:xfrm>
              <a:off x="3657600" y="2395728"/>
              <a:ext cx="7772400" cy="9601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Tractors: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flexible, little infrastructure</a:t>
              </a:r>
            </a:p>
          </p:txBody>
        </p:sp>
      </p:grpSp>
      <p:grpSp>
        <p:nvGrpSpPr>
          <p:cNvPr id="28" name="Lane: Steam" descr="Steam: early long-distance bulk"/>
          <p:cNvGrpSpPr/>
          <p:nvPr/>
        </p:nvGrpSpPr>
        <p:grpSpPr>
          <a:xfrm>
            <a:off x="548640" y="3465576"/>
            <a:ext cx="11091672" cy="960120"/>
            <a:chOff x="548640" y="3465576"/>
            <a:chExt cx="11091672" cy="960120"/>
          </a:xfrm>
        </p:grpSpPr>
        <p:sp>
          <p:nvSpPr>
            <p:cNvPr id="29" name="Lane panel"/>
            <p:cNvSpPr/>
            <p:nvPr/>
          </p:nvSpPr>
          <p:spPr>
            <a:xfrm>
              <a:off x="548640" y="3465576"/>
              <a:ext cx="11091672" cy="960120"/>
            </a:xfrm>
            <a:prstGeom prst="roundRect">
              <a:avLst>
                <a:gd name="adj" fmla="val 761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Lane accent"/>
            <p:cNvSpPr/>
            <p:nvPr/>
          </p:nvSpPr>
          <p:spPr>
            <a:xfrm>
              <a:off x="548640" y="3557016"/>
              <a:ext cx="91440" cy="77724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Footplate"/>
            <p:cNvSpPr/>
            <p:nvPr/>
          </p:nvSpPr>
          <p:spPr>
            <a:xfrm>
              <a:off x="1280160" y="4131259"/>
              <a:ext cx="1426464" cy="5486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Boiler"/>
            <p:cNvSpPr/>
            <p:nvPr/>
          </p:nvSpPr>
          <p:spPr>
            <a:xfrm>
              <a:off x="1773936" y="3829507"/>
              <a:ext cx="877824" cy="318211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Smokebox"/>
            <p:cNvSpPr/>
            <p:nvPr/>
          </p:nvSpPr>
          <p:spPr>
            <a:xfrm>
              <a:off x="2585923" y="3829507"/>
              <a:ext cx="76810" cy="318211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Chimney"/>
            <p:cNvSpPr/>
            <p:nvPr/>
          </p:nvSpPr>
          <p:spPr>
            <a:xfrm>
              <a:off x="2487168" y="3686861"/>
              <a:ext cx="71323" cy="15361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Chimney top"/>
            <p:cNvSpPr/>
            <p:nvPr/>
          </p:nvSpPr>
          <p:spPr>
            <a:xfrm>
              <a:off x="2459736" y="3664915"/>
              <a:ext cx="126187" cy="3291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ome"/>
            <p:cNvSpPr/>
            <p:nvPr/>
          </p:nvSpPr>
          <p:spPr>
            <a:xfrm>
              <a:off x="2103120" y="3752698"/>
              <a:ext cx="186538" cy="164592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Cab"/>
            <p:cNvSpPr/>
            <p:nvPr/>
          </p:nvSpPr>
          <p:spPr>
            <a:xfrm>
              <a:off x="1324051" y="3719779"/>
              <a:ext cx="493776" cy="427939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Cab roof"/>
            <p:cNvSpPr/>
            <p:nvPr/>
          </p:nvSpPr>
          <p:spPr>
            <a:xfrm>
              <a:off x="1291133" y="3675888"/>
              <a:ext cx="559613" cy="4937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ab window"/>
            <p:cNvSpPr/>
            <p:nvPr/>
          </p:nvSpPr>
          <p:spPr>
            <a:xfrm>
              <a:off x="1444752" y="3796589"/>
              <a:ext cx="219456" cy="15361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Wheel"/>
            <p:cNvSpPr/>
            <p:nvPr/>
          </p:nvSpPr>
          <p:spPr>
            <a:xfrm>
              <a:off x="1461211" y="4142232"/>
              <a:ext cx="241402" cy="24140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Hub"/>
            <p:cNvSpPr/>
            <p:nvPr/>
          </p:nvSpPr>
          <p:spPr>
            <a:xfrm>
              <a:off x="1548116" y="4229137"/>
              <a:ext cx="67592" cy="6759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Wheel"/>
            <p:cNvSpPr/>
            <p:nvPr/>
          </p:nvSpPr>
          <p:spPr>
            <a:xfrm>
              <a:off x="1900123" y="4142232"/>
              <a:ext cx="241402" cy="24140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Hub"/>
            <p:cNvSpPr/>
            <p:nvPr/>
          </p:nvSpPr>
          <p:spPr>
            <a:xfrm>
              <a:off x="1987028" y="4229137"/>
              <a:ext cx="67592" cy="6759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Wheel"/>
            <p:cNvSpPr/>
            <p:nvPr/>
          </p:nvSpPr>
          <p:spPr>
            <a:xfrm>
              <a:off x="2339035" y="4142232"/>
              <a:ext cx="241402" cy="24140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ub"/>
            <p:cNvSpPr/>
            <p:nvPr/>
          </p:nvSpPr>
          <p:spPr>
            <a:xfrm>
              <a:off x="2425940" y="4229137"/>
              <a:ext cx="67592" cy="6759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6" name="Coupling rod"/>
            <p:cNvCxnSpPr/>
            <p:nvPr/>
          </p:nvCxnSpPr>
          <p:spPr>
            <a:xfrm>
              <a:off x="1581912" y="4262933"/>
              <a:ext cx="877824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47" name="Lane label"/>
            <p:cNvSpPr txBox="1"/>
            <p:nvPr/>
          </p:nvSpPr>
          <p:spPr>
            <a:xfrm>
              <a:off x="3657600" y="3465576"/>
              <a:ext cx="7772400" cy="9601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Steam: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early long-distance bulk</a:t>
              </a:r>
            </a:p>
          </p:txBody>
        </p:sp>
      </p:grpSp>
      <p:grpSp>
        <p:nvGrpSpPr>
          <p:cNvPr id="48" name="Lane: Electric" descr="Electric: mature speed and throughput"/>
          <p:cNvGrpSpPr/>
          <p:nvPr/>
        </p:nvGrpSpPr>
        <p:grpSpPr>
          <a:xfrm>
            <a:off x="548640" y="4535424"/>
            <a:ext cx="11091672" cy="960120"/>
            <a:chOff x="548640" y="4535424"/>
            <a:chExt cx="11091672" cy="960120"/>
          </a:xfrm>
        </p:grpSpPr>
        <p:sp>
          <p:nvSpPr>
            <p:cNvPr id="49" name="Lane panel"/>
            <p:cNvSpPr/>
            <p:nvPr/>
          </p:nvSpPr>
          <p:spPr>
            <a:xfrm>
              <a:off x="548640" y="4535424"/>
              <a:ext cx="11091672" cy="960120"/>
            </a:xfrm>
            <a:prstGeom prst="roundRect">
              <a:avLst>
                <a:gd name="adj" fmla="val 7619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Lane accent"/>
            <p:cNvSpPr/>
            <p:nvPr/>
          </p:nvSpPr>
          <p:spPr>
            <a:xfrm>
              <a:off x="548640" y="4626864"/>
              <a:ext cx="91440" cy="777240"/>
            </a:xfrm>
            <a:prstGeom prst="rect">
              <a:avLst/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Electric car"/>
            <p:cNvSpPr/>
            <p:nvPr/>
          </p:nvSpPr>
          <p:spPr>
            <a:xfrm>
              <a:off x="1234440" y="4672584"/>
              <a:ext cx="1316736" cy="449885"/>
            </a:xfrm>
            <a:prstGeom prst="roundRect">
              <a:avLst>
                <a:gd name="adj" fmla="val 30487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Windows"/>
            <p:cNvSpPr/>
            <p:nvPr/>
          </p:nvSpPr>
          <p:spPr>
            <a:xfrm>
              <a:off x="1344168" y="4771339"/>
              <a:ext cx="1042416" cy="14264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Monorail beam"/>
            <p:cNvSpPr/>
            <p:nvPr/>
          </p:nvSpPr>
          <p:spPr>
            <a:xfrm>
              <a:off x="1179576" y="5166360"/>
              <a:ext cx="1426464" cy="7681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Pylon"/>
            <p:cNvSpPr/>
            <p:nvPr/>
          </p:nvSpPr>
          <p:spPr>
            <a:xfrm>
              <a:off x="1600200" y="5243170"/>
              <a:ext cx="65837" cy="120701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Pylon"/>
            <p:cNvSpPr/>
            <p:nvPr/>
          </p:nvSpPr>
          <p:spPr>
            <a:xfrm>
              <a:off x="2093976" y="5243170"/>
              <a:ext cx="65837" cy="120701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Lane label"/>
            <p:cNvSpPr txBox="1"/>
            <p:nvPr/>
          </p:nvSpPr>
          <p:spPr>
            <a:xfrm>
              <a:off x="3657600" y="4535424"/>
              <a:ext cx="7772400" cy="9601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Electric: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mature speed and throughput</a:t>
              </a:r>
            </a:p>
          </p:txBody>
        </p:sp>
      </p:grpSp>
      <p:grpSp>
        <p:nvGrpSpPr>
          <p:cNvPr id="57" name="Caption" descr="Caption: Belts, tractors, steam and electric rail each have a job. Electric leads when the factory matures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58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Belts, tractors, steam and electric rail each have a job. Electric leads when the factory matures.</a:t>
              </a:r>
            </a:p>
          </p:txBody>
        </p:sp>
      </p:grpSp>
      <p:sp>
        <p:nvSpPr>
          <p:cNvPr id="61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Pick the right engine</a:t>
            </a:r>
          </a:p>
        </p:txBody>
      </p:sp>
      <p:sp>
        <p:nvSpPr>
          <p:cNvPr id="3" name="Status chip" descr="Status tag: Agre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Row: Struggles" descr="A small engine with a very long train: it struggles."/>
          <p:cNvGrpSpPr/>
          <p:nvPr/>
        </p:nvGrpSpPr>
        <p:grpSpPr>
          <a:xfrm>
            <a:off x="548640" y="1325880"/>
            <a:ext cx="11091672" cy="1325880"/>
            <a:chOff x="548640" y="1325880"/>
            <a:chExt cx="11091672" cy="1325880"/>
          </a:xfrm>
        </p:grpSpPr>
        <p:sp>
          <p:nvSpPr>
            <p:cNvPr id="5" name="Row panel"/>
            <p:cNvSpPr/>
            <p:nvPr/>
          </p:nvSpPr>
          <p:spPr>
            <a:xfrm>
              <a:off x="548640" y="1325880"/>
              <a:ext cx="11091672" cy="1325880"/>
            </a:xfrm>
            <a:prstGeom prst="roundRect">
              <a:avLst>
                <a:gd name="adj" fmla="val 551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Verdict: Struggles"/>
            <p:cNvSpPr/>
            <p:nvPr/>
          </p:nvSpPr>
          <p:spPr>
            <a:xfrm>
              <a:off x="777240" y="1755648"/>
              <a:ext cx="1737360" cy="457200"/>
            </a:xfrm>
            <a:prstGeom prst="roundRect">
              <a:avLst>
                <a:gd name="adj" fmla="val 50000"/>
              </a:avLst>
            </a:prstGeom>
            <a:solidFill>
              <a:srgbClr val="E5484D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Struggles</a:t>
              </a:r>
            </a:p>
          </p:txBody>
        </p:sp>
        <p:sp>
          <p:nvSpPr>
            <p:cNvPr id="7" name="Rail"/>
            <p:cNvSpPr/>
            <p:nvPr/>
          </p:nvSpPr>
          <p:spPr>
            <a:xfrm>
              <a:off x="2834640" y="2505456"/>
              <a:ext cx="8595360" cy="4572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Footplate"/>
            <p:cNvSpPr/>
            <p:nvPr/>
          </p:nvSpPr>
          <p:spPr>
            <a:xfrm>
              <a:off x="2880360" y="2302916"/>
              <a:ext cx="1069848" cy="4114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oiler"/>
            <p:cNvSpPr/>
            <p:nvPr/>
          </p:nvSpPr>
          <p:spPr>
            <a:xfrm>
              <a:off x="3250692" y="2076602"/>
              <a:ext cx="658368" cy="238658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mokebox"/>
            <p:cNvSpPr/>
            <p:nvPr/>
          </p:nvSpPr>
          <p:spPr>
            <a:xfrm>
              <a:off x="3859682" y="2076602"/>
              <a:ext cx="57607" cy="23865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himney"/>
            <p:cNvSpPr/>
            <p:nvPr/>
          </p:nvSpPr>
          <p:spPr>
            <a:xfrm>
              <a:off x="3785616" y="1969618"/>
              <a:ext cx="53492" cy="11521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Chimney top"/>
            <p:cNvSpPr/>
            <p:nvPr/>
          </p:nvSpPr>
          <p:spPr>
            <a:xfrm>
              <a:off x="3765042" y="1953158"/>
              <a:ext cx="94640" cy="2468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ome"/>
            <p:cNvSpPr/>
            <p:nvPr/>
          </p:nvSpPr>
          <p:spPr>
            <a:xfrm>
              <a:off x="3497580" y="2018995"/>
              <a:ext cx="139903" cy="123444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ab"/>
            <p:cNvSpPr/>
            <p:nvPr/>
          </p:nvSpPr>
          <p:spPr>
            <a:xfrm>
              <a:off x="2913278" y="1994306"/>
              <a:ext cx="370332" cy="320954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ab roof"/>
            <p:cNvSpPr/>
            <p:nvPr/>
          </p:nvSpPr>
          <p:spPr>
            <a:xfrm>
              <a:off x="2888590" y="1961388"/>
              <a:ext cx="419710" cy="37033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Cab window"/>
            <p:cNvSpPr/>
            <p:nvPr/>
          </p:nvSpPr>
          <p:spPr>
            <a:xfrm>
              <a:off x="3003804" y="2051914"/>
              <a:ext cx="164592" cy="11521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Wheel"/>
            <p:cNvSpPr/>
            <p:nvPr/>
          </p:nvSpPr>
          <p:spPr>
            <a:xfrm>
              <a:off x="3016148" y="231114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ub"/>
            <p:cNvSpPr/>
            <p:nvPr/>
          </p:nvSpPr>
          <p:spPr>
            <a:xfrm>
              <a:off x="3081327" y="237632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Wheel"/>
            <p:cNvSpPr/>
            <p:nvPr/>
          </p:nvSpPr>
          <p:spPr>
            <a:xfrm>
              <a:off x="3345332" y="231114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ub"/>
            <p:cNvSpPr/>
            <p:nvPr/>
          </p:nvSpPr>
          <p:spPr>
            <a:xfrm>
              <a:off x="3410511" y="237632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Wheel"/>
            <p:cNvSpPr/>
            <p:nvPr/>
          </p:nvSpPr>
          <p:spPr>
            <a:xfrm>
              <a:off x="3674516" y="231114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ub"/>
            <p:cNvSpPr/>
            <p:nvPr/>
          </p:nvSpPr>
          <p:spPr>
            <a:xfrm>
              <a:off x="3739695" y="237632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upling rod"/>
            <p:cNvCxnSpPr/>
            <p:nvPr/>
          </p:nvCxnSpPr>
          <p:spPr>
            <a:xfrm>
              <a:off x="3106674" y="2401672"/>
              <a:ext cx="658368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4" name="Wagon"/>
            <p:cNvSpPr/>
            <p:nvPr/>
          </p:nvSpPr>
          <p:spPr>
            <a:xfrm>
              <a:off x="3995928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5" name="Connector 24"/>
            <p:cNvCxnSpPr/>
            <p:nvPr/>
          </p:nvCxnSpPr>
          <p:spPr>
            <a:xfrm>
              <a:off x="4150233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26" name="Connector 25"/>
            <p:cNvCxnSpPr/>
            <p:nvPr/>
          </p:nvCxnSpPr>
          <p:spPr>
            <a:xfrm>
              <a:off x="4304538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27" name="Connector 26"/>
            <p:cNvCxnSpPr/>
            <p:nvPr/>
          </p:nvCxnSpPr>
          <p:spPr>
            <a:xfrm>
              <a:off x="4458843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28" name="Wheel"/>
            <p:cNvSpPr/>
            <p:nvPr/>
          </p:nvSpPr>
          <p:spPr>
            <a:xfrm>
              <a:off x="4061765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ub"/>
            <p:cNvSpPr/>
            <p:nvPr/>
          </p:nvSpPr>
          <p:spPr>
            <a:xfrm>
              <a:off x="4103242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Wheel"/>
            <p:cNvSpPr/>
            <p:nvPr/>
          </p:nvSpPr>
          <p:spPr>
            <a:xfrm>
              <a:off x="4432097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ub"/>
            <p:cNvSpPr/>
            <p:nvPr/>
          </p:nvSpPr>
          <p:spPr>
            <a:xfrm>
              <a:off x="4473574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Wagon"/>
            <p:cNvSpPr/>
            <p:nvPr/>
          </p:nvSpPr>
          <p:spPr>
            <a:xfrm>
              <a:off x="4649724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3" name="Connector 32"/>
            <p:cNvCxnSpPr/>
            <p:nvPr/>
          </p:nvCxnSpPr>
          <p:spPr>
            <a:xfrm>
              <a:off x="4804029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34" name="Connector 33"/>
            <p:cNvCxnSpPr/>
            <p:nvPr/>
          </p:nvCxnSpPr>
          <p:spPr>
            <a:xfrm>
              <a:off x="4958334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35" name="Connector 34"/>
            <p:cNvCxnSpPr/>
            <p:nvPr/>
          </p:nvCxnSpPr>
          <p:spPr>
            <a:xfrm>
              <a:off x="5112639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36" name="Wheel"/>
            <p:cNvSpPr/>
            <p:nvPr/>
          </p:nvSpPr>
          <p:spPr>
            <a:xfrm>
              <a:off x="4715561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Hub"/>
            <p:cNvSpPr/>
            <p:nvPr/>
          </p:nvSpPr>
          <p:spPr>
            <a:xfrm>
              <a:off x="4757038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Wheel"/>
            <p:cNvSpPr/>
            <p:nvPr/>
          </p:nvSpPr>
          <p:spPr>
            <a:xfrm>
              <a:off x="5085893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Hub"/>
            <p:cNvSpPr/>
            <p:nvPr/>
          </p:nvSpPr>
          <p:spPr>
            <a:xfrm>
              <a:off x="5127370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Wagon"/>
            <p:cNvSpPr/>
            <p:nvPr/>
          </p:nvSpPr>
          <p:spPr>
            <a:xfrm>
              <a:off x="5303520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1" name="Connector 40"/>
            <p:cNvCxnSpPr/>
            <p:nvPr/>
          </p:nvCxnSpPr>
          <p:spPr>
            <a:xfrm>
              <a:off x="5457825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42" name="Connector 41"/>
            <p:cNvCxnSpPr/>
            <p:nvPr/>
          </p:nvCxnSpPr>
          <p:spPr>
            <a:xfrm>
              <a:off x="5612130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43" name="Connector 42"/>
            <p:cNvCxnSpPr/>
            <p:nvPr/>
          </p:nvCxnSpPr>
          <p:spPr>
            <a:xfrm>
              <a:off x="5766435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44" name="Wheel"/>
            <p:cNvSpPr/>
            <p:nvPr/>
          </p:nvSpPr>
          <p:spPr>
            <a:xfrm>
              <a:off x="5369357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ub"/>
            <p:cNvSpPr/>
            <p:nvPr/>
          </p:nvSpPr>
          <p:spPr>
            <a:xfrm>
              <a:off x="5410834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Wheel"/>
            <p:cNvSpPr/>
            <p:nvPr/>
          </p:nvSpPr>
          <p:spPr>
            <a:xfrm>
              <a:off x="5739689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ub"/>
            <p:cNvSpPr/>
            <p:nvPr/>
          </p:nvSpPr>
          <p:spPr>
            <a:xfrm>
              <a:off x="5781166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Wagon"/>
            <p:cNvSpPr/>
            <p:nvPr/>
          </p:nvSpPr>
          <p:spPr>
            <a:xfrm>
              <a:off x="5957316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49" name="Connector 48"/>
            <p:cNvCxnSpPr/>
            <p:nvPr/>
          </p:nvCxnSpPr>
          <p:spPr>
            <a:xfrm>
              <a:off x="6111621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50" name="Connector 49"/>
            <p:cNvCxnSpPr/>
            <p:nvPr/>
          </p:nvCxnSpPr>
          <p:spPr>
            <a:xfrm>
              <a:off x="6265926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51" name="Connector 50"/>
            <p:cNvCxnSpPr/>
            <p:nvPr/>
          </p:nvCxnSpPr>
          <p:spPr>
            <a:xfrm>
              <a:off x="6420231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52" name="Wheel"/>
            <p:cNvSpPr/>
            <p:nvPr/>
          </p:nvSpPr>
          <p:spPr>
            <a:xfrm>
              <a:off x="6023153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Hub"/>
            <p:cNvSpPr/>
            <p:nvPr/>
          </p:nvSpPr>
          <p:spPr>
            <a:xfrm>
              <a:off x="6064630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Wheel"/>
            <p:cNvSpPr/>
            <p:nvPr/>
          </p:nvSpPr>
          <p:spPr>
            <a:xfrm>
              <a:off x="6393485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Hub"/>
            <p:cNvSpPr/>
            <p:nvPr/>
          </p:nvSpPr>
          <p:spPr>
            <a:xfrm>
              <a:off x="6434962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Wagon"/>
            <p:cNvSpPr/>
            <p:nvPr/>
          </p:nvSpPr>
          <p:spPr>
            <a:xfrm>
              <a:off x="6611112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7" name="Connector 56"/>
            <p:cNvCxnSpPr/>
            <p:nvPr/>
          </p:nvCxnSpPr>
          <p:spPr>
            <a:xfrm>
              <a:off x="6765417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58" name="Connector 57"/>
            <p:cNvCxnSpPr/>
            <p:nvPr/>
          </p:nvCxnSpPr>
          <p:spPr>
            <a:xfrm>
              <a:off x="6919722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59" name="Connector 58"/>
            <p:cNvCxnSpPr/>
            <p:nvPr/>
          </p:nvCxnSpPr>
          <p:spPr>
            <a:xfrm>
              <a:off x="7074027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60" name="Wheel"/>
            <p:cNvSpPr/>
            <p:nvPr/>
          </p:nvSpPr>
          <p:spPr>
            <a:xfrm>
              <a:off x="6676949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Hub"/>
            <p:cNvSpPr/>
            <p:nvPr/>
          </p:nvSpPr>
          <p:spPr>
            <a:xfrm>
              <a:off x="6718426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Wheel"/>
            <p:cNvSpPr/>
            <p:nvPr/>
          </p:nvSpPr>
          <p:spPr>
            <a:xfrm>
              <a:off x="7047281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Hub"/>
            <p:cNvSpPr/>
            <p:nvPr/>
          </p:nvSpPr>
          <p:spPr>
            <a:xfrm>
              <a:off x="7088758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Wagon"/>
            <p:cNvSpPr/>
            <p:nvPr/>
          </p:nvSpPr>
          <p:spPr>
            <a:xfrm>
              <a:off x="7264908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5" name="Connector 64"/>
            <p:cNvCxnSpPr/>
            <p:nvPr/>
          </p:nvCxnSpPr>
          <p:spPr>
            <a:xfrm>
              <a:off x="7419213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66" name="Connector 65"/>
            <p:cNvCxnSpPr/>
            <p:nvPr/>
          </p:nvCxnSpPr>
          <p:spPr>
            <a:xfrm>
              <a:off x="7573518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67" name="Connector 66"/>
            <p:cNvCxnSpPr/>
            <p:nvPr/>
          </p:nvCxnSpPr>
          <p:spPr>
            <a:xfrm>
              <a:off x="7727823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68" name="Wheel"/>
            <p:cNvSpPr/>
            <p:nvPr/>
          </p:nvSpPr>
          <p:spPr>
            <a:xfrm>
              <a:off x="7330745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Hub"/>
            <p:cNvSpPr/>
            <p:nvPr/>
          </p:nvSpPr>
          <p:spPr>
            <a:xfrm>
              <a:off x="7372222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Wheel"/>
            <p:cNvSpPr/>
            <p:nvPr/>
          </p:nvSpPr>
          <p:spPr>
            <a:xfrm>
              <a:off x="7701077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Hub"/>
            <p:cNvSpPr/>
            <p:nvPr/>
          </p:nvSpPr>
          <p:spPr>
            <a:xfrm>
              <a:off x="7742554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Wagon"/>
            <p:cNvSpPr/>
            <p:nvPr/>
          </p:nvSpPr>
          <p:spPr>
            <a:xfrm>
              <a:off x="7918704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3" name="Connector 72"/>
            <p:cNvCxnSpPr/>
            <p:nvPr/>
          </p:nvCxnSpPr>
          <p:spPr>
            <a:xfrm>
              <a:off x="8073009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74" name="Connector 73"/>
            <p:cNvCxnSpPr/>
            <p:nvPr/>
          </p:nvCxnSpPr>
          <p:spPr>
            <a:xfrm>
              <a:off x="8227314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75" name="Connector 74"/>
            <p:cNvCxnSpPr/>
            <p:nvPr/>
          </p:nvCxnSpPr>
          <p:spPr>
            <a:xfrm>
              <a:off x="8381619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76" name="Wheel"/>
            <p:cNvSpPr/>
            <p:nvPr/>
          </p:nvSpPr>
          <p:spPr>
            <a:xfrm>
              <a:off x="7984541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Hub"/>
            <p:cNvSpPr/>
            <p:nvPr/>
          </p:nvSpPr>
          <p:spPr>
            <a:xfrm>
              <a:off x="8026018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Wheel"/>
            <p:cNvSpPr/>
            <p:nvPr/>
          </p:nvSpPr>
          <p:spPr>
            <a:xfrm>
              <a:off x="8354873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9" name="Hub"/>
            <p:cNvSpPr/>
            <p:nvPr/>
          </p:nvSpPr>
          <p:spPr>
            <a:xfrm>
              <a:off x="8396350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Wagon"/>
            <p:cNvSpPr/>
            <p:nvPr/>
          </p:nvSpPr>
          <p:spPr>
            <a:xfrm>
              <a:off x="8572500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1" name="Connector 80"/>
            <p:cNvCxnSpPr/>
            <p:nvPr/>
          </p:nvCxnSpPr>
          <p:spPr>
            <a:xfrm>
              <a:off x="8726805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82" name="Connector 81"/>
            <p:cNvCxnSpPr/>
            <p:nvPr/>
          </p:nvCxnSpPr>
          <p:spPr>
            <a:xfrm>
              <a:off x="8881110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83" name="Connector 82"/>
            <p:cNvCxnSpPr/>
            <p:nvPr/>
          </p:nvCxnSpPr>
          <p:spPr>
            <a:xfrm>
              <a:off x="9035415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84" name="Wheel"/>
            <p:cNvSpPr/>
            <p:nvPr/>
          </p:nvSpPr>
          <p:spPr>
            <a:xfrm>
              <a:off x="8638337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Hub"/>
            <p:cNvSpPr/>
            <p:nvPr/>
          </p:nvSpPr>
          <p:spPr>
            <a:xfrm>
              <a:off x="8679814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Wheel"/>
            <p:cNvSpPr/>
            <p:nvPr/>
          </p:nvSpPr>
          <p:spPr>
            <a:xfrm>
              <a:off x="9008669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7" name="Hub"/>
            <p:cNvSpPr/>
            <p:nvPr/>
          </p:nvSpPr>
          <p:spPr>
            <a:xfrm>
              <a:off x="9050146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8" name="Wagon"/>
            <p:cNvSpPr/>
            <p:nvPr/>
          </p:nvSpPr>
          <p:spPr>
            <a:xfrm>
              <a:off x="9226296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89" name="Connector 88"/>
            <p:cNvCxnSpPr/>
            <p:nvPr/>
          </p:nvCxnSpPr>
          <p:spPr>
            <a:xfrm>
              <a:off x="9380601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90" name="Connector 89"/>
            <p:cNvCxnSpPr/>
            <p:nvPr/>
          </p:nvCxnSpPr>
          <p:spPr>
            <a:xfrm>
              <a:off x="9534906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91" name="Connector 90"/>
            <p:cNvCxnSpPr/>
            <p:nvPr/>
          </p:nvCxnSpPr>
          <p:spPr>
            <a:xfrm>
              <a:off x="9689211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92" name="Wheel"/>
            <p:cNvSpPr/>
            <p:nvPr/>
          </p:nvSpPr>
          <p:spPr>
            <a:xfrm>
              <a:off x="9292133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3" name="Hub"/>
            <p:cNvSpPr/>
            <p:nvPr/>
          </p:nvSpPr>
          <p:spPr>
            <a:xfrm>
              <a:off x="9333610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4" name="Wheel"/>
            <p:cNvSpPr/>
            <p:nvPr/>
          </p:nvSpPr>
          <p:spPr>
            <a:xfrm>
              <a:off x="9662465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5" name="Hub"/>
            <p:cNvSpPr/>
            <p:nvPr/>
          </p:nvSpPr>
          <p:spPr>
            <a:xfrm>
              <a:off x="9703942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6" name="Wagon"/>
            <p:cNvSpPr/>
            <p:nvPr/>
          </p:nvSpPr>
          <p:spPr>
            <a:xfrm>
              <a:off x="9880092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97" name="Connector 96"/>
            <p:cNvCxnSpPr/>
            <p:nvPr/>
          </p:nvCxnSpPr>
          <p:spPr>
            <a:xfrm>
              <a:off x="10034397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98" name="Connector 97"/>
            <p:cNvCxnSpPr/>
            <p:nvPr/>
          </p:nvCxnSpPr>
          <p:spPr>
            <a:xfrm>
              <a:off x="10188702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99" name="Connector 98"/>
            <p:cNvCxnSpPr/>
            <p:nvPr/>
          </p:nvCxnSpPr>
          <p:spPr>
            <a:xfrm>
              <a:off x="10343007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100" name="Wheel"/>
            <p:cNvSpPr/>
            <p:nvPr/>
          </p:nvSpPr>
          <p:spPr>
            <a:xfrm>
              <a:off x="9945929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1" name="Hub"/>
            <p:cNvSpPr/>
            <p:nvPr/>
          </p:nvSpPr>
          <p:spPr>
            <a:xfrm>
              <a:off x="9987406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2" name="Wheel"/>
            <p:cNvSpPr/>
            <p:nvPr/>
          </p:nvSpPr>
          <p:spPr>
            <a:xfrm>
              <a:off x="10316261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3" name="Hub"/>
            <p:cNvSpPr/>
            <p:nvPr/>
          </p:nvSpPr>
          <p:spPr>
            <a:xfrm>
              <a:off x="10357738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4" name="Wagon"/>
            <p:cNvSpPr/>
            <p:nvPr/>
          </p:nvSpPr>
          <p:spPr>
            <a:xfrm>
              <a:off x="10533888" y="2150669"/>
              <a:ext cx="617220" cy="255118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05" name="Connector 104"/>
            <p:cNvCxnSpPr/>
            <p:nvPr/>
          </p:nvCxnSpPr>
          <p:spPr>
            <a:xfrm>
              <a:off x="10688193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06" name="Connector 105"/>
            <p:cNvCxnSpPr/>
            <p:nvPr/>
          </p:nvCxnSpPr>
          <p:spPr>
            <a:xfrm>
              <a:off x="10842498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07" name="Connector 106"/>
            <p:cNvCxnSpPr/>
            <p:nvPr/>
          </p:nvCxnSpPr>
          <p:spPr>
            <a:xfrm>
              <a:off x="10996803" y="2167128"/>
              <a:ext cx="0" cy="222199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108" name="Wheel"/>
            <p:cNvSpPr/>
            <p:nvPr/>
          </p:nvSpPr>
          <p:spPr>
            <a:xfrm>
              <a:off x="10599725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9" name="Hub"/>
            <p:cNvSpPr/>
            <p:nvPr/>
          </p:nvSpPr>
          <p:spPr>
            <a:xfrm>
              <a:off x="10641202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0" name="Wheel"/>
            <p:cNvSpPr/>
            <p:nvPr/>
          </p:nvSpPr>
          <p:spPr>
            <a:xfrm>
              <a:off x="10970057" y="2381098"/>
              <a:ext cx="115214" cy="11521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1" name="Hub"/>
            <p:cNvSpPr/>
            <p:nvPr/>
          </p:nvSpPr>
          <p:spPr>
            <a:xfrm>
              <a:off x="11011534" y="2422575"/>
              <a:ext cx="32260" cy="3226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12" name="Row: Wasteful" descr="A large engine with a single wagon: wasteful."/>
          <p:cNvGrpSpPr/>
          <p:nvPr/>
        </p:nvGrpSpPr>
        <p:grpSpPr>
          <a:xfrm>
            <a:off x="548640" y="2761488"/>
            <a:ext cx="11091672" cy="1325880"/>
            <a:chOff x="548640" y="2761488"/>
            <a:chExt cx="11091672" cy="1325880"/>
          </a:xfrm>
        </p:grpSpPr>
        <p:sp>
          <p:nvSpPr>
            <p:cNvPr id="113" name="Row panel"/>
            <p:cNvSpPr/>
            <p:nvPr/>
          </p:nvSpPr>
          <p:spPr>
            <a:xfrm>
              <a:off x="548640" y="2761488"/>
              <a:ext cx="11091672" cy="1325880"/>
            </a:xfrm>
            <a:prstGeom prst="roundRect">
              <a:avLst>
                <a:gd name="adj" fmla="val 551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4" name="Verdict: Wasteful"/>
            <p:cNvSpPr/>
            <p:nvPr/>
          </p:nvSpPr>
          <p:spPr>
            <a:xfrm>
              <a:off x="777240" y="3191256"/>
              <a:ext cx="1737360" cy="457200"/>
            </a:xfrm>
            <a:prstGeom prst="roundRect">
              <a:avLst>
                <a:gd name="adj" fmla="val 50000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Wasteful</a:t>
              </a:r>
            </a:p>
          </p:txBody>
        </p:sp>
        <p:sp>
          <p:nvSpPr>
            <p:cNvPr id="115" name="Rail"/>
            <p:cNvSpPr/>
            <p:nvPr/>
          </p:nvSpPr>
          <p:spPr>
            <a:xfrm>
              <a:off x="2834640" y="3941064"/>
              <a:ext cx="8595360" cy="4572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6" name="Tender"/>
            <p:cNvSpPr/>
            <p:nvPr/>
          </p:nvSpPr>
          <p:spPr>
            <a:xfrm>
              <a:off x="2880360" y="3215030"/>
              <a:ext cx="950976" cy="438912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7" name="Coal"/>
            <p:cNvSpPr/>
            <p:nvPr/>
          </p:nvSpPr>
          <p:spPr>
            <a:xfrm>
              <a:off x="2953512" y="3054096"/>
              <a:ext cx="804672" cy="160934"/>
            </a:xfrm>
            <a:custGeom>
              <a:avLst/>
              <a:gdLst/>
              <a:ahLst/>
              <a:cxnLst/>
              <a:rect l="l" t="t" r="r" b="b"/>
              <a:pathLst>
                <a:path w="804672" h="160934">
                  <a:moveTo>
                    <a:pt x="0" y="160934"/>
                  </a:moveTo>
                  <a:lnTo>
                    <a:pt x="146304" y="43891"/>
                  </a:lnTo>
                  <a:lnTo>
                    <a:pt x="365760" y="0"/>
                  </a:lnTo>
                  <a:lnTo>
                    <a:pt x="621792" y="51206"/>
                  </a:lnTo>
                  <a:lnTo>
                    <a:pt x="804672" y="160934"/>
                  </a:lnTo>
                  <a:close/>
                </a:path>
              </a:pathLst>
            </a:cu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8" name="Coupling"/>
            <p:cNvSpPr/>
            <p:nvPr/>
          </p:nvSpPr>
          <p:spPr>
            <a:xfrm>
              <a:off x="3831336" y="3551530"/>
              <a:ext cx="73152" cy="36576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9" name="Wheel"/>
            <p:cNvSpPr/>
            <p:nvPr/>
          </p:nvSpPr>
          <p:spPr>
            <a:xfrm>
              <a:off x="2953512" y="3617366"/>
              <a:ext cx="292608" cy="292608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0" name="Hub"/>
            <p:cNvSpPr/>
            <p:nvPr/>
          </p:nvSpPr>
          <p:spPr>
            <a:xfrm>
              <a:off x="3058851" y="3722705"/>
              <a:ext cx="81930" cy="8193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1" name="Wheel"/>
            <p:cNvSpPr/>
            <p:nvPr/>
          </p:nvSpPr>
          <p:spPr>
            <a:xfrm>
              <a:off x="3465576" y="3617366"/>
              <a:ext cx="292608" cy="292608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2" name="Hub"/>
            <p:cNvSpPr/>
            <p:nvPr/>
          </p:nvSpPr>
          <p:spPr>
            <a:xfrm>
              <a:off x="3570915" y="3722705"/>
              <a:ext cx="81930" cy="8193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3" name="Footplate"/>
            <p:cNvSpPr/>
            <p:nvPr/>
          </p:nvSpPr>
          <p:spPr>
            <a:xfrm>
              <a:off x="3904488" y="3588106"/>
              <a:ext cx="1901952" cy="73152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4" name="Boiler"/>
            <p:cNvSpPr/>
            <p:nvPr/>
          </p:nvSpPr>
          <p:spPr>
            <a:xfrm>
              <a:off x="4562856" y="3185770"/>
              <a:ext cx="1170432" cy="424282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5" name="Smokebox"/>
            <p:cNvSpPr/>
            <p:nvPr/>
          </p:nvSpPr>
          <p:spPr>
            <a:xfrm>
              <a:off x="5645506" y="3185770"/>
              <a:ext cx="102413" cy="424282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6" name="Chimney"/>
            <p:cNvSpPr/>
            <p:nvPr/>
          </p:nvSpPr>
          <p:spPr>
            <a:xfrm>
              <a:off x="5513832" y="2995574"/>
              <a:ext cx="95098" cy="20482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7" name="Chimney top"/>
            <p:cNvSpPr/>
            <p:nvPr/>
          </p:nvSpPr>
          <p:spPr>
            <a:xfrm>
              <a:off x="5477256" y="2966314"/>
              <a:ext cx="168250" cy="43891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8" name="Dome"/>
            <p:cNvSpPr/>
            <p:nvPr/>
          </p:nvSpPr>
          <p:spPr>
            <a:xfrm>
              <a:off x="5001768" y="3083357"/>
              <a:ext cx="248717" cy="219456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9" name="Cab"/>
            <p:cNvSpPr/>
            <p:nvPr/>
          </p:nvSpPr>
          <p:spPr>
            <a:xfrm>
              <a:off x="3963010" y="3039466"/>
              <a:ext cx="658368" cy="570586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0" name="Cab roof"/>
            <p:cNvSpPr/>
            <p:nvPr/>
          </p:nvSpPr>
          <p:spPr>
            <a:xfrm>
              <a:off x="3919118" y="2980944"/>
              <a:ext cx="746150" cy="65837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1" name="Cab window"/>
            <p:cNvSpPr/>
            <p:nvPr/>
          </p:nvSpPr>
          <p:spPr>
            <a:xfrm>
              <a:off x="4123944" y="3141878"/>
              <a:ext cx="292608" cy="20482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2" name="Wheel"/>
            <p:cNvSpPr/>
            <p:nvPr/>
          </p:nvSpPr>
          <p:spPr>
            <a:xfrm>
              <a:off x="4145890" y="3602736"/>
              <a:ext cx="321869" cy="321869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3" name="Hub"/>
            <p:cNvSpPr/>
            <p:nvPr/>
          </p:nvSpPr>
          <p:spPr>
            <a:xfrm>
              <a:off x="4261762" y="3718609"/>
              <a:ext cx="90123" cy="90123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4" name="Wheel"/>
            <p:cNvSpPr/>
            <p:nvPr/>
          </p:nvSpPr>
          <p:spPr>
            <a:xfrm>
              <a:off x="4731106" y="3602736"/>
              <a:ext cx="321869" cy="321869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5" name="Hub"/>
            <p:cNvSpPr/>
            <p:nvPr/>
          </p:nvSpPr>
          <p:spPr>
            <a:xfrm>
              <a:off x="4846978" y="3718609"/>
              <a:ext cx="90123" cy="90123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6" name="Wheel"/>
            <p:cNvSpPr/>
            <p:nvPr/>
          </p:nvSpPr>
          <p:spPr>
            <a:xfrm>
              <a:off x="5316322" y="3602736"/>
              <a:ext cx="321869" cy="321869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7" name="Hub"/>
            <p:cNvSpPr/>
            <p:nvPr/>
          </p:nvSpPr>
          <p:spPr>
            <a:xfrm>
              <a:off x="5432194" y="3718609"/>
              <a:ext cx="90123" cy="90123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38" name="Coupling rod"/>
            <p:cNvCxnSpPr/>
            <p:nvPr/>
          </p:nvCxnSpPr>
          <p:spPr>
            <a:xfrm>
              <a:off x="4306824" y="3763670"/>
              <a:ext cx="1170432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139" name="Wagon"/>
            <p:cNvSpPr/>
            <p:nvPr/>
          </p:nvSpPr>
          <p:spPr>
            <a:xfrm>
              <a:off x="5852160" y="3317443"/>
              <a:ext cx="1097280" cy="453542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40" name="Connector 139"/>
            <p:cNvCxnSpPr/>
            <p:nvPr/>
          </p:nvCxnSpPr>
          <p:spPr>
            <a:xfrm>
              <a:off x="6126480" y="3346704"/>
              <a:ext cx="0" cy="395021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41" name="Connector 140"/>
            <p:cNvCxnSpPr/>
            <p:nvPr/>
          </p:nvCxnSpPr>
          <p:spPr>
            <a:xfrm>
              <a:off x="6400800" y="3346704"/>
              <a:ext cx="0" cy="395021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42" name="Connector 141"/>
            <p:cNvCxnSpPr/>
            <p:nvPr/>
          </p:nvCxnSpPr>
          <p:spPr>
            <a:xfrm>
              <a:off x="6675120" y="3346704"/>
              <a:ext cx="0" cy="395021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143" name="Wheel"/>
            <p:cNvSpPr/>
            <p:nvPr/>
          </p:nvSpPr>
          <p:spPr>
            <a:xfrm>
              <a:off x="5969203" y="3727094"/>
              <a:ext cx="204826" cy="204826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4" name="Hub"/>
            <p:cNvSpPr/>
            <p:nvPr/>
          </p:nvSpPr>
          <p:spPr>
            <a:xfrm>
              <a:off x="6042940" y="3800832"/>
              <a:ext cx="57351" cy="57351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5" name="Wheel"/>
            <p:cNvSpPr/>
            <p:nvPr/>
          </p:nvSpPr>
          <p:spPr>
            <a:xfrm>
              <a:off x="6627571" y="3727094"/>
              <a:ext cx="204826" cy="204826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6" name="Hub"/>
            <p:cNvSpPr/>
            <p:nvPr/>
          </p:nvSpPr>
          <p:spPr>
            <a:xfrm>
              <a:off x="6701308" y="3800832"/>
              <a:ext cx="57351" cy="57351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47" name="Row: Fits" descr="A well-matched engine and train: it fits."/>
          <p:cNvGrpSpPr/>
          <p:nvPr/>
        </p:nvGrpSpPr>
        <p:grpSpPr>
          <a:xfrm>
            <a:off x="548640" y="4197096"/>
            <a:ext cx="11091672" cy="1325880"/>
            <a:chOff x="548640" y="4197096"/>
            <a:chExt cx="11091672" cy="1325880"/>
          </a:xfrm>
        </p:grpSpPr>
        <p:sp>
          <p:nvSpPr>
            <p:cNvPr id="148" name="Row panel"/>
            <p:cNvSpPr/>
            <p:nvPr/>
          </p:nvSpPr>
          <p:spPr>
            <a:xfrm>
              <a:off x="548640" y="4197096"/>
              <a:ext cx="11091672" cy="1325880"/>
            </a:xfrm>
            <a:prstGeom prst="roundRect">
              <a:avLst>
                <a:gd name="adj" fmla="val 551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9" name="Verdict: Fits"/>
            <p:cNvSpPr/>
            <p:nvPr/>
          </p:nvSpPr>
          <p:spPr>
            <a:xfrm>
              <a:off x="777240" y="4626864"/>
              <a:ext cx="1737360" cy="457200"/>
            </a:xfrm>
            <a:prstGeom prst="roundRect">
              <a:avLst>
                <a:gd name="adj" fmla="val 50000"/>
              </a:avLst>
            </a:prstGeom>
            <a:solidFill>
              <a:srgbClr val="3FB950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Fits</a:t>
              </a:r>
            </a:p>
          </p:txBody>
        </p:sp>
        <p:sp>
          <p:nvSpPr>
            <p:cNvPr id="150" name="Rail"/>
            <p:cNvSpPr/>
            <p:nvPr/>
          </p:nvSpPr>
          <p:spPr>
            <a:xfrm>
              <a:off x="2834640" y="5376672"/>
              <a:ext cx="8595360" cy="4572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1" name="Tender"/>
            <p:cNvSpPr/>
            <p:nvPr/>
          </p:nvSpPr>
          <p:spPr>
            <a:xfrm>
              <a:off x="2880360" y="4785055"/>
              <a:ext cx="772668" cy="356616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2" name="Coal"/>
            <p:cNvSpPr/>
            <p:nvPr/>
          </p:nvSpPr>
          <p:spPr>
            <a:xfrm>
              <a:off x="2939796" y="4654296"/>
              <a:ext cx="653796" cy="130759"/>
            </a:xfrm>
            <a:custGeom>
              <a:avLst/>
              <a:gdLst/>
              <a:ahLst/>
              <a:cxnLst/>
              <a:rect l="l" t="t" r="r" b="b"/>
              <a:pathLst>
                <a:path w="653796" h="130759">
                  <a:moveTo>
                    <a:pt x="0" y="130759"/>
                  </a:moveTo>
                  <a:lnTo>
                    <a:pt x="118872" y="35662"/>
                  </a:lnTo>
                  <a:lnTo>
                    <a:pt x="297180" y="0"/>
                  </a:lnTo>
                  <a:lnTo>
                    <a:pt x="505206" y="41605"/>
                  </a:lnTo>
                  <a:lnTo>
                    <a:pt x="653796" y="130759"/>
                  </a:lnTo>
                  <a:close/>
                </a:path>
              </a:pathLst>
            </a:cu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3" name="Coupling"/>
            <p:cNvSpPr/>
            <p:nvPr/>
          </p:nvSpPr>
          <p:spPr>
            <a:xfrm>
              <a:off x="3653028" y="5058461"/>
              <a:ext cx="59436" cy="29718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4" name="Wheel"/>
            <p:cNvSpPr/>
            <p:nvPr/>
          </p:nvSpPr>
          <p:spPr>
            <a:xfrm>
              <a:off x="2939796" y="5111953"/>
              <a:ext cx="237744" cy="23774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5" name="Hub"/>
            <p:cNvSpPr/>
            <p:nvPr/>
          </p:nvSpPr>
          <p:spPr>
            <a:xfrm>
              <a:off x="3025384" y="5197541"/>
              <a:ext cx="66568" cy="665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6" name="Wheel"/>
            <p:cNvSpPr/>
            <p:nvPr/>
          </p:nvSpPr>
          <p:spPr>
            <a:xfrm>
              <a:off x="3355848" y="5111953"/>
              <a:ext cx="237744" cy="237744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7" name="Hub"/>
            <p:cNvSpPr/>
            <p:nvPr/>
          </p:nvSpPr>
          <p:spPr>
            <a:xfrm>
              <a:off x="3441436" y="5197541"/>
              <a:ext cx="66568" cy="6656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8" name="Footplate"/>
            <p:cNvSpPr/>
            <p:nvPr/>
          </p:nvSpPr>
          <p:spPr>
            <a:xfrm>
              <a:off x="3712464" y="5088179"/>
              <a:ext cx="1545336" cy="5943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9" name="Boiler"/>
            <p:cNvSpPr/>
            <p:nvPr/>
          </p:nvSpPr>
          <p:spPr>
            <a:xfrm>
              <a:off x="4247388" y="4761281"/>
              <a:ext cx="950976" cy="344729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0" name="Smokebox"/>
            <p:cNvSpPr/>
            <p:nvPr/>
          </p:nvSpPr>
          <p:spPr>
            <a:xfrm>
              <a:off x="5127041" y="4761281"/>
              <a:ext cx="83210" cy="34472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1" name="Chimney"/>
            <p:cNvSpPr/>
            <p:nvPr/>
          </p:nvSpPr>
          <p:spPr>
            <a:xfrm>
              <a:off x="5020056" y="4606747"/>
              <a:ext cx="77267" cy="166421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2" name="Chimney top"/>
            <p:cNvSpPr/>
            <p:nvPr/>
          </p:nvSpPr>
          <p:spPr>
            <a:xfrm>
              <a:off x="4990338" y="4582973"/>
              <a:ext cx="136703" cy="35662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3" name="Dome"/>
            <p:cNvSpPr/>
            <p:nvPr/>
          </p:nvSpPr>
          <p:spPr>
            <a:xfrm>
              <a:off x="4604004" y="4678070"/>
              <a:ext cx="202082" cy="178308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4" name="Cab"/>
            <p:cNvSpPr/>
            <p:nvPr/>
          </p:nvSpPr>
          <p:spPr>
            <a:xfrm>
              <a:off x="3760013" y="4642409"/>
              <a:ext cx="534924" cy="463601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5" name="Cab roof"/>
            <p:cNvSpPr/>
            <p:nvPr/>
          </p:nvSpPr>
          <p:spPr>
            <a:xfrm>
              <a:off x="3724351" y="4594860"/>
              <a:ext cx="606247" cy="53492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6" name="Cab window"/>
            <p:cNvSpPr/>
            <p:nvPr/>
          </p:nvSpPr>
          <p:spPr>
            <a:xfrm>
              <a:off x="3890772" y="4725619"/>
              <a:ext cx="237744" cy="166421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7" name="Wheel"/>
            <p:cNvSpPr/>
            <p:nvPr/>
          </p:nvSpPr>
          <p:spPr>
            <a:xfrm>
              <a:off x="3908603" y="5100066"/>
              <a:ext cx="261518" cy="261518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8" name="Hub"/>
            <p:cNvSpPr/>
            <p:nvPr/>
          </p:nvSpPr>
          <p:spPr>
            <a:xfrm>
              <a:off x="4002749" y="5194213"/>
              <a:ext cx="73225" cy="7322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9" name="Wheel"/>
            <p:cNvSpPr/>
            <p:nvPr/>
          </p:nvSpPr>
          <p:spPr>
            <a:xfrm>
              <a:off x="4384091" y="5100066"/>
              <a:ext cx="261518" cy="261518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0" name="Hub"/>
            <p:cNvSpPr/>
            <p:nvPr/>
          </p:nvSpPr>
          <p:spPr>
            <a:xfrm>
              <a:off x="4478237" y="5194213"/>
              <a:ext cx="73225" cy="7322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1" name="Wheel"/>
            <p:cNvSpPr/>
            <p:nvPr/>
          </p:nvSpPr>
          <p:spPr>
            <a:xfrm>
              <a:off x="4859579" y="5100066"/>
              <a:ext cx="261518" cy="261518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2" name="Hub"/>
            <p:cNvSpPr/>
            <p:nvPr/>
          </p:nvSpPr>
          <p:spPr>
            <a:xfrm>
              <a:off x="4953725" y="5194213"/>
              <a:ext cx="73225" cy="7322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3" name="Coupling rod"/>
            <p:cNvCxnSpPr/>
            <p:nvPr/>
          </p:nvCxnSpPr>
          <p:spPr>
            <a:xfrm>
              <a:off x="4039362" y="5230825"/>
              <a:ext cx="950976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174" name="Wagon"/>
            <p:cNvSpPr/>
            <p:nvPr/>
          </p:nvSpPr>
          <p:spPr>
            <a:xfrm>
              <a:off x="5303520" y="4868266"/>
              <a:ext cx="891540" cy="368503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75" name="Connector 174"/>
            <p:cNvCxnSpPr/>
            <p:nvPr/>
          </p:nvCxnSpPr>
          <p:spPr>
            <a:xfrm>
              <a:off x="5526405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76" name="Connector 175"/>
            <p:cNvCxnSpPr/>
            <p:nvPr/>
          </p:nvCxnSpPr>
          <p:spPr>
            <a:xfrm>
              <a:off x="5749290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77" name="Connector 176"/>
            <p:cNvCxnSpPr/>
            <p:nvPr/>
          </p:nvCxnSpPr>
          <p:spPr>
            <a:xfrm>
              <a:off x="5972175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178" name="Wheel"/>
            <p:cNvSpPr/>
            <p:nvPr/>
          </p:nvSpPr>
          <p:spPr>
            <a:xfrm>
              <a:off x="5398618" y="5201107"/>
              <a:ext cx="166421" cy="16642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9" name="Hub"/>
            <p:cNvSpPr/>
            <p:nvPr/>
          </p:nvSpPr>
          <p:spPr>
            <a:xfrm>
              <a:off x="5458529" y="5261019"/>
              <a:ext cx="46598" cy="4659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0" name="Wheel"/>
            <p:cNvSpPr/>
            <p:nvPr/>
          </p:nvSpPr>
          <p:spPr>
            <a:xfrm>
              <a:off x="5933542" y="5201107"/>
              <a:ext cx="166421" cy="16642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1" name="Hub"/>
            <p:cNvSpPr/>
            <p:nvPr/>
          </p:nvSpPr>
          <p:spPr>
            <a:xfrm>
              <a:off x="5993453" y="5261019"/>
              <a:ext cx="46598" cy="4659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2" name="Wagon"/>
            <p:cNvSpPr/>
            <p:nvPr/>
          </p:nvSpPr>
          <p:spPr>
            <a:xfrm>
              <a:off x="6240780" y="4868266"/>
              <a:ext cx="891540" cy="368503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3" name="Connector 182"/>
            <p:cNvCxnSpPr/>
            <p:nvPr/>
          </p:nvCxnSpPr>
          <p:spPr>
            <a:xfrm>
              <a:off x="6463665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84" name="Connector 183"/>
            <p:cNvCxnSpPr/>
            <p:nvPr/>
          </p:nvCxnSpPr>
          <p:spPr>
            <a:xfrm>
              <a:off x="6686550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85" name="Connector 184"/>
            <p:cNvCxnSpPr/>
            <p:nvPr/>
          </p:nvCxnSpPr>
          <p:spPr>
            <a:xfrm>
              <a:off x="6909435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186" name="Wheel"/>
            <p:cNvSpPr/>
            <p:nvPr/>
          </p:nvSpPr>
          <p:spPr>
            <a:xfrm>
              <a:off x="6335878" y="5201107"/>
              <a:ext cx="166421" cy="16642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7" name="Hub"/>
            <p:cNvSpPr/>
            <p:nvPr/>
          </p:nvSpPr>
          <p:spPr>
            <a:xfrm>
              <a:off x="6395789" y="5261019"/>
              <a:ext cx="46598" cy="4659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8" name="Wheel"/>
            <p:cNvSpPr/>
            <p:nvPr/>
          </p:nvSpPr>
          <p:spPr>
            <a:xfrm>
              <a:off x="6870802" y="5201107"/>
              <a:ext cx="166421" cy="16642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9" name="Hub"/>
            <p:cNvSpPr/>
            <p:nvPr/>
          </p:nvSpPr>
          <p:spPr>
            <a:xfrm>
              <a:off x="6930713" y="5261019"/>
              <a:ext cx="46598" cy="4659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0" name="Wagon"/>
            <p:cNvSpPr/>
            <p:nvPr/>
          </p:nvSpPr>
          <p:spPr>
            <a:xfrm>
              <a:off x="7178040" y="4868266"/>
              <a:ext cx="891540" cy="368503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1" name="Connector 190"/>
            <p:cNvCxnSpPr/>
            <p:nvPr/>
          </p:nvCxnSpPr>
          <p:spPr>
            <a:xfrm>
              <a:off x="7400925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92" name="Connector 191"/>
            <p:cNvCxnSpPr/>
            <p:nvPr/>
          </p:nvCxnSpPr>
          <p:spPr>
            <a:xfrm>
              <a:off x="7623810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193" name="Connector 192"/>
            <p:cNvCxnSpPr/>
            <p:nvPr/>
          </p:nvCxnSpPr>
          <p:spPr>
            <a:xfrm>
              <a:off x="7846695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194" name="Wheel"/>
            <p:cNvSpPr/>
            <p:nvPr/>
          </p:nvSpPr>
          <p:spPr>
            <a:xfrm>
              <a:off x="7273138" y="5201107"/>
              <a:ext cx="166421" cy="16642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5" name="Hub"/>
            <p:cNvSpPr/>
            <p:nvPr/>
          </p:nvSpPr>
          <p:spPr>
            <a:xfrm>
              <a:off x="7333049" y="5261019"/>
              <a:ext cx="46598" cy="4659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6" name="Wheel"/>
            <p:cNvSpPr/>
            <p:nvPr/>
          </p:nvSpPr>
          <p:spPr>
            <a:xfrm>
              <a:off x="7808062" y="5201107"/>
              <a:ext cx="166421" cy="16642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7" name="Hub"/>
            <p:cNvSpPr/>
            <p:nvPr/>
          </p:nvSpPr>
          <p:spPr>
            <a:xfrm>
              <a:off x="7867973" y="5261019"/>
              <a:ext cx="46598" cy="4659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8" name="Wagon"/>
            <p:cNvSpPr/>
            <p:nvPr/>
          </p:nvSpPr>
          <p:spPr>
            <a:xfrm>
              <a:off x="8115300" y="4868266"/>
              <a:ext cx="891540" cy="368503"/>
            </a:xfrm>
            <a:prstGeom prst="rect">
              <a:avLst/>
            </a:prstGeom>
            <a:solidFill>
              <a:srgbClr val="6C7480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99" name="Connector 198"/>
            <p:cNvCxnSpPr/>
            <p:nvPr/>
          </p:nvCxnSpPr>
          <p:spPr>
            <a:xfrm>
              <a:off x="8338185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200" name="Connector 199"/>
            <p:cNvCxnSpPr/>
            <p:nvPr/>
          </p:nvCxnSpPr>
          <p:spPr>
            <a:xfrm>
              <a:off x="8561070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cxnSp>
          <p:nvCxnSpPr>
            <p:cNvPr id="201" name="Connector 200"/>
            <p:cNvCxnSpPr/>
            <p:nvPr/>
          </p:nvCxnSpPr>
          <p:spPr>
            <a:xfrm>
              <a:off x="8783955" y="4892040"/>
              <a:ext cx="0" cy="320954"/>
            </a:xfrm>
            <a:prstGeom prst="line">
              <a:avLst/>
            </a:prstGeom>
            <a:ln w="12700">
              <a:solidFill>
                <a:srgbClr val="343A43"/>
              </a:solidFill>
            </a:ln>
          </p:spPr>
        </p:cxnSp>
        <p:sp>
          <p:nvSpPr>
            <p:cNvPr id="202" name="Wheel"/>
            <p:cNvSpPr/>
            <p:nvPr/>
          </p:nvSpPr>
          <p:spPr>
            <a:xfrm>
              <a:off x="8210398" y="5201107"/>
              <a:ext cx="166421" cy="16642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3" name="Hub"/>
            <p:cNvSpPr/>
            <p:nvPr/>
          </p:nvSpPr>
          <p:spPr>
            <a:xfrm>
              <a:off x="8270309" y="5261019"/>
              <a:ext cx="46598" cy="4659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4" name="Wheel"/>
            <p:cNvSpPr/>
            <p:nvPr/>
          </p:nvSpPr>
          <p:spPr>
            <a:xfrm>
              <a:off x="8745322" y="5201107"/>
              <a:ext cx="166421" cy="16642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5" name="Hub"/>
            <p:cNvSpPr/>
            <p:nvPr/>
          </p:nvSpPr>
          <p:spPr>
            <a:xfrm>
              <a:off x="8805233" y="5261019"/>
              <a:ext cx="46598" cy="4659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206" name="Caption" descr="Caption: Pick the engine for the load. A big engine on one wagon wastes effort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207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8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9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Pick the engine for the load. A big engine on one wagon wastes effort.</a:t>
              </a:r>
            </a:p>
          </p:txBody>
        </p:sp>
      </p:grpSp>
      <p:sp>
        <p:nvSpPr>
          <p:cNvPr id="210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How engines may feel</a:t>
            </a:r>
          </a:p>
        </p:txBody>
      </p:sp>
      <p:sp>
        <p:nvSpPr>
          <p:cNvPr id="3" name="Status chip" descr="Status tag: Propos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Card: Small" descr="Small engine: A few wagons, confidently; struggles on hills."/>
          <p:cNvGrpSpPr/>
          <p:nvPr/>
        </p:nvGrpSpPr>
        <p:grpSpPr>
          <a:xfrm>
            <a:off x="548640" y="1371600"/>
            <a:ext cx="3520440" cy="3063240"/>
            <a:chOff x="548640" y="1371600"/>
            <a:chExt cx="3520440" cy="3063240"/>
          </a:xfrm>
        </p:grpSpPr>
        <p:sp>
          <p:nvSpPr>
            <p:cNvPr id="5" name="Card panel"/>
            <p:cNvSpPr/>
            <p:nvPr/>
          </p:nvSpPr>
          <p:spPr>
            <a:xfrm>
              <a:off x="548640" y="1371600"/>
              <a:ext cx="3520440" cy="3063240"/>
            </a:xfrm>
            <a:prstGeom prst="roundRect">
              <a:avLst>
                <a:gd name="adj" fmla="val 23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Card title"/>
            <p:cNvSpPr txBox="1"/>
            <p:nvPr/>
          </p:nvSpPr>
          <p:spPr>
            <a:xfrm>
              <a:off x="777240" y="1481328"/>
              <a:ext cx="306324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8C28"/>
                  </a:solidFill>
                  <a:latin typeface="Arial"/>
                </a:rPr>
                <a:t>Small</a:t>
              </a:r>
            </a:p>
          </p:txBody>
        </p:sp>
        <p:sp>
          <p:nvSpPr>
            <p:cNvPr id="7" name="Footplate"/>
            <p:cNvSpPr/>
            <p:nvPr/>
          </p:nvSpPr>
          <p:spPr>
            <a:xfrm>
              <a:off x="1476756" y="2853842"/>
              <a:ext cx="1664208" cy="6400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Boiler"/>
            <p:cNvSpPr/>
            <p:nvPr/>
          </p:nvSpPr>
          <p:spPr>
            <a:xfrm>
              <a:off x="2052828" y="2501798"/>
              <a:ext cx="1024128" cy="371246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mokebox"/>
            <p:cNvSpPr/>
            <p:nvPr/>
          </p:nvSpPr>
          <p:spPr>
            <a:xfrm>
              <a:off x="3000146" y="2501798"/>
              <a:ext cx="89611" cy="371246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Chimney"/>
            <p:cNvSpPr/>
            <p:nvPr/>
          </p:nvSpPr>
          <p:spPr>
            <a:xfrm>
              <a:off x="2884932" y="2335378"/>
              <a:ext cx="83210" cy="179222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himney top"/>
            <p:cNvSpPr/>
            <p:nvPr/>
          </p:nvSpPr>
          <p:spPr>
            <a:xfrm>
              <a:off x="2852928" y="2309774"/>
              <a:ext cx="147218" cy="3840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ome"/>
            <p:cNvSpPr/>
            <p:nvPr/>
          </p:nvSpPr>
          <p:spPr>
            <a:xfrm>
              <a:off x="2436876" y="2412187"/>
              <a:ext cx="217627" cy="192024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Cab"/>
            <p:cNvSpPr/>
            <p:nvPr/>
          </p:nvSpPr>
          <p:spPr>
            <a:xfrm>
              <a:off x="1527962" y="2373782"/>
              <a:ext cx="576072" cy="499262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ab roof"/>
            <p:cNvSpPr/>
            <p:nvPr/>
          </p:nvSpPr>
          <p:spPr>
            <a:xfrm>
              <a:off x="1489558" y="2322576"/>
              <a:ext cx="652882" cy="57607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ab window"/>
            <p:cNvSpPr/>
            <p:nvPr/>
          </p:nvSpPr>
          <p:spPr>
            <a:xfrm>
              <a:off x="1668780" y="2463394"/>
              <a:ext cx="256032" cy="179222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Wheel"/>
            <p:cNvSpPr/>
            <p:nvPr/>
          </p:nvSpPr>
          <p:spPr>
            <a:xfrm>
              <a:off x="1687982" y="2866644"/>
              <a:ext cx="281635" cy="281635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Hub"/>
            <p:cNvSpPr/>
            <p:nvPr/>
          </p:nvSpPr>
          <p:spPr>
            <a:xfrm>
              <a:off x="1789371" y="2968033"/>
              <a:ext cx="78858" cy="7885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Wheel"/>
            <p:cNvSpPr/>
            <p:nvPr/>
          </p:nvSpPr>
          <p:spPr>
            <a:xfrm>
              <a:off x="2200046" y="2866644"/>
              <a:ext cx="281635" cy="281635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Hub"/>
            <p:cNvSpPr/>
            <p:nvPr/>
          </p:nvSpPr>
          <p:spPr>
            <a:xfrm>
              <a:off x="2301435" y="2968033"/>
              <a:ext cx="78858" cy="7885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Wheel"/>
            <p:cNvSpPr/>
            <p:nvPr/>
          </p:nvSpPr>
          <p:spPr>
            <a:xfrm>
              <a:off x="2712110" y="2866644"/>
              <a:ext cx="281635" cy="281635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Hub"/>
            <p:cNvSpPr/>
            <p:nvPr/>
          </p:nvSpPr>
          <p:spPr>
            <a:xfrm>
              <a:off x="2813499" y="2968033"/>
              <a:ext cx="78858" cy="78858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2" name="Coupling rod"/>
            <p:cNvCxnSpPr/>
            <p:nvPr/>
          </p:nvCxnSpPr>
          <p:spPr>
            <a:xfrm>
              <a:off x="1828800" y="3007462"/>
              <a:ext cx="1024128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3" name="Rail"/>
            <p:cNvSpPr/>
            <p:nvPr/>
          </p:nvSpPr>
          <p:spPr>
            <a:xfrm>
              <a:off x="777240" y="3172968"/>
              <a:ext cx="3063240" cy="3657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Card text"/>
            <p:cNvSpPr txBox="1"/>
            <p:nvPr/>
          </p:nvSpPr>
          <p:spPr>
            <a:xfrm>
              <a:off x="777240" y="3429000"/>
              <a:ext cx="306324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A few wagons, confidently; struggles on hills</a:t>
              </a:r>
            </a:p>
          </p:txBody>
        </p:sp>
      </p:grpSp>
      <p:grpSp>
        <p:nvGrpSpPr>
          <p:cNvPr id="25" name="Card: Medium" descr="Medium engine: Speed and range; burns more."/>
          <p:cNvGrpSpPr/>
          <p:nvPr/>
        </p:nvGrpSpPr>
        <p:grpSpPr>
          <a:xfrm>
            <a:off x="4334256" y="1371600"/>
            <a:ext cx="3520440" cy="3063240"/>
            <a:chOff x="4334256" y="1371600"/>
            <a:chExt cx="3520440" cy="3063240"/>
          </a:xfrm>
        </p:grpSpPr>
        <p:sp>
          <p:nvSpPr>
            <p:cNvPr id="26" name="Card panel"/>
            <p:cNvSpPr/>
            <p:nvPr/>
          </p:nvSpPr>
          <p:spPr>
            <a:xfrm>
              <a:off x="4334256" y="1371600"/>
              <a:ext cx="3520440" cy="3063240"/>
            </a:xfrm>
            <a:prstGeom prst="roundRect">
              <a:avLst>
                <a:gd name="adj" fmla="val 23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Card title"/>
            <p:cNvSpPr txBox="1"/>
            <p:nvPr/>
          </p:nvSpPr>
          <p:spPr>
            <a:xfrm>
              <a:off x="4562856" y="1481328"/>
              <a:ext cx="306324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8C28"/>
                  </a:solidFill>
                  <a:latin typeface="Arial"/>
                </a:rPr>
                <a:t>Medium</a:t>
              </a:r>
            </a:p>
          </p:txBody>
        </p:sp>
        <p:sp>
          <p:nvSpPr>
            <p:cNvPr id="28" name="Tender"/>
            <p:cNvSpPr/>
            <p:nvPr/>
          </p:nvSpPr>
          <p:spPr>
            <a:xfrm>
              <a:off x="4668012" y="2455713"/>
              <a:ext cx="927202" cy="427939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Coal"/>
            <p:cNvSpPr/>
            <p:nvPr/>
          </p:nvSpPr>
          <p:spPr>
            <a:xfrm>
              <a:off x="4739335" y="2298802"/>
              <a:ext cx="784555" cy="156911"/>
            </a:xfrm>
            <a:custGeom>
              <a:avLst/>
              <a:gdLst/>
              <a:ahLst/>
              <a:cxnLst/>
              <a:rect l="l" t="t" r="r" b="b"/>
              <a:pathLst>
                <a:path w="784555" h="156911">
                  <a:moveTo>
                    <a:pt x="0" y="156911"/>
                  </a:moveTo>
                  <a:lnTo>
                    <a:pt x="142647" y="42794"/>
                  </a:lnTo>
                  <a:lnTo>
                    <a:pt x="356616" y="0"/>
                  </a:lnTo>
                  <a:lnTo>
                    <a:pt x="606247" y="49926"/>
                  </a:lnTo>
                  <a:lnTo>
                    <a:pt x="784555" y="156911"/>
                  </a:lnTo>
                  <a:close/>
                </a:path>
              </a:pathLst>
            </a:cu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Coupling"/>
            <p:cNvSpPr/>
            <p:nvPr/>
          </p:nvSpPr>
          <p:spPr>
            <a:xfrm>
              <a:off x="5595214" y="2783799"/>
              <a:ext cx="71323" cy="35662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Wheel"/>
            <p:cNvSpPr/>
            <p:nvPr/>
          </p:nvSpPr>
          <p:spPr>
            <a:xfrm>
              <a:off x="4739335" y="2847990"/>
              <a:ext cx="285293" cy="285293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Hub"/>
            <p:cNvSpPr/>
            <p:nvPr/>
          </p:nvSpPr>
          <p:spPr>
            <a:xfrm>
              <a:off x="4842041" y="2950696"/>
              <a:ext cx="79882" cy="7988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Wheel"/>
            <p:cNvSpPr/>
            <p:nvPr/>
          </p:nvSpPr>
          <p:spPr>
            <a:xfrm>
              <a:off x="5238598" y="2847990"/>
              <a:ext cx="285293" cy="285293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ub"/>
            <p:cNvSpPr/>
            <p:nvPr/>
          </p:nvSpPr>
          <p:spPr>
            <a:xfrm>
              <a:off x="5341303" y="2950696"/>
              <a:ext cx="79882" cy="79882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Footplate"/>
            <p:cNvSpPr/>
            <p:nvPr/>
          </p:nvSpPr>
          <p:spPr>
            <a:xfrm>
              <a:off x="5666537" y="2819461"/>
              <a:ext cx="1854403" cy="71323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Boiler"/>
            <p:cNvSpPr/>
            <p:nvPr/>
          </p:nvSpPr>
          <p:spPr>
            <a:xfrm>
              <a:off x="6308446" y="2427183"/>
              <a:ext cx="1141171" cy="413675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Smokebox"/>
            <p:cNvSpPr/>
            <p:nvPr/>
          </p:nvSpPr>
          <p:spPr>
            <a:xfrm>
              <a:off x="7364029" y="2427183"/>
              <a:ext cx="99852" cy="41367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Chimney"/>
            <p:cNvSpPr/>
            <p:nvPr/>
          </p:nvSpPr>
          <p:spPr>
            <a:xfrm>
              <a:off x="7235647" y="2241743"/>
              <a:ext cx="92720" cy="19970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himney top"/>
            <p:cNvSpPr/>
            <p:nvPr/>
          </p:nvSpPr>
          <p:spPr>
            <a:xfrm>
              <a:off x="7199986" y="2213214"/>
              <a:ext cx="164043" cy="4279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ome"/>
            <p:cNvSpPr/>
            <p:nvPr/>
          </p:nvSpPr>
          <p:spPr>
            <a:xfrm>
              <a:off x="6736385" y="2327331"/>
              <a:ext cx="242499" cy="213970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Cab"/>
            <p:cNvSpPr/>
            <p:nvPr/>
          </p:nvSpPr>
          <p:spPr>
            <a:xfrm>
              <a:off x="5723595" y="2284537"/>
              <a:ext cx="641909" cy="556321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Cab roof"/>
            <p:cNvSpPr/>
            <p:nvPr/>
          </p:nvSpPr>
          <p:spPr>
            <a:xfrm>
              <a:off x="5680801" y="2227478"/>
              <a:ext cx="727497" cy="64191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Cab window"/>
            <p:cNvSpPr/>
            <p:nvPr/>
          </p:nvSpPr>
          <p:spPr>
            <a:xfrm>
              <a:off x="5880506" y="2384389"/>
              <a:ext cx="285293" cy="19970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Wheel"/>
            <p:cNvSpPr/>
            <p:nvPr/>
          </p:nvSpPr>
          <p:spPr>
            <a:xfrm>
              <a:off x="5901903" y="2833726"/>
              <a:ext cx="313822" cy="31382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Hub"/>
            <p:cNvSpPr/>
            <p:nvPr/>
          </p:nvSpPr>
          <p:spPr>
            <a:xfrm>
              <a:off x="6014879" y="2946702"/>
              <a:ext cx="87870" cy="8787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Wheel"/>
            <p:cNvSpPr/>
            <p:nvPr/>
          </p:nvSpPr>
          <p:spPr>
            <a:xfrm>
              <a:off x="6472489" y="2833726"/>
              <a:ext cx="313822" cy="31382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Hub"/>
            <p:cNvSpPr/>
            <p:nvPr/>
          </p:nvSpPr>
          <p:spPr>
            <a:xfrm>
              <a:off x="6585465" y="2946702"/>
              <a:ext cx="87870" cy="8787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Wheel"/>
            <p:cNvSpPr/>
            <p:nvPr/>
          </p:nvSpPr>
          <p:spPr>
            <a:xfrm>
              <a:off x="7043075" y="2833726"/>
              <a:ext cx="313822" cy="313822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Hub"/>
            <p:cNvSpPr/>
            <p:nvPr/>
          </p:nvSpPr>
          <p:spPr>
            <a:xfrm>
              <a:off x="7156051" y="2946702"/>
              <a:ext cx="87870" cy="87870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0" name="Coupling rod"/>
            <p:cNvCxnSpPr/>
            <p:nvPr/>
          </p:nvCxnSpPr>
          <p:spPr>
            <a:xfrm>
              <a:off x="6058814" y="2990637"/>
              <a:ext cx="1141172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51" name="Rail"/>
            <p:cNvSpPr/>
            <p:nvPr/>
          </p:nvSpPr>
          <p:spPr>
            <a:xfrm>
              <a:off x="4562856" y="3172968"/>
              <a:ext cx="3063240" cy="3657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Card text"/>
            <p:cNvSpPr txBox="1"/>
            <p:nvPr/>
          </p:nvSpPr>
          <p:spPr>
            <a:xfrm>
              <a:off x="4562856" y="3429000"/>
              <a:ext cx="306324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Speed and range; burns more</a:t>
              </a:r>
            </a:p>
          </p:txBody>
        </p:sp>
      </p:grpSp>
      <p:grpSp>
        <p:nvGrpSpPr>
          <p:cNvPr id="53" name="Card: Large" descr="Large engine: Heavy hauling; slow to speed up; thirsty."/>
          <p:cNvGrpSpPr/>
          <p:nvPr/>
        </p:nvGrpSpPr>
        <p:grpSpPr>
          <a:xfrm>
            <a:off x="8119872" y="1371600"/>
            <a:ext cx="3520440" cy="3063240"/>
            <a:chOff x="8119872" y="1371600"/>
            <a:chExt cx="3520440" cy="3063240"/>
          </a:xfrm>
        </p:grpSpPr>
        <p:sp>
          <p:nvSpPr>
            <p:cNvPr id="54" name="Card panel"/>
            <p:cNvSpPr/>
            <p:nvPr/>
          </p:nvSpPr>
          <p:spPr>
            <a:xfrm>
              <a:off x="8119872" y="1371600"/>
              <a:ext cx="3520440" cy="3063240"/>
            </a:xfrm>
            <a:prstGeom prst="roundRect">
              <a:avLst>
                <a:gd name="adj" fmla="val 23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Card title"/>
            <p:cNvSpPr txBox="1"/>
            <p:nvPr/>
          </p:nvSpPr>
          <p:spPr>
            <a:xfrm>
              <a:off x="8348472" y="1481328"/>
              <a:ext cx="306324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200" b="1" i="0" lang="en-GB">
                  <a:solidFill>
                    <a:srgbClr val="F28C28"/>
                  </a:solidFill>
                  <a:latin typeface="Arial"/>
                </a:rPr>
                <a:t>Large</a:t>
              </a:r>
            </a:p>
          </p:txBody>
        </p:sp>
        <p:sp>
          <p:nvSpPr>
            <p:cNvPr id="56" name="Tender"/>
            <p:cNvSpPr/>
            <p:nvPr/>
          </p:nvSpPr>
          <p:spPr>
            <a:xfrm>
              <a:off x="8325612" y="2392985"/>
              <a:ext cx="1010412" cy="466344"/>
            </a:xfrm>
            <a:prstGeom prst="rect">
              <a:avLst/>
            </a:prstGeom>
            <a:solidFill>
              <a:srgbClr val="343A43"/>
            </a:solidFill>
            <a:ln w="127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Coal"/>
            <p:cNvSpPr/>
            <p:nvPr/>
          </p:nvSpPr>
          <p:spPr>
            <a:xfrm>
              <a:off x="8403336" y="2221992"/>
              <a:ext cx="854964" cy="170993"/>
            </a:xfrm>
            <a:custGeom>
              <a:avLst/>
              <a:gdLst/>
              <a:ahLst/>
              <a:cxnLst/>
              <a:rect l="l" t="t" r="r" b="b"/>
              <a:pathLst>
                <a:path w="854964" h="170993">
                  <a:moveTo>
                    <a:pt x="0" y="170993"/>
                  </a:moveTo>
                  <a:lnTo>
                    <a:pt x="155448" y="46634"/>
                  </a:lnTo>
                  <a:lnTo>
                    <a:pt x="388620" y="0"/>
                  </a:lnTo>
                  <a:lnTo>
                    <a:pt x="660654" y="54407"/>
                  </a:lnTo>
                  <a:lnTo>
                    <a:pt x="854964" y="170993"/>
                  </a:lnTo>
                  <a:close/>
                </a:path>
              </a:pathLst>
            </a:cu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Coupling"/>
            <p:cNvSpPr/>
            <p:nvPr/>
          </p:nvSpPr>
          <p:spPr>
            <a:xfrm>
              <a:off x="9336024" y="2750515"/>
              <a:ext cx="77724" cy="38862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Wheel"/>
            <p:cNvSpPr/>
            <p:nvPr/>
          </p:nvSpPr>
          <p:spPr>
            <a:xfrm>
              <a:off x="8403336" y="2820467"/>
              <a:ext cx="310896" cy="310896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Hub"/>
            <p:cNvSpPr/>
            <p:nvPr/>
          </p:nvSpPr>
          <p:spPr>
            <a:xfrm>
              <a:off x="8515259" y="2932389"/>
              <a:ext cx="87051" cy="87051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Wheel"/>
            <p:cNvSpPr/>
            <p:nvPr/>
          </p:nvSpPr>
          <p:spPr>
            <a:xfrm>
              <a:off x="8947404" y="2820467"/>
              <a:ext cx="310896" cy="310896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Hub"/>
            <p:cNvSpPr/>
            <p:nvPr/>
          </p:nvSpPr>
          <p:spPr>
            <a:xfrm>
              <a:off x="9059327" y="2932389"/>
              <a:ext cx="87051" cy="87051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Footplate"/>
            <p:cNvSpPr/>
            <p:nvPr/>
          </p:nvSpPr>
          <p:spPr>
            <a:xfrm>
              <a:off x="9413748" y="2789377"/>
              <a:ext cx="2020824" cy="7772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Boiler"/>
            <p:cNvSpPr/>
            <p:nvPr/>
          </p:nvSpPr>
          <p:spPr>
            <a:xfrm>
              <a:off x="10113264" y="2361895"/>
              <a:ext cx="1243584" cy="450799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Smokebox"/>
            <p:cNvSpPr/>
            <p:nvPr/>
          </p:nvSpPr>
          <p:spPr>
            <a:xfrm>
              <a:off x="11263579" y="2361895"/>
              <a:ext cx="108814" cy="45079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Chimney"/>
            <p:cNvSpPr/>
            <p:nvPr/>
          </p:nvSpPr>
          <p:spPr>
            <a:xfrm>
              <a:off x="11123676" y="2159813"/>
              <a:ext cx="101041" cy="217627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Chimney top"/>
            <p:cNvSpPr/>
            <p:nvPr/>
          </p:nvSpPr>
          <p:spPr>
            <a:xfrm>
              <a:off x="11084814" y="2128723"/>
              <a:ext cx="178765" cy="4663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Dome"/>
            <p:cNvSpPr/>
            <p:nvPr/>
          </p:nvSpPr>
          <p:spPr>
            <a:xfrm>
              <a:off x="10579608" y="2253082"/>
              <a:ext cx="264262" cy="233172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Cab"/>
            <p:cNvSpPr/>
            <p:nvPr/>
          </p:nvSpPr>
          <p:spPr>
            <a:xfrm>
              <a:off x="9475927" y="2206447"/>
              <a:ext cx="699516" cy="606247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0" name="Cab roof"/>
            <p:cNvSpPr/>
            <p:nvPr/>
          </p:nvSpPr>
          <p:spPr>
            <a:xfrm>
              <a:off x="9429293" y="2144268"/>
              <a:ext cx="792785" cy="69952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1" name="Cab window"/>
            <p:cNvSpPr/>
            <p:nvPr/>
          </p:nvSpPr>
          <p:spPr>
            <a:xfrm>
              <a:off x="9646920" y="2315261"/>
              <a:ext cx="310896" cy="217627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2" name="Wheel"/>
            <p:cNvSpPr/>
            <p:nvPr/>
          </p:nvSpPr>
          <p:spPr>
            <a:xfrm>
              <a:off x="9670237" y="2804922"/>
              <a:ext cx="341986" cy="341986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3" name="Hub"/>
            <p:cNvSpPr/>
            <p:nvPr/>
          </p:nvSpPr>
          <p:spPr>
            <a:xfrm>
              <a:off x="9793352" y="2928037"/>
              <a:ext cx="95756" cy="9575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Wheel"/>
            <p:cNvSpPr/>
            <p:nvPr/>
          </p:nvSpPr>
          <p:spPr>
            <a:xfrm>
              <a:off x="10292029" y="2804922"/>
              <a:ext cx="341986" cy="341986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Hub"/>
            <p:cNvSpPr/>
            <p:nvPr/>
          </p:nvSpPr>
          <p:spPr>
            <a:xfrm>
              <a:off x="10415144" y="2928037"/>
              <a:ext cx="95756" cy="9575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Wheel"/>
            <p:cNvSpPr/>
            <p:nvPr/>
          </p:nvSpPr>
          <p:spPr>
            <a:xfrm>
              <a:off x="10913821" y="2804922"/>
              <a:ext cx="341986" cy="341986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Hub"/>
            <p:cNvSpPr/>
            <p:nvPr/>
          </p:nvSpPr>
          <p:spPr>
            <a:xfrm>
              <a:off x="11036936" y="2928037"/>
              <a:ext cx="95756" cy="95756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78" name="Coupling rod"/>
            <p:cNvCxnSpPr/>
            <p:nvPr/>
          </p:nvCxnSpPr>
          <p:spPr>
            <a:xfrm>
              <a:off x="9841230" y="2975915"/>
              <a:ext cx="1243584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79" name="Rail"/>
            <p:cNvSpPr/>
            <p:nvPr/>
          </p:nvSpPr>
          <p:spPr>
            <a:xfrm>
              <a:off x="8348472" y="3172968"/>
              <a:ext cx="3063240" cy="3657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0" name="Card text"/>
            <p:cNvSpPr txBox="1"/>
            <p:nvPr/>
          </p:nvSpPr>
          <p:spPr>
            <a:xfrm>
              <a:off x="8348472" y="3429000"/>
              <a:ext cx="3063240" cy="91440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Heavy hauling; slow to speed up; thirsty</a:t>
              </a:r>
            </a:p>
          </p:txBody>
        </p:sp>
      </p:grpSp>
      <p:sp>
        <p:nvSpPr>
          <p:cNvPr id="81" name="TextBox 80"/>
          <p:cNvSpPr txBox="1"/>
          <p:nvPr/>
        </p:nvSpPr>
        <p:spPr>
          <a:xfrm>
            <a:off x="548640" y="46817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Shape only. Not measured.</a:t>
            </a:r>
          </a:p>
        </p:txBody>
      </p:sp>
      <p:sp>
        <p:nvSpPr>
          <p:cNvPr id="82" name="Inline chip: Exact curves: undecided"/>
          <p:cNvSpPr/>
          <p:nvPr/>
        </p:nvSpPr>
        <p:spPr>
          <a:xfrm>
            <a:off x="9234591" y="4663440"/>
            <a:ext cx="2405721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F2F2F2"/>
                </a:solidFill>
                <a:latin typeface="Arial"/>
              </a:rPr>
              <a:t>Exact curves: undecided</a:t>
            </a:r>
          </a:p>
        </p:txBody>
      </p:sp>
      <p:grpSp>
        <p:nvGrpSpPr>
          <p:cNvPr id="83" name="Caption" descr="Caption: Small is nimble, Medium is quick, Large is strong. These are ideas about their character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84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5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6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Small is nimble, Medium is quick, Large is strong. These are ideas about their character.</a:t>
              </a:r>
            </a:p>
          </p:txBody>
        </p:sp>
      </p:grpSp>
      <p:sp>
        <p:nvSpPr>
          <p:cNvPr id="87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The speed question</a:t>
            </a:r>
          </a:p>
        </p:txBody>
      </p:sp>
      <p:sp>
        <p:nvSpPr>
          <p:cNvPr id="3" name="Status chip" descr="Status tag: Undecid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4" name="Ladder: earlier idea" descr="Earlier idea: three bars rising from Small to Medium to Large, shape only, no numbers."/>
          <p:cNvGrpSpPr/>
          <p:nvPr/>
        </p:nvGrpSpPr>
        <p:grpSpPr>
          <a:xfrm>
            <a:off x="548640" y="1371600"/>
            <a:ext cx="4709160" cy="3749040"/>
            <a:chOff x="548640" y="1371600"/>
            <a:chExt cx="4709160" cy="3749040"/>
          </a:xfrm>
        </p:grpSpPr>
        <p:sp>
          <p:nvSpPr>
            <p:cNvPr id="5" name="Panel"/>
            <p:cNvSpPr/>
            <p:nvPr/>
          </p:nvSpPr>
          <p:spPr>
            <a:xfrm>
              <a:off x="548640" y="1371600"/>
              <a:ext cx="4709160" cy="3749040"/>
            </a:xfrm>
            <a:prstGeom prst="roundRect">
              <a:avLst>
                <a:gd name="adj" fmla="val 1951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Ladder title"/>
            <p:cNvSpPr txBox="1"/>
            <p:nvPr/>
          </p:nvSpPr>
          <p:spPr>
            <a:xfrm>
              <a:off x="822960" y="1463040"/>
              <a:ext cx="41605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Earlier idea</a:t>
              </a:r>
            </a:p>
          </p:txBody>
        </p:sp>
        <p:cxnSp>
          <p:nvCxnSpPr>
            <p:cNvPr id="7" name="Speed axis"/>
            <p:cNvCxnSpPr/>
            <p:nvPr/>
          </p:nvCxnSpPr>
          <p:spPr>
            <a:xfrm flipV="1">
              <a:off x="960120" y="2148840"/>
              <a:ext cx="0" cy="2377440"/>
            </a:xfrm>
            <a:prstGeom prst="line">
              <a:avLst/>
            </a:prstGeom>
            <a:ln w="25400">
              <a:solidFill>
                <a:srgbClr val="9AA0A6"/>
              </a:solidFill>
              <a:tailEnd type="triangle" w="med" len="med"/>
            </a:ln>
          </p:spPr>
        </p:cxnSp>
        <p:sp>
          <p:nvSpPr>
            <p:cNvPr id="8" name="Axis label"/>
            <p:cNvSpPr txBox="1"/>
            <p:nvPr/>
          </p:nvSpPr>
          <p:spPr>
            <a:xfrm>
              <a:off x="1097280" y="2011680"/>
              <a:ext cx="109728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lang="en-GB">
                  <a:solidFill>
                    <a:srgbClr val="A9B0B8"/>
                  </a:solidFill>
                  <a:latin typeface="Arial"/>
                </a:rPr>
                <a:t>Speed</a:t>
              </a:r>
            </a:p>
          </p:txBody>
        </p:sp>
        <p:sp>
          <p:nvSpPr>
            <p:cNvPr id="9" name="Baseline"/>
            <p:cNvSpPr/>
            <p:nvPr/>
          </p:nvSpPr>
          <p:spPr>
            <a:xfrm>
              <a:off x="960120" y="4526280"/>
              <a:ext cx="3977640" cy="3657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Bar Small"/>
            <p:cNvSpPr/>
            <p:nvPr/>
          </p:nvSpPr>
          <p:spPr>
            <a:xfrm>
              <a:off x="1463040" y="3611880"/>
              <a:ext cx="914400" cy="914400"/>
            </a:xfrm>
            <a:prstGeom prst="roundRect">
              <a:avLst>
                <a:gd name="adj" fmla="val 6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325880" y="4599432"/>
              <a:ext cx="118872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Small</a:t>
              </a:r>
            </a:p>
          </p:txBody>
        </p:sp>
        <p:sp>
          <p:nvSpPr>
            <p:cNvPr id="12" name="Bar Medium"/>
            <p:cNvSpPr/>
            <p:nvPr/>
          </p:nvSpPr>
          <p:spPr>
            <a:xfrm>
              <a:off x="2651760" y="2926080"/>
              <a:ext cx="914400" cy="1600200"/>
            </a:xfrm>
            <a:prstGeom prst="roundRect">
              <a:avLst>
                <a:gd name="adj" fmla="val 6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514600" y="4599432"/>
              <a:ext cx="118872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Medium</a:t>
              </a:r>
            </a:p>
          </p:txBody>
        </p:sp>
        <p:sp>
          <p:nvSpPr>
            <p:cNvPr id="14" name="Bar Large"/>
            <p:cNvSpPr/>
            <p:nvPr/>
          </p:nvSpPr>
          <p:spPr>
            <a:xfrm>
              <a:off x="3840480" y="2240280"/>
              <a:ext cx="914400" cy="2286000"/>
            </a:xfrm>
            <a:prstGeom prst="roundRect">
              <a:avLst>
                <a:gd name="adj" fmla="val 6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3703320" y="4599432"/>
              <a:ext cx="118872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Large</a:t>
              </a:r>
            </a:p>
          </p:txBody>
        </p:sp>
      </p:grpSp>
      <p:grpSp>
        <p:nvGrpSpPr>
          <p:cNvPr id="16" name="Ladder: later idea" descr="Later idea: three bars with the Medium bar tallest, shape only, no numbers."/>
          <p:cNvGrpSpPr/>
          <p:nvPr/>
        </p:nvGrpSpPr>
        <p:grpSpPr>
          <a:xfrm>
            <a:off x="6931152" y="1371600"/>
            <a:ext cx="4709160" cy="3749040"/>
            <a:chOff x="6931152" y="1371600"/>
            <a:chExt cx="4709160" cy="3749040"/>
          </a:xfrm>
        </p:grpSpPr>
        <p:sp>
          <p:nvSpPr>
            <p:cNvPr id="17" name="Panel"/>
            <p:cNvSpPr/>
            <p:nvPr/>
          </p:nvSpPr>
          <p:spPr>
            <a:xfrm>
              <a:off x="6931152" y="1371600"/>
              <a:ext cx="4709160" cy="3749040"/>
            </a:xfrm>
            <a:prstGeom prst="roundRect">
              <a:avLst>
                <a:gd name="adj" fmla="val 1951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Ladder title"/>
            <p:cNvSpPr txBox="1"/>
            <p:nvPr/>
          </p:nvSpPr>
          <p:spPr>
            <a:xfrm>
              <a:off x="7205472" y="1463040"/>
              <a:ext cx="416052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Later idea</a:t>
              </a:r>
            </a:p>
          </p:txBody>
        </p:sp>
        <p:cxnSp>
          <p:nvCxnSpPr>
            <p:cNvPr id="19" name="Speed axis"/>
            <p:cNvCxnSpPr/>
            <p:nvPr/>
          </p:nvCxnSpPr>
          <p:spPr>
            <a:xfrm flipV="1">
              <a:off x="7342632" y="2148840"/>
              <a:ext cx="0" cy="2377440"/>
            </a:xfrm>
            <a:prstGeom prst="line">
              <a:avLst/>
            </a:prstGeom>
            <a:ln w="25400">
              <a:solidFill>
                <a:srgbClr val="9AA0A6"/>
              </a:solidFill>
              <a:tailEnd type="triangle" w="med" len="med"/>
            </a:ln>
          </p:spPr>
        </p:cxnSp>
        <p:sp>
          <p:nvSpPr>
            <p:cNvPr id="20" name="Axis label"/>
            <p:cNvSpPr txBox="1"/>
            <p:nvPr/>
          </p:nvSpPr>
          <p:spPr>
            <a:xfrm>
              <a:off x="7479792" y="2011680"/>
              <a:ext cx="1097280" cy="27432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400" b="0" i="0" lang="en-GB">
                  <a:solidFill>
                    <a:srgbClr val="A9B0B8"/>
                  </a:solidFill>
                  <a:latin typeface="Arial"/>
                </a:rPr>
                <a:t>Speed</a:t>
              </a:r>
            </a:p>
          </p:txBody>
        </p:sp>
        <p:sp>
          <p:nvSpPr>
            <p:cNvPr id="21" name="Baseline"/>
            <p:cNvSpPr/>
            <p:nvPr/>
          </p:nvSpPr>
          <p:spPr>
            <a:xfrm>
              <a:off x="7342632" y="4526280"/>
              <a:ext cx="3977640" cy="36576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Bar Small"/>
            <p:cNvSpPr/>
            <p:nvPr/>
          </p:nvSpPr>
          <p:spPr>
            <a:xfrm>
              <a:off x="7845552" y="3291840"/>
              <a:ext cx="914400" cy="1234440"/>
            </a:xfrm>
            <a:prstGeom prst="roundRect">
              <a:avLst>
                <a:gd name="adj" fmla="val 6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7708392" y="4599432"/>
              <a:ext cx="118872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Small</a:t>
              </a:r>
            </a:p>
          </p:txBody>
        </p:sp>
        <p:sp>
          <p:nvSpPr>
            <p:cNvPr id="24" name="Bar Medium"/>
            <p:cNvSpPr/>
            <p:nvPr/>
          </p:nvSpPr>
          <p:spPr>
            <a:xfrm>
              <a:off x="9034272" y="2240280"/>
              <a:ext cx="914400" cy="2286000"/>
            </a:xfrm>
            <a:prstGeom prst="roundRect">
              <a:avLst>
                <a:gd name="adj" fmla="val 6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8897112" y="4599432"/>
              <a:ext cx="118872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Medium</a:t>
              </a:r>
            </a:p>
          </p:txBody>
        </p:sp>
        <p:sp>
          <p:nvSpPr>
            <p:cNvPr id="26" name="Bar Large"/>
            <p:cNvSpPr/>
            <p:nvPr/>
          </p:nvSpPr>
          <p:spPr>
            <a:xfrm>
              <a:off x="10222992" y="3291840"/>
              <a:ext cx="914400" cy="1234440"/>
            </a:xfrm>
            <a:prstGeom prst="roundRect">
              <a:avLst>
                <a:gd name="adj" fmla="val 6000"/>
              </a:avLst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TextBox 26"/>
            <p:cNvSpPr txBox="1"/>
            <p:nvPr/>
          </p:nvSpPr>
          <p:spPr>
            <a:xfrm>
              <a:off x="10085832" y="4599432"/>
              <a:ext cx="1188720" cy="36576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Large</a:t>
              </a:r>
            </a:p>
          </p:txBody>
        </p:sp>
      </p:grpSp>
      <p:grpSp>
        <p:nvGrpSpPr>
          <p:cNvPr id="28" name="Question mark" descr="A question mark between the two ideas: which is right is undecided."/>
          <p:cNvGrpSpPr/>
          <p:nvPr/>
        </p:nvGrpSpPr>
        <p:grpSpPr>
          <a:xfrm>
            <a:off x="5591556" y="2651760"/>
            <a:ext cx="1005840" cy="1005840"/>
            <a:chOff x="5591556" y="2651760"/>
            <a:chExt cx="1005840" cy="1005840"/>
          </a:xfrm>
        </p:grpSpPr>
        <p:sp>
          <p:nvSpPr>
            <p:cNvPr id="29" name="Question circle"/>
            <p:cNvSpPr/>
            <p:nvPr/>
          </p:nvSpPr>
          <p:spPr>
            <a:xfrm>
              <a:off x="5591556" y="2651760"/>
              <a:ext cx="1005840" cy="1005840"/>
            </a:xfrm>
            <a:prstGeom prst="ellipse">
              <a:avLst/>
            </a:prstGeom>
            <a:noFill/>
            <a:ln w="38100">
              <a:solidFill>
                <a:srgbClr val="F28C2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4000" b="1" i="0" lang="en-GB">
                  <a:solidFill>
                    <a:srgbClr val="F28C28"/>
                  </a:solidFill>
                  <a:latin typeface="Arial"/>
                </a:rPr>
                <a:t>?</a:t>
              </a:r>
            </a:p>
          </p:txBody>
        </p:sp>
      </p:grpSp>
      <p:sp>
        <p:nvSpPr>
          <p:cNvPr id="30" name="TextBox 29"/>
          <p:cNvSpPr txBox="1"/>
          <p:nvPr/>
        </p:nvSpPr>
        <p:spPr>
          <a:xfrm>
            <a:off x="548640" y="5230368"/>
            <a:ext cx="27432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Not to scale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25912" y="5230368"/>
            <a:ext cx="914400" cy="32004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OQ05</a:t>
            </a:r>
          </a:p>
        </p:txBody>
      </p:sp>
      <p:grpSp>
        <p:nvGrpSpPr>
          <p:cNvPr id="32" name="Caption" descr="Caption: Is Medium the fastest, or Large? That is still undecided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33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Is Medium the fastest, or Large? That is still undecided.</a:t>
              </a:r>
            </a:p>
          </p:txBody>
        </p:sp>
      </p:grpSp>
      <p:sp>
        <p:nvSpPr>
          <p:cNvPr id="36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How big is a wagon?</a:t>
            </a:r>
          </a:p>
        </p:txBody>
      </p:sp>
      <p:sp>
        <p:nvSpPr>
          <p:cNvPr id="3" name="Status chip" descr="Status tag: Provisional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grpSp>
        <p:nvGrpSpPr>
          <p:cNvPr id="4" name="Diagram: two wagons and their stack grids" descr="A steam wagon holding a grid of 20 stacks beside a taller-capacity vanilla wagon holding a grid of 32 stacks."/>
          <p:cNvGrpSpPr/>
          <p:nvPr/>
        </p:nvGrpSpPr>
        <p:grpSpPr>
          <a:xfrm>
            <a:off x="548640" y="1371600"/>
            <a:ext cx="11091672" cy="4160520"/>
            <a:chOff x="548640" y="1371600"/>
            <a:chExt cx="11091672" cy="4160520"/>
          </a:xfrm>
        </p:grpSpPr>
        <p:sp>
          <p:nvSpPr>
            <p:cNvPr id="5" name="Panel"/>
            <p:cNvSpPr/>
            <p:nvPr/>
          </p:nvSpPr>
          <p:spPr>
            <a:xfrm>
              <a:off x="548640" y="1371600"/>
              <a:ext cx="11091672" cy="4160520"/>
            </a:xfrm>
            <a:prstGeom prst="roundRect">
              <a:avLst>
                <a:gd name="adj" fmla="val 175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Steam wagon body"/>
            <p:cNvSpPr/>
            <p:nvPr/>
          </p:nvSpPr>
          <p:spPr>
            <a:xfrm>
              <a:off x="1234440" y="1691640"/>
              <a:ext cx="2487168" cy="2057400"/>
            </a:xfrm>
            <a:prstGeom prst="roundRect">
              <a:avLst>
                <a:gd name="adj" fmla="val 3555"/>
              </a:avLst>
            </a:prstGeom>
            <a:solidFill>
              <a:srgbClr val="343A43"/>
            </a:solidFill>
            <a:ln w="3175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tack cell"/>
            <p:cNvSpPr/>
            <p:nvPr/>
          </p:nvSpPr>
          <p:spPr>
            <a:xfrm>
              <a:off x="1435608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tack cell"/>
            <p:cNvSpPr/>
            <p:nvPr/>
          </p:nvSpPr>
          <p:spPr>
            <a:xfrm>
              <a:off x="1865376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tack cell"/>
            <p:cNvSpPr/>
            <p:nvPr/>
          </p:nvSpPr>
          <p:spPr>
            <a:xfrm>
              <a:off x="2295144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tack cell"/>
            <p:cNvSpPr/>
            <p:nvPr/>
          </p:nvSpPr>
          <p:spPr>
            <a:xfrm>
              <a:off x="2724912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Stack cell"/>
            <p:cNvSpPr/>
            <p:nvPr/>
          </p:nvSpPr>
          <p:spPr>
            <a:xfrm>
              <a:off x="3154680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tack cell"/>
            <p:cNvSpPr/>
            <p:nvPr/>
          </p:nvSpPr>
          <p:spPr>
            <a:xfrm>
              <a:off x="1435608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Stack cell"/>
            <p:cNvSpPr/>
            <p:nvPr/>
          </p:nvSpPr>
          <p:spPr>
            <a:xfrm>
              <a:off x="1865376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Stack cell"/>
            <p:cNvSpPr/>
            <p:nvPr/>
          </p:nvSpPr>
          <p:spPr>
            <a:xfrm>
              <a:off x="2295144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Stack cell"/>
            <p:cNvSpPr/>
            <p:nvPr/>
          </p:nvSpPr>
          <p:spPr>
            <a:xfrm>
              <a:off x="2724912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tack cell"/>
            <p:cNvSpPr/>
            <p:nvPr/>
          </p:nvSpPr>
          <p:spPr>
            <a:xfrm>
              <a:off x="3154680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Stack cell"/>
            <p:cNvSpPr/>
            <p:nvPr/>
          </p:nvSpPr>
          <p:spPr>
            <a:xfrm>
              <a:off x="1435608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Stack cell"/>
            <p:cNvSpPr/>
            <p:nvPr/>
          </p:nvSpPr>
          <p:spPr>
            <a:xfrm>
              <a:off x="1865376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Stack cell"/>
            <p:cNvSpPr/>
            <p:nvPr/>
          </p:nvSpPr>
          <p:spPr>
            <a:xfrm>
              <a:off x="2295144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tack cell"/>
            <p:cNvSpPr/>
            <p:nvPr/>
          </p:nvSpPr>
          <p:spPr>
            <a:xfrm>
              <a:off x="2724912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tack cell"/>
            <p:cNvSpPr/>
            <p:nvPr/>
          </p:nvSpPr>
          <p:spPr>
            <a:xfrm>
              <a:off x="3154680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Stack cell"/>
            <p:cNvSpPr/>
            <p:nvPr/>
          </p:nvSpPr>
          <p:spPr>
            <a:xfrm>
              <a:off x="1435608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Stack cell"/>
            <p:cNvSpPr/>
            <p:nvPr/>
          </p:nvSpPr>
          <p:spPr>
            <a:xfrm>
              <a:off x="1865376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tack cell"/>
            <p:cNvSpPr/>
            <p:nvPr/>
          </p:nvSpPr>
          <p:spPr>
            <a:xfrm>
              <a:off x="2295144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Stack cell"/>
            <p:cNvSpPr/>
            <p:nvPr/>
          </p:nvSpPr>
          <p:spPr>
            <a:xfrm>
              <a:off x="2724912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tack cell"/>
            <p:cNvSpPr/>
            <p:nvPr/>
          </p:nvSpPr>
          <p:spPr>
            <a:xfrm>
              <a:off x="3154680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Wheel"/>
            <p:cNvSpPr/>
            <p:nvPr/>
          </p:nvSpPr>
          <p:spPr>
            <a:xfrm>
              <a:off x="1554480" y="3749040"/>
              <a:ext cx="365760" cy="36576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Hub"/>
            <p:cNvSpPr/>
            <p:nvPr/>
          </p:nvSpPr>
          <p:spPr>
            <a:xfrm>
              <a:off x="1686154" y="3880714"/>
              <a:ext cx="102413" cy="102413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Wheel"/>
            <p:cNvSpPr/>
            <p:nvPr/>
          </p:nvSpPr>
          <p:spPr>
            <a:xfrm>
              <a:off x="3035808" y="3749040"/>
              <a:ext cx="365760" cy="36576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Hub"/>
            <p:cNvSpPr/>
            <p:nvPr/>
          </p:nvSpPr>
          <p:spPr>
            <a:xfrm>
              <a:off x="3167482" y="3880714"/>
              <a:ext cx="102413" cy="102413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Vanilla wagon body"/>
            <p:cNvSpPr/>
            <p:nvPr/>
          </p:nvSpPr>
          <p:spPr>
            <a:xfrm>
              <a:off x="4407408" y="1691640"/>
              <a:ext cx="3776472" cy="2057400"/>
            </a:xfrm>
            <a:prstGeom prst="roundRect">
              <a:avLst>
                <a:gd name="adj" fmla="val 3555"/>
              </a:avLst>
            </a:prstGeom>
            <a:solidFill>
              <a:srgbClr val="343A43"/>
            </a:solidFill>
            <a:ln w="31750">
              <a:solidFill>
                <a:srgbClr val="6CA0DC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Stack cell"/>
            <p:cNvSpPr/>
            <p:nvPr/>
          </p:nvSpPr>
          <p:spPr>
            <a:xfrm>
              <a:off x="4608576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Stack cell"/>
            <p:cNvSpPr/>
            <p:nvPr/>
          </p:nvSpPr>
          <p:spPr>
            <a:xfrm>
              <a:off x="5038344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Stack cell"/>
            <p:cNvSpPr/>
            <p:nvPr/>
          </p:nvSpPr>
          <p:spPr>
            <a:xfrm>
              <a:off x="5468112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Stack cell"/>
            <p:cNvSpPr/>
            <p:nvPr/>
          </p:nvSpPr>
          <p:spPr>
            <a:xfrm>
              <a:off x="5897880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Stack cell"/>
            <p:cNvSpPr/>
            <p:nvPr/>
          </p:nvSpPr>
          <p:spPr>
            <a:xfrm>
              <a:off x="6327648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Stack cell"/>
            <p:cNvSpPr/>
            <p:nvPr/>
          </p:nvSpPr>
          <p:spPr>
            <a:xfrm>
              <a:off x="6757416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Stack cell"/>
            <p:cNvSpPr/>
            <p:nvPr/>
          </p:nvSpPr>
          <p:spPr>
            <a:xfrm>
              <a:off x="7187184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Stack cell"/>
            <p:cNvSpPr/>
            <p:nvPr/>
          </p:nvSpPr>
          <p:spPr>
            <a:xfrm>
              <a:off x="7616952" y="1892808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Stack cell"/>
            <p:cNvSpPr/>
            <p:nvPr/>
          </p:nvSpPr>
          <p:spPr>
            <a:xfrm>
              <a:off x="4608576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Stack cell"/>
            <p:cNvSpPr/>
            <p:nvPr/>
          </p:nvSpPr>
          <p:spPr>
            <a:xfrm>
              <a:off x="5038344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Stack cell"/>
            <p:cNvSpPr/>
            <p:nvPr/>
          </p:nvSpPr>
          <p:spPr>
            <a:xfrm>
              <a:off x="5468112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Stack cell"/>
            <p:cNvSpPr/>
            <p:nvPr/>
          </p:nvSpPr>
          <p:spPr>
            <a:xfrm>
              <a:off x="5897880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Stack cell"/>
            <p:cNvSpPr/>
            <p:nvPr/>
          </p:nvSpPr>
          <p:spPr>
            <a:xfrm>
              <a:off x="6327648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Stack cell"/>
            <p:cNvSpPr/>
            <p:nvPr/>
          </p:nvSpPr>
          <p:spPr>
            <a:xfrm>
              <a:off x="6757416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Stack cell"/>
            <p:cNvSpPr/>
            <p:nvPr/>
          </p:nvSpPr>
          <p:spPr>
            <a:xfrm>
              <a:off x="7187184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Stack cell"/>
            <p:cNvSpPr/>
            <p:nvPr/>
          </p:nvSpPr>
          <p:spPr>
            <a:xfrm>
              <a:off x="7616952" y="2322576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Stack cell"/>
            <p:cNvSpPr/>
            <p:nvPr/>
          </p:nvSpPr>
          <p:spPr>
            <a:xfrm>
              <a:off x="4608576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Stack cell"/>
            <p:cNvSpPr/>
            <p:nvPr/>
          </p:nvSpPr>
          <p:spPr>
            <a:xfrm>
              <a:off x="5038344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Stack cell"/>
            <p:cNvSpPr/>
            <p:nvPr/>
          </p:nvSpPr>
          <p:spPr>
            <a:xfrm>
              <a:off x="5468112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Stack cell"/>
            <p:cNvSpPr/>
            <p:nvPr/>
          </p:nvSpPr>
          <p:spPr>
            <a:xfrm>
              <a:off x="5897880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Stack cell"/>
            <p:cNvSpPr/>
            <p:nvPr/>
          </p:nvSpPr>
          <p:spPr>
            <a:xfrm>
              <a:off x="6327648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Stack cell"/>
            <p:cNvSpPr/>
            <p:nvPr/>
          </p:nvSpPr>
          <p:spPr>
            <a:xfrm>
              <a:off x="6757416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Stack cell"/>
            <p:cNvSpPr/>
            <p:nvPr/>
          </p:nvSpPr>
          <p:spPr>
            <a:xfrm>
              <a:off x="7187184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Stack cell"/>
            <p:cNvSpPr/>
            <p:nvPr/>
          </p:nvSpPr>
          <p:spPr>
            <a:xfrm>
              <a:off x="7616952" y="2752344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6" name="Stack cell"/>
            <p:cNvSpPr/>
            <p:nvPr/>
          </p:nvSpPr>
          <p:spPr>
            <a:xfrm>
              <a:off x="4608576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7" name="Stack cell"/>
            <p:cNvSpPr/>
            <p:nvPr/>
          </p:nvSpPr>
          <p:spPr>
            <a:xfrm>
              <a:off x="5038344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8" name="Stack cell"/>
            <p:cNvSpPr/>
            <p:nvPr/>
          </p:nvSpPr>
          <p:spPr>
            <a:xfrm>
              <a:off x="5468112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9" name="Stack cell"/>
            <p:cNvSpPr/>
            <p:nvPr/>
          </p:nvSpPr>
          <p:spPr>
            <a:xfrm>
              <a:off x="5897880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0" name="Stack cell"/>
            <p:cNvSpPr/>
            <p:nvPr/>
          </p:nvSpPr>
          <p:spPr>
            <a:xfrm>
              <a:off x="6327648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1" name="Stack cell"/>
            <p:cNvSpPr/>
            <p:nvPr/>
          </p:nvSpPr>
          <p:spPr>
            <a:xfrm>
              <a:off x="6757416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2" name="Stack cell"/>
            <p:cNvSpPr/>
            <p:nvPr/>
          </p:nvSpPr>
          <p:spPr>
            <a:xfrm>
              <a:off x="7187184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3" name="Stack cell"/>
            <p:cNvSpPr/>
            <p:nvPr/>
          </p:nvSpPr>
          <p:spPr>
            <a:xfrm>
              <a:off x="7616952" y="3182112"/>
              <a:ext cx="365760" cy="365760"/>
            </a:xfrm>
            <a:prstGeom prst="roundRect">
              <a:avLst>
                <a:gd name="adj" fmla="val 12500"/>
              </a:avLst>
            </a:prstGeom>
            <a:solidFill>
              <a:srgbClr val="6CA0DC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4" name="Wheel"/>
            <p:cNvSpPr/>
            <p:nvPr/>
          </p:nvSpPr>
          <p:spPr>
            <a:xfrm>
              <a:off x="4727448" y="3749040"/>
              <a:ext cx="365760" cy="36576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Hub"/>
            <p:cNvSpPr/>
            <p:nvPr/>
          </p:nvSpPr>
          <p:spPr>
            <a:xfrm>
              <a:off x="4859122" y="3880714"/>
              <a:ext cx="102413" cy="102413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Wheel"/>
            <p:cNvSpPr/>
            <p:nvPr/>
          </p:nvSpPr>
          <p:spPr>
            <a:xfrm>
              <a:off x="7498080" y="3749040"/>
              <a:ext cx="365760" cy="365760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7" name="Hub"/>
            <p:cNvSpPr/>
            <p:nvPr/>
          </p:nvSpPr>
          <p:spPr>
            <a:xfrm>
              <a:off x="7629754" y="3880714"/>
              <a:ext cx="102413" cy="102413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8" name="Rail"/>
            <p:cNvSpPr/>
            <p:nvPr/>
          </p:nvSpPr>
          <p:spPr>
            <a:xfrm>
              <a:off x="1097280" y="4114800"/>
              <a:ext cx="7223760" cy="45720"/>
            </a:xfrm>
            <a:prstGeom prst="rect">
              <a:avLst/>
            </a:prstGeom>
            <a:solidFill>
              <a:srgbClr val="4A515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740664" y="4206240"/>
              <a:ext cx="3474720" cy="41148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Steam wagon: about 20 stacks</a:t>
              </a:r>
            </a:p>
          </p:txBody>
        </p:sp>
        <p:sp>
          <p:nvSpPr>
            <p:cNvPr id="70" name="TextBox 69"/>
            <p:cNvSpPr txBox="1"/>
            <p:nvPr/>
          </p:nvSpPr>
          <p:spPr>
            <a:xfrm>
              <a:off x="4558284" y="4206240"/>
              <a:ext cx="3474720" cy="41148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Vanilla wagon: 32 stacks</a:t>
              </a:r>
            </a:p>
          </p:txBody>
        </p:sp>
        <p:sp>
          <p:nvSpPr>
            <p:cNvPr id="71" name="Inline chip: Wagon catalogue: undecided (OQ07)"/>
            <p:cNvSpPr/>
            <p:nvPr/>
          </p:nvSpPr>
          <p:spPr>
            <a:xfrm>
              <a:off x="868680" y="4846320"/>
              <a:ext cx="3415986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Wagon catalogue: undecided (OQ07)</a:t>
              </a:r>
            </a:p>
          </p:txBody>
        </p:sp>
      </p:grpSp>
      <p:grpSp>
        <p:nvGrpSpPr>
          <p:cNvPr id="72" name="Note: what a stack is" descr="A stack is a pile of one item, drawn as one cell holding a pile."/>
          <p:cNvGrpSpPr/>
          <p:nvPr/>
        </p:nvGrpSpPr>
        <p:grpSpPr>
          <a:xfrm>
            <a:off x="9189720" y="1691640"/>
            <a:ext cx="2194560" cy="2377440"/>
            <a:chOff x="9189720" y="1691640"/>
            <a:chExt cx="2194560" cy="2377440"/>
          </a:xfrm>
        </p:grpSpPr>
        <p:sp>
          <p:nvSpPr>
            <p:cNvPr id="73" name="Note panel"/>
            <p:cNvSpPr/>
            <p:nvPr/>
          </p:nvSpPr>
          <p:spPr>
            <a:xfrm>
              <a:off x="9189720" y="1691640"/>
              <a:ext cx="2194560" cy="2377440"/>
            </a:xfrm>
            <a:prstGeom prst="roundRect">
              <a:avLst>
                <a:gd name="adj" fmla="val 3333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4" name="Example cell"/>
            <p:cNvSpPr/>
            <p:nvPr/>
          </p:nvSpPr>
          <p:spPr>
            <a:xfrm>
              <a:off x="9875520" y="1874520"/>
              <a:ext cx="822960" cy="822960"/>
            </a:xfrm>
            <a:prstGeom prst="roundRect">
              <a:avLst>
                <a:gd name="adj" fmla="val 8888"/>
              </a:avLst>
            </a:prstGeom>
            <a:noFill/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5" name="Item"/>
            <p:cNvSpPr/>
            <p:nvPr/>
          </p:nvSpPr>
          <p:spPr>
            <a:xfrm>
              <a:off x="10003536" y="2267712"/>
              <a:ext cx="256032" cy="256032"/>
            </a:xfrm>
            <a:prstGeom prst="ellipse">
              <a:avLst/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6" name="Item"/>
            <p:cNvSpPr/>
            <p:nvPr/>
          </p:nvSpPr>
          <p:spPr>
            <a:xfrm>
              <a:off x="10314432" y="2267712"/>
              <a:ext cx="256032" cy="256032"/>
            </a:xfrm>
            <a:prstGeom prst="ellipse">
              <a:avLst/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7" name="Item"/>
            <p:cNvSpPr/>
            <p:nvPr/>
          </p:nvSpPr>
          <p:spPr>
            <a:xfrm>
              <a:off x="10158984" y="2066544"/>
              <a:ext cx="256032" cy="256032"/>
            </a:xfrm>
            <a:prstGeom prst="ellipse">
              <a:avLst/>
            </a:prstGeom>
            <a:solidFill>
              <a:srgbClr val="F2C14E"/>
            </a:solidFill>
            <a:ln w="127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8" name="Note text"/>
            <p:cNvSpPr txBox="1"/>
            <p:nvPr/>
          </p:nvSpPr>
          <p:spPr>
            <a:xfrm>
              <a:off x="9326880" y="2834640"/>
              <a:ext cx="192024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0" i="0" lang="en-GB">
                  <a:solidFill>
                    <a:srgbClr val="F2F2F2"/>
                  </a:solidFill>
                  <a:latin typeface="Arial"/>
                </a:rPr>
                <a:t>A stack is a pile of one item.</a:t>
              </a:r>
            </a:p>
          </p:txBody>
        </p:sp>
      </p:grpSp>
      <p:grpSp>
        <p:nvGrpSpPr>
          <p:cNvPr id="79" name="Caption" descr="Caption: Steam wagons are cheaper and hold less. About 20 stacks against 32 in a vanilla wagon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80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1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2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Steam wagons are cheaper and hold less. About 20 stacks against 32 in a vanilla wagon.</a:t>
              </a:r>
            </a:p>
          </p:txBody>
        </p:sp>
      </p:grpSp>
      <p:sp>
        <p:nvSpPr>
          <p:cNvPr id="83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Judge the whole route</a:t>
            </a:r>
          </a:p>
        </p:txBody>
      </p:sp>
      <p:sp>
        <p:nvSpPr>
          <p:cNvPr id="3" name="Status chip" descr="Status tag: Agre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Scorecard item: Cost" descr="Scorecard item: Cost."/>
          <p:cNvGrpSpPr/>
          <p:nvPr/>
        </p:nvGrpSpPr>
        <p:grpSpPr>
          <a:xfrm>
            <a:off x="548640" y="1371600"/>
            <a:ext cx="2651760" cy="1874520"/>
            <a:chOff x="548640" y="1371600"/>
            <a:chExt cx="2651760" cy="1874520"/>
          </a:xfrm>
        </p:grpSpPr>
        <p:sp>
          <p:nvSpPr>
            <p:cNvPr id="5" name="Tile"/>
            <p:cNvSpPr/>
            <p:nvPr/>
          </p:nvSpPr>
          <p:spPr>
            <a:xfrm>
              <a:off x="548640" y="137160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Coin"/>
            <p:cNvSpPr/>
            <p:nvPr/>
          </p:nvSpPr>
          <p:spPr>
            <a:xfrm>
              <a:off x="1508760" y="1719072"/>
              <a:ext cx="731520" cy="731520"/>
            </a:xfrm>
            <a:prstGeom prst="ellipse">
              <a:avLst/>
            </a:prstGeom>
            <a:solidFill>
              <a:srgbClr val="F2C14E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Coin ring"/>
            <p:cNvSpPr/>
            <p:nvPr/>
          </p:nvSpPr>
          <p:spPr>
            <a:xfrm>
              <a:off x="1627632" y="1837944"/>
              <a:ext cx="493776" cy="493776"/>
            </a:xfrm>
            <a:prstGeom prst="ellipse">
              <a:avLst/>
            </a:prstGeom>
            <a:noFill/>
            <a:ln w="2540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40080" y="2697480"/>
              <a:ext cx="246888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Cost</a:t>
              </a:r>
            </a:p>
          </p:txBody>
        </p:sp>
      </p:grpSp>
      <p:grpSp>
        <p:nvGrpSpPr>
          <p:cNvPr id="9" name="Scorecard item: Cargo per trip" descr="Scorecard item: Cargo per trip."/>
          <p:cNvGrpSpPr/>
          <p:nvPr/>
        </p:nvGrpSpPr>
        <p:grpSpPr>
          <a:xfrm>
            <a:off x="3362249" y="1371600"/>
            <a:ext cx="2651760" cy="1874520"/>
            <a:chOff x="3362249" y="1371600"/>
            <a:chExt cx="2651760" cy="1874520"/>
          </a:xfrm>
        </p:grpSpPr>
        <p:sp>
          <p:nvSpPr>
            <p:cNvPr id="10" name="Tile"/>
            <p:cNvSpPr/>
            <p:nvPr/>
          </p:nvSpPr>
          <p:spPr>
            <a:xfrm>
              <a:off x="3362249" y="137160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rate"/>
            <p:cNvSpPr/>
            <p:nvPr/>
          </p:nvSpPr>
          <p:spPr>
            <a:xfrm>
              <a:off x="4322369" y="1764792"/>
              <a:ext cx="731520" cy="640080"/>
            </a:xfrm>
            <a:prstGeom prst="rect">
              <a:avLst/>
            </a:prstGeom>
            <a:solidFill>
              <a:srgbClr val="F2C14E"/>
            </a:solidFill>
            <a:ln w="19050">
              <a:solidFill>
                <a:srgbClr val="10141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4322369" y="1764792"/>
              <a:ext cx="731520" cy="640080"/>
            </a:xfrm>
            <a:prstGeom prst="line">
              <a:avLst/>
            </a:prstGeom>
            <a:ln w="25400">
              <a:solidFill>
                <a:srgbClr val="101418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 flipV="1">
              <a:off x="4322369" y="1764792"/>
              <a:ext cx="731520" cy="640080"/>
            </a:xfrm>
            <a:prstGeom prst="line">
              <a:avLst/>
            </a:prstGeom>
            <a:ln w="25400">
              <a:solidFill>
                <a:srgbClr val="101418"/>
              </a:solidFill>
            </a:ln>
          </p:spPr>
        </p:cxnSp>
        <p:sp>
          <p:nvSpPr>
            <p:cNvPr id="14" name="TextBox 13"/>
            <p:cNvSpPr txBox="1"/>
            <p:nvPr/>
          </p:nvSpPr>
          <p:spPr>
            <a:xfrm>
              <a:off x="3453689" y="2697480"/>
              <a:ext cx="246888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Cargo per trip</a:t>
              </a:r>
            </a:p>
          </p:txBody>
        </p:sp>
      </p:grpSp>
      <p:grpSp>
        <p:nvGrpSpPr>
          <p:cNvPr id="15" name="Scorecard item: Journey time" descr="Scorecard item: Journey time."/>
          <p:cNvGrpSpPr/>
          <p:nvPr/>
        </p:nvGrpSpPr>
        <p:grpSpPr>
          <a:xfrm>
            <a:off x="6175858" y="1371600"/>
            <a:ext cx="2651760" cy="1874520"/>
            <a:chOff x="6175858" y="1371600"/>
            <a:chExt cx="2651760" cy="1874520"/>
          </a:xfrm>
        </p:grpSpPr>
        <p:sp>
          <p:nvSpPr>
            <p:cNvPr id="16" name="Tile"/>
            <p:cNvSpPr/>
            <p:nvPr/>
          </p:nvSpPr>
          <p:spPr>
            <a:xfrm>
              <a:off x="6175858" y="137160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Clock"/>
            <p:cNvSpPr/>
            <p:nvPr/>
          </p:nvSpPr>
          <p:spPr>
            <a:xfrm>
              <a:off x="7135978" y="1719072"/>
              <a:ext cx="731520" cy="731520"/>
            </a:xfrm>
            <a:prstGeom prst="ellipse">
              <a:avLst/>
            </a:prstGeom>
            <a:noFill/>
            <a:ln w="381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8" name="Clock hand"/>
            <p:cNvCxnSpPr/>
            <p:nvPr/>
          </p:nvCxnSpPr>
          <p:spPr>
            <a:xfrm flipV="1">
              <a:off x="7501738" y="1837944"/>
              <a:ext cx="0" cy="246888"/>
            </a:xfrm>
            <a:prstGeom prst="line">
              <a:avLst/>
            </a:prstGeom>
            <a:ln w="38100">
              <a:solidFill>
                <a:srgbClr val="F2F2F2"/>
              </a:solidFill>
            </a:ln>
          </p:spPr>
        </p:cxnSp>
        <p:cxnSp>
          <p:nvCxnSpPr>
            <p:cNvPr id="19" name="Clock hand"/>
            <p:cNvCxnSpPr/>
            <p:nvPr/>
          </p:nvCxnSpPr>
          <p:spPr>
            <a:xfrm>
              <a:off x="7501738" y="2084832"/>
              <a:ext cx="182880" cy="91440"/>
            </a:xfrm>
            <a:prstGeom prst="line">
              <a:avLst/>
            </a:prstGeom>
            <a:ln w="38100">
              <a:solidFill>
                <a:srgbClr val="F2F2F2"/>
              </a:solidFill>
            </a:ln>
          </p:spPr>
        </p:cxnSp>
        <p:sp>
          <p:nvSpPr>
            <p:cNvPr id="20" name="TextBox 19"/>
            <p:cNvSpPr txBox="1"/>
            <p:nvPr/>
          </p:nvSpPr>
          <p:spPr>
            <a:xfrm>
              <a:off x="6267298" y="2697480"/>
              <a:ext cx="246888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Journey time</a:t>
              </a:r>
            </a:p>
          </p:txBody>
        </p:sp>
      </p:grpSp>
      <p:grpSp>
        <p:nvGrpSpPr>
          <p:cNvPr id="21" name="Scorecard item: Coal and water" descr="Scorecard item: Coal and water."/>
          <p:cNvGrpSpPr/>
          <p:nvPr/>
        </p:nvGrpSpPr>
        <p:grpSpPr>
          <a:xfrm>
            <a:off x="8989466" y="1371600"/>
            <a:ext cx="2651760" cy="1874520"/>
            <a:chOff x="8989466" y="1371600"/>
            <a:chExt cx="2651760" cy="1874520"/>
          </a:xfrm>
        </p:grpSpPr>
        <p:sp>
          <p:nvSpPr>
            <p:cNvPr id="22" name="Tile"/>
            <p:cNvSpPr/>
            <p:nvPr/>
          </p:nvSpPr>
          <p:spPr>
            <a:xfrm>
              <a:off x="8989466" y="137160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Coal heap"/>
            <p:cNvSpPr/>
            <p:nvPr/>
          </p:nvSpPr>
          <p:spPr>
            <a:xfrm>
              <a:off x="9748418" y="1901952"/>
              <a:ext cx="612648" cy="475488"/>
            </a:xfrm>
            <a:custGeom>
              <a:avLst/>
              <a:gdLst/>
              <a:ahLst/>
              <a:cxnLst/>
              <a:rect l="l" t="t" r="r" b="b"/>
              <a:pathLst>
                <a:path w="612648" h="475488">
                  <a:moveTo>
                    <a:pt x="0" y="475488"/>
                  </a:moveTo>
                  <a:lnTo>
                    <a:pt x="109728" y="182880"/>
                  </a:lnTo>
                  <a:lnTo>
                    <a:pt x="292608" y="0"/>
                  </a:lnTo>
                  <a:lnTo>
                    <a:pt x="521208" y="91440"/>
                  </a:lnTo>
                  <a:lnTo>
                    <a:pt x="612648" y="475488"/>
                  </a:lnTo>
                  <a:close/>
                </a:path>
              </a:pathLst>
            </a:cu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Water drop"/>
            <p:cNvSpPr/>
            <p:nvPr/>
          </p:nvSpPr>
          <p:spPr>
            <a:xfrm rot="18900000">
              <a:off x="10452506" y="1828800"/>
              <a:ext cx="457200" cy="457200"/>
            </a:xfrm>
            <a:prstGeom prst="teardrop">
              <a:avLst/>
            </a:prstGeom>
            <a:solidFill>
              <a:srgbClr val="4DA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9080906" y="2697480"/>
              <a:ext cx="246888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Coal and water</a:t>
              </a:r>
            </a:p>
          </p:txBody>
        </p:sp>
      </p:grpSp>
      <p:grpSp>
        <p:nvGrpSpPr>
          <p:cNvPr id="26" name="Scorecard item: Time stopped" descr="Scorecard item: Time stopped."/>
          <p:cNvGrpSpPr/>
          <p:nvPr/>
        </p:nvGrpSpPr>
        <p:grpSpPr>
          <a:xfrm>
            <a:off x="548640" y="3474720"/>
            <a:ext cx="2651760" cy="1874520"/>
            <a:chOff x="548640" y="3474720"/>
            <a:chExt cx="2651760" cy="1874520"/>
          </a:xfrm>
        </p:grpSpPr>
        <p:sp>
          <p:nvSpPr>
            <p:cNvPr id="27" name="Tile"/>
            <p:cNvSpPr/>
            <p:nvPr/>
          </p:nvSpPr>
          <p:spPr>
            <a:xfrm>
              <a:off x="548640" y="347472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Pause ring"/>
            <p:cNvSpPr/>
            <p:nvPr/>
          </p:nvSpPr>
          <p:spPr>
            <a:xfrm>
              <a:off x="1508760" y="3822192"/>
              <a:ext cx="731520" cy="731520"/>
            </a:xfrm>
            <a:prstGeom prst="ellipse">
              <a:avLst/>
            </a:prstGeom>
            <a:noFill/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Pause bar"/>
            <p:cNvSpPr/>
            <p:nvPr/>
          </p:nvSpPr>
          <p:spPr>
            <a:xfrm>
              <a:off x="1737360" y="4023360"/>
              <a:ext cx="91440" cy="32918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Pause bar"/>
            <p:cNvSpPr/>
            <p:nvPr/>
          </p:nvSpPr>
          <p:spPr>
            <a:xfrm>
              <a:off x="1920240" y="4023360"/>
              <a:ext cx="91440" cy="329184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TextBox 30"/>
            <p:cNvSpPr txBox="1"/>
            <p:nvPr/>
          </p:nvSpPr>
          <p:spPr>
            <a:xfrm>
              <a:off x="640080" y="4800600"/>
              <a:ext cx="246888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Time stopped</a:t>
              </a:r>
            </a:p>
          </p:txBody>
        </p:sp>
      </p:grpSp>
      <p:grpSp>
        <p:nvGrpSpPr>
          <p:cNvPr id="32" name="Scorecard item: Track used" descr="Scorecard item: Track used."/>
          <p:cNvGrpSpPr/>
          <p:nvPr/>
        </p:nvGrpSpPr>
        <p:grpSpPr>
          <a:xfrm>
            <a:off x="3362249" y="3474720"/>
            <a:ext cx="2651760" cy="1874520"/>
            <a:chOff x="3362249" y="3474720"/>
            <a:chExt cx="2651760" cy="1874520"/>
          </a:xfrm>
        </p:grpSpPr>
        <p:sp>
          <p:nvSpPr>
            <p:cNvPr id="33" name="Tile"/>
            <p:cNvSpPr/>
            <p:nvPr/>
          </p:nvSpPr>
          <p:spPr>
            <a:xfrm>
              <a:off x="3362249" y="347472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Sleeper"/>
            <p:cNvSpPr/>
            <p:nvPr/>
          </p:nvSpPr>
          <p:spPr>
            <a:xfrm>
              <a:off x="4230929" y="3950208"/>
              <a:ext cx="64008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Sleeper"/>
            <p:cNvSpPr/>
            <p:nvPr/>
          </p:nvSpPr>
          <p:spPr>
            <a:xfrm>
              <a:off x="4486961" y="3950208"/>
              <a:ext cx="64008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Sleeper"/>
            <p:cNvSpPr/>
            <p:nvPr/>
          </p:nvSpPr>
          <p:spPr>
            <a:xfrm>
              <a:off x="4742993" y="3950208"/>
              <a:ext cx="64008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Sleeper"/>
            <p:cNvSpPr/>
            <p:nvPr/>
          </p:nvSpPr>
          <p:spPr>
            <a:xfrm>
              <a:off x="4999025" y="3950208"/>
              <a:ext cx="64008" cy="530352"/>
            </a:xfrm>
            <a:prstGeom prst="rect">
              <a:avLst/>
            </a:prstGeom>
            <a:solidFill>
              <a:srgbClr val="6B5B4B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Rail"/>
            <p:cNvSpPr/>
            <p:nvPr/>
          </p:nvSpPr>
          <p:spPr>
            <a:xfrm>
              <a:off x="4185209" y="4005072"/>
              <a:ext cx="100584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Rail"/>
            <p:cNvSpPr/>
            <p:nvPr/>
          </p:nvSpPr>
          <p:spPr>
            <a:xfrm>
              <a:off x="4185209" y="4370832"/>
              <a:ext cx="1005840" cy="54864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TextBox 39"/>
            <p:cNvSpPr txBox="1"/>
            <p:nvPr/>
          </p:nvSpPr>
          <p:spPr>
            <a:xfrm>
              <a:off x="3453689" y="4800600"/>
              <a:ext cx="246888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Track used</a:t>
              </a:r>
            </a:p>
          </p:txBody>
        </p:sp>
      </p:grpSp>
      <p:grpSp>
        <p:nvGrpSpPr>
          <p:cNvPr id="41" name="Scorecard item: Tender weight" descr="Scorecard item: Tender weight."/>
          <p:cNvGrpSpPr/>
          <p:nvPr/>
        </p:nvGrpSpPr>
        <p:grpSpPr>
          <a:xfrm>
            <a:off x="6175858" y="3474720"/>
            <a:ext cx="2651760" cy="1874520"/>
            <a:chOff x="6175858" y="3474720"/>
            <a:chExt cx="2651760" cy="1874520"/>
          </a:xfrm>
        </p:grpSpPr>
        <p:sp>
          <p:nvSpPr>
            <p:cNvPr id="42" name="Tile"/>
            <p:cNvSpPr/>
            <p:nvPr/>
          </p:nvSpPr>
          <p:spPr>
            <a:xfrm>
              <a:off x="6175858" y="347472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Weight"/>
            <p:cNvSpPr/>
            <p:nvPr/>
          </p:nvSpPr>
          <p:spPr>
            <a:xfrm>
              <a:off x="7117690" y="4078224"/>
              <a:ext cx="768096" cy="475488"/>
            </a:xfrm>
            <a:prstGeom prst="trapezoid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Weight ring"/>
            <p:cNvSpPr/>
            <p:nvPr/>
          </p:nvSpPr>
          <p:spPr>
            <a:xfrm>
              <a:off x="7346290" y="3803904"/>
              <a:ext cx="310896" cy="310896"/>
            </a:xfrm>
            <a:prstGeom prst="donu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TextBox 44"/>
            <p:cNvSpPr txBox="1"/>
            <p:nvPr/>
          </p:nvSpPr>
          <p:spPr>
            <a:xfrm>
              <a:off x="6267298" y="4800600"/>
              <a:ext cx="246888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Tender weight</a:t>
              </a:r>
            </a:p>
          </p:txBody>
        </p:sp>
      </p:grpSp>
      <p:grpSp>
        <p:nvGrpSpPr>
          <p:cNvPr id="46" name="Scorecard item: Station size" descr="Scorecard item: Station size."/>
          <p:cNvGrpSpPr/>
          <p:nvPr/>
        </p:nvGrpSpPr>
        <p:grpSpPr>
          <a:xfrm>
            <a:off x="8989466" y="3474720"/>
            <a:ext cx="2651760" cy="1874520"/>
            <a:chOff x="8989466" y="3474720"/>
            <a:chExt cx="2651760" cy="1874520"/>
          </a:xfrm>
        </p:grpSpPr>
        <p:sp>
          <p:nvSpPr>
            <p:cNvPr id="47" name="Tile"/>
            <p:cNvSpPr/>
            <p:nvPr/>
          </p:nvSpPr>
          <p:spPr>
            <a:xfrm>
              <a:off x="8989466" y="347472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Station"/>
            <p:cNvSpPr/>
            <p:nvPr/>
          </p:nvSpPr>
          <p:spPr>
            <a:xfrm>
              <a:off x="9903866" y="4078224"/>
              <a:ext cx="822960" cy="457200"/>
            </a:xfrm>
            <a:prstGeom prst="rect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Roof"/>
            <p:cNvSpPr/>
            <p:nvPr/>
          </p:nvSpPr>
          <p:spPr>
            <a:xfrm>
              <a:off x="9812426" y="3776472"/>
              <a:ext cx="1005840" cy="329184"/>
            </a:xfrm>
            <a:prstGeom prst="triangle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Door"/>
            <p:cNvSpPr/>
            <p:nvPr/>
          </p:nvSpPr>
          <p:spPr>
            <a:xfrm>
              <a:off x="10223906" y="4261104"/>
              <a:ext cx="182880" cy="274320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TextBox 50"/>
            <p:cNvSpPr txBox="1"/>
            <p:nvPr/>
          </p:nvSpPr>
          <p:spPr>
            <a:xfrm>
              <a:off x="9080906" y="4800600"/>
              <a:ext cx="2468880" cy="457200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Station size</a:t>
              </a:r>
            </a:p>
          </p:txBody>
        </p:sp>
      </p:grpSp>
      <p:grpSp>
        <p:nvGrpSpPr>
          <p:cNvPr id="52" name="Caption" descr="Caption: A good route is judged as a whole, not by one number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53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5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A good route is judged as a whole, not by one number.</a:t>
              </a:r>
            </a:p>
          </p:txBody>
        </p:sp>
      </p:grpSp>
      <p:sp>
        <p:nvSpPr>
          <p:cNvPr id="56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Stops cost time</a:t>
            </a:r>
          </a:p>
        </p:txBody>
      </p:sp>
      <p:sp>
        <p:nvSpPr>
          <p:cNvPr id="3" name="Status chip" descr="Status tag: Agre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3FB950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AGREED</a:t>
            </a:r>
          </a:p>
        </p:txBody>
      </p:sp>
      <p:grpSp>
        <p:nvGrpSpPr>
          <p:cNvPr id="4" name="Diagram: a short stop and a long stop on a timeline" descr="A timeline with an engine running, a short stop, more running and a long stop. Stops take time and buy reliability."/>
          <p:cNvGrpSpPr/>
          <p:nvPr/>
        </p:nvGrpSpPr>
        <p:grpSpPr>
          <a:xfrm>
            <a:off x="548640" y="1371600"/>
            <a:ext cx="11091672" cy="4114800"/>
            <a:chOff x="548640" y="1371600"/>
            <a:chExt cx="11091672" cy="4114800"/>
          </a:xfrm>
        </p:grpSpPr>
        <p:sp>
          <p:nvSpPr>
            <p:cNvPr id="5" name="Panel"/>
            <p:cNvSpPr/>
            <p:nvPr/>
          </p:nvSpPr>
          <p:spPr>
            <a:xfrm>
              <a:off x="548640" y="1371600"/>
              <a:ext cx="11091672" cy="4114800"/>
            </a:xfrm>
            <a:prstGeom prst="roundRect">
              <a:avLst>
                <a:gd name="adj" fmla="val 1777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Time axis"/>
            <p:cNvCxnSpPr/>
            <p:nvPr/>
          </p:nvCxnSpPr>
          <p:spPr>
            <a:xfrm>
              <a:off x="868680" y="4224528"/>
              <a:ext cx="10378440" cy="0"/>
            </a:xfrm>
            <a:prstGeom prst="line">
              <a:avLst/>
            </a:prstGeom>
            <a:ln w="38100">
              <a:solidFill>
                <a:srgbClr val="9AA0A6"/>
              </a:solidFill>
              <a:tailEnd type="triangle" w="med" len="med"/>
            </a:ln>
          </p:spPr>
        </p:cxnSp>
        <p:sp>
          <p:nvSpPr>
            <p:cNvPr id="7" name="TextBox 6"/>
            <p:cNvSpPr txBox="1"/>
            <p:nvPr/>
          </p:nvSpPr>
          <p:spPr>
            <a:xfrm>
              <a:off x="9875520" y="4315968"/>
              <a:ext cx="1371600" cy="3657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A9B0B8"/>
                  </a:solidFill>
                  <a:latin typeface="Arial"/>
                </a:rPr>
                <a:t>Time</a:t>
              </a:r>
            </a:p>
          </p:txBody>
        </p:sp>
        <p:sp>
          <p:nvSpPr>
            <p:cNvPr id="8" name="Footplate"/>
            <p:cNvSpPr/>
            <p:nvPr/>
          </p:nvSpPr>
          <p:spPr>
            <a:xfrm>
              <a:off x="868680" y="3994556"/>
              <a:ext cx="1069848" cy="4114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Boiler"/>
            <p:cNvSpPr/>
            <p:nvPr/>
          </p:nvSpPr>
          <p:spPr>
            <a:xfrm>
              <a:off x="1239012" y="3768242"/>
              <a:ext cx="658368" cy="238658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Smokebox"/>
            <p:cNvSpPr/>
            <p:nvPr/>
          </p:nvSpPr>
          <p:spPr>
            <a:xfrm>
              <a:off x="1848002" y="3768242"/>
              <a:ext cx="57607" cy="23865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himney"/>
            <p:cNvSpPr/>
            <p:nvPr/>
          </p:nvSpPr>
          <p:spPr>
            <a:xfrm>
              <a:off x="1773936" y="3661258"/>
              <a:ext cx="53492" cy="11521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Chimney top"/>
            <p:cNvSpPr/>
            <p:nvPr/>
          </p:nvSpPr>
          <p:spPr>
            <a:xfrm>
              <a:off x="1753362" y="3644798"/>
              <a:ext cx="94640" cy="2468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ome"/>
            <p:cNvSpPr/>
            <p:nvPr/>
          </p:nvSpPr>
          <p:spPr>
            <a:xfrm>
              <a:off x="1485900" y="3710635"/>
              <a:ext cx="139903" cy="123444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Cab"/>
            <p:cNvSpPr/>
            <p:nvPr/>
          </p:nvSpPr>
          <p:spPr>
            <a:xfrm>
              <a:off x="901598" y="3685946"/>
              <a:ext cx="370332" cy="320954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ab roof"/>
            <p:cNvSpPr/>
            <p:nvPr/>
          </p:nvSpPr>
          <p:spPr>
            <a:xfrm>
              <a:off x="876910" y="3653028"/>
              <a:ext cx="419710" cy="37033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Cab window"/>
            <p:cNvSpPr/>
            <p:nvPr/>
          </p:nvSpPr>
          <p:spPr>
            <a:xfrm>
              <a:off x="992124" y="3743554"/>
              <a:ext cx="164592" cy="11521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Wheel"/>
            <p:cNvSpPr/>
            <p:nvPr/>
          </p:nvSpPr>
          <p:spPr>
            <a:xfrm>
              <a:off x="1004468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Hub"/>
            <p:cNvSpPr/>
            <p:nvPr/>
          </p:nvSpPr>
          <p:spPr>
            <a:xfrm>
              <a:off x="1069647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Wheel"/>
            <p:cNvSpPr/>
            <p:nvPr/>
          </p:nvSpPr>
          <p:spPr>
            <a:xfrm>
              <a:off x="1333652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Hub"/>
            <p:cNvSpPr/>
            <p:nvPr/>
          </p:nvSpPr>
          <p:spPr>
            <a:xfrm>
              <a:off x="1398831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Wheel"/>
            <p:cNvSpPr/>
            <p:nvPr/>
          </p:nvSpPr>
          <p:spPr>
            <a:xfrm>
              <a:off x="1662836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Hub"/>
            <p:cNvSpPr/>
            <p:nvPr/>
          </p:nvSpPr>
          <p:spPr>
            <a:xfrm>
              <a:off x="1728015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23" name="Coupling rod"/>
            <p:cNvCxnSpPr/>
            <p:nvPr/>
          </p:nvCxnSpPr>
          <p:spPr>
            <a:xfrm>
              <a:off x="1094994" y="4093312"/>
              <a:ext cx="658368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24" name="Footplate"/>
            <p:cNvSpPr/>
            <p:nvPr/>
          </p:nvSpPr>
          <p:spPr>
            <a:xfrm>
              <a:off x="4160520" y="3994556"/>
              <a:ext cx="1069848" cy="4114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Boiler"/>
            <p:cNvSpPr/>
            <p:nvPr/>
          </p:nvSpPr>
          <p:spPr>
            <a:xfrm>
              <a:off x="4530852" y="3768242"/>
              <a:ext cx="658368" cy="238658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Smokebox"/>
            <p:cNvSpPr/>
            <p:nvPr/>
          </p:nvSpPr>
          <p:spPr>
            <a:xfrm>
              <a:off x="5139842" y="3768242"/>
              <a:ext cx="57607" cy="23865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Chimney"/>
            <p:cNvSpPr/>
            <p:nvPr/>
          </p:nvSpPr>
          <p:spPr>
            <a:xfrm>
              <a:off x="5065776" y="3661258"/>
              <a:ext cx="53492" cy="11521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Chimney top"/>
            <p:cNvSpPr/>
            <p:nvPr/>
          </p:nvSpPr>
          <p:spPr>
            <a:xfrm>
              <a:off x="5045202" y="3644798"/>
              <a:ext cx="94640" cy="2468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ome"/>
            <p:cNvSpPr/>
            <p:nvPr/>
          </p:nvSpPr>
          <p:spPr>
            <a:xfrm>
              <a:off x="4777740" y="3710635"/>
              <a:ext cx="139903" cy="123444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Cab"/>
            <p:cNvSpPr/>
            <p:nvPr/>
          </p:nvSpPr>
          <p:spPr>
            <a:xfrm>
              <a:off x="4193438" y="3685946"/>
              <a:ext cx="370332" cy="320954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Cab roof"/>
            <p:cNvSpPr/>
            <p:nvPr/>
          </p:nvSpPr>
          <p:spPr>
            <a:xfrm>
              <a:off x="4168750" y="3653028"/>
              <a:ext cx="419710" cy="37033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Cab window"/>
            <p:cNvSpPr/>
            <p:nvPr/>
          </p:nvSpPr>
          <p:spPr>
            <a:xfrm>
              <a:off x="4283964" y="3743554"/>
              <a:ext cx="164592" cy="11521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Wheel"/>
            <p:cNvSpPr/>
            <p:nvPr/>
          </p:nvSpPr>
          <p:spPr>
            <a:xfrm>
              <a:off x="4296308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Hub"/>
            <p:cNvSpPr/>
            <p:nvPr/>
          </p:nvSpPr>
          <p:spPr>
            <a:xfrm>
              <a:off x="4361487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Wheel"/>
            <p:cNvSpPr/>
            <p:nvPr/>
          </p:nvSpPr>
          <p:spPr>
            <a:xfrm>
              <a:off x="4625492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Hub"/>
            <p:cNvSpPr/>
            <p:nvPr/>
          </p:nvSpPr>
          <p:spPr>
            <a:xfrm>
              <a:off x="4690671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Wheel"/>
            <p:cNvSpPr/>
            <p:nvPr/>
          </p:nvSpPr>
          <p:spPr>
            <a:xfrm>
              <a:off x="4954676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Hub"/>
            <p:cNvSpPr/>
            <p:nvPr/>
          </p:nvSpPr>
          <p:spPr>
            <a:xfrm>
              <a:off x="5019855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9" name="Coupling rod"/>
            <p:cNvCxnSpPr/>
            <p:nvPr/>
          </p:nvCxnSpPr>
          <p:spPr>
            <a:xfrm>
              <a:off x="4386834" y="4093312"/>
              <a:ext cx="658368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40" name="Footplate"/>
            <p:cNvSpPr/>
            <p:nvPr/>
          </p:nvSpPr>
          <p:spPr>
            <a:xfrm>
              <a:off x="9144000" y="3994556"/>
              <a:ext cx="1069848" cy="4114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Boiler"/>
            <p:cNvSpPr/>
            <p:nvPr/>
          </p:nvSpPr>
          <p:spPr>
            <a:xfrm>
              <a:off x="9514332" y="3768242"/>
              <a:ext cx="658368" cy="238658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Smokebox"/>
            <p:cNvSpPr/>
            <p:nvPr/>
          </p:nvSpPr>
          <p:spPr>
            <a:xfrm>
              <a:off x="10123322" y="3768242"/>
              <a:ext cx="57607" cy="23865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Chimney"/>
            <p:cNvSpPr/>
            <p:nvPr/>
          </p:nvSpPr>
          <p:spPr>
            <a:xfrm>
              <a:off x="10049256" y="3661258"/>
              <a:ext cx="53492" cy="11521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Chimney top"/>
            <p:cNvSpPr/>
            <p:nvPr/>
          </p:nvSpPr>
          <p:spPr>
            <a:xfrm>
              <a:off x="10028682" y="3644798"/>
              <a:ext cx="94640" cy="24689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ome"/>
            <p:cNvSpPr/>
            <p:nvPr/>
          </p:nvSpPr>
          <p:spPr>
            <a:xfrm>
              <a:off x="9761220" y="3710635"/>
              <a:ext cx="139903" cy="123444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Cab"/>
            <p:cNvSpPr/>
            <p:nvPr/>
          </p:nvSpPr>
          <p:spPr>
            <a:xfrm>
              <a:off x="9176918" y="3685946"/>
              <a:ext cx="370332" cy="320954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Cab roof"/>
            <p:cNvSpPr/>
            <p:nvPr/>
          </p:nvSpPr>
          <p:spPr>
            <a:xfrm>
              <a:off x="9152230" y="3653028"/>
              <a:ext cx="419710" cy="37033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Cab window"/>
            <p:cNvSpPr/>
            <p:nvPr/>
          </p:nvSpPr>
          <p:spPr>
            <a:xfrm>
              <a:off x="9267444" y="3743554"/>
              <a:ext cx="164592" cy="11521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9" name="Wheel"/>
            <p:cNvSpPr/>
            <p:nvPr/>
          </p:nvSpPr>
          <p:spPr>
            <a:xfrm>
              <a:off x="9279788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0" name="Hub"/>
            <p:cNvSpPr/>
            <p:nvPr/>
          </p:nvSpPr>
          <p:spPr>
            <a:xfrm>
              <a:off x="9344967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1" name="Wheel"/>
            <p:cNvSpPr/>
            <p:nvPr/>
          </p:nvSpPr>
          <p:spPr>
            <a:xfrm>
              <a:off x="9608972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2" name="Hub"/>
            <p:cNvSpPr/>
            <p:nvPr/>
          </p:nvSpPr>
          <p:spPr>
            <a:xfrm>
              <a:off x="9674151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3" name="Wheel"/>
            <p:cNvSpPr/>
            <p:nvPr/>
          </p:nvSpPr>
          <p:spPr>
            <a:xfrm>
              <a:off x="9938156" y="4002786"/>
              <a:ext cx="181051" cy="18105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4" name="Hub"/>
            <p:cNvSpPr/>
            <p:nvPr/>
          </p:nvSpPr>
          <p:spPr>
            <a:xfrm>
              <a:off x="10003335" y="4067964"/>
              <a:ext cx="50694" cy="50694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55" name="Coupling rod"/>
            <p:cNvCxnSpPr/>
            <p:nvPr/>
          </p:nvCxnSpPr>
          <p:spPr>
            <a:xfrm>
              <a:off x="9370314" y="4093312"/>
              <a:ext cx="658368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56" name="Short stop"/>
            <p:cNvSpPr/>
            <p:nvPr/>
          </p:nvSpPr>
          <p:spPr>
            <a:xfrm>
              <a:off x="2331720" y="3639312"/>
              <a:ext cx="1554480" cy="548640"/>
            </a:xfrm>
            <a:prstGeom prst="roundRect">
              <a:avLst>
                <a:gd name="adj" fmla="val 13333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Short stop</a:t>
              </a:r>
            </a:p>
          </p:txBody>
        </p:sp>
        <p:sp>
          <p:nvSpPr>
            <p:cNvPr id="57" name="Long stop"/>
            <p:cNvSpPr/>
            <p:nvPr/>
          </p:nvSpPr>
          <p:spPr>
            <a:xfrm>
              <a:off x="5623560" y="3639312"/>
              <a:ext cx="3200400" cy="548640"/>
            </a:xfrm>
            <a:prstGeom prst="roundRect">
              <a:avLst>
                <a:gd name="adj" fmla="val 13333"/>
              </a:avLst>
            </a:prstGeom>
            <a:solidFill>
              <a:srgbClr val="F2C14E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Long stop</a:t>
              </a:r>
            </a:p>
          </p:txBody>
        </p:sp>
        <p:cxnSp>
          <p:nvCxnSpPr>
            <p:cNvPr id="58" name="Reliability arrow"/>
            <p:cNvCxnSpPr/>
            <p:nvPr/>
          </p:nvCxnSpPr>
          <p:spPr>
            <a:xfrm flipV="1">
              <a:off x="3108960" y="2651760"/>
              <a:ext cx="0" cy="914400"/>
            </a:xfrm>
            <a:prstGeom prst="line">
              <a:avLst/>
            </a:prstGeom>
            <a:ln w="38100">
              <a:solidFill>
                <a:srgbClr val="3FB950"/>
              </a:solidFill>
              <a:tailEnd type="triangle" w="med" len="med"/>
            </a:ln>
          </p:spPr>
        </p:cxnSp>
        <p:cxnSp>
          <p:nvCxnSpPr>
            <p:cNvPr id="59" name="Reliability arrow"/>
            <p:cNvCxnSpPr/>
            <p:nvPr/>
          </p:nvCxnSpPr>
          <p:spPr>
            <a:xfrm flipV="1">
              <a:off x="7223760" y="2651760"/>
              <a:ext cx="0" cy="914400"/>
            </a:xfrm>
            <a:prstGeom prst="line">
              <a:avLst/>
            </a:prstGeom>
            <a:ln w="38100">
              <a:solidFill>
                <a:srgbClr val="3FB950"/>
              </a:solidFill>
              <a:tailEnd type="triangle" w="med" len="med"/>
            </a:ln>
          </p:spPr>
        </p:cxnSp>
        <p:cxnSp>
          <p:nvCxnSpPr>
            <p:cNvPr id="60" name="Reliability bar"/>
            <p:cNvCxnSpPr/>
            <p:nvPr/>
          </p:nvCxnSpPr>
          <p:spPr>
            <a:xfrm>
              <a:off x="2743200" y="2606040"/>
              <a:ext cx="4846320" cy="0"/>
            </a:xfrm>
            <a:prstGeom prst="line">
              <a:avLst/>
            </a:prstGeom>
            <a:ln w="38100">
              <a:solidFill>
                <a:srgbClr val="3FB950"/>
              </a:solidFill>
            </a:ln>
          </p:spPr>
        </p:cxnSp>
        <p:sp>
          <p:nvSpPr>
            <p:cNvPr id="61" name="TextBox 60"/>
            <p:cNvSpPr txBox="1"/>
            <p:nvPr/>
          </p:nvSpPr>
          <p:spPr>
            <a:xfrm>
              <a:off x="3840480" y="2148840"/>
              <a:ext cx="3657600" cy="384048"/>
            </a:xfrm>
            <a:prstGeom prst="rect">
              <a:avLst/>
            </a:prstGeom>
            <a:noFill/>
          </p:spPr>
          <p:txBody>
            <a:bodyPr wrap="square" lIns="45720" tIns="27432" rIns="45720" bIns="27432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3FB950"/>
                  </a:solidFill>
                  <a:latin typeface="Arial"/>
                </a:rPr>
                <a:t>Reliability</a:t>
              </a:r>
            </a:p>
          </p:txBody>
        </p:sp>
        <p:sp>
          <p:nvSpPr>
            <p:cNvPr id="62" name="Inline chip: To be tested"/>
            <p:cNvSpPr/>
            <p:nvPr/>
          </p:nvSpPr>
          <p:spPr>
            <a:xfrm>
              <a:off x="2331720" y="4572000"/>
              <a:ext cx="1344855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To be tested</a:t>
              </a:r>
            </a:p>
          </p:txBody>
        </p:sp>
      </p:grpSp>
      <p:grpSp>
        <p:nvGrpSpPr>
          <p:cNvPr id="63" name="Caption" descr="Caption: Service stops trade time for reliability. Whether top-ups help throughput is still to be tested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64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5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6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Service stops trade time for reliability. Whether top-ups help throughput is still to be tested.</a:t>
              </a:r>
            </a:p>
          </p:txBody>
        </p:sp>
      </p:grpSp>
      <p:sp>
        <p:nvSpPr>
          <p:cNvPr id="67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Test targets for range</a:t>
            </a:r>
          </a:p>
        </p:txBody>
      </p:sp>
      <p:sp>
        <p:nvSpPr>
          <p:cNvPr id="3" name="Status chip" descr="Status tag: Provisional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grpSp>
        <p:nvGrpSpPr>
          <p:cNvPr id="4" name="Table: route-dependent range targets" descr="Table of test targets for range per tank. Small: water 2 to 3 km, coal 4 to 5 km. Medium: water 4 to 5 km, coal about 7 km. Large: water 6 to 7 km, coal about 10 km."/>
          <p:cNvGrpSpPr/>
          <p:nvPr/>
        </p:nvGrpSpPr>
        <p:grpSpPr>
          <a:xfrm>
            <a:off x="1737360" y="1371600"/>
            <a:ext cx="8869680" cy="4114800"/>
            <a:chOff x="1737360" y="1371600"/>
            <a:chExt cx="8869680" cy="4114800"/>
          </a:xfrm>
        </p:grpSpPr>
        <p:sp>
          <p:nvSpPr>
            <p:cNvPr id="5" name="Table header"/>
            <p:cNvSpPr txBox="1"/>
            <p:nvPr/>
          </p:nvSpPr>
          <p:spPr>
            <a:xfrm>
              <a:off x="1737360" y="1371600"/>
              <a:ext cx="8686800" cy="4572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Route-dependent targets</a:t>
              </a:r>
            </a:p>
          </p:txBody>
        </p:sp>
        <p:sp>
          <p:nvSpPr>
            <p:cNvPr id="6" name="Column heading"/>
            <p:cNvSpPr/>
            <p:nvPr/>
          </p:nvSpPr>
          <p:spPr>
            <a:xfrm>
              <a:off x="4114800" y="1920240"/>
              <a:ext cx="3200400" cy="640080"/>
            </a:xfrm>
            <a:prstGeom prst="roundRect">
              <a:avLst>
                <a:gd name="adj" fmla="val 11428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Water drop"/>
            <p:cNvSpPr/>
            <p:nvPr/>
          </p:nvSpPr>
          <p:spPr>
            <a:xfrm rot="18900000">
              <a:off x="4389120" y="2075688"/>
              <a:ext cx="310896" cy="310896"/>
            </a:xfrm>
            <a:prstGeom prst="teardrop">
              <a:avLst/>
            </a:prstGeom>
            <a:solidFill>
              <a:srgbClr val="4DA3FF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Column label"/>
            <p:cNvSpPr txBox="1"/>
            <p:nvPr/>
          </p:nvSpPr>
          <p:spPr>
            <a:xfrm>
              <a:off x="4937760" y="1920240"/>
              <a:ext cx="228600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Water</a:t>
              </a:r>
            </a:p>
          </p:txBody>
        </p:sp>
        <p:sp>
          <p:nvSpPr>
            <p:cNvPr id="9" name="Column heading"/>
            <p:cNvSpPr/>
            <p:nvPr/>
          </p:nvSpPr>
          <p:spPr>
            <a:xfrm>
              <a:off x="7406640" y="1920240"/>
              <a:ext cx="3200400" cy="640080"/>
            </a:xfrm>
            <a:prstGeom prst="roundRect">
              <a:avLst>
                <a:gd name="adj" fmla="val 11428"/>
              </a:avLst>
            </a:prstGeom>
            <a:solidFill>
              <a:srgbClr val="343A43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Coal heap"/>
            <p:cNvSpPr/>
            <p:nvPr/>
          </p:nvSpPr>
          <p:spPr>
            <a:xfrm>
              <a:off x="7635240" y="2075688"/>
              <a:ext cx="429768" cy="320040"/>
            </a:xfrm>
            <a:custGeom>
              <a:avLst/>
              <a:gdLst/>
              <a:ahLst/>
              <a:cxnLst/>
              <a:rect l="l" t="t" r="r" b="b"/>
              <a:pathLst>
                <a:path w="429768" h="320040">
                  <a:moveTo>
                    <a:pt x="0" y="320040"/>
                  </a:moveTo>
                  <a:lnTo>
                    <a:pt x="73152" y="118872"/>
                  </a:lnTo>
                  <a:lnTo>
                    <a:pt x="201168" y="0"/>
                  </a:lnTo>
                  <a:lnTo>
                    <a:pt x="338328" y="118872"/>
                  </a:lnTo>
                  <a:lnTo>
                    <a:pt x="429768" y="320040"/>
                  </a:lnTo>
                  <a:close/>
                </a:path>
              </a:pathLst>
            </a:cu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olumn label"/>
            <p:cNvSpPr txBox="1"/>
            <p:nvPr/>
          </p:nvSpPr>
          <p:spPr>
            <a:xfrm>
              <a:off x="8229600" y="1920240"/>
              <a:ext cx="2286000" cy="6400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Coal</a:t>
              </a:r>
            </a:p>
          </p:txBody>
        </p:sp>
        <p:sp>
          <p:nvSpPr>
            <p:cNvPr id="12" name="Row heading"/>
            <p:cNvSpPr/>
            <p:nvPr/>
          </p:nvSpPr>
          <p:spPr>
            <a:xfrm>
              <a:off x="1737360" y="2651760"/>
              <a:ext cx="22860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Row label"/>
            <p:cNvSpPr txBox="1"/>
            <p:nvPr/>
          </p:nvSpPr>
          <p:spPr>
            <a:xfrm>
              <a:off x="1965960" y="2651760"/>
              <a:ext cx="201168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Small</a:t>
              </a:r>
            </a:p>
          </p:txBody>
        </p:sp>
        <p:sp>
          <p:nvSpPr>
            <p:cNvPr id="14" name="Cell"/>
            <p:cNvSpPr/>
            <p:nvPr/>
          </p:nvSpPr>
          <p:spPr>
            <a:xfrm>
              <a:off x="4114800" y="2651760"/>
              <a:ext cx="32004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Cell value"/>
            <p:cNvSpPr txBox="1"/>
            <p:nvPr/>
          </p:nvSpPr>
          <p:spPr>
            <a:xfrm>
              <a:off x="4114800" y="2651760"/>
              <a:ext cx="320040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>
                  <a:solidFill>
                    <a:srgbClr val="F2F2F2"/>
                  </a:solidFill>
                  <a:latin typeface="Arial"/>
                </a:rPr>
                <a:t>2–3 km</a:t>
              </a:r>
            </a:p>
          </p:txBody>
        </p:sp>
        <p:sp>
          <p:nvSpPr>
            <p:cNvPr id="16" name="Cell"/>
            <p:cNvSpPr/>
            <p:nvPr/>
          </p:nvSpPr>
          <p:spPr>
            <a:xfrm>
              <a:off x="7406640" y="2651760"/>
              <a:ext cx="32004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Cell value"/>
            <p:cNvSpPr txBox="1"/>
            <p:nvPr/>
          </p:nvSpPr>
          <p:spPr>
            <a:xfrm>
              <a:off x="7406640" y="2651760"/>
              <a:ext cx="320040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>
                  <a:solidFill>
                    <a:srgbClr val="F2F2F2"/>
                  </a:solidFill>
                  <a:latin typeface="Arial"/>
                </a:rPr>
                <a:t>4–5 km</a:t>
              </a:r>
            </a:p>
          </p:txBody>
        </p:sp>
        <p:sp>
          <p:nvSpPr>
            <p:cNvPr id="18" name="Row heading"/>
            <p:cNvSpPr/>
            <p:nvPr/>
          </p:nvSpPr>
          <p:spPr>
            <a:xfrm>
              <a:off x="1737360" y="3429000"/>
              <a:ext cx="22860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Row label"/>
            <p:cNvSpPr txBox="1"/>
            <p:nvPr/>
          </p:nvSpPr>
          <p:spPr>
            <a:xfrm>
              <a:off x="1965960" y="3429000"/>
              <a:ext cx="201168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Medium</a:t>
              </a:r>
            </a:p>
          </p:txBody>
        </p:sp>
        <p:sp>
          <p:nvSpPr>
            <p:cNvPr id="20" name="Cell"/>
            <p:cNvSpPr/>
            <p:nvPr/>
          </p:nvSpPr>
          <p:spPr>
            <a:xfrm>
              <a:off x="4114800" y="3429000"/>
              <a:ext cx="32004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Cell value"/>
            <p:cNvSpPr txBox="1"/>
            <p:nvPr/>
          </p:nvSpPr>
          <p:spPr>
            <a:xfrm>
              <a:off x="4114800" y="3429000"/>
              <a:ext cx="320040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>
                  <a:solidFill>
                    <a:srgbClr val="F2F2F2"/>
                  </a:solidFill>
                  <a:latin typeface="Arial"/>
                </a:rPr>
                <a:t>4–5 km</a:t>
              </a:r>
            </a:p>
          </p:txBody>
        </p:sp>
        <p:sp>
          <p:nvSpPr>
            <p:cNvPr id="22" name="Cell"/>
            <p:cNvSpPr/>
            <p:nvPr/>
          </p:nvSpPr>
          <p:spPr>
            <a:xfrm>
              <a:off x="7406640" y="3429000"/>
              <a:ext cx="32004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Cell value"/>
            <p:cNvSpPr txBox="1"/>
            <p:nvPr/>
          </p:nvSpPr>
          <p:spPr>
            <a:xfrm>
              <a:off x="7406640" y="3429000"/>
              <a:ext cx="320040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>
                  <a:solidFill>
                    <a:srgbClr val="F2F2F2"/>
                  </a:solidFill>
                  <a:latin typeface="Arial"/>
                </a:rPr>
                <a:t>about 7 km</a:t>
              </a:r>
            </a:p>
          </p:txBody>
        </p:sp>
        <p:sp>
          <p:nvSpPr>
            <p:cNvPr id="24" name="Row heading"/>
            <p:cNvSpPr/>
            <p:nvPr/>
          </p:nvSpPr>
          <p:spPr>
            <a:xfrm>
              <a:off x="1737360" y="4206240"/>
              <a:ext cx="22860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Row label"/>
            <p:cNvSpPr txBox="1"/>
            <p:nvPr/>
          </p:nvSpPr>
          <p:spPr>
            <a:xfrm>
              <a:off x="1965960" y="4206240"/>
              <a:ext cx="201168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8C28"/>
                  </a:solidFill>
                  <a:latin typeface="Arial"/>
                </a:rPr>
                <a:t>Large</a:t>
              </a:r>
            </a:p>
          </p:txBody>
        </p:sp>
        <p:sp>
          <p:nvSpPr>
            <p:cNvPr id="26" name="Cell"/>
            <p:cNvSpPr/>
            <p:nvPr/>
          </p:nvSpPr>
          <p:spPr>
            <a:xfrm>
              <a:off x="4114800" y="4206240"/>
              <a:ext cx="32004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Cell value"/>
            <p:cNvSpPr txBox="1"/>
            <p:nvPr/>
          </p:nvSpPr>
          <p:spPr>
            <a:xfrm>
              <a:off x="4114800" y="4206240"/>
              <a:ext cx="320040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>
                  <a:solidFill>
                    <a:srgbClr val="F2F2F2"/>
                  </a:solidFill>
                  <a:latin typeface="Arial"/>
                </a:rPr>
                <a:t>6–7 km</a:t>
              </a:r>
            </a:p>
          </p:txBody>
        </p:sp>
        <p:sp>
          <p:nvSpPr>
            <p:cNvPr id="28" name="Cell"/>
            <p:cNvSpPr/>
            <p:nvPr/>
          </p:nvSpPr>
          <p:spPr>
            <a:xfrm>
              <a:off x="7406640" y="4206240"/>
              <a:ext cx="3200400" cy="685800"/>
            </a:xfrm>
            <a:prstGeom prst="roundRect">
              <a:avLst>
                <a:gd name="adj" fmla="val 10666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Cell value"/>
            <p:cNvSpPr txBox="1"/>
            <p:nvPr/>
          </p:nvSpPr>
          <p:spPr>
            <a:xfrm>
              <a:off x="7406640" y="4206240"/>
              <a:ext cx="3200400" cy="68580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2200" b="0" i="0" lang="en-GB">
                  <a:solidFill>
                    <a:srgbClr val="F2F2F2"/>
                  </a:solidFill>
                  <a:latin typeface="Arial"/>
                </a:rPr>
                <a:t>about 10 km</a:t>
              </a:r>
            </a:p>
          </p:txBody>
        </p:sp>
        <p:sp>
          <p:nvSpPr>
            <p:cNvPr id="30" name="TextBox 29"/>
            <p:cNvSpPr txBox="1"/>
            <p:nvPr/>
          </p:nvSpPr>
          <p:spPr>
            <a:xfrm>
              <a:off x="1737360" y="5074920"/>
              <a:ext cx="8686800" cy="41148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1800" b="0" i="0" lang="en-GB">
                  <a:solidFill>
                    <a:srgbClr val="A9B0B8"/>
                  </a:solidFill>
                  <a:latin typeface="Arial"/>
                </a:rPr>
                <a:t>Not guaranteed distances or tank sizes.</a:t>
              </a:r>
            </a:p>
          </p:txBody>
        </p:sp>
      </p:grpSp>
      <p:grpSp>
        <p:nvGrpSpPr>
          <p:cNvPr id="31" name="Caption" descr="Caption: Test targets for range per tank. They depend on the route and may change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32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Test targets for range per tank. They depend on the route and may change.</a:t>
              </a:r>
            </a:p>
          </p:txBody>
        </p:sp>
      </p:grpSp>
      <p:sp>
        <p:nvSpPr>
          <p:cNvPr id="35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Behind the scenes</a:t>
            </a:r>
          </a:p>
        </p:txBody>
      </p:sp>
      <p:sp>
        <p:nvSpPr>
          <p:cNvPr id="3" name="Status chip" descr="Status tag: Propos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B084F5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PROPOSED</a:t>
            </a:r>
          </a:p>
        </p:txBody>
      </p:sp>
      <p:grpSp>
        <p:nvGrpSpPr>
          <p:cNvPr id="4" name="Layer: Shared base" descr="Layer 1 of 3: Shared base: fuel, water, traction, steam, signals"/>
          <p:cNvGrpSpPr/>
          <p:nvPr/>
        </p:nvGrpSpPr>
        <p:grpSpPr>
          <a:xfrm>
            <a:off x="548640" y="1371600"/>
            <a:ext cx="11091672" cy="1261872"/>
            <a:chOff x="548640" y="1371600"/>
            <a:chExt cx="11091672" cy="1261872"/>
          </a:xfrm>
        </p:grpSpPr>
        <p:sp>
          <p:nvSpPr>
            <p:cNvPr id="5" name="Layer slab"/>
            <p:cNvSpPr/>
            <p:nvPr/>
          </p:nvSpPr>
          <p:spPr>
            <a:xfrm>
              <a:off x="548640" y="1371600"/>
              <a:ext cx="11091672" cy="1005840"/>
            </a:xfrm>
            <a:prstGeom prst="roundRect">
              <a:avLst>
                <a:gd name="adj" fmla="val 7272"/>
              </a:avLst>
            </a:prstGeom>
            <a:solidFill>
              <a:srgbClr val="2B2F36"/>
            </a:solidFill>
            <a:ln w="254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Gear"/>
            <p:cNvSpPr/>
            <p:nvPr/>
          </p:nvSpPr>
          <p:spPr>
            <a:xfrm>
              <a:off x="914400" y="1554480"/>
              <a:ext cx="640080" cy="640080"/>
            </a:xfrm>
            <a:prstGeom prst="gear6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Layer label"/>
            <p:cNvSpPr txBox="1"/>
            <p:nvPr/>
          </p:nvSpPr>
          <p:spPr>
            <a:xfrm>
              <a:off x="2331720" y="1371600"/>
              <a:ext cx="905256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Shared base: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fuel, water, traction, steam, signals</a:t>
              </a:r>
            </a:p>
          </p:txBody>
        </p:sp>
        <p:sp>
          <p:nvSpPr>
            <p:cNvPr id="8" name="Down arrow"/>
            <p:cNvSpPr/>
            <p:nvPr/>
          </p:nvSpPr>
          <p:spPr>
            <a:xfrm>
              <a:off x="5943600" y="2395728"/>
              <a:ext cx="274320" cy="237744"/>
            </a:xfrm>
            <a:prstGeom prst="downArrow">
              <a:avLst/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" name="Layer: Data card" descr="Layer 2 of 3: Data card: numbers for this engine"/>
          <p:cNvGrpSpPr/>
          <p:nvPr/>
        </p:nvGrpSpPr>
        <p:grpSpPr>
          <a:xfrm>
            <a:off x="548640" y="2651760"/>
            <a:ext cx="11091672" cy="1261872"/>
            <a:chOff x="548640" y="2651760"/>
            <a:chExt cx="11091672" cy="1261872"/>
          </a:xfrm>
        </p:grpSpPr>
        <p:sp>
          <p:nvSpPr>
            <p:cNvPr id="10" name="Layer slab"/>
            <p:cNvSpPr/>
            <p:nvPr/>
          </p:nvSpPr>
          <p:spPr>
            <a:xfrm>
              <a:off x="548640" y="2651760"/>
              <a:ext cx="11091672" cy="1005840"/>
            </a:xfrm>
            <a:prstGeom prst="roundRect">
              <a:avLst>
                <a:gd name="adj" fmla="val 7272"/>
              </a:avLst>
            </a:prstGeom>
            <a:solidFill>
              <a:srgbClr val="2B2F36"/>
            </a:solidFill>
            <a:ln w="25400">
              <a:solidFill>
                <a:srgbClr val="F2C14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Card"/>
            <p:cNvSpPr/>
            <p:nvPr/>
          </p:nvSpPr>
          <p:spPr>
            <a:xfrm>
              <a:off x="914400" y="2880360"/>
              <a:ext cx="777240" cy="548640"/>
            </a:xfrm>
            <a:prstGeom prst="roundRect">
              <a:avLst>
                <a:gd name="adj" fmla="val 10000"/>
              </a:avLst>
            </a:prstGeom>
            <a:noFill/>
            <a:ln w="31750">
              <a:solidFill>
                <a:srgbClr val="F2C14E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12" name="Connector 11"/>
            <p:cNvCxnSpPr/>
            <p:nvPr/>
          </p:nvCxnSpPr>
          <p:spPr>
            <a:xfrm>
              <a:off x="1051560" y="3017520"/>
              <a:ext cx="502920" cy="0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cxnSp>
          <p:nvCxnSpPr>
            <p:cNvPr id="13" name="Connector 12"/>
            <p:cNvCxnSpPr/>
            <p:nvPr/>
          </p:nvCxnSpPr>
          <p:spPr>
            <a:xfrm>
              <a:off x="1051560" y="3145536"/>
              <a:ext cx="502920" cy="0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cxnSp>
          <p:nvCxnSpPr>
            <p:cNvPr id="14" name="Connector 13"/>
            <p:cNvCxnSpPr/>
            <p:nvPr/>
          </p:nvCxnSpPr>
          <p:spPr>
            <a:xfrm>
              <a:off x="1051560" y="3273552"/>
              <a:ext cx="502920" cy="0"/>
            </a:xfrm>
            <a:prstGeom prst="line">
              <a:avLst/>
            </a:prstGeom>
            <a:ln w="25400">
              <a:solidFill>
                <a:srgbClr val="F2C14E"/>
              </a:solidFill>
            </a:ln>
          </p:spPr>
        </p:cxnSp>
        <p:sp>
          <p:nvSpPr>
            <p:cNvPr id="15" name="Layer label"/>
            <p:cNvSpPr txBox="1"/>
            <p:nvPr/>
          </p:nvSpPr>
          <p:spPr>
            <a:xfrm>
              <a:off x="2331720" y="2651760"/>
              <a:ext cx="905256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Data card: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numbers for this engine</a:t>
              </a:r>
            </a:p>
          </p:txBody>
        </p:sp>
        <p:sp>
          <p:nvSpPr>
            <p:cNvPr id="16" name="Down arrow"/>
            <p:cNvSpPr/>
            <p:nvPr/>
          </p:nvSpPr>
          <p:spPr>
            <a:xfrm>
              <a:off x="5943600" y="3675888"/>
              <a:ext cx="274320" cy="237744"/>
            </a:xfrm>
            <a:prstGeom prst="downArrow">
              <a:avLst/>
            </a:prstGeom>
            <a:solidFill>
              <a:srgbClr val="A9B0B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7" name="Layer: Model" descr="Layer 3 of 3: Model: look, wheels, sound"/>
          <p:cNvGrpSpPr/>
          <p:nvPr/>
        </p:nvGrpSpPr>
        <p:grpSpPr>
          <a:xfrm>
            <a:off x="548640" y="3931920"/>
            <a:ext cx="11091672" cy="1005840"/>
            <a:chOff x="548640" y="3931920"/>
            <a:chExt cx="11091672" cy="1005840"/>
          </a:xfrm>
        </p:grpSpPr>
        <p:sp>
          <p:nvSpPr>
            <p:cNvPr id="18" name="Layer slab"/>
            <p:cNvSpPr/>
            <p:nvPr/>
          </p:nvSpPr>
          <p:spPr>
            <a:xfrm>
              <a:off x="548640" y="3931920"/>
              <a:ext cx="11091672" cy="1005840"/>
            </a:xfrm>
            <a:prstGeom prst="roundRect">
              <a:avLst>
                <a:gd name="adj" fmla="val 7272"/>
              </a:avLst>
            </a:prstGeom>
            <a:solidFill>
              <a:srgbClr val="2B2F36"/>
            </a:solidFill>
            <a:ln w="254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Footplate"/>
            <p:cNvSpPr/>
            <p:nvPr/>
          </p:nvSpPr>
          <p:spPr>
            <a:xfrm>
              <a:off x="868680" y="4526829"/>
              <a:ext cx="998525" cy="38405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Boiler"/>
            <p:cNvSpPr/>
            <p:nvPr/>
          </p:nvSpPr>
          <p:spPr>
            <a:xfrm>
              <a:off x="1214323" y="4315602"/>
              <a:ext cx="614477" cy="222748"/>
            </a:xfrm>
            <a:prstGeom prst="roundRect">
              <a:avLst>
                <a:gd name="adj" fmla="val 25862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Smokebox"/>
            <p:cNvSpPr/>
            <p:nvPr/>
          </p:nvSpPr>
          <p:spPr>
            <a:xfrm>
              <a:off x="1782714" y="4315602"/>
              <a:ext cx="53767" cy="222748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Chimney"/>
            <p:cNvSpPr/>
            <p:nvPr/>
          </p:nvSpPr>
          <p:spPr>
            <a:xfrm>
              <a:off x="1713586" y="4215750"/>
              <a:ext cx="49926" cy="107533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Chimney top"/>
            <p:cNvSpPr/>
            <p:nvPr/>
          </p:nvSpPr>
          <p:spPr>
            <a:xfrm>
              <a:off x="1694383" y="4200388"/>
              <a:ext cx="88331" cy="23043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ome"/>
            <p:cNvSpPr/>
            <p:nvPr/>
          </p:nvSpPr>
          <p:spPr>
            <a:xfrm>
              <a:off x="1444752" y="4261836"/>
              <a:ext cx="130576" cy="115214"/>
            </a:xfrm>
            <a:prstGeom prst="chord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Cab"/>
            <p:cNvSpPr/>
            <p:nvPr/>
          </p:nvSpPr>
          <p:spPr>
            <a:xfrm>
              <a:off x="899404" y="4238793"/>
              <a:ext cx="345643" cy="299557"/>
            </a:xfrm>
            <a:prstGeom prst="rect">
              <a:avLst/>
            </a:prstGeom>
            <a:solidFill>
              <a:srgbClr val="C46E14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Cab roof"/>
            <p:cNvSpPr/>
            <p:nvPr/>
          </p:nvSpPr>
          <p:spPr>
            <a:xfrm>
              <a:off x="876361" y="4208069"/>
              <a:ext cx="391729" cy="34564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Cab window"/>
            <p:cNvSpPr/>
            <p:nvPr/>
          </p:nvSpPr>
          <p:spPr>
            <a:xfrm>
              <a:off x="983894" y="4292559"/>
              <a:ext cx="153619" cy="107533"/>
            </a:xfrm>
            <a:prstGeom prst="rect">
              <a:avLst/>
            </a:prstGeom>
            <a:solidFill>
              <a:srgbClr val="1B1D2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Wheel"/>
            <p:cNvSpPr/>
            <p:nvPr/>
          </p:nvSpPr>
          <p:spPr>
            <a:xfrm>
              <a:off x="995416" y="4534510"/>
              <a:ext cx="168981" cy="16898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Hub"/>
            <p:cNvSpPr/>
            <p:nvPr/>
          </p:nvSpPr>
          <p:spPr>
            <a:xfrm>
              <a:off x="1056249" y="4595343"/>
              <a:ext cx="47315" cy="4731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Wheel"/>
            <p:cNvSpPr/>
            <p:nvPr/>
          </p:nvSpPr>
          <p:spPr>
            <a:xfrm>
              <a:off x="1302654" y="4534510"/>
              <a:ext cx="168981" cy="16898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Hub"/>
            <p:cNvSpPr/>
            <p:nvPr/>
          </p:nvSpPr>
          <p:spPr>
            <a:xfrm>
              <a:off x="1363487" y="4595343"/>
              <a:ext cx="47315" cy="4731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Wheel"/>
            <p:cNvSpPr/>
            <p:nvPr/>
          </p:nvSpPr>
          <p:spPr>
            <a:xfrm>
              <a:off x="1609893" y="4534510"/>
              <a:ext cx="168981" cy="168981"/>
            </a:xfrm>
            <a:prstGeom prst="ellipse">
              <a:avLst/>
            </a:prstGeom>
            <a:solidFill>
              <a:srgbClr val="1B1D21"/>
            </a:solidFill>
            <a:ln w="1905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Hub"/>
            <p:cNvSpPr/>
            <p:nvPr/>
          </p:nvSpPr>
          <p:spPr>
            <a:xfrm>
              <a:off x="1670726" y="4595343"/>
              <a:ext cx="47315" cy="47315"/>
            </a:xfrm>
            <a:prstGeom prst="ellipse">
              <a:avLst/>
            </a:prstGeom>
            <a:solidFill>
              <a:srgbClr val="9AA0A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34" name="Coupling rod"/>
            <p:cNvCxnSpPr/>
            <p:nvPr/>
          </p:nvCxnSpPr>
          <p:spPr>
            <a:xfrm>
              <a:off x="1079906" y="4619000"/>
              <a:ext cx="614477" cy="0"/>
            </a:xfrm>
            <a:prstGeom prst="line">
              <a:avLst/>
            </a:prstGeom>
            <a:ln w="25400">
              <a:solidFill>
                <a:srgbClr val="9AA0A6"/>
              </a:solidFill>
            </a:ln>
          </p:spPr>
        </p:cxnSp>
        <p:sp>
          <p:nvSpPr>
            <p:cNvPr id="35" name="Layer label"/>
            <p:cNvSpPr txBox="1"/>
            <p:nvPr/>
          </p:nvSpPr>
          <p:spPr>
            <a:xfrm>
              <a:off x="2331720" y="3931920"/>
              <a:ext cx="9052560" cy="100584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Model:</a:t>
              </a: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 look, wheels, sound</a:t>
              </a:r>
            </a:p>
          </p:txBody>
        </p:sp>
      </p:grpSp>
      <p:sp>
        <p:nvSpPr>
          <p:cNvPr id="36" name="Inline chip: How it is built: undecided"/>
          <p:cNvSpPr/>
          <p:nvPr/>
        </p:nvSpPr>
        <p:spPr>
          <a:xfrm>
            <a:off x="9176191" y="5138928"/>
            <a:ext cx="2464121" cy="329184"/>
          </a:xfrm>
          <a:prstGeom prst="roundRect">
            <a:avLst>
              <a:gd name="adj" fmla="val 5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F2F2F2"/>
                </a:solidFill>
                <a:latin typeface="Arial"/>
              </a:rPr>
              <a:t>How it is built: undecided</a:t>
            </a:r>
          </a:p>
        </p:txBody>
      </p:sp>
      <p:grpSp>
        <p:nvGrpSpPr>
          <p:cNvPr id="37" name="Caption" descr="Caption: One shared base could run every steam engine. Each engine is described by data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38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One shared base could run every steam engine. Each engine is described by data.</a:t>
              </a:r>
            </a:p>
          </p:txBody>
        </p:sp>
      </p:grpSp>
      <p:sp>
        <p:nvSpPr>
          <p:cNvPr id="41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Where this stands</a:t>
            </a:r>
          </a:p>
        </p:txBody>
      </p:sp>
      <p:sp>
        <p:nvSpPr>
          <p:cNvPr id="3" name="Status chip" descr="Status tag: Provisional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PROVISIONAL</a:t>
            </a:r>
          </a:p>
        </p:txBody>
      </p:sp>
      <p:grpSp>
        <p:nvGrpSpPr>
          <p:cNvPr id="4" name="Roadmap line" descr="A line joining four steps: the first is under way, the rest are planned."/>
          <p:cNvGrpSpPr/>
          <p:nvPr/>
        </p:nvGrpSpPr>
        <p:grpSpPr>
          <a:xfrm>
            <a:off x="1595628" y="1664208"/>
            <a:ext cx="8997696" cy="512064"/>
            <a:chOff x="1595628" y="1664208"/>
            <a:chExt cx="8997696" cy="512064"/>
          </a:xfrm>
        </p:grpSpPr>
        <p:cxnSp>
          <p:nvCxnSpPr>
            <p:cNvPr id="5" name="Roadmap line"/>
            <p:cNvCxnSpPr/>
            <p:nvPr/>
          </p:nvCxnSpPr>
          <p:spPr>
            <a:xfrm>
              <a:off x="1851660" y="1920240"/>
              <a:ext cx="8485632" cy="0"/>
            </a:xfrm>
            <a:prstGeom prst="line">
              <a:avLst/>
            </a:prstGeom>
            <a:ln w="38100">
              <a:solidFill>
                <a:srgbClr val="4A515B"/>
              </a:solidFill>
            </a:ln>
          </p:spPr>
        </p:cxnSp>
        <p:sp>
          <p:nvSpPr>
            <p:cNvPr id="6" name="Step marker"/>
            <p:cNvSpPr/>
            <p:nvPr/>
          </p:nvSpPr>
          <p:spPr>
            <a:xfrm>
              <a:off x="1595628" y="1664208"/>
              <a:ext cx="512064" cy="512064"/>
            </a:xfrm>
            <a:prstGeom prst="ellipse">
              <a:avLst/>
            </a:prstGeom>
            <a:solidFill>
              <a:srgbClr val="F28C28"/>
            </a:solidFill>
            <a:ln w="381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Step marker"/>
            <p:cNvSpPr/>
            <p:nvPr/>
          </p:nvSpPr>
          <p:spPr>
            <a:xfrm>
              <a:off x="4424172" y="1664208"/>
              <a:ext cx="512064" cy="512064"/>
            </a:xfrm>
            <a:prstGeom prst="ellipse">
              <a:avLst/>
            </a:prstGeom>
            <a:solidFill>
              <a:srgbClr val="2B2F36"/>
            </a:solidFill>
            <a:ln w="381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Step marker"/>
            <p:cNvSpPr/>
            <p:nvPr/>
          </p:nvSpPr>
          <p:spPr>
            <a:xfrm>
              <a:off x="7252716" y="1664208"/>
              <a:ext cx="512064" cy="512064"/>
            </a:xfrm>
            <a:prstGeom prst="ellipse">
              <a:avLst/>
            </a:prstGeom>
            <a:solidFill>
              <a:srgbClr val="2B2F36"/>
            </a:solidFill>
            <a:ln w="381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Step marker"/>
            <p:cNvSpPr/>
            <p:nvPr/>
          </p:nvSpPr>
          <p:spPr>
            <a:xfrm>
              <a:off x="10081260" y="1664208"/>
              <a:ext cx="512064" cy="512064"/>
            </a:xfrm>
            <a:prstGeom prst="ellipse">
              <a:avLst/>
            </a:prstGeom>
            <a:solidFill>
              <a:srgbClr val="2B2F36"/>
            </a:solidFill>
            <a:ln w="38100">
              <a:solidFill>
                <a:srgbClr val="9AA0A6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Step: Test engine on the game's rails" descr="Test engine on the game's rails: under way."/>
          <p:cNvGrpSpPr/>
          <p:nvPr/>
        </p:nvGrpSpPr>
        <p:grpSpPr>
          <a:xfrm>
            <a:off x="548640" y="2514600"/>
            <a:ext cx="2606040" cy="2240280"/>
            <a:chOff x="548640" y="2514600"/>
            <a:chExt cx="2606040" cy="2240280"/>
          </a:xfrm>
        </p:grpSpPr>
        <p:sp>
          <p:nvSpPr>
            <p:cNvPr id="11" name="Step card"/>
            <p:cNvSpPr/>
            <p:nvPr/>
          </p:nvSpPr>
          <p:spPr>
            <a:xfrm>
              <a:off x="548640" y="2514600"/>
              <a:ext cx="2606040" cy="2240280"/>
            </a:xfrm>
            <a:prstGeom prst="roundRect">
              <a:avLst>
                <a:gd name="adj" fmla="val 3265"/>
              </a:avLst>
            </a:prstGeom>
            <a:solidFill>
              <a:srgbClr val="2B2F36"/>
            </a:solidFill>
            <a:ln w="25400">
              <a:solidFill>
                <a:srgbClr val="F28C28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Step label"/>
            <p:cNvSpPr txBox="1"/>
            <p:nvPr/>
          </p:nvSpPr>
          <p:spPr>
            <a:xfrm>
              <a:off x="749808" y="2651760"/>
              <a:ext cx="2203704" cy="11887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Test engine on the game's rails</a:t>
              </a:r>
            </a:p>
          </p:txBody>
        </p:sp>
        <p:sp>
          <p:nvSpPr>
            <p:cNvPr id="13" name="State: Under way"/>
            <p:cNvSpPr/>
            <p:nvPr/>
          </p:nvSpPr>
          <p:spPr>
            <a:xfrm>
              <a:off x="749808" y="4023360"/>
              <a:ext cx="1554480" cy="457200"/>
            </a:xfrm>
            <a:prstGeom prst="roundRect">
              <a:avLst>
                <a:gd name="adj" fmla="val 50000"/>
              </a:avLst>
            </a:prstGeom>
            <a:solidFill>
              <a:srgbClr val="F28C28"/>
            </a:solidFill>
            <a:ln>
              <a:noFill/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101418"/>
                  </a:solidFill>
                  <a:latin typeface="Arial"/>
                </a:rPr>
                <a:t>Under way</a:t>
              </a:r>
            </a:p>
          </p:txBody>
        </p:sp>
      </p:grpSp>
      <p:grpSp>
        <p:nvGrpSpPr>
          <p:cNvPr id="14" name="Step: Cost and recipes" descr="Cost and recipes: planned."/>
          <p:cNvGrpSpPr/>
          <p:nvPr/>
        </p:nvGrpSpPr>
        <p:grpSpPr>
          <a:xfrm>
            <a:off x="3377184" y="2514600"/>
            <a:ext cx="2606040" cy="2240280"/>
            <a:chOff x="3377184" y="2514600"/>
            <a:chExt cx="2606040" cy="2240280"/>
          </a:xfrm>
        </p:grpSpPr>
        <p:sp>
          <p:nvSpPr>
            <p:cNvPr id="15" name="Step card"/>
            <p:cNvSpPr/>
            <p:nvPr/>
          </p:nvSpPr>
          <p:spPr>
            <a:xfrm>
              <a:off x="3377184" y="2514600"/>
              <a:ext cx="2606040" cy="2240280"/>
            </a:xfrm>
            <a:prstGeom prst="roundRect">
              <a:avLst>
                <a:gd name="adj" fmla="val 3265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Step label"/>
            <p:cNvSpPr txBox="1"/>
            <p:nvPr/>
          </p:nvSpPr>
          <p:spPr>
            <a:xfrm>
              <a:off x="3578352" y="2651760"/>
              <a:ext cx="2203704" cy="11887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Cost and recipes</a:t>
              </a:r>
            </a:p>
          </p:txBody>
        </p:sp>
        <p:sp>
          <p:nvSpPr>
            <p:cNvPr id="17" name="State: Planned"/>
            <p:cNvSpPr/>
            <p:nvPr/>
          </p:nvSpPr>
          <p:spPr>
            <a:xfrm>
              <a:off x="3578352" y="4023360"/>
              <a:ext cx="1554480" cy="457200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9AA0A6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Planned</a:t>
              </a:r>
            </a:p>
          </p:txBody>
        </p:sp>
      </p:grpSp>
      <p:grpSp>
        <p:nvGrpSpPr>
          <p:cNvPr id="18" name="Step: Range tuning" descr="Range tuning: planned."/>
          <p:cNvGrpSpPr/>
          <p:nvPr/>
        </p:nvGrpSpPr>
        <p:grpSpPr>
          <a:xfrm>
            <a:off x="6205728" y="2514600"/>
            <a:ext cx="2606040" cy="2240280"/>
            <a:chOff x="6205728" y="2514600"/>
            <a:chExt cx="2606040" cy="2240280"/>
          </a:xfrm>
        </p:grpSpPr>
        <p:sp>
          <p:nvSpPr>
            <p:cNvPr id="19" name="Step card"/>
            <p:cNvSpPr/>
            <p:nvPr/>
          </p:nvSpPr>
          <p:spPr>
            <a:xfrm>
              <a:off x="6205728" y="2514600"/>
              <a:ext cx="2606040" cy="2240280"/>
            </a:xfrm>
            <a:prstGeom prst="roundRect">
              <a:avLst>
                <a:gd name="adj" fmla="val 3265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Step label"/>
            <p:cNvSpPr txBox="1"/>
            <p:nvPr/>
          </p:nvSpPr>
          <p:spPr>
            <a:xfrm>
              <a:off x="6406896" y="2651760"/>
              <a:ext cx="2203704" cy="11887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Range tuning</a:t>
              </a:r>
            </a:p>
          </p:txBody>
        </p:sp>
        <p:sp>
          <p:nvSpPr>
            <p:cNvPr id="21" name="State: Planned"/>
            <p:cNvSpPr/>
            <p:nvPr/>
          </p:nvSpPr>
          <p:spPr>
            <a:xfrm>
              <a:off x="6406896" y="4023360"/>
              <a:ext cx="1554480" cy="457200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9AA0A6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Planned</a:t>
              </a:r>
            </a:p>
          </p:txBody>
        </p:sp>
      </p:grpSp>
      <p:grpSp>
        <p:nvGrpSpPr>
          <p:cNvPr id="22" name="Step: Play-testing" descr="Play-testing: planned."/>
          <p:cNvGrpSpPr/>
          <p:nvPr/>
        </p:nvGrpSpPr>
        <p:grpSpPr>
          <a:xfrm>
            <a:off x="9034272" y="2514600"/>
            <a:ext cx="2606040" cy="2240280"/>
            <a:chOff x="9034272" y="2514600"/>
            <a:chExt cx="2606040" cy="2240280"/>
          </a:xfrm>
        </p:grpSpPr>
        <p:sp>
          <p:nvSpPr>
            <p:cNvPr id="23" name="Step card"/>
            <p:cNvSpPr/>
            <p:nvPr/>
          </p:nvSpPr>
          <p:spPr>
            <a:xfrm>
              <a:off x="9034272" y="2514600"/>
              <a:ext cx="2606040" cy="2240280"/>
            </a:xfrm>
            <a:prstGeom prst="roundRect">
              <a:avLst>
                <a:gd name="adj" fmla="val 3265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Step label"/>
            <p:cNvSpPr txBox="1"/>
            <p:nvPr/>
          </p:nvSpPr>
          <p:spPr>
            <a:xfrm>
              <a:off x="9235440" y="2651760"/>
              <a:ext cx="2203704" cy="118872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Play-testing</a:t>
              </a:r>
            </a:p>
          </p:txBody>
        </p:sp>
        <p:sp>
          <p:nvSpPr>
            <p:cNvPr id="25" name="State: Planned"/>
            <p:cNvSpPr/>
            <p:nvPr/>
          </p:nvSpPr>
          <p:spPr>
            <a:xfrm>
              <a:off x="9235440" y="4023360"/>
              <a:ext cx="1554480" cy="457200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9AA0A6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800" b="1" i="0" lang="en-GB">
                  <a:solidFill>
                    <a:srgbClr val="F2F2F2"/>
                  </a:solidFill>
                  <a:latin typeface="Arial"/>
                </a:rPr>
                <a:t>Planned</a:t>
              </a:r>
            </a:p>
          </p:txBody>
        </p:sp>
      </p:grpSp>
      <p:sp>
        <p:nvSpPr>
          <p:cNvPr id="26" name="Inline chip: Plans can change."/>
          <p:cNvSpPr/>
          <p:nvPr/>
        </p:nvSpPr>
        <p:spPr>
          <a:xfrm>
            <a:off x="9778071" y="5029200"/>
            <a:ext cx="1862241" cy="329184"/>
          </a:xfrm>
          <a:prstGeom prst="roundRect">
            <a:avLst>
              <a:gd name="adj" fmla="val 50000"/>
            </a:avLst>
          </a:prstGeom>
          <a:solidFill>
            <a:srgbClr val="4DA3FF"/>
          </a:solidFill>
          <a:ln>
            <a:noFill/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101418"/>
                </a:solidFill>
                <a:latin typeface="Arial"/>
              </a:rPr>
              <a:t>Plans can change.</a:t>
            </a:r>
          </a:p>
        </p:txBody>
      </p:sp>
      <p:grpSp>
        <p:nvGrpSpPr>
          <p:cNvPr id="27" name="Caption" descr="Caption: Balance is a plan. It will be tested and tuned by playing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28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Balance is a plan. It will be tested and tuned by playing.</a:t>
              </a:r>
            </a:p>
          </p:txBody>
        </p:sp>
      </p:grpSp>
      <p:sp>
        <p:nvSpPr>
          <p:cNvPr id="31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Still undecided</a:t>
            </a:r>
          </a:p>
        </p:txBody>
      </p:sp>
      <p:sp>
        <p:nvSpPr>
          <p:cNvPr id="3" name="Status chip" descr="Status tag: Undecided"/>
          <p:cNvSpPr/>
          <p:nvPr/>
        </p:nvSpPr>
        <p:spPr>
          <a:xfrm>
            <a:off x="10180015" y="457200"/>
            <a:ext cx="1463040" cy="365760"/>
          </a:xfrm>
          <a:prstGeom prst="roundRect">
            <a:avLst>
              <a:gd name="adj" fmla="val 30000"/>
            </a:avLst>
          </a:prstGeom>
          <a:noFill/>
          <a:ln w="25400">
            <a:solidFill>
              <a:srgbClr val="A9B0B8"/>
            </a:solidFill>
          </a:ln>
        </p:spPr>
        <p:txBody>
          <a:bodyPr rtlCol="0" anchor="ctr" wrap="none" lIns="0" tIns="0" rIns="0" bIns="0">
            <a:no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400" b="1" i="0" lang="en-GB">
                <a:solidFill>
                  <a:srgbClr val="F2F2F2"/>
                </a:solidFill>
                <a:latin typeface="Arial"/>
              </a:rPr>
              <a:t>UNDECIDED</a:t>
            </a:r>
          </a:p>
        </p:txBody>
      </p:sp>
      <p:grpSp>
        <p:nvGrpSpPr>
          <p:cNvPr id="4" name="Open question: Recipes and costs" descr="Undecided: Recipes and costs (OQ02)."/>
          <p:cNvGrpSpPr/>
          <p:nvPr/>
        </p:nvGrpSpPr>
        <p:grpSpPr>
          <a:xfrm>
            <a:off x="548640" y="1371600"/>
            <a:ext cx="2651760" cy="1874520"/>
            <a:chOff x="548640" y="1371600"/>
            <a:chExt cx="2651760" cy="1874520"/>
          </a:xfrm>
        </p:grpSpPr>
        <p:sp>
          <p:nvSpPr>
            <p:cNvPr id="5" name="Card"/>
            <p:cNvSpPr/>
            <p:nvPr/>
          </p:nvSpPr>
          <p:spPr>
            <a:xfrm>
              <a:off x="548640" y="137160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Inline chip: Undecided"/>
            <p:cNvSpPr/>
            <p:nvPr/>
          </p:nvSpPr>
          <p:spPr>
            <a:xfrm>
              <a:off x="731520" y="1554480"/>
              <a:ext cx="1367913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7" name="Question"/>
            <p:cNvSpPr txBox="1"/>
            <p:nvPr/>
          </p:nvSpPr>
          <p:spPr>
            <a:xfrm>
              <a:off x="731520" y="2084832"/>
              <a:ext cx="22860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Recipes and costs</a:t>
              </a: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 (OQ02)</a:t>
              </a:r>
            </a:p>
          </p:txBody>
        </p:sp>
      </p:grpSp>
      <p:grpSp>
        <p:nvGrpSpPr>
          <p:cNvPr id="8" name="Open question: Longest track piece" descr="Undecided: Longest track piece (OQ02)."/>
          <p:cNvGrpSpPr/>
          <p:nvPr/>
        </p:nvGrpSpPr>
        <p:grpSpPr>
          <a:xfrm>
            <a:off x="3362249" y="1371600"/>
            <a:ext cx="2651760" cy="1874520"/>
            <a:chOff x="3362249" y="1371600"/>
            <a:chExt cx="2651760" cy="1874520"/>
          </a:xfrm>
        </p:grpSpPr>
        <p:sp>
          <p:nvSpPr>
            <p:cNvPr id="9" name="Card"/>
            <p:cNvSpPr/>
            <p:nvPr/>
          </p:nvSpPr>
          <p:spPr>
            <a:xfrm>
              <a:off x="3362249" y="137160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Inline chip: Undecided"/>
            <p:cNvSpPr/>
            <p:nvPr/>
          </p:nvSpPr>
          <p:spPr>
            <a:xfrm>
              <a:off x="3545129" y="1554480"/>
              <a:ext cx="1367913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1" name="Question"/>
            <p:cNvSpPr txBox="1"/>
            <p:nvPr/>
          </p:nvSpPr>
          <p:spPr>
            <a:xfrm>
              <a:off x="3545129" y="2084832"/>
              <a:ext cx="22860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Longest track piece</a:t>
              </a: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 (OQ02)</a:t>
              </a:r>
            </a:p>
          </p:txBody>
        </p:sp>
      </p:grpSp>
      <p:grpSp>
        <p:nvGrpSpPr>
          <p:cNvPr id="12" name="Open question: Is Medium the fastest?" descr="Undecided: Is Medium the fastest? (OQ05)."/>
          <p:cNvGrpSpPr/>
          <p:nvPr/>
        </p:nvGrpSpPr>
        <p:grpSpPr>
          <a:xfrm>
            <a:off x="6175858" y="1371600"/>
            <a:ext cx="2651760" cy="1874520"/>
            <a:chOff x="6175858" y="1371600"/>
            <a:chExt cx="2651760" cy="1874520"/>
          </a:xfrm>
        </p:grpSpPr>
        <p:sp>
          <p:nvSpPr>
            <p:cNvPr id="13" name="Card"/>
            <p:cNvSpPr/>
            <p:nvPr/>
          </p:nvSpPr>
          <p:spPr>
            <a:xfrm>
              <a:off x="6175858" y="137160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Inline chip: Undecided"/>
            <p:cNvSpPr/>
            <p:nvPr/>
          </p:nvSpPr>
          <p:spPr>
            <a:xfrm>
              <a:off x="6358738" y="1554480"/>
              <a:ext cx="1367913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5" name="Question"/>
            <p:cNvSpPr txBox="1"/>
            <p:nvPr/>
          </p:nvSpPr>
          <p:spPr>
            <a:xfrm>
              <a:off x="6358738" y="2084832"/>
              <a:ext cx="22860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Is Medium the fastest?</a:t>
              </a: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 (OQ05)</a:t>
              </a:r>
            </a:p>
          </p:txBody>
        </p:sp>
      </p:grpSp>
      <p:grpSp>
        <p:nvGrpSpPr>
          <p:cNvPr id="16" name="Open question: Engine curves" descr="Undecided: Engine curves (OQ05)."/>
          <p:cNvGrpSpPr/>
          <p:nvPr/>
        </p:nvGrpSpPr>
        <p:grpSpPr>
          <a:xfrm>
            <a:off x="8989466" y="1371600"/>
            <a:ext cx="2651760" cy="1874520"/>
            <a:chOff x="8989466" y="1371600"/>
            <a:chExt cx="2651760" cy="1874520"/>
          </a:xfrm>
        </p:grpSpPr>
        <p:sp>
          <p:nvSpPr>
            <p:cNvPr id="17" name="Card"/>
            <p:cNvSpPr/>
            <p:nvPr/>
          </p:nvSpPr>
          <p:spPr>
            <a:xfrm>
              <a:off x="8989466" y="137160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Inline chip: Undecided"/>
            <p:cNvSpPr/>
            <p:nvPr/>
          </p:nvSpPr>
          <p:spPr>
            <a:xfrm>
              <a:off x="9172346" y="1554480"/>
              <a:ext cx="1367913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19" name="Question"/>
            <p:cNvSpPr txBox="1"/>
            <p:nvPr/>
          </p:nvSpPr>
          <p:spPr>
            <a:xfrm>
              <a:off x="9172346" y="2084832"/>
              <a:ext cx="22860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Engine curves</a:t>
              </a: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 (OQ05)</a:t>
              </a:r>
            </a:p>
          </p:txBody>
        </p:sp>
      </p:grpSp>
      <p:grpSp>
        <p:nvGrpSpPr>
          <p:cNvPr id="20" name="Open question: Wagon list" descr="Undecided: Wagon list (OQ07)."/>
          <p:cNvGrpSpPr/>
          <p:nvPr/>
        </p:nvGrpSpPr>
        <p:grpSpPr>
          <a:xfrm>
            <a:off x="548640" y="3474720"/>
            <a:ext cx="2651760" cy="1874520"/>
            <a:chOff x="548640" y="3474720"/>
            <a:chExt cx="2651760" cy="1874520"/>
          </a:xfrm>
        </p:grpSpPr>
        <p:sp>
          <p:nvSpPr>
            <p:cNvPr id="21" name="Card"/>
            <p:cNvSpPr/>
            <p:nvPr/>
          </p:nvSpPr>
          <p:spPr>
            <a:xfrm>
              <a:off x="548640" y="347472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Inline chip: Undecided"/>
            <p:cNvSpPr/>
            <p:nvPr/>
          </p:nvSpPr>
          <p:spPr>
            <a:xfrm>
              <a:off x="731520" y="3657600"/>
              <a:ext cx="1367913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23" name="Question"/>
            <p:cNvSpPr txBox="1"/>
            <p:nvPr/>
          </p:nvSpPr>
          <p:spPr>
            <a:xfrm>
              <a:off x="731520" y="4187952"/>
              <a:ext cx="22860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Wagon list</a:t>
              </a: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 (OQ07)</a:t>
              </a:r>
            </a:p>
          </p:txBody>
        </p:sp>
      </p:grpSp>
      <p:grpSp>
        <p:nvGrpSpPr>
          <p:cNvPr id="24" name="Open question: Which fuels work?" descr="Undecided: Which fuels work? (OQ08)."/>
          <p:cNvGrpSpPr/>
          <p:nvPr/>
        </p:nvGrpSpPr>
        <p:grpSpPr>
          <a:xfrm>
            <a:off x="3362249" y="3474720"/>
            <a:ext cx="2651760" cy="1874520"/>
            <a:chOff x="3362249" y="3474720"/>
            <a:chExt cx="2651760" cy="1874520"/>
          </a:xfrm>
        </p:grpSpPr>
        <p:sp>
          <p:nvSpPr>
            <p:cNvPr id="25" name="Card"/>
            <p:cNvSpPr/>
            <p:nvPr/>
          </p:nvSpPr>
          <p:spPr>
            <a:xfrm>
              <a:off x="3362249" y="347472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Inline chip: Undecided"/>
            <p:cNvSpPr/>
            <p:nvPr/>
          </p:nvSpPr>
          <p:spPr>
            <a:xfrm>
              <a:off x="3545129" y="3657600"/>
              <a:ext cx="1367913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27" name="Question"/>
            <p:cNvSpPr txBox="1"/>
            <p:nvPr/>
          </p:nvSpPr>
          <p:spPr>
            <a:xfrm>
              <a:off x="3545129" y="4187952"/>
              <a:ext cx="22860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Which fuels work?</a:t>
              </a: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 (OQ08)</a:t>
              </a:r>
            </a:p>
          </p:txBody>
        </p:sp>
      </p:grpSp>
      <p:grpSp>
        <p:nvGrpSpPr>
          <p:cNvPr id="28" name="Open question: Station size" descr="Undecided: Station size (OQ09)."/>
          <p:cNvGrpSpPr/>
          <p:nvPr/>
        </p:nvGrpSpPr>
        <p:grpSpPr>
          <a:xfrm>
            <a:off x="6175858" y="3474720"/>
            <a:ext cx="2651760" cy="1874520"/>
            <a:chOff x="6175858" y="3474720"/>
            <a:chExt cx="2651760" cy="1874520"/>
          </a:xfrm>
        </p:grpSpPr>
        <p:sp>
          <p:nvSpPr>
            <p:cNvPr id="29" name="Card"/>
            <p:cNvSpPr/>
            <p:nvPr/>
          </p:nvSpPr>
          <p:spPr>
            <a:xfrm>
              <a:off x="6175858" y="347472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Inline chip: Undecided"/>
            <p:cNvSpPr/>
            <p:nvPr/>
          </p:nvSpPr>
          <p:spPr>
            <a:xfrm>
              <a:off x="6358738" y="3657600"/>
              <a:ext cx="1367913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31" name="Question"/>
            <p:cNvSpPr txBox="1"/>
            <p:nvPr/>
          </p:nvSpPr>
          <p:spPr>
            <a:xfrm>
              <a:off x="6358738" y="4187952"/>
              <a:ext cx="22860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Station size</a:t>
              </a: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 (OQ09)</a:t>
              </a:r>
            </a:p>
          </p:txBody>
        </p:sp>
      </p:grpSp>
      <p:grpSp>
        <p:nvGrpSpPr>
          <p:cNvPr id="32" name="Open question: Service stop rules" descr="Undecided: Service stop rules (OQ11)."/>
          <p:cNvGrpSpPr/>
          <p:nvPr/>
        </p:nvGrpSpPr>
        <p:grpSpPr>
          <a:xfrm>
            <a:off x="8989466" y="3474720"/>
            <a:ext cx="2651760" cy="1874520"/>
            <a:chOff x="8989466" y="3474720"/>
            <a:chExt cx="2651760" cy="1874520"/>
          </a:xfrm>
        </p:grpSpPr>
        <p:sp>
          <p:nvSpPr>
            <p:cNvPr id="33" name="Card"/>
            <p:cNvSpPr/>
            <p:nvPr/>
          </p:nvSpPr>
          <p:spPr>
            <a:xfrm>
              <a:off x="8989466" y="3474720"/>
              <a:ext cx="2651760" cy="1874520"/>
            </a:xfrm>
            <a:prstGeom prst="roundRect">
              <a:avLst>
                <a:gd name="adj" fmla="val 3902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Inline chip: Undecided"/>
            <p:cNvSpPr/>
            <p:nvPr/>
          </p:nvSpPr>
          <p:spPr>
            <a:xfrm>
              <a:off x="9172346" y="3657600"/>
              <a:ext cx="1367913" cy="329184"/>
            </a:xfrm>
            <a:prstGeom prst="roundRect">
              <a:avLst>
                <a:gd name="adj" fmla="val 50000"/>
              </a:avLst>
            </a:prstGeom>
            <a:noFill/>
            <a:ln w="25400">
              <a:solidFill>
                <a:srgbClr val="A9B0B8"/>
              </a:solidFill>
            </a:ln>
          </p:spPr>
          <p:txBody>
            <a:bodyPr rtlCol="0" anchor="ctr" wrap="none" lIns="0" tIns="0" rIns="0" bIns="0">
              <a:noAutofit/>
            </a:bodyPr>
            <a:lstStyle/>
            <a:p>
              <a:pPr algn="ctr">
                <a:spcBef>
                  <a:spcPts val="0"/>
                </a:spcBef>
                <a:spcAft>
                  <a:spcPts val="0"/>
                </a:spcAft>
              </a:pPr>
              <a:r>
                <a:rPr sz="1400" b="1" i="0" lang="en-GB">
                  <a:solidFill>
                    <a:srgbClr val="F2F2F2"/>
                  </a:solidFill>
                  <a:latin typeface="Arial"/>
                </a:rPr>
                <a:t>UNDECIDED</a:t>
              </a:r>
            </a:p>
          </p:txBody>
        </p:sp>
        <p:sp>
          <p:nvSpPr>
            <p:cNvPr id="35" name="Question"/>
            <p:cNvSpPr txBox="1"/>
            <p:nvPr/>
          </p:nvSpPr>
          <p:spPr>
            <a:xfrm>
              <a:off x="9172346" y="4187952"/>
              <a:ext cx="2286000" cy="1097280"/>
            </a:xfrm>
            <a:prstGeom prst="rect">
              <a:avLst/>
            </a:prstGeom>
            <a:noFill/>
          </p:spPr>
          <p:txBody>
            <a:bodyPr wrap="square" lIns="0" tIns="0" rIns="0" bIns="0" anchor="t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1" i="0" lang="en-GB">
                  <a:solidFill>
                    <a:srgbClr val="F2F2F2"/>
                  </a:solidFill>
                  <a:latin typeface="Arial"/>
                </a:rPr>
                <a:t>Service stop rules</a:t>
              </a:r>
              <a:r>
                <a:rPr sz="2000" b="0" i="0" lang="en-GB">
                  <a:solidFill>
                    <a:srgbClr val="A9B0B8"/>
                  </a:solidFill>
                  <a:latin typeface="Arial"/>
                </a:rPr>
                <a:t> (OQ11)</a:t>
              </a:r>
            </a:p>
          </p:txBody>
        </p:sp>
      </p:grpSp>
      <p:grpSp>
        <p:nvGrpSpPr>
          <p:cNvPr id="36" name="Caption" descr="Caption: These questions are open. Nothing here has been chosen yet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37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These questions are open. Nothing here has been chosen yet.</a:t>
              </a:r>
            </a:p>
          </p:txBody>
        </p:sp>
      </p:grpSp>
      <p:sp>
        <p:nvSpPr>
          <p:cNvPr id="40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1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8640" y="411480"/>
            <a:ext cx="9418320" cy="731520"/>
          </a:xfrm>
        </p:spPr>
        <p:txBody>
          <a:bodyPr wrap="square" lIns="0" tIns="0" rIns="0" bIns="0" anchor="ctr">
            <a:no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600" b="1" i="0" lang="en-GB">
                <a:solidFill>
                  <a:srgbClr val="F2F2F2"/>
                </a:solidFill>
                <a:latin typeface="Arial"/>
              </a:rPr>
              <a:t>Image credits</a:t>
            </a:r>
          </a:p>
        </p:txBody>
      </p:sp>
      <p:graphicFrame>
        <p:nvGraphicFramePr>
          <p:cNvPr id="3" name="Credits table" descr="Credits table: image R02 on slide 1, an Early Locomotion project render."/>
          <p:cNvGraphicFramePr>
            <a:graphicFrameLocks noGrp="1"/>
          </p:cNvGraphicFramePr>
          <p:nvPr/>
        </p:nvGraphicFramePr>
        <p:xfrm>
          <a:off x="548640" y="1371600"/>
          <a:ext cx="11091672" cy="1280160"/>
        </p:xfrm>
        <a:graphic>
          <a:graphicData uri="http://schemas.openxmlformats.org/drawingml/2006/table">
            <a:tbl>
              <a:tblPr firstRow="0" bandRow="0">
                <a:tableStyleId>{2D5ABB26-0587-4C30-8999-92F81FD0307C}</a:tableStyleId>
              </a:tblPr>
              <a:tblGrid>
                <a:gridCol w="914400"/>
                <a:gridCol w="914400"/>
                <a:gridCol w="4206240"/>
                <a:gridCol w="5056632"/>
              </a:tblGrid>
              <a:tr h="640080">
                <a:tc>
                  <a:txBody>
                    <a:bodyPr wrap="square" lIns="109728" rIns="109728" anchor="ctr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Slot</a:t>
                      </a:r>
                    </a:p>
                  </a:txBody>
                  <a:tcPr marL="109728" marR="109728" anchor="ctr">
                    <a:solidFill>
                      <a:srgbClr val="343A43"/>
                    </a:solidFill>
                  </a:tcPr>
                </a:tc>
                <a:tc>
                  <a:txBody>
                    <a:bodyPr wrap="square" lIns="109728" rIns="109728" anchor="ctr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Slide</a:t>
                      </a:r>
                    </a:p>
                  </a:txBody>
                  <a:tcPr marL="109728" marR="109728" anchor="ctr">
                    <a:solidFill>
                      <a:srgbClr val="343A43"/>
                    </a:solidFill>
                  </a:tcPr>
                </a:tc>
                <a:tc>
                  <a:txBody>
                    <a:bodyPr wrap="square" lIns="109728" rIns="109728" anchor="ctr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What it shows</a:t>
                      </a:r>
                    </a:p>
                  </a:txBody>
                  <a:tcPr marL="109728" marR="109728" anchor="ctr">
                    <a:solidFill>
                      <a:srgbClr val="343A43"/>
                    </a:solidFill>
                  </a:tcPr>
                </a:tc>
                <a:tc>
                  <a:txBody>
                    <a:bodyPr wrap="square" lIns="109728" rIns="109728" anchor="ctr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1" i="0" lang="en-GB">
                          <a:solidFill>
                            <a:srgbClr val="F2F2F2"/>
                          </a:solidFill>
                          <a:latin typeface="Arial"/>
                        </a:rPr>
                        <a:t>Credit</a:t>
                      </a:r>
                    </a:p>
                  </a:txBody>
                  <a:tcPr marL="109728" marR="109728" anchor="ctr">
                    <a:solidFill>
                      <a:srgbClr val="343A43"/>
                    </a:solidFill>
                  </a:tcPr>
                </a:tc>
              </a:tr>
              <a:tr h="640080">
                <a:tc>
                  <a:txBody>
                    <a:bodyPr wrap="square" lIns="109728" rIns="109728" anchor="ctr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R02</a:t>
                      </a:r>
                    </a:p>
                  </a:txBody>
                  <a:tcPr marL="109728" marR="109728" anchor="ctr">
                    <a:solidFill>
                      <a:srgbClr val="2B2F36"/>
                    </a:solidFill>
                  </a:tcPr>
                </a:tc>
                <a:tc>
                  <a:txBody>
                    <a:bodyPr wrap="square" lIns="109728" rIns="109728" anchor="ctr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109728" marR="109728" anchor="ctr">
                    <a:solidFill>
                      <a:srgbClr val="2B2F36"/>
                    </a:solidFill>
                  </a:tcPr>
                </a:tc>
                <a:tc>
                  <a:txBody>
                    <a:bodyPr wrap="square" lIns="109728" rIns="109728" anchor="ctr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Render of the mod's two-rail track.</a:t>
                      </a:r>
                    </a:p>
                  </a:txBody>
                  <a:tcPr marL="109728" marR="109728" anchor="ctr">
                    <a:solidFill>
                      <a:srgbClr val="2B2F36"/>
                    </a:solidFill>
                  </a:tcPr>
                </a:tc>
                <a:tc>
                  <a:txBody>
                    <a:bodyPr wrap="square" lIns="109728" rIns="109728" anchor="ctr">
                      <a:noAutofit/>
                    </a:bodyPr>
                    <a:lstStyle/>
                    <a:p>
                      <a:pPr algn="l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100" b="0" i="0" lang="en-GB">
                          <a:solidFill>
                            <a:srgbClr val="F2F2F2"/>
                          </a:solidFill>
                          <a:latin typeface="Arial"/>
                        </a:rPr>
                        <a:t>Early Locomotion project (visual development, not final art).</a:t>
                      </a:r>
                    </a:p>
                  </a:txBody>
                  <a:tcPr marL="109728" marR="109728" anchor="ctr">
                    <a:solidFill>
                      <a:srgbClr val="2B2F36"/>
                    </a:solidFill>
                  </a:tcPr>
                </a:tc>
              </a:tr>
            </a:tbl>
          </a:graphicData>
        </a:graphic>
      </p:graphicFrame>
      <p:grpSp>
        <p:nvGrpSpPr>
          <p:cNvPr id="4" name="Caption" descr="Caption: This deck uses no photographs."/>
          <p:cNvGrpSpPr/>
          <p:nvPr/>
        </p:nvGrpSpPr>
        <p:grpSpPr>
          <a:xfrm>
            <a:off x="548640" y="5669280"/>
            <a:ext cx="11091672" cy="822960"/>
            <a:chOff x="548640" y="5669280"/>
            <a:chExt cx="11091672" cy="822960"/>
          </a:xfrm>
        </p:grpSpPr>
        <p:sp>
          <p:nvSpPr>
            <p:cNvPr id="5" name="Caption panel"/>
            <p:cNvSpPr/>
            <p:nvPr/>
          </p:nvSpPr>
          <p:spPr>
            <a:xfrm>
              <a:off x="548640" y="5669280"/>
              <a:ext cx="11091672" cy="822960"/>
            </a:xfrm>
            <a:prstGeom prst="roundRect">
              <a:avLst>
                <a:gd name="adj" fmla="val 8888"/>
              </a:avLst>
            </a:prstGeom>
            <a:solidFill>
              <a:srgbClr val="2B2F36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Caption rule"/>
            <p:cNvSpPr/>
            <p:nvPr/>
          </p:nvSpPr>
          <p:spPr>
            <a:xfrm>
              <a:off x="548640" y="5669280"/>
              <a:ext cx="73152" cy="822960"/>
            </a:xfrm>
            <a:prstGeom prst="rect">
              <a:avLst/>
            </a:prstGeom>
            <a:solidFill>
              <a:srgbClr val="F28C28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Caption text"/>
            <p:cNvSpPr txBox="1"/>
            <p:nvPr/>
          </p:nvSpPr>
          <p:spPr>
            <a:xfrm>
              <a:off x="850392" y="5669280"/>
              <a:ext cx="10607040" cy="822960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algn="l">
                <a:spcBef>
                  <a:spcPts val="0"/>
                </a:spcBef>
                <a:spcAft>
                  <a:spcPts val="0"/>
                </a:spcAft>
              </a:pPr>
              <a:r>
                <a:rPr sz="2000" b="0" i="0" lang="en-GB">
                  <a:solidFill>
                    <a:srgbClr val="F2F2F2"/>
                  </a:solidFill>
                  <a:latin typeface="Arial"/>
                </a:rPr>
                <a:t>This deck uses no photographs.</a:t>
              </a:r>
            </a:p>
          </p:txBody>
        </p:sp>
      </p:grpSp>
      <p:sp>
        <p:nvSpPr>
          <p:cNvPr id="8" name="Slide number"/>
          <p:cNvSpPr txBox="1"/>
          <p:nvPr/>
        </p:nvSpPr>
        <p:spPr>
          <a:xfrm>
            <a:off x="10911535" y="6510528"/>
            <a:ext cx="731520" cy="274320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1400" b="0" i="0" lang="en-GB">
                <a:solidFill>
                  <a:srgbClr val="A9B0B8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1E2126"/>
      </a:dk1>
      <a:lt1>
        <a:srgbClr val="F2F2F2"/>
      </a:lt1>
      <a:dk2>
        <a:srgbClr val="2B2F36"/>
      </a:dk2>
      <a:lt2>
        <a:srgbClr val="A9B0B8"/>
      </a:lt2>
      <a:accent1>
        <a:srgbClr val="F28C28"/>
      </a:accent1>
      <a:accent2>
        <a:srgbClr val="4DA3FF"/>
      </a:accent2>
      <a:accent3>
        <a:srgbClr val="3FB950"/>
      </a:accent3>
      <a:accent4>
        <a:srgbClr val="F2C14E"/>
      </a:accent4>
      <a:accent5>
        <a:srgbClr val="B084F5"/>
      </a:accent5>
      <a:accent6>
        <a:srgbClr val="E5484D"/>
      </a:accent6>
      <a:hlink>
        <a:srgbClr val="4DA3FF"/>
      </a:hlink>
      <a:folHlink>
        <a:srgbClr val="B084F5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How the Mod Is Balanced, Explained</dc:title>
  <dc:subject>Explainer deck 9 for the Satisfactory mod Early Locomotion</dc:subject>
  <dc:creator>Claude (Early Locomotion project)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  <dc:language>en-GB</dc:language>
</cp:coreProperties>
</file>