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slideLayout" Target="../slideLayouts/slideLayout6.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E212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4" r:id="rId6"/>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jpg"/><Relationship Id="rId3" Type="http://schemas.openxmlformats.org/officeDocument/2006/relationships/image" Target="../media/image19.jpg"/><Relationship Id="rId4" Type="http://schemas.openxmlformats.org/officeDocument/2006/relationships/image" Target="../media/image20.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jpg"/><Relationship Id="rId3"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10.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ommons.wikimedia.org/wiki/File:Old_style_rail_clips_at_Oxenhope_-_geograph.org.uk_-_5380435.jpg" TargetMode="External"/><Relationship Id="rId3" Type="http://schemas.openxmlformats.org/officeDocument/2006/relationships/hyperlink" Target="https://commons.wikimedia.org/wiki/File:Track_at_Sheffield_Park.jpg" TargetMode="External"/><Relationship Id="rId4" Type="http://schemas.openxmlformats.org/officeDocument/2006/relationships/hyperlink" Target="https://commons.wikimedia.org/wiki/File:Valve_gear_(530245247).jpg" TargetMode="External"/><Relationship Id="rId5" Type="http://schemas.openxmlformats.org/officeDocument/2006/relationships/hyperlink" Target="https://commons.wikimedia.org/wiki/File:73082_Camelot_British_Railways_Standard_Class_5_4-6-0_-_54304789041.jpg" TargetMode="External"/><Relationship Id="rId6" Type="http://schemas.openxmlformats.org/officeDocument/2006/relationships/hyperlink" Target="https://commons.wikimedia.org/wiki/File:British_Railways_Standard_Class_4MT_2-6-4_Tank_Locomotive_No._80151_-_54303345950.jpg" TargetMode="External"/><Relationship Id="rId7" Type="http://schemas.openxmlformats.org/officeDocument/2006/relationships/hyperlink" Target="https://commons.wikimedia.org/wiki/File:Didcot_Railway_Centre_Water_(4714616590).jpg" TargetMode="External"/><Relationship Id="rId8" Type="http://schemas.openxmlformats.org/officeDocument/2006/relationships/hyperlink" Target="https://commons.wikimedia.org/wiki/File:Signal_and_Water_Tower_(3715807921).jpg" TargetMode="External"/><Relationship Id="rId9" Type="http://schemas.openxmlformats.org/officeDocument/2006/relationships/hyperlink" Target="https://commons.wikimedia.org/wiki/File:Coaling_stage,_GWS_Didcot-9940117084.jpg" TargetMode="External"/><Relationship Id="rId10" Type="http://schemas.openxmlformats.org/officeDocument/2006/relationships/hyperlink" Target="https://commons.wikimedia.org/wiki/File:Carnforth_Ash_plant,_water_tower_and_Cenotaph_coaling_tower.jpg" TargetMode="External"/><Relationship Id="rId11" Type="http://schemas.openxmlformats.org/officeDocument/2006/relationships/hyperlink" Target="https://commons.wikimedia.org/wiki/File:47406_Great_Central_Railway_(2).jpg" TargetMode="External"/><Relationship Id="rId12" Type="http://schemas.openxmlformats.org/officeDocument/2006/relationships/hyperlink" Target="https://commons.wikimedia.org/wiki/File:35005_Canadian_Pacific_at_Loughborough_1993.jpg" TargetMode="External"/><Relationship Id="rId13" Type="http://schemas.openxmlformats.org/officeDocument/2006/relationships/hyperlink" Target="https://commons.wikimedia.org/wiki/File:92203_at_Toddington_on_the_Gloucestershire_and_Warwickshire_Railway_(3).jpg"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ommons.wikimedia.org/wiki/File:Semaphore_distant_signal_on_the_approach_to_Henley_in_Arden._-_geograph.org.uk_-_11867.jpg" TargetMode="External"/><Relationship Id="rId3" Type="http://schemas.openxmlformats.org/officeDocument/2006/relationships/hyperlink" Target="https://commons.wikimedia.org/wiki/File:Williton_Signal_Box_-_November_2014.jpg" TargetMode="External"/><Relationship Id="rId4" Type="http://schemas.openxmlformats.org/officeDocument/2006/relationships/hyperlink" Target="https://commons.wikimedia.org/wiki/File:Signalbox_workings,_Didcot_Railway_Centre_-_geograph.org.uk_-_658545.jpg" TargetMode="External"/><Relationship Id="rId5" Type="http://schemas.openxmlformats.org/officeDocument/2006/relationships/hyperlink" Target="https://commons.wikimedia.org/wiki/File:Williton_railway_station_MMB_10.jpg" TargetMode="External"/><Relationship Id="rId6" Type="http://schemas.openxmlformats.org/officeDocument/2006/relationships/hyperlink" Target="https://commons.wikimedia.org/wiki/File:Coal_stage_and_water_tank,_Didcot_Railway_Centre,_England.jpg" TargetMode="External"/><Relationship Id="rId7" Type="http://schemas.openxmlformats.org/officeDocument/2006/relationships/hyperlink" Target="https://commons.wikimedia.org/wiki/File:Norton_Fitzwarren_-_LMS_tender.JPG" TargetMode="External"/><Relationship Id="rId8" Type="http://schemas.openxmlformats.org/officeDocument/2006/relationships/hyperlink" Target="https://commons.wikimedia.org/wiki/File:Out_in_the_open_(530236847)_(2).jp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1234440"/>
            <a:ext cx="5760720" cy="1920240"/>
          </a:xfrm>
        </p:spPr>
        <p:txBody>
          <a:bodyPr wrap="square" lIns="0" tIns="0" rIns="0" bIns="0" anchor="b">
            <a:noAutofit/>
          </a:bodyPr>
          <a:lstStyle/>
          <a:p>
            <a:pPr algn="l">
              <a:lnSpc>
                <a:spcPct val="90000"/>
              </a:lnSpc>
            </a:pPr>
            <a:r>
              <a:rPr sz="5400" b="1" i="0" lang="en-GB">
                <a:solidFill>
                  <a:srgbClr val="F2F2F2"/>
                </a:solidFill>
                <a:latin typeface="Arial"/>
              </a:rPr>
              <a:t>Early Locomotion</a:t>
            </a:r>
          </a:p>
        </p:txBody>
      </p:sp>
      <p:sp>
        <p:nvSpPr>
          <p:cNvPr id="3" name="Title rule">
            <a:extLst>
              <a:ext uri="{C183D7F6-B498-43B3-948B-1728B52AA6E4}">
                <adec:decorative xmlns:adec="http://schemas.microsoft.com/office/drawing/2017/decorative" val="1"/>
              </a:ext>
            </a:extLst>
          </p:cNvPr>
          <p:cNvSpPr/>
          <p:nvPr/>
        </p:nvSpPr>
        <p:spPr>
          <a:xfrm>
            <a:off x="548640" y="3337560"/>
            <a:ext cx="2377440" cy="91440"/>
          </a:xfrm>
          <a:prstGeom prst="rect">
            <a:avLst/>
          </a:prstGeom>
          <a:solidFill>
            <a:srgbClr val="F28C28"/>
          </a:solidFill>
          <a:ln>
            <a:noFill/>
          </a:ln>
        </p:spPr>
        <p:txBody>
          <a:bodyPr rtlCol="0" anchor="ctr"/>
          <a:lstStyle/>
          <a:p>
            <a:pPr algn="ctr"/>
          </a:p>
        </p:txBody>
      </p:sp>
      <p:sp>
        <p:nvSpPr>
          <p:cNvPr id="4" name="Caption"/>
          <p:cNvSpPr txBox="1"/>
          <p:nvPr/>
        </p:nvSpPr>
        <p:spPr>
          <a:xfrm>
            <a:off x="548640" y="3611880"/>
            <a:ext cx="5669280" cy="1645920"/>
          </a:xfrm>
          <a:prstGeom prst="rect">
            <a:avLst/>
          </a:prstGeom>
          <a:noFill/>
        </p:spPr>
        <p:txBody>
          <a:bodyPr wrap="square" lIns="0" tIns="0" rIns="0" bIns="0" anchor="t">
            <a:noAutofit/>
          </a:bodyPr>
          <a:lstStyle/>
          <a:p>
            <a:pPr algn="l">
              <a:lnSpc>
                <a:spcPct val="105000"/>
              </a:lnSpc>
            </a:pPr>
            <a:r>
              <a:rPr sz="2400" b="0" i="0" lang="en-GB">
                <a:solidFill>
                  <a:srgbClr val="F2F2F2"/>
                </a:solidFill>
                <a:latin typeface="Arial"/>
              </a:rPr>
              <a:t>A steam railway mod for Satisfactory, explained for newcomers. Everything here is a plan, not a finished mod.</a:t>
            </a:r>
          </a:p>
        </p:txBody>
      </p:sp>
      <p:pic>
        <p:nvPicPr>
          <p:cNvPr id="5" name="Picture R01" descr="Early test model of a tank engine (a yellow 'visual probe') on a short length of track. Not final art."/>
          <p:cNvPicPr>
            <a:picLocks noChangeAspect="1"/>
          </p:cNvPicPr>
          <p:nvPr/>
        </p:nvPicPr>
        <p:blipFill>
          <a:blip r:embed="rId2"/>
          <a:srcRect l="20413" r="26413"/>
          <a:stretch>
            <a:fillRect/>
          </a:stretch>
        </p:blipFill>
        <p:spPr>
          <a:xfrm>
            <a:off x="6519672" y="548640"/>
            <a:ext cx="5120640" cy="5349240"/>
          </a:xfrm>
          <a:prstGeom prst="roundRect">
            <a:avLst>
              <a:gd name="adj" fmla="val 1429"/>
            </a:avLst>
          </a:prstGeom>
        </p:spPr>
      </p:pic>
      <p:sp>
        <p:nvSpPr>
          <p:cNvPr id="6" name="Credit"/>
          <p:cNvSpPr txBox="1"/>
          <p:nvPr/>
        </p:nvSpPr>
        <p:spPr>
          <a:xfrm>
            <a:off x="6519672" y="592531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7"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8" name="Slide number"/>
          <p:cNvSpPr txBox="1"/>
          <p:nvPr/>
        </p:nvSpPr>
        <p:spPr>
          <a:xfrm>
            <a:off x="10728655" y="6455664"/>
            <a:ext cx="914400" cy="274320"/>
          </a:xfrm>
          <a:prstGeom prst="rect">
            <a:avLst/>
          </a:prstGeom>
          <a:noFill/>
        </p:spPr>
        <p:txBody>
          <a:bodyPr wrap="square" lIns="0" tIns="0" rIns="0" bIns="0" anchor="t">
            <a:noAutofit/>
          </a:bodyPr>
          <a:lstStyle/>
          <a:p>
            <a:pPr algn="r"/>
            <a:r>
              <a:rPr sz="1400" b="0" i="0" lang="en-GB">
                <a:solidFill>
                  <a:srgbClr val="A9B0B8"/>
                </a:solidFill>
                <a:latin typeface="Arial"/>
              </a:rPr>
              <a:t>1</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3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6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11094415" cy="731520"/>
          </a:xfrm>
        </p:spPr>
        <p:txBody>
          <a:bodyPr wrap="square" lIns="0" tIns="0" rIns="0" bIns="0" anchor="ctr">
            <a:noAutofit/>
          </a:bodyPr>
          <a:lstStyle/>
          <a:p>
            <a:pPr algn="l"/>
            <a:r>
              <a:rPr sz="3600" b="1" i="0" lang="en-GB">
                <a:solidFill>
                  <a:srgbClr val="F2F2F2"/>
                </a:solidFill>
                <a:latin typeface="Arial"/>
              </a:rPr>
              <a:t>How to read this guide</a:t>
            </a:r>
          </a:p>
        </p:txBody>
      </p:sp>
      <p:grpSp>
        <p:nvGrpSpPr>
          <p:cNvPr id="7" name="Tag legend" descr="Legend of the five tags used in this guide and what each means."/>
          <p:cNvGrpSpPr/>
          <p:nvPr/>
        </p:nvGrpSpPr>
        <p:grpSpPr>
          <a:xfrm>
            <a:off x="1280160" y="1463040"/>
            <a:ext cx="9628632" cy="3877056"/>
            <a:chOff x="1280160" y="1463040"/>
            <a:chExt cx="9628632" cy="3877056"/>
          </a:xfrm>
        </p:grpSpPr>
        <p:sp>
          <p:nvSpPr>
            <p:cNvPr id="8" name="Rounded Rectangle 7"/>
            <p:cNvSpPr/>
            <p:nvPr/>
          </p:nvSpPr>
          <p:spPr>
            <a:xfrm>
              <a:off x="1280160" y="1463040"/>
              <a:ext cx="9628632" cy="658368"/>
            </a:xfrm>
            <a:prstGeom prst="roundRect">
              <a:avLst>
                <a:gd name="adj" fmla="val 11111"/>
              </a:avLst>
            </a:prstGeom>
            <a:solidFill>
              <a:srgbClr val="2B2F36"/>
            </a:solidFill>
            <a:ln>
              <a:noFill/>
            </a:ln>
          </p:spPr>
          <p:txBody>
            <a:bodyPr rtlCol="0" anchor="ctr"/>
            <a:lstStyle/>
            <a:p>
              <a:pPr algn="ctr"/>
            </a:p>
          </p:txBody>
        </p:sp>
        <p:sp>
          <p:nvSpPr>
            <p:cNvPr id="9" name="Chip Agreed"/>
            <p:cNvSpPr/>
            <p:nvPr/>
          </p:nvSpPr>
          <p:spPr>
            <a:xfrm>
              <a:off x="1508760" y="1572768"/>
              <a:ext cx="2103120" cy="438912"/>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600" b="1" i="0" lang="en-GB">
                  <a:solidFill>
                    <a:srgbClr val="101418"/>
                  </a:solidFill>
                  <a:latin typeface="Arial"/>
                </a:rPr>
                <a:t>AGREED</a:t>
              </a:r>
            </a:p>
          </p:txBody>
        </p:sp>
        <p:sp>
          <p:nvSpPr>
            <p:cNvPr id="10" name="TextBox 9"/>
            <p:cNvSpPr txBox="1"/>
            <p:nvPr/>
          </p:nvSpPr>
          <p:spPr>
            <a:xfrm>
              <a:off x="3977640" y="1463040"/>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Decided.</a:t>
              </a:r>
            </a:p>
          </p:txBody>
        </p:sp>
        <p:sp>
          <p:nvSpPr>
            <p:cNvPr id="11" name="Rounded Rectangle 10"/>
            <p:cNvSpPr/>
            <p:nvPr/>
          </p:nvSpPr>
          <p:spPr>
            <a:xfrm>
              <a:off x="1280160" y="2267712"/>
              <a:ext cx="9628632" cy="658368"/>
            </a:xfrm>
            <a:prstGeom prst="roundRect">
              <a:avLst>
                <a:gd name="adj" fmla="val 11111"/>
              </a:avLst>
            </a:prstGeom>
            <a:solidFill>
              <a:srgbClr val="2B2F36"/>
            </a:solidFill>
            <a:ln>
              <a:noFill/>
            </a:ln>
          </p:spPr>
          <p:txBody>
            <a:bodyPr rtlCol="0" anchor="ctr"/>
            <a:lstStyle/>
            <a:p>
              <a:pPr algn="ctr"/>
            </a:p>
          </p:txBody>
        </p:sp>
        <p:sp>
          <p:nvSpPr>
            <p:cNvPr id="12" name="Chip Proposed"/>
            <p:cNvSpPr/>
            <p:nvPr/>
          </p:nvSpPr>
          <p:spPr>
            <a:xfrm>
              <a:off x="1508760" y="2377440"/>
              <a:ext cx="2103120" cy="438912"/>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600" b="1" i="0" lang="en-GB">
                  <a:solidFill>
                    <a:srgbClr val="101418"/>
                  </a:solidFill>
                  <a:latin typeface="Arial"/>
                </a:rPr>
                <a:t>PROPOSED</a:t>
              </a:r>
            </a:p>
          </p:txBody>
        </p:sp>
        <p:sp>
          <p:nvSpPr>
            <p:cNvPr id="13" name="TextBox 12"/>
            <p:cNvSpPr txBox="1"/>
            <p:nvPr/>
          </p:nvSpPr>
          <p:spPr>
            <a:xfrm>
              <a:off x="3977640" y="2267712"/>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Suggested, not confirmed.</a:t>
              </a:r>
            </a:p>
          </p:txBody>
        </p:sp>
        <p:sp>
          <p:nvSpPr>
            <p:cNvPr id="14" name="Rounded Rectangle 13"/>
            <p:cNvSpPr/>
            <p:nvPr/>
          </p:nvSpPr>
          <p:spPr>
            <a:xfrm>
              <a:off x="1280160" y="3072384"/>
              <a:ext cx="9628632" cy="658368"/>
            </a:xfrm>
            <a:prstGeom prst="roundRect">
              <a:avLst>
                <a:gd name="adj" fmla="val 11111"/>
              </a:avLst>
            </a:prstGeom>
            <a:solidFill>
              <a:srgbClr val="2B2F36"/>
            </a:solidFill>
            <a:ln>
              <a:noFill/>
            </a:ln>
          </p:spPr>
          <p:txBody>
            <a:bodyPr rtlCol="0" anchor="ctr"/>
            <a:lstStyle/>
            <a:p>
              <a:pPr algn="ctr"/>
            </a:p>
          </p:txBody>
        </p:sp>
        <p:sp>
          <p:nvSpPr>
            <p:cNvPr id="15" name="Chip Provisional"/>
            <p:cNvSpPr/>
            <p:nvPr/>
          </p:nvSpPr>
          <p:spPr>
            <a:xfrm>
              <a:off x="1508760" y="3182112"/>
              <a:ext cx="2103120" cy="438912"/>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600" b="1" i="0" lang="en-GB">
                  <a:solidFill>
                    <a:srgbClr val="101418"/>
                  </a:solidFill>
                  <a:latin typeface="Arial"/>
                </a:rPr>
                <a:t>PROVISIONAL</a:t>
              </a:r>
            </a:p>
          </p:txBody>
        </p:sp>
        <p:sp>
          <p:nvSpPr>
            <p:cNvPr id="16" name="TextBox 15"/>
            <p:cNvSpPr txBox="1"/>
            <p:nvPr/>
          </p:nvSpPr>
          <p:spPr>
            <a:xfrm>
              <a:off x="3977640" y="3072384"/>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A test number that may change.</a:t>
              </a:r>
            </a:p>
          </p:txBody>
        </p:sp>
        <p:sp>
          <p:nvSpPr>
            <p:cNvPr id="17" name="Rounded Rectangle 16"/>
            <p:cNvSpPr/>
            <p:nvPr/>
          </p:nvSpPr>
          <p:spPr>
            <a:xfrm>
              <a:off x="1280160" y="3877056"/>
              <a:ext cx="9628632" cy="658368"/>
            </a:xfrm>
            <a:prstGeom prst="roundRect">
              <a:avLst>
                <a:gd name="adj" fmla="val 11111"/>
              </a:avLst>
            </a:prstGeom>
            <a:solidFill>
              <a:srgbClr val="2B2F36"/>
            </a:solidFill>
            <a:ln>
              <a:noFill/>
            </a:ln>
          </p:spPr>
          <p:txBody>
            <a:bodyPr rtlCol="0" anchor="ctr"/>
            <a:lstStyle/>
            <a:p>
              <a:pPr algn="ctr"/>
            </a:p>
          </p:txBody>
        </p:sp>
        <p:sp>
          <p:nvSpPr>
            <p:cNvPr id="18" name="Chip Undecided"/>
            <p:cNvSpPr/>
            <p:nvPr/>
          </p:nvSpPr>
          <p:spPr>
            <a:xfrm>
              <a:off x="1508760" y="3986784"/>
              <a:ext cx="2103120" cy="438912"/>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600" b="1" i="0" lang="en-GB">
                  <a:solidFill>
                    <a:srgbClr val="F2F2F2"/>
                  </a:solidFill>
                  <a:latin typeface="Arial"/>
                </a:rPr>
                <a:t>UNDECIDED</a:t>
              </a:r>
            </a:p>
          </p:txBody>
        </p:sp>
        <p:sp>
          <p:nvSpPr>
            <p:cNvPr id="19" name="TextBox 18"/>
            <p:cNvSpPr txBox="1"/>
            <p:nvPr/>
          </p:nvSpPr>
          <p:spPr>
            <a:xfrm>
              <a:off x="3977640" y="3877056"/>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Still an open question.</a:t>
              </a:r>
            </a:p>
          </p:txBody>
        </p:sp>
        <p:sp>
          <p:nvSpPr>
            <p:cNvPr id="20" name="Rounded Rectangle 19"/>
            <p:cNvSpPr/>
            <p:nvPr/>
          </p:nvSpPr>
          <p:spPr>
            <a:xfrm>
              <a:off x="1280160" y="4681728"/>
              <a:ext cx="9628632" cy="658368"/>
            </a:xfrm>
            <a:prstGeom prst="roundRect">
              <a:avLst>
                <a:gd name="adj" fmla="val 11111"/>
              </a:avLst>
            </a:prstGeom>
            <a:solidFill>
              <a:srgbClr val="2B2F36"/>
            </a:solidFill>
            <a:ln>
              <a:noFill/>
            </a:ln>
          </p:spPr>
          <p:txBody>
            <a:bodyPr rtlCol="0" anchor="ctr"/>
            <a:lstStyle/>
            <a:p>
              <a:pPr algn="ctr"/>
            </a:p>
          </p:txBody>
        </p:sp>
        <p:sp>
          <p:nvSpPr>
            <p:cNvPr id="21" name="Chip Background"/>
            <p:cNvSpPr/>
            <p:nvPr/>
          </p:nvSpPr>
          <p:spPr>
            <a:xfrm>
              <a:off x="1508760" y="4791456"/>
              <a:ext cx="2103120" cy="438912"/>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600" b="1" i="0" lang="en-GB">
                  <a:solidFill>
                    <a:srgbClr val="F2F2F2"/>
                  </a:solidFill>
                  <a:latin typeface="Arial"/>
                </a:rPr>
                <a:t>BACKGROUND</a:t>
              </a:r>
            </a:p>
          </p:txBody>
        </p:sp>
        <p:sp>
          <p:nvSpPr>
            <p:cNvPr id="22" name="TextBox 21"/>
            <p:cNvSpPr txBox="1"/>
            <p:nvPr/>
          </p:nvSpPr>
          <p:spPr>
            <a:xfrm>
              <a:off x="3977640" y="4681728"/>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A real-world fact.</a:t>
              </a:r>
            </a:p>
          </p:txBody>
        </p:sp>
      </p:grpSp>
      <p:sp>
        <p:nvSpPr>
          <p:cNvPr id="3"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Every idea carries a tag in the top-right corner.</a:t>
            </a:r>
          </a:p>
        </p:txBody>
      </p:sp>
      <p:sp>
        <p:nvSpPr>
          <p:cNvPr id="4"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5"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6"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3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nodeType="withEffect">
                                  <p:stCondLst>
                                    <p:cond delay="6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The idea in one picture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Idea flow" descr="Four steps: cheap to build, real limits, your answers, and later the electric monorail."/>
          <p:cNvGrpSpPr/>
          <p:nvPr/>
        </p:nvGrpSpPr>
        <p:grpSpPr>
          <a:xfrm>
            <a:off x="548640" y="1783080"/>
            <a:ext cx="11091672" cy="1463040"/>
            <a:chOff x="548640" y="1783080"/>
            <a:chExt cx="11091672" cy="1463040"/>
          </a:xfrm>
        </p:grpSpPr>
        <p:sp>
          <p:nvSpPr>
            <p:cNvPr id="9" name="Rounded Rectangle 8"/>
            <p:cNvSpPr/>
            <p:nvPr/>
          </p:nvSpPr>
          <p:spPr>
            <a:xfrm>
              <a:off x="548640"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Cheap to build</a:t>
              </a:r>
            </a:p>
          </p:txBody>
        </p:sp>
        <p:cxnSp>
          <p:nvCxnSpPr>
            <p:cNvPr id="10" name="Connector 9"/>
            <p:cNvCxnSpPr/>
            <p:nvPr/>
          </p:nvCxnSpPr>
          <p:spPr>
            <a:xfrm>
              <a:off x="2980944" y="2514600"/>
              <a:ext cx="399593" cy="0"/>
            </a:xfrm>
            <a:prstGeom prst="line">
              <a:avLst/>
            </a:prstGeom>
            <a:ln w="38100">
              <a:solidFill>
                <a:srgbClr val="F28C28"/>
              </a:solidFill>
              <a:tailEnd type="triangle" w="med" len="med"/>
            </a:ln>
          </p:spPr>
        </p:cxnSp>
        <p:sp>
          <p:nvSpPr>
            <p:cNvPr id="11" name="Rounded Rectangle 10"/>
            <p:cNvSpPr/>
            <p:nvPr/>
          </p:nvSpPr>
          <p:spPr>
            <a:xfrm>
              <a:off x="3453689"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Real limits:</a:t>
              </a:r>
            </a:p>
            <a:p>
              <a:pPr algn="ctr"/>
              <a:r>
                <a:rPr sz="1800" b="0" i="0" lang="en-GB">
                  <a:solidFill>
                    <a:srgbClr val="F2F2F2"/>
                  </a:solidFill>
                  <a:latin typeface="Arial"/>
                </a:rPr>
                <a:t>speed, range, signals, stations</a:t>
              </a:r>
            </a:p>
          </p:txBody>
        </p:sp>
        <p:cxnSp>
          <p:nvCxnSpPr>
            <p:cNvPr id="12" name="Connector 11"/>
            <p:cNvCxnSpPr/>
            <p:nvPr/>
          </p:nvCxnSpPr>
          <p:spPr>
            <a:xfrm>
              <a:off x="5885993" y="2514600"/>
              <a:ext cx="398678" cy="0"/>
            </a:xfrm>
            <a:prstGeom prst="line">
              <a:avLst/>
            </a:prstGeom>
            <a:ln w="38100">
              <a:solidFill>
                <a:srgbClr val="F28C28"/>
              </a:solidFill>
              <a:tailEnd type="triangle" w="med" len="med"/>
            </a:ln>
          </p:spPr>
        </p:cxnSp>
        <p:sp>
          <p:nvSpPr>
            <p:cNvPr id="13" name="Rounded Rectangle 12"/>
            <p:cNvSpPr/>
            <p:nvPr/>
          </p:nvSpPr>
          <p:spPr>
            <a:xfrm>
              <a:off x="6357823"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Your answers:</a:t>
              </a:r>
            </a:p>
            <a:p>
              <a:pPr algn="ctr"/>
              <a:r>
                <a:rPr sz="1800" b="0" i="0" lang="en-GB">
                  <a:solidFill>
                    <a:srgbClr val="F2F2F2"/>
                  </a:solidFill>
                  <a:latin typeface="Arial"/>
                </a:rPr>
                <a:t>tenders, service stops, signal boxes</a:t>
              </a:r>
            </a:p>
          </p:txBody>
        </p:sp>
        <p:cxnSp>
          <p:nvCxnSpPr>
            <p:cNvPr id="14" name="Connector 13"/>
            <p:cNvCxnSpPr/>
            <p:nvPr/>
          </p:nvCxnSpPr>
          <p:spPr>
            <a:xfrm>
              <a:off x="8790127" y="2514600"/>
              <a:ext cx="399593" cy="0"/>
            </a:xfrm>
            <a:prstGeom prst="line">
              <a:avLst/>
            </a:prstGeom>
            <a:ln w="38100">
              <a:solidFill>
                <a:srgbClr val="F28C28"/>
              </a:solidFill>
              <a:tailEnd type="triangle" w="med" len="med"/>
            </a:ln>
          </p:spPr>
        </p:cxnSp>
        <p:sp>
          <p:nvSpPr>
            <p:cNvPr id="15" name="Rounded Rectangle 14"/>
            <p:cNvSpPr/>
            <p:nvPr/>
          </p:nvSpPr>
          <p:spPr>
            <a:xfrm>
              <a:off x="9262872" y="1783080"/>
              <a:ext cx="2377440" cy="1463040"/>
            </a:xfrm>
            <a:prstGeom prst="roundRect">
              <a:avLst>
                <a:gd name="adj" fmla="val 5000"/>
              </a:avLst>
            </a:prstGeom>
            <a:solidFill>
              <a:srgbClr val="2B2F36"/>
            </a:solidFill>
            <a:ln w="25400">
              <a:solidFill>
                <a:srgbClr val="6CA0DC"/>
              </a:solidFill>
            </a:ln>
          </p:spPr>
          <p:txBody>
            <a:bodyPr rtlCol="0" anchor="ctr" wrap="square" lIns="137160" tIns="73152" rIns="137160" bIns="73152">
              <a:noAutofit/>
            </a:bodyPr>
            <a:lstStyle/>
            <a:p>
              <a:pPr algn="ctr"/>
              <a:r>
                <a:rPr sz="1800" b="1" i="0" lang="en-GB">
                  <a:solidFill>
                    <a:srgbClr val="F2F2F2"/>
                  </a:solidFill>
                  <a:latin typeface="Arial"/>
                </a:rPr>
                <a:t>Later:</a:t>
              </a:r>
            </a:p>
            <a:p>
              <a:pPr algn="ctr"/>
              <a:r>
                <a:rPr sz="1800" b="0" i="0" lang="en-GB">
                  <a:solidFill>
                    <a:srgbClr val="F2F2F2"/>
                  </a:solidFill>
                  <a:latin typeface="Arial"/>
                </a:rPr>
                <a:t>electric monorail</a:t>
              </a:r>
            </a:p>
          </p:txBody>
        </p:sp>
      </p:grpSp>
      <p:pic>
        <p:nvPicPr>
          <p:cNvPr id="16" name="Picture R01" descr="Early test model of a tank engine (a yellow 'visual probe') on a short length of track. Not final art."/>
          <p:cNvPicPr>
            <a:picLocks noChangeAspect="1"/>
          </p:cNvPicPr>
          <p:nvPr/>
        </p:nvPicPr>
        <p:blipFill>
          <a:blip r:embed="rId2"/>
          <a:srcRect r="3719"/>
          <a:stretch>
            <a:fillRect/>
          </a:stretch>
        </p:blipFill>
        <p:spPr>
          <a:xfrm>
            <a:off x="9262872" y="3977640"/>
            <a:ext cx="2377440" cy="1371600"/>
          </a:xfrm>
          <a:prstGeom prst="roundRect">
            <a:avLst>
              <a:gd name="adj" fmla="val 5333"/>
            </a:avLst>
          </a:prstGeom>
        </p:spPr>
      </p:pic>
      <p:sp>
        <p:nvSpPr>
          <p:cNvPr id="17" name="Credit"/>
          <p:cNvSpPr txBox="1"/>
          <p:nvPr/>
        </p:nvSpPr>
        <p:spPr>
          <a:xfrm>
            <a:off x="9262872" y="5376672"/>
            <a:ext cx="237744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Cheap track and trains. Real limits. You solve them with coal, water, signals and planning.</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nodeType="withEffect">
                                  <p:stCondLst>
                                    <p:cond delay="6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nodeType="withEffect">
                                  <p:stCondLst>
                                    <p:cond delay="9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What is Satisfactory?</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sp>
        <p:nvSpPr>
          <p:cNvPr id="8" name="Definition"/>
          <p:cNvSpPr/>
          <p:nvPr/>
        </p:nvSpPr>
        <p:spPr>
          <a:xfrm>
            <a:off x="548640" y="1417320"/>
            <a:ext cx="4846320" cy="566928"/>
          </a:xfrm>
          <a:prstGeom prst="roundRect">
            <a:avLst>
              <a:gd name="adj" fmla="val 12903"/>
            </a:avLst>
          </a:prstGeom>
          <a:solidFill>
            <a:srgbClr val="2B2F36"/>
          </a:solidFill>
          <a:ln w="19050">
            <a:solidFill>
              <a:srgbClr val="F28C28"/>
            </a:solidFill>
          </a:ln>
        </p:spPr>
        <p:txBody>
          <a:bodyPr rtlCol="0" anchor="ctr" wrap="square" lIns="182880" tIns="27432" bIns="27432">
            <a:noAutofit/>
          </a:bodyPr>
          <a:lstStyle/>
          <a:p>
            <a:pPr algn="l"/>
            <a:r>
              <a:rPr sz="1800" b="1" i="0" lang="en-GB">
                <a:solidFill>
                  <a:srgbClr val="F28C28"/>
                </a:solidFill>
                <a:latin typeface="Arial"/>
              </a:rPr>
              <a:t>Vanilla</a:t>
            </a:r>
            <a:r>
              <a:rPr sz="1800" b="0" i="0" lang="en-GB">
                <a:solidFill>
                  <a:srgbClr val="F2F2F2"/>
                </a:solidFill>
                <a:latin typeface="Arial"/>
              </a:rPr>
              <a:t> = the game without mods.</a:t>
            </a:r>
          </a:p>
        </p:txBody>
      </p:sp>
      <p:grpSp>
        <p:nvGrpSpPr>
          <p:cNvPr id="9" name="Factory strip" descr="A simple factory line from shapes: a miner, conveyor belts, a smelter, a constructor and a storage crate, with the player standing beside it."/>
          <p:cNvGrpSpPr/>
          <p:nvPr/>
        </p:nvGrpSpPr>
        <p:grpSpPr>
          <a:xfrm>
            <a:off x="548640" y="2560320"/>
            <a:ext cx="11091672" cy="2103120"/>
            <a:chOff x="548640" y="2560320"/>
            <a:chExt cx="11091672" cy="2103120"/>
          </a:xfrm>
        </p:grpSpPr>
        <p:sp>
          <p:nvSpPr>
            <p:cNvPr id="10" name="Freeform 9"/>
            <p:cNvSpPr/>
            <p:nvPr/>
          </p:nvSpPr>
          <p:spPr>
            <a:xfrm>
              <a:off x="822960" y="4160520"/>
              <a:ext cx="1280160" cy="502920"/>
            </a:xfrm>
            <a:custGeom>
              <a:avLst/>
              <a:gdLst/>
              <a:ahLst/>
              <a:cxnLst/>
              <a:rect l="l" t="t" r="r" b="b"/>
              <a:pathLst>
                <a:path w="1280160" h="502920">
                  <a:moveTo>
                    <a:pt x="0" y="0"/>
                  </a:moveTo>
                  <a:lnTo>
                    <a:pt x="1280160" y="0"/>
                  </a:lnTo>
                  <a:lnTo>
                    <a:pt x="1097280" y="502920"/>
                  </a:lnTo>
                  <a:lnTo>
                    <a:pt x="182880" y="502920"/>
                  </a:lnTo>
                  <a:close/>
                </a:path>
              </a:pathLst>
            </a:custGeom>
            <a:solidFill>
              <a:srgbClr val="5C4A3A"/>
            </a:solidFill>
            <a:ln>
              <a:noFill/>
            </a:ln>
          </p:spPr>
          <p:txBody>
            <a:bodyPr rtlCol="0" anchor="ctr"/>
            <a:lstStyle/>
            <a:p>
              <a:pPr algn="ctr"/>
            </a:p>
          </p:txBody>
        </p:sp>
        <p:sp>
          <p:nvSpPr>
            <p:cNvPr id="11" name="Rectangle 10"/>
            <p:cNvSpPr/>
            <p:nvPr/>
          </p:nvSpPr>
          <p:spPr>
            <a:xfrm>
              <a:off x="548640" y="4160520"/>
              <a:ext cx="11091672" cy="45720"/>
            </a:xfrm>
            <a:prstGeom prst="rect">
              <a:avLst/>
            </a:prstGeom>
            <a:solidFill>
              <a:srgbClr val="9AA0A6"/>
            </a:solidFill>
            <a:ln>
              <a:noFill/>
            </a:ln>
          </p:spPr>
          <p:txBody>
            <a:bodyPr rtlCol="0" anchor="ctr"/>
            <a:lstStyle/>
            <a:p>
              <a:pPr algn="ctr"/>
            </a:p>
          </p:txBody>
        </p:sp>
        <p:sp>
          <p:nvSpPr>
            <p:cNvPr id="12" name="Rounded Rectangle 11"/>
            <p:cNvSpPr/>
            <p:nvPr/>
          </p:nvSpPr>
          <p:spPr>
            <a:xfrm>
              <a:off x="914400" y="3063240"/>
              <a:ext cx="10972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13" name="Freeform 12"/>
            <p:cNvSpPr/>
            <p:nvPr/>
          </p:nvSpPr>
          <p:spPr>
            <a:xfrm>
              <a:off x="1243584" y="4160520"/>
              <a:ext cx="438912" cy="411480"/>
            </a:xfrm>
            <a:custGeom>
              <a:avLst/>
              <a:gdLst/>
              <a:ahLst/>
              <a:cxnLst/>
              <a:rect l="l" t="t" r="r" b="b"/>
              <a:pathLst>
                <a:path w="438912" h="411480">
                  <a:moveTo>
                    <a:pt x="0" y="0"/>
                  </a:moveTo>
                  <a:lnTo>
                    <a:pt x="438912" y="0"/>
                  </a:lnTo>
                  <a:lnTo>
                    <a:pt x="219456" y="411480"/>
                  </a:lnTo>
                  <a:close/>
                </a:path>
              </a:pathLst>
            </a:custGeom>
            <a:solidFill>
              <a:srgbClr val="9AA0A6"/>
            </a:solidFill>
            <a:ln w="9525">
              <a:solidFill>
                <a:srgbClr val="101418"/>
              </a:solidFill>
            </a:ln>
          </p:spPr>
          <p:txBody>
            <a:bodyPr rtlCol="0" anchor="ctr"/>
            <a:lstStyle/>
            <a:p>
              <a:pPr algn="ctr"/>
            </a:p>
          </p:txBody>
        </p:sp>
        <p:sp>
          <p:nvSpPr>
            <p:cNvPr id="14" name="Rectangle 13"/>
            <p:cNvSpPr/>
            <p:nvPr/>
          </p:nvSpPr>
          <p:spPr>
            <a:xfrm>
              <a:off x="1133856" y="3227832"/>
              <a:ext cx="658368" cy="164592"/>
            </a:xfrm>
            <a:prstGeom prst="rect">
              <a:avLst/>
            </a:prstGeom>
            <a:solidFill>
              <a:srgbClr val="F28C28"/>
            </a:solidFill>
            <a:ln>
              <a:noFill/>
            </a:ln>
          </p:spPr>
          <p:txBody>
            <a:bodyPr rtlCol="0" anchor="ctr"/>
            <a:lstStyle/>
            <a:p>
              <a:pPr algn="ctr"/>
            </a:p>
          </p:txBody>
        </p:sp>
        <p:sp>
          <p:nvSpPr>
            <p:cNvPr id="15" name="Rectangle 14"/>
            <p:cNvSpPr/>
            <p:nvPr/>
          </p:nvSpPr>
          <p:spPr>
            <a:xfrm>
              <a:off x="2011680" y="3566160"/>
              <a:ext cx="1234440" cy="219456"/>
            </a:xfrm>
            <a:prstGeom prst="rect">
              <a:avLst/>
            </a:prstGeom>
            <a:solidFill>
              <a:srgbClr val="1B1D21"/>
            </a:solidFill>
            <a:ln w="12700">
              <a:solidFill>
                <a:srgbClr val="9AA0A6"/>
              </a:solidFill>
            </a:ln>
          </p:spPr>
          <p:txBody>
            <a:bodyPr rtlCol="0" anchor="ctr"/>
            <a:lstStyle/>
            <a:p>
              <a:pPr algn="ctr"/>
            </a:p>
          </p:txBody>
        </p:sp>
        <p:sp>
          <p:nvSpPr>
            <p:cNvPr id="16" name="Chevron 15"/>
            <p:cNvSpPr/>
            <p:nvPr/>
          </p:nvSpPr>
          <p:spPr>
            <a:xfrm>
              <a:off x="2194560" y="3602736"/>
              <a:ext cx="128016" cy="146304"/>
            </a:xfrm>
            <a:prstGeom prst="chevron">
              <a:avLst/>
            </a:prstGeom>
            <a:solidFill>
              <a:srgbClr val="F28C28"/>
            </a:solidFill>
            <a:ln>
              <a:noFill/>
            </a:ln>
          </p:spPr>
          <p:txBody>
            <a:bodyPr rtlCol="0" anchor="ctr"/>
            <a:lstStyle/>
            <a:p>
              <a:pPr algn="ctr"/>
            </a:p>
          </p:txBody>
        </p:sp>
        <p:sp>
          <p:nvSpPr>
            <p:cNvPr id="17" name="Chevron 16"/>
            <p:cNvSpPr/>
            <p:nvPr/>
          </p:nvSpPr>
          <p:spPr>
            <a:xfrm>
              <a:off x="2523744" y="3602736"/>
              <a:ext cx="128016" cy="146304"/>
            </a:xfrm>
            <a:prstGeom prst="chevron">
              <a:avLst/>
            </a:prstGeom>
            <a:solidFill>
              <a:srgbClr val="F28C28"/>
            </a:solidFill>
            <a:ln>
              <a:noFill/>
            </a:ln>
          </p:spPr>
          <p:txBody>
            <a:bodyPr rtlCol="0" anchor="ctr"/>
            <a:lstStyle/>
            <a:p>
              <a:pPr algn="ctr"/>
            </a:p>
          </p:txBody>
        </p:sp>
        <p:sp>
          <p:nvSpPr>
            <p:cNvPr id="18" name="Chevron 17"/>
            <p:cNvSpPr/>
            <p:nvPr/>
          </p:nvSpPr>
          <p:spPr>
            <a:xfrm>
              <a:off x="2852928" y="3602736"/>
              <a:ext cx="128016" cy="146304"/>
            </a:xfrm>
            <a:prstGeom prst="chevron">
              <a:avLst/>
            </a:prstGeom>
            <a:solidFill>
              <a:srgbClr val="F28C28"/>
            </a:solidFill>
            <a:ln>
              <a:noFill/>
            </a:ln>
          </p:spPr>
          <p:txBody>
            <a:bodyPr rtlCol="0" anchor="ctr"/>
            <a:lstStyle/>
            <a:p>
              <a:pPr algn="ctr"/>
            </a:p>
          </p:txBody>
        </p:sp>
        <p:sp>
          <p:nvSpPr>
            <p:cNvPr id="19" name="Rounded Rectangle 18"/>
            <p:cNvSpPr/>
            <p:nvPr/>
          </p:nvSpPr>
          <p:spPr>
            <a:xfrm>
              <a:off x="3246120" y="3063240"/>
              <a:ext cx="13258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20" name="Rectangle 19"/>
            <p:cNvSpPr/>
            <p:nvPr/>
          </p:nvSpPr>
          <p:spPr>
            <a:xfrm>
              <a:off x="4068166" y="2560320"/>
              <a:ext cx="256032" cy="502920"/>
            </a:xfrm>
            <a:prstGeom prst="rect">
              <a:avLst/>
            </a:prstGeom>
            <a:solidFill>
              <a:srgbClr val="9AA0A6"/>
            </a:solidFill>
            <a:ln>
              <a:noFill/>
            </a:ln>
          </p:spPr>
          <p:txBody>
            <a:bodyPr rtlCol="0" anchor="ctr"/>
            <a:lstStyle/>
            <a:p>
              <a:pPr algn="ctr"/>
            </a:p>
          </p:txBody>
        </p:sp>
        <p:sp>
          <p:nvSpPr>
            <p:cNvPr id="21" name="Rounded Rectangle 20"/>
            <p:cNvSpPr/>
            <p:nvPr/>
          </p:nvSpPr>
          <p:spPr>
            <a:xfrm>
              <a:off x="3577590" y="3557016"/>
              <a:ext cx="662940" cy="329184"/>
            </a:xfrm>
            <a:prstGeom prst="roundRect">
              <a:avLst>
                <a:gd name="adj" fmla="val 13888"/>
              </a:avLst>
            </a:prstGeom>
            <a:solidFill>
              <a:srgbClr val="F28C28"/>
            </a:solidFill>
            <a:ln>
              <a:noFill/>
            </a:ln>
          </p:spPr>
          <p:txBody>
            <a:bodyPr rtlCol="0" anchor="ctr"/>
            <a:lstStyle/>
            <a:p>
              <a:pPr algn="ctr"/>
            </a:p>
          </p:txBody>
        </p:sp>
        <p:sp>
          <p:nvSpPr>
            <p:cNvPr id="22" name="Rectangle 21"/>
            <p:cNvSpPr/>
            <p:nvPr/>
          </p:nvSpPr>
          <p:spPr>
            <a:xfrm>
              <a:off x="4572000" y="3566160"/>
              <a:ext cx="1234440" cy="219456"/>
            </a:xfrm>
            <a:prstGeom prst="rect">
              <a:avLst/>
            </a:prstGeom>
            <a:solidFill>
              <a:srgbClr val="1B1D21"/>
            </a:solidFill>
            <a:ln w="12700">
              <a:solidFill>
                <a:srgbClr val="9AA0A6"/>
              </a:solidFill>
            </a:ln>
          </p:spPr>
          <p:txBody>
            <a:bodyPr rtlCol="0" anchor="ctr"/>
            <a:lstStyle/>
            <a:p>
              <a:pPr algn="ctr"/>
            </a:p>
          </p:txBody>
        </p:sp>
        <p:sp>
          <p:nvSpPr>
            <p:cNvPr id="23" name="Chevron 22"/>
            <p:cNvSpPr/>
            <p:nvPr/>
          </p:nvSpPr>
          <p:spPr>
            <a:xfrm>
              <a:off x="4754880" y="3602736"/>
              <a:ext cx="128016" cy="146304"/>
            </a:xfrm>
            <a:prstGeom prst="chevron">
              <a:avLst/>
            </a:prstGeom>
            <a:solidFill>
              <a:srgbClr val="F28C28"/>
            </a:solidFill>
            <a:ln>
              <a:noFill/>
            </a:ln>
          </p:spPr>
          <p:txBody>
            <a:bodyPr rtlCol="0" anchor="ctr"/>
            <a:lstStyle/>
            <a:p>
              <a:pPr algn="ctr"/>
            </a:p>
          </p:txBody>
        </p:sp>
        <p:sp>
          <p:nvSpPr>
            <p:cNvPr id="24" name="Chevron 23"/>
            <p:cNvSpPr/>
            <p:nvPr/>
          </p:nvSpPr>
          <p:spPr>
            <a:xfrm>
              <a:off x="5084064" y="3602736"/>
              <a:ext cx="128016" cy="146304"/>
            </a:xfrm>
            <a:prstGeom prst="chevron">
              <a:avLst/>
            </a:prstGeom>
            <a:solidFill>
              <a:srgbClr val="F28C28"/>
            </a:solidFill>
            <a:ln>
              <a:noFill/>
            </a:ln>
          </p:spPr>
          <p:txBody>
            <a:bodyPr rtlCol="0" anchor="ctr"/>
            <a:lstStyle/>
            <a:p>
              <a:pPr algn="ctr"/>
            </a:p>
          </p:txBody>
        </p:sp>
        <p:sp>
          <p:nvSpPr>
            <p:cNvPr id="25" name="Chevron 24"/>
            <p:cNvSpPr/>
            <p:nvPr/>
          </p:nvSpPr>
          <p:spPr>
            <a:xfrm>
              <a:off x="5413248" y="3602736"/>
              <a:ext cx="128016" cy="146304"/>
            </a:xfrm>
            <a:prstGeom prst="chevron">
              <a:avLst/>
            </a:prstGeom>
            <a:solidFill>
              <a:srgbClr val="F28C28"/>
            </a:solidFill>
            <a:ln>
              <a:noFill/>
            </a:ln>
          </p:spPr>
          <p:txBody>
            <a:bodyPr rtlCol="0" anchor="ctr"/>
            <a:lstStyle/>
            <a:p>
              <a:pPr algn="ctr"/>
            </a:p>
          </p:txBody>
        </p:sp>
        <p:sp>
          <p:nvSpPr>
            <p:cNvPr id="26" name="Rounded Rectangle 25"/>
            <p:cNvSpPr/>
            <p:nvPr/>
          </p:nvSpPr>
          <p:spPr>
            <a:xfrm>
              <a:off x="5806440" y="3063240"/>
              <a:ext cx="13258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27" name="Oval 26"/>
            <p:cNvSpPr/>
            <p:nvPr/>
          </p:nvSpPr>
          <p:spPr>
            <a:xfrm>
              <a:off x="6195060" y="3337560"/>
              <a:ext cx="548640" cy="548640"/>
            </a:xfrm>
            <a:prstGeom prst="ellipse">
              <a:avLst/>
            </a:prstGeom>
            <a:noFill/>
            <a:ln w="38100">
              <a:solidFill>
                <a:srgbClr val="F28C28"/>
              </a:solidFill>
            </a:ln>
          </p:spPr>
          <p:txBody>
            <a:bodyPr rtlCol="0" anchor="ctr"/>
            <a:lstStyle/>
            <a:p>
              <a:pPr algn="ctr"/>
            </a:p>
          </p:txBody>
        </p:sp>
        <p:sp>
          <p:nvSpPr>
            <p:cNvPr id="28" name="Oval 27"/>
            <p:cNvSpPr/>
            <p:nvPr/>
          </p:nvSpPr>
          <p:spPr>
            <a:xfrm>
              <a:off x="6381598" y="3524098"/>
              <a:ext cx="175565" cy="175565"/>
            </a:xfrm>
            <a:prstGeom prst="ellipse">
              <a:avLst/>
            </a:prstGeom>
            <a:solidFill>
              <a:srgbClr val="F28C28"/>
            </a:solidFill>
            <a:ln>
              <a:noFill/>
            </a:ln>
          </p:spPr>
          <p:txBody>
            <a:bodyPr rtlCol="0" anchor="ctr"/>
            <a:lstStyle/>
            <a:p>
              <a:pPr algn="ctr"/>
            </a:p>
          </p:txBody>
        </p:sp>
        <p:sp>
          <p:nvSpPr>
            <p:cNvPr id="29" name="Rectangle 28"/>
            <p:cNvSpPr/>
            <p:nvPr/>
          </p:nvSpPr>
          <p:spPr>
            <a:xfrm>
              <a:off x="7132320" y="3566160"/>
              <a:ext cx="1234440" cy="219456"/>
            </a:xfrm>
            <a:prstGeom prst="rect">
              <a:avLst/>
            </a:prstGeom>
            <a:solidFill>
              <a:srgbClr val="1B1D21"/>
            </a:solidFill>
            <a:ln w="12700">
              <a:solidFill>
                <a:srgbClr val="9AA0A6"/>
              </a:solidFill>
            </a:ln>
          </p:spPr>
          <p:txBody>
            <a:bodyPr rtlCol="0" anchor="ctr"/>
            <a:lstStyle/>
            <a:p>
              <a:pPr algn="ctr"/>
            </a:p>
          </p:txBody>
        </p:sp>
        <p:sp>
          <p:nvSpPr>
            <p:cNvPr id="30" name="Chevron 29"/>
            <p:cNvSpPr/>
            <p:nvPr/>
          </p:nvSpPr>
          <p:spPr>
            <a:xfrm>
              <a:off x="7315200" y="3602736"/>
              <a:ext cx="128016" cy="146304"/>
            </a:xfrm>
            <a:prstGeom prst="chevron">
              <a:avLst/>
            </a:prstGeom>
            <a:solidFill>
              <a:srgbClr val="F28C28"/>
            </a:solidFill>
            <a:ln>
              <a:noFill/>
            </a:ln>
          </p:spPr>
          <p:txBody>
            <a:bodyPr rtlCol="0" anchor="ctr"/>
            <a:lstStyle/>
            <a:p>
              <a:pPr algn="ctr"/>
            </a:p>
          </p:txBody>
        </p:sp>
        <p:sp>
          <p:nvSpPr>
            <p:cNvPr id="31" name="Chevron 30"/>
            <p:cNvSpPr/>
            <p:nvPr/>
          </p:nvSpPr>
          <p:spPr>
            <a:xfrm>
              <a:off x="7644384" y="3602736"/>
              <a:ext cx="128016" cy="146304"/>
            </a:xfrm>
            <a:prstGeom prst="chevron">
              <a:avLst/>
            </a:prstGeom>
            <a:solidFill>
              <a:srgbClr val="F28C28"/>
            </a:solidFill>
            <a:ln>
              <a:noFill/>
            </a:ln>
          </p:spPr>
          <p:txBody>
            <a:bodyPr rtlCol="0" anchor="ctr"/>
            <a:lstStyle/>
            <a:p>
              <a:pPr algn="ctr"/>
            </a:p>
          </p:txBody>
        </p:sp>
        <p:sp>
          <p:nvSpPr>
            <p:cNvPr id="32" name="Chevron 31"/>
            <p:cNvSpPr/>
            <p:nvPr/>
          </p:nvSpPr>
          <p:spPr>
            <a:xfrm>
              <a:off x="7973568" y="3602736"/>
              <a:ext cx="128016" cy="146304"/>
            </a:xfrm>
            <a:prstGeom prst="chevron">
              <a:avLst/>
            </a:prstGeom>
            <a:solidFill>
              <a:srgbClr val="F28C28"/>
            </a:solidFill>
            <a:ln>
              <a:noFill/>
            </a:ln>
          </p:spPr>
          <p:txBody>
            <a:bodyPr rtlCol="0" anchor="ctr"/>
            <a:lstStyle/>
            <a:p>
              <a:pPr algn="ctr"/>
            </a:p>
          </p:txBody>
        </p:sp>
        <p:sp>
          <p:nvSpPr>
            <p:cNvPr id="33" name="Rounded Rectangle 32"/>
            <p:cNvSpPr/>
            <p:nvPr/>
          </p:nvSpPr>
          <p:spPr>
            <a:xfrm>
              <a:off x="8366760" y="3154680"/>
              <a:ext cx="1005840" cy="1005840"/>
            </a:xfrm>
            <a:prstGeom prst="roundRect">
              <a:avLst>
                <a:gd name="adj" fmla="val 5454"/>
              </a:avLst>
            </a:prstGeom>
            <a:solidFill>
              <a:srgbClr val="343A43"/>
            </a:solidFill>
            <a:ln w="19050">
              <a:solidFill>
                <a:srgbClr val="9AA0A6"/>
              </a:solidFill>
            </a:ln>
          </p:spPr>
          <p:txBody>
            <a:bodyPr rtlCol="0" anchor="ctr"/>
            <a:lstStyle/>
            <a:p>
              <a:pPr algn="ctr"/>
            </a:p>
          </p:txBody>
        </p:sp>
        <p:cxnSp>
          <p:nvCxnSpPr>
            <p:cNvPr id="34" name="Connector 33"/>
            <p:cNvCxnSpPr/>
            <p:nvPr/>
          </p:nvCxnSpPr>
          <p:spPr>
            <a:xfrm>
              <a:off x="8458200" y="3246120"/>
              <a:ext cx="822960" cy="822960"/>
            </a:xfrm>
            <a:prstGeom prst="line">
              <a:avLst/>
            </a:prstGeom>
            <a:ln w="25400">
              <a:solidFill>
                <a:srgbClr val="9AA0A6"/>
              </a:solidFill>
            </a:ln>
          </p:spPr>
        </p:cxnSp>
        <p:cxnSp>
          <p:nvCxnSpPr>
            <p:cNvPr id="35" name="Connector 34"/>
            <p:cNvCxnSpPr/>
            <p:nvPr/>
          </p:nvCxnSpPr>
          <p:spPr>
            <a:xfrm flipH="1">
              <a:off x="8458200" y="3246120"/>
              <a:ext cx="822960" cy="822960"/>
            </a:xfrm>
            <a:prstGeom prst="line">
              <a:avLst/>
            </a:prstGeom>
            <a:ln w="25400">
              <a:solidFill>
                <a:srgbClr val="9AA0A6"/>
              </a:solidFill>
            </a:ln>
          </p:spPr>
        </p:cxnSp>
        <p:sp>
          <p:nvSpPr>
            <p:cNvPr id="36" name="Rectangle 35"/>
            <p:cNvSpPr/>
            <p:nvPr/>
          </p:nvSpPr>
          <p:spPr>
            <a:xfrm>
              <a:off x="9921240" y="3840480"/>
              <a:ext cx="1463040" cy="320040"/>
            </a:xfrm>
            <a:prstGeom prst="rect">
              <a:avLst/>
            </a:prstGeom>
            <a:solidFill>
              <a:srgbClr val="343A43"/>
            </a:solidFill>
            <a:ln w="12700">
              <a:solidFill>
                <a:srgbClr val="9AA0A6"/>
              </a:solidFill>
            </a:ln>
          </p:spPr>
          <p:txBody>
            <a:bodyPr rtlCol="0" anchor="ctr"/>
            <a:lstStyle/>
            <a:p>
              <a:pPr algn="ctr"/>
            </a:p>
          </p:txBody>
        </p:sp>
        <p:sp>
          <p:nvSpPr>
            <p:cNvPr id="37" name="Oval 36"/>
            <p:cNvSpPr/>
            <p:nvPr/>
          </p:nvSpPr>
          <p:spPr>
            <a:xfrm>
              <a:off x="10506456" y="2596896"/>
              <a:ext cx="292608" cy="292608"/>
            </a:xfrm>
            <a:prstGeom prst="ellipse">
              <a:avLst/>
            </a:prstGeom>
            <a:solidFill>
              <a:srgbClr val="F28C28"/>
            </a:solidFill>
            <a:ln>
              <a:noFill/>
            </a:ln>
          </p:spPr>
          <p:txBody>
            <a:bodyPr rtlCol="0" anchor="ctr"/>
            <a:lstStyle/>
            <a:p>
              <a:pPr algn="ctr"/>
            </a:p>
          </p:txBody>
        </p:sp>
        <p:sp>
          <p:nvSpPr>
            <p:cNvPr id="38" name="Rounded Rectangle 37"/>
            <p:cNvSpPr/>
            <p:nvPr/>
          </p:nvSpPr>
          <p:spPr>
            <a:xfrm>
              <a:off x="10469880" y="2907792"/>
              <a:ext cx="365760" cy="685800"/>
            </a:xfrm>
            <a:prstGeom prst="roundRect">
              <a:avLst>
                <a:gd name="adj" fmla="val 30000"/>
              </a:avLst>
            </a:prstGeom>
            <a:solidFill>
              <a:srgbClr val="F28C28"/>
            </a:solidFill>
            <a:ln>
              <a:noFill/>
            </a:ln>
          </p:spPr>
          <p:txBody>
            <a:bodyPr rtlCol="0" anchor="ctr"/>
            <a:lstStyle/>
            <a:p>
              <a:pPr algn="ctr"/>
            </a:p>
          </p:txBody>
        </p:sp>
      </p:grpSp>
      <p:sp>
        <p:nvSpPr>
          <p:cNvPr id="39" name="TextBox 38"/>
          <p:cNvSpPr txBox="1"/>
          <p:nvPr/>
        </p:nvSpPr>
        <p:spPr>
          <a:xfrm>
            <a:off x="640080" y="4727448"/>
            <a:ext cx="1645920" cy="320040"/>
          </a:xfrm>
          <a:prstGeom prst="rect">
            <a:avLst/>
          </a:prstGeom>
          <a:noFill/>
        </p:spPr>
        <p:txBody>
          <a:bodyPr wrap="square" lIns="0" tIns="0" rIns="0" bIns="0" anchor="t">
            <a:noAutofit/>
          </a:bodyPr>
          <a:lstStyle/>
          <a:p>
            <a:pPr algn="ctr"/>
            <a:r>
              <a:rPr sz="1600" b="0" i="0" lang="en-GB">
                <a:solidFill>
                  <a:srgbClr val="F2F2F2"/>
                </a:solidFill>
                <a:latin typeface="Arial"/>
              </a:rPr>
              <a:t>Miner</a:t>
            </a:r>
          </a:p>
        </p:txBody>
      </p:sp>
      <p:sp>
        <p:nvSpPr>
          <p:cNvPr id="40" name="TextBox 39"/>
          <p:cNvSpPr txBox="1"/>
          <p:nvPr/>
        </p:nvSpPr>
        <p:spPr>
          <a:xfrm>
            <a:off x="2971800" y="4727448"/>
            <a:ext cx="1874520" cy="320040"/>
          </a:xfrm>
          <a:prstGeom prst="rect">
            <a:avLst/>
          </a:prstGeom>
          <a:noFill/>
        </p:spPr>
        <p:txBody>
          <a:bodyPr wrap="square" lIns="0" tIns="0" rIns="0" bIns="0" anchor="t">
            <a:noAutofit/>
          </a:bodyPr>
          <a:lstStyle/>
          <a:p>
            <a:pPr algn="ctr"/>
            <a:r>
              <a:rPr sz="1600" b="0" i="0" lang="en-GB">
                <a:solidFill>
                  <a:srgbClr val="F2F2F2"/>
                </a:solidFill>
                <a:latin typeface="Arial"/>
              </a:rPr>
              <a:t>Smelter</a:t>
            </a:r>
          </a:p>
        </p:txBody>
      </p:sp>
      <p:sp>
        <p:nvSpPr>
          <p:cNvPr id="41" name="TextBox 40"/>
          <p:cNvSpPr txBox="1"/>
          <p:nvPr/>
        </p:nvSpPr>
        <p:spPr>
          <a:xfrm>
            <a:off x="5532120" y="4727448"/>
            <a:ext cx="1874520" cy="320040"/>
          </a:xfrm>
          <a:prstGeom prst="rect">
            <a:avLst/>
          </a:prstGeom>
          <a:noFill/>
        </p:spPr>
        <p:txBody>
          <a:bodyPr wrap="square" lIns="0" tIns="0" rIns="0" bIns="0" anchor="t">
            <a:noAutofit/>
          </a:bodyPr>
          <a:lstStyle/>
          <a:p>
            <a:pPr algn="ctr"/>
            <a:r>
              <a:rPr sz="1600" b="0" i="0" lang="en-GB">
                <a:solidFill>
                  <a:srgbClr val="F2F2F2"/>
                </a:solidFill>
                <a:latin typeface="Arial"/>
              </a:rPr>
              <a:t>Constructor</a:t>
            </a:r>
          </a:p>
        </p:txBody>
      </p:sp>
      <p:sp>
        <p:nvSpPr>
          <p:cNvPr id="42" name="TextBox 41"/>
          <p:cNvSpPr txBox="1"/>
          <p:nvPr/>
        </p:nvSpPr>
        <p:spPr>
          <a:xfrm>
            <a:off x="8092440" y="4727448"/>
            <a:ext cx="1554480" cy="320040"/>
          </a:xfrm>
          <a:prstGeom prst="rect">
            <a:avLst/>
          </a:prstGeom>
          <a:noFill/>
        </p:spPr>
        <p:txBody>
          <a:bodyPr wrap="square" lIns="0" tIns="0" rIns="0" bIns="0" anchor="t">
            <a:noAutofit/>
          </a:bodyPr>
          <a:lstStyle/>
          <a:p>
            <a:pPr algn="ctr"/>
            <a:r>
              <a:rPr sz="1600" b="0" i="0" lang="en-GB">
                <a:solidFill>
                  <a:srgbClr val="F2F2F2"/>
                </a:solidFill>
                <a:latin typeface="Arial"/>
              </a:rPr>
              <a:t>Storage</a:t>
            </a:r>
          </a:p>
        </p:txBody>
      </p:sp>
      <p:sp>
        <p:nvSpPr>
          <p:cNvPr id="43" name="TextBox 42"/>
          <p:cNvSpPr txBox="1"/>
          <p:nvPr/>
        </p:nvSpPr>
        <p:spPr>
          <a:xfrm>
            <a:off x="9646920" y="4727448"/>
            <a:ext cx="2011680" cy="320040"/>
          </a:xfrm>
          <a:prstGeom prst="rect">
            <a:avLst/>
          </a:prstGeom>
          <a:noFill/>
        </p:spPr>
        <p:txBody>
          <a:bodyPr wrap="square" lIns="0" tIns="0" rIns="0" bIns="0" anchor="t">
            <a:noAutofit/>
          </a:bodyPr>
          <a:lstStyle/>
          <a:p>
            <a:pPr algn="ctr"/>
            <a:r>
              <a:rPr sz="1600" b="0" i="0" lang="en-GB">
                <a:solidFill>
                  <a:srgbClr val="F2F2F2"/>
                </a:solidFill>
                <a:latin typeface="Arial"/>
              </a:rPr>
              <a:t>You</a:t>
            </a:r>
          </a:p>
        </p:txBody>
      </p:sp>
      <p:sp>
        <p:nvSpPr>
          <p:cNvPr id="44" name="TextBox 43"/>
          <p:cNvSpPr txBox="1"/>
          <p:nvPr/>
        </p:nvSpPr>
        <p:spPr>
          <a:xfrm>
            <a:off x="2011680" y="3200400"/>
            <a:ext cx="1234440" cy="292608"/>
          </a:xfrm>
          <a:prstGeom prst="rect">
            <a:avLst/>
          </a:prstGeom>
          <a:noFill/>
        </p:spPr>
        <p:txBody>
          <a:bodyPr wrap="square" lIns="0" tIns="0" rIns="0" bIns="0" anchor="t">
            <a:noAutofit/>
          </a:bodyPr>
          <a:lstStyle/>
          <a:p>
            <a:pPr algn="ctr"/>
            <a:r>
              <a:rPr sz="1400" b="0" i="0" lang="en-GB">
                <a:solidFill>
                  <a:srgbClr val="A9B0B8"/>
                </a:solidFill>
                <a:latin typeface="Arial"/>
              </a:rPr>
              <a:t>Belt</a:t>
            </a:r>
          </a:p>
        </p:txBody>
      </p:sp>
      <p:sp>
        <p:nvSpPr>
          <p:cNvPr id="45" name="TextBox 44"/>
          <p:cNvSpPr txBox="1"/>
          <p:nvPr/>
        </p:nvSpPr>
        <p:spPr>
          <a:xfrm>
            <a:off x="548640" y="5257800"/>
            <a:ext cx="7315200" cy="292608"/>
          </a:xfrm>
          <a:prstGeom prst="rect">
            <a:avLst/>
          </a:prstGeom>
          <a:noFill/>
        </p:spPr>
        <p:txBody>
          <a:bodyPr wrap="square" lIns="0" tIns="0" rIns="0" bIns="0" anchor="t">
            <a:noAutofit/>
          </a:bodyPr>
          <a:lstStyle/>
          <a:p>
            <a:pPr algn="l"/>
            <a:r>
              <a:rPr sz="1400" b="0" i="0" lang="en-GB">
                <a:solidFill>
                  <a:srgbClr val="A9B0B8"/>
                </a:solidFill>
                <a:latin typeface="Arial"/>
              </a:rPr>
              <a:t>By Coffee Stain Studios. Full release 2024.</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first-person game about building factories. You mine, make and move materials until it all runs itself.</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GAME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4</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163"/>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326"/>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500"/>
                                        <p:tgtEl>
                                          <p:spTgt spid="39"/>
                                        </p:tgtEl>
                                      </p:cBhvr>
                                    </p:animEffect>
                                  </p:childTnLst>
                                </p:cTn>
                              </p:par>
                              <p:par>
                                <p:cTn id="14" presetID="10" presetClass="entr" presetSubtype="0" fill="hold" nodeType="withEffect">
                                  <p:stCondLst>
                                    <p:cond delay="489"/>
                                  </p:stCondLst>
                                  <p:childTnLst>
                                    <p:set>
                                      <p:cBhvr>
                                        <p:cTn id="15" dur="1" fill="hold">
                                          <p:stCondLst>
                                            <p:cond delay="0"/>
                                          </p:stCondLst>
                                        </p:cTn>
                                        <p:tgtEl>
                                          <p:spTgt spid="40"/>
                                        </p:tgtEl>
                                        <p:attrNameLst>
                                          <p:attrName>style.visibility</p:attrName>
                                        </p:attrNameLst>
                                      </p:cBhvr>
                                      <p:to>
                                        <p:strVal val="visible"/>
                                      </p:to>
                                    </p:set>
                                    <p:animEffect transition="in" filter="fade">
                                      <p:cBhvr>
                                        <p:cTn id="16" dur="500"/>
                                        <p:tgtEl>
                                          <p:spTgt spid="40"/>
                                        </p:tgtEl>
                                      </p:cBhvr>
                                    </p:animEffect>
                                  </p:childTnLst>
                                </p:cTn>
                              </p:par>
                              <p:par>
                                <p:cTn id="17" presetID="10" presetClass="entr" presetSubtype="0" fill="hold" nodeType="withEffect">
                                  <p:stCondLst>
                                    <p:cond delay="652"/>
                                  </p:stCondLst>
                                  <p:childTnLst>
                                    <p:set>
                                      <p:cBhvr>
                                        <p:cTn id="18" dur="1" fill="hold">
                                          <p:stCondLst>
                                            <p:cond delay="0"/>
                                          </p:stCondLst>
                                        </p:cTn>
                                        <p:tgtEl>
                                          <p:spTgt spid="41"/>
                                        </p:tgtEl>
                                        <p:attrNameLst>
                                          <p:attrName>style.visibility</p:attrName>
                                        </p:attrNameLst>
                                      </p:cBhvr>
                                      <p:to>
                                        <p:strVal val="visible"/>
                                      </p:to>
                                    </p:set>
                                    <p:animEffect transition="in" filter="fade">
                                      <p:cBhvr>
                                        <p:cTn id="19" dur="500"/>
                                        <p:tgtEl>
                                          <p:spTgt spid="41"/>
                                        </p:tgtEl>
                                      </p:cBhvr>
                                    </p:animEffect>
                                  </p:childTnLst>
                                </p:cTn>
                              </p:par>
                              <p:par>
                                <p:cTn id="20" presetID="10" presetClass="entr" presetSubtype="0" fill="hold" nodeType="withEffect">
                                  <p:stCondLst>
                                    <p:cond delay="815"/>
                                  </p:stCondLst>
                                  <p:childTnLst>
                                    <p:set>
                                      <p:cBhvr>
                                        <p:cTn id="21" dur="1" fill="hold">
                                          <p:stCondLst>
                                            <p:cond delay="0"/>
                                          </p:stCondLst>
                                        </p:cTn>
                                        <p:tgtEl>
                                          <p:spTgt spid="42"/>
                                        </p:tgtEl>
                                        <p:attrNameLst>
                                          <p:attrName>style.visibility</p:attrName>
                                        </p:attrNameLst>
                                      </p:cBhvr>
                                      <p:to>
                                        <p:strVal val="visible"/>
                                      </p:to>
                                    </p:set>
                                    <p:animEffect transition="in" filter="fade">
                                      <p:cBhvr>
                                        <p:cTn id="22" dur="500"/>
                                        <p:tgtEl>
                                          <p:spTgt spid="42"/>
                                        </p:tgtEl>
                                      </p:cBhvr>
                                    </p:animEffect>
                                  </p:childTnLst>
                                </p:cTn>
                              </p:par>
                              <p:par>
                                <p:cTn id="23" presetID="10" presetClass="entr" presetSubtype="0" fill="hold" nodeType="withEffect">
                                  <p:stCondLst>
                                    <p:cond delay="978"/>
                                  </p:stCondLst>
                                  <p:childTnLst>
                                    <p:set>
                                      <p:cBhvr>
                                        <p:cTn id="24" dur="1" fill="hold">
                                          <p:stCondLst>
                                            <p:cond delay="0"/>
                                          </p:stCondLst>
                                        </p:cTn>
                                        <p:tgtEl>
                                          <p:spTgt spid="43"/>
                                        </p:tgtEl>
                                        <p:attrNameLst>
                                          <p:attrName>style.visibility</p:attrName>
                                        </p:attrNameLst>
                                      </p:cBhvr>
                                      <p:to>
                                        <p:strVal val="visible"/>
                                      </p:to>
                                    </p:set>
                                    <p:animEffect transition="in" filter="fade">
                                      <p:cBhvr>
                                        <p:cTn id="25" dur="500"/>
                                        <p:tgtEl>
                                          <p:spTgt spid="43"/>
                                        </p:tgtEl>
                                      </p:cBhvr>
                                    </p:animEffect>
                                  </p:childTnLst>
                                </p:cTn>
                              </p:par>
                              <p:par>
                                <p:cTn id="26" presetID="10" presetClass="entr" presetSubtype="0" fill="hold" nodeType="withEffect">
                                  <p:stCondLst>
                                    <p:cond delay="1141"/>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500"/>
                                        <p:tgtEl>
                                          <p:spTgt spid="44"/>
                                        </p:tgtEl>
                                      </p:cBhvr>
                                    </p:animEffect>
                                  </p:childTnLst>
                                </p:cTn>
                              </p:par>
                              <p:par>
                                <p:cTn id="29" presetID="10" presetClass="entr" presetSubtype="0" fill="hold" nodeType="withEffect">
                                  <p:stCondLst>
                                    <p:cond delay="1304"/>
                                  </p:stCondLst>
                                  <p:childTnLst>
                                    <p:set>
                                      <p:cBhvr>
                                        <p:cTn id="30" dur="1" fill="hold">
                                          <p:stCondLst>
                                            <p:cond delay="0"/>
                                          </p:stCondLst>
                                        </p:cTn>
                                        <p:tgtEl>
                                          <p:spTgt spid="45"/>
                                        </p:tgtEl>
                                        <p:attrNameLst>
                                          <p:attrName>style.visibility</p:attrName>
                                        </p:attrNameLst>
                                      </p:cBhvr>
                                      <p:to>
                                        <p:strVal val="visible"/>
                                      </p:to>
                                    </p:set>
                                    <p:animEffect transition="in" filter="fade">
                                      <p:cBhvr>
                                        <p:cTn id="31" dur="500"/>
                                        <p:tgtEl>
                                          <p:spTgt spid="45"/>
                                        </p:tgtEl>
                                      </p:cBhvr>
                                    </p:animEffect>
                                  </p:childTnLst>
                                </p:cTn>
                              </p:par>
                              <p:par>
                                <p:cTn id="32" presetID="10" presetClass="entr" presetSubtype="0" fill="hold" nodeType="withEffect">
                                  <p:stCondLst>
                                    <p:cond delay="1467"/>
                                  </p:stCondLst>
                                  <p:childTnLst>
                                    <p:set>
                                      <p:cBhvr>
                                        <p:cTn id="33" dur="1" fill="hold">
                                          <p:stCondLst>
                                            <p:cond delay="0"/>
                                          </p:stCondLst>
                                        </p:cTn>
                                        <p:tgtEl>
                                          <p:spTgt spid="4"/>
                                        </p:tgtEl>
                                        <p:attrNameLst>
                                          <p:attrName>style.visibility</p:attrName>
                                        </p:attrNameLst>
                                      </p:cBhvr>
                                      <p:to>
                                        <p:strVal val="visible"/>
                                      </p:to>
                                    </p:set>
                                    <p:animEffect transition="in" filter="fade">
                                      <p:cBhvr>
                                        <p:cTn id="34" dur="500"/>
                                        <p:tgtEl>
                                          <p:spTgt spid="4"/>
                                        </p:tgtEl>
                                      </p:cBhvr>
                                    </p:animEffect>
                                  </p:childTnLst>
                                </p:cTn>
                              </p:par>
                              <p:par>
                                <p:cTn id="35" presetID="10" presetClass="entr" presetSubtype="0" fill="hold" nodeType="withEffect">
                                  <p:stCondLst>
                                    <p:cond delay="163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Where the mod fits</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nvGrpSpPr>
          <p:cNvPr id="8" name="Tier staircase" descr="A four-step staircase: Tier 3 early steam railways with a small engine, Tier 3 to 4 railway expansion with a medium engine, Tier 4 to 5 heavy steam with a large engine, and Tier 6 the electric monorail."/>
          <p:cNvGrpSpPr/>
          <p:nvPr/>
        </p:nvGrpSpPr>
        <p:grpSpPr>
          <a:xfrm>
            <a:off x="548640" y="1325880"/>
            <a:ext cx="11091672" cy="3429000"/>
            <a:chOff x="548640" y="1325880"/>
            <a:chExt cx="11091672" cy="3429000"/>
          </a:xfrm>
        </p:grpSpPr>
        <p:sp>
          <p:nvSpPr>
            <p:cNvPr id="9" name="Rounded Rectangle 8"/>
            <p:cNvSpPr/>
            <p:nvPr/>
          </p:nvSpPr>
          <p:spPr>
            <a:xfrm>
              <a:off x="548640" y="3886200"/>
              <a:ext cx="2697480" cy="868680"/>
            </a:xfrm>
            <a:prstGeom prst="roundRect">
              <a:avLst>
                <a:gd name="adj" fmla="val 6315"/>
              </a:avLst>
            </a:prstGeom>
            <a:solidFill>
              <a:srgbClr val="443426"/>
            </a:solidFill>
            <a:ln w="25400">
              <a:solidFill>
                <a:srgbClr val="F28C28"/>
              </a:solidFill>
            </a:ln>
          </p:spPr>
          <p:txBody>
            <a:bodyPr rtlCol="0" anchor="ctr"/>
            <a:lstStyle/>
            <a:p>
              <a:pPr algn="ctr"/>
            </a:p>
          </p:txBody>
        </p:sp>
        <p:sp>
          <p:nvSpPr>
            <p:cNvPr id="10" name="TextBox 9"/>
            <p:cNvSpPr txBox="1"/>
            <p:nvPr/>
          </p:nvSpPr>
          <p:spPr>
            <a:xfrm>
              <a:off x="685800" y="3959352"/>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3</a:t>
              </a:r>
            </a:p>
            <a:p>
              <a:pPr algn="l"/>
              <a:r>
                <a:rPr sz="1600" b="0" i="0" lang="en-GB">
                  <a:solidFill>
                    <a:srgbClr val="F2F2F2"/>
                  </a:solidFill>
                  <a:latin typeface="Arial"/>
                </a:rPr>
                <a:t>Early Steam Railways</a:t>
              </a:r>
            </a:p>
          </p:txBody>
        </p:sp>
        <p:grpSp>
          <p:nvGrpSpPr>
            <p:cNvPr id="11" name="Small engine" descr="A steam train: an engine pulling wagons."/>
            <p:cNvGrpSpPr/>
            <p:nvPr/>
          </p:nvGrpSpPr>
          <p:grpSpPr>
            <a:xfrm>
              <a:off x="1051560" y="3126791"/>
              <a:ext cx="1461211" cy="722833"/>
              <a:chOff x="1051560" y="3126791"/>
              <a:chExt cx="1461211" cy="722833"/>
            </a:xfrm>
          </p:grpSpPr>
          <p:sp>
            <p:nvSpPr>
              <p:cNvPr id="12" name="Rectangle 11"/>
              <p:cNvSpPr/>
              <p:nvPr/>
            </p:nvSpPr>
            <p:spPr>
              <a:xfrm>
                <a:off x="1051560" y="3406597"/>
                <a:ext cx="621792" cy="349758"/>
              </a:xfrm>
              <a:prstGeom prst="rect">
                <a:avLst/>
              </a:prstGeom>
              <a:solidFill>
                <a:srgbClr val="6C7480"/>
              </a:solidFill>
              <a:ln w="9525">
                <a:solidFill>
                  <a:srgbClr val="101418"/>
                </a:solidFill>
              </a:ln>
            </p:spPr>
            <p:txBody>
              <a:bodyPr rtlCol="0" anchor="ctr"/>
              <a:lstStyle/>
              <a:p>
                <a:pPr algn="ctr"/>
              </a:p>
            </p:txBody>
          </p:sp>
          <p:sp>
            <p:nvSpPr>
              <p:cNvPr id="13" name="Oval 12"/>
              <p:cNvSpPr/>
              <p:nvPr/>
            </p:nvSpPr>
            <p:spPr>
              <a:xfrm>
                <a:off x="1129284" y="3694176"/>
                <a:ext cx="155448" cy="155448"/>
              </a:xfrm>
              <a:prstGeom prst="ellipse">
                <a:avLst/>
              </a:prstGeom>
              <a:solidFill>
                <a:srgbClr val="1B1D21"/>
              </a:solidFill>
              <a:ln w="12700">
                <a:solidFill>
                  <a:srgbClr val="9AA0A6"/>
                </a:solidFill>
              </a:ln>
            </p:spPr>
            <p:txBody>
              <a:bodyPr rtlCol="0" anchor="ctr"/>
              <a:lstStyle/>
              <a:p>
                <a:pPr algn="ctr"/>
              </a:p>
            </p:txBody>
          </p:sp>
          <p:sp>
            <p:nvSpPr>
              <p:cNvPr id="14" name="Oval 13"/>
              <p:cNvSpPr/>
              <p:nvPr/>
            </p:nvSpPr>
            <p:spPr>
              <a:xfrm>
                <a:off x="1440180" y="3694176"/>
                <a:ext cx="155448" cy="155448"/>
              </a:xfrm>
              <a:prstGeom prst="ellipse">
                <a:avLst/>
              </a:prstGeom>
              <a:solidFill>
                <a:srgbClr val="1B1D21"/>
              </a:solidFill>
              <a:ln w="12700">
                <a:solidFill>
                  <a:srgbClr val="9AA0A6"/>
                </a:solidFill>
              </a:ln>
            </p:spPr>
            <p:txBody>
              <a:bodyPr rtlCol="0" anchor="ctr"/>
              <a:lstStyle/>
              <a:p>
                <a:pPr algn="ctr"/>
              </a:p>
            </p:txBody>
          </p:sp>
          <p:sp>
            <p:nvSpPr>
              <p:cNvPr id="15" name="Rectangle 14"/>
              <p:cNvSpPr/>
              <p:nvPr/>
            </p:nvSpPr>
            <p:spPr>
              <a:xfrm>
                <a:off x="1673352" y="3655314"/>
                <a:ext cx="62179" cy="38862"/>
              </a:xfrm>
              <a:prstGeom prst="rect">
                <a:avLst/>
              </a:prstGeom>
              <a:solidFill>
                <a:srgbClr val="9AA0A6"/>
              </a:solidFill>
              <a:ln>
                <a:noFill/>
              </a:ln>
            </p:spPr>
            <p:txBody>
              <a:bodyPr rtlCol="0" anchor="ctr"/>
              <a:lstStyle/>
              <a:p>
                <a:pPr algn="ctr"/>
              </a:p>
            </p:txBody>
          </p:sp>
          <p:sp>
            <p:nvSpPr>
              <p:cNvPr id="16" name="Rectangle 15"/>
              <p:cNvSpPr/>
              <p:nvPr/>
            </p:nvSpPr>
            <p:spPr>
              <a:xfrm>
                <a:off x="1735531" y="3344418"/>
                <a:ext cx="777240" cy="427482"/>
              </a:xfrm>
              <a:prstGeom prst="rect">
                <a:avLst/>
              </a:prstGeom>
              <a:solidFill>
                <a:srgbClr val="F28C28"/>
              </a:solidFill>
              <a:ln w="9525">
                <a:solidFill>
                  <a:srgbClr val="101418"/>
                </a:solidFill>
              </a:ln>
            </p:spPr>
            <p:txBody>
              <a:bodyPr rtlCol="0" anchor="ctr"/>
              <a:lstStyle/>
              <a:p>
                <a:pPr algn="ctr"/>
              </a:p>
            </p:txBody>
          </p:sp>
          <p:sp>
            <p:nvSpPr>
              <p:cNvPr id="17" name="Bunker"/>
              <p:cNvSpPr/>
              <p:nvPr/>
            </p:nvSpPr>
            <p:spPr>
              <a:xfrm>
                <a:off x="1758848" y="3367735"/>
                <a:ext cx="202082" cy="155448"/>
              </a:xfrm>
              <a:prstGeom prst="rect">
                <a:avLst/>
              </a:prstGeom>
              <a:solidFill>
                <a:srgbClr val="1B1D21"/>
              </a:solidFill>
              <a:ln>
                <a:noFill/>
              </a:ln>
            </p:spPr>
            <p:txBody>
              <a:bodyPr rtlCol="0" anchor="ctr"/>
              <a:lstStyle/>
              <a:p>
                <a:pPr algn="ctr"/>
              </a:p>
            </p:txBody>
          </p:sp>
          <p:sp>
            <p:nvSpPr>
              <p:cNvPr id="18" name="Rectangle 17"/>
              <p:cNvSpPr/>
              <p:nvPr/>
            </p:nvSpPr>
            <p:spPr>
              <a:xfrm>
                <a:off x="1999793" y="3398825"/>
                <a:ext cx="108814" cy="108814"/>
              </a:xfrm>
              <a:prstGeom prst="rect">
                <a:avLst/>
              </a:prstGeom>
              <a:solidFill>
                <a:srgbClr val="2B2F36"/>
              </a:solidFill>
              <a:ln>
                <a:noFill/>
              </a:ln>
            </p:spPr>
            <p:txBody>
              <a:bodyPr rtlCol="0" anchor="ctr"/>
              <a:lstStyle/>
              <a:p>
                <a:pPr algn="ctr"/>
              </a:p>
            </p:txBody>
          </p:sp>
          <p:sp>
            <p:nvSpPr>
              <p:cNvPr id="19" name="Chimney"/>
              <p:cNvSpPr/>
              <p:nvPr/>
            </p:nvSpPr>
            <p:spPr>
              <a:xfrm>
                <a:off x="2341778" y="3126791"/>
                <a:ext cx="116586" cy="233172"/>
              </a:xfrm>
              <a:prstGeom prst="rect">
                <a:avLst/>
              </a:prstGeom>
              <a:solidFill>
                <a:srgbClr val="1B1D21"/>
              </a:solidFill>
              <a:ln>
                <a:noFill/>
              </a:ln>
            </p:spPr>
            <p:txBody>
              <a:bodyPr rtlCol="0" anchor="ctr"/>
              <a:lstStyle/>
              <a:p>
                <a:pPr algn="ctr"/>
              </a:p>
            </p:txBody>
          </p:sp>
          <p:sp>
            <p:nvSpPr>
              <p:cNvPr id="20" name="Oval 19"/>
              <p:cNvSpPr/>
              <p:nvPr/>
            </p:nvSpPr>
            <p:spPr>
              <a:xfrm>
                <a:off x="1813255" y="3694176"/>
                <a:ext cx="155448" cy="155448"/>
              </a:xfrm>
              <a:prstGeom prst="ellipse">
                <a:avLst/>
              </a:prstGeom>
              <a:solidFill>
                <a:srgbClr val="1B1D21"/>
              </a:solidFill>
              <a:ln w="12700">
                <a:solidFill>
                  <a:srgbClr val="9AA0A6"/>
                </a:solidFill>
              </a:ln>
            </p:spPr>
            <p:txBody>
              <a:bodyPr rtlCol="0" anchor="ctr"/>
              <a:lstStyle/>
              <a:p>
                <a:pPr algn="ctr"/>
              </a:p>
            </p:txBody>
          </p:sp>
          <p:sp>
            <p:nvSpPr>
              <p:cNvPr id="21" name="Oval 20"/>
              <p:cNvSpPr/>
              <p:nvPr/>
            </p:nvSpPr>
            <p:spPr>
              <a:xfrm>
                <a:off x="2046427" y="3694176"/>
                <a:ext cx="155448" cy="155448"/>
              </a:xfrm>
              <a:prstGeom prst="ellipse">
                <a:avLst/>
              </a:prstGeom>
              <a:solidFill>
                <a:srgbClr val="1B1D21"/>
              </a:solidFill>
              <a:ln w="12700">
                <a:solidFill>
                  <a:srgbClr val="9AA0A6"/>
                </a:solidFill>
              </a:ln>
            </p:spPr>
            <p:txBody>
              <a:bodyPr rtlCol="0" anchor="ctr"/>
              <a:lstStyle/>
              <a:p>
                <a:pPr algn="ctr"/>
              </a:p>
            </p:txBody>
          </p:sp>
          <p:sp>
            <p:nvSpPr>
              <p:cNvPr id="22" name="Oval 21"/>
              <p:cNvSpPr/>
              <p:nvPr/>
            </p:nvSpPr>
            <p:spPr>
              <a:xfrm>
                <a:off x="2279599" y="3694176"/>
                <a:ext cx="155448" cy="155448"/>
              </a:xfrm>
              <a:prstGeom prst="ellipse">
                <a:avLst/>
              </a:prstGeom>
              <a:solidFill>
                <a:srgbClr val="1B1D21"/>
              </a:solidFill>
              <a:ln w="12700">
                <a:solidFill>
                  <a:srgbClr val="9AA0A6"/>
                </a:solidFill>
              </a:ln>
            </p:spPr>
            <p:txBody>
              <a:bodyPr rtlCol="0" anchor="ctr"/>
              <a:lstStyle/>
              <a:p>
                <a:pPr algn="ctr"/>
              </a:p>
            </p:txBody>
          </p:sp>
        </p:grpSp>
        <p:sp>
          <p:nvSpPr>
            <p:cNvPr id="23" name="Rounded Rectangle 22"/>
            <p:cNvSpPr/>
            <p:nvPr/>
          </p:nvSpPr>
          <p:spPr>
            <a:xfrm>
              <a:off x="3346704" y="3227832"/>
              <a:ext cx="2697480" cy="1527048"/>
            </a:xfrm>
            <a:prstGeom prst="roundRect">
              <a:avLst>
                <a:gd name="adj" fmla="val 3592"/>
              </a:avLst>
            </a:prstGeom>
            <a:solidFill>
              <a:srgbClr val="443426"/>
            </a:solidFill>
            <a:ln w="25400">
              <a:solidFill>
                <a:srgbClr val="F28C28"/>
              </a:solidFill>
            </a:ln>
          </p:spPr>
          <p:txBody>
            <a:bodyPr rtlCol="0" anchor="ctr"/>
            <a:lstStyle/>
            <a:p>
              <a:pPr algn="ctr"/>
            </a:p>
          </p:txBody>
        </p:sp>
        <p:sp>
          <p:nvSpPr>
            <p:cNvPr id="24" name="TextBox 23"/>
            <p:cNvSpPr txBox="1"/>
            <p:nvPr/>
          </p:nvSpPr>
          <p:spPr>
            <a:xfrm>
              <a:off x="3483864" y="3300984"/>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3 to 4</a:t>
              </a:r>
            </a:p>
            <a:p>
              <a:pPr algn="l"/>
              <a:r>
                <a:rPr sz="1600" b="0" i="0" lang="en-GB">
                  <a:solidFill>
                    <a:srgbClr val="F2F2F2"/>
                  </a:solidFill>
                  <a:latin typeface="Arial"/>
                </a:rPr>
                <a:t>Railway Expansion</a:t>
              </a:r>
            </a:p>
          </p:txBody>
        </p:sp>
        <p:grpSp>
          <p:nvGrpSpPr>
            <p:cNvPr id="25" name="Medium engine" descr="A steam train: an engine pulling wagons."/>
            <p:cNvGrpSpPr/>
            <p:nvPr/>
          </p:nvGrpSpPr>
          <p:grpSpPr>
            <a:xfrm>
              <a:off x="3529584" y="2510942"/>
              <a:ext cx="1872691" cy="680314"/>
              <a:chOff x="3529584" y="2510942"/>
              <a:chExt cx="1872691" cy="680314"/>
            </a:xfrm>
          </p:grpSpPr>
          <p:sp>
            <p:nvSpPr>
              <p:cNvPr id="26" name="Rectangle 25"/>
              <p:cNvSpPr/>
              <p:nvPr/>
            </p:nvSpPr>
            <p:spPr>
              <a:xfrm>
                <a:off x="3529584" y="2774290"/>
                <a:ext cx="585216" cy="329184"/>
              </a:xfrm>
              <a:prstGeom prst="rect">
                <a:avLst/>
              </a:prstGeom>
              <a:solidFill>
                <a:srgbClr val="6C7480"/>
              </a:solidFill>
              <a:ln w="9525">
                <a:solidFill>
                  <a:srgbClr val="101418"/>
                </a:solidFill>
              </a:ln>
            </p:spPr>
            <p:txBody>
              <a:bodyPr rtlCol="0" anchor="ctr"/>
              <a:lstStyle/>
              <a:p>
                <a:pPr algn="ctr"/>
              </a:p>
            </p:txBody>
          </p:sp>
          <p:sp>
            <p:nvSpPr>
              <p:cNvPr id="27" name="Oval 26"/>
              <p:cNvSpPr/>
              <p:nvPr/>
            </p:nvSpPr>
            <p:spPr>
              <a:xfrm>
                <a:off x="3602736" y="3044952"/>
                <a:ext cx="146304" cy="146304"/>
              </a:xfrm>
              <a:prstGeom prst="ellipse">
                <a:avLst/>
              </a:prstGeom>
              <a:solidFill>
                <a:srgbClr val="1B1D21"/>
              </a:solidFill>
              <a:ln w="12700">
                <a:solidFill>
                  <a:srgbClr val="9AA0A6"/>
                </a:solidFill>
              </a:ln>
            </p:spPr>
            <p:txBody>
              <a:bodyPr rtlCol="0" anchor="ctr"/>
              <a:lstStyle/>
              <a:p>
                <a:pPr algn="ctr"/>
              </a:p>
            </p:txBody>
          </p:sp>
          <p:sp>
            <p:nvSpPr>
              <p:cNvPr id="28" name="Oval 27"/>
              <p:cNvSpPr/>
              <p:nvPr/>
            </p:nvSpPr>
            <p:spPr>
              <a:xfrm>
                <a:off x="3895344" y="3044952"/>
                <a:ext cx="146304" cy="146304"/>
              </a:xfrm>
              <a:prstGeom prst="ellipse">
                <a:avLst/>
              </a:prstGeom>
              <a:solidFill>
                <a:srgbClr val="1B1D21"/>
              </a:solidFill>
              <a:ln w="12700">
                <a:solidFill>
                  <a:srgbClr val="9AA0A6"/>
                </a:solidFill>
              </a:ln>
            </p:spPr>
            <p:txBody>
              <a:bodyPr rtlCol="0" anchor="ctr"/>
              <a:lstStyle/>
              <a:p>
                <a:pPr algn="ctr"/>
              </a:p>
            </p:txBody>
          </p:sp>
          <p:sp>
            <p:nvSpPr>
              <p:cNvPr id="29" name="Rectangle 28"/>
              <p:cNvSpPr/>
              <p:nvPr/>
            </p:nvSpPr>
            <p:spPr>
              <a:xfrm>
                <a:off x="4114800" y="3008376"/>
                <a:ext cx="58522" cy="36576"/>
              </a:xfrm>
              <a:prstGeom prst="rect">
                <a:avLst/>
              </a:prstGeom>
              <a:solidFill>
                <a:srgbClr val="9AA0A6"/>
              </a:solidFill>
              <a:ln>
                <a:noFill/>
              </a:ln>
            </p:spPr>
            <p:txBody>
              <a:bodyPr rtlCol="0" anchor="ctr"/>
              <a:lstStyle/>
              <a:p>
                <a:pPr algn="ctr"/>
              </a:p>
            </p:txBody>
          </p:sp>
          <p:sp>
            <p:nvSpPr>
              <p:cNvPr id="30" name="Rectangle 29"/>
              <p:cNvSpPr/>
              <p:nvPr/>
            </p:nvSpPr>
            <p:spPr>
              <a:xfrm>
                <a:off x="4173322" y="2752344"/>
                <a:ext cx="438912" cy="351130"/>
              </a:xfrm>
              <a:prstGeom prst="rect">
                <a:avLst/>
              </a:prstGeom>
              <a:solidFill>
                <a:srgbClr val="F28C28"/>
              </a:solidFill>
              <a:ln w="9525">
                <a:solidFill>
                  <a:srgbClr val="101418"/>
                </a:solidFill>
              </a:ln>
            </p:spPr>
            <p:txBody>
              <a:bodyPr rtlCol="0" anchor="ctr"/>
              <a:lstStyle/>
              <a:p>
                <a:pPr algn="ctr"/>
              </a:p>
            </p:txBody>
          </p:sp>
          <p:sp>
            <p:nvSpPr>
              <p:cNvPr id="31" name="Rectangle 30"/>
              <p:cNvSpPr/>
              <p:nvPr/>
            </p:nvSpPr>
            <p:spPr>
              <a:xfrm>
                <a:off x="4209898" y="2693822"/>
                <a:ext cx="365760" cy="87782"/>
              </a:xfrm>
              <a:prstGeom prst="rect">
                <a:avLst/>
              </a:prstGeom>
              <a:solidFill>
                <a:srgbClr val="1B1D21"/>
              </a:solidFill>
              <a:ln>
                <a:noFill/>
              </a:ln>
            </p:spPr>
            <p:txBody>
              <a:bodyPr rtlCol="0" anchor="ctr"/>
              <a:lstStyle/>
              <a:p>
                <a:pPr algn="ctr"/>
              </a:p>
            </p:txBody>
          </p:sp>
          <p:sp>
            <p:nvSpPr>
              <p:cNvPr id="32" name="Oval 31"/>
              <p:cNvSpPr/>
              <p:nvPr/>
            </p:nvSpPr>
            <p:spPr>
              <a:xfrm>
                <a:off x="4209898" y="3044952"/>
                <a:ext cx="146304" cy="146304"/>
              </a:xfrm>
              <a:prstGeom prst="ellipse">
                <a:avLst/>
              </a:prstGeom>
              <a:solidFill>
                <a:srgbClr val="1B1D21"/>
              </a:solidFill>
              <a:ln w="12700">
                <a:solidFill>
                  <a:srgbClr val="9AA0A6"/>
                </a:solidFill>
              </a:ln>
            </p:spPr>
            <p:txBody>
              <a:bodyPr rtlCol="0" anchor="ctr"/>
              <a:lstStyle/>
              <a:p>
                <a:pPr algn="ctr"/>
              </a:p>
            </p:txBody>
          </p:sp>
          <p:sp>
            <p:nvSpPr>
              <p:cNvPr id="33" name="Oval 32"/>
              <p:cNvSpPr/>
              <p:nvPr/>
            </p:nvSpPr>
            <p:spPr>
              <a:xfrm>
                <a:off x="4429354" y="3044952"/>
                <a:ext cx="146304" cy="146304"/>
              </a:xfrm>
              <a:prstGeom prst="ellipse">
                <a:avLst/>
              </a:prstGeom>
              <a:solidFill>
                <a:srgbClr val="1B1D21"/>
              </a:solidFill>
              <a:ln w="12700">
                <a:solidFill>
                  <a:srgbClr val="9AA0A6"/>
                </a:solidFill>
              </a:ln>
            </p:spPr>
            <p:txBody>
              <a:bodyPr rtlCol="0" anchor="ctr"/>
              <a:lstStyle/>
              <a:p>
                <a:pPr algn="ctr"/>
              </a:p>
            </p:txBody>
          </p:sp>
          <p:sp>
            <p:nvSpPr>
              <p:cNvPr id="34" name="Rectangle 33"/>
              <p:cNvSpPr/>
              <p:nvPr/>
            </p:nvSpPr>
            <p:spPr>
              <a:xfrm>
                <a:off x="4612234" y="3008376"/>
                <a:ext cx="58522" cy="36576"/>
              </a:xfrm>
              <a:prstGeom prst="rect">
                <a:avLst/>
              </a:prstGeom>
              <a:solidFill>
                <a:srgbClr val="9AA0A6"/>
              </a:solidFill>
              <a:ln>
                <a:noFill/>
              </a:ln>
            </p:spPr>
            <p:txBody>
              <a:bodyPr rtlCol="0" anchor="ctr"/>
              <a:lstStyle/>
              <a:p>
                <a:pPr algn="ctr"/>
              </a:p>
            </p:txBody>
          </p:sp>
          <p:sp>
            <p:nvSpPr>
              <p:cNvPr id="35" name="Rectangle 34"/>
              <p:cNvSpPr/>
              <p:nvPr/>
            </p:nvSpPr>
            <p:spPr>
              <a:xfrm>
                <a:off x="4670755" y="2715768"/>
                <a:ext cx="731520" cy="402336"/>
              </a:xfrm>
              <a:prstGeom prst="rect">
                <a:avLst/>
              </a:prstGeom>
              <a:solidFill>
                <a:srgbClr val="F28C28"/>
              </a:solidFill>
              <a:ln w="9525">
                <a:solidFill>
                  <a:srgbClr val="101418"/>
                </a:solidFill>
              </a:ln>
            </p:spPr>
            <p:txBody>
              <a:bodyPr rtlCol="0" anchor="ctr"/>
              <a:lstStyle/>
              <a:p>
                <a:pPr algn="ctr"/>
              </a:p>
            </p:txBody>
          </p:sp>
          <p:sp>
            <p:nvSpPr>
              <p:cNvPr id="36" name="Bunker"/>
              <p:cNvSpPr/>
              <p:nvPr/>
            </p:nvSpPr>
            <p:spPr>
              <a:xfrm>
                <a:off x="4692701" y="2737714"/>
                <a:ext cx="190195" cy="146304"/>
              </a:xfrm>
              <a:prstGeom prst="rect">
                <a:avLst/>
              </a:prstGeom>
              <a:solidFill>
                <a:srgbClr val="1B1D21"/>
              </a:solidFill>
              <a:ln>
                <a:noFill/>
              </a:ln>
            </p:spPr>
            <p:txBody>
              <a:bodyPr rtlCol="0" anchor="ctr"/>
              <a:lstStyle/>
              <a:p>
                <a:pPr algn="ctr"/>
              </a:p>
            </p:txBody>
          </p:sp>
          <p:sp>
            <p:nvSpPr>
              <p:cNvPr id="37" name="Rectangle 36"/>
              <p:cNvSpPr/>
              <p:nvPr/>
            </p:nvSpPr>
            <p:spPr>
              <a:xfrm>
                <a:off x="4919472" y="2766974"/>
                <a:ext cx="102413" cy="102413"/>
              </a:xfrm>
              <a:prstGeom prst="rect">
                <a:avLst/>
              </a:prstGeom>
              <a:solidFill>
                <a:srgbClr val="2B2F36"/>
              </a:solidFill>
              <a:ln>
                <a:noFill/>
              </a:ln>
            </p:spPr>
            <p:txBody>
              <a:bodyPr rtlCol="0" anchor="ctr"/>
              <a:lstStyle/>
              <a:p>
                <a:pPr algn="ctr"/>
              </a:p>
            </p:txBody>
          </p:sp>
          <p:sp>
            <p:nvSpPr>
              <p:cNvPr id="38" name="Chimney"/>
              <p:cNvSpPr/>
              <p:nvPr/>
            </p:nvSpPr>
            <p:spPr>
              <a:xfrm>
                <a:off x="5241341" y="2510942"/>
                <a:ext cx="109728" cy="219456"/>
              </a:xfrm>
              <a:prstGeom prst="rect">
                <a:avLst/>
              </a:prstGeom>
              <a:solidFill>
                <a:srgbClr val="1B1D21"/>
              </a:solidFill>
              <a:ln>
                <a:noFill/>
              </a:ln>
            </p:spPr>
            <p:txBody>
              <a:bodyPr rtlCol="0" anchor="ctr"/>
              <a:lstStyle/>
              <a:p>
                <a:pPr algn="ctr"/>
              </a:p>
            </p:txBody>
          </p:sp>
          <p:sp>
            <p:nvSpPr>
              <p:cNvPr id="39" name="Oval 38"/>
              <p:cNvSpPr/>
              <p:nvPr/>
            </p:nvSpPr>
            <p:spPr>
              <a:xfrm>
                <a:off x="4743907" y="3044952"/>
                <a:ext cx="146304" cy="146304"/>
              </a:xfrm>
              <a:prstGeom prst="ellipse">
                <a:avLst/>
              </a:prstGeom>
              <a:solidFill>
                <a:srgbClr val="1B1D21"/>
              </a:solidFill>
              <a:ln w="12700">
                <a:solidFill>
                  <a:srgbClr val="9AA0A6"/>
                </a:solidFill>
              </a:ln>
            </p:spPr>
            <p:txBody>
              <a:bodyPr rtlCol="0" anchor="ctr"/>
              <a:lstStyle/>
              <a:p>
                <a:pPr algn="ctr"/>
              </a:p>
            </p:txBody>
          </p:sp>
          <p:sp>
            <p:nvSpPr>
              <p:cNvPr id="40" name="Oval 39"/>
              <p:cNvSpPr/>
              <p:nvPr/>
            </p:nvSpPr>
            <p:spPr>
              <a:xfrm>
                <a:off x="4963363" y="3044952"/>
                <a:ext cx="146304" cy="146304"/>
              </a:xfrm>
              <a:prstGeom prst="ellipse">
                <a:avLst/>
              </a:prstGeom>
              <a:solidFill>
                <a:srgbClr val="1B1D21"/>
              </a:solidFill>
              <a:ln w="12700">
                <a:solidFill>
                  <a:srgbClr val="9AA0A6"/>
                </a:solidFill>
              </a:ln>
            </p:spPr>
            <p:txBody>
              <a:bodyPr rtlCol="0" anchor="ctr"/>
              <a:lstStyle/>
              <a:p>
                <a:pPr algn="ctr"/>
              </a:p>
            </p:txBody>
          </p:sp>
          <p:sp>
            <p:nvSpPr>
              <p:cNvPr id="41" name="Oval 40"/>
              <p:cNvSpPr/>
              <p:nvPr/>
            </p:nvSpPr>
            <p:spPr>
              <a:xfrm>
                <a:off x="5182819" y="3044952"/>
                <a:ext cx="146304" cy="146304"/>
              </a:xfrm>
              <a:prstGeom prst="ellipse">
                <a:avLst/>
              </a:prstGeom>
              <a:solidFill>
                <a:srgbClr val="1B1D21"/>
              </a:solidFill>
              <a:ln w="12700">
                <a:solidFill>
                  <a:srgbClr val="9AA0A6"/>
                </a:solidFill>
              </a:ln>
            </p:spPr>
            <p:txBody>
              <a:bodyPr rtlCol="0" anchor="ctr"/>
              <a:lstStyle/>
              <a:p>
                <a:pPr algn="ctr"/>
              </a:p>
            </p:txBody>
          </p:sp>
        </p:grpSp>
        <p:sp>
          <p:nvSpPr>
            <p:cNvPr id="42" name="Rounded Rectangle 41"/>
            <p:cNvSpPr/>
            <p:nvPr/>
          </p:nvSpPr>
          <p:spPr>
            <a:xfrm>
              <a:off x="6144768" y="2569464"/>
              <a:ext cx="2697480" cy="2185416"/>
            </a:xfrm>
            <a:prstGeom prst="roundRect">
              <a:avLst>
                <a:gd name="adj" fmla="val 2510"/>
              </a:avLst>
            </a:prstGeom>
            <a:solidFill>
              <a:srgbClr val="443426"/>
            </a:solidFill>
            <a:ln w="25400">
              <a:solidFill>
                <a:srgbClr val="F28C28"/>
              </a:solidFill>
            </a:ln>
          </p:spPr>
          <p:txBody>
            <a:bodyPr rtlCol="0" anchor="ctr"/>
            <a:lstStyle/>
            <a:p>
              <a:pPr algn="ctr"/>
            </a:p>
          </p:txBody>
        </p:sp>
        <p:sp>
          <p:nvSpPr>
            <p:cNvPr id="43" name="TextBox 42"/>
            <p:cNvSpPr txBox="1"/>
            <p:nvPr/>
          </p:nvSpPr>
          <p:spPr>
            <a:xfrm>
              <a:off x="6281928" y="2642616"/>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4 to 5</a:t>
              </a:r>
            </a:p>
            <a:p>
              <a:pPr algn="l"/>
              <a:r>
                <a:rPr sz="1600" b="0" i="0" lang="en-GB">
                  <a:solidFill>
                    <a:srgbClr val="F2F2F2"/>
                  </a:solidFill>
                  <a:latin typeface="Arial"/>
                </a:rPr>
                <a:t>Heavy Steam</a:t>
              </a:r>
            </a:p>
          </p:txBody>
        </p:sp>
        <p:grpSp>
          <p:nvGrpSpPr>
            <p:cNvPr id="44" name="Large engine" descr="A steam train: an engine pulling wagons."/>
            <p:cNvGrpSpPr/>
            <p:nvPr/>
          </p:nvGrpSpPr>
          <p:grpSpPr>
            <a:xfrm>
              <a:off x="6236208" y="1725016"/>
              <a:ext cx="2223821" cy="807872"/>
              <a:chOff x="6236208" y="1725016"/>
              <a:chExt cx="2223821" cy="807872"/>
            </a:xfrm>
          </p:grpSpPr>
          <p:sp>
            <p:nvSpPr>
              <p:cNvPr id="45" name="Rectangle 44"/>
              <p:cNvSpPr/>
              <p:nvPr/>
            </p:nvSpPr>
            <p:spPr>
              <a:xfrm>
                <a:off x="6236208" y="2037740"/>
                <a:ext cx="694944" cy="390906"/>
              </a:xfrm>
              <a:prstGeom prst="rect">
                <a:avLst/>
              </a:prstGeom>
              <a:solidFill>
                <a:srgbClr val="6C7480"/>
              </a:solidFill>
              <a:ln w="9525">
                <a:solidFill>
                  <a:srgbClr val="101418"/>
                </a:solidFill>
              </a:ln>
            </p:spPr>
            <p:txBody>
              <a:bodyPr rtlCol="0" anchor="ctr"/>
              <a:lstStyle/>
              <a:p>
                <a:pPr algn="ctr"/>
              </a:p>
            </p:txBody>
          </p:sp>
          <p:sp>
            <p:nvSpPr>
              <p:cNvPr id="46" name="Oval 45"/>
              <p:cNvSpPr/>
              <p:nvPr/>
            </p:nvSpPr>
            <p:spPr>
              <a:xfrm>
                <a:off x="6323076" y="2359152"/>
                <a:ext cx="173736" cy="173736"/>
              </a:xfrm>
              <a:prstGeom prst="ellipse">
                <a:avLst/>
              </a:prstGeom>
              <a:solidFill>
                <a:srgbClr val="1B1D21"/>
              </a:solidFill>
              <a:ln w="12700">
                <a:solidFill>
                  <a:srgbClr val="9AA0A6"/>
                </a:solidFill>
              </a:ln>
            </p:spPr>
            <p:txBody>
              <a:bodyPr rtlCol="0" anchor="ctr"/>
              <a:lstStyle/>
              <a:p>
                <a:pPr algn="ctr"/>
              </a:p>
            </p:txBody>
          </p:sp>
          <p:sp>
            <p:nvSpPr>
              <p:cNvPr id="47" name="Oval 46"/>
              <p:cNvSpPr/>
              <p:nvPr/>
            </p:nvSpPr>
            <p:spPr>
              <a:xfrm>
                <a:off x="6670548" y="2359152"/>
                <a:ext cx="173736" cy="173736"/>
              </a:xfrm>
              <a:prstGeom prst="ellipse">
                <a:avLst/>
              </a:prstGeom>
              <a:solidFill>
                <a:srgbClr val="1B1D21"/>
              </a:solidFill>
              <a:ln w="12700">
                <a:solidFill>
                  <a:srgbClr val="9AA0A6"/>
                </a:solidFill>
              </a:ln>
            </p:spPr>
            <p:txBody>
              <a:bodyPr rtlCol="0" anchor="ctr"/>
              <a:lstStyle/>
              <a:p>
                <a:pPr algn="ctr"/>
              </a:p>
            </p:txBody>
          </p:sp>
          <p:sp>
            <p:nvSpPr>
              <p:cNvPr id="48" name="Rectangle 47"/>
              <p:cNvSpPr/>
              <p:nvPr/>
            </p:nvSpPr>
            <p:spPr>
              <a:xfrm>
                <a:off x="6931152" y="2315718"/>
                <a:ext cx="69494" cy="43434"/>
              </a:xfrm>
              <a:prstGeom prst="rect">
                <a:avLst/>
              </a:prstGeom>
              <a:solidFill>
                <a:srgbClr val="9AA0A6"/>
              </a:solidFill>
              <a:ln>
                <a:noFill/>
              </a:ln>
            </p:spPr>
            <p:txBody>
              <a:bodyPr rtlCol="0" anchor="ctr"/>
              <a:lstStyle/>
              <a:p>
                <a:pPr algn="ctr"/>
              </a:p>
            </p:txBody>
          </p:sp>
          <p:sp>
            <p:nvSpPr>
              <p:cNvPr id="49" name="Rectangle 48"/>
              <p:cNvSpPr/>
              <p:nvPr/>
            </p:nvSpPr>
            <p:spPr>
              <a:xfrm>
                <a:off x="7000646" y="2011680"/>
                <a:ext cx="521208" cy="416966"/>
              </a:xfrm>
              <a:prstGeom prst="rect">
                <a:avLst/>
              </a:prstGeom>
              <a:solidFill>
                <a:srgbClr val="F28C28"/>
              </a:solidFill>
              <a:ln w="9525">
                <a:solidFill>
                  <a:srgbClr val="101418"/>
                </a:solidFill>
              </a:ln>
            </p:spPr>
            <p:txBody>
              <a:bodyPr rtlCol="0" anchor="ctr"/>
              <a:lstStyle/>
              <a:p>
                <a:pPr algn="ctr"/>
              </a:p>
            </p:txBody>
          </p:sp>
          <p:sp>
            <p:nvSpPr>
              <p:cNvPr id="50" name="Rectangle 49"/>
              <p:cNvSpPr/>
              <p:nvPr/>
            </p:nvSpPr>
            <p:spPr>
              <a:xfrm>
                <a:off x="7044080" y="1942186"/>
                <a:ext cx="434340" cy="104242"/>
              </a:xfrm>
              <a:prstGeom prst="rect">
                <a:avLst/>
              </a:prstGeom>
              <a:solidFill>
                <a:srgbClr val="1B1D21"/>
              </a:solidFill>
              <a:ln>
                <a:noFill/>
              </a:ln>
            </p:spPr>
            <p:txBody>
              <a:bodyPr rtlCol="0" anchor="ctr"/>
              <a:lstStyle/>
              <a:p>
                <a:pPr algn="ctr"/>
              </a:p>
            </p:txBody>
          </p:sp>
          <p:sp>
            <p:nvSpPr>
              <p:cNvPr id="51" name="Oval 50"/>
              <p:cNvSpPr/>
              <p:nvPr/>
            </p:nvSpPr>
            <p:spPr>
              <a:xfrm>
                <a:off x="7044080" y="2359152"/>
                <a:ext cx="173736" cy="173736"/>
              </a:xfrm>
              <a:prstGeom prst="ellipse">
                <a:avLst/>
              </a:prstGeom>
              <a:solidFill>
                <a:srgbClr val="1B1D21"/>
              </a:solidFill>
              <a:ln w="12700">
                <a:solidFill>
                  <a:srgbClr val="9AA0A6"/>
                </a:solidFill>
              </a:ln>
            </p:spPr>
            <p:txBody>
              <a:bodyPr rtlCol="0" anchor="ctr"/>
              <a:lstStyle/>
              <a:p>
                <a:pPr algn="ctr"/>
              </a:p>
            </p:txBody>
          </p:sp>
          <p:sp>
            <p:nvSpPr>
              <p:cNvPr id="52" name="Oval 51"/>
              <p:cNvSpPr/>
              <p:nvPr/>
            </p:nvSpPr>
            <p:spPr>
              <a:xfrm>
                <a:off x="7304684" y="2359152"/>
                <a:ext cx="173736" cy="173736"/>
              </a:xfrm>
              <a:prstGeom prst="ellipse">
                <a:avLst/>
              </a:prstGeom>
              <a:solidFill>
                <a:srgbClr val="1B1D21"/>
              </a:solidFill>
              <a:ln w="12700">
                <a:solidFill>
                  <a:srgbClr val="9AA0A6"/>
                </a:solidFill>
              </a:ln>
            </p:spPr>
            <p:txBody>
              <a:bodyPr rtlCol="0" anchor="ctr"/>
              <a:lstStyle/>
              <a:p>
                <a:pPr algn="ctr"/>
              </a:p>
            </p:txBody>
          </p:sp>
          <p:sp>
            <p:nvSpPr>
              <p:cNvPr id="53" name="Rectangle 52"/>
              <p:cNvSpPr/>
              <p:nvPr/>
            </p:nvSpPr>
            <p:spPr>
              <a:xfrm>
                <a:off x="7521854" y="2315718"/>
                <a:ext cx="69494" cy="43434"/>
              </a:xfrm>
              <a:prstGeom prst="rect">
                <a:avLst/>
              </a:prstGeom>
              <a:solidFill>
                <a:srgbClr val="9AA0A6"/>
              </a:solidFill>
              <a:ln>
                <a:noFill/>
              </a:ln>
            </p:spPr>
            <p:txBody>
              <a:bodyPr rtlCol="0" anchor="ctr"/>
              <a:lstStyle/>
              <a:p>
                <a:pPr algn="ctr"/>
              </a:p>
            </p:txBody>
          </p:sp>
          <p:sp>
            <p:nvSpPr>
              <p:cNvPr id="54" name="Rectangle 53"/>
              <p:cNvSpPr/>
              <p:nvPr/>
            </p:nvSpPr>
            <p:spPr>
              <a:xfrm>
                <a:off x="7591349" y="1968246"/>
                <a:ext cx="868680" cy="477774"/>
              </a:xfrm>
              <a:prstGeom prst="rect">
                <a:avLst/>
              </a:prstGeom>
              <a:solidFill>
                <a:srgbClr val="F28C28"/>
              </a:solidFill>
              <a:ln w="9525">
                <a:solidFill>
                  <a:srgbClr val="101418"/>
                </a:solidFill>
              </a:ln>
            </p:spPr>
            <p:txBody>
              <a:bodyPr rtlCol="0" anchor="ctr"/>
              <a:lstStyle/>
              <a:p>
                <a:pPr algn="ctr"/>
              </a:p>
            </p:txBody>
          </p:sp>
          <p:sp>
            <p:nvSpPr>
              <p:cNvPr id="55" name="Bunker"/>
              <p:cNvSpPr/>
              <p:nvPr/>
            </p:nvSpPr>
            <p:spPr>
              <a:xfrm>
                <a:off x="7617409" y="1994306"/>
                <a:ext cx="225857" cy="173736"/>
              </a:xfrm>
              <a:prstGeom prst="rect">
                <a:avLst/>
              </a:prstGeom>
              <a:solidFill>
                <a:srgbClr val="1B1D21"/>
              </a:solidFill>
              <a:ln>
                <a:noFill/>
              </a:ln>
            </p:spPr>
            <p:txBody>
              <a:bodyPr rtlCol="0" anchor="ctr"/>
              <a:lstStyle/>
              <a:p>
                <a:pPr algn="ctr"/>
              </a:p>
            </p:txBody>
          </p:sp>
          <p:sp>
            <p:nvSpPr>
              <p:cNvPr id="56" name="Rectangle 55"/>
              <p:cNvSpPr/>
              <p:nvPr/>
            </p:nvSpPr>
            <p:spPr>
              <a:xfrm>
                <a:off x="7886700" y="2029054"/>
                <a:ext cx="121615" cy="121615"/>
              </a:xfrm>
              <a:prstGeom prst="rect">
                <a:avLst/>
              </a:prstGeom>
              <a:solidFill>
                <a:srgbClr val="2B2F36"/>
              </a:solidFill>
              <a:ln>
                <a:noFill/>
              </a:ln>
            </p:spPr>
            <p:txBody>
              <a:bodyPr rtlCol="0" anchor="ctr"/>
              <a:lstStyle/>
              <a:p>
                <a:pPr algn="ctr"/>
              </a:p>
            </p:txBody>
          </p:sp>
          <p:sp>
            <p:nvSpPr>
              <p:cNvPr id="57" name="Chimney"/>
              <p:cNvSpPr/>
              <p:nvPr/>
            </p:nvSpPr>
            <p:spPr>
              <a:xfrm>
                <a:off x="8268919" y="1725016"/>
                <a:ext cx="130302" cy="260604"/>
              </a:xfrm>
              <a:prstGeom prst="rect">
                <a:avLst/>
              </a:prstGeom>
              <a:solidFill>
                <a:srgbClr val="1B1D21"/>
              </a:solidFill>
              <a:ln>
                <a:noFill/>
              </a:ln>
            </p:spPr>
            <p:txBody>
              <a:bodyPr rtlCol="0" anchor="ctr"/>
              <a:lstStyle/>
              <a:p>
                <a:pPr algn="ctr"/>
              </a:p>
            </p:txBody>
          </p:sp>
          <p:sp>
            <p:nvSpPr>
              <p:cNvPr id="58" name="Oval 57"/>
              <p:cNvSpPr/>
              <p:nvPr/>
            </p:nvSpPr>
            <p:spPr>
              <a:xfrm>
                <a:off x="7678217" y="2359152"/>
                <a:ext cx="173736" cy="173736"/>
              </a:xfrm>
              <a:prstGeom prst="ellipse">
                <a:avLst/>
              </a:prstGeom>
              <a:solidFill>
                <a:srgbClr val="1B1D21"/>
              </a:solidFill>
              <a:ln w="12700">
                <a:solidFill>
                  <a:srgbClr val="9AA0A6"/>
                </a:solidFill>
              </a:ln>
            </p:spPr>
            <p:txBody>
              <a:bodyPr rtlCol="0" anchor="ctr"/>
              <a:lstStyle/>
              <a:p>
                <a:pPr algn="ctr"/>
              </a:p>
            </p:txBody>
          </p:sp>
          <p:sp>
            <p:nvSpPr>
              <p:cNvPr id="59" name="Oval 58"/>
              <p:cNvSpPr/>
              <p:nvPr/>
            </p:nvSpPr>
            <p:spPr>
              <a:xfrm>
                <a:off x="7938821" y="2359152"/>
                <a:ext cx="173736" cy="173736"/>
              </a:xfrm>
              <a:prstGeom prst="ellipse">
                <a:avLst/>
              </a:prstGeom>
              <a:solidFill>
                <a:srgbClr val="1B1D21"/>
              </a:solidFill>
              <a:ln w="12700">
                <a:solidFill>
                  <a:srgbClr val="9AA0A6"/>
                </a:solidFill>
              </a:ln>
            </p:spPr>
            <p:txBody>
              <a:bodyPr rtlCol="0" anchor="ctr"/>
              <a:lstStyle/>
              <a:p>
                <a:pPr algn="ctr"/>
              </a:p>
            </p:txBody>
          </p:sp>
          <p:sp>
            <p:nvSpPr>
              <p:cNvPr id="60" name="Oval 59"/>
              <p:cNvSpPr/>
              <p:nvPr/>
            </p:nvSpPr>
            <p:spPr>
              <a:xfrm>
                <a:off x="8199425" y="2359152"/>
                <a:ext cx="173736" cy="173736"/>
              </a:xfrm>
              <a:prstGeom prst="ellipse">
                <a:avLst/>
              </a:prstGeom>
              <a:solidFill>
                <a:srgbClr val="1B1D21"/>
              </a:solidFill>
              <a:ln w="12700">
                <a:solidFill>
                  <a:srgbClr val="9AA0A6"/>
                </a:solidFill>
              </a:ln>
            </p:spPr>
            <p:txBody>
              <a:bodyPr rtlCol="0" anchor="ctr"/>
              <a:lstStyle/>
              <a:p>
                <a:pPr algn="ctr"/>
              </a:p>
            </p:txBody>
          </p:sp>
        </p:grpSp>
        <p:sp>
          <p:nvSpPr>
            <p:cNvPr id="61" name="Rounded Rectangle 60"/>
            <p:cNvSpPr/>
            <p:nvPr/>
          </p:nvSpPr>
          <p:spPr>
            <a:xfrm>
              <a:off x="8942832" y="1911096"/>
              <a:ext cx="2697480" cy="2843784"/>
            </a:xfrm>
            <a:prstGeom prst="roundRect">
              <a:avLst>
                <a:gd name="adj" fmla="val 2033"/>
              </a:avLst>
            </a:prstGeom>
            <a:solidFill>
              <a:srgbClr val="2C3847"/>
            </a:solidFill>
            <a:ln w="25400">
              <a:solidFill>
                <a:srgbClr val="6CA0DC"/>
              </a:solidFill>
            </a:ln>
          </p:spPr>
          <p:txBody>
            <a:bodyPr rtlCol="0" anchor="ctr"/>
            <a:lstStyle/>
            <a:p>
              <a:pPr algn="ctr"/>
            </a:p>
          </p:txBody>
        </p:sp>
        <p:sp>
          <p:nvSpPr>
            <p:cNvPr id="62" name="TextBox 61"/>
            <p:cNvSpPr txBox="1"/>
            <p:nvPr/>
          </p:nvSpPr>
          <p:spPr>
            <a:xfrm>
              <a:off x="9079992" y="1984248"/>
              <a:ext cx="2423160" cy="777240"/>
            </a:xfrm>
            <a:prstGeom prst="rect">
              <a:avLst/>
            </a:prstGeom>
            <a:noFill/>
          </p:spPr>
          <p:txBody>
            <a:bodyPr wrap="square" lIns="0" tIns="0" rIns="0" bIns="0" anchor="t">
              <a:noAutofit/>
            </a:bodyPr>
            <a:lstStyle/>
            <a:p>
              <a:pPr algn="l"/>
              <a:r>
                <a:rPr sz="2000" b="1" i="0" lang="en-GB">
                  <a:solidFill>
                    <a:srgbClr val="6CA0DC"/>
                  </a:solidFill>
                  <a:latin typeface="Arial"/>
                </a:rPr>
                <a:t>Tier 6</a:t>
              </a:r>
            </a:p>
            <a:p>
              <a:pPr algn="l"/>
              <a:r>
                <a:rPr sz="1600" b="0" i="0" lang="en-GB">
                  <a:solidFill>
                    <a:srgbClr val="F2F2F2"/>
                  </a:solidFill>
                  <a:latin typeface="Arial"/>
                </a:rPr>
                <a:t>Monorail: the game's electric trains</a:t>
              </a:r>
            </a:p>
          </p:txBody>
        </p:sp>
        <p:sp>
          <p:nvSpPr>
            <p:cNvPr id="63" name="Rounded Rectangle 62"/>
            <p:cNvSpPr/>
            <p:nvPr/>
          </p:nvSpPr>
          <p:spPr>
            <a:xfrm>
              <a:off x="9262872" y="1325880"/>
              <a:ext cx="932688" cy="438912"/>
            </a:xfrm>
            <a:prstGeom prst="roundRect">
              <a:avLst>
                <a:gd name="adj" fmla="val 25000"/>
              </a:avLst>
            </a:prstGeom>
            <a:solidFill>
              <a:srgbClr val="6CA0DC"/>
            </a:solidFill>
            <a:ln w="9525">
              <a:solidFill>
                <a:srgbClr val="101418"/>
              </a:solidFill>
            </a:ln>
          </p:spPr>
          <p:txBody>
            <a:bodyPr rtlCol="0" anchor="ctr"/>
            <a:lstStyle/>
            <a:p>
              <a:pPr algn="ctr"/>
            </a:p>
          </p:txBody>
        </p:sp>
        <p:sp>
          <p:nvSpPr>
            <p:cNvPr id="64" name="Rectangle 63"/>
            <p:cNvSpPr/>
            <p:nvPr/>
          </p:nvSpPr>
          <p:spPr>
            <a:xfrm>
              <a:off x="9354312" y="1417320"/>
              <a:ext cx="749808" cy="128016"/>
            </a:xfrm>
            <a:prstGeom prst="rect">
              <a:avLst/>
            </a:prstGeom>
            <a:solidFill>
              <a:srgbClr val="2B2F36"/>
            </a:solidFill>
            <a:ln>
              <a:noFill/>
            </a:ln>
          </p:spPr>
          <p:txBody>
            <a:bodyPr rtlCol="0" anchor="ctr"/>
            <a:lstStyle/>
            <a:p>
              <a:pPr algn="ctr"/>
            </a:p>
          </p:txBody>
        </p:sp>
        <p:sp>
          <p:nvSpPr>
            <p:cNvPr id="65" name="Rounded Rectangle 64"/>
            <p:cNvSpPr/>
            <p:nvPr/>
          </p:nvSpPr>
          <p:spPr>
            <a:xfrm>
              <a:off x="10268712" y="1325880"/>
              <a:ext cx="932688" cy="438912"/>
            </a:xfrm>
            <a:prstGeom prst="roundRect">
              <a:avLst>
                <a:gd name="adj" fmla="val 25000"/>
              </a:avLst>
            </a:prstGeom>
            <a:solidFill>
              <a:srgbClr val="6CA0DC"/>
            </a:solidFill>
            <a:ln w="9525">
              <a:solidFill>
                <a:srgbClr val="101418"/>
              </a:solidFill>
            </a:ln>
          </p:spPr>
          <p:txBody>
            <a:bodyPr rtlCol="0" anchor="ctr"/>
            <a:lstStyle/>
            <a:p>
              <a:pPr algn="ctr"/>
            </a:p>
          </p:txBody>
        </p:sp>
        <p:sp>
          <p:nvSpPr>
            <p:cNvPr id="66" name="Rectangle 65"/>
            <p:cNvSpPr/>
            <p:nvPr/>
          </p:nvSpPr>
          <p:spPr>
            <a:xfrm>
              <a:off x="10360152" y="1417320"/>
              <a:ext cx="749808" cy="128016"/>
            </a:xfrm>
            <a:prstGeom prst="rect">
              <a:avLst/>
            </a:prstGeom>
            <a:solidFill>
              <a:srgbClr val="2B2F36"/>
            </a:solidFill>
            <a:ln>
              <a:noFill/>
            </a:ln>
          </p:spPr>
          <p:txBody>
            <a:bodyPr rtlCol="0" anchor="ctr"/>
            <a:lstStyle/>
            <a:p>
              <a:pPr algn="ctr"/>
            </a:p>
          </p:txBody>
        </p:sp>
        <p:sp>
          <p:nvSpPr>
            <p:cNvPr id="67" name="Rectangle 66"/>
            <p:cNvSpPr/>
            <p:nvPr/>
          </p:nvSpPr>
          <p:spPr>
            <a:xfrm>
              <a:off x="9217152" y="1783080"/>
              <a:ext cx="2057400" cy="91440"/>
            </a:xfrm>
            <a:prstGeom prst="rect">
              <a:avLst/>
            </a:prstGeom>
            <a:solidFill>
              <a:srgbClr val="9AA0A6"/>
            </a:solidFill>
            <a:ln>
              <a:noFill/>
            </a:ln>
          </p:spPr>
          <p:txBody>
            <a:bodyPr rtlCol="0" anchor="ctr"/>
            <a:lstStyle/>
            <a:p>
              <a:pPr algn="ctr"/>
            </a:p>
          </p:txBody>
        </p:sp>
      </p:grpSp>
      <p:sp>
        <p:nvSpPr>
          <p:cNvPr id="68" name="TextBox 67"/>
          <p:cNvSpPr txBox="1"/>
          <p:nvPr/>
        </p:nvSpPr>
        <p:spPr>
          <a:xfrm>
            <a:off x="548640" y="4919472"/>
            <a:ext cx="2926080" cy="329184"/>
          </a:xfrm>
          <a:prstGeom prst="rect">
            <a:avLst/>
          </a:prstGeom>
          <a:noFill/>
        </p:spPr>
        <p:txBody>
          <a:bodyPr wrap="square" lIns="0" tIns="0" rIns="0" bIns="0" anchor="ctr">
            <a:noAutofit/>
          </a:bodyPr>
          <a:lstStyle/>
          <a:p>
            <a:pPr algn="l"/>
            <a:r>
              <a:rPr sz="1600" b="0" i="0" lang="en-GB">
                <a:solidFill>
                  <a:srgbClr val="F2F2F2"/>
                </a:solidFill>
                <a:latin typeface="Arial"/>
              </a:rPr>
              <a:t>Tiers and prerequisites:</a:t>
            </a:r>
          </a:p>
        </p:txBody>
      </p:sp>
      <p:sp>
        <p:nvSpPr>
          <p:cNvPr id="69" name="Inline chip Provisional"/>
          <p:cNvSpPr/>
          <p:nvPr/>
        </p:nvSpPr>
        <p:spPr>
          <a:xfrm>
            <a:off x="2926080" y="4937760"/>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70" name="Inline chip Undecided"/>
          <p:cNvSpPr/>
          <p:nvPr/>
        </p:nvSpPr>
        <p:spPr>
          <a:xfrm>
            <a:off x="4651375" y="4937760"/>
            <a:ext cx="20612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(OQ01)</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Technology unlocks in tiers. The mod adds steam railways early, before the game's electric trains.</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GAME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5</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68"/>
                                        </p:tgtEl>
                                        <p:attrNameLst>
                                          <p:attrName>style.visibility</p:attrName>
                                        </p:attrNameLst>
                                      </p:cBhvr>
                                      <p:to>
                                        <p:strVal val="visible"/>
                                      </p:to>
                                    </p:set>
                                    <p:animEffect transition="in" filter="fade">
                                      <p:cBhvr>
                                        <p:cTn id="10" dur="500"/>
                                        <p:tgtEl>
                                          <p:spTgt spid="68"/>
                                        </p:tgtEl>
                                      </p:cBhvr>
                                    </p:animEffect>
                                  </p:childTnLst>
                                </p:cTn>
                              </p:par>
                              <p:par>
                                <p:cTn id="11" presetID="10" presetClass="entr" presetSubtype="0" fill="hold" nodeType="withEffect">
                                  <p:stCondLst>
                                    <p:cond delay="600"/>
                                  </p:stCondLst>
                                  <p:childTnLst>
                                    <p:set>
                                      <p:cBhvr>
                                        <p:cTn id="12" dur="1" fill="hold">
                                          <p:stCondLst>
                                            <p:cond delay="0"/>
                                          </p:stCondLst>
                                        </p:cTn>
                                        <p:tgtEl>
                                          <p:spTgt spid="69"/>
                                        </p:tgtEl>
                                        <p:attrNameLst>
                                          <p:attrName>style.visibility</p:attrName>
                                        </p:attrNameLst>
                                      </p:cBhvr>
                                      <p:to>
                                        <p:strVal val="visible"/>
                                      </p:to>
                                    </p:set>
                                    <p:animEffect transition="in" filter="fade">
                                      <p:cBhvr>
                                        <p:cTn id="13" dur="500"/>
                                        <p:tgtEl>
                                          <p:spTgt spid="69"/>
                                        </p:tgtEl>
                                      </p:cBhvr>
                                    </p:animEffect>
                                  </p:childTnLst>
                                </p:cTn>
                              </p:par>
                              <p:par>
                                <p:cTn id="14" presetID="10" presetClass="entr" presetSubtype="0" fill="hold" nodeType="withEffect">
                                  <p:stCondLst>
                                    <p:cond delay="900"/>
                                  </p:stCondLst>
                                  <p:childTnLst>
                                    <p:set>
                                      <p:cBhvr>
                                        <p:cTn id="15" dur="1" fill="hold">
                                          <p:stCondLst>
                                            <p:cond delay="0"/>
                                          </p:stCondLst>
                                        </p:cTn>
                                        <p:tgtEl>
                                          <p:spTgt spid="70"/>
                                        </p:tgtEl>
                                        <p:attrNameLst>
                                          <p:attrName>style.visibility</p:attrName>
                                        </p:attrNameLst>
                                      </p:cBhvr>
                                      <p:to>
                                        <p:strVal val="visible"/>
                                      </p:to>
                                    </p:set>
                                    <p:animEffect transition="in" filter="fade">
                                      <p:cBhvr>
                                        <p:cTn id="16" dur="500"/>
                                        <p:tgtEl>
                                          <p:spTgt spid="70"/>
                                        </p:tgtEl>
                                      </p:cBhvr>
                                    </p:animEffect>
                                  </p:childTnLst>
                                </p:cTn>
                              </p:par>
                              <p:par>
                                <p:cTn id="17" presetID="10" presetClass="entr" presetSubtype="0" fill="hold" nodeType="withEffect">
                                  <p:stCondLst>
                                    <p:cond delay="120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childTnLst>
                                </p:cTn>
                              </p:par>
                              <p:par>
                                <p:cTn id="20" presetID="10" presetClass="entr" presetSubtype="0" fill="hold" nodeType="withEffect">
                                  <p:stCondLst>
                                    <p:cond delay="15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Track</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1" descr="Old-style chairs and clips holding rail to wooden sleepers on preserved track at Oxenhope."/>
          <p:cNvPicPr>
            <a:picLocks noChangeAspect="1"/>
          </p:cNvPicPr>
          <p:nvPr/>
        </p:nvPicPr>
        <p:blipFill>
          <a:blip r:embed="rId2"/>
          <a:srcRect t="794" b="794"/>
          <a:stretch>
            <a:fillRect/>
          </a:stretch>
        </p:blipFill>
        <p:spPr>
          <a:xfrm>
            <a:off x="548640" y="1463040"/>
            <a:ext cx="3840480" cy="2834640"/>
          </a:xfrm>
          <a:prstGeom prst="roundRect">
            <a:avLst>
              <a:gd name="adj" fmla="val 2581"/>
            </a:avLst>
          </a:prstGeom>
        </p:spPr>
      </p:pic>
      <p:sp>
        <p:nvSpPr>
          <p:cNvPr id="9" name="Credit"/>
          <p:cNvSpPr txBox="1"/>
          <p:nvPr/>
        </p:nvSpPr>
        <p:spPr>
          <a:xfrm>
            <a:off x="548640" y="4325112"/>
            <a:ext cx="3840480" cy="182880"/>
          </a:xfrm>
          <a:prstGeom prst="rect">
            <a:avLst/>
          </a:prstGeom>
          <a:noFill/>
        </p:spPr>
        <p:txBody>
          <a:bodyPr wrap="square" lIns="0" tIns="0" rIns="0" bIns="0" anchor="t">
            <a:noAutofit/>
          </a:bodyPr>
          <a:lstStyle/>
          <a:p>
            <a:pPr algn="l"/>
            <a:r>
              <a:rPr sz="1000" b="0" i="0" lang="en-GB">
                <a:solidFill>
                  <a:srgbClr val="A9B0B8"/>
                </a:solidFill>
                <a:latin typeface="Arial"/>
              </a:rPr>
              <a:t>Photo: Stephen Craven, CC BY-SA 2.0, Wikimedia Commons.</a:t>
            </a:r>
          </a:p>
        </p:txBody>
      </p:sp>
      <p:grpSp>
        <p:nvGrpSpPr>
          <p:cNvPr id="10" name="Track cross-section" descr="End-on cross-section of track: two rails on a sleeper, which sits on a bed of stone ballast. The gauge is the distance between the rails."/>
          <p:cNvGrpSpPr/>
          <p:nvPr/>
        </p:nvGrpSpPr>
        <p:grpSpPr>
          <a:xfrm>
            <a:off x="5486400" y="3017520"/>
            <a:ext cx="5029200" cy="1965960"/>
            <a:chOff x="5486400" y="3017520"/>
            <a:chExt cx="5029200" cy="1965960"/>
          </a:xfrm>
        </p:grpSpPr>
        <p:sp>
          <p:nvSpPr>
            <p:cNvPr id="11" name="Freeform 10"/>
            <p:cNvSpPr/>
            <p:nvPr/>
          </p:nvSpPr>
          <p:spPr>
            <a:xfrm>
              <a:off x="5486400" y="3977640"/>
              <a:ext cx="5029200" cy="1005840"/>
            </a:xfrm>
            <a:custGeom>
              <a:avLst/>
              <a:gdLst/>
              <a:ahLst/>
              <a:cxnLst/>
              <a:rect l="l" t="t" r="r" b="b"/>
              <a:pathLst>
                <a:path w="5029200" h="1005840">
                  <a:moveTo>
                    <a:pt x="0" y="1005840"/>
                  </a:moveTo>
                  <a:lnTo>
                    <a:pt x="5029200" y="1005840"/>
                  </a:lnTo>
                  <a:lnTo>
                    <a:pt x="4480560" y="0"/>
                  </a:lnTo>
                  <a:lnTo>
                    <a:pt x="548640" y="0"/>
                  </a:lnTo>
                  <a:close/>
                </a:path>
              </a:pathLst>
            </a:custGeom>
            <a:solidFill>
              <a:srgbClr val="7A7F86"/>
            </a:solidFill>
            <a:ln w="12700">
              <a:solidFill>
                <a:srgbClr val="9AA0A6"/>
              </a:solidFill>
            </a:ln>
          </p:spPr>
          <p:txBody>
            <a:bodyPr rtlCol="0" anchor="ctr"/>
            <a:lstStyle/>
            <a:p>
              <a:pPr algn="ctr"/>
            </a:p>
          </p:txBody>
        </p:sp>
        <p:sp>
          <p:nvSpPr>
            <p:cNvPr id="12" name="Oval 11"/>
            <p:cNvSpPr/>
            <p:nvPr/>
          </p:nvSpPr>
          <p:spPr>
            <a:xfrm>
              <a:off x="6391490" y="4252636"/>
              <a:ext cx="120412" cy="69676"/>
            </a:xfrm>
            <a:prstGeom prst="ellipse">
              <a:avLst/>
            </a:prstGeom>
            <a:solidFill>
              <a:srgbClr val="5E636A"/>
            </a:solidFill>
            <a:ln>
              <a:noFill/>
            </a:ln>
          </p:spPr>
          <p:txBody>
            <a:bodyPr rtlCol="0" anchor="ctr"/>
            <a:lstStyle/>
            <a:p>
              <a:pPr algn="ctr"/>
            </a:p>
          </p:txBody>
        </p:sp>
        <p:sp>
          <p:nvSpPr>
            <p:cNvPr id="13" name="Oval 12"/>
            <p:cNvSpPr/>
            <p:nvPr/>
          </p:nvSpPr>
          <p:spPr>
            <a:xfrm>
              <a:off x="7550814" y="4116814"/>
              <a:ext cx="158590" cy="93285"/>
            </a:xfrm>
            <a:prstGeom prst="ellipse">
              <a:avLst/>
            </a:prstGeom>
            <a:solidFill>
              <a:srgbClr val="5E636A"/>
            </a:solidFill>
            <a:ln>
              <a:noFill/>
            </a:ln>
          </p:spPr>
          <p:txBody>
            <a:bodyPr rtlCol="0" anchor="ctr"/>
            <a:lstStyle/>
            <a:p>
              <a:pPr algn="ctr"/>
            </a:p>
          </p:txBody>
        </p:sp>
        <p:sp>
          <p:nvSpPr>
            <p:cNvPr id="14" name="Oval 13"/>
            <p:cNvSpPr/>
            <p:nvPr/>
          </p:nvSpPr>
          <p:spPr>
            <a:xfrm>
              <a:off x="6732599" y="4637468"/>
              <a:ext cx="130699" cy="74128"/>
            </a:xfrm>
            <a:prstGeom prst="ellipse">
              <a:avLst/>
            </a:prstGeom>
            <a:solidFill>
              <a:srgbClr val="5E636A"/>
            </a:solidFill>
            <a:ln>
              <a:noFill/>
            </a:ln>
          </p:spPr>
          <p:txBody>
            <a:bodyPr rtlCol="0" anchor="ctr"/>
            <a:lstStyle/>
            <a:p>
              <a:pPr algn="ctr"/>
            </a:p>
          </p:txBody>
        </p:sp>
        <p:sp>
          <p:nvSpPr>
            <p:cNvPr id="15" name="Oval 14"/>
            <p:cNvSpPr/>
            <p:nvPr/>
          </p:nvSpPr>
          <p:spPr>
            <a:xfrm>
              <a:off x="6429834" y="4192142"/>
              <a:ext cx="107124" cy="97931"/>
            </a:xfrm>
            <a:prstGeom prst="ellipse">
              <a:avLst/>
            </a:prstGeom>
            <a:solidFill>
              <a:srgbClr val="5E636A"/>
            </a:solidFill>
            <a:ln>
              <a:noFill/>
            </a:ln>
          </p:spPr>
          <p:txBody>
            <a:bodyPr rtlCol="0" anchor="ctr"/>
            <a:lstStyle/>
            <a:p>
              <a:pPr algn="ctr"/>
            </a:p>
          </p:txBody>
        </p:sp>
        <p:sp>
          <p:nvSpPr>
            <p:cNvPr id="16" name="Oval 15"/>
            <p:cNvSpPr/>
            <p:nvPr/>
          </p:nvSpPr>
          <p:spPr>
            <a:xfrm>
              <a:off x="9268308" y="4685630"/>
              <a:ext cx="149994" cy="71083"/>
            </a:xfrm>
            <a:prstGeom prst="ellipse">
              <a:avLst/>
            </a:prstGeom>
            <a:solidFill>
              <a:srgbClr val="5E636A"/>
            </a:solidFill>
            <a:ln>
              <a:noFill/>
            </a:ln>
          </p:spPr>
          <p:txBody>
            <a:bodyPr rtlCol="0" anchor="ctr"/>
            <a:lstStyle/>
            <a:p>
              <a:pPr algn="ctr"/>
            </a:p>
          </p:txBody>
        </p:sp>
        <p:sp>
          <p:nvSpPr>
            <p:cNvPr id="17" name="Oval 16"/>
            <p:cNvSpPr/>
            <p:nvPr/>
          </p:nvSpPr>
          <p:spPr>
            <a:xfrm>
              <a:off x="8431722" y="4293828"/>
              <a:ext cx="144980" cy="95268"/>
            </a:xfrm>
            <a:prstGeom prst="ellipse">
              <a:avLst/>
            </a:prstGeom>
            <a:solidFill>
              <a:srgbClr val="5E636A"/>
            </a:solidFill>
            <a:ln>
              <a:noFill/>
            </a:ln>
          </p:spPr>
          <p:txBody>
            <a:bodyPr rtlCol="0" anchor="ctr"/>
            <a:lstStyle/>
            <a:p>
              <a:pPr algn="ctr"/>
            </a:p>
          </p:txBody>
        </p:sp>
        <p:sp>
          <p:nvSpPr>
            <p:cNvPr id="18" name="Oval 17"/>
            <p:cNvSpPr/>
            <p:nvPr/>
          </p:nvSpPr>
          <p:spPr>
            <a:xfrm>
              <a:off x="6107205" y="4714287"/>
              <a:ext cx="135759" cy="88576"/>
            </a:xfrm>
            <a:prstGeom prst="ellipse">
              <a:avLst/>
            </a:prstGeom>
            <a:solidFill>
              <a:srgbClr val="5E636A"/>
            </a:solidFill>
            <a:ln>
              <a:noFill/>
            </a:ln>
          </p:spPr>
          <p:txBody>
            <a:bodyPr rtlCol="0" anchor="ctr"/>
            <a:lstStyle/>
            <a:p>
              <a:pPr algn="ctr"/>
            </a:p>
          </p:txBody>
        </p:sp>
        <p:sp>
          <p:nvSpPr>
            <p:cNvPr id="19" name="Oval 18"/>
            <p:cNvSpPr/>
            <p:nvPr/>
          </p:nvSpPr>
          <p:spPr>
            <a:xfrm>
              <a:off x="6610598" y="4451277"/>
              <a:ext cx="126084" cy="67276"/>
            </a:xfrm>
            <a:prstGeom prst="ellipse">
              <a:avLst/>
            </a:prstGeom>
            <a:solidFill>
              <a:srgbClr val="5E636A"/>
            </a:solidFill>
            <a:ln>
              <a:noFill/>
            </a:ln>
          </p:spPr>
          <p:txBody>
            <a:bodyPr rtlCol="0" anchor="ctr"/>
            <a:lstStyle/>
            <a:p>
              <a:pPr algn="ctr"/>
            </a:p>
          </p:txBody>
        </p:sp>
        <p:sp>
          <p:nvSpPr>
            <p:cNvPr id="20" name="Oval 19"/>
            <p:cNvSpPr/>
            <p:nvPr/>
          </p:nvSpPr>
          <p:spPr>
            <a:xfrm>
              <a:off x="9565898" y="4760975"/>
              <a:ext cx="131501" cy="74990"/>
            </a:xfrm>
            <a:prstGeom prst="ellipse">
              <a:avLst/>
            </a:prstGeom>
            <a:solidFill>
              <a:srgbClr val="5E636A"/>
            </a:solidFill>
            <a:ln>
              <a:noFill/>
            </a:ln>
          </p:spPr>
          <p:txBody>
            <a:bodyPr rtlCol="0" anchor="ctr"/>
            <a:lstStyle/>
            <a:p>
              <a:pPr algn="ctr"/>
            </a:p>
          </p:txBody>
        </p:sp>
        <p:sp>
          <p:nvSpPr>
            <p:cNvPr id="21" name="Oval 20"/>
            <p:cNvSpPr/>
            <p:nvPr/>
          </p:nvSpPr>
          <p:spPr>
            <a:xfrm>
              <a:off x="8244396" y="4732144"/>
              <a:ext cx="155983" cy="95026"/>
            </a:xfrm>
            <a:prstGeom prst="ellipse">
              <a:avLst/>
            </a:prstGeom>
            <a:solidFill>
              <a:srgbClr val="5E636A"/>
            </a:solidFill>
            <a:ln>
              <a:noFill/>
            </a:ln>
          </p:spPr>
          <p:txBody>
            <a:bodyPr rtlCol="0" anchor="ctr"/>
            <a:lstStyle/>
            <a:p>
              <a:pPr algn="ctr"/>
            </a:p>
          </p:txBody>
        </p:sp>
        <p:sp>
          <p:nvSpPr>
            <p:cNvPr id="22" name="Oval 21"/>
            <p:cNvSpPr/>
            <p:nvPr/>
          </p:nvSpPr>
          <p:spPr>
            <a:xfrm>
              <a:off x="7578704" y="4446798"/>
              <a:ext cx="135252" cy="79774"/>
            </a:xfrm>
            <a:prstGeom prst="ellipse">
              <a:avLst/>
            </a:prstGeom>
            <a:solidFill>
              <a:srgbClr val="5E636A"/>
            </a:solidFill>
            <a:ln>
              <a:noFill/>
            </a:ln>
          </p:spPr>
          <p:txBody>
            <a:bodyPr rtlCol="0" anchor="ctr"/>
            <a:lstStyle/>
            <a:p>
              <a:pPr algn="ctr"/>
            </a:p>
          </p:txBody>
        </p:sp>
        <p:sp>
          <p:nvSpPr>
            <p:cNvPr id="23" name="Oval 22"/>
            <p:cNvSpPr/>
            <p:nvPr/>
          </p:nvSpPr>
          <p:spPr>
            <a:xfrm>
              <a:off x="7176305" y="4200015"/>
              <a:ext cx="150883" cy="65589"/>
            </a:xfrm>
            <a:prstGeom prst="ellipse">
              <a:avLst/>
            </a:prstGeom>
            <a:solidFill>
              <a:srgbClr val="5E636A"/>
            </a:solidFill>
            <a:ln>
              <a:noFill/>
            </a:ln>
          </p:spPr>
          <p:txBody>
            <a:bodyPr rtlCol="0" anchor="ctr"/>
            <a:lstStyle/>
            <a:p>
              <a:pPr algn="ctr"/>
            </a:p>
          </p:txBody>
        </p:sp>
        <p:sp>
          <p:nvSpPr>
            <p:cNvPr id="24" name="Oval 23"/>
            <p:cNvSpPr/>
            <p:nvPr/>
          </p:nvSpPr>
          <p:spPr>
            <a:xfrm>
              <a:off x="8419186" y="4106904"/>
              <a:ext cx="111954" cy="83562"/>
            </a:xfrm>
            <a:prstGeom prst="ellipse">
              <a:avLst/>
            </a:prstGeom>
            <a:solidFill>
              <a:srgbClr val="5E636A"/>
            </a:solidFill>
            <a:ln>
              <a:noFill/>
            </a:ln>
          </p:spPr>
          <p:txBody>
            <a:bodyPr rtlCol="0" anchor="ctr"/>
            <a:lstStyle/>
            <a:p>
              <a:pPr algn="ctr"/>
            </a:p>
          </p:txBody>
        </p:sp>
        <p:sp>
          <p:nvSpPr>
            <p:cNvPr id="25" name="Oval 24"/>
            <p:cNvSpPr/>
            <p:nvPr/>
          </p:nvSpPr>
          <p:spPr>
            <a:xfrm>
              <a:off x="7275742" y="4423941"/>
              <a:ext cx="164393" cy="71161"/>
            </a:xfrm>
            <a:prstGeom prst="ellipse">
              <a:avLst/>
            </a:prstGeom>
            <a:solidFill>
              <a:srgbClr val="5E636A"/>
            </a:solidFill>
            <a:ln>
              <a:noFill/>
            </a:ln>
          </p:spPr>
          <p:txBody>
            <a:bodyPr rtlCol="0" anchor="ctr"/>
            <a:lstStyle/>
            <a:p>
              <a:pPr algn="ctr"/>
            </a:p>
          </p:txBody>
        </p:sp>
        <p:sp>
          <p:nvSpPr>
            <p:cNvPr id="26" name="Oval 25"/>
            <p:cNvSpPr/>
            <p:nvPr/>
          </p:nvSpPr>
          <p:spPr>
            <a:xfrm>
              <a:off x="6729380" y="4379710"/>
              <a:ext cx="137721" cy="74114"/>
            </a:xfrm>
            <a:prstGeom prst="ellipse">
              <a:avLst/>
            </a:prstGeom>
            <a:solidFill>
              <a:srgbClr val="5E636A"/>
            </a:solidFill>
            <a:ln>
              <a:noFill/>
            </a:ln>
          </p:spPr>
          <p:txBody>
            <a:bodyPr rtlCol="0" anchor="ctr"/>
            <a:lstStyle/>
            <a:p>
              <a:pPr algn="ctr"/>
            </a:p>
          </p:txBody>
        </p:sp>
        <p:sp>
          <p:nvSpPr>
            <p:cNvPr id="27" name="Oval 26"/>
            <p:cNvSpPr/>
            <p:nvPr/>
          </p:nvSpPr>
          <p:spPr>
            <a:xfrm>
              <a:off x="8931260" y="4332879"/>
              <a:ext cx="114898" cy="84437"/>
            </a:xfrm>
            <a:prstGeom prst="ellipse">
              <a:avLst/>
            </a:prstGeom>
            <a:solidFill>
              <a:srgbClr val="5E636A"/>
            </a:solidFill>
            <a:ln>
              <a:noFill/>
            </a:ln>
          </p:spPr>
          <p:txBody>
            <a:bodyPr rtlCol="0" anchor="ctr"/>
            <a:lstStyle/>
            <a:p>
              <a:pPr algn="ctr"/>
            </a:p>
          </p:txBody>
        </p:sp>
        <p:sp>
          <p:nvSpPr>
            <p:cNvPr id="28" name="Oval 27"/>
            <p:cNvSpPr/>
            <p:nvPr/>
          </p:nvSpPr>
          <p:spPr>
            <a:xfrm>
              <a:off x="6182392" y="4740135"/>
              <a:ext cx="95947" cy="72379"/>
            </a:xfrm>
            <a:prstGeom prst="ellipse">
              <a:avLst/>
            </a:prstGeom>
            <a:solidFill>
              <a:srgbClr val="5E636A"/>
            </a:solidFill>
            <a:ln>
              <a:noFill/>
            </a:ln>
          </p:spPr>
          <p:txBody>
            <a:bodyPr rtlCol="0" anchor="ctr"/>
            <a:lstStyle/>
            <a:p>
              <a:pPr algn="ctr"/>
            </a:p>
          </p:txBody>
        </p:sp>
        <p:sp>
          <p:nvSpPr>
            <p:cNvPr id="29" name="Oval 28"/>
            <p:cNvSpPr/>
            <p:nvPr/>
          </p:nvSpPr>
          <p:spPr>
            <a:xfrm>
              <a:off x="8446002" y="4636473"/>
              <a:ext cx="108808" cy="76117"/>
            </a:xfrm>
            <a:prstGeom prst="ellipse">
              <a:avLst/>
            </a:prstGeom>
            <a:solidFill>
              <a:srgbClr val="5E636A"/>
            </a:solidFill>
            <a:ln>
              <a:noFill/>
            </a:ln>
          </p:spPr>
          <p:txBody>
            <a:bodyPr rtlCol="0" anchor="ctr"/>
            <a:lstStyle/>
            <a:p>
              <a:pPr algn="ctr"/>
            </a:p>
          </p:txBody>
        </p:sp>
        <p:sp>
          <p:nvSpPr>
            <p:cNvPr id="30" name="Oval 29"/>
            <p:cNvSpPr/>
            <p:nvPr/>
          </p:nvSpPr>
          <p:spPr>
            <a:xfrm>
              <a:off x="7795630" y="4199918"/>
              <a:ext cx="94572" cy="89512"/>
            </a:xfrm>
            <a:prstGeom prst="ellipse">
              <a:avLst/>
            </a:prstGeom>
            <a:solidFill>
              <a:srgbClr val="5E636A"/>
            </a:solidFill>
            <a:ln>
              <a:noFill/>
            </a:ln>
          </p:spPr>
          <p:txBody>
            <a:bodyPr rtlCol="0" anchor="ctr"/>
            <a:lstStyle/>
            <a:p>
              <a:pPr algn="ctr"/>
            </a:p>
          </p:txBody>
        </p:sp>
        <p:sp>
          <p:nvSpPr>
            <p:cNvPr id="31" name="Oval 30"/>
            <p:cNvSpPr/>
            <p:nvPr/>
          </p:nvSpPr>
          <p:spPr>
            <a:xfrm>
              <a:off x="9943234" y="4720631"/>
              <a:ext cx="145198" cy="99116"/>
            </a:xfrm>
            <a:prstGeom prst="ellipse">
              <a:avLst/>
            </a:prstGeom>
            <a:solidFill>
              <a:srgbClr val="5E636A"/>
            </a:solidFill>
            <a:ln>
              <a:noFill/>
            </a:ln>
          </p:spPr>
          <p:txBody>
            <a:bodyPr rtlCol="0" anchor="ctr"/>
            <a:lstStyle/>
            <a:p>
              <a:pPr algn="ctr"/>
            </a:p>
          </p:txBody>
        </p:sp>
        <p:sp>
          <p:nvSpPr>
            <p:cNvPr id="32" name="Oval 31"/>
            <p:cNvSpPr/>
            <p:nvPr/>
          </p:nvSpPr>
          <p:spPr>
            <a:xfrm>
              <a:off x="7132840" y="4081923"/>
              <a:ext cx="162105" cy="92363"/>
            </a:xfrm>
            <a:prstGeom prst="ellipse">
              <a:avLst/>
            </a:prstGeom>
            <a:solidFill>
              <a:srgbClr val="5E636A"/>
            </a:solidFill>
            <a:ln>
              <a:noFill/>
            </a:ln>
          </p:spPr>
          <p:txBody>
            <a:bodyPr rtlCol="0" anchor="ctr"/>
            <a:lstStyle/>
            <a:p>
              <a:pPr algn="ctr"/>
            </a:p>
          </p:txBody>
        </p:sp>
        <p:sp>
          <p:nvSpPr>
            <p:cNvPr id="33" name="Oval 32"/>
            <p:cNvSpPr/>
            <p:nvPr/>
          </p:nvSpPr>
          <p:spPr>
            <a:xfrm>
              <a:off x="9725022" y="4368074"/>
              <a:ext cx="136832" cy="93925"/>
            </a:xfrm>
            <a:prstGeom prst="ellipse">
              <a:avLst/>
            </a:prstGeom>
            <a:solidFill>
              <a:srgbClr val="5E636A"/>
            </a:solidFill>
            <a:ln>
              <a:noFill/>
            </a:ln>
          </p:spPr>
          <p:txBody>
            <a:bodyPr rtlCol="0" anchor="ctr"/>
            <a:lstStyle/>
            <a:p>
              <a:pPr algn="ctr"/>
            </a:p>
          </p:txBody>
        </p:sp>
        <p:sp>
          <p:nvSpPr>
            <p:cNvPr id="34" name="Oval 33"/>
            <p:cNvSpPr/>
            <p:nvPr/>
          </p:nvSpPr>
          <p:spPr>
            <a:xfrm>
              <a:off x="6720145" y="4294936"/>
              <a:ext cx="123930" cy="68998"/>
            </a:xfrm>
            <a:prstGeom prst="ellipse">
              <a:avLst/>
            </a:prstGeom>
            <a:solidFill>
              <a:srgbClr val="5E636A"/>
            </a:solidFill>
            <a:ln>
              <a:noFill/>
            </a:ln>
          </p:spPr>
          <p:txBody>
            <a:bodyPr rtlCol="0" anchor="ctr"/>
            <a:lstStyle/>
            <a:p>
              <a:pPr algn="ctr"/>
            </a:p>
          </p:txBody>
        </p:sp>
        <p:sp>
          <p:nvSpPr>
            <p:cNvPr id="35" name="Oval 34"/>
            <p:cNvSpPr/>
            <p:nvPr/>
          </p:nvSpPr>
          <p:spPr>
            <a:xfrm>
              <a:off x="9799811" y="4361798"/>
              <a:ext cx="115676" cy="64352"/>
            </a:xfrm>
            <a:prstGeom prst="ellipse">
              <a:avLst/>
            </a:prstGeom>
            <a:solidFill>
              <a:srgbClr val="5E636A"/>
            </a:solidFill>
            <a:ln>
              <a:noFill/>
            </a:ln>
          </p:spPr>
          <p:txBody>
            <a:bodyPr rtlCol="0" anchor="ctr"/>
            <a:lstStyle/>
            <a:p>
              <a:pPr algn="ctr"/>
            </a:p>
          </p:txBody>
        </p:sp>
        <p:sp>
          <p:nvSpPr>
            <p:cNvPr id="36" name="Oval 35"/>
            <p:cNvSpPr/>
            <p:nvPr/>
          </p:nvSpPr>
          <p:spPr>
            <a:xfrm>
              <a:off x="6686982" y="4108933"/>
              <a:ext cx="148773" cy="77275"/>
            </a:xfrm>
            <a:prstGeom prst="ellipse">
              <a:avLst/>
            </a:prstGeom>
            <a:solidFill>
              <a:srgbClr val="5E636A"/>
            </a:solidFill>
            <a:ln>
              <a:noFill/>
            </a:ln>
          </p:spPr>
          <p:txBody>
            <a:bodyPr rtlCol="0" anchor="ctr"/>
            <a:lstStyle/>
            <a:p>
              <a:pPr algn="ctr"/>
            </a:p>
          </p:txBody>
        </p:sp>
        <p:sp>
          <p:nvSpPr>
            <p:cNvPr id="37" name="Oval 36"/>
            <p:cNvSpPr/>
            <p:nvPr/>
          </p:nvSpPr>
          <p:spPr>
            <a:xfrm>
              <a:off x="6328940" y="4287428"/>
              <a:ext cx="163257" cy="79514"/>
            </a:xfrm>
            <a:prstGeom prst="ellipse">
              <a:avLst/>
            </a:prstGeom>
            <a:solidFill>
              <a:srgbClr val="5E636A"/>
            </a:solidFill>
            <a:ln>
              <a:noFill/>
            </a:ln>
          </p:spPr>
          <p:txBody>
            <a:bodyPr rtlCol="0" anchor="ctr"/>
            <a:lstStyle/>
            <a:p>
              <a:pPr algn="ctr"/>
            </a:p>
          </p:txBody>
        </p:sp>
        <p:sp>
          <p:nvSpPr>
            <p:cNvPr id="38" name="Rectangle 37"/>
            <p:cNvSpPr/>
            <p:nvPr/>
          </p:nvSpPr>
          <p:spPr>
            <a:xfrm>
              <a:off x="6172200" y="3675888"/>
              <a:ext cx="3657600" cy="329184"/>
            </a:xfrm>
            <a:prstGeom prst="rect">
              <a:avLst/>
            </a:prstGeom>
            <a:solidFill>
              <a:srgbClr val="6B5B4B"/>
            </a:solidFill>
            <a:ln w="12700">
              <a:solidFill>
                <a:srgbClr val="4E4236"/>
              </a:solidFill>
            </a:ln>
          </p:spPr>
          <p:txBody>
            <a:bodyPr rtlCol="0" anchor="ctr"/>
            <a:lstStyle/>
            <a:p>
              <a:pPr algn="ctr"/>
            </a:p>
          </p:txBody>
        </p:sp>
        <p:sp>
          <p:nvSpPr>
            <p:cNvPr id="39" name="Freeform 38"/>
            <p:cNvSpPr/>
            <p:nvPr/>
          </p:nvSpPr>
          <p:spPr>
            <a:xfrm>
              <a:off x="6702552" y="3218688"/>
              <a:ext cx="493776" cy="457200"/>
            </a:xfrm>
            <a:custGeom>
              <a:avLst/>
              <a:gdLst/>
              <a:ahLst/>
              <a:cxnLst/>
              <a:rect l="l" t="t" r="r" b="b"/>
              <a:pathLst>
                <a:path w="493776" h="457200">
                  <a:moveTo>
                    <a:pt x="64008" y="0"/>
                  </a:moveTo>
                  <a:lnTo>
                    <a:pt x="429768" y="0"/>
                  </a:lnTo>
                  <a:lnTo>
                    <a:pt x="429768" y="146304"/>
                  </a:lnTo>
                  <a:lnTo>
                    <a:pt x="310896" y="146304"/>
                  </a:lnTo>
                  <a:lnTo>
                    <a:pt x="310896" y="384048"/>
                  </a:lnTo>
                  <a:lnTo>
                    <a:pt x="493776" y="384048"/>
                  </a:lnTo>
                  <a:lnTo>
                    <a:pt x="493776" y="457200"/>
                  </a:lnTo>
                  <a:lnTo>
                    <a:pt x="0" y="457200"/>
                  </a:lnTo>
                  <a:lnTo>
                    <a:pt x="0" y="384048"/>
                  </a:lnTo>
                  <a:lnTo>
                    <a:pt x="182880" y="384048"/>
                  </a:lnTo>
                  <a:lnTo>
                    <a:pt x="182880" y="146304"/>
                  </a:lnTo>
                  <a:lnTo>
                    <a:pt x="64008" y="146304"/>
                  </a:lnTo>
                  <a:close/>
                </a:path>
              </a:pathLst>
            </a:custGeom>
            <a:solidFill>
              <a:srgbClr val="9AA0A6"/>
            </a:solidFill>
            <a:ln w="9525">
              <a:solidFill>
                <a:srgbClr val="101418"/>
              </a:solidFill>
            </a:ln>
          </p:spPr>
          <p:txBody>
            <a:bodyPr rtlCol="0" anchor="ctr"/>
            <a:lstStyle/>
            <a:p>
              <a:pPr algn="ctr"/>
            </a:p>
          </p:txBody>
        </p:sp>
        <p:sp>
          <p:nvSpPr>
            <p:cNvPr id="40" name="Freeform 39"/>
            <p:cNvSpPr/>
            <p:nvPr/>
          </p:nvSpPr>
          <p:spPr>
            <a:xfrm>
              <a:off x="8805672" y="3218688"/>
              <a:ext cx="493776" cy="457200"/>
            </a:xfrm>
            <a:custGeom>
              <a:avLst/>
              <a:gdLst/>
              <a:ahLst/>
              <a:cxnLst/>
              <a:rect l="l" t="t" r="r" b="b"/>
              <a:pathLst>
                <a:path w="493776" h="457200">
                  <a:moveTo>
                    <a:pt x="64008" y="0"/>
                  </a:moveTo>
                  <a:lnTo>
                    <a:pt x="429768" y="0"/>
                  </a:lnTo>
                  <a:lnTo>
                    <a:pt x="429768" y="146304"/>
                  </a:lnTo>
                  <a:lnTo>
                    <a:pt x="310896" y="146304"/>
                  </a:lnTo>
                  <a:lnTo>
                    <a:pt x="310896" y="384048"/>
                  </a:lnTo>
                  <a:lnTo>
                    <a:pt x="493776" y="384048"/>
                  </a:lnTo>
                  <a:lnTo>
                    <a:pt x="493776" y="457200"/>
                  </a:lnTo>
                  <a:lnTo>
                    <a:pt x="0" y="457200"/>
                  </a:lnTo>
                  <a:lnTo>
                    <a:pt x="0" y="384048"/>
                  </a:lnTo>
                  <a:lnTo>
                    <a:pt x="182880" y="384048"/>
                  </a:lnTo>
                  <a:lnTo>
                    <a:pt x="182880" y="146304"/>
                  </a:lnTo>
                  <a:lnTo>
                    <a:pt x="64008" y="146304"/>
                  </a:lnTo>
                  <a:close/>
                </a:path>
              </a:pathLst>
            </a:custGeom>
            <a:solidFill>
              <a:srgbClr val="9AA0A6"/>
            </a:solidFill>
            <a:ln w="9525">
              <a:solidFill>
                <a:srgbClr val="101418"/>
              </a:solidFill>
            </a:ln>
          </p:spPr>
          <p:txBody>
            <a:bodyPr rtlCol="0" anchor="ctr"/>
            <a:lstStyle/>
            <a:p>
              <a:pPr algn="ctr"/>
            </a:p>
          </p:txBody>
        </p:sp>
        <p:cxnSp>
          <p:nvCxnSpPr>
            <p:cNvPr id="41" name="Connector 40"/>
            <p:cNvCxnSpPr/>
            <p:nvPr/>
          </p:nvCxnSpPr>
          <p:spPr>
            <a:xfrm>
              <a:off x="7132320" y="3017520"/>
              <a:ext cx="1737360" cy="0"/>
            </a:xfrm>
            <a:prstGeom prst="line">
              <a:avLst/>
            </a:prstGeom>
            <a:ln w="28575">
              <a:solidFill>
                <a:srgbClr val="F28C28"/>
              </a:solidFill>
              <a:headEnd type="triangle" w="med" len="med"/>
              <a:tailEnd type="triangle" w="med" len="med"/>
            </a:ln>
          </p:spPr>
        </p:cxnSp>
      </p:grpSp>
      <p:sp>
        <p:nvSpPr>
          <p:cNvPr id="42" name="TextBox 41"/>
          <p:cNvSpPr txBox="1"/>
          <p:nvPr/>
        </p:nvSpPr>
        <p:spPr>
          <a:xfrm>
            <a:off x="5623560" y="2331720"/>
            <a:ext cx="4754880" cy="548640"/>
          </a:xfrm>
          <a:prstGeom prst="rect">
            <a:avLst/>
          </a:prstGeom>
          <a:noFill/>
        </p:spPr>
        <p:txBody>
          <a:bodyPr wrap="square" lIns="0" tIns="0" rIns="0" bIns="0" anchor="b">
            <a:noAutofit/>
          </a:bodyPr>
          <a:lstStyle/>
          <a:p>
            <a:pPr algn="ctr"/>
            <a:r>
              <a:rPr sz="1800" b="1" i="0" lang="en-GB">
                <a:solidFill>
                  <a:srgbClr val="F2F2F2"/>
                </a:solidFill>
                <a:latin typeface="Arial"/>
              </a:rPr>
              <a:t>Gauge:</a:t>
            </a:r>
            <a:r>
              <a:rPr sz="1800" b="0" i="0" lang="en-GB">
                <a:solidFill>
                  <a:srgbClr val="F2F2F2"/>
                </a:solidFill>
                <a:latin typeface="Arial"/>
              </a:rPr>
              <a:t> 1,435 mm on most railways</a:t>
            </a:r>
          </a:p>
        </p:txBody>
      </p:sp>
      <p:grpSp>
        <p:nvGrpSpPr>
          <p:cNvPr id="43" name="Label Rail" descr="Label: Rail"/>
          <p:cNvGrpSpPr/>
          <p:nvPr/>
        </p:nvGrpSpPr>
        <p:grpSpPr>
          <a:xfrm>
            <a:off x="9326880" y="3108960"/>
            <a:ext cx="2350008" cy="365760"/>
            <a:chOff x="9326880" y="3108960"/>
            <a:chExt cx="2350008" cy="365760"/>
          </a:xfrm>
        </p:grpSpPr>
        <p:cxnSp>
          <p:nvCxnSpPr>
            <p:cNvPr id="44" name="Connector 43"/>
            <p:cNvCxnSpPr/>
            <p:nvPr/>
          </p:nvCxnSpPr>
          <p:spPr>
            <a:xfrm>
              <a:off x="9326880" y="3291840"/>
              <a:ext cx="1417320" cy="0"/>
            </a:xfrm>
            <a:prstGeom prst="line">
              <a:avLst/>
            </a:prstGeom>
            <a:ln w="19050">
              <a:solidFill>
                <a:srgbClr val="F28C28"/>
              </a:solidFill>
            </a:ln>
          </p:spPr>
        </p:cxnSp>
        <p:sp>
          <p:nvSpPr>
            <p:cNvPr id="45" name="TextBox 44"/>
            <p:cNvSpPr txBox="1"/>
            <p:nvPr/>
          </p:nvSpPr>
          <p:spPr>
            <a:xfrm>
              <a:off x="10808208" y="310896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Rail</a:t>
              </a:r>
            </a:p>
          </p:txBody>
        </p:sp>
      </p:grpSp>
      <p:grpSp>
        <p:nvGrpSpPr>
          <p:cNvPr id="46" name="Label Sleeper" descr="Label: Sleeper"/>
          <p:cNvGrpSpPr/>
          <p:nvPr/>
        </p:nvGrpSpPr>
        <p:grpSpPr>
          <a:xfrm>
            <a:off x="9875520" y="3657600"/>
            <a:ext cx="1801368" cy="365760"/>
            <a:chOff x="9875520" y="3657600"/>
            <a:chExt cx="1801368" cy="365760"/>
          </a:xfrm>
        </p:grpSpPr>
        <p:cxnSp>
          <p:nvCxnSpPr>
            <p:cNvPr id="47" name="Connector 46"/>
            <p:cNvCxnSpPr/>
            <p:nvPr/>
          </p:nvCxnSpPr>
          <p:spPr>
            <a:xfrm>
              <a:off x="9875520" y="3840480"/>
              <a:ext cx="868680" cy="0"/>
            </a:xfrm>
            <a:prstGeom prst="line">
              <a:avLst/>
            </a:prstGeom>
            <a:ln w="19050">
              <a:solidFill>
                <a:srgbClr val="F28C28"/>
              </a:solidFill>
            </a:ln>
          </p:spPr>
        </p:cxnSp>
        <p:sp>
          <p:nvSpPr>
            <p:cNvPr id="48" name="TextBox 47"/>
            <p:cNvSpPr txBox="1"/>
            <p:nvPr/>
          </p:nvSpPr>
          <p:spPr>
            <a:xfrm>
              <a:off x="10808208" y="365760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Sleeper</a:t>
              </a:r>
            </a:p>
          </p:txBody>
        </p:sp>
      </p:grpSp>
      <p:grpSp>
        <p:nvGrpSpPr>
          <p:cNvPr id="49" name="Label Ballast" descr="Label: Ballast"/>
          <p:cNvGrpSpPr/>
          <p:nvPr/>
        </p:nvGrpSpPr>
        <p:grpSpPr>
          <a:xfrm>
            <a:off x="10287000" y="4343400"/>
            <a:ext cx="1389888" cy="365760"/>
            <a:chOff x="10287000" y="4343400"/>
            <a:chExt cx="1389888" cy="365760"/>
          </a:xfrm>
        </p:grpSpPr>
        <p:cxnSp>
          <p:nvCxnSpPr>
            <p:cNvPr id="50" name="Connector 49"/>
            <p:cNvCxnSpPr/>
            <p:nvPr/>
          </p:nvCxnSpPr>
          <p:spPr>
            <a:xfrm>
              <a:off x="10287000" y="4526280"/>
              <a:ext cx="457200" cy="0"/>
            </a:xfrm>
            <a:prstGeom prst="line">
              <a:avLst/>
            </a:prstGeom>
            <a:ln w="19050">
              <a:solidFill>
                <a:srgbClr val="F28C28"/>
              </a:solidFill>
            </a:ln>
          </p:spPr>
        </p:cxnSp>
        <p:sp>
          <p:nvSpPr>
            <p:cNvPr id="51" name="TextBox 50"/>
            <p:cNvSpPr txBox="1"/>
            <p:nvPr/>
          </p:nvSpPr>
          <p:spPr>
            <a:xfrm>
              <a:off x="10808208" y="434340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Ballast</a:t>
              </a:r>
            </a:p>
          </p:txBody>
        </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Two steel rails sit on sleepers over stone ballast. The sleepers keep the rails the right distance apart.</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6</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225"/>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nodeType="withEffect">
                                  <p:stCondLst>
                                    <p:cond delay="450"/>
                                  </p:stCondLst>
                                  <p:childTnLst>
                                    <p:set>
                                      <p:cBhvr>
                                        <p:cTn id="12" dur="1" fill="hold">
                                          <p:stCondLst>
                                            <p:cond delay="0"/>
                                          </p:stCondLst>
                                        </p:cTn>
                                        <p:tgtEl>
                                          <p:spTgt spid="42"/>
                                        </p:tgtEl>
                                        <p:attrNameLst>
                                          <p:attrName>style.visibility</p:attrName>
                                        </p:attrNameLst>
                                      </p:cBhvr>
                                      <p:to>
                                        <p:strVal val="visible"/>
                                      </p:to>
                                    </p:set>
                                    <p:animEffect transition="in" filter="fade">
                                      <p:cBhvr>
                                        <p:cTn id="13" dur="500"/>
                                        <p:tgtEl>
                                          <p:spTgt spid="42"/>
                                        </p:tgtEl>
                                      </p:cBhvr>
                                    </p:animEffect>
                                  </p:childTnLst>
                                </p:cTn>
                              </p:par>
                              <p:par>
                                <p:cTn id="14" presetID="10" presetClass="entr" presetSubtype="0" fill="hold" nodeType="withEffect">
                                  <p:stCondLst>
                                    <p:cond delay="675"/>
                                  </p:stCondLst>
                                  <p:childTnLst>
                                    <p:set>
                                      <p:cBhvr>
                                        <p:cTn id="15" dur="1" fill="hold">
                                          <p:stCondLst>
                                            <p:cond delay="0"/>
                                          </p:stCondLst>
                                        </p:cTn>
                                        <p:tgtEl>
                                          <p:spTgt spid="43"/>
                                        </p:tgtEl>
                                        <p:attrNameLst>
                                          <p:attrName>style.visibility</p:attrName>
                                        </p:attrNameLst>
                                      </p:cBhvr>
                                      <p:to>
                                        <p:strVal val="visible"/>
                                      </p:to>
                                    </p:set>
                                    <p:animEffect transition="in" filter="fade">
                                      <p:cBhvr>
                                        <p:cTn id="16" dur="500"/>
                                        <p:tgtEl>
                                          <p:spTgt spid="43"/>
                                        </p:tgtEl>
                                      </p:cBhvr>
                                    </p:animEffect>
                                  </p:childTnLst>
                                </p:cTn>
                              </p:par>
                              <p:par>
                                <p:cTn id="17" presetID="10" presetClass="entr" presetSubtype="0" fill="hold" nodeType="withEffect">
                                  <p:stCondLst>
                                    <p:cond delay="900"/>
                                  </p:stCondLst>
                                  <p:childTnLst>
                                    <p:set>
                                      <p:cBhvr>
                                        <p:cTn id="18" dur="1" fill="hold">
                                          <p:stCondLst>
                                            <p:cond delay="0"/>
                                          </p:stCondLst>
                                        </p:cTn>
                                        <p:tgtEl>
                                          <p:spTgt spid="46"/>
                                        </p:tgtEl>
                                        <p:attrNameLst>
                                          <p:attrName>style.visibility</p:attrName>
                                        </p:attrNameLst>
                                      </p:cBhvr>
                                      <p:to>
                                        <p:strVal val="visible"/>
                                      </p:to>
                                    </p:set>
                                    <p:animEffect transition="in" filter="fade">
                                      <p:cBhvr>
                                        <p:cTn id="19" dur="500"/>
                                        <p:tgtEl>
                                          <p:spTgt spid="46"/>
                                        </p:tgtEl>
                                      </p:cBhvr>
                                    </p:animEffect>
                                  </p:childTnLst>
                                </p:cTn>
                              </p:par>
                              <p:par>
                                <p:cTn id="20" presetID="10" presetClass="entr" presetSubtype="0" fill="hold" nodeType="withEffect">
                                  <p:stCondLst>
                                    <p:cond delay="1125"/>
                                  </p:stCondLst>
                                  <p:childTnLst>
                                    <p:set>
                                      <p:cBhvr>
                                        <p:cTn id="21" dur="1" fill="hold">
                                          <p:stCondLst>
                                            <p:cond delay="0"/>
                                          </p:stCondLst>
                                        </p:cTn>
                                        <p:tgtEl>
                                          <p:spTgt spid="49"/>
                                        </p:tgtEl>
                                        <p:attrNameLst>
                                          <p:attrName>style.visibility</p:attrName>
                                        </p:attrNameLst>
                                      </p:cBhvr>
                                      <p:to>
                                        <p:strVal val="visible"/>
                                      </p:to>
                                    </p:set>
                                    <p:animEffect transition="in" filter="fade">
                                      <p:cBhvr>
                                        <p:cTn id="22" dur="500"/>
                                        <p:tgtEl>
                                          <p:spTgt spid="49"/>
                                        </p:tgtEl>
                                      </p:cBhvr>
                                    </p:animEffect>
                                  </p:childTnLst>
                                </p:cTn>
                              </p:par>
                              <p:par>
                                <p:cTn id="23" presetID="10" presetClass="entr" presetSubtype="0" fill="hold" nodeType="withEffect">
                                  <p:stCondLst>
                                    <p:cond delay="1350"/>
                                  </p:stCondLst>
                                  <p:childTnLst>
                                    <p:set>
                                      <p:cBhvr>
                                        <p:cTn id="24" dur="1" fill="hold">
                                          <p:stCondLst>
                                            <p:cond delay="0"/>
                                          </p:stCondLst>
                                        </p:cTn>
                                        <p:tgtEl>
                                          <p:spTgt spid="4"/>
                                        </p:tgtEl>
                                        <p:attrNameLst>
                                          <p:attrName>style.visibility</p:attrName>
                                        </p:attrNameLst>
                                      </p:cBhvr>
                                      <p:to>
                                        <p:strVal val="visible"/>
                                      </p:to>
                                    </p:set>
                                    <p:animEffect transition="in" filter="fade">
                                      <p:cBhvr>
                                        <p:cTn id="25" dur="500"/>
                                        <p:tgtEl>
                                          <p:spTgt spid="4"/>
                                        </p:tgtEl>
                                      </p:cBhvr>
                                    </p:animEffect>
                                  </p:childTnLst>
                                </p:cTn>
                              </p:par>
                              <p:par>
                                <p:cTn id="26" presetID="10" presetClass="entr" presetSubtype="0" fill="hold" nodeType="withEffect">
                                  <p:stCondLst>
                                    <p:cond delay="1575"/>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How a steam engine works</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Steam engine cutaway" descr="Side cutaway of a steam engine: a fire in the firebox heats water in the long boiler; steam drives a piston in the cylinder; rods turn the wheels; used steam leaves through the chimney."/>
          <p:cNvGrpSpPr/>
          <p:nvPr/>
        </p:nvGrpSpPr>
        <p:grpSpPr>
          <a:xfrm>
            <a:off x="548640" y="1217981"/>
            <a:ext cx="7406640" cy="3838651"/>
            <a:chOff x="548640" y="1217981"/>
            <a:chExt cx="7406640" cy="3838651"/>
          </a:xfrm>
        </p:grpSpPr>
        <p:sp>
          <p:nvSpPr>
            <p:cNvPr id="9" name="Rectangle 8"/>
            <p:cNvSpPr/>
            <p:nvPr/>
          </p:nvSpPr>
          <p:spPr>
            <a:xfrm>
              <a:off x="548640" y="4983480"/>
              <a:ext cx="7406640" cy="73152"/>
            </a:xfrm>
            <a:prstGeom prst="rect">
              <a:avLst/>
            </a:prstGeom>
            <a:solidFill>
              <a:srgbClr val="9AA0A6"/>
            </a:solidFill>
            <a:ln>
              <a:noFill/>
            </a:ln>
          </p:spPr>
          <p:txBody>
            <a:bodyPr rtlCol="0" anchor="ctr"/>
            <a:lstStyle/>
            <a:p>
              <a:pPr algn="ctr"/>
            </a:p>
          </p:txBody>
        </p:sp>
        <p:sp>
          <p:nvSpPr>
            <p:cNvPr id="10" name="Rectangle 9"/>
            <p:cNvSpPr/>
            <p:nvPr/>
          </p:nvSpPr>
          <p:spPr>
            <a:xfrm>
              <a:off x="685800" y="2011680"/>
              <a:ext cx="1417320" cy="2103120"/>
            </a:xfrm>
            <a:prstGeom prst="rect">
              <a:avLst/>
            </a:prstGeom>
            <a:solidFill>
              <a:srgbClr val="343A43"/>
            </a:solidFill>
            <a:ln w="19050">
              <a:solidFill>
                <a:srgbClr val="9AA0A6"/>
              </a:solidFill>
            </a:ln>
          </p:spPr>
          <p:txBody>
            <a:bodyPr rtlCol="0" anchor="ctr"/>
            <a:lstStyle/>
            <a:p>
              <a:pPr algn="ctr"/>
            </a:p>
          </p:txBody>
        </p:sp>
        <p:sp>
          <p:nvSpPr>
            <p:cNvPr id="11" name="Rectangle 10"/>
            <p:cNvSpPr/>
            <p:nvPr/>
          </p:nvSpPr>
          <p:spPr>
            <a:xfrm>
              <a:off x="594360" y="1920240"/>
              <a:ext cx="1600200" cy="128016"/>
            </a:xfrm>
            <a:prstGeom prst="rect">
              <a:avLst/>
            </a:prstGeom>
            <a:solidFill>
              <a:srgbClr val="9AA0A6"/>
            </a:solidFill>
            <a:ln>
              <a:noFill/>
            </a:ln>
          </p:spPr>
          <p:txBody>
            <a:bodyPr rtlCol="0" anchor="ctr"/>
            <a:lstStyle/>
            <a:p>
              <a:pPr algn="ctr"/>
            </a:p>
          </p:txBody>
        </p:sp>
        <p:sp>
          <p:nvSpPr>
            <p:cNvPr id="12" name="Rectangle 11"/>
            <p:cNvSpPr/>
            <p:nvPr/>
          </p:nvSpPr>
          <p:spPr>
            <a:xfrm>
              <a:off x="868680" y="2240280"/>
              <a:ext cx="548640" cy="457200"/>
            </a:xfrm>
            <a:prstGeom prst="rect">
              <a:avLst/>
            </a:prstGeom>
            <a:solidFill>
              <a:srgbClr val="2B2F36"/>
            </a:solidFill>
            <a:ln w="12700">
              <a:solidFill>
                <a:srgbClr val="9AA0A6"/>
              </a:solidFill>
            </a:ln>
          </p:spPr>
          <p:txBody>
            <a:bodyPr rtlCol="0" anchor="ctr"/>
            <a:lstStyle/>
            <a:p>
              <a:pPr algn="ctr"/>
            </a:p>
          </p:txBody>
        </p:sp>
        <p:sp>
          <p:nvSpPr>
            <p:cNvPr id="13" name="Rounded Rectangle 12"/>
            <p:cNvSpPr/>
            <p:nvPr/>
          </p:nvSpPr>
          <p:spPr>
            <a:xfrm>
              <a:off x="1143000" y="3017520"/>
              <a:ext cx="960120" cy="1051560"/>
            </a:xfrm>
            <a:prstGeom prst="roundRect">
              <a:avLst>
                <a:gd name="adj" fmla="val 7619"/>
              </a:avLst>
            </a:prstGeom>
            <a:solidFill>
              <a:srgbClr val="5A2E12"/>
            </a:solidFill>
            <a:ln w="25400">
              <a:solidFill>
                <a:srgbClr val="F28C28"/>
              </a:solidFill>
            </a:ln>
          </p:spPr>
          <p:txBody>
            <a:bodyPr rtlCol="0" anchor="ctr"/>
            <a:lstStyle/>
            <a:p>
              <a:pPr algn="ctr"/>
            </a:p>
          </p:txBody>
        </p:sp>
        <p:sp>
          <p:nvSpPr>
            <p:cNvPr id="14" name="Freeform 13"/>
            <p:cNvSpPr/>
            <p:nvPr/>
          </p:nvSpPr>
          <p:spPr>
            <a:xfrm>
              <a:off x="1197864" y="3520440"/>
              <a:ext cx="256032" cy="502920"/>
            </a:xfrm>
            <a:custGeom>
              <a:avLst/>
              <a:gdLst/>
              <a:ahLst/>
              <a:cxnLst/>
              <a:rect l="l" t="t" r="r" b="b"/>
              <a:pathLst>
                <a:path w="256032" h="502920">
                  <a:moveTo>
                    <a:pt x="0" y="502920"/>
                  </a:moveTo>
                  <a:lnTo>
                    <a:pt x="256032" y="502920"/>
                  </a:lnTo>
                  <a:lnTo>
                    <a:pt x="128016" y="0"/>
                  </a:lnTo>
                  <a:close/>
                </a:path>
              </a:pathLst>
            </a:custGeom>
            <a:solidFill>
              <a:srgbClr val="F28C28"/>
            </a:solidFill>
            <a:ln>
              <a:noFill/>
            </a:ln>
          </p:spPr>
          <p:txBody>
            <a:bodyPr rtlCol="0" anchor="ctr"/>
            <a:lstStyle/>
            <a:p>
              <a:pPr algn="ctr"/>
            </a:p>
          </p:txBody>
        </p:sp>
        <p:sp>
          <p:nvSpPr>
            <p:cNvPr id="15" name="Freeform 14"/>
            <p:cNvSpPr/>
            <p:nvPr/>
          </p:nvSpPr>
          <p:spPr>
            <a:xfrm>
              <a:off x="1261872" y="3746754"/>
              <a:ext cx="128016" cy="276606"/>
            </a:xfrm>
            <a:custGeom>
              <a:avLst/>
              <a:gdLst/>
              <a:ahLst/>
              <a:cxnLst/>
              <a:rect l="l" t="t" r="r" b="b"/>
              <a:pathLst>
                <a:path w="128016" h="276606">
                  <a:moveTo>
                    <a:pt x="0" y="276606"/>
                  </a:moveTo>
                  <a:lnTo>
                    <a:pt x="128016" y="276606"/>
                  </a:lnTo>
                  <a:lnTo>
                    <a:pt x="64008" y="0"/>
                  </a:lnTo>
                  <a:close/>
                </a:path>
              </a:pathLst>
            </a:custGeom>
            <a:solidFill>
              <a:srgbClr val="F2C14E"/>
            </a:solidFill>
            <a:ln>
              <a:noFill/>
            </a:ln>
          </p:spPr>
          <p:txBody>
            <a:bodyPr rtlCol="0" anchor="ctr"/>
            <a:lstStyle/>
            <a:p>
              <a:pPr algn="ctr"/>
            </a:p>
          </p:txBody>
        </p:sp>
        <p:sp>
          <p:nvSpPr>
            <p:cNvPr id="16" name="Freeform 15"/>
            <p:cNvSpPr/>
            <p:nvPr/>
          </p:nvSpPr>
          <p:spPr>
            <a:xfrm>
              <a:off x="1444752" y="3337560"/>
              <a:ext cx="256032" cy="685800"/>
            </a:xfrm>
            <a:custGeom>
              <a:avLst/>
              <a:gdLst/>
              <a:ahLst/>
              <a:cxnLst/>
              <a:rect l="l" t="t" r="r" b="b"/>
              <a:pathLst>
                <a:path w="256032" h="685800">
                  <a:moveTo>
                    <a:pt x="0" y="685800"/>
                  </a:moveTo>
                  <a:lnTo>
                    <a:pt x="256032" y="685800"/>
                  </a:lnTo>
                  <a:lnTo>
                    <a:pt x="128016" y="0"/>
                  </a:lnTo>
                  <a:close/>
                </a:path>
              </a:pathLst>
            </a:custGeom>
            <a:solidFill>
              <a:srgbClr val="F28C28"/>
            </a:solidFill>
            <a:ln>
              <a:noFill/>
            </a:ln>
          </p:spPr>
          <p:txBody>
            <a:bodyPr rtlCol="0" anchor="ctr"/>
            <a:lstStyle/>
            <a:p>
              <a:pPr algn="ctr"/>
            </a:p>
          </p:txBody>
        </p:sp>
        <p:sp>
          <p:nvSpPr>
            <p:cNvPr id="17" name="Freeform 16"/>
            <p:cNvSpPr/>
            <p:nvPr/>
          </p:nvSpPr>
          <p:spPr>
            <a:xfrm>
              <a:off x="1508760" y="3646170"/>
              <a:ext cx="128016" cy="377190"/>
            </a:xfrm>
            <a:custGeom>
              <a:avLst/>
              <a:gdLst/>
              <a:ahLst/>
              <a:cxnLst/>
              <a:rect l="l" t="t" r="r" b="b"/>
              <a:pathLst>
                <a:path w="128016" h="377190">
                  <a:moveTo>
                    <a:pt x="0" y="377190"/>
                  </a:moveTo>
                  <a:lnTo>
                    <a:pt x="128016" y="377190"/>
                  </a:lnTo>
                  <a:lnTo>
                    <a:pt x="64008" y="0"/>
                  </a:lnTo>
                  <a:close/>
                </a:path>
              </a:pathLst>
            </a:custGeom>
            <a:solidFill>
              <a:srgbClr val="F2C14E"/>
            </a:solidFill>
            <a:ln>
              <a:noFill/>
            </a:ln>
          </p:spPr>
          <p:txBody>
            <a:bodyPr rtlCol="0" anchor="ctr"/>
            <a:lstStyle/>
            <a:p>
              <a:pPr algn="ctr"/>
            </a:p>
          </p:txBody>
        </p:sp>
        <p:sp>
          <p:nvSpPr>
            <p:cNvPr id="18" name="Freeform 17"/>
            <p:cNvSpPr/>
            <p:nvPr/>
          </p:nvSpPr>
          <p:spPr>
            <a:xfrm>
              <a:off x="1700784" y="3566160"/>
              <a:ext cx="256032" cy="457200"/>
            </a:xfrm>
            <a:custGeom>
              <a:avLst/>
              <a:gdLst/>
              <a:ahLst/>
              <a:cxnLst/>
              <a:rect l="l" t="t" r="r" b="b"/>
              <a:pathLst>
                <a:path w="256032" h="457200">
                  <a:moveTo>
                    <a:pt x="0" y="457200"/>
                  </a:moveTo>
                  <a:lnTo>
                    <a:pt x="256032" y="457200"/>
                  </a:lnTo>
                  <a:lnTo>
                    <a:pt x="128016" y="0"/>
                  </a:lnTo>
                  <a:close/>
                </a:path>
              </a:pathLst>
            </a:custGeom>
            <a:solidFill>
              <a:srgbClr val="F28C28"/>
            </a:solidFill>
            <a:ln>
              <a:noFill/>
            </a:ln>
          </p:spPr>
          <p:txBody>
            <a:bodyPr rtlCol="0" anchor="ctr"/>
            <a:lstStyle/>
            <a:p>
              <a:pPr algn="ctr"/>
            </a:p>
          </p:txBody>
        </p:sp>
        <p:sp>
          <p:nvSpPr>
            <p:cNvPr id="19" name="Freeform 18"/>
            <p:cNvSpPr/>
            <p:nvPr/>
          </p:nvSpPr>
          <p:spPr>
            <a:xfrm>
              <a:off x="1764792" y="3771900"/>
              <a:ext cx="128016" cy="251460"/>
            </a:xfrm>
            <a:custGeom>
              <a:avLst/>
              <a:gdLst/>
              <a:ahLst/>
              <a:cxnLst/>
              <a:rect l="l" t="t" r="r" b="b"/>
              <a:pathLst>
                <a:path w="128016" h="251460">
                  <a:moveTo>
                    <a:pt x="0" y="251460"/>
                  </a:moveTo>
                  <a:lnTo>
                    <a:pt x="128016" y="251460"/>
                  </a:lnTo>
                  <a:lnTo>
                    <a:pt x="64008" y="0"/>
                  </a:lnTo>
                  <a:close/>
                </a:path>
              </a:pathLst>
            </a:custGeom>
            <a:solidFill>
              <a:srgbClr val="F2C14E"/>
            </a:solidFill>
            <a:ln>
              <a:noFill/>
            </a:ln>
          </p:spPr>
          <p:txBody>
            <a:bodyPr rtlCol="0" anchor="ctr"/>
            <a:lstStyle/>
            <a:p>
              <a:pPr algn="ctr"/>
            </a:p>
          </p:txBody>
        </p:sp>
        <p:sp>
          <p:nvSpPr>
            <p:cNvPr id="20" name="Rounded Rectangle 19"/>
            <p:cNvSpPr/>
            <p:nvPr/>
          </p:nvSpPr>
          <p:spPr>
            <a:xfrm>
              <a:off x="2103120" y="2514600"/>
              <a:ext cx="4846320" cy="1463040"/>
            </a:xfrm>
            <a:prstGeom prst="roundRect">
              <a:avLst>
                <a:gd name="adj" fmla="val 18749"/>
              </a:avLst>
            </a:prstGeom>
            <a:solidFill>
              <a:srgbClr val="2B2F36"/>
            </a:solidFill>
            <a:ln w="25400">
              <a:solidFill>
                <a:srgbClr val="9AA0A6"/>
              </a:solidFill>
            </a:ln>
          </p:spPr>
          <p:txBody>
            <a:bodyPr rtlCol="0" anchor="ctr"/>
            <a:lstStyle/>
            <a:p>
              <a:pPr algn="ctr"/>
            </a:p>
          </p:txBody>
        </p:sp>
        <p:sp>
          <p:nvSpPr>
            <p:cNvPr id="21" name="Rounded Rectangle 20"/>
            <p:cNvSpPr/>
            <p:nvPr/>
          </p:nvSpPr>
          <p:spPr>
            <a:xfrm>
              <a:off x="2212848" y="3246120"/>
              <a:ext cx="4626864" cy="621792"/>
            </a:xfrm>
            <a:prstGeom prst="roundRect">
              <a:avLst>
                <a:gd name="adj" fmla="val 17647"/>
              </a:avLst>
            </a:prstGeom>
            <a:solidFill>
              <a:srgbClr val="4DA3FF"/>
            </a:solidFill>
            <a:ln>
              <a:noFill/>
            </a:ln>
          </p:spPr>
          <p:txBody>
            <a:bodyPr rtlCol="0" anchor="ctr"/>
            <a:lstStyle/>
            <a:p>
              <a:pPr algn="ctr"/>
            </a:p>
          </p:txBody>
        </p:sp>
        <p:sp>
          <p:nvSpPr>
            <p:cNvPr id="22" name="Oval 21"/>
            <p:cNvSpPr/>
            <p:nvPr/>
          </p:nvSpPr>
          <p:spPr>
            <a:xfrm>
              <a:off x="2606040" y="2807208"/>
              <a:ext cx="457200" cy="237744"/>
            </a:xfrm>
            <a:prstGeom prst="ellipse">
              <a:avLst/>
            </a:prstGeom>
            <a:solidFill>
              <a:srgbClr val="D4D5D6"/>
            </a:solidFill>
            <a:ln>
              <a:noFill/>
            </a:ln>
          </p:spPr>
          <p:txBody>
            <a:bodyPr rtlCol="0" anchor="ctr"/>
            <a:lstStyle/>
            <a:p>
              <a:pPr algn="ctr"/>
            </a:p>
          </p:txBody>
        </p:sp>
        <p:sp>
          <p:nvSpPr>
            <p:cNvPr id="23" name="Oval 22"/>
            <p:cNvSpPr/>
            <p:nvPr/>
          </p:nvSpPr>
          <p:spPr>
            <a:xfrm>
              <a:off x="3429000" y="2734056"/>
              <a:ext cx="457200" cy="237744"/>
            </a:xfrm>
            <a:prstGeom prst="ellipse">
              <a:avLst/>
            </a:prstGeom>
            <a:solidFill>
              <a:srgbClr val="D4D5D6"/>
            </a:solidFill>
            <a:ln>
              <a:noFill/>
            </a:ln>
          </p:spPr>
          <p:txBody>
            <a:bodyPr rtlCol="0" anchor="ctr"/>
            <a:lstStyle/>
            <a:p>
              <a:pPr algn="ctr"/>
            </a:p>
          </p:txBody>
        </p:sp>
        <p:sp>
          <p:nvSpPr>
            <p:cNvPr id="24" name="Oval 23"/>
            <p:cNvSpPr/>
            <p:nvPr/>
          </p:nvSpPr>
          <p:spPr>
            <a:xfrm>
              <a:off x="4251960" y="2825496"/>
              <a:ext cx="457200" cy="237744"/>
            </a:xfrm>
            <a:prstGeom prst="ellipse">
              <a:avLst/>
            </a:prstGeom>
            <a:solidFill>
              <a:srgbClr val="D4D5D6"/>
            </a:solidFill>
            <a:ln>
              <a:noFill/>
            </a:ln>
          </p:spPr>
          <p:txBody>
            <a:bodyPr rtlCol="0" anchor="ctr"/>
            <a:lstStyle/>
            <a:p>
              <a:pPr algn="ctr"/>
            </a:p>
          </p:txBody>
        </p:sp>
        <p:sp>
          <p:nvSpPr>
            <p:cNvPr id="25" name="Oval 24"/>
            <p:cNvSpPr/>
            <p:nvPr/>
          </p:nvSpPr>
          <p:spPr>
            <a:xfrm>
              <a:off x="5074920" y="2734056"/>
              <a:ext cx="457200" cy="237744"/>
            </a:xfrm>
            <a:prstGeom prst="ellipse">
              <a:avLst/>
            </a:prstGeom>
            <a:solidFill>
              <a:srgbClr val="D4D5D6"/>
            </a:solidFill>
            <a:ln>
              <a:noFill/>
            </a:ln>
          </p:spPr>
          <p:txBody>
            <a:bodyPr rtlCol="0" anchor="ctr"/>
            <a:lstStyle/>
            <a:p>
              <a:pPr algn="ctr"/>
            </a:p>
          </p:txBody>
        </p:sp>
        <p:sp>
          <p:nvSpPr>
            <p:cNvPr id="26" name="Oval 25"/>
            <p:cNvSpPr/>
            <p:nvPr/>
          </p:nvSpPr>
          <p:spPr>
            <a:xfrm>
              <a:off x="5897880" y="2807208"/>
              <a:ext cx="457200" cy="237744"/>
            </a:xfrm>
            <a:prstGeom prst="ellipse">
              <a:avLst/>
            </a:prstGeom>
            <a:solidFill>
              <a:srgbClr val="D4D5D6"/>
            </a:solidFill>
            <a:ln>
              <a:noFill/>
            </a:ln>
          </p:spPr>
          <p:txBody>
            <a:bodyPr rtlCol="0" anchor="ctr"/>
            <a:lstStyle/>
            <a:p>
              <a:pPr algn="ctr"/>
            </a:p>
          </p:txBody>
        </p:sp>
        <p:sp>
          <p:nvSpPr>
            <p:cNvPr id="27" name="Rectangle 26"/>
            <p:cNvSpPr/>
            <p:nvPr/>
          </p:nvSpPr>
          <p:spPr>
            <a:xfrm>
              <a:off x="6949440" y="2514600"/>
              <a:ext cx="502920" cy="1463040"/>
            </a:xfrm>
            <a:prstGeom prst="rect">
              <a:avLst/>
            </a:prstGeom>
            <a:solidFill>
              <a:srgbClr val="1B1D21"/>
            </a:solidFill>
            <a:ln w="19050">
              <a:solidFill>
                <a:srgbClr val="9AA0A6"/>
              </a:solidFill>
            </a:ln>
          </p:spPr>
          <p:txBody>
            <a:bodyPr rtlCol="0" anchor="ctr"/>
            <a:lstStyle/>
            <a:p>
              <a:pPr algn="ctr"/>
            </a:p>
          </p:txBody>
        </p:sp>
        <p:sp>
          <p:nvSpPr>
            <p:cNvPr id="28" name="Rectangle 27"/>
            <p:cNvSpPr/>
            <p:nvPr/>
          </p:nvSpPr>
          <p:spPr>
            <a:xfrm>
              <a:off x="6537960" y="1874520"/>
              <a:ext cx="347472" cy="658368"/>
            </a:xfrm>
            <a:prstGeom prst="rect">
              <a:avLst/>
            </a:prstGeom>
            <a:solidFill>
              <a:srgbClr val="1B1D21"/>
            </a:solidFill>
            <a:ln w="19050">
              <a:solidFill>
                <a:srgbClr val="9AA0A6"/>
              </a:solidFill>
            </a:ln>
          </p:spPr>
          <p:txBody>
            <a:bodyPr rtlCol="0" anchor="ctr"/>
            <a:lstStyle/>
            <a:p>
              <a:pPr algn="ctr"/>
            </a:p>
          </p:txBody>
        </p:sp>
        <p:sp>
          <p:nvSpPr>
            <p:cNvPr id="29" name="Oval 28"/>
            <p:cNvSpPr/>
            <p:nvPr/>
          </p:nvSpPr>
          <p:spPr>
            <a:xfrm>
              <a:off x="6620256" y="1565453"/>
              <a:ext cx="329184" cy="197510"/>
            </a:xfrm>
            <a:prstGeom prst="ellipse">
              <a:avLst/>
            </a:prstGeom>
            <a:solidFill>
              <a:srgbClr val="D2D3D3"/>
            </a:solidFill>
            <a:ln>
              <a:noFill/>
            </a:ln>
          </p:spPr>
          <p:txBody>
            <a:bodyPr rtlCol="0" anchor="ctr"/>
            <a:lstStyle/>
            <a:p>
              <a:pPr algn="ctr"/>
            </a:p>
          </p:txBody>
        </p:sp>
        <p:sp>
          <p:nvSpPr>
            <p:cNvPr id="30" name="Oval 29"/>
            <p:cNvSpPr/>
            <p:nvPr/>
          </p:nvSpPr>
          <p:spPr>
            <a:xfrm>
              <a:off x="6848856" y="1355141"/>
              <a:ext cx="420624" cy="252374"/>
            </a:xfrm>
            <a:prstGeom prst="ellipse">
              <a:avLst/>
            </a:prstGeom>
            <a:solidFill>
              <a:srgbClr val="D2D3D3"/>
            </a:solidFill>
            <a:ln>
              <a:noFill/>
            </a:ln>
          </p:spPr>
          <p:txBody>
            <a:bodyPr rtlCol="0" anchor="ctr"/>
            <a:lstStyle/>
            <a:p>
              <a:pPr algn="ctr"/>
            </a:p>
          </p:txBody>
        </p:sp>
        <p:sp>
          <p:nvSpPr>
            <p:cNvPr id="31" name="Oval 30"/>
            <p:cNvSpPr/>
            <p:nvPr/>
          </p:nvSpPr>
          <p:spPr>
            <a:xfrm>
              <a:off x="7168896" y="1217981"/>
              <a:ext cx="512064" cy="307238"/>
            </a:xfrm>
            <a:prstGeom prst="ellipse">
              <a:avLst/>
            </a:prstGeom>
            <a:solidFill>
              <a:srgbClr val="D2D3D3"/>
            </a:solidFill>
            <a:ln>
              <a:noFill/>
            </a:ln>
          </p:spPr>
          <p:txBody>
            <a:bodyPr rtlCol="0" anchor="ctr"/>
            <a:lstStyle/>
            <a:p>
              <a:pPr algn="ctr"/>
            </a:p>
          </p:txBody>
        </p:sp>
        <p:sp>
          <p:nvSpPr>
            <p:cNvPr id="32" name="Rectangle 31"/>
            <p:cNvSpPr/>
            <p:nvPr/>
          </p:nvSpPr>
          <p:spPr>
            <a:xfrm>
              <a:off x="2103120" y="4023360"/>
              <a:ext cx="5349240" cy="109728"/>
            </a:xfrm>
            <a:prstGeom prst="rect">
              <a:avLst/>
            </a:prstGeom>
            <a:solidFill>
              <a:srgbClr val="1B1D21"/>
            </a:solidFill>
            <a:ln>
              <a:noFill/>
            </a:ln>
          </p:spPr>
          <p:txBody>
            <a:bodyPr rtlCol="0" anchor="ctr"/>
            <a:lstStyle/>
            <a:p>
              <a:pPr algn="ctr"/>
            </a:p>
          </p:txBody>
        </p:sp>
        <p:sp>
          <p:nvSpPr>
            <p:cNvPr id="33" name="Rounded Rectangle 32"/>
            <p:cNvSpPr/>
            <p:nvPr/>
          </p:nvSpPr>
          <p:spPr>
            <a:xfrm>
              <a:off x="6355080" y="4206240"/>
              <a:ext cx="1051560" cy="502920"/>
            </a:xfrm>
            <a:prstGeom prst="roundRect">
              <a:avLst>
                <a:gd name="adj" fmla="val 9090"/>
              </a:avLst>
            </a:prstGeom>
            <a:solidFill>
              <a:srgbClr val="9AA0A6"/>
            </a:solidFill>
            <a:ln w="12700">
              <a:solidFill>
                <a:srgbClr val="101418"/>
              </a:solidFill>
            </a:ln>
          </p:spPr>
          <p:txBody>
            <a:bodyPr rtlCol="0" anchor="ctr"/>
            <a:lstStyle/>
            <a:p>
              <a:pPr algn="ctr"/>
            </a:p>
          </p:txBody>
        </p:sp>
        <p:sp>
          <p:nvSpPr>
            <p:cNvPr id="34" name="Rectangle 33"/>
            <p:cNvSpPr/>
            <p:nvPr/>
          </p:nvSpPr>
          <p:spPr>
            <a:xfrm>
              <a:off x="6629400" y="4251960"/>
              <a:ext cx="146304" cy="411480"/>
            </a:xfrm>
            <a:prstGeom prst="rect">
              <a:avLst/>
            </a:prstGeom>
            <a:solidFill>
              <a:srgbClr val="F28C28"/>
            </a:solidFill>
            <a:ln>
              <a:noFill/>
            </a:ln>
          </p:spPr>
          <p:txBody>
            <a:bodyPr rtlCol="0" anchor="ctr"/>
            <a:lstStyle/>
            <a:p>
              <a:pPr algn="ctr"/>
            </a:p>
          </p:txBody>
        </p:sp>
        <p:cxnSp>
          <p:nvCxnSpPr>
            <p:cNvPr id="35" name="Connector 34"/>
            <p:cNvCxnSpPr/>
            <p:nvPr/>
          </p:nvCxnSpPr>
          <p:spPr>
            <a:xfrm>
              <a:off x="5852160" y="4457700"/>
              <a:ext cx="777240" cy="0"/>
            </a:xfrm>
            <a:prstGeom prst="line">
              <a:avLst/>
            </a:prstGeom>
            <a:ln w="50800">
              <a:solidFill>
                <a:srgbClr val="E8E8E8"/>
              </a:solidFill>
            </a:ln>
          </p:spPr>
        </p:cxnSp>
        <p:sp>
          <p:nvSpPr>
            <p:cNvPr id="36" name="Oval 35"/>
            <p:cNvSpPr/>
            <p:nvPr/>
          </p:nvSpPr>
          <p:spPr>
            <a:xfrm>
              <a:off x="2770632" y="4032504"/>
              <a:ext cx="950976" cy="950976"/>
            </a:xfrm>
            <a:prstGeom prst="ellipse">
              <a:avLst/>
            </a:prstGeom>
            <a:solidFill>
              <a:srgbClr val="1B1D21"/>
            </a:solidFill>
            <a:ln w="38100">
              <a:solidFill>
                <a:srgbClr val="9AA0A6"/>
              </a:solidFill>
            </a:ln>
          </p:spPr>
          <p:txBody>
            <a:bodyPr rtlCol="0" anchor="ctr"/>
            <a:lstStyle/>
            <a:p>
              <a:pPr algn="ctr"/>
            </a:p>
          </p:txBody>
        </p:sp>
        <p:sp>
          <p:nvSpPr>
            <p:cNvPr id="37" name="Oval 36"/>
            <p:cNvSpPr/>
            <p:nvPr/>
          </p:nvSpPr>
          <p:spPr>
            <a:xfrm>
              <a:off x="3172968" y="4434840"/>
              <a:ext cx="146304" cy="146304"/>
            </a:xfrm>
            <a:prstGeom prst="ellipse">
              <a:avLst/>
            </a:prstGeom>
            <a:solidFill>
              <a:srgbClr val="9AA0A6"/>
            </a:solidFill>
            <a:ln>
              <a:noFill/>
            </a:ln>
          </p:spPr>
          <p:txBody>
            <a:bodyPr rtlCol="0" anchor="ctr"/>
            <a:lstStyle/>
            <a:p>
              <a:pPr algn="ctr"/>
            </a:p>
          </p:txBody>
        </p:sp>
        <p:sp>
          <p:nvSpPr>
            <p:cNvPr id="38" name="Oval 37"/>
            <p:cNvSpPr/>
            <p:nvPr/>
          </p:nvSpPr>
          <p:spPr>
            <a:xfrm>
              <a:off x="3867912" y="4032504"/>
              <a:ext cx="950976" cy="950976"/>
            </a:xfrm>
            <a:prstGeom prst="ellipse">
              <a:avLst/>
            </a:prstGeom>
            <a:solidFill>
              <a:srgbClr val="1B1D21"/>
            </a:solidFill>
            <a:ln w="38100">
              <a:solidFill>
                <a:srgbClr val="9AA0A6"/>
              </a:solidFill>
            </a:ln>
          </p:spPr>
          <p:txBody>
            <a:bodyPr rtlCol="0" anchor="ctr"/>
            <a:lstStyle/>
            <a:p>
              <a:pPr algn="ctr"/>
            </a:p>
          </p:txBody>
        </p:sp>
        <p:sp>
          <p:nvSpPr>
            <p:cNvPr id="39" name="Oval 38"/>
            <p:cNvSpPr/>
            <p:nvPr/>
          </p:nvSpPr>
          <p:spPr>
            <a:xfrm>
              <a:off x="4270248" y="4434840"/>
              <a:ext cx="146304" cy="146304"/>
            </a:xfrm>
            <a:prstGeom prst="ellipse">
              <a:avLst/>
            </a:prstGeom>
            <a:solidFill>
              <a:srgbClr val="9AA0A6"/>
            </a:solidFill>
            <a:ln>
              <a:noFill/>
            </a:ln>
          </p:spPr>
          <p:txBody>
            <a:bodyPr rtlCol="0" anchor="ctr"/>
            <a:lstStyle/>
            <a:p>
              <a:pPr algn="ctr"/>
            </a:p>
          </p:txBody>
        </p:sp>
        <p:sp>
          <p:nvSpPr>
            <p:cNvPr id="40" name="Oval 39"/>
            <p:cNvSpPr/>
            <p:nvPr/>
          </p:nvSpPr>
          <p:spPr>
            <a:xfrm>
              <a:off x="4965192" y="4032504"/>
              <a:ext cx="950976" cy="950976"/>
            </a:xfrm>
            <a:prstGeom prst="ellipse">
              <a:avLst/>
            </a:prstGeom>
            <a:solidFill>
              <a:srgbClr val="1B1D21"/>
            </a:solidFill>
            <a:ln w="38100">
              <a:solidFill>
                <a:srgbClr val="9AA0A6"/>
              </a:solidFill>
            </a:ln>
          </p:spPr>
          <p:txBody>
            <a:bodyPr rtlCol="0" anchor="ctr"/>
            <a:lstStyle/>
            <a:p>
              <a:pPr algn="ctr"/>
            </a:p>
          </p:txBody>
        </p:sp>
        <p:sp>
          <p:nvSpPr>
            <p:cNvPr id="41" name="Oval 40"/>
            <p:cNvSpPr/>
            <p:nvPr/>
          </p:nvSpPr>
          <p:spPr>
            <a:xfrm>
              <a:off x="5367528" y="4434840"/>
              <a:ext cx="146304" cy="146304"/>
            </a:xfrm>
            <a:prstGeom prst="ellipse">
              <a:avLst/>
            </a:prstGeom>
            <a:solidFill>
              <a:srgbClr val="9AA0A6"/>
            </a:solidFill>
            <a:ln>
              <a:noFill/>
            </a:ln>
          </p:spPr>
          <p:txBody>
            <a:bodyPr rtlCol="0" anchor="ctr"/>
            <a:lstStyle/>
            <a:p>
              <a:pPr algn="ctr"/>
            </a:p>
          </p:txBody>
        </p:sp>
        <p:cxnSp>
          <p:nvCxnSpPr>
            <p:cNvPr id="42" name="Connector 41"/>
            <p:cNvCxnSpPr/>
            <p:nvPr/>
          </p:nvCxnSpPr>
          <p:spPr>
            <a:xfrm>
              <a:off x="3493008" y="4416552"/>
              <a:ext cx="2194560" cy="0"/>
            </a:xfrm>
            <a:prstGeom prst="line">
              <a:avLst/>
            </a:prstGeom>
            <a:ln w="76200">
              <a:solidFill>
                <a:srgbClr val="E8E8E8"/>
              </a:solidFill>
            </a:ln>
          </p:spPr>
        </p:cxnSp>
        <p:cxnSp>
          <p:nvCxnSpPr>
            <p:cNvPr id="43" name="Connector 42"/>
            <p:cNvCxnSpPr/>
            <p:nvPr/>
          </p:nvCxnSpPr>
          <p:spPr>
            <a:xfrm flipH="1" flipV="1">
              <a:off x="4590288" y="4416552"/>
              <a:ext cx="1261872" cy="41148"/>
            </a:xfrm>
            <a:prstGeom prst="line">
              <a:avLst/>
            </a:prstGeom>
            <a:ln w="76200">
              <a:solidFill>
                <a:srgbClr val="F2C14E"/>
              </a:solidFill>
            </a:ln>
          </p:spPr>
        </p:cxnSp>
        <p:sp>
          <p:nvSpPr>
            <p:cNvPr id="44" name="Oval 43"/>
            <p:cNvSpPr/>
            <p:nvPr/>
          </p:nvSpPr>
          <p:spPr>
            <a:xfrm>
              <a:off x="3438144" y="4361688"/>
              <a:ext cx="109728" cy="109728"/>
            </a:xfrm>
            <a:prstGeom prst="ellipse">
              <a:avLst/>
            </a:prstGeom>
            <a:solidFill>
              <a:srgbClr val="101418"/>
            </a:solidFill>
            <a:ln>
              <a:noFill/>
            </a:ln>
          </p:spPr>
          <p:txBody>
            <a:bodyPr rtlCol="0" anchor="ctr"/>
            <a:lstStyle/>
            <a:p>
              <a:pPr algn="ctr"/>
            </a:p>
          </p:txBody>
        </p:sp>
        <p:sp>
          <p:nvSpPr>
            <p:cNvPr id="45" name="Oval 44"/>
            <p:cNvSpPr/>
            <p:nvPr/>
          </p:nvSpPr>
          <p:spPr>
            <a:xfrm>
              <a:off x="4535424" y="4361688"/>
              <a:ext cx="109728" cy="109728"/>
            </a:xfrm>
            <a:prstGeom prst="ellipse">
              <a:avLst/>
            </a:prstGeom>
            <a:solidFill>
              <a:srgbClr val="101418"/>
            </a:solidFill>
            <a:ln>
              <a:noFill/>
            </a:ln>
          </p:spPr>
          <p:txBody>
            <a:bodyPr rtlCol="0" anchor="ctr"/>
            <a:lstStyle/>
            <a:p>
              <a:pPr algn="ctr"/>
            </a:p>
          </p:txBody>
        </p:sp>
        <p:sp>
          <p:nvSpPr>
            <p:cNvPr id="46" name="Oval 45"/>
            <p:cNvSpPr/>
            <p:nvPr/>
          </p:nvSpPr>
          <p:spPr>
            <a:xfrm>
              <a:off x="5632704" y="4361688"/>
              <a:ext cx="109728" cy="109728"/>
            </a:xfrm>
            <a:prstGeom prst="ellipse">
              <a:avLst/>
            </a:prstGeom>
            <a:solidFill>
              <a:srgbClr val="101418"/>
            </a:solidFill>
            <a:ln>
              <a:noFill/>
            </a:ln>
          </p:spPr>
          <p:txBody>
            <a:bodyPr rtlCol="0" anchor="ctr"/>
            <a:lstStyle/>
            <a:p>
              <a:pPr algn="ctr"/>
            </a:p>
          </p:txBody>
        </p:sp>
        <p:sp>
          <p:nvSpPr>
            <p:cNvPr id="47" name="Freeform 46"/>
            <p:cNvSpPr/>
            <p:nvPr/>
          </p:nvSpPr>
          <p:spPr>
            <a:xfrm>
              <a:off x="7264098" y="2142067"/>
              <a:ext cx="508229" cy="2040344"/>
            </a:xfrm>
            <a:custGeom>
              <a:avLst/>
              <a:gdLst/>
              <a:ahLst/>
              <a:cxnLst/>
              <a:rect l="l" t="t" r="r" b="b"/>
              <a:pathLst>
                <a:path w="508229" h="2040344">
                  <a:moveTo>
                    <a:pt x="215861" y="2040344"/>
                  </a:moveTo>
                  <a:lnTo>
                    <a:pt x="267135" y="1974276"/>
                  </a:lnTo>
                  <a:lnTo>
                    <a:pt x="314437" y="1900436"/>
                  </a:lnTo>
                  <a:lnTo>
                    <a:pt x="357347" y="1819484"/>
                  </a:lnTo>
                  <a:lnTo>
                    <a:pt x="395480" y="1732142"/>
                  </a:lnTo>
                  <a:lnTo>
                    <a:pt x="428495" y="1639191"/>
                  </a:lnTo>
                  <a:lnTo>
                    <a:pt x="456099" y="1541460"/>
                  </a:lnTo>
                  <a:lnTo>
                    <a:pt x="478043" y="1439823"/>
                  </a:lnTo>
                  <a:lnTo>
                    <a:pt x="494134" y="1335188"/>
                  </a:lnTo>
                  <a:lnTo>
                    <a:pt x="504226" y="1228488"/>
                  </a:lnTo>
                  <a:lnTo>
                    <a:pt x="508229" y="1120677"/>
                  </a:lnTo>
                  <a:lnTo>
                    <a:pt x="506109" y="1012717"/>
                  </a:lnTo>
                  <a:lnTo>
                    <a:pt x="497883" y="905573"/>
                  </a:lnTo>
                  <a:lnTo>
                    <a:pt x="483626" y="800202"/>
                  </a:lnTo>
                  <a:lnTo>
                    <a:pt x="463464" y="697544"/>
                  </a:lnTo>
                  <a:lnTo>
                    <a:pt x="437577" y="598517"/>
                  </a:lnTo>
                  <a:lnTo>
                    <a:pt x="406198" y="504005"/>
                  </a:lnTo>
                  <a:lnTo>
                    <a:pt x="369605" y="414851"/>
                  </a:lnTo>
                  <a:lnTo>
                    <a:pt x="328127" y="331853"/>
                  </a:lnTo>
                  <a:lnTo>
                    <a:pt x="282133" y="255752"/>
                  </a:lnTo>
                  <a:lnTo>
                    <a:pt x="232033" y="187226"/>
                  </a:lnTo>
                  <a:lnTo>
                    <a:pt x="178277" y="126889"/>
                  </a:lnTo>
                  <a:lnTo>
                    <a:pt x="121343" y="75278"/>
                  </a:lnTo>
                  <a:lnTo>
                    <a:pt x="61740" y="32856"/>
                  </a:lnTo>
                  <a:lnTo>
                    <a:pt x="0" y="0"/>
                  </a:lnTo>
                </a:path>
              </a:pathLst>
            </a:custGeom>
            <a:noFill/>
            <a:ln w="31750">
              <a:solidFill>
                <a:srgbClr val="F28C28"/>
              </a:solidFill>
              <a:tailEnd type="triangle" w="lg" len="lg"/>
            </a:ln>
          </p:spPr>
          <p:txBody>
            <a:bodyPr rtlCol="0" anchor="ctr"/>
            <a:lstStyle/>
            <a:p>
              <a:pPr algn="ctr"/>
            </a:p>
          </p:txBody>
        </p:sp>
      </p:grpSp>
      <p:sp>
        <p:nvSpPr>
          <p:cNvPr id="48" name="Badge 1"/>
          <p:cNvSpPr/>
          <p:nvPr/>
        </p:nvSpPr>
        <p:spPr>
          <a:xfrm>
            <a:off x="676656" y="424281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1</a:t>
            </a:r>
          </a:p>
        </p:txBody>
      </p:sp>
      <p:sp>
        <p:nvSpPr>
          <p:cNvPr id="49" name="TextBox 48"/>
          <p:cNvSpPr txBox="1"/>
          <p:nvPr/>
        </p:nvSpPr>
        <p:spPr>
          <a:xfrm>
            <a:off x="1124712" y="425196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Fire</a:t>
            </a:r>
          </a:p>
        </p:txBody>
      </p:sp>
      <p:sp>
        <p:nvSpPr>
          <p:cNvPr id="50" name="Badge 2"/>
          <p:cNvSpPr/>
          <p:nvPr/>
        </p:nvSpPr>
        <p:spPr>
          <a:xfrm>
            <a:off x="2139696" y="186537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2</a:t>
            </a:r>
          </a:p>
        </p:txBody>
      </p:sp>
      <p:sp>
        <p:nvSpPr>
          <p:cNvPr id="51" name="TextBox 50"/>
          <p:cNvSpPr txBox="1"/>
          <p:nvPr/>
        </p:nvSpPr>
        <p:spPr>
          <a:xfrm>
            <a:off x="2587752" y="187452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Steam</a:t>
            </a:r>
          </a:p>
        </p:txBody>
      </p:sp>
      <p:sp>
        <p:nvSpPr>
          <p:cNvPr id="52" name="Badge 3"/>
          <p:cNvSpPr/>
          <p:nvPr/>
        </p:nvSpPr>
        <p:spPr>
          <a:xfrm>
            <a:off x="6345936" y="520293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3</a:t>
            </a:r>
          </a:p>
        </p:txBody>
      </p:sp>
      <p:sp>
        <p:nvSpPr>
          <p:cNvPr id="53" name="TextBox 52"/>
          <p:cNvSpPr txBox="1"/>
          <p:nvPr/>
        </p:nvSpPr>
        <p:spPr>
          <a:xfrm>
            <a:off x="6793992" y="521208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Piston</a:t>
            </a:r>
          </a:p>
        </p:txBody>
      </p:sp>
      <p:sp>
        <p:nvSpPr>
          <p:cNvPr id="54" name="Badge 4"/>
          <p:cNvSpPr/>
          <p:nvPr/>
        </p:nvSpPr>
        <p:spPr>
          <a:xfrm>
            <a:off x="3877056" y="520293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4</a:t>
            </a:r>
          </a:p>
        </p:txBody>
      </p:sp>
      <p:sp>
        <p:nvSpPr>
          <p:cNvPr id="55" name="TextBox 54"/>
          <p:cNvSpPr txBox="1"/>
          <p:nvPr/>
        </p:nvSpPr>
        <p:spPr>
          <a:xfrm>
            <a:off x="4325112" y="521208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Wheels</a:t>
            </a:r>
          </a:p>
        </p:txBody>
      </p:sp>
      <p:sp>
        <p:nvSpPr>
          <p:cNvPr id="56" name="TextBox 55"/>
          <p:cNvSpPr txBox="1"/>
          <p:nvPr/>
        </p:nvSpPr>
        <p:spPr>
          <a:xfrm>
            <a:off x="7863840" y="2514600"/>
            <a:ext cx="1097280" cy="365760"/>
          </a:xfrm>
          <a:prstGeom prst="rect">
            <a:avLst/>
          </a:prstGeom>
          <a:noFill/>
        </p:spPr>
        <p:txBody>
          <a:bodyPr wrap="square" lIns="0" tIns="0" rIns="0" bIns="0" anchor="ctr">
            <a:noAutofit/>
          </a:bodyPr>
          <a:lstStyle/>
          <a:p>
            <a:pPr algn="l"/>
            <a:r>
              <a:rPr sz="1600" b="0" i="0" lang="en-GB">
                <a:solidFill>
                  <a:srgbClr val="F2F2F2"/>
                </a:solidFill>
                <a:latin typeface="Arial"/>
              </a:rPr>
              <a:t>Exhaust</a:t>
            </a:r>
          </a:p>
        </p:txBody>
      </p:sp>
      <p:pic>
        <p:nvPicPr>
          <p:cNvPr id="57" name="Picture P03" descr="Outside valve gear, rods and crosshead on the side of BR Standard 9F No. 92203."/>
          <p:cNvPicPr>
            <a:picLocks noChangeAspect="1"/>
          </p:cNvPicPr>
          <p:nvPr/>
        </p:nvPicPr>
        <p:blipFill>
          <a:blip r:embed="rId2"/>
          <a:srcRect l="31" r="31"/>
          <a:stretch>
            <a:fillRect/>
          </a:stretch>
        </p:blipFill>
        <p:spPr>
          <a:xfrm>
            <a:off x="8348472" y="3063240"/>
            <a:ext cx="3291840" cy="2194560"/>
          </a:xfrm>
          <a:prstGeom prst="roundRect">
            <a:avLst>
              <a:gd name="adj" fmla="val 3333"/>
            </a:avLst>
          </a:prstGeom>
        </p:spPr>
      </p:pic>
      <p:sp>
        <p:nvSpPr>
          <p:cNvPr id="58" name="Credit"/>
          <p:cNvSpPr txBox="1"/>
          <p:nvPr/>
        </p:nvSpPr>
        <p:spPr>
          <a:xfrm>
            <a:off x="8348472" y="5285232"/>
            <a:ext cx="3291840" cy="182880"/>
          </a:xfrm>
          <a:prstGeom prst="rect">
            <a:avLst/>
          </a:prstGeom>
          <a:noFill/>
        </p:spPr>
        <p:txBody>
          <a:bodyPr wrap="square" lIns="0" tIns="0" rIns="0" bIns="0" anchor="t">
            <a:noAutofit/>
          </a:bodyPr>
          <a:lstStyle/>
          <a:p>
            <a:pPr algn="l"/>
            <a:r>
              <a:rPr sz="1000" b="0" i="0" lang="en-GB">
                <a:solidFill>
                  <a:srgbClr val="A9B0B8"/>
                </a:solidFill>
                <a:latin typeface="Arial"/>
              </a:rPr>
              <a:t>Photo: Ben Salter, CC BY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Coal heats water. Steam pushes pistons. Rods turn the wheels.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7</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138"/>
                                  </p:stCondLst>
                                  <p:childTnLst>
                                    <p:set>
                                      <p:cBhvr>
                                        <p:cTn id="9" dur="1" fill="hold">
                                          <p:stCondLst>
                                            <p:cond delay="0"/>
                                          </p:stCondLst>
                                        </p:cTn>
                                        <p:tgtEl>
                                          <p:spTgt spid="48"/>
                                        </p:tgtEl>
                                        <p:attrNameLst>
                                          <p:attrName>style.visibility</p:attrName>
                                        </p:attrNameLst>
                                      </p:cBhvr>
                                      <p:to>
                                        <p:strVal val="visible"/>
                                      </p:to>
                                    </p:set>
                                    <p:animEffect transition="in" filter="fade">
                                      <p:cBhvr>
                                        <p:cTn id="10" dur="500"/>
                                        <p:tgtEl>
                                          <p:spTgt spid="48"/>
                                        </p:tgtEl>
                                      </p:cBhvr>
                                    </p:animEffect>
                                  </p:childTnLst>
                                </p:cTn>
                              </p:par>
                              <p:par>
                                <p:cTn id="11" presetID="10" presetClass="entr" presetSubtype="0" fill="hold" nodeType="withEffect">
                                  <p:stCondLst>
                                    <p:cond delay="276"/>
                                  </p:stCondLst>
                                  <p:childTnLst>
                                    <p:set>
                                      <p:cBhvr>
                                        <p:cTn id="12" dur="1" fill="hold">
                                          <p:stCondLst>
                                            <p:cond delay="0"/>
                                          </p:stCondLst>
                                        </p:cTn>
                                        <p:tgtEl>
                                          <p:spTgt spid="49"/>
                                        </p:tgtEl>
                                        <p:attrNameLst>
                                          <p:attrName>style.visibility</p:attrName>
                                        </p:attrNameLst>
                                      </p:cBhvr>
                                      <p:to>
                                        <p:strVal val="visible"/>
                                      </p:to>
                                    </p:set>
                                    <p:animEffect transition="in" filter="fade">
                                      <p:cBhvr>
                                        <p:cTn id="13" dur="500"/>
                                        <p:tgtEl>
                                          <p:spTgt spid="49"/>
                                        </p:tgtEl>
                                      </p:cBhvr>
                                    </p:animEffect>
                                  </p:childTnLst>
                                </p:cTn>
                              </p:par>
                              <p:par>
                                <p:cTn id="14" presetID="10" presetClass="entr" presetSubtype="0" fill="hold" nodeType="withEffect">
                                  <p:stCondLst>
                                    <p:cond delay="414"/>
                                  </p:stCondLst>
                                  <p:childTnLst>
                                    <p:set>
                                      <p:cBhvr>
                                        <p:cTn id="15" dur="1" fill="hold">
                                          <p:stCondLst>
                                            <p:cond delay="0"/>
                                          </p:stCondLst>
                                        </p:cTn>
                                        <p:tgtEl>
                                          <p:spTgt spid="50"/>
                                        </p:tgtEl>
                                        <p:attrNameLst>
                                          <p:attrName>style.visibility</p:attrName>
                                        </p:attrNameLst>
                                      </p:cBhvr>
                                      <p:to>
                                        <p:strVal val="visible"/>
                                      </p:to>
                                    </p:set>
                                    <p:animEffect transition="in" filter="fade">
                                      <p:cBhvr>
                                        <p:cTn id="16" dur="500"/>
                                        <p:tgtEl>
                                          <p:spTgt spid="50"/>
                                        </p:tgtEl>
                                      </p:cBhvr>
                                    </p:animEffect>
                                  </p:childTnLst>
                                </p:cTn>
                              </p:par>
                              <p:par>
                                <p:cTn id="17" presetID="10" presetClass="entr" presetSubtype="0" fill="hold" nodeType="withEffect">
                                  <p:stCondLst>
                                    <p:cond delay="552"/>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500"/>
                                        <p:tgtEl>
                                          <p:spTgt spid="51"/>
                                        </p:tgtEl>
                                      </p:cBhvr>
                                    </p:animEffect>
                                  </p:childTnLst>
                                </p:cTn>
                              </p:par>
                              <p:par>
                                <p:cTn id="20" presetID="10" presetClass="entr" presetSubtype="0" fill="hold" nodeType="withEffect">
                                  <p:stCondLst>
                                    <p:cond delay="690"/>
                                  </p:stCondLst>
                                  <p:childTnLst>
                                    <p:set>
                                      <p:cBhvr>
                                        <p:cTn id="21" dur="1" fill="hold">
                                          <p:stCondLst>
                                            <p:cond delay="0"/>
                                          </p:stCondLst>
                                        </p:cTn>
                                        <p:tgtEl>
                                          <p:spTgt spid="52"/>
                                        </p:tgtEl>
                                        <p:attrNameLst>
                                          <p:attrName>style.visibility</p:attrName>
                                        </p:attrNameLst>
                                      </p:cBhvr>
                                      <p:to>
                                        <p:strVal val="visible"/>
                                      </p:to>
                                    </p:set>
                                    <p:animEffect transition="in" filter="fade">
                                      <p:cBhvr>
                                        <p:cTn id="22" dur="500"/>
                                        <p:tgtEl>
                                          <p:spTgt spid="52"/>
                                        </p:tgtEl>
                                      </p:cBhvr>
                                    </p:animEffect>
                                  </p:childTnLst>
                                </p:cTn>
                              </p:par>
                              <p:par>
                                <p:cTn id="23" presetID="10" presetClass="entr" presetSubtype="0" fill="hold" nodeType="withEffect">
                                  <p:stCondLst>
                                    <p:cond delay="828"/>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500"/>
                                        <p:tgtEl>
                                          <p:spTgt spid="53"/>
                                        </p:tgtEl>
                                      </p:cBhvr>
                                    </p:animEffect>
                                  </p:childTnLst>
                                </p:cTn>
                              </p:par>
                              <p:par>
                                <p:cTn id="26" presetID="10" presetClass="entr" presetSubtype="0" fill="hold" nodeType="withEffect">
                                  <p:stCondLst>
                                    <p:cond delay="966"/>
                                  </p:stCondLst>
                                  <p:childTnLst>
                                    <p:set>
                                      <p:cBhvr>
                                        <p:cTn id="27" dur="1" fill="hold">
                                          <p:stCondLst>
                                            <p:cond delay="0"/>
                                          </p:stCondLst>
                                        </p:cTn>
                                        <p:tgtEl>
                                          <p:spTgt spid="54"/>
                                        </p:tgtEl>
                                        <p:attrNameLst>
                                          <p:attrName>style.visibility</p:attrName>
                                        </p:attrNameLst>
                                      </p:cBhvr>
                                      <p:to>
                                        <p:strVal val="visible"/>
                                      </p:to>
                                    </p:set>
                                    <p:animEffect transition="in" filter="fade">
                                      <p:cBhvr>
                                        <p:cTn id="28" dur="500"/>
                                        <p:tgtEl>
                                          <p:spTgt spid="54"/>
                                        </p:tgtEl>
                                      </p:cBhvr>
                                    </p:animEffect>
                                  </p:childTnLst>
                                </p:cTn>
                              </p:par>
                              <p:par>
                                <p:cTn id="29" presetID="10" presetClass="entr" presetSubtype="0" fill="hold" nodeType="withEffect">
                                  <p:stCondLst>
                                    <p:cond delay="1104"/>
                                  </p:stCondLst>
                                  <p:childTnLst>
                                    <p:set>
                                      <p:cBhvr>
                                        <p:cTn id="30" dur="1" fill="hold">
                                          <p:stCondLst>
                                            <p:cond delay="0"/>
                                          </p:stCondLst>
                                        </p:cTn>
                                        <p:tgtEl>
                                          <p:spTgt spid="55"/>
                                        </p:tgtEl>
                                        <p:attrNameLst>
                                          <p:attrName>style.visibility</p:attrName>
                                        </p:attrNameLst>
                                      </p:cBhvr>
                                      <p:to>
                                        <p:strVal val="visible"/>
                                      </p:to>
                                    </p:set>
                                    <p:animEffect transition="in" filter="fade">
                                      <p:cBhvr>
                                        <p:cTn id="31" dur="500"/>
                                        <p:tgtEl>
                                          <p:spTgt spid="55"/>
                                        </p:tgtEl>
                                      </p:cBhvr>
                                    </p:animEffect>
                                  </p:childTnLst>
                                </p:cTn>
                              </p:par>
                              <p:par>
                                <p:cTn id="32" presetID="10" presetClass="entr" presetSubtype="0" fill="hold" nodeType="withEffect">
                                  <p:stCondLst>
                                    <p:cond delay="1242"/>
                                  </p:stCondLst>
                                  <p:childTnLst>
                                    <p:set>
                                      <p:cBhvr>
                                        <p:cTn id="33" dur="1" fill="hold">
                                          <p:stCondLst>
                                            <p:cond delay="0"/>
                                          </p:stCondLst>
                                        </p:cTn>
                                        <p:tgtEl>
                                          <p:spTgt spid="56"/>
                                        </p:tgtEl>
                                        <p:attrNameLst>
                                          <p:attrName>style.visibility</p:attrName>
                                        </p:attrNameLst>
                                      </p:cBhvr>
                                      <p:to>
                                        <p:strVal val="visible"/>
                                      </p:to>
                                    </p:set>
                                    <p:animEffect transition="in" filter="fade">
                                      <p:cBhvr>
                                        <p:cTn id="34" dur="500"/>
                                        <p:tgtEl>
                                          <p:spTgt spid="56"/>
                                        </p:tgtEl>
                                      </p:cBhvr>
                                    </p:animEffect>
                                  </p:childTnLst>
                                </p:cTn>
                              </p:par>
                              <p:par>
                                <p:cTn id="35" presetID="10" presetClass="entr" presetSubtype="0" fill="hold" nodeType="withEffect">
                                  <p:stCondLst>
                                    <p:cond delay="138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500"/>
                                        <p:tgtEl>
                                          <p:spTgt spid="57"/>
                                        </p:tgtEl>
                                      </p:cBhvr>
                                    </p:animEffect>
                                  </p:childTnLst>
                                </p:cTn>
                              </p:par>
                              <p:par>
                                <p:cTn id="38" presetID="10" presetClass="entr" presetSubtype="0" fill="hold" nodeType="withEffect">
                                  <p:stCondLst>
                                    <p:cond delay="1518"/>
                                  </p:stCondLst>
                                  <p:childTnLst>
                                    <p:set>
                                      <p:cBhvr>
                                        <p:cTn id="39" dur="1" fill="hold">
                                          <p:stCondLst>
                                            <p:cond delay="0"/>
                                          </p:stCondLst>
                                        </p:cTn>
                                        <p:tgtEl>
                                          <p:spTgt spid="4"/>
                                        </p:tgtEl>
                                        <p:attrNameLst>
                                          <p:attrName>style.visibility</p:attrName>
                                        </p:attrNameLst>
                                      </p:cBhvr>
                                      <p:to>
                                        <p:strVal val="visible"/>
                                      </p:to>
                                    </p:set>
                                    <p:animEffect transition="in" filter="fade">
                                      <p:cBhvr>
                                        <p:cTn id="40" dur="500"/>
                                        <p:tgtEl>
                                          <p:spTgt spid="4"/>
                                        </p:tgtEl>
                                      </p:cBhvr>
                                    </p:animEffect>
                                  </p:childTnLst>
                                </p:cTn>
                              </p:par>
                              <p:par>
                                <p:cTn id="41" presetID="10" presetClass="entr" presetSubtype="0" fill="hold" nodeType="withEffect">
                                  <p:stCondLst>
                                    <p:cond delay="1656"/>
                                  </p:stCondLst>
                                  <p:childTnLst>
                                    <p:set>
                                      <p:cBhvr>
                                        <p:cTn id="42" dur="1" fill="hold">
                                          <p:stCondLst>
                                            <p:cond delay="0"/>
                                          </p:stCondLst>
                                        </p:cTn>
                                        <p:tgtEl>
                                          <p:spTgt spid="5"/>
                                        </p:tgtEl>
                                        <p:attrNameLst>
                                          <p:attrName>style.visibility</p:attrName>
                                        </p:attrNameLst>
                                      </p:cBhvr>
                                      <p:to>
                                        <p:strVal val="visible"/>
                                      </p:to>
                                    </p:set>
                                    <p:animEffect transition="in" filter="fade">
                                      <p:cBhvr>
                                        <p:cTn id="4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Coal, water and steam</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TextBox 7"/>
          <p:cNvSpPr txBox="1"/>
          <p:nvPr/>
        </p:nvSpPr>
        <p:spPr>
          <a:xfrm>
            <a:off x="777240" y="1298448"/>
            <a:ext cx="2743200" cy="384048"/>
          </a:xfrm>
          <a:prstGeom prst="rect">
            <a:avLst/>
          </a:prstGeom>
          <a:noFill/>
        </p:spPr>
        <p:txBody>
          <a:bodyPr wrap="square" lIns="0" tIns="0" rIns="0" bIns="0" anchor="t">
            <a:noAutofit/>
          </a:bodyPr>
          <a:lstStyle/>
          <a:p>
            <a:pPr algn="l"/>
            <a:r>
              <a:rPr sz="2000" b="1" i="0" lang="en-GB">
                <a:solidFill>
                  <a:srgbClr val="F28C28"/>
                </a:solidFill>
                <a:latin typeface="Arial"/>
              </a:rPr>
              <a:t>Before</a:t>
            </a:r>
          </a:p>
        </p:txBody>
      </p:sp>
      <p:sp>
        <p:nvSpPr>
          <p:cNvPr id="9" name="TextBox 8"/>
          <p:cNvSpPr txBox="1"/>
          <p:nvPr/>
        </p:nvSpPr>
        <p:spPr>
          <a:xfrm>
            <a:off x="7178040" y="1298448"/>
            <a:ext cx="2743200" cy="384048"/>
          </a:xfrm>
          <a:prstGeom prst="rect">
            <a:avLst/>
          </a:prstGeom>
          <a:noFill/>
        </p:spPr>
        <p:txBody>
          <a:bodyPr wrap="square" lIns="0" tIns="0" rIns="0" bIns="0" anchor="t">
            <a:noAutofit/>
          </a:bodyPr>
          <a:lstStyle/>
          <a:p>
            <a:pPr algn="l"/>
            <a:r>
              <a:rPr sz="2000" b="1" i="0" lang="en-GB">
                <a:solidFill>
                  <a:srgbClr val="F28C28"/>
                </a:solidFill>
                <a:latin typeface="Arial"/>
              </a:rPr>
              <a:t>After</a:t>
            </a:r>
          </a:p>
        </p:txBody>
      </p:sp>
      <p:grpSp>
        <p:nvGrpSpPr>
          <p:cNvPr id="10" name="Coal and water run down" descr="Before a long trip the coal and water tanks are both nearly full. After it, coal is just under half full but water is almost empty, because steam leaves the chimney and is not used again."/>
          <p:cNvGrpSpPr/>
          <p:nvPr/>
        </p:nvGrpSpPr>
        <p:grpSpPr>
          <a:xfrm>
            <a:off x="548640" y="1689811"/>
            <a:ext cx="11091672" cy="3476549"/>
            <a:chOff x="548640" y="1689811"/>
            <a:chExt cx="11091672" cy="3476549"/>
          </a:xfrm>
        </p:grpSpPr>
        <p:sp>
          <p:nvSpPr>
            <p:cNvPr id="11" name="Rounded Rectangle 10"/>
            <p:cNvSpPr/>
            <p:nvPr/>
          </p:nvSpPr>
          <p:spPr>
            <a:xfrm>
              <a:off x="548640" y="1737360"/>
              <a:ext cx="4206240" cy="3429000"/>
            </a:xfrm>
            <a:prstGeom prst="roundRect">
              <a:avLst>
                <a:gd name="adj" fmla="val 2666"/>
              </a:avLst>
            </a:prstGeom>
            <a:solidFill>
              <a:srgbClr val="2B2F36"/>
            </a:solidFill>
            <a:ln>
              <a:noFill/>
            </a:ln>
          </p:spPr>
          <p:txBody>
            <a:bodyPr rtlCol="0" anchor="ctr"/>
            <a:lstStyle/>
            <a:p>
              <a:pPr algn="ctr"/>
            </a:p>
          </p:txBody>
        </p:sp>
        <p:sp>
          <p:nvSpPr>
            <p:cNvPr id="12" name="Rounded Rectangle 11"/>
            <p:cNvSpPr/>
            <p:nvPr/>
          </p:nvSpPr>
          <p:spPr>
            <a:xfrm>
              <a:off x="6949440" y="1737360"/>
              <a:ext cx="4690872" cy="3429000"/>
            </a:xfrm>
            <a:prstGeom prst="roundRect">
              <a:avLst>
                <a:gd name="adj" fmla="val 2666"/>
              </a:avLst>
            </a:prstGeom>
            <a:solidFill>
              <a:srgbClr val="2B2F36"/>
            </a:solidFill>
            <a:ln>
              <a:noFill/>
            </a:ln>
          </p:spPr>
          <p:txBody>
            <a:bodyPr rtlCol="0" anchor="ctr"/>
            <a:lstStyle/>
            <a:p>
              <a:pPr algn="ctr"/>
            </a:p>
          </p:txBody>
        </p:sp>
        <p:sp>
          <p:nvSpPr>
            <p:cNvPr id="13" name="Rounded Rectangle 12"/>
            <p:cNvSpPr/>
            <p:nvPr/>
          </p:nvSpPr>
          <p:spPr>
            <a:xfrm>
              <a:off x="1097280" y="2514600"/>
              <a:ext cx="1463040" cy="2103120"/>
            </a:xfrm>
            <a:prstGeom prst="roundRect">
              <a:avLst>
                <a:gd name="adj" fmla="val 5000"/>
              </a:avLst>
            </a:prstGeom>
            <a:solidFill>
              <a:srgbClr val="2B2F36"/>
            </a:solidFill>
            <a:ln w="25400">
              <a:solidFill>
                <a:srgbClr val="6B7078"/>
              </a:solidFill>
            </a:ln>
          </p:spPr>
          <p:txBody>
            <a:bodyPr rtlCol="0" anchor="ctr"/>
            <a:lstStyle/>
            <a:p>
              <a:pPr algn="ctr"/>
            </a:p>
          </p:txBody>
        </p:sp>
        <p:sp>
          <p:nvSpPr>
            <p:cNvPr id="14" name="Rounded Rectangle 13"/>
            <p:cNvSpPr/>
            <p:nvPr/>
          </p:nvSpPr>
          <p:spPr>
            <a:xfrm>
              <a:off x="1133856" y="2957170"/>
              <a:ext cx="1389888" cy="1623974"/>
            </a:xfrm>
            <a:prstGeom prst="roundRect">
              <a:avLst>
                <a:gd name="adj" fmla="val 3289"/>
              </a:avLst>
            </a:prstGeom>
            <a:solidFill>
              <a:srgbClr val="1B1D21"/>
            </a:solidFill>
            <a:ln>
              <a:noFill/>
            </a:ln>
          </p:spPr>
          <p:txBody>
            <a:bodyPr rtlCol="0" anchor="ctr"/>
            <a:lstStyle/>
            <a:p>
              <a:pPr algn="ctr"/>
            </a:p>
          </p:txBody>
        </p:sp>
        <p:sp>
          <p:nvSpPr>
            <p:cNvPr id="15" name="Rounded Rectangle 14"/>
            <p:cNvSpPr/>
            <p:nvPr/>
          </p:nvSpPr>
          <p:spPr>
            <a:xfrm>
              <a:off x="2834640" y="2514600"/>
              <a:ext cx="1463040" cy="2103120"/>
            </a:xfrm>
            <a:prstGeom prst="roundRect">
              <a:avLst>
                <a:gd name="adj" fmla="val 5000"/>
              </a:avLst>
            </a:prstGeom>
            <a:solidFill>
              <a:srgbClr val="2B2F36"/>
            </a:solidFill>
            <a:ln w="25400">
              <a:solidFill>
                <a:srgbClr val="F2F2F2"/>
              </a:solidFill>
            </a:ln>
          </p:spPr>
          <p:txBody>
            <a:bodyPr rtlCol="0" anchor="ctr"/>
            <a:lstStyle/>
            <a:p>
              <a:pPr algn="ctr"/>
            </a:p>
          </p:txBody>
        </p:sp>
        <p:sp>
          <p:nvSpPr>
            <p:cNvPr id="16" name="Rounded Rectangle 15"/>
            <p:cNvSpPr/>
            <p:nvPr/>
          </p:nvSpPr>
          <p:spPr>
            <a:xfrm>
              <a:off x="2871216" y="2957170"/>
              <a:ext cx="1389888" cy="1623974"/>
            </a:xfrm>
            <a:prstGeom prst="roundRect">
              <a:avLst>
                <a:gd name="adj" fmla="val 3289"/>
              </a:avLst>
            </a:prstGeom>
            <a:solidFill>
              <a:srgbClr val="4DA3FF"/>
            </a:solidFill>
            <a:ln>
              <a:noFill/>
            </a:ln>
          </p:spPr>
          <p:txBody>
            <a:bodyPr rtlCol="0" anchor="ctr"/>
            <a:lstStyle/>
            <a:p>
              <a:pPr algn="ctr"/>
            </a:p>
          </p:txBody>
        </p:sp>
        <p:sp>
          <p:nvSpPr>
            <p:cNvPr id="17" name="Rounded Rectangle 16"/>
            <p:cNvSpPr/>
            <p:nvPr/>
          </p:nvSpPr>
          <p:spPr>
            <a:xfrm>
              <a:off x="7360920" y="2514600"/>
              <a:ext cx="1463040" cy="2103120"/>
            </a:xfrm>
            <a:prstGeom prst="roundRect">
              <a:avLst>
                <a:gd name="adj" fmla="val 5000"/>
              </a:avLst>
            </a:prstGeom>
            <a:solidFill>
              <a:srgbClr val="2B2F36"/>
            </a:solidFill>
            <a:ln w="25400">
              <a:solidFill>
                <a:srgbClr val="6B7078"/>
              </a:solidFill>
            </a:ln>
          </p:spPr>
          <p:txBody>
            <a:bodyPr rtlCol="0" anchor="ctr"/>
            <a:lstStyle/>
            <a:p>
              <a:pPr algn="ctr"/>
            </a:p>
          </p:txBody>
        </p:sp>
        <p:sp>
          <p:nvSpPr>
            <p:cNvPr id="18" name="Rounded Rectangle 17"/>
            <p:cNvSpPr/>
            <p:nvPr/>
          </p:nvSpPr>
          <p:spPr>
            <a:xfrm>
              <a:off x="7397496" y="3667658"/>
              <a:ext cx="1389888" cy="913486"/>
            </a:xfrm>
            <a:prstGeom prst="roundRect">
              <a:avLst>
                <a:gd name="adj" fmla="val 5005"/>
              </a:avLst>
            </a:prstGeom>
            <a:solidFill>
              <a:srgbClr val="1B1D21"/>
            </a:solidFill>
            <a:ln>
              <a:noFill/>
            </a:ln>
          </p:spPr>
          <p:txBody>
            <a:bodyPr rtlCol="0" anchor="ctr"/>
            <a:lstStyle/>
            <a:p>
              <a:pPr algn="ctr"/>
            </a:p>
          </p:txBody>
        </p:sp>
        <p:sp>
          <p:nvSpPr>
            <p:cNvPr id="19" name="Rounded Rectangle 18"/>
            <p:cNvSpPr/>
            <p:nvPr/>
          </p:nvSpPr>
          <p:spPr>
            <a:xfrm>
              <a:off x="9098280" y="2514600"/>
              <a:ext cx="1463040" cy="2103120"/>
            </a:xfrm>
            <a:prstGeom prst="roundRect">
              <a:avLst>
                <a:gd name="adj" fmla="val 5000"/>
              </a:avLst>
            </a:prstGeom>
            <a:solidFill>
              <a:srgbClr val="2B2F36"/>
            </a:solidFill>
            <a:ln w="25400">
              <a:solidFill>
                <a:srgbClr val="F2F2F2"/>
              </a:solidFill>
            </a:ln>
          </p:spPr>
          <p:txBody>
            <a:bodyPr rtlCol="0" anchor="ctr"/>
            <a:lstStyle/>
            <a:p>
              <a:pPr algn="ctr"/>
            </a:p>
          </p:txBody>
        </p:sp>
        <p:sp>
          <p:nvSpPr>
            <p:cNvPr id="20" name="Rounded Rectangle 19"/>
            <p:cNvSpPr/>
            <p:nvPr/>
          </p:nvSpPr>
          <p:spPr>
            <a:xfrm>
              <a:off x="9134856" y="4276649"/>
              <a:ext cx="1389888" cy="304495"/>
            </a:xfrm>
            <a:prstGeom prst="roundRect">
              <a:avLst>
                <a:gd name="adj" fmla="val 15015"/>
              </a:avLst>
            </a:prstGeom>
            <a:solidFill>
              <a:srgbClr val="4DA3FF"/>
            </a:solidFill>
            <a:ln>
              <a:noFill/>
            </a:ln>
          </p:spPr>
          <p:txBody>
            <a:bodyPr rtlCol="0" anchor="ctr"/>
            <a:lstStyle/>
            <a:p>
              <a:pPr algn="ctr"/>
            </a:p>
          </p:txBody>
        </p:sp>
        <p:sp>
          <p:nvSpPr>
            <p:cNvPr id="21" name="TextBox 20"/>
            <p:cNvSpPr txBox="1"/>
            <p:nvPr/>
          </p:nvSpPr>
          <p:spPr>
            <a:xfrm>
              <a:off x="109728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Coal</a:t>
              </a:r>
            </a:p>
          </p:txBody>
        </p:sp>
        <p:sp>
          <p:nvSpPr>
            <p:cNvPr id="22" name="TextBox 21"/>
            <p:cNvSpPr txBox="1"/>
            <p:nvPr/>
          </p:nvSpPr>
          <p:spPr>
            <a:xfrm>
              <a:off x="736092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Coal</a:t>
              </a:r>
            </a:p>
          </p:txBody>
        </p:sp>
        <p:sp>
          <p:nvSpPr>
            <p:cNvPr id="23" name="TextBox 22"/>
            <p:cNvSpPr txBox="1"/>
            <p:nvPr/>
          </p:nvSpPr>
          <p:spPr>
            <a:xfrm>
              <a:off x="283464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Water</a:t>
              </a:r>
            </a:p>
          </p:txBody>
        </p:sp>
        <p:sp>
          <p:nvSpPr>
            <p:cNvPr id="24" name="TextBox 23"/>
            <p:cNvSpPr txBox="1"/>
            <p:nvPr/>
          </p:nvSpPr>
          <p:spPr>
            <a:xfrm>
              <a:off x="909828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Water</a:t>
              </a:r>
            </a:p>
          </p:txBody>
        </p:sp>
        <p:sp>
          <p:nvSpPr>
            <p:cNvPr id="25" name="Rounded Rectangle 24"/>
            <p:cNvSpPr/>
            <p:nvPr/>
          </p:nvSpPr>
          <p:spPr>
            <a:xfrm>
              <a:off x="9098280" y="3749040"/>
              <a:ext cx="146304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EMPTY FIRST</a:t>
              </a:r>
            </a:p>
          </p:txBody>
        </p:sp>
        <p:sp>
          <p:nvSpPr>
            <p:cNvPr id="26" name="Rectangle 25"/>
            <p:cNvSpPr/>
            <p:nvPr/>
          </p:nvSpPr>
          <p:spPr>
            <a:xfrm>
              <a:off x="7269480" y="2029968"/>
              <a:ext cx="274320" cy="384048"/>
            </a:xfrm>
            <a:prstGeom prst="rect">
              <a:avLst/>
            </a:prstGeom>
            <a:solidFill>
              <a:srgbClr val="1B1D21"/>
            </a:solidFill>
            <a:ln w="19050">
              <a:solidFill>
                <a:srgbClr val="9AA0A6"/>
              </a:solidFill>
            </a:ln>
          </p:spPr>
          <p:txBody>
            <a:bodyPr rtlCol="0" anchor="ctr"/>
            <a:lstStyle/>
            <a:p>
              <a:pPr algn="ctr"/>
            </a:p>
          </p:txBody>
        </p:sp>
        <p:sp>
          <p:nvSpPr>
            <p:cNvPr id="27" name="Oval 26"/>
            <p:cNvSpPr/>
            <p:nvPr/>
          </p:nvSpPr>
          <p:spPr>
            <a:xfrm>
              <a:off x="7562088" y="1856232"/>
              <a:ext cx="274320" cy="164592"/>
            </a:xfrm>
            <a:prstGeom prst="ellipse">
              <a:avLst/>
            </a:prstGeom>
            <a:solidFill>
              <a:srgbClr val="D4D5D6"/>
            </a:solidFill>
            <a:ln>
              <a:noFill/>
            </a:ln>
          </p:spPr>
          <p:txBody>
            <a:bodyPr rtlCol="0" anchor="ctr"/>
            <a:lstStyle/>
            <a:p>
              <a:pPr algn="ctr"/>
            </a:p>
          </p:txBody>
        </p:sp>
        <p:sp>
          <p:nvSpPr>
            <p:cNvPr id="28" name="Oval 27"/>
            <p:cNvSpPr/>
            <p:nvPr/>
          </p:nvSpPr>
          <p:spPr>
            <a:xfrm>
              <a:off x="7872984" y="1742846"/>
              <a:ext cx="347472" cy="208483"/>
            </a:xfrm>
            <a:prstGeom prst="ellipse">
              <a:avLst/>
            </a:prstGeom>
            <a:solidFill>
              <a:srgbClr val="D4D5D6"/>
            </a:solidFill>
            <a:ln>
              <a:noFill/>
            </a:ln>
          </p:spPr>
          <p:txBody>
            <a:bodyPr rtlCol="0" anchor="ctr"/>
            <a:lstStyle/>
            <a:p>
              <a:pPr algn="ctr"/>
            </a:p>
          </p:txBody>
        </p:sp>
        <p:sp>
          <p:nvSpPr>
            <p:cNvPr id="29" name="Oval 28"/>
            <p:cNvSpPr/>
            <p:nvPr/>
          </p:nvSpPr>
          <p:spPr>
            <a:xfrm>
              <a:off x="8257032" y="1689811"/>
              <a:ext cx="402336" cy="241402"/>
            </a:xfrm>
            <a:prstGeom prst="ellipse">
              <a:avLst/>
            </a:prstGeom>
            <a:solidFill>
              <a:srgbClr val="D4D5D6"/>
            </a:solidFill>
            <a:ln>
              <a:noFill/>
            </a:ln>
          </p:spPr>
          <p:txBody>
            <a:bodyPr rtlCol="0" anchor="ctr"/>
            <a:lstStyle/>
            <a:p>
              <a:pPr algn="ctr"/>
            </a:p>
          </p:txBody>
        </p:sp>
        <p:sp>
          <p:nvSpPr>
            <p:cNvPr id="30" name="TextBox 29"/>
            <p:cNvSpPr txBox="1"/>
            <p:nvPr/>
          </p:nvSpPr>
          <p:spPr>
            <a:xfrm>
              <a:off x="8778240" y="1828800"/>
              <a:ext cx="2743200" cy="566928"/>
            </a:xfrm>
            <a:prstGeom prst="rect">
              <a:avLst/>
            </a:prstGeom>
            <a:noFill/>
          </p:spPr>
          <p:txBody>
            <a:bodyPr wrap="square" lIns="0" tIns="0" rIns="0" bIns="0" anchor="ctr">
              <a:noAutofit/>
            </a:bodyPr>
            <a:lstStyle/>
            <a:p>
              <a:pPr algn="l"/>
              <a:r>
                <a:rPr sz="1600" b="0" i="0" lang="en-GB">
                  <a:solidFill>
                    <a:srgbClr val="F2F2F2"/>
                  </a:solidFill>
                  <a:latin typeface="Arial"/>
                </a:rPr>
                <a:t>Steam leaves the chimney. It is not used again.</a:t>
              </a:r>
            </a:p>
          </p:txBody>
        </p:sp>
        <p:sp>
          <p:nvSpPr>
            <p:cNvPr id="31" name="Right Arrow 30"/>
            <p:cNvSpPr/>
            <p:nvPr/>
          </p:nvSpPr>
          <p:spPr>
            <a:xfrm>
              <a:off x="4983480" y="3246120"/>
              <a:ext cx="1783080" cy="594360"/>
            </a:xfrm>
            <a:prstGeom prst="rightArrow">
              <a:avLst/>
            </a:prstGeom>
            <a:solidFill>
              <a:srgbClr val="F28C28"/>
            </a:solidFill>
            <a:ln>
              <a:noFill/>
            </a:ln>
          </p:spPr>
          <p:txBody>
            <a:bodyPr rtlCol="0" anchor="ctr"/>
            <a:lstStyle/>
            <a:p>
              <a:pPr algn="ctr"/>
            </a:p>
          </p:txBody>
        </p:sp>
        <p:sp>
          <p:nvSpPr>
            <p:cNvPr id="32" name="TextBox 31"/>
            <p:cNvSpPr txBox="1"/>
            <p:nvPr/>
          </p:nvSpPr>
          <p:spPr>
            <a:xfrm>
              <a:off x="4754880" y="2697480"/>
              <a:ext cx="2240280" cy="457200"/>
            </a:xfrm>
            <a:prstGeom prst="rect">
              <a:avLst/>
            </a:prstGeom>
            <a:noFill/>
          </p:spPr>
          <p:txBody>
            <a:bodyPr wrap="square" lIns="0" tIns="0" rIns="0" bIns="0" anchor="b">
              <a:noAutofit/>
            </a:bodyPr>
            <a:lstStyle/>
            <a:p>
              <a:pPr algn="ctr"/>
              <a:r>
                <a:rPr sz="1800" b="1" i="0" lang="en-GB">
                  <a:solidFill>
                    <a:srgbClr val="F2F2F2"/>
                  </a:solidFill>
                  <a:latin typeface="Arial"/>
                </a:rPr>
                <a:t>One long trip</a:t>
              </a:r>
            </a:p>
          </p:txBody>
        </p:sp>
      </p:grpSp>
      <p:sp>
        <p:nvSpPr>
          <p:cNvPr id="33" name="TextBox 32"/>
          <p:cNvSpPr txBox="1"/>
          <p:nvPr/>
        </p:nvSpPr>
        <p:spPr>
          <a:xfrm>
            <a:off x="548640" y="5321808"/>
            <a:ext cx="6858000" cy="347472"/>
          </a:xfrm>
          <a:prstGeom prst="rect">
            <a:avLst/>
          </a:prstGeom>
          <a:noFill/>
        </p:spPr>
        <p:txBody>
          <a:bodyPr wrap="square" lIns="0" tIns="0" rIns="0" bIns="0" anchor="ctr">
            <a:noAutofit/>
          </a:bodyPr>
          <a:lstStyle/>
          <a:p>
            <a:pPr algn="l"/>
            <a:r>
              <a:rPr sz="1800" b="0" i="0" lang="en-GB">
                <a:solidFill>
                  <a:srgbClr val="F2F2F2"/>
                </a:solidFill>
                <a:latin typeface="Arial"/>
              </a:rPr>
              <a:t>In the mod, water is usually the tighter limit.</a:t>
            </a:r>
          </a:p>
        </p:txBody>
      </p:sp>
      <p:sp>
        <p:nvSpPr>
          <p:cNvPr id="34" name="Inline chip Agreed"/>
          <p:cNvSpPr/>
          <p:nvPr/>
        </p:nvSpPr>
        <p:spPr>
          <a:xfrm>
            <a:off x="5113020" y="5349240"/>
            <a:ext cx="112141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is used once and lost. So water runs out first. Coal lasts longer.</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8</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257"/>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514"/>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771"/>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500"/>
                                        <p:tgtEl>
                                          <p:spTgt spid="33"/>
                                        </p:tgtEl>
                                      </p:cBhvr>
                                    </p:animEffect>
                                  </p:childTnLst>
                                </p:cTn>
                              </p:par>
                              <p:par>
                                <p:cTn id="17" presetID="10" presetClass="entr" presetSubtype="0" fill="hold" nodeType="withEffect">
                                  <p:stCondLst>
                                    <p:cond delay="1028"/>
                                  </p:stCondLst>
                                  <p:childTnLst>
                                    <p:set>
                                      <p:cBhvr>
                                        <p:cTn id="18" dur="1" fill="hold">
                                          <p:stCondLst>
                                            <p:cond delay="0"/>
                                          </p:stCondLst>
                                        </p:cTn>
                                        <p:tgtEl>
                                          <p:spTgt spid="34"/>
                                        </p:tgtEl>
                                        <p:attrNameLst>
                                          <p:attrName>style.visibility</p:attrName>
                                        </p:attrNameLst>
                                      </p:cBhvr>
                                      <p:to>
                                        <p:strVal val="visible"/>
                                      </p:to>
                                    </p:set>
                                    <p:animEffect transition="in" filter="fade">
                                      <p:cBhvr>
                                        <p:cTn id="19" dur="500"/>
                                        <p:tgtEl>
                                          <p:spTgt spid="34"/>
                                        </p:tgtEl>
                                      </p:cBhvr>
                                    </p:animEffect>
                                  </p:childTnLst>
                                </p:cTn>
                              </p:par>
                              <p:par>
                                <p:cTn id="20" presetID="10" presetClass="entr" presetSubtype="0" fill="hold" nodeType="withEffect">
                                  <p:stCondLst>
                                    <p:cond delay="1285"/>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par>
                                <p:cTn id="23" presetID="10" presetClass="entr" presetSubtype="0" fill="hold" nodeType="withEffect">
                                  <p:stCondLst>
                                    <p:cond delay="1542"/>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Tender or tank?</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sp>
        <p:nvSpPr>
          <p:cNvPr id="8" name="TextBox 7"/>
          <p:cNvSpPr txBox="1"/>
          <p:nvPr/>
        </p:nvSpPr>
        <p:spPr>
          <a:xfrm>
            <a:off x="548640" y="1298448"/>
            <a:ext cx="5303520" cy="411480"/>
          </a:xfrm>
          <a:prstGeom prst="rect">
            <a:avLst/>
          </a:prstGeom>
          <a:noFill/>
        </p:spPr>
        <p:txBody>
          <a:bodyPr wrap="square" lIns="0" tIns="0" rIns="0" bIns="0" anchor="t">
            <a:noAutofit/>
          </a:bodyPr>
          <a:lstStyle/>
          <a:p>
            <a:pPr algn="l"/>
            <a:r>
              <a:rPr sz="2000" b="1" i="0" lang="en-GB">
                <a:solidFill>
                  <a:srgbClr val="F28C28"/>
                </a:solidFill>
                <a:latin typeface="Arial"/>
              </a:rPr>
              <a:t>Tender engine</a:t>
            </a:r>
          </a:p>
        </p:txBody>
      </p:sp>
      <p:sp>
        <p:nvSpPr>
          <p:cNvPr id="9" name="TextBox 8"/>
          <p:cNvSpPr txBox="1"/>
          <p:nvPr/>
        </p:nvSpPr>
        <p:spPr>
          <a:xfrm>
            <a:off x="6336792" y="1298448"/>
            <a:ext cx="5303520" cy="411480"/>
          </a:xfrm>
          <a:prstGeom prst="rect">
            <a:avLst/>
          </a:prstGeom>
          <a:noFill/>
        </p:spPr>
        <p:txBody>
          <a:bodyPr wrap="square" lIns="0" tIns="0" rIns="0" bIns="0" anchor="t">
            <a:noAutofit/>
          </a:bodyPr>
          <a:lstStyle/>
          <a:p>
            <a:pPr algn="l"/>
            <a:r>
              <a:rPr sz="2000" b="1" i="0" lang="en-GB">
                <a:solidFill>
                  <a:srgbClr val="F28C28"/>
                </a:solidFill>
                <a:latin typeface="Arial"/>
              </a:rPr>
              <a:t>Tank engine</a:t>
            </a:r>
          </a:p>
        </p:txBody>
      </p:sp>
      <p:pic>
        <p:nvPicPr>
          <p:cNvPr id="10" name="Picture P04" descr="BR Standard Class 5 No. 73082 'Camelot', a tender engine, seen from the side."/>
          <p:cNvPicPr>
            <a:picLocks noChangeAspect="1"/>
          </p:cNvPicPr>
          <p:nvPr/>
        </p:nvPicPr>
        <p:blipFill>
          <a:blip r:embed="rId2"/>
          <a:srcRect t="2728" b="2728"/>
          <a:stretch>
            <a:fillRect/>
          </a:stretch>
        </p:blipFill>
        <p:spPr>
          <a:xfrm>
            <a:off x="548640" y="1737360"/>
            <a:ext cx="5303520" cy="3337560"/>
          </a:xfrm>
          <a:prstGeom prst="roundRect">
            <a:avLst>
              <a:gd name="adj" fmla="val 2192"/>
            </a:avLst>
          </a:prstGeom>
        </p:spPr>
      </p:pic>
      <p:sp>
        <p:nvSpPr>
          <p:cNvPr id="11" name="Credit"/>
          <p:cNvSpPr txBox="1"/>
          <p:nvPr/>
        </p:nvSpPr>
        <p:spPr>
          <a:xfrm>
            <a:off x="548640" y="5102352"/>
            <a:ext cx="5303520" cy="182880"/>
          </a:xfrm>
          <a:prstGeom prst="rect">
            <a:avLst/>
          </a:prstGeom>
          <a:noFill/>
        </p:spPr>
        <p:txBody>
          <a:bodyPr wrap="square" lIns="0" tIns="0" rIns="0" bIns="0" anchor="t">
            <a:noAutofit/>
          </a:bodyPr>
          <a:lstStyle/>
          <a:p>
            <a:pPr algn="l"/>
            <a:r>
              <a:rPr sz="1000" b="0" i="0" lang="en-GB">
                <a:solidFill>
                  <a:srgbClr val="A9B0B8"/>
                </a:solidFill>
                <a:latin typeface="Arial"/>
              </a:rPr>
              <a:t>Photo: www.mgaylard.co.uk, CC BY 2.0, Wikimedia Commons.</a:t>
            </a:r>
          </a:p>
        </p:txBody>
      </p:sp>
      <p:pic>
        <p:nvPicPr>
          <p:cNvPr id="12" name="Picture P05" descr="BR Standard Class 4 tank engine No. 80151 from the side, showing side tanks and rear bunker."/>
          <p:cNvPicPr>
            <a:picLocks noChangeAspect="1"/>
          </p:cNvPicPr>
          <p:nvPr/>
        </p:nvPicPr>
        <p:blipFill>
          <a:blip r:embed="rId3"/>
          <a:srcRect t="2728" b="2728"/>
          <a:stretch>
            <a:fillRect/>
          </a:stretch>
        </p:blipFill>
        <p:spPr>
          <a:xfrm>
            <a:off x="6336792" y="1737360"/>
            <a:ext cx="5303520" cy="3337560"/>
          </a:xfrm>
          <a:prstGeom prst="roundRect">
            <a:avLst>
              <a:gd name="adj" fmla="val 2192"/>
            </a:avLst>
          </a:prstGeom>
        </p:spPr>
      </p:pic>
      <p:sp>
        <p:nvSpPr>
          <p:cNvPr id="13" name="Credit"/>
          <p:cNvSpPr txBox="1"/>
          <p:nvPr/>
        </p:nvSpPr>
        <p:spPr>
          <a:xfrm>
            <a:off x="6336792" y="5102352"/>
            <a:ext cx="5303520" cy="182880"/>
          </a:xfrm>
          <a:prstGeom prst="rect">
            <a:avLst/>
          </a:prstGeom>
          <a:noFill/>
        </p:spPr>
        <p:txBody>
          <a:bodyPr wrap="square" lIns="0" tIns="0" rIns="0" bIns="0" anchor="t">
            <a:noAutofit/>
          </a:bodyPr>
          <a:lstStyle/>
          <a:p>
            <a:pPr algn="l"/>
            <a:r>
              <a:rPr sz="1000" b="0" i="0" lang="en-GB">
                <a:solidFill>
                  <a:srgbClr val="A9B0B8"/>
                </a:solidFill>
                <a:latin typeface="Arial"/>
              </a:rPr>
              <a:t>Photo: www.mgaylard.co.uk, CC BY 2.0, Wikimedia Commons.</a:t>
            </a:r>
          </a:p>
        </p:txBody>
      </p:sp>
      <p:grpSp>
        <p:nvGrpSpPr>
          <p:cNvPr id="14" name="Callout" descr="Label: Tender: coal and water behind the cab"/>
          <p:cNvGrpSpPr/>
          <p:nvPr/>
        </p:nvGrpSpPr>
        <p:grpSpPr>
          <a:xfrm>
            <a:off x="1380744" y="1874520"/>
            <a:ext cx="3602736" cy="1673352"/>
            <a:chOff x="1380744" y="1874520"/>
            <a:chExt cx="3602736" cy="1673352"/>
          </a:xfrm>
        </p:grpSpPr>
        <p:cxnSp>
          <p:nvCxnSpPr>
            <p:cNvPr id="15" name="Connector 14"/>
            <p:cNvCxnSpPr/>
            <p:nvPr/>
          </p:nvCxnSpPr>
          <p:spPr>
            <a:xfrm flipH="1">
              <a:off x="1453896" y="2514600"/>
              <a:ext cx="1060704" cy="960120"/>
            </a:xfrm>
            <a:prstGeom prst="line">
              <a:avLst/>
            </a:prstGeom>
            <a:ln w="28575">
              <a:solidFill>
                <a:srgbClr val="F28C28"/>
              </a:solidFill>
            </a:ln>
          </p:spPr>
        </p:cxnSp>
        <p:sp>
          <p:nvSpPr>
            <p:cNvPr id="16" name="Oval 15"/>
            <p:cNvSpPr/>
            <p:nvPr/>
          </p:nvSpPr>
          <p:spPr>
            <a:xfrm>
              <a:off x="1380744" y="3401568"/>
              <a:ext cx="146304" cy="146304"/>
            </a:xfrm>
            <a:prstGeom prst="ellipse">
              <a:avLst/>
            </a:prstGeom>
            <a:solidFill>
              <a:srgbClr val="F28C28"/>
            </a:solidFill>
            <a:ln w="12700">
              <a:solidFill>
                <a:srgbClr val="101418"/>
              </a:solidFill>
            </a:ln>
          </p:spPr>
          <p:txBody>
            <a:bodyPr rtlCol="0" anchor="ctr"/>
            <a:lstStyle/>
            <a:p>
              <a:pPr algn="ctr"/>
            </a:p>
          </p:txBody>
        </p:sp>
        <p:sp>
          <p:nvSpPr>
            <p:cNvPr id="17" name="Rounded Rectangle 16"/>
            <p:cNvSpPr/>
            <p:nvPr/>
          </p:nvSpPr>
          <p:spPr>
            <a:xfrm>
              <a:off x="2057400" y="1874520"/>
              <a:ext cx="2926080" cy="640080"/>
            </a:xfrm>
            <a:prstGeom prst="roundRect">
              <a:avLst>
                <a:gd name="adj" fmla="val 8571"/>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Tender: coal and water behind the cab</a:t>
              </a:r>
            </a:p>
          </p:txBody>
        </p:sp>
      </p:grpSp>
      <p:grpSp>
        <p:nvGrpSpPr>
          <p:cNvPr id="18" name="Callout" descr="Label: Side tanks: water."/>
          <p:cNvGrpSpPr/>
          <p:nvPr/>
        </p:nvGrpSpPr>
        <p:grpSpPr>
          <a:xfrm>
            <a:off x="6812280" y="1874520"/>
            <a:ext cx="1965960" cy="1636776"/>
            <a:chOff x="6812280" y="1874520"/>
            <a:chExt cx="1965960" cy="1636776"/>
          </a:xfrm>
        </p:grpSpPr>
        <p:cxnSp>
          <p:nvCxnSpPr>
            <p:cNvPr id="19" name="Connector 18"/>
            <p:cNvCxnSpPr/>
            <p:nvPr/>
          </p:nvCxnSpPr>
          <p:spPr>
            <a:xfrm>
              <a:off x="8138160" y="2240280"/>
              <a:ext cx="320040" cy="1197864"/>
            </a:xfrm>
            <a:prstGeom prst="line">
              <a:avLst/>
            </a:prstGeom>
            <a:ln w="28575">
              <a:solidFill>
                <a:srgbClr val="F28C28"/>
              </a:solidFill>
            </a:ln>
          </p:spPr>
        </p:cxnSp>
        <p:sp>
          <p:nvSpPr>
            <p:cNvPr id="20" name="Oval 19"/>
            <p:cNvSpPr/>
            <p:nvPr/>
          </p:nvSpPr>
          <p:spPr>
            <a:xfrm>
              <a:off x="8385048" y="3364992"/>
              <a:ext cx="146304" cy="146304"/>
            </a:xfrm>
            <a:prstGeom prst="ellipse">
              <a:avLst/>
            </a:prstGeom>
            <a:solidFill>
              <a:srgbClr val="F28C28"/>
            </a:solidFill>
            <a:ln w="12700">
              <a:solidFill>
                <a:srgbClr val="101418"/>
              </a:solidFill>
            </a:ln>
          </p:spPr>
          <p:txBody>
            <a:bodyPr rtlCol="0" anchor="ctr"/>
            <a:lstStyle/>
            <a:p>
              <a:pPr algn="ctr"/>
            </a:p>
          </p:txBody>
        </p:sp>
        <p:sp>
          <p:nvSpPr>
            <p:cNvPr id="21" name="Rounded Rectangle 20"/>
            <p:cNvSpPr/>
            <p:nvPr/>
          </p:nvSpPr>
          <p:spPr>
            <a:xfrm>
              <a:off x="6812280" y="1874520"/>
              <a:ext cx="1965960" cy="365760"/>
            </a:xfrm>
            <a:prstGeom prst="roundRect">
              <a:avLst>
                <a:gd name="adj" fmla="val 15000"/>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Side tanks: water.</a:t>
              </a:r>
            </a:p>
          </p:txBody>
        </p:sp>
      </p:grpSp>
      <p:grpSp>
        <p:nvGrpSpPr>
          <p:cNvPr id="22" name="Callout" descr="Label: Bunker: coal."/>
          <p:cNvGrpSpPr/>
          <p:nvPr/>
        </p:nvGrpSpPr>
        <p:grpSpPr>
          <a:xfrm>
            <a:off x="9646920" y="1874520"/>
            <a:ext cx="1508760" cy="1444752"/>
            <a:chOff x="9646920" y="1874520"/>
            <a:chExt cx="1508760" cy="1444752"/>
          </a:xfrm>
        </p:grpSpPr>
        <p:cxnSp>
          <p:nvCxnSpPr>
            <p:cNvPr id="23" name="Connector 22"/>
            <p:cNvCxnSpPr/>
            <p:nvPr/>
          </p:nvCxnSpPr>
          <p:spPr>
            <a:xfrm flipH="1">
              <a:off x="9966960" y="2240280"/>
              <a:ext cx="91440" cy="1005840"/>
            </a:xfrm>
            <a:prstGeom prst="line">
              <a:avLst/>
            </a:prstGeom>
            <a:ln w="28575">
              <a:solidFill>
                <a:srgbClr val="F28C28"/>
              </a:solidFill>
            </a:ln>
          </p:spPr>
        </p:cxnSp>
        <p:sp>
          <p:nvSpPr>
            <p:cNvPr id="24" name="Oval 23"/>
            <p:cNvSpPr/>
            <p:nvPr/>
          </p:nvSpPr>
          <p:spPr>
            <a:xfrm>
              <a:off x="9893808" y="3172968"/>
              <a:ext cx="146304" cy="146304"/>
            </a:xfrm>
            <a:prstGeom prst="ellipse">
              <a:avLst/>
            </a:prstGeom>
            <a:solidFill>
              <a:srgbClr val="F28C28"/>
            </a:solidFill>
            <a:ln w="12700">
              <a:solidFill>
                <a:srgbClr val="101418"/>
              </a:solidFill>
            </a:ln>
          </p:spPr>
          <p:txBody>
            <a:bodyPr rtlCol="0" anchor="ctr"/>
            <a:lstStyle/>
            <a:p>
              <a:pPr algn="ctr"/>
            </a:p>
          </p:txBody>
        </p:sp>
        <p:sp>
          <p:nvSpPr>
            <p:cNvPr id="25" name="Rounded Rectangle 24"/>
            <p:cNvSpPr/>
            <p:nvPr/>
          </p:nvSpPr>
          <p:spPr>
            <a:xfrm>
              <a:off x="9646920" y="1874520"/>
              <a:ext cx="1508760" cy="365760"/>
            </a:xfrm>
            <a:prstGeom prst="roundRect">
              <a:avLst>
                <a:gd name="adj" fmla="val 15000"/>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Bunker: coal.</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tender engine pulls a coal and water wagon. A tank engine carries both itself.</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9</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20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4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60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par>
                                <p:cTn id="17" presetID="10" presetClass="entr" presetSubtype="0" fill="hold" nodeType="withEffect">
                                  <p:stCondLst>
                                    <p:cond delay="80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par>
                                <p:cTn id="20" presetID="10" presetClass="entr" presetSubtype="0" fill="hold" nodeType="withEffect">
                                  <p:stCondLst>
                                    <p:cond delay="100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par>
                                <p:cTn id="23" presetID="10" presetClass="entr" presetSubtype="0" fill="hold" nodeType="withEffect">
                                  <p:stCondLst>
                                    <p:cond delay="120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childTnLst>
                                </p:cTn>
                              </p:par>
                              <p:par>
                                <p:cTn id="26" presetID="10" presetClass="entr" presetSubtype="0" fill="hold" nodeType="withEffect">
                                  <p:stCondLst>
                                    <p:cond delay="1400"/>
                                  </p:stCondLst>
                                  <p:childTnLst>
                                    <p:set>
                                      <p:cBhvr>
                                        <p:cTn id="27" dur="1" fill="hold">
                                          <p:stCondLst>
                                            <p:cond delay="0"/>
                                          </p:stCondLst>
                                        </p:cTn>
                                        <p:tgtEl>
                                          <p:spTgt spid="4"/>
                                        </p:tgtEl>
                                        <p:attrNameLst>
                                          <p:attrName>style.visibility</p:attrName>
                                        </p:attrNameLst>
                                      </p:cBhvr>
                                      <p:to>
                                        <p:strVal val="visible"/>
                                      </p:to>
                                    </p:set>
                                    <p:animEffect transition="in" filter="fade">
                                      <p:cBhvr>
                                        <p:cTn id="28" dur="500"/>
                                        <p:tgtEl>
                                          <p:spTgt spid="4"/>
                                        </p:tgtEl>
                                      </p:cBhvr>
                                    </p:animEffect>
                                  </p:childTnLst>
                                </p:cTn>
                              </p:par>
                              <p:par>
                                <p:cTn id="29" presetID="10" presetClass="entr" presetSubtype="0" fill="hold" nodeType="withEffect">
                                  <p:stCondLst>
                                    <p:cond delay="160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Taking on water</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6" descr="A water crane at Didcot Railway Centre."/>
          <p:cNvPicPr>
            <a:picLocks noChangeAspect="1"/>
          </p:cNvPicPr>
          <p:nvPr/>
        </p:nvPicPr>
        <p:blipFill>
          <a:blip r:embed="rId2"/>
          <a:srcRect t="1165" b="25165"/>
          <a:stretch>
            <a:fillRect/>
          </a:stretch>
        </p:blipFill>
        <p:spPr>
          <a:xfrm>
            <a:off x="548640" y="1371600"/>
            <a:ext cx="2926080" cy="3886200"/>
          </a:xfrm>
          <a:prstGeom prst="roundRect">
            <a:avLst>
              <a:gd name="adj" fmla="val 2500"/>
            </a:avLst>
          </a:prstGeom>
        </p:spPr>
      </p:pic>
      <p:sp>
        <p:nvSpPr>
          <p:cNvPr id="9" name="Credit"/>
          <p:cNvSpPr txBox="1"/>
          <p:nvPr/>
        </p:nvSpPr>
        <p:spPr>
          <a:xfrm>
            <a:off x="548640" y="5285232"/>
            <a:ext cx="2926080" cy="338328"/>
          </a:xfrm>
          <a:prstGeom prst="rect">
            <a:avLst/>
          </a:prstGeom>
          <a:noFill/>
        </p:spPr>
        <p:txBody>
          <a:bodyPr wrap="square" lIns="0" tIns="0" rIns="0" bIns="0" anchor="t">
            <a:noAutofit/>
          </a:bodyPr>
          <a:lstStyle/>
          <a:p>
            <a:pPr algn="l"/>
            <a:r>
              <a:rPr sz="1000" b="0" i="0" lang="en-GB">
                <a:solidFill>
                  <a:srgbClr val="A9B0B8"/>
                </a:solidFill>
                <a:latin typeface="Arial"/>
              </a:rPr>
              <a:t>Photo: Barry Skeates, CC BY 2.0, Wikimedia Commons.</a:t>
            </a:r>
          </a:p>
        </p:txBody>
      </p:sp>
      <p:grpSp>
        <p:nvGrpSpPr>
          <p:cNvPr id="10" name="Water crane diagram" descr="A water tower on legs feeds a pipe down to a water crane; the crane arm swings over the tender hatch and gravity sends the water down."/>
          <p:cNvGrpSpPr/>
          <p:nvPr/>
        </p:nvGrpSpPr>
        <p:grpSpPr>
          <a:xfrm>
            <a:off x="4206240" y="1874520"/>
            <a:ext cx="5394960" cy="3264408"/>
            <a:chOff x="4206240" y="1874520"/>
            <a:chExt cx="5394960" cy="3264408"/>
          </a:xfrm>
        </p:grpSpPr>
        <p:sp>
          <p:nvSpPr>
            <p:cNvPr id="11" name="Rectangle 10"/>
            <p:cNvSpPr/>
            <p:nvPr/>
          </p:nvSpPr>
          <p:spPr>
            <a:xfrm>
              <a:off x="4343400" y="3063240"/>
              <a:ext cx="91440" cy="2011680"/>
            </a:xfrm>
            <a:prstGeom prst="rect">
              <a:avLst/>
            </a:prstGeom>
            <a:solidFill>
              <a:srgbClr val="9AA0A6"/>
            </a:solidFill>
            <a:ln>
              <a:noFill/>
            </a:ln>
          </p:spPr>
          <p:txBody>
            <a:bodyPr rtlCol="0" anchor="ctr"/>
            <a:lstStyle/>
            <a:p>
              <a:pPr algn="ctr"/>
            </a:p>
          </p:txBody>
        </p:sp>
        <p:sp>
          <p:nvSpPr>
            <p:cNvPr id="12" name="Rectangle 11"/>
            <p:cNvSpPr/>
            <p:nvPr/>
          </p:nvSpPr>
          <p:spPr>
            <a:xfrm>
              <a:off x="4754880" y="3063240"/>
              <a:ext cx="91440" cy="2011680"/>
            </a:xfrm>
            <a:prstGeom prst="rect">
              <a:avLst/>
            </a:prstGeom>
            <a:solidFill>
              <a:srgbClr val="9AA0A6"/>
            </a:solidFill>
            <a:ln>
              <a:noFill/>
            </a:ln>
          </p:spPr>
          <p:txBody>
            <a:bodyPr rtlCol="0" anchor="ctr"/>
            <a:lstStyle/>
            <a:p>
              <a:pPr algn="ctr"/>
            </a:p>
          </p:txBody>
        </p:sp>
        <p:sp>
          <p:nvSpPr>
            <p:cNvPr id="13" name="Rectangle 12"/>
            <p:cNvSpPr/>
            <p:nvPr/>
          </p:nvSpPr>
          <p:spPr>
            <a:xfrm>
              <a:off x="5440680" y="3063240"/>
              <a:ext cx="91440" cy="2011680"/>
            </a:xfrm>
            <a:prstGeom prst="rect">
              <a:avLst/>
            </a:prstGeom>
            <a:solidFill>
              <a:srgbClr val="9AA0A6"/>
            </a:solidFill>
            <a:ln>
              <a:noFill/>
            </a:ln>
          </p:spPr>
          <p:txBody>
            <a:bodyPr rtlCol="0" anchor="ctr"/>
            <a:lstStyle/>
            <a:p>
              <a:pPr algn="ctr"/>
            </a:p>
          </p:txBody>
        </p:sp>
        <p:sp>
          <p:nvSpPr>
            <p:cNvPr id="14" name="Rectangle 13"/>
            <p:cNvSpPr/>
            <p:nvPr/>
          </p:nvSpPr>
          <p:spPr>
            <a:xfrm>
              <a:off x="5852160" y="3063240"/>
              <a:ext cx="91440" cy="2011680"/>
            </a:xfrm>
            <a:prstGeom prst="rect">
              <a:avLst/>
            </a:prstGeom>
            <a:solidFill>
              <a:srgbClr val="9AA0A6"/>
            </a:solidFill>
            <a:ln>
              <a:noFill/>
            </a:ln>
          </p:spPr>
          <p:txBody>
            <a:bodyPr rtlCol="0" anchor="ctr"/>
            <a:lstStyle/>
            <a:p>
              <a:pPr algn="ctr"/>
            </a:p>
          </p:txBody>
        </p:sp>
        <p:sp>
          <p:nvSpPr>
            <p:cNvPr id="15" name="Rounded Rectangle 14"/>
            <p:cNvSpPr/>
            <p:nvPr/>
          </p:nvSpPr>
          <p:spPr>
            <a:xfrm>
              <a:off x="4206240" y="1874520"/>
              <a:ext cx="1783080" cy="1188720"/>
            </a:xfrm>
            <a:prstGeom prst="roundRect">
              <a:avLst>
                <a:gd name="adj" fmla="val 9230"/>
              </a:avLst>
            </a:prstGeom>
            <a:solidFill>
              <a:srgbClr val="4DA3FF"/>
            </a:solidFill>
            <a:ln w="25400">
              <a:solidFill>
                <a:srgbClr val="FFFFFF"/>
              </a:solidFill>
            </a:ln>
          </p:spPr>
          <p:txBody>
            <a:bodyPr rtlCol="0" anchor="ctr"/>
            <a:lstStyle/>
            <a:p>
              <a:pPr algn="ctr"/>
            </a:p>
          </p:txBody>
        </p:sp>
        <p:sp>
          <p:nvSpPr>
            <p:cNvPr id="16" name="Freeform 15"/>
            <p:cNvSpPr/>
            <p:nvPr/>
          </p:nvSpPr>
          <p:spPr>
            <a:xfrm>
              <a:off x="5577840" y="3063240"/>
              <a:ext cx="2880360" cy="1737360"/>
            </a:xfrm>
            <a:custGeom>
              <a:avLst/>
              <a:gdLst/>
              <a:ahLst/>
              <a:cxnLst/>
              <a:rect l="l" t="t" r="r" b="b"/>
              <a:pathLst>
                <a:path w="2880360" h="1737360">
                  <a:moveTo>
                    <a:pt x="0" y="0"/>
                  </a:moveTo>
                  <a:lnTo>
                    <a:pt x="0" y="1737360"/>
                  </a:lnTo>
                  <a:lnTo>
                    <a:pt x="1600200" y="1737360"/>
                  </a:lnTo>
                  <a:lnTo>
                    <a:pt x="1600200" y="365760"/>
                  </a:lnTo>
                  <a:lnTo>
                    <a:pt x="2880360" y="365760"/>
                  </a:lnTo>
                </a:path>
              </a:pathLst>
            </a:custGeom>
            <a:noFill/>
            <a:ln w="114300">
              <a:solidFill>
                <a:srgbClr val="4DA3FF"/>
              </a:solidFill>
            </a:ln>
          </p:spPr>
          <p:txBody>
            <a:bodyPr rtlCol="0" anchor="ctr"/>
            <a:lstStyle/>
            <a:p>
              <a:pPr algn="ctr"/>
            </a:p>
          </p:txBody>
        </p:sp>
        <p:sp>
          <p:nvSpPr>
            <p:cNvPr id="17" name="Rectangle 16"/>
            <p:cNvSpPr/>
            <p:nvPr/>
          </p:nvSpPr>
          <p:spPr>
            <a:xfrm>
              <a:off x="7086600" y="3291840"/>
              <a:ext cx="182880" cy="1600200"/>
            </a:xfrm>
            <a:prstGeom prst="rect">
              <a:avLst/>
            </a:prstGeom>
            <a:solidFill>
              <a:srgbClr val="9AA0A6"/>
            </a:solidFill>
            <a:ln w="9525">
              <a:solidFill>
                <a:srgbClr val="101418"/>
              </a:solidFill>
            </a:ln>
          </p:spPr>
          <p:txBody>
            <a:bodyPr rtlCol="0" anchor="ctr"/>
            <a:lstStyle/>
            <a:p>
              <a:pPr algn="ctr"/>
            </a:p>
          </p:txBody>
        </p:sp>
        <p:sp>
          <p:nvSpPr>
            <p:cNvPr id="18" name="Rectangle 17"/>
            <p:cNvSpPr/>
            <p:nvPr/>
          </p:nvSpPr>
          <p:spPr>
            <a:xfrm>
              <a:off x="7086600" y="3337560"/>
              <a:ext cx="1417320" cy="164592"/>
            </a:xfrm>
            <a:prstGeom prst="rect">
              <a:avLst/>
            </a:prstGeom>
            <a:solidFill>
              <a:srgbClr val="9AA0A6"/>
            </a:solidFill>
            <a:ln w="9525">
              <a:solidFill>
                <a:srgbClr val="101418"/>
              </a:solidFill>
            </a:ln>
          </p:spPr>
          <p:txBody>
            <a:bodyPr rtlCol="0" anchor="ctr"/>
            <a:lstStyle/>
            <a:p>
              <a:pPr algn="ctr"/>
            </a:p>
          </p:txBody>
        </p:sp>
        <p:sp>
          <p:nvSpPr>
            <p:cNvPr id="19" name="Rectangle 18"/>
            <p:cNvSpPr/>
            <p:nvPr/>
          </p:nvSpPr>
          <p:spPr>
            <a:xfrm>
              <a:off x="8385048" y="3429000"/>
              <a:ext cx="146304" cy="411480"/>
            </a:xfrm>
            <a:prstGeom prst="rect">
              <a:avLst/>
            </a:prstGeom>
            <a:solidFill>
              <a:srgbClr val="9AA0A6"/>
            </a:solidFill>
            <a:ln w="9525">
              <a:solidFill>
                <a:srgbClr val="101418"/>
              </a:solidFill>
            </a:ln>
          </p:spPr>
          <p:txBody>
            <a:bodyPr rtlCol="0" anchor="ctr"/>
            <a:lstStyle/>
            <a:p>
              <a:pPr algn="ctr"/>
            </a:p>
          </p:txBody>
        </p:sp>
        <p:sp>
          <p:nvSpPr>
            <p:cNvPr id="20" name="Oval 19"/>
            <p:cNvSpPr/>
            <p:nvPr/>
          </p:nvSpPr>
          <p:spPr>
            <a:xfrm>
              <a:off x="8417052" y="3904488"/>
              <a:ext cx="82296" cy="109728"/>
            </a:xfrm>
            <a:prstGeom prst="ellipse">
              <a:avLst/>
            </a:prstGeom>
            <a:solidFill>
              <a:srgbClr val="4DA3FF"/>
            </a:solidFill>
            <a:ln>
              <a:noFill/>
            </a:ln>
          </p:spPr>
          <p:txBody>
            <a:bodyPr rtlCol="0" anchor="ctr"/>
            <a:lstStyle/>
            <a:p>
              <a:pPr algn="ctr"/>
            </a:p>
          </p:txBody>
        </p:sp>
        <p:sp>
          <p:nvSpPr>
            <p:cNvPr id="21" name="Oval 20"/>
            <p:cNvSpPr/>
            <p:nvPr/>
          </p:nvSpPr>
          <p:spPr>
            <a:xfrm>
              <a:off x="8417052" y="4059936"/>
              <a:ext cx="82296" cy="109728"/>
            </a:xfrm>
            <a:prstGeom prst="ellipse">
              <a:avLst/>
            </a:prstGeom>
            <a:solidFill>
              <a:srgbClr val="4DA3FF"/>
            </a:solidFill>
            <a:ln>
              <a:noFill/>
            </a:ln>
          </p:spPr>
          <p:txBody>
            <a:bodyPr rtlCol="0" anchor="ctr"/>
            <a:lstStyle/>
            <a:p>
              <a:pPr algn="ctr"/>
            </a:p>
          </p:txBody>
        </p:sp>
        <p:sp>
          <p:nvSpPr>
            <p:cNvPr id="22" name="Rectangle 21"/>
            <p:cNvSpPr/>
            <p:nvPr/>
          </p:nvSpPr>
          <p:spPr>
            <a:xfrm>
              <a:off x="7269480" y="5074920"/>
              <a:ext cx="2240280" cy="64008"/>
            </a:xfrm>
            <a:prstGeom prst="rect">
              <a:avLst/>
            </a:prstGeom>
            <a:solidFill>
              <a:srgbClr val="9AA0A6"/>
            </a:solidFill>
            <a:ln>
              <a:noFill/>
            </a:ln>
          </p:spPr>
          <p:txBody>
            <a:bodyPr rtlCol="0" anchor="ctr"/>
            <a:lstStyle/>
            <a:p>
              <a:pPr algn="ctr"/>
            </a:p>
          </p:txBody>
        </p:sp>
        <p:sp>
          <p:nvSpPr>
            <p:cNvPr id="23" name="Rounded Rectangle 22"/>
            <p:cNvSpPr/>
            <p:nvPr/>
          </p:nvSpPr>
          <p:spPr>
            <a:xfrm>
              <a:off x="7315200" y="4206240"/>
              <a:ext cx="2194560" cy="685800"/>
            </a:xfrm>
            <a:prstGeom prst="roundRect">
              <a:avLst>
                <a:gd name="adj" fmla="val 6666"/>
              </a:avLst>
            </a:prstGeom>
            <a:solidFill>
              <a:srgbClr val="6C7480"/>
            </a:solidFill>
            <a:ln w="12700">
              <a:solidFill>
                <a:srgbClr val="101418"/>
              </a:solidFill>
            </a:ln>
          </p:spPr>
          <p:txBody>
            <a:bodyPr rtlCol="0" anchor="ctr"/>
            <a:lstStyle/>
            <a:p>
              <a:pPr algn="ctr"/>
            </a:p>
          </p:txBody>
        </p:sp>
        <p:sp>
          <p:nvSpPr>
            <p:cNvPr id="24" name="Oval 23"/>
            <p:cNvSpPr/>
            <p:nvPr/>
          </p:nvSpPr>
          <p:spPr>
            <a:xfrm>
              <a:off x="8266176" y="4142232"/>
              <a:ext cx="384048" cy="128016"/>
            </a:xfrm>
            <a:prstGeom prst="ellipse">
              <a:avLst/>
            </a:prstGeom>
            <a:solidFill>
              <a:srgbClr val="1B1D21"/>
            </a:solidFill>
            <a:ln w="19050">
              <a:solidFill>
                <a:srgbClr val="9AA0A6"/>
              </a:solidFill>
            </a:ln>
          </p:spPr>
          <p:txBody>
            <a:bodyPr rtlCol="0" anchor="ctr"/>
            <a:lstStyle/>
            <a:p>
              <a:pPr algn="ctr"/>
            </a:p>
          </p:txBody>
        </p:sp>
        <p:sp>
          <p:nvSpPr>
            <p:cNvPr id="25" name="Oval 24"/>
            <p:cNvSpPr/>
            <p:nvPr/>
          </p:nvSpPr>
          <p:spPr>
            <a:xfrm>
              <a:off x="7671816" y="4873752"/>
              <a:ext cx="201168" cy="201168"/>
            </a:xfrm>
            <a:prstGeom prst="ellipse">
              <a:avLst/>
            </a:prstGeom>
            <a:solidFill>
              <a:srgbClr val="1B1D21"/>
            </a:solidFill>
            <a:ln w="12700">
              <a:solidFill>
                <a:srgbClr val="9AA0A6"/>
              </a:solidFill>
            </a:ln>
          </p:spPr>
          <p:txBody>
            <a:bodyPr rtlCol="0" anchor="ctr"/>
            <a:lstStyle/>
            <a:p>
              <a:pPr algn="ctr"/>
            </a:p>
          </p:txBody>
        </p:sp>
        <p:sp>
          <p:nvSpPr>
            <p:cNvPr id="26" name="Oval 25"/>
            <p:cNvSpPr/>
            <p:nvPr/>
          </p:nvSpPr>
          <p:spPr>
            <a:xfrm>
              <a:off x="9134856" y="4873752"/>
              <a:ext cx="201168" cy="201168"/>
            </a:xfrm>
            <a:prstGeom prst="ellipse">
              <a:avLst/>
            </a:prstGeom>
            <a:solidFill>
              <a:srgbClr val="1B1D21"/>
            </a:solidFill>
            <a:ln w="12700">
              <a:solidFill>
                <a:srgbClr val="9AA0A6"/>
              </a:solidFill>
            </a:ln>
          </p:spPr>
          <p:txBody>
            <a:bodyPr rtlCol="0" anchor="ctr"/>
            <a:lstStyle/>
            <a:p>
              <a:pPr algn="ctr"/>
            </a:p>
          </p:txBody>
        </p:sp>
        <p:sp>
          <p:nvSpPr>
            <p:cNvPr id="27" name="Freeform 26"/>
            <p:cNvSpPr/>
            <p:nvPr/>
          </p:nvSpPr>
          <p:spPr>
            <a:xfrm>
              <a:off x="6841880" y="2926080"/>
              <a:ext cx="1678160" cy="284649"/>
            </a:xfrm>
            <a:custGeom>
              <a:avLst/>
              <a:gdLst/>
              <a:ahLst/>
              <a:cxnLst/>
              <a:rect l="l" t="t" r="r" b="b"/>
              <a:pathLst>
                <a:path w="1678160" h="284649">
                  <a:moveTo>
                    <a:pt x="0" y="284649"/>
                  </a:moveTo>
                  <a:lnTo>
                    <a:pt x="29463" y="244854"/>
                  </a:lnTo>
                  <a:lnTo>
                    <a:pt x="68551" y="206714"/>
                  </a:lnTo>
                  <a:lnTo>
                    <a:pt x="116799" y="170682"/>
                  </a:lnTo>
                  <a:lnTo>
                    <a:pt x="173633" y="137187"/>
                  </a:lnTo>
                  <a:lnTo>
                    <a:pt x="238376" y="106626"/>
                  </a:lnTo>
                  <a:lnTo>
                    <a:pt x="310261" y="79362"/>
                  </a:lnTo>
                  <a:lnTo>
                    <a:pt x="388432" y="55721"/>
                  </a:lnTo>
                  <a:lnTo>
                    <a:pt x="471960" y="35982"/>
                  </a:lnTo>
                  <a:lnTo>
                    <a:pt x="559852" y="20381"/>
                  </a:lnTo>
                  <a:lnTo>
                    <a:pt x="651063" y="9103"/>
                  </a:lnTo>
                  <a:lnTo>
                    <a:pt x="744510" y="2283"/>
                  </a:lnTo>
                  <a:lnTo>
                    <a:pt x="839080" y="0"/>
                  </a:lnTo>
                  <a:lnTo>
                    <a:pt x="933650" y="2283"/>
                  </a:lnTo>
                  <a:lnTo>
                    <a:pt x="1027097" y="9103"/>
                  </a:lnTo>
                  <a:lnTo>
                    <a:pt x="1118308" y="20381"/>
                  </a:lnTo>
                  <a:lnTo>
                    <a:pt x="1206200" y="35982"/>
                  </a:lnTo>
                  <a:lnTo>
                    <a:pt x="1289728" y="55721"/>
                  </a:lnTo>
                  <a:lnTo>
                    <a:pt x="1367899" y="79362"/>
                  </a:lnTo>
                  <a:lnTo>
                    <a:pt x="1439784" y="106626"/>
                  </a:lnTo>
                  <a:lnTo>
                    <a:pt x="1504527" y="137187"/>
                  </a:lnTo>
                  <a:lnTo>
                    <a:pt x="1561361" y="170682"/>
                  </a:lnTo>
                  <a:lnTo>
                    <a:pt x="1609609" y="206714"/>
                  </a:lnTo>
                  <a:lnTo>
                    <a:pt x="1648697" y="244854"/>
                  </a:lnTo>
                  <a:lnTo>
                    <a:pt x="1678160" y="284649"/>
                  </a:lnTo>
                </a:path>
              </a:pathLst>
            </a:custGeom>
            <a:noFill/>
            <a:ln w="31750">
              <a:solidFill>
                <a:srgbClr val="F28C28"/>
              </a:solidFill>
              <a:tailEnd type="triangle" w="lg" len="lg"/>
            </a:ln>
          </p:spPr>
          <p:txBody>
            <a:bodyPr rtlCol="0" anchor="ctr"/>
            <a:lstStyle/>
            <a:p>
              <a:pPr algn="ctr"/>
            </a:p>
          </p:txBody>
        </p:sp>
        <p:cxnSp>
          <p:nvCxnSpPr>
            <p:cNvPr id="28" name="Connector 27"/>
            <p:cNvCxnSpPr/>
            <p:nvPr/>
          </p:nvCxnSpPr>
          <p:spPr>
            <a:xfrm>
              <a:off x="5806440" y="3291840"/>
              <a:ext cx="0" cy="548640"/>
            </a:xfrm>
            <a:prstGeom prst="line">
              <a:avLst/>
            </a:prstGeom>
            <a:ln w="28575">
              <a:solidFill>
                <a:srgbClr val="F28C28"/>
              </a:solidFill>
              <a:tailEnd type="triangle" w="lg" len="lg"/>
            </a:ln>
          </p:spPr>
        </p:cxnSp>
        <p:cxnSp>
          <p:nvCxnSpPr>
            <p:cNvPr id="29" name="Connector 28"/>
            <p:cNvCxnSpPr/>
            <p:nvPr/>
          </p:nvCxnSpPr>
          <p:spPr>
            <a:xfrm>
              <a:off x="5806440" y="3977640"/>
              <a:ext cx="0" cy="548640"/>
            </a:xfrm>
            <a:prstGeom prst="line">
              <a:avLst/>
            </a:prstGeom>
            <a:ln w="28575">
              <a:solidFill>
                <a:srgbClr val="F28C28"/>
              </a:solidFill>
              <a:tailEnd type="triangle" w="lg" len="lg"/>
            </a:ln>
          </p:spPr>
        </p:cxnSp>
        <p:sp>
          <p:nvSpPr>
            <p:cNvPr id="30" name="TextBox 29"/>
            <p:cNvSpPr txBox="1"/>
            <p:nvPr/>
          </p:nvSpPr>
          <p:spPr>
            <a:xfrm>
              <a:off x="6492240" y="2395728"/>
              <a:ext cx="3108960" cy="457200"/>
            </a:xfrm>
            <a:prstGeom prst="rect">
              <a:avLst/>
            </a:prstGeom>
            <a:noFill/>
          </p:spPr>
          <p:txBody>
            <a:bodyPr wrap="square" lIns="0" tIns="0" rIns="0" bIns="0" anchor="b">
              <a:noAutofit/>
            </a:bodyPr>
            <a:lstStyle/>
            <a:p>
              <a:pPr algn="ctr"/>
              <a:r>
                <a:rPr sz="1600" b="0" i="0" lang="en-GB">
                  <a:solidFill>
                    <a:srgbClr val="F2F2F2"/>
                  </a:solidFill>
                  <a:latin typeface="Arial"/>
                </a:rPr>
                <a:t>Arm swings over the hatch</a:t>
              </a:r>
            </a:p>
          </p:txBody>
        </p:sp>
        <p:sp>
          <p:nvSpPr>
            <p:cNvPr id="31" name="TextBox 30"/>
            <p:cNvSpPr txBox="1"/>
            <p:nvPr/>
          </p:nvSpPr>
          <p:spPr>
            <a:xfrm>
              <a:off x="5943600" y="3611880"/>
              <a:ext cx="1005840" cy="365760"/>
            </a:xfrm>
            <a:prstGeom prst="rect">
              <a:avLst/>
            </a:prstGeom>
            <a:noFill/>
          </p:spPr>
          <p:txBody>
            <a:bodyPr wrap="square" lIns="0" tIns="0" rIns="0" bIns="0" anchor="ctr">
              <a:noAutofit/>
            </a:bodyPr>
            <a:lstStyle/>
            <a:p>
              <a:pPr algn="l"/>
              <a:r>
                <a:rPr sz="1600" b="0" i="0" lang="en-GB">
                  <a:solidFill>
                    <a:srgbClr val="F2F2F2"/>
                  </a:solidFill>
                  <a:latin typeface="Arial"/>
                </a:rPr>
                <a:t>Gravity</a:t>
              </a:r>
            </a:p>
          </p:txBody>
        </p:sp>
      </p:grpSp>
      <p:pic>
        <p:nvPicPr>
          <p:cNvPr id="32" name="Picture P07" descr="A water tower with a signal beside it."/>
          <p:cNvPicPr>
            <a:picLocks noChangeAspect="1"/>
          </p:cNvPicPr>
          <p:nvPr/>
        </p:nvPicPr>
        <p:blipFill>
          <a:blip r:embed="rId3"/>
          <a:srcRect t="8824" b="42824"/>
          <a:stretch>
            <a:fillRect/>
          </a:stretch>
        </p:blipFill>
        <p:spPr>
          <a:xfrm>
            <a:off x="9628632" y="3611880"/>
            <a:ext cx="2011680" cy="1463040"/>
          </a:xfrm>
          <a:prstGeom prst="roundRect">
            <a:avLst>
              <a:gd name="adj" fmla="val 5000"/>
            </a:avLst>
          </a:prstGeom>
        </p:spPr>
      </p:pic>
      <p:sp>
        <p:nvSpPr>
          <p:cNvPr id="33" name="Credit"/>
          <p:cNvSpPr txBox="1"/>
          <p:nvPr/>
        </p:nvSpPr>
        <p:spPr>
          <a:xfrm>
            <a:off x="9628632" y="5102352"/>
            <a:ext cx="2011680" cy="338328"/>
          </a:xfrm>
          <a:prstGeom prst="rect">
            <a:avLst/>
          </a:prstGeom>
          <a:noFill/>
        </p:spPr>
        <p:txBody>
          <a:bodyPr wrap="square" lIns="0" tIns="0" rIns="0" bIns="0" anchor="t">
            <a:noAutofit/>
          </a:bodyPr>
          <a:lstStyle/>
          <a:p>
            <a:pPr algn="l"/>
            <a:r>
              <a:rPr sz="1000" b="0" i="0" lang="en-GB">
                <a:solidFill>
                  <a:srgbClr val="A9B0B8"/>
                </a:solidFill>
                <a:latin typeface="Arial"/>
              </a:rPr>
              <a:t>Photo: David Merrett, CC BY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water crane swings over the engine. Water flows down from a tank above.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10</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nodeType="withEffect">
                                  <p:stCondLst>
                                    <p:cond delay="60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par>
                                <p:cTn id="14" presetID="10" presetClass="entr" presetSubtype="0" fill="hold" nodeType="withEffect">
                                  <p:stCondLst>
                                    <p:cond delay="90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par>
                                <p:cTn id="17" presetID="10" presetClass="entr" presetSubtype="0" fill="hold" nodeType="withEffect">
                                  <p:stCondLst>
                                    <p:cond delay="12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Taking on coal</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8" descr="A raised coaling stage at the Great Western Society site, Didcot."/>
          <p:cNvPicPr>
            <a:picLocks noChangeAspect="1"/>
          </p:cNvPicPr>
          <p:nvPr/>
        </p:nvPicPr>
        <p:blipFill>
          <a:blip r:embed="rId2"/>
          <a:stretch>
            <a:fillRect/>
          </a:stretch>
        </p:blipFill>
        <p:spPr>
          <a:xfrm>
            <a:off x="548640" y="1371600"/>
            <a:ext cx="4114800" cy="3086100"/>
          </a:xfrm>
          <a:prstGeom prst="roundRect">
            <a:avLst>
              <a:gd name="adj" fmla="val 2370"/>
            </a:avLst>
          </a:prstGeom>
        </p:spPr>
      </p:pic>
      <p:sp>
        <p:nvSpPr>
          <p:cNvPr id="9" name="Credit"/>
          <p:cNvSpPr txBox="1"/>
          <p:nvPr/>
        </p:nvSpPr>
        <p:spPr>
          <a:xfrm>
            <a:off x="548640" y="4485132"/>
            <a:ext cx="4114800" cy="182880"/>
          </a:xfrm>
          <a:prstGeom prst="rect">
            <a:avLst/>
          </a:prstGeom>
          <a:noFill/>
        </p:spPr>
        <p:txBody>
          <a:bodyPr wrap="square" lIns="0" tIns="0" rIns="0" bIns="0" anchor="t">
            <a:noAutofit/>
          </a:bodyPr>
          <a:lstStyle/>
          <a:p>
            <a:pPr algn="l"/>
            <a:r>
              <a:rPr sz="1000" b="0" i="0" lang="en-GB">
                <a:solidFill>
                  <a:srgbClr val="A9B0B8"/>
                </a:solidFill>
                <a:latin typeface="Arial"/>
              </a:rPr>
              <a:t>Photo: Gillett's Crossing, CC BY 2.0, Wikimedia Commons.</a:t>
            </a:r>
          </a:p>
        </p:txBody>
      </p:sp>
      <p:sp>
        <p:nvSpPr>
          <p:cNvPr id="10" name="TextBox 9"/>
          <p:cNvSpPr txBox="1"/>
          <p:nvPr/>
        </p:nvSpPr>
        <p:spPr>
          <a:xfrm>
            <a:off x="5120640" y="1298448"/>
            <a:ext cx="2743200" cy="365760"/>
          </a:xfrm>
          <a:prstGeom prst="rect">
            <a:avLst/>
          </a:prstGeom>
          <a:noFill/>
        </p:spPr>
        <p:txBody>
          <a:bodyPr wrap="square" lIns="0" tIns="0" rIns="0" bIns="0" anchor="t">
            <a:noAutofit/>
          </a:bodyPr>
          <a:lstStyle/>
          <a:p>
            <a:pPr algn="l"/>
            <a:r>
              <a:rPr sz="1800" b="1" i="0" lang="en-GB">
                <a:solidFill>
                  <a:srgbClr val="F28C28"/>
                </a:solidFill>
                <a:latin typeface="Arial"/>
              </a:rPr>
              <a:t>Coal stage</a:t>
            </a:r>
          </a:p>
        </p:txBody>
      </p:sp>
      <p:grpSp>
        <p:nvGrpSpPr>
          <p:cNvPr id="11" name="Coal stage diagram" descr="Coal stage: coal sits on a raised platform and slides down a chute into the tender below, by gravity."/>
          <p:cNvGrpSpPr/>
          <p:nvPr/>
        </p:nvGrpSpPr>
        <p:grpSpPr>
          <a:xfrm>
            <a:off x="5120640" y="1664208"/>
            <a:ext cx="5669280" cy="1691640"/>
            <a:chOff x="5120640" y="1664208"/>
            <a:chExt cx="5669280" cy="1691640"/>
          </a:xfrm>
        </p:grpSpPr>
        <p:sp>
          <p:nvSpPr>
            <p:cNvPr id="12" name="Rectangle 11"/>
            <p:cNvSpPr/>
            <p:nvPr/>
          </p:nvSpPr>
          <p:spPr>
            <a:xfrm>
              <a:off x="5120640" y="3291840"/>
              <a:ext cx="5669280" cy="64008"/>
            </a:xfrm>
            <a:prstGeom prst="rect">
              <a:avLst/>
            </a:prstGeom>
            <a:solidFill>
              <a:srgbClr val="9AA0A6"/>
            </a:solidFill>
            <a:ln>
              <a:noFill/>
            </a:ln>
          </p:spPr>
          <p:txBody>
            <a:bodyPr rtlCol="0" anchor="ctr"/>
            <a:lstStyle/>
            <a:p>
              <a:pPr algn="ctr"/>
            </a:p>
          </p:txBody>
        </p:sp>
        <p:sp>
          <p:nvSpPr>
            <p:cNvPr id="13" name="Rectangle 12"/>
            <p:cNvSpPr/>
            <p:nvPr/>
          </p:nvSpPr>
          <p:spPr>
            <a:xfrm>
              <a:off x="5257800" y="2286000"/>
              <a:ext cx="91440" cy="1005840"/>
            </a:xfrm>
            <a:prstGeom prst="rect">
              <a:avLst/>
            </a:prstGeom>
            <a:solidFill>
              <a:srgbClr val="9AA0A6"/>
            </a:solidFill>
            <a:ln>
              <a:noFill/>
            </a:ln>
          </p:spPr>
          <p:txBody>
            <a:bodyPr rtlCol="0" anchor="ctr"/>
            <a:lstStyle/>
            <a:p>
              <a:pPr algn="ctr"/>
            </a:p>
          </p:txBody>
        </p:sp>
        <p:sp>
          <p:nvSpPr>
            <p:cNvPr id="14" name="Rectangle 13"/>
            <p:cNvSpPr/>
            <p:nvPr/>
          </p:nvSpPr>
          <p:spPr>
            <a:xfrm>
              <a:off x="6172200" y="2286000"/>
              <a:ext cx="91440" cy="1005840"/>
            </a:xfrm>
            <a:prstGeom prst="rect">
              <a:avLst/>
            </a:prstGeom>
            <a:solidFill>
              <a:srgbClr val="9AA0A6"/>
            </a:solidFill>
            <a:ln>
              <a:noFill/>
            </a:ln>
          </p:spPr>
          <p:txBody>
            <a:bodyPr rtlCol="0" anchor="ctr"/>
            <a:lstStyle/>
            <a:p>
              <a:pPr algn="ctr"/>
            </a:p>
          </p:txBody>
        </p:sp>
        <p:sp>
          <p:nvSpPr>
            <p:cNvPr id="15" name="Rectangle 14"/>
            <p:cNvSpPr/>
            <p:nvPr/>
          </p:nvSpPr>
          <p:spPr>
            <a:xfrm>
              <a:off x="7086600" y="2286000"/>
              <a:ext cx="91440" cy="1005840"/>
            </a:xfrm>
            <a:prstGeom prst="rect">
              <a:avLst/>
            </a:prstGeom>
            <a:solidFill>
              <a:srgbClr val="9AA0A6"/>
            </a:solidFill>
            <a:ln>
              <a:noFill/>
            </a:ln>
          </p:spPr>
          <p:txBody>
            <a:bodyPr rtlCol="0" anchor="ctr"/>
            <a:lstStyle/>
            <a:p>
              <a:pPr algn="ctr"/>
            </a:p>
          </p:txBody>
        </p:sp>
        <p:sp>
          <p:nvSpPr>
            <p:cNvPr id="16" name="Rectangle 15"/>
            <p:cNvSpPr/>
            <p:nvPr/>
          </p:nvSpPr>
          <p:spPr>
            <a:xfrm>
              <a:off x="7863840" y="2286000"/>
              <a:ext cx="91440" cy="1005840"/>
            </a:xfrm>
            <a:prstGeom prst="rect">
              <a:avLst/>
            </a:prstGeom>
            <a:solidFill>
              <a:srgbClr val="9AA0A6"/>
            </a:solidFill>
            <a:ln>
              <a:noFill/>
            </a:ln>
          </p:spPr>
          <p:txBody>
            <a:bodyPr rtlCol="0" anchor="ctr"/>
            <a:lstStyle/>
            <a:p>
              <a:pPr algn="ctr"/>
            </a:p>
          </p:txBody>
        </p:sp>
        <p:sp>
          <p:nvSpPr>
            <p:cNvPr id="17" name="Rectangle 16"/>
            <p:cNvSpPr/>
            <p:nvPr/>
          </p:nvSpPr>
          <p:spPr>
            <a:xfrm>
              <a:off x="5120640" y="2148840"/>
              <a:ext cx="2926080" cy="137160"/>
            </a:xfrm>
            <a:prstGeom prst="rect">
              <a:avLst/>
            </a:prstGeom>
            <a:solidFill>
              <a:srgbClr val="6B5B4B"/>
            </a:solidFill>
            <a:ln w="9525">
              <a:solidFill>
                <a:srgbClr val="101418"/>
              </a:solidFill>
            </a:ln>
          </p:spPr>
          <p:txBody>
            <a:bodyPr rtlCol="0" anchor="ctr"/>
            <a:lstStyle/>
            <a:p>
              <a:pPr algn="ctr"/>
            </a:p>
          </p:txBody>
        </p:sp>
        <p:sp>
          <p:nvSpPr>
            <p:cNvPr id="18" name="Freeform 17"/>
            <p:cNvSpPr/>
            <p:nvPr/>
          </p:nvSpPr>
          <p:spPr>
            <a:xfrm>
              <a:off x="5989320" y="1737360"/>
              <a:ext cx="1371600" cy="411480"/>
            </a:xfrm>
            <a:custGeom>
              <a:avLst/>
              <a:gdLst/>
              <a:ahLst/>
              <a:cxnLst/>
              <a:rect l="l" t="t" r="r" b="b"/>
              <a:pathLst>
                <a:path w="1371600" h="411480">
                  <a:moveTo>
                    <a:pt x="0" y="411480"/>
                  </a:moveTo>
                  <a:lnTo>
                    <a:pt x="246888" y="164592"/>
                  </a:lnTo>
                  <a:lnTo>
                    <a:pt x="521208" y="61722"/>
                  </a:lnTo>
                  <a:lnTo>
                    <a:pt x="754380" y="0"/>
                  </a:lnTo>
                  <a:lnTo>
                    <a:pt x="1028700" y="123444"/>
                  </a:lnTo>
                  <a:lnTo>
                    <a:pt x="1261872" y="246888"/>
                  </a:lnTo>
                  <a:lnTo>
                    <a:pt x="1371600" y="411480"/>
                  </a:lnTo>
                  <a:close/>
                </a:path>
              </a:pathLst>
            </a:custGeom>
            <a:solidFill>
              <a:srgbClr val="1B1D21"/>
            </a:solidFill>
            <a:ln w="25400">
              <a:solidFill>
                <a:srgbClr val="6B7078"/>
              </a:solidFill>
            </a:ln>
          </p:spPr>
          <p:txBody>
            <a:bodyPr rtlCol="0" anchor="ctr"/>
            <a:lstStyle/>
            <a:p>
              <a:pPr algn="ctr"/>
            </a:p>
          </p:txBody>
        </p:sp>
        <p:sp>
          <p:nvSpPr>
            <p:cNvPr id="19" name="Freeform 18"/>
            <p:cNvSpPr/>
            <p:nvPr/>
          </p:nvSpPr>
          <p:spPr>
            <a:xfrm>
              <a:off x="8046720" y="2148840"/>
              <a:ext cx="1143000" cy="548640"/>
            </a:xfrm>
            <a:custGeom>
              <a:avLst/>
              <a:gdLst/>
              <a:ahLst/>
              <a:cxnLst/>
              <a:rect l="l" t="t" r="r" b="b"/>
              <a:pathLst>
                <a:path w="1143000" h="548640">
                  <a:moveTo>
                    <a:pt x="0" y="0"/>
                  </a:moveTo>
                  <a:lnTo>
                    <a:pt x="0" y="182880"/>
                  </a:lnTo>
                  <a:lnTo>
                    <a:pt x="1143000" y="548640"/>
                  </a:lnTo>
                  <a:lnTo>
                    <a:pt x="1143000" y="365760"/>
                  </a:lnTo>
                  <a:close/>
                </a:path>
              </a:pathLst>
            </a:custGeom>
            <a:solidFill>
              <a:srgbClr val="9AA0A6"/>
            </a:solidFill>
            <a:ln w="9525">
              <a:solidFill>
                <a:srgbClr val="101418"/>
              </a:solidFill>
            </a:ln>
          </p:spPr>
          <p:txBody>
            <a:bodyPr rtlCol="0" anchor="ctr"/>
            <a:lstStyle/>
            <a:p>
              <a:pPr algn="ctr"/>
            </a:p>
          </p:txBody>
        </p:sp>
        <p:sp>
          <p:nvSpPr>
            <p:cNvPr id="20" name="Rectangle 19"/>
            <p:cNvSpPr/>
            <p:nvPr/>
          </p:nvSpPr>
          <p:spPr>
            <a:xfrm>
              <a:off x="8549640" y="2606040"/>
              <a:ext cx="2011680" cy="621792"/>
            </a:xfrm>
            <a:prstGeom prst="rect">
              <a:avLst/>
            </a:prstGeom>
            <a:solidFill>
              <a:srgbClr val="6C7480"/>
            </a:solidFill>
            <a:ln w="12700">
              <a:solidFill>
                <a:srgbClr val="101418"/>
              </a:solidFill>
            </a:ln>
          </p:spPr>
          <p:txBody>
            <a:bodyPr rtlCol="0" anchor="ctr"/>
            <a:lstStyle/>
            <a:p>
              <a:pPr algn="ctr"/>
            </a:p>
          </p:txBody>
        </p:sp>
        <p:sp>
          <p:nvSpPr>
            <p:cNvPr id="21" name="Freeform 20"/>
            <p:cNvSpPr/>
            <p:nvPr/>
          </p:nvSpPr>
          <p:spPr>
            <a:xfrm>
              <a:off x="8869680" y="2496312"/>
              <a:ext cx="548640" cy="109728"/>
            </a:xfrm>
            <a:custGeom>
              <a:avLst/>
              <a:gdLst/>
              <a:ahLst/>
              <a:cxnLst/>
              <a:rect l="l" t="t" r="r" b="b"/>
              <a:pathLst>
                <a:path w="548640" h="109728">
                  <a:moveTo>
                    <a:pt x="0" y="109728"/>
                  </a:moveTo>
                  <a:lnTo>
                    <a:pt x="98755" y="43891"/>
                  </a:lnTo>
                  <a:lnTo>
                    <a:pt x="208483" y="16459"/>
                  </a:lnTo>
                  <a:lnTo>
                    <a:pt x="301752" y="0"/>
                  </a:lnTo>
                  <a:lnTo>
                    <a:pt x="411480" y="32918"/>
                  </a:lnTo>
                  <a:lnTo>
                    <a:pt x="504749" y="65837"/>
                  </a:lnTo>
                  <a:lnTo>
                    <a:pt x="548640" y="109728"/>
                  </a:lnTo>
                  <a:close/>
                </a:path>
              </a:pathLst>
            </a:custGeom>
            <a:solidFill>
              <a:srgbClr val="1B1D21"/>
            </a:solidFill>
            <a:ln w="25400">
              <a:solidFill>
                <a:srgbClr val="6B7078"/>
              </a:solidFill>
            </a:ln>
          </p:spPr>
          <p:txBody>
            <a:bodyPr rtlCol="0" anchor="ctr"/>
            <a:lstStyle/>
            <a:p>
              <a:pPr algn="ctr"/>
            </a:p>
          </p:txBody>
        </p:sp>
        <p:sp>
          <p:nvSpPr>
            <p:cNvPr id="22" name="Oval 21"/>
            <p:cNvSpPr/>
            <p:nvPr/>
          </p:nvSpPr>
          <p:spPr>
            <a:xfrm>
              <a:off x="8823960" y="3108960"/>
              <a:ext cx="182880" cy="182880"/>
            </a:xfrm>
            <a:prstGeom prst="ellipse">
              <a:avLst/>
            </a:prstGeom>
            <a:solidFill>
              <a:srgbClr val="1B1D21"/>
            </a:solidFill>
            <a:ln w="12700">
              <a:solidFill>
                <a:srgbClr val="9AA0A6"/>
              </a:solidFill>
            </a:ln>
          </p:spPr>
          <p:txBody>
            <a:bodyPr rtlCol="0" anchor="ctr"/>
            <a:lstStyle/>
            <a:p>
              <a:pPr algn="ctr"/>
            </a:p>
          </p:txBody>
        </p:sp>
        <p:sp>
          <p:nvSpPr>
            <p:cNvPr id="23" name="Oval 22"/>
            <p:cNvSpPr/>
            <p:nvPr/>
          </p:nvSpPr>
          <p:spPr>
            <a:xfrm>
              <a:off x="10104120" y="3108960"/>
              <a:ext cx="182880" cy="182880"/>
            </a:xfrm>
            <a:prstGeom prst="ellipse">
              <a:avLst/>
            </a:prstGeom>
            <a:solidFill>
              <a:srgbClr val="1B1D21"/>
            </a:solidFill>
            <a:ln w="12700">
              <a:solidFill>
                <a:srgbClr val="9AA0A6"/>
              </a:solidFill>
            </a:ln>
          </p:spPr>
          <p:txBody>
            <a:bodyPr rtlCol="0" anchor="ctr"/>
            <a:lstStyle/>
            <a:p>
              <a:pPr algn="ctr"/>
            </a:p>
          </p:txBody>
        </p:sp>
        <p:cxnSp>
          <p:nvCxnSpPr>
            <p:cNvPr id="24" name="Connector 23"/>
            <p:cNvCxnSpPr/>
            <p:nvPr/>
          </p:nvCxnSpPr>
          <p:spPr>
            <a:xfrm>
              <a:off x="8183880" y="2057400"/>
              <a:ext cx="868680" cy="283464"/>
            </a:xfrm>
            <a:prstGeom prst="line">
              <a:avLst/>
            </a:prstGeom>
            <a:ln w="28575">
              <a:solidFill>
                <a:srgbClr val="F28C28"/>
              </a:solidFill>
              <a:tailEnd type="triangle" w="lg" len="lg"/>
            </a:ln>
          </p:spPr>
        </p:cxnSp>
        <p:sp>
          <p:nvSpPr>
            <p:cNvPr id="25" name="TextBox 24"/>
            <p:cNvSpPr txBox="1"/>
            <p:nvPr/>
          </p:nvSpPr>
          <p:spPr>
            <a:xfrm>
              <a:off x="8229600" y="1664208"/>
              <a:ext cx="1280160" cy="329184"/>
            </a:xfrm>
            <a:prstGeom prst="rect">
              <a:avLst/>
            </a:prstGeom>
            <a:noFill/>
          </p:spPr>
          <p:txBody>
            <a:bodyPr wrap="square" lIns="0" tIns="0" rIns="0" bIns="0" anchor="b">
              <a:noAutofit/>
            </a:bodyPr>
            <a:lstStyle/>
            <a:p>
              <a:pPr algn="l"/>
              <a:r>
                <a:rPr sz="1600" b="0" i="0" lang="en-GB">
                  <a:solidFill>
                    <a:srgbClr val="F2F2F2"/>
                  </a:solidFill>
                  <a:latin typeface="Arial"/>
                </a:rPr>
                <a:t>Gravity</a:t>
              </a:r>
            </a:p>
          </p:txBody>
        </p:sp>
      </p:grpSp>
      <p:sp>
        <p:nvSpPr>
          <p:cNvPr id="26" name="TextBox 25"/>
          <p:cNvSpPr txBox="1"/>
          <p:nvPr/>
        </p:nvSpPr>
        <p:spPr>
          <a:xfrm>
            <a:off x="5120640" y="3474720"/>
            <a:ext cx="2743200" cy="365760"/>
          </a:xfrm>
          <a:prstGeom prst="rect">
            <a:avLst/>
          </a:prstGeom>
          <a:noFill/>
        </p:spPr>
        <p:txBody>
          <a:bodyPr wrap="square" lIns="0" tIns="0" rIns="0" bIns="0" anchor="t">
            <a:noAutofit/>
          </a:bodyPr>
          <a:lstStyle/>
          <a:p>
            <a:pPr algn="l"/>
            <a:r>
              <a:rPr sz="1800" b="1" i="0" lang="en-GB">
                <a:solidFill>
                  <a:srgbClr val="F28C28"/>
                </a:solidFill>
                <a:latin typeface="Arial"/>
              </a:rPr>
              <a:t>Coaling tower</a:t>
            </a:r>
          </a:p>
        </p:txBody>
      </p:sp>
      <p:grpSp>
        <p:nvGrpSpPr>
          <p:cNvPr id="27" name="Coaling tower diagram" descr="Coaling tower: coal is lifted to the top of a tall tower and drops through a hopper into the tender."/>
          <p:cNvGrpSpPr/>
          <p:nvPr/>
        </p:nvGrpSpPr>
        <p:grpSpPr>
          <a:xfrm>
            <a:off x="5120640" y="3931920"/>
            <a:ext cx="4206240" cy="1728216"/>
            <a:chOff x="5120640" y="3931920"/>
            <a:chExt cx="4206240" cy="1728216"/>
          </a:xfrm>
        </p:grpSpPr>
        <p:sp>
          <p:nvSpPr>
            <p:cNvPr id="28" name="Rectangle 27"/>
            <p:cNvSpPr/>
            <p:nvPr/>
          </p:nvSpPr>
          <p:spPr>
            <a:xfrm>
              <a:off x="5120640" y="5596128"/>
              <a:ext cx="4206240" cy="64008"/>
            </a:xfrm>
            <a:prstGeom prst="rect">
              <a:avLst/>
            </a:prstGeom>
            <a:solidFill>
              <a:srgbClr val="9AA0A6"/>
            </a:solidFill>
            <a:ln>
              <a:noFill/>
            </a:ln>
          </p:spPr>
          <p:txBody>
            <a:bodyPr rtlCol="0" anchor="ctr"/>
            <a:lstStyle/>
            <a:p>
              <a:pPr algn="ctr"/>
            </a:p>
          </p:txBody>
        </p:sp>
        <p:sp>
          <p:nvSpPr>
            <p:cNvPr id="29" name="Rectangle 28"/>
            <p:cNvSpPr/>
            <p:nvPr/>
          </p:nvSpPr>
          <p:spPr>
            <a:xfrm>
              <a:off x="5577840" y="3931920"/>
              <a:ext cx="914400" cy="1664208"/>
            </a:xfrm>
            <a:prstGeom prst="rect">
              <a:avLst/>
            </a:prstGeom>
            <a:solidFill>
              <a:srgbClr val="343A43"/>
            </a:solidFill>
            <a:ln w="19050">
              <a:solidFill>
                <a:srgbClr val="9AA0A6"/>
              </a:solidFill>
            </a:ln>
          </p:spPr>
          <p:txBody>
            <a:bodyPr rtlCol="0" anchor="ctr"/>
            <a:lstStyle/>
            <a:p>
              <a:pPr algn="ctr"/>
            </a:p>
          </p:txBody>
        </p:sp>
        <p:sp>
          <p:nvSpPr>
            <p:cNvPr id="30" name="Rectangle 29"/>
            <p:cNvSpPr/>
            <p:nvPr/>
          </p:nvSpPr>
          <p:spPr>
            <a:xfrm>
              <a:off x="5650992" y="4005072"/>
              <a:ext cx="768096" cy="411480"/>
            </a:xfrm>
            <a:prstGeom prst="rect">
              <a:avLst/>
            </a:prstGeom>
            <a:solidFill>
              <a:srgbClr val="1B1D21"/>
            </a:solidFill>
            <a:ln w="19050">
              <a:solidFill>
                <a:srgbClr val="6B7078"/>
              </a:solidFill>
            </a:ln>
          </p:spPr>
          <p:txBody>
            <a:bodyPr rtlCol="0" anchor="ctr"/>
            <a:lstStyle/>
            <a:p>
              <a:pPr algn="ctr"/>
            </a:p>
          </p:txBody>
        </p:sp>
        <p:sp>
          <p:nvSpPr>
            <p:cNvPr id="31" name="Freeform 30"/>
            <p:cNvSpPr/>
            <p:nvPr/>
          </p:nvSpPr>
          <p:spPr>
            <a:xfrm>
              <a:off x="6492240" y="4434840"/>
              <a:ext cx="777240" cy="393192"/>
            </a:xfrm>
            <a:custGeom>
              <a:avLst/>
              <a:gdLst/>
              <a:ahLst/>
              <a:cxnLst/>
              <a:rect l="l" t="t" r="r" b="b"/>
              <a:pathLst>
                <a:path w="777240" h="393192">
                  <a:moveTo>
                    <a:pt x="0" y="0"/>
                  </a:moveTo>
                  <a:lnTo>
                    <a:pt x="777240" y="0"/>
                  </a:lnTo>
                  <a:lnTo>
                    <a:pt x="502920" y="393192"/>
                  </a:lnTo>
                  <a:lnTo>
                    <a:pt x="274320" y="393192"/>
                  </a:lnTo>
                  <a:close/>
                </a:path>
              </a:pathLst>
            </a:custGeom>
            <a:solidFill>
              <a:srgbClr val="9AA0A6"/>
            </a:solidFill>
            <a:ln w="9525">
              <a:solidFill>
                <a:srgbClr val="101418"/>
              </a:solidFill>
            </a:ln>
          </p:spPr>
          <p:txBody>
            <a:bodyPr rtlCol="0" anchor="ctr"/>
            <a:lstStyle/>
            <a:p>
              <a:pPr algn="ctr"/>
            </a:p>
          </p:txBody>
        </p:sp>
        <p:sp>
          <p:nvSpPr>
            <p:cNvPr id="32" name="Rectangle 31"/>
            <p:cNvSpPr/>
            <p:nvPr/>
          </p:nvSpPr>
          <p:spPr>
            <a:xfrm>
              <a:off x="6400800" y="4910328"/>
              <a:ext cx="2011680" cy="621792"/>
            </a:xfrm>
            <a:prstGeom prst="rect">
              <a:avLst/>
            </a:prstGeom>
            <a:solidFill>
              <a:srgbClr val="6C7480"/>
            </a:solidFill>
            <a:ln w="12700">
              <a:solidFill>
                <a:srgbClr val="101418"/>
              </a:solidFill>
            </a:ln>
          </p:spPr>
          <p:txBody>
            <a:bodyPr rtlCol="0" anchor="ctr"/>
            <a:lstStyle/>
            <a:p>
              <a:pPr algn="ctr"/>
            </a:p>
          </p:txBody>
        </p:sp>
        <p:sp>
          <p:nvSpPr>
            <p:cNvPr id="33" name="Oval 32"/>
            <p:cNvSpPr/>
            <p:nvPr/>
          </p:nvSpPr>
          <p:spPr>
            <a:xfrm>
              <a:off x="6675120" y="5413248"/>
              <a:ext cx="182880" cy="182880"/>
            </a:xfrm>
            <a:prstGeom prst="ellipse">
              <a:avLst/>
            </a:prstGeom>
            <a:solidFill>
              <a:srgbClr val="1B1D21"/>
            </a:solidFill>
            <a:ln w="12700">
              <a:solidFill>
                <a:srgbClr val="9AA0A6"/>
              </a:solidFill>
            </a:ln>
          </p:spPr>
          <p:txBody>
            <a:bodyPr rtlCol="0" anchor="ctr"/>
            <a:lstStyle/>
            <a:p>
              <a:pPr algn="ctr"/>
            </a:p>
          </p:txBody>
        </p:sp>
        <p:sp>
          <p:nvSpPr>
            <p:cNvPr id="34" name="Oval 33"/>
            <p:cNvSpPr/>
            <p:nvPr/>
          </p:nvSpPr>
          <p:spPr>
            <a:xfrm>
              <a:off x="7955280" y="5413248"/>
              <a:ext cx="182880" cy="182880"/>
            </a:xfrm>
            <a:prstGeom prst="ellipse">
              <a:avLst/>
            </a:prstGeom>
            <a:solidFill>
              <a:srgbClr val="1B1D21"/>
            </a:solidFill>
            <a:ln w="12700">
              <a:solidFill>
                <a:srgbClr val="9AA0A6"/>
              </a:solidFill>
            </a:ln>
          </p:spPr>
          <p:txBody>
            <a:bodyPr rtlCol="0" anchor="ctr"/>
            <a:lstStyle/>
            <a:p>
              <a:pPr algn="ctr"/>
            </a:p>
          </p:txBody>
        </p:sp>
        <p:cxnSp>
          <p:nvCxnSpPr>
            <p:cNvPr id="35" name="Connector 34"/>
            <p:cNvCxnSpPr/>
            <p:nvPr/>
          </p:nvCxnSpPr>
          <p:spPr>
            <a:xfrm>
              <a:off x="7498080" y="4343400"/>
              <a:ext cx="0" cy="502920"/>
            </a:xfrm>
            <a:prstGeom prst="line">
              <a:avLst/>
            </a:prstGeom>
            <a:ln w="28575">
              <a:solidFill>
                <a:srgbClr val="F28C28"/>
              </a:solidFill>
              <a:tailEnd type="triangle" w="lg" len="lg"/>
            </a:ln>
          </p:spPr>
        </p:cxnSp>
        <p:sp>
          <p:nvSpPr>
            <p:cNvPr id="36" name="TextBox 35"/>
            <p:cNvSpPr txBox="1"/>
            <p:nvPr/>
          </p:nvSpPr>
          <p:spPr>
            <a:xfrm>
              <a:off x="7635240" y="4370832"/>
              <a:ext cx="1280160" cy="365760"/>
            </a:xfrm>
            <a:prstGeom prst="rect">
              <a:avLst/>
            </a:prstGeom>
            <a:noFill/>
          </p:spPr>
          <p:txBody>
            <a:bodyPr wrap="square" lIns="0" tIns="0" rIns="0" bIns="0" anchor="ctr">
              <a:noAutofit/>
            </a:bodyPr>
            <a:lstStyle/>
            <a:p>
              <a:pPr algn="l"/>
              <a:r>
                <a:rPr sz="1600" b="0" i="0" lang="en-GB">
                  <a:solidFill>
                    <a:srgbClr val="F2F2F2"/>
                  </a:solidFill>
                  <a:latin typeface="Arial"/>
                </a:rPr>
                <a:t>Gravity</a:t>
              </a:r>
            </a:p>
          </p:txBody>
        </p:sp>
      </p:grpSp>
      <p:pic>
        <p:nvPicPr>
          <p:cNvPr id="37" name="Picture P09" descr="A tall coaling tower and a water tower at Carnforth."/>
          <p:cNvPicPr>
            <a:picLocks noChangeAspect="1"/>
          </p:cNvPicPr>
          <p:nvPr/>
        </p:nvPicPr>
        <p:blipFill>
          <a:blip r:embed="rId3"/>
          <a:srcRect t="617" b="617"/>
          <a:stretch>
            <a:fillRect/>
          </a:stretch>
        </p:blipFill>
        <p:spPr>
          <a:xfrm>
            <a:off x="9445752" y="4526280"/>
            <a:ext cx="2194560" cy="822960"/>
          </a:xfrm>
          <a:prstGeom prst="roundRect">
            <a:avLst>
              <a:gd name="adj" fmla="val 8889"/>
            </a:avLst>
          </a:prstGeom>
        </p:spPr>
      </p:pic>
      <p:sp>
        <p:nvSpPr>
          <p:cNvPr id="38" name="Credit"/>
          <p:cNvSpPr txBox="1"/>
          <p:nvPr/>
        </p:nvSpPr>
        <p:spPr>
          <a:xfrm>
            <a:off x="9445752" y="5376672"/>
            <a:ext cx="2194560" cy="338328"/>
          </a:xfrm>
          <a:prstGeom prst="rect">
            <a:avLst/>
          </a:prstGeom>
          <a:noFill/>
        </p:spPr>
        <p:txBody>
          <a:bodyPr wrap="square" lIns="0" tIns="0" rIns="0" bIns="0" anchor="t">
            <a:noAutofit/>
          </a:bodyPr>
          <a:lstStyle/>
          <a:p>
            <a:pPr algn="l"/>
            <a:r>
              <a:rPr sz="1000" b="0" i="0" lang="en-GB">
                <a:solidFill>
                  <a:srgbClr val="A9B0B8"/>
                </a:solidFill>
                <a:latin typeface="Arial"/>
              </a:rPr>
              <a:t>Photo: kitmasterbloke, CC BY 4.0,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Coal starts higher than the tender. A ramp or tower lets gravity fill it.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11</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225"/>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nodeType="withEffect">
                                  <p:stCondLst>
                                    <p:cond delay="45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nodeType="withEffect">
                                  <p:stCondLst>
                                    <p:cond delay="675"/>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500"/>
                                        <p:tgtEl>
                                          <p:spTgt spid="26"/>
                                        </p:tgtEl>
                                      </p:cBhvr>
                                    </p:animEffect>
                                  </p:childTnLst>
                                </p:cTn>
                              </p:par>
                              <p:par>
                                <p:cTn id="17" presetID="10" presetClass="entr" presetSubtype="0" fill="hold" nodeType="withEffect">
                                  <p:stCondLst>
                                    <p:cond delay="90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500"/>
                                        <p:tgtEl>
                                          <p:spTgt spid="27"/>
                                        </p:tgtEl>
                                      </p:cBhvr>
                                    </p:animEffect>
                                  </p:childTnLst>
                                </p:cTn>
                              </p:par>
                              <p:par>
                                <p:cTn id="20" presetID="10" presetClass="entr" presetSubtype="0" fill="hold" nodeType="withEffect">
                                  <p:stCondLst>
                                    <p:cond delay="1125"/>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500"/>
                                        <p:tgtEl>
                                          <p:spTgt spid="37"/>
                                        </p:tgtEl>
                                      </p:cBhvr>
                                    </p:animEffect>
                                  </p:childTnLst>
                                </p:cTn>
                              </p:par>
                              <p:par>
                                <p:cTn id="23" presetID="10" presetClass="entr" presetSubtype="0" fill="hold" nodeType="withEffect">
                                  <p:stCondLst>
                                    <p:cond delay="1350"/>
                                  </p:stCondLst>
                                  <p:childTnLst>
                                    <p:set>
                                      <p:cBhvr>
                                        <p:cTn id="24" dur="1" fill="hold">
                                          <p:stCondLst>
                                            <p:cond delay="0"/>
                                          </p:stCondLst>
                                        </p:cTn>
                                        <p:tgtEl>
                                          <p:spTgt spid="4"/>
                                        </p:tgtEl>
                                        <p:attrNameLst>
                                          <p:attrName>style.visibility</p:attrName>
                                        </p:attrNameLst>
                                      </p:cBhvr>
                                      <p:to>
                                        <p:strVal val="visible"/>
                                      </p:to>
                                    </p:set>
                                    <p:animEffect transition="in" filter="fade">
                                      <p:cBhvr>
                                        <p:cTn id="25" dur="500"/>
                                        <p:tgtEl>
                                          <p:spTgt spid="4"/>
                                        </p:tgtEl>
                                      </p:cBhvr>
                                    </p:animEffect>
                                  </p:childTnLst>
                                </p:cTn>
                              </p:par>
                              <p:par>
                                <p:cTn id="26" presetID="10" presetClass="entr" presetSubtype="0" fill="hold" nodeType="withEffect">
                                  <p:stCondLst>
                                    <p:cond delay="1575"/>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Why trains need signals</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No signals" descr="Without signals: two trains on the same track head for each other with no warning, and crash."/>
          <p:cNvGrpSpPr/>
          <p:nvPr/>
        </p:nvGrpSpPr>
        <p:grpSpPr>
          <a:xfrm>
            <a:off x="548640" y="1325880"/>
            <a:ext cx="11091672" cy="1691640"/>
            <a:chOff x="548640" y="1325880"/>
            <a:chExt cx="11091672" cy="1691640"/>
          </a:xfrm>
        </p:grpSpPr>
        <p:sp>
          <p:nvSpPr>
            <p:cNvPr id="9" name="Rounded Rectangle 8"/>
            <p:cNvSpPr/>
            <p:nvPr/>
          </p:nvSpPr>
          <p:spPr>
            <a:xfrm>
              <a:off x="548640" y="1325880"/>
              <a:ext cx="11091672" cy="1691640"/>
            </a:xfrm>
            <a:prstGeom prst="roundRect">
              <a:avLst>
                <a:gd name="adj" fmla="val 4324"/>
              </a:avLst>
            </a:prstGeom>
            <a:solidFill>
              <a:srgbClr val="2B2F36"/>
            </a:solidFill>
            <a:ln>
              <a:noFill/>
            </a:ln>
          </p:spPr>
          <p:txBody>
            <a:bodyPr rtlCol="0" anchor="ctr"/>
            <a:lstStyle/>
            <a:p>
              <a:pPr algn="ctr"/>
            </a:p>
          </p:txBody>
        </p:sp>
        <p:sp>
          <p:nvSpPr>
            <p:cNvPr id="10" name="Rectangle 9"/>
            <p:cNvSpPr/>
            <p:nvPr/>
          </p:nvSpPr>
          <p:spPr>
            <a:xfrm>
              <a:off x="1092708" y="2340864"/>
              <a:ext cx="54864" cy="365760"/>
            </a:xfrm>
            <a:prstGeom prst="rect">
              <a:avLst/>
            </a:prstGeom>
            <a:solidFill>
              <a:srgbClr val="6B5B4B"/>
            </a:solidFill>
            <a:ln>
              <a:noFill/>
            </a:ln>
          </p:spPr>
          <p:txBody>
            <a:bodyPr rtlCol="0" anchor="ctr"/>
            <a:lstStyle/>
            <a:p>
              <a:pPr algn="ctr"/>
            </a:p>
          </p:txBody>
        </p:sp>
        <p:sp>
          <p:nvSpPr>
            <p:cNvPr id="11" name="Rectangle 10"/>
            <p:cNvSpPr/>
            <p:nvPr/>
          </p:nvSpPr>
          <p:spPr>
            <a:xfrm>
              <a:off x="1412748" y="2340864"/>
              <a:ext cx="54864" cy="365760"/>
            </a:xfrm>
            <a:prstGeom prst="rect">
              <a:avLst/>
            </a:prstGeom>
            <a:solidFill>
              <a:srgbClr val="6B5B4B"/>
            </a:solidFill>
            <a:ln>
              <a:noFill/>
            </a:ln>
          </p:spPr>
          <p:txBody>
            <a:bodyPr rtlCol="0" anchor="ctr"/>
            <a:lstStyle/>
            <a:p>
              <a:pPr algn="ctr"/>
            </a:p>
          </p:txBody>
        </p:sp>
        <p:sp>
          <p:nvSpPr>
            <p:cNvPr id="12" name="Rectangle 11"/>
            <p:cNvSpPr/>
            <p:nvPr/>
          </p:nvSpPr>
          <p:spPr>
            <a:xfrm>
              <a:off x="1732788" y="2340864"/>
              <a:ext cx="54864" cy="365760"/>
            </a:xfrm>
            <a:prstGeom prst="rect">
              <a:avLst/>
            </a:prstGeom>
            <a:solidFill>
              <a:srgbClr val="6B5B4B"/>
            </a:solidFill>
            <a:ln>
              <a:noFill/>
            </a:ln>
          </p:spPr>
          <p:txBody>
            <a:bodyPr rtlCol="0" anchor="ctr"/>
            <a:lstStyle/>
            <a:p>
              <a:pPr algn="ctr"/>
            </a:p>
          </p:txBody>
        </p:sp>
        <p:sp>
          <p:nvSpPr>
            <p:cNvPr id="13" name="Rectangle 12"/>
            <p:cNvSpPr/>
            <p:nvPr/>
          </p:nvSpPr>
          <p:spPr>
            <a:xfrm>
              <a:off x="2052828" y="2340864"/>
              <a:ext cx="54864" cy="365760"/>
            </a:xfrm>
            <a:prstGeom prst="rect">
              <a:avLst/>
            </a:prstGeom>
            <a:solidFill>
              <a:srgbClr val="6B5B4B"/>
            </a:solidFill>
            <a:ln>
              <a:noFill/>
            </a:ln>
          </p:spPr>
          <p:txBody>
            <a:bodyPr rtlCol="0" anchor="ctr"/>
            <a:lstStyle/>
            <a:p>
              <a:pPr algn="ctr"/>
            </a:p>
          </p:txBody>
        </p:sp>
        <p:sp>
          <p:nvSpPr>
            <p:cNvPr id="14" name="Rectangle 13"/>
            <p:cNvSpPr/>
            <p:nvPr/>
          </p:nvSpPr>
          <p:spPr>
            <a:xfrm>
              <a:off x="2372868" y="2340864"/>
              <a:ext cx="54864" cy="365760"/>
            </a:xfrm>
            <a:prstGeom prst="rect">
              <a:avLst/>
            </a:prstGeom>
            <a:solidFill>
              <a:srgbClr val="6B5B4B"/>
            </a:solidFill>
            <a:ln>
              <a:noFill/>
            </a:ln>
          </p:spPr>
          <p:txBody>
            <a:bodyPr rtlCol="0" anchor="ctr"/>
            <a:lstStyle/>
            <a:p>
              <a:pPr algn="ctr"/>
            </a:p>
          </p:txBody>
        </p:sp>
        <p:sp>
          <p:nvSpPr>
            <p:cNvPr id="15" name="Rectangle 14"/>
            <p:cNvSpPr/>
            <p:nvPr/>
          </p:nvSpPr>
          <p:spPr>
            <a:xfrm>
              <a:off x="2692908" y="2340864"/>
              <a:ext cx="54864" cy="365760"/>
            </a:xfrm>
            <a:prstGeom prst="rect">
              <a:avLst/>
            </a:prstGeom>
            <a:solidFill>
              <a:srgbClr val="6B5B4B"/>
            </a:solidFill>
            <a:ln>
              <a:noFill/>
            </a:ln>
          </p:spPr>
          <p:txBody>
            <a:bodyPr rtlCol="0" anchor="ctr"/>
            <a:lstStyle/>
            <a:p>
              <a:pPr algn="ctr"/>
            </a:p>
          </p:txBody>
        </p:sp>
        <p:sp>
          <p:nvSpPr>
            <p:cNvPr id="16" name="Rectangle 15"/>
            <p:cNvSpPr/>
            <p:nvPr/>
          </p:nvSpPr>
          <p:spPr>
            <a:xfrm>
              <a:off x="3012948" y="2340864"/>
              <a:ext cx="54864" cy="365760"/>
            </a:xfrm>
            <a:prstGeom prst="rect">
              <a:avLst/>
            </a:prstGeom>
            <a:solidFill>
              <a:srgbClr val="6B5B4B"/>
            </a:solidFill>
            <a:ln>
              <a:noFill/>
            </a:ln>
          </p:spPr>
          <p:txBody>
            <a:bodyPr rtlCol="0" anchor="ctr"/>
            <a:lstStyle/>
            <a:p>
              <a:pPr algn="ctr"/>
            </a:p>
          </p:txBody>
        </p:sp>
        <p:sp>
          <p:nvSpPr>
            <p:cNvPr id="17" name="Rectangle 16"/>
            <p:cNvSpPr/>
            <p:nvPr/>
          </p:nvSpPr>
          <p:spPr>
            <a:xfrm>
              <a:off x="3332988" y="2340864"/>
              <a:ext cx="54864" cy="365760"/>
            </a:xfrm>
            <a:prstGeom prst="rect">
              <a:avLst/>
            </a:prstGeom>
            <a:solidFill>
              <a:srgbClr val="6B5B4B"/>
            </a:solidFill>
            <a:ln>
              <a:noFill/>
            </a:ln>
          </p:spPr>
          <p:txBody>
            <a:bodyPr rtlCol="0" anchor="ctr"/>
            <a:lstStyle/>
            <a:p>
              <a:pPr algn="ctr"/>
            </a:p>
          </p:txBody>
        </p:sp>
        <p:sp>
          <p:nvSpPr>
            <p:cNvPr id="18" name="Rectangle 17"/>
            <p:cNvSpPr/>
            <p:nvPr/>
          </p:nvSpPr>
          <p:spPr>
            <a:xfrm>
              <a:off x="3653028" y="2340864"/>
              <a:ext cx="54864" cy="365760"/>
            </a:xfrm>
            <a:prstGeom prst="rect">
              <a:avLst/>
            </a:prstGeom>
            <a:solidFill>
              <a:srgbClr val="6B5B4B"/>
            </a:solidFill>
            <a:ln>
              <a:noFill/>
            </a:ln>
          </p:spPr>
          <p:txBody>
            <a:bodyPr rtlCol="0" anchor="ctr"/>
            <a:lstStyle/>
            <a:p>
              <a:pPr algn="ctr"/>
            </a:p>
          </p:txBody>
        </p:sp>
        <p:sp>
          <p:nvSpPr>
            <p:cNvPr id="19" name="Rectangle 18"/>
            <p:cNvSpPr/>
            <p:nvPr/>
          </p:nvSpPr>
          <p:spPr>
            <a:xfrm>
              <a:off x="3973068" y="2340864"/>
              <a:ext cx="54864" cy="365760"/>
            </a:xfrm>
            <a:prstGeom prst="rect">
              <a:avLst/>
            </a:prstGeom>
            <a:solidFill>
              <a:srgbClr val="6B5B4B"/>
            </a:solidFill>
            <a:ln>
              <a:noFill/>
            </a:ln>
          </p:spPr>
          <p:txBody>
            <a:bodyPr rtlCol="0" anchor="ctr"/>
            <a:lstStyle/>
            <a:p>
              <a:pPr algn="ctr"/>
            </a:p>
          </p:txBody>
        </p:sp>
        <p:sp>
          <p:nvSpPr>
            <p:cNvPr id="20" name="Rectangle 19"/>
            <p:cNvSpPr/>
            <p:nvPr/>
          </p:nvSpPr>
          <p:spPr>
            <a:xfrm>
              <a:off x="4293108" y="2340864"/>
              <a:ext cx="54864" cy="365760"/>
            </a:xfrm>
            <a:prstGeom prst="rect">
              <a:avLst/>
            </a:prstGeom>
            <a:solidFill>
              <a:srgbClr val="6B5B4B"/>
            </a:solidFill>
            <a:ln>
              <a:noFill/>
            </a:ln>
          </p:spPr>
          <p:txBody>
            <a:bodyPr rtlCol="0" anchor="ctr"/>
            <a:lstStyle/>
            <a:p>
              <a:pPr algn="ctr"/>
            </a:p>
          </p:txBody>
        </p:sp>
        <p:sp>
          <p:nvSpPr>
            <p:cNvPr id="21" name="Rectangle 20"/>
            <p:cNvSpPr/>
            <p:nvPr/>
          </p:nvSpPr>
          <p:spPr>
            <a:xfrm>
              <a:off x="4613148" y="2340864"/>
              <a:ext cx="54864" cy="365760"/>
            </a:xfrm>
            <a:prstGeom prst="rect">
              <a:avLst/>
            </a:prstGeom>
            <a:solidFill>
              <a:srgbClr val="6B5B4B"/>
            </a:solidFill>
            <a:ln>
              <a:noFill/>
            </a:ln>
          </p:spPr>
          <p:txBody>
            <a:bodyPr rtlCol="0" anchor="ctr"/>
            <a:lstStyle/>
            <a:p>
              <a:pPr algn="ctr"/>
            </a:p>
          </p:txBody>
        </p:sp>
        <p:sp>
          <p:nvSpPr>
            <p:cNvPr id="22" name="Rectangle 21"/>
            <p:cNvSpPr/>
            <p:nvPr/>
          </p:nvSpPr>
          <p:spPr>
            <a:xfrm>
              <a:off x="4933188" y="2340864"/>
              <a:ext cx="54864" cy="365760"/>
            </a:xfrm>
            <a:prstGeom prst="rect">
              <a:avLst/>
            </a:prstGeom>
            <a:solidFill>
              <a:srgbClr val="6B5B4B"/>
            </a:solidFill>
            <a:ln>
              <a:noFill/>
            </a:ln>
          </p:spPr>
          <p:txBody>
            <a:bodyPr rtlCol="0" anchor="ctr"/>
            <a:lstStyle/>
            <a:p>
              <a:pPr algn="ctr"/>
            </a:p>
          </p:txBody>
        </p:sp>
        <p:sp>
          <p:nvSpPr>
            <p:cNvPr id="23" name="Rectangle 22"/>
            <p:cNvSpPr/>
            <p:nvPr/>
          </p:nvSpPr>
          <p:spPr>
            <a:xfrm>
              <a:off x="5253228" y="2340864"/>
              <a:ext cx="54864" cy="365760"/>
            </a:xfrm>
            <a:prstGeom prst="rect">
              <a:avLst/>
            </a:prstGeom>
            <a:solidFill>
              <a:srgbClr val="6B5B4B"/>
            </a:solidFill>
            <a:ln>
              <a:noFill/>
            </a:ln>
          </p:spPr>
          <p:txBody>
            <a:bodyPr rtlCol="0" anchor="ctr"/>
            <a:lstStyle/>
            <a:p>
              <a:pPr algn="ctr"/>
            </a:p>
          </p:txBody>
        </p:sp>
        <p:sp>
          <p:nvSpPr>
            <p:cNvPr id="24" name="Rectangle 23"/>
            <p:cNvSpPr/>
            <p:nvPr/>
          </p:nvSpPr>
          <p:spPr>
            <a:xfrm>
              <a:off x="5573268" y="2340864"/>
              <a:ext cx="54864" cy="365760"/>
            </a:xfrm>
            <a:prstGeom prst="rect">
              <a:avLst/>
            </a:prstGeom>
            <a:solidFill>
              <a:srgbClr val="6B5B4B"/>
            </a:solidFill>
            <a:ln>
              <a:noFill/>
            </a:ln>
          </p:spPr>
          <p:txBody>
            <a:bodyPr rtlCol="0" anchor="ctr"/>
            <a:lstStyle/>
            <a:p>
              <a:pPr algn="ctr"/>
            </a:p>
          </p:txBody>
        </p:sp>
        <p:sp>
          <p:nvSpPr>
            <p:cNvPr id="25" name="Rectangle 24"/>
            <p:cNvSpPr/>
            <p:nvPr/>
          </p:nvSpPr>
          <p:spPr>
            <a:xfrm>
              <a:off x="5893308" y="2340864"/>
              <a:ext cx="54864" cy="365760"/>
            </a:xfrm>
            <a:prstGeom prst="rect">
              <a:avLst/>
            </a:prstGeom>
            <a:solidFill>
              <a:srgbClr val="6B5B4B"/>
            </a:solidFill>
            <a:ln>
              <a:noFill/>
            </a:ln>
          </p:spPr>
          <p:txBody>
            <a:bodyPr rtlCol="0" anchor="ctr"/>
            <a:lstStyle/>
            <a:p>
              <a:pPr algn="ctr"/>
            </a:p>
          </p:txBody>
        </p:sp>
        <p:sp>
          <p:nvSpPr>
            <p:cNvPr id="26" name="Rectangle 25"/>
            <p:cNvSpPr/>
            <p:nvPr/>
          </p:nvSpPr>
          <p:spPr>
            <a:xfrm>
              <a:off x="6213348" y="2340864"/>
              <a:ext cx="54864" cy="365760"/>
            </a:xfrm>
            <a:prstGeom prst="rect">
              <a:avLst/>
            </a:prstGeom>
            <a:solidFill>
              <a:srgbClr val="6B5B4B"/>
            </a:solidFill>
            <a:ln>
              <a:noFill/>
            </a:ln>
          </p:spPr>
          <p:txBody>
            <a:bodyPr rtlCol="0" anchor="ctr"/>
            <a:lstStyle/>
            <a:p>
              <a:pPr algn="ctr"/>
            </a:p>
          </p:txBody>
        </p:sp>
        <p:sp>
          <p:nvSpPr>
            <p:cNvPr id="27" name="Rectangle 26"/>
            <p:cNvSpPr/>
            <p:nvPr/>
          </p:nvSpPr>
          <p:spPr>
            <a:xfrm>
              <a:off x="6533388" y="2340864"/>
              <a:ext cx="54864" cy="365760"/>
            </a:xfrm>
            <a:prstGeom prst="rect">
              <a:avLst/>
            </a:prstGeom>
            <a:solidFill>
              <a:srgbClr val="6B5B4B"/>
            </a:solidFill>
            <a:ln>
              <a:noFill/>
            </a:ln>
          </p:spPr>
          <p:txBody>
            <a:bodyPr rtlCol="0" anchor="ctr"/>
            <a:lstStyle/>
            <a:p>
              <a:pPr algn="ctr"/>
            </a:p>
          </p:txBody>
        </p:sp>
        <p:sp>
          <p:nvSpPr>
            <p:cNvPr id="28" name="Rectangle 27"/>
            <p:cNvSpPr/>
            <p:nvPr/>
          </p:nvSpPr>
          <p:spPr>
            <a:xfrm>
              <a:off x="6853428" y="2340864"/>
              <a:ext cx="54864" cy="365760"/>
            </a:xfrm>
            <a:prstGeom prst="rect">
              <a:avLst/>
            </a:prstGeom>
            <a:solidFill>
              <a:srgbClr val="6B5B4B"/>
            </a:solidFill>
            <a:ln>
              <a:noFill/>
            </a:ln>
          </p:spPr>
          <p:txBody>
            <a:bodyPr rtlCol="0" anchor="ctr"/>
            <a:lstStyle/>
            <a:p>
              <a:pPr algn="ctr"/>
            </a:p>
          </p:txBody>
        </p:sp>
        <p:sp>
          <p:nvSpPr>
            <p:cNvPr id="29" name="Rectangle 28"/>
            <p:cNvSpPr/>
            <p:nvPr/>
          </p:nvSpPr>
          <p:spPr>
            <a:xfrm>
              <a:off x="7173468" y="2340864"/>
              <a:ext cx="54864" cy="365760"/>
            </a:xfrm>
            <a:prstGeom prst="rect">
              <a:avLst/>
            </a:prstGeom>
            <a:solidFill>
              <a:srgbClr val="6B5B4B"/>
            </a:solidFill>
            <a:ln>
              <a:noFill/>
            </a:ln>
          </p:spPr>
          <p:txBody>
            <a:bodyPr rtlCol="0" anchor="ctr"/>
            <a:lstStyle/>
            <a:p>
              <a:pPr algn="ctr"/>
            </a:p>
          </p:txBody>
        </p:sp>
        <p:sp>
          <p:nvSpPr>
            <p:cNvPr id="30" name="Rectangle 29"/>
            <p:cNvSpPr/>
            <p:nvPr/>
          </p:nvSpPr>
          <p:spPr>
            <a:xfrm>
              <a:off x="7493508" y="2340864"/>
              <a:ext cx="54864" cy="365760"/>
            </a:xfrm>
            <a:prstGeom prst="rect">
              <a:avLst/>
            </a:prstGeom>
            <a:solidFill>
              <a:srgbClr val="6B5B4B"/>
            </a:solidFill>
            <a:ln>
              <a:noFill/>
            </a:ln>
          </p:spPr>
          <p:txBody>
            <a:bodyPr rtlCol="0" anchor="ctr"/>
            <a:lstStyle/>
            <a:p>
              <a:pPr algn="ctr"/>
            </a:p>
          </p:txBody>
        </p:sp>
        <p:sp>
          <p:nvSpPr>
            <p:cNvPr id="31" name="Rectangle 30"/>
            <p:cNvSpPr/>
            <p:nvPr/>
          </p:nvSpPr>
          <p:spPr>
            <a:xfrm>
              <a:off x="7813548" y="2340864"/>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8133588" y="2340864"/>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8453628" y="2340864"/>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8773668" y="2340864"/>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9093708" y="2340864"/>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9413748" y="2340864"/>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9733788" y="2340864"/>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10053828" y="2340864"/>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10373868" y="2340864"/>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10693908" y="2340864"/>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11013948" y="2340864"/>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822960" y="2368296"/>
              <a:ext cx="10515600" cy="54864"/>
            </a:xfrm>
            <a:prstGeom prst="rect">
              <a:avLst/>
            </a:prstGeom>
            <a:solidFill>
              <a:srgbClr val="9AA0A6"/>
            </a:solidFill>
            <a:ln>
              <a:noFill/>
            </a:ln>
          </p:spPr>
          <p:txBody>
            <a:bodyPr rtlCol="0" anchor="ctr"/>
            <a:lstStyle/>
            <a:p>
              <a:pPr algn="ctr"/>
            </a:p>
          </p:txBody>
        </p:sp>
        <p:sp>
          <p:nvSpPr>
            <p:cNvPr id="43" name="Rectangle 42"/>
            <p:cNvSpPr/>
            <p:nvPr/>
          </p:nvSpPr>
          <p:spPr>
            <a:xfrm>
              <a:off x="822960" y="2624328"/>
              <a:ext cx="10515600" cy="54864"/>
            </a:xfrm>
            <a:prstGeom prst="rect">
              <a:avLst/>
            </a:prstGeom>
            <a:solidFill>
              <a:srgbClr val="9AA0A6"/>
            </a:solidFill>
            <a:ln>
              <a:noFill/>
            </a:ln>
          </p:spPr>
          <p:txBody>
            <a:bodyPr rtlCol="0" anchor="ctr"/>
            <a:lstStyle/>
            <a:p>
              <a:pPr algn="ctr"/>
            </a:p>
          </p:txBody>
        </p:sp>
        <p:grpSp>
          <p:nvGrpSpPr>
            <p:cNvPr id="44" name="Train A" descr="A steam train: an engine pulling wagons."/>
            <p:cNvGrpSpPr/>
            <p:nvPr/>
          </p:nvGrpSpPr>
          <p:grpSpPr>
            <a:xfrm>
              <a:off x="1920240" y="1630375"/>
              <a:ext cx="2271370" cy="765353"/>
              <a:chOff x="1920240" y="1630375"/>
              <a:chExt cx="2271370" cy="765353"/>
            </a:xfrm>
          </p:grpSpPr>
          <p:sp>
            <p:nvSpPr>
              <p:cNvPr id="45" name="Rectangle 44"/>
              <p:cNvSpPr/>
              <p:nvPr/>
            </p:nvSpPr>
            <p:spPr>
              <a:xfrm>
                <a:off x="1920240" y="1926641"/>
                <a:ext cx="658368" cy="370332"/>
              </a:xfrm>
              <a:prstGeom prst="rect">
                <a:avLst/>
              </a:prstGeom>
              <a:solidFill>
                <a:srgbClr val="6C7480"/>
              </a:solidFill>
              <a:ln w="9525">
                <a:solidFill>
                  <a:srgbClr val="101418"/>
                </a:solidFill>
              </a:ln>
            </p:spPr>
            <p:txBody>
              <a:bodyPr rtlCol="0" anchor="ctr"/>
              <a:lstStyle/>
              <a:p>
                <a:pPr algn="ctr"/>
              </a:p>
            </p:txBody>
          </p:sp>
          <p:sp>
            <p:nvSpPr>
              <p:cNvPr id="46" name="Oval 45"/>
              <p:cNvSpPr/>
              <p:nvPr/>
            </p:nvSpPr>
            <p:spPr>
              <a:xfrm>
                <a:off x="2002536" y="2231136"/>
                <a:ext cx="164592" cy="164592"/>
              </a:xfrm>
              <a:prstGeom prst="ellipse">
                <a:avLst/>
              </a:prstGeom>
              <a:solidFill>
                <a:srgbClr val="1B1D21"/>
              </a:solidFill>
              <a:ln w="12700">
                <a:solidFill>
                  <a:srgbClr val="9AA0A6"/>
                </a:solidFill>
              </a:ln>
            </p:spPr>
            <p:txBody>
              <a:bodyPr rtlCol="0" anchor="ctr"/>
              <a:lstStyle/>
              <a:p>
                <a:pPr algn="ctr"/>
              </a:p>
            </p:txBody>
          </p:sp>
          <p:sp>
            <p:nvSpPr>
              <p:cNvPr id="47" name="Oval 46"/>
              <p:cNvSpPr/>
              <p:nvPr/>
            </p:nvSpPr>
            <p:spPr>
              <a:xfrm>
                <a:off x="2331720" y="2231136"/>
                <a:ext cx="164592" cy="164592"/>
              </a:xfrm>
              <a:prstGeom prst="ellipse">
                <a:avLst/>
              </a:prstGeom>
              <a:solidFill>
                <a:srgbClr val="1B1D21"/>
              </a:solidFill>
              <a:ln w="12700">
                <a:solidFill>
                  <a:srgbClr val="9AA0A6"/>
                </a:solidFill>
              </a:ln>
            </p:spPr>
            <p:txBody>
              <a:bodyPr rtlCol="0" anchor="ctr"/>
              <a:lstStyle/>
              <a:p>
                <a:pPr algn="ctr"/>
              </a:p>
            </p:txBody>
          </p:sp>
          <p:sp>
            <p:nvSpPr>
              <p:cNvPr id="48" name="Rectangle 47"/>
              <p:cNvSpPr/>
              <p:nvPr/>
            </p:nvSpPr>
            <p:spPr>
              <a:xfrm>
                <a:off x="2578608" y="2189988"/>
                <a:ext cx="65837" cy="41148"/>
              </a:xfrm>
              <a:prstGeom prst="rect">
                <a:avLst/>
              </a:prstGeom>
              <a:solidFill>
                <a:srgbClr val="9AA0A6"/>
              </a:solidFill>
              <a:ln>
                <a:noFill/>
              </a:ln>
            </p:spPr>
            <p:txBody>
              <a:bodyPr rtlCol="0" anchor="ctr"/>
              <a:lstStyle/>
              <a:p>
                <a:pPr algn="ctr"/>
              </a:p>
            </p:txBody>
          </p:sp>
          <p:sp>
            <p:nvSpPr>
              <p:cNvPr id="49" name="Rectangle 48"/>
              <p:cNvSpPr/>
              <p:nvPr/>
            </p:nvSpPr>
            <p:spPr>
              <a:xfrm>
                <a:off x="2644445" y="1926641"/>
                <a:ext cx="658368" cy="370332"/>
              </a:xfrm>
              <a:prstGeom prst="rect">
                <a:avLst/>
              </a:prstGeom>
              <a:solidFill>
                <a:srgbClr val="6C7480"/>
              </a:solidFill>
              <a:ln w="9525">
                <a:solidFill>
                  <a:srgbClr val="101418"/>
                </a:solidFill>
              </a:ln>
            </p:spPr>
            <p:txBody>
              <a:bodyPr rtlCol="0" anchor="ctr"/>
              <a:lstStyle/>
              <a:p>
                <a:pPr algn="ctr"/>
              </a:p>
            </p:txBody>
          </p:sp>
          <p:sp>
            <p:nvSpPr>
              <p:cNvPr id="50" name="Oval 49"/>
              <p:cNvSpPr/>
              <p:nvPr/>
            </p:nvSpPr>
            <p:spPr>
              <a:xfrm>
                <a:off x="2726741" y="2231136"/>
                <a:ext cx="164592" cy="164592"/>
              </a:xfrm>
              <a:prstGeom prst="ellipse">
                <a:avLst/>
              </a:prstGeom>
              <a:solidFill>
                <a:srgbClr val="1B1D21"/>
              </a:solidFill>
              <a:ln w="12700">
                <a:solidFill>
                  <a:srgbClr val="9AA0A6"/>
                </a:solidFill>
              </a:ln>
            </p:spPr>
            <p:txBody>
              <a:bodyPr rtlCol="0" anchor="ctr"/>
              <a:lstStyle/>
              <a:p>
                <a:pPr algn="ctr"/>
              </a:p>
            </p:txBody>
          </p:sp>
          <p:sp>
            <p:nvSpPr>
              <p:cNvPr id="51" name="Oval 50"/>
              <p:cNvSpPr/>
              <p:nvPr/>
            </p:nvSpPr>
            <p:spPr>
              <a:xfrm>
                <a:off x="3055925" y="2231136"/>
                <a:ext cx="164592" cy="164592"/>
              </a:xfrm>
              <a:prstGeom prst="ellipse">
                <a:avLst/>
              </a:prstGeom>
              <a:solidFill>
                <a:srgbClr val="1B1D21"/>
              </a:solidFill>
              <a:ln w="12700">
                <a:solidFill>
                  <a:srgbClr val="9AA0A6"/>
                </a:solidFill>
              </a:ln>
            </p:spPr>
            <p:txBody>
              <a:bodyPr rtlCol="0" anchor="ctr"/>
              <a:lstStyle/>
              <a:p>
                <a:pPr algn="ctr"/>
              </a:p>
            </p:txBody>
          </p:sp>
          <p:sp>
            <p:nvSpPr>
              <p:cNvPr id="52" name="Rectangle 51"/>
              <p:cNvSpPr/>
              <p:nvPr/>
            </p:nvSpPr>
            <p:spPr>
              <a:xfrm>
                <a:off x="3302813" y="2189988"/>
                <a:ext cx="65837" cy="41148"/>
              </a:xfrm>
              <a:prstGeom prst="rect">
                <a:avLst/>
              </a:prstGeom>
              <a:solidFill>
                <a:srgbClr val="9AA0A6"/>
              </a:solidFill>
              <a:ln>
                <a:noFill/>
              </a:ln>
            </p:spPr>
            <p:txBody>
              <a:bodyPr rtlCol="0" anchor="ctr"/>
              <a:lstStyle/>
              <a:p>
                <a:pPr algn="ctr"/>
              </a:p>
            </p:txBody>
          </p:sp>
          <p:sp>
            <p:nvSpPr>
              <p:cNvPr id="53" name="Rectangle 52"/>
              <p:cNvSpPr/>
              <p:nvPr/>
            </p:nvSpPr>
            <p:spPr>
              <a:xfrm>
                <a:off x="3368650" y="1860804"/>
                <a:ext cx="822960" cy="452628"/>
              </a:xfrm>
              <a:prstGeom prst="rect">
                <a:avLst/>
              </a:prstGeom>
              <a:solidFill>
                <a:srgbClr val="F28C28"/>
              </a:solidFill>
              <a:ln w="9525">
                <a:solidFill>
                  <a:srgbClr val="101418"/>
                </a:solidFill>
              </a:ln>
            </p:spPr>
            <p:txBody>
              <a:bodyPr rtlCol="0" anchor="ctr"/>
              <a:lstStyle/>
              <a:p>
                <a:pPr algn="ctr"/>
              </a:p>
            </p:txBody>
          </p:sp>
          <p:sp>
            <p:nvSpPr>
              <p:cNvPr id="54" name="Bunker"/>
              <p:cNvSpPr/>
              <p:nvPr/>
            </p:nvSpPr>
            <p:spPr>
              <a:xfrm>
                <a:off x="3393338" y="1885493"/>
                <a:ext cx="213970" cy="164592"/>
              </a:xfrm>
              <a:prstGeom prst="rect">
                <a:avLst/>
              </a:prstGeom>
              <a:solidFill>
                <a:srgbClr val="1B1D21"/>
              </a:solidFill>
              <a:ln>
                <a:noFill/>
              </a:ln>
            </p:spPr>
            <p:txBody>
              <a:bodyPr rtlCol="0" anchor="ctr"/>
              <a:lstStyle/>
              <a:p>
                <a:pPr algn="ctr"/>
              </a:p>
            </p:txBody>
          </p:sp>
          <p:sp>
            <p:nvSpPr>
              <p:cNvPr id="55" name="Rectangle 54"/>
              <p:cNvSpPr/>
              <p:nvPr/>
            </p:nvSpPr>
            <p:spPr>
              <a:xfrm>
                <a:off x="3648456" y="1918411"/>
                <a:ext cx="115214" cy="115214"/>
              </a:xfrm>
              <a:prstGeom prst="rect">
                <a:avLst/>
              </a:prstGeom>
              <a:solidFill>
                <a:srgbClr val="2B2F36"/>
              </a:solidFill>
              <a:ln>
                <a:noFill/>
              </a:ln>
            </p:spPr>
            <p:txBody>
              <a:bodyPr rtlCol="0" anchor="ctr"/>
              <a:lstStyle/>
              <a:p>
                <a:pPr algn="ctr"/>
              </a:p>
            </p:txBody>
          </p:sp>
          <p:sp>
            <p:nvSpPr>
              <p:cNvPr id="56" name="Chimney"/>
              <p:cNvSpPr/>
              <p:nvPr/>
            </p:nvSpPr>
            <p:spPr>
              <a:xfrm>
                <a:off x="4010558" y="1630375"/>
                <a:ext cx="123444" cy="246888"/>
              </a:xfrm>
              <a:prstGeom prst="rect">
                <a:avLst/>
              </a:prstGeom>
              <a:solidFill>
                <a:srgbClr val="1B1D21"/>
              </a:solidFill>
              <a:ln>
                <a:noFill/>
              </a:ln>
            </p:spPr>
            <p:txBody>
              <a:bodyPr rtlCol="0" anchor="ctr"/>
              <a:lstStyle/>
              <a:p>
                <a:pPr algn="ctr"/>
              </a:p>
            </p:txBody>
          </p:sp>
          <p:sp>
            <p:nvSpPr>
              <p:cNvPr id="57" name="Oval 56"/>
              <p:cNvSpPr/>
              <p:nvPr/>
            </p:nvSpPr>
            <p:spPr>
              <a:xfrm>
                <a:off x="3450946" y="2231136"/>
                <a:ext cx="164592" cy="164592"/>
              </a:xfrm>
              <a:prstGeom prst="ellipse">
                <a:avLst/>
              </a:prstGeom>
              <a:solidFill>
                <a:srgbClr val="1B1D21"/>
              </a:solidFill>
              <a:ln w="12700">
                <a:solidFill>
                  <a:srgbClr val="9AA0A6"/>
                </a:solidFill>
              </a:ln>
            </p:spPr>
            <p:txBody>
              <a:bodyPr rtlCol="0" anchor="ctr"/>
              <a:lstStyle/>
              <a:p>
                <a:pPr algn="ctr"/>
              </a:p>
            </p:txBody>
          </p:sp>
          <p:sp>
            <p:nvSpPr>
              <p:cNvPr id="58" name="Oval 57"/>
              <p:cNvSpPr/>
              <p:nvPr/>
            </p:nvSpPr>
            <p:spPr>
              <a:xfrm>
                <a:off x="3697834" y="2231136"/>
                <a:ext cx="164592" cy="164592"/>
              </a:xfrm>
              <a:prstGeom prst="ellipse">
                <a:avLst/>
              </a:prstGeom>
              <a:solidFill>
                <a:srgbClr val="1B1D21"/>
              </a:solidFill>
              <a:ln w="12700">
                <a:solidFill>
                  <a:srgbClr val="9AA0A6"/>
                </a:solidFill>
              </a:ln>
            </p:spPr>
            <p:txBody>
              <a:bodyPr rtlCol="0" anchor="ctr"/>
              <a:lstStyle/>
              <a:p>
                <a:pPr algn="ctr"/>
              </a:p>
            </p:txBody>
          </p:sp>
          <p:sp>
            <p:nvSpPr>
              <p:cNvPr id="59" name="Oval 58"/>
              <p:cNvSpPr/>
              <p:nvPr/>
            </p:nvSpPr>
            <p:spPr>
              <a:xfrm>
                <a:off x="3944722" y="2231136"/>
                <a:ext cx="164592" cy="164592"/>
              </a:xfrm>
              <a:prstGeom prst="ellipse">
                <a:avLst/>
              </a:prstGeom>
              <a:solidFill>
                <a:srgbClr val="1B1D21"/>
              </a:solidFill>
              <a:ln w="12700">
                <a:solidFill>
                  <a:srgbClr val="9AA0A6"/>
                </a:solidFill>
              </a:ln>
            </p:spPr>
            <p:txBody>
              <a:bodyPr rtlCol="0" anchor="ctr"/>
              <a:lstStyle/>
              <a:p>
                <a:pPr algn="ctr"/>
              </a:p>
            </p:txBody>
          </p:sp>
        </p:grpSp>
        <p:grpSp>
          <p:nvGrpSpPr>
            <p:cNvPr id="60" name="Train B" descr="A steam train: an engine pulling wagons."/>
            <p:cNvGrpSpPr/>
            <p:nvPr/>
          </p:nvGrpSpPr>
          <p:grpSpPr>
            <a:xfrm>
              <a:off x="6995160" y="1630375"/>
              <a:ext cx="2271370" cy="765353"/>
              <a:chOff x="6995160" y="1630375"/>
              <a:chExt cx="2271370" cy="765353"/>
            </a:xfrm>
          </p:grpSpPr>
          <p:sp>
            <p:nvSpPr>
              <p:cNvPr id="61" name="Rectangle 60"/>
              <p:cNvSpPr/>
              <p:nvPr/>
            </p:nvSpPr>
            <p:spPr>
              <a:xfrm>
                <a:off x="8608162" y="1926641"/>
                <a:ext cx="658368" cy="370332"/>
              </a:xfrm>
              <a:prstGeom prst="rect">
                <a:avLst/>
              </a:prstGeom>
              <a:solidFill>
                <a:srgbClr val="6C7480"/>
              </a:solidFill>
              <a:ln w="9525">
                <a:solidFill>
                  <a:srgbClr val="101418"/>
                </a:solidFill>
              </a:ln>
            </p:spPr>
            <p:txBody>
              <a:bodyPr rtlCol="0" anchor="ctr"/>
              <a:lstStyle/>
              <a:p>
                <a:pPr algn="ctr"/>
              </a:p>
            </p:txBody>
          </p:sp>
          <p:sp>
            <p:nvSpPr>
              <p:cNvPr id="62" name="Oval 61"/>
              <p:cNvSpPr/>
              <p:nvPr/>
            </p:nvSpPr>
            <p:spPr>
              <a:xfrm>
                <a:off x="9019642" y="2231136"/>
                <a:ext cx="164592" cy="164592"/>
              </a:xfrm>
              <a:prstGeom prst="ellipse">
                <a:avLst/>
              </a:prstGeom>
              <a:solidFill>
                <a:srgbClr val="1B1D21"/>
              </a:solidFill>
              <a:ln w="12700">
                <a:solidFill>
                  <a:srgbClr val="9AA0A6"/>
                </a:solidFill>
              </a:ln>
            </p:spPr>
            <p:txBody>
              <a:bodyPr rtlCol="0" anchor="ctr"/>
              <a:lstStyle/>
              <a:p>
                <a:pPr algn="ctr"/>
              </a:p>
            </p:txBody>
          </p:sp>
          <p:sp>
            <p:nvSpPr>
              <p:cNvPr id="63" name="Oval 62"/>
              <p:cNvSpPr/>
              <p:nvPr/>
            </p:nvSpPr>
            <p:spPr>
              <a:xfrm>
                <a:off x="8690458" y="2231136"/>
                <a:ext cx="164592" cy="164592"/>
              </a:xfrm>
              <a:prstGeom prst="ellipse">
                <a:avLst/>
              </a:prstGeom>
              <a:solidFill>
                <a:srgbClr val="1B1D21"/>
              </a:solidFill>
              <a:ln w="12700">
                <a:solidFill>
                  <a:srgbClr val="9AA0A6"/>
                </a:solidFill>
              </a:ln>
            </p:spPr>
            <p:txBody>
              <a:bodyPr rtlCol="0" anchor="ctr"/>
              <a:lstStyle/>
              <a:p>
                <a:pPr algn="ctr"/>
              </a:p>
            </p:txBody>
          </p:sp>
          <p:sp>
            <p:nvSpPr>
              <p:cNvPr id="64" name="Rectangle 63"/>
              <p:cNvSpPr/>
              <p:nvPr/>
            </p:nvSpPr>
            <p:spPr>
              <a:xfrm>
                <a:off x="8542325" y="2189988"/>
                <a:ext cx="65837" cy="41148"/>
              </a:xfrm>
              <a:prstGeom prst="rect">
                <a:avLst/>
              </a:prstGeom>
              <a:solidFill>
                <a:srgbClr val="9AA0A6"/>
              </a:solidFill>
              <a:ln>
                <a:noFill/>
              </a:ln>
            </p:spPr>
            <p:txBody>
              <a:bodyPr rtlCol="0" anchor="ctr"/>
              <a:lstStyle/>
              <a:p>
                <a:pPr algn="ctr"/>
              </a:p>
            </p:txBody>
          </p:sp>
          <p:sp>
            <p:nvSpPr>
              <p:cNvPr id="65" name="Rectangle 64"/>
              <p:cNvSpPr/>
              <p:nvPr/>
            </p:nvSpPr>
            <p:spPr>
              <a:xfrm>
                <a:off x="7883957" y="1926641"/>
                <a:ext cx="658368" cy="370332"/>
              </a:xfrm>
              <a:prstGeom prst="rect">
                <a:avLst/>
              </a:prstGeom>
              <a:solidFill>
                <a:srgbClr val="6C7480"/>
              </a:solidFill>
              <a:ln w="9525">
                <a:solidFill>
                  <a:srgbClr val="101418"/>
                </a:solidFill>
              </a:ln>
            </p:spPr>
            <p:txBody>
              <a:bodyPr rtlCol="0" anchor="ctr"/>
              <a:lstStyle/>
              <a:p>
                <a:pPr algn="ctr"/>
              </a:p>
            </p:txBody>
          </p:sp>
          <p:sp>
            <p:nvSpPr>
              <p:cNvPr id="66" name="Oval 65"/>
              <p:cNvSpPr/>
              <p:nvPr/>
            </p:nvSpPr>
            <p:spPr>
              <a:xfrm>
                <a:off x="8295437" y="2231136"/>
                <a:ext cx="164592" cy="164592"/>
              </a:xfrm>
              <a:prstGeom prst="ellipse">
                <a:avLst/>
              </a:prstGeom>
              <a:solidFill>
                <a:srgbClr val="1B1D21"/>
              </a:solidFill>
              <a:ln w="12700">
                <a:solidFill>
                  <a:srgbClr val="9AA0A6"/>
                </a:solidFill>
              </a:ln>
            </p:spPr>
            <p:txBody>
              <a:bodyPr rtlCol="0" anchor="ctr"/>
              <a:lstStyle/>
              <a:p>
                <a:pPr algn="ctr"/>
              </a:p>
            </p:txBody>
          </p:sp>
          <p:sp>
            <p:nvSpPr>
              <p:cNvPr id="67" name="Oval 66"/>
              <p:cNvSpPr/>
              <p:nvPr/>
            </p:nvSpPr>
            <p:spPr>
              <a:xfrm>
                <a:off x="7966253" y="2231136"/>
                <a:ext cx="164592" cy="164592"/>
              </a:xfrm>
              <a:prstGeom prst="ellipse">
                <a:avLst/>
              </a:prstGeom>
              <a:solidFill>
                <a:srgbClr val="1B1D21"/>
              </a:solidFill>
              <a:ln w="12700">
                <a:solidFill>
                  <a:srgbClr val="9AA0A6"/>
                </a:solidFill>
              </a:ln>
            </p:spPr>
            <p:txBody>
              <a:bodyPr rtlCol="0" anchor="ctr"/>
              <a:lstStyle/>
              <a:p>
                <a:pPr algn="ctr"/>
              </a:p>
            </p:txBody>
          </p:sp>
          <p:sp>
            <p:nvSpPr>
              <p:cNvPr id="68" name="Rectangle 67"/>
              <p:cNvSpPr/>
              <p:nvPr/>
            </p:nvSpPr>
            <p:spPr>
              <a:xfrm>
                <a:off x="7818120" y="2189988"/>
                <a:ext cx="65837" cy="41148"/>
              </a:xfrm>
              <a:prstGeom prst="rect">
                <a:avLst/>
              </a:prstGeom>
              <a:solidFill>
                <a:srgbClr val="9AA0A6"/>
              </a:solidFill>
              <a:ln>
                <a:noFill/>
              </a:ln>
            </p:spPr>
            <p:txBody>
              <a:bodyPr rtlCol="0" anchor="ctr"/>
              <a:lstStyle/>
              <a:p>
                <a:pPr algn="ctr"/>
              </a:p>
            </p:txBody>
          </p:sp>
          <p:sp>
            <p:nvSpPr>
              <p:cNvPr id="69" name="Rectangle 68"/>
              <p:cNvSpPr/>
              <p:nvPr/>
            </p:nvSpPr>
            <p:spPr>
              <a:xfrm>
                <a:off x="6995160" y="1860804"/>
                <a:ext cx="822960" cy="452628"/>
              </a:xfrm>
              <a:prstGeom prst="rect">
                <a:avLst/>
              </a:prstGeom>
              <a:solidFill>
                <a:srgbClr val="F28C28"/>
              </a:solidFill>
              <a:ln w="9525">
                <a:solidFill>
                  <a:srgbClr val="101418"/>
                </a:solidFill>
              </a:ln>
            </p:spPr>
            <p:txBody>
              <a:bodyPr rtlCol="0" anchor="ctr"/>
              <a:lstStyle/>
              <a:p>
                <a:pPr algn="ctr"/>
              </a:p>
            </p:txBody>
          </p:sp>
          <p:sp>
            <p:nvSpPr>
              <p:cNvPr id="70" name="Bunker"/>
              <p:cNvSpPr/>
              <p:nvPr/>
            </p:nvSpPr>
            <p:spPr>
              <a:xfrm>
                <a:off x="7579462" y="1885493"/>
                <a:ext cx="213970" cy="164592"/>
              </a:xfrm>
              <a:prstGeom prst="rect">
                <a:avLst/>
              </a:prstGeom>
              <a:solidFill>
                <a:srgbClr val="1B1D21"/>
              </a:solidFill>
              <a:ln>
                <a:noFill/>
              </a:ln>
            </p:spPr>
            <p:txBody>
              <a:bodyPr rtlCol="0" anchor="ctr"/>
              <a:lstStyle/>
              <a:p>
                <a:pPr algn="ctr"/>
              </a:p>
            </p:txBody>
          </p:sp>
          <p:sp>
            <p:nvSpPr>
              <p:cNvPr id="71" name="Rectangle 70"/>
              <p:cNvSpPr/>
              <p:nvPr/>
            </p:nvSpPr>
            <p:spPr>
              <a:xfrm>
                <a:off x="7423099" y="1918411"/>
                <a:ext cx="115214" cy="115214"/>
              </a:xfrm>
              <a:prstGeom prst="rect">
                <a:avLst/>
              </a:prstGeom>
              <a:solidFill>
                <a:srgbClr val="2B2F36"/>
              </a:solidFill>
              <a:ln>
                <a:noFill/>
              </a:ln>
            </p:spPr>
            <p:txBody>
              <a:bodyPr rtlCol="0" anchor="ctr"/>
              <a:lstStyle/>
              <a:p>
                <a:pPr algn="ctr"/>
              </a:p>
            </p:txBody>
          </p:sp>
          <p:sp>
            <p:nvSpPr>
              <p:cNvPr id="72" name="Chimney"/>
              <p:cNvSpPr/>
              <p:nvPr/>
            </p:nvSpPr>
            <p:spPr>
              <a:xfrm>
                <a:off x="7052767" y="1630375"/>
                <a:ext cx="123444" cy="246888"/>
              </a:xfrm>
              <a:prstGeom prst="rect">
                <a:avLst/>
              </a:prstGeom>
              <a:solidFill>
                <a:srgbClr val="1B1D21"/>
              </a:solidFill>
              <a:ln>
                <a:noFill/>
              </a:ln>
            </p:spPr>
            <p:txBody>
              <a:bodyPr rtlCol="0" anchor="ctr"/>
              <a:lstStyle/>
              <a:p>
                <a:pPr algn="ctr"/>
              </a:p>
            </p:txBody>
          </p:sp>
          <p:sp>
            <p:nvSpPr>
              <p:cNvPr id="73" name="Oval 72"/>
              <p:cNvSpPr/>
              <p:nvPr/>
            </p:nvSpPr>
            <p:spPr>
              <a:xfrm>
                <a:off x="7571232" y="2231136"/>
                <a:ext cx="164592" cy="164592"/>
              </a:xfrm>
              <a:prstGeom prst="ellipse">
                <a:avLst/>
              </a:prstGeom>
              <a:solidFill>
                <a:srgbClr val="1B1D21"/>
              </a:solidFill>
              <a:ln w="12700">
                <a:solidFill>
                  <a:srgbClr val="9AA0A6"/>
                </a:solidFill>
              </a:ln>
            </p:spPr>
            <p:txBody>
              <a:bodyPr rtlCol="0" anchor="ctr"/>
              <a:lstStyle/>
              <a:p>
                <a:pPr algn="ctr"/>
              </a:p>
            </p:txBody>
          </p:sp>
          <p:sp>
            <p:nvSpPr>
              <p:cNvPr id="74" name="Oval 73"/>
              <p:cNvSpPr/>
              <p:nvPr/>
            </p:nvSpPr>
            <p:spPr>
              <a:xfrm>
                <a:off x="7324344" y="2231136"/>
                <a:ext cx="164592" cy="164592"/>
              </a:xfrm>
              <a:prstGeom prst="ellipse">
                <a:avLst/>
              </a:prstGeom>
              <a:solidFill>
                <a:srgbClr val="1B1D21"/>
              </a:solidFill>
              <a:ln w="12700">
                <a:solidFill>
                  <a:srgbClr val="9AA0A6"/>
                </a:solidFill>
              </a:ln>
            </p:spPr>
            <p:txBody>
              <a:bodyPr rtlCol="0" anchor="ctr"/>
              <a:lstStyle/>
              <a:p>
                <a:pPr algn="ctr"/>
              </a:p>
            </p:txBody>
          </p:sp>
          <p:sp>
            <p:nvSpPr>
              <p:cNvPr id="75" name="Oval 74"/>
              <p:cNvSpPr/>
              <p:nvPr/>
            </p:nvSpPr>
            <p:spPr>
              <a:xfrm>
                <a:off x="7077456" y="2231136"/>
                <a:ext cx="164592" cy="164592"/>
              </a:xfrm>
              <a:prstGeom prst="ellipse">
                <a:avLst/>
              </a:prstGeom>
              <a:solidFill>
                <a:srgbClr val="1B1D21"/>
              </a:solidFill>
              <a:ln w="12700">
                <a:solidFill>
                  <a:srgbClr val="9AA0A6"/>
                </a:solidFill>
              </a:ln>
            </p:spPr>
            <p:txBody>
              <a:bodyPr rtlCol="0" anchor="ctr"/>
              <a:lstStyle/>
              <a:p>
                <a:pPr algn="ctr"/>
              </a:p>
            </p:txBody>
          </p:sp>
        </p:grpSp>
        <p:sp>
          <p:nvSpPr>
            <p:cNvPr id="76" name="Multiply 75"/>
            <p:cNvSpPr/>
            <p:nvPr/>
          </p:nvSpPr>
          <p:spPr>
            <a:xfrm>
              <a:off x="5300777" y="1691640"/>
              <a:ext cx="585216" cy="585216"/>
            </a:xfrm>
            <a:prstGeom prst="mathMultiply">
              <a:avLst/>
            </a:prstGeom>
            <a:solidFill>
              <a:srgbClr val="E5484D"/>
            </a:solidFill>
            <a:ln>
              <a:noFill/>
            </a:ln>
          </p:spPr>
          <p:txBody>
            <a:bodyPr rtlCol="0" anchor="ctr"/>
            <a:lstStyle/>
            <a:p>
              <a:pPr algn="ctr"/>
            </a:p>
          </p:txBody>
        </p:sp>
        <p:sp>
          <p:nvSpPr>
            <p:cNvPr id="77" name="Rounded Rectangle 76"/>
            <p:cNvSpPr/>
            <p:nvPr/>
          </p:nvSpPr>
          <p:spPr>
            <a:xfrm>
              <a:off x="6004865" y="1463040"/>
              <a:ext cx="2377440" cy="411480"/>
            </a:xfrm>
            <a:prstGeom prst="roundRect">
              <a:avLst>
                <a:gd name="adj" fmla="val 17777"/>
              </a:avLst>
            </a:prstGeom>
            <a:solidFill>
              <a:srgbClr val="B3262B"/>
            </a:solidFill>
            <a:ln>
              <a:noFill/>
            </a:ln>
          </p:spPr>
          <p:txBody>
            <a:bodyPr rtlCol="0" anchor="ctr" wrap="square" lIns="73152" tIns="36576" rIns="73152" bIns="36576">
              <a:noAutofit/>
            </a:bodyPr>
            <a:lstStyle/>
            <a:p>
              <a:pPr algn="ctr"/>
              <a:r>
                <a:rPr sz="1800" b="1" i="0" lang="en-GB">
                  <a:solidFill>
                    <a:srgbClr val="F2F2F2"/>
                  </a:solidFill>
                  <a:latin typeface="Arial"/>
                </a:rPr>
                <a:t>No warning: crash</a:t>
              </a:r>
            </a:p>
          </p:txBody>
        </p:sp>
      </p:grpSp>
      <p:grpSp>
        <p:nvGrpSpPr>
          <p:cNvPr id="78" name="With signals" descr="With signals: the track is split into three blocks with one train in each. The second train waits at a stop signal. The lead train needs a long distance to stop."/>
          <p:cNvGrpSpPr/>
          <p:nvPr/>
        </p:nvGrpSpPr>
        <p:grpSpPr>
          <a:xfrm>
            <a:off x="548640" y="3163824"/>
            <a:ext cx="11091672" cy="2459736"/>
            <a:chOff x="548640" y="3163824"/>
            <a:chExt cx="11091672" cy="2459736"/>
          </a:xfrm>
        </p:grpSpPr>
        <p:sp>
          <p:nvSpPr>
            <p:cNvPr id="79" name="Rounded Rectangle 78"/>
            <p:cNvSpPr/>
            <p:nvPr/>
          </p:nvSpPr>
          <p:spPr>
            <a:xfrm>
              <a:off x="548640" y="3200400"/>
              <a:ext cx="11091672" cy="2423160"/>
            </a:xfrm>
            <a:prstGeom prst="roundRect">
              <a:avLst>
                <a:gd name="adj" fmla="val 3018"/>
              </a:avLst>
            </a:prstGeom>
            <a:solidFill>
              <a:srgbClr val="2B2F36"/>
            </a:solidFill>
            <a:ln>
              <a:noFill/>
            </a:ln>
          </p:spPr>
          <p:txBody>
            <a:bodyPr rtlCol="0" anchor="ctr"/>
            <a:lstStyle/>
            <a:p>
              <a:pPr algn="ctr"/>
            </a:p>
          </p:txBody>
        </p:sp>
        <p:sp>
          <p:nvSpPr>
            <p:cNvPr id="80" name="Rectangle 79"/>
            <p:cNvSpPr/>
            <p:nvPr/>
          </p:nvSpPr>
          <p:spPr>
            <a:xfrm>
              <a:off x="1092708" y="4151376"/>
              <a:ext cx="54864" cy="365760"/>
            </a:xfrm>
            <a:prstGeom prst="rect">
              <a:avLst/>
            </a:prstGeom>
            <a:solidFill>
              <a:srgbClr val="6B5B4B"/>
            </a:solidFill>
            <a:ln>
              <a:noFill/>
            </a:ln>
          </p:spPr>
          <p:txBody>
            <a:bodyPr rtlCol="0" anchor="ctr"/>
            <a:lstStyle/>
            <a:p>
              <a:pPr algn="ctr"/>
            </a:p>
          </p:txBody>
        </p:sp>
        <p:sp>
          <p:nvSpPr>
            <p:cNvPr id="81" name="Rectangle 80"/>
            <p:cNvSpPr/>
            <p:nvPr/>
          </p:nvSpPr>
          <p:spPr>
            <a:xfrm>
              <a:off x="1412748" y="4151376"/>
              <a:ext cx="54864" cy="365760"/>
            </a:xfrm>
            <a:prstGeom prst="rect">
              <a:avLst/>
            </a:prstGeom>
            <a:solidFill>
              <a:srgbClr val="6B5B4B"/>
            </a:solidFill>
            <a:ln>
              <a:noFill/>
            </a:ln>
          </p:spPr>
          <p:txBody>
            <a:bodyPr rtlCol="0" anchor="ctr"/>
            <a:lstStyle/>
            <a:p>
              <a:pPr algn="ctr"/>
            </a:p>
          </p:txBody>
        </p:sp>
        <p:sp>
          <p:nvSpPr>
            <p:cNvPr id="82" name="Rectangle 81"/>
            <p:cNvSpPr/>
            <p:nvPr/>
          </p:nvSpPr>
          <p:spPr>
            <a:xfrm>
              <a:off x="1732788" y="4151376"/>
              <a:ext cx="54864" cy="365760"/>
            </a:xfrm>
            <a:prstGeom prst="rect">
              <a:avLst/>
            </a:prstGeom>
            <a:solidFill>
              <a:srgbClr val="6B5B4B"/>
            </a:solidFill>
            <a:ln>
              <a:noFill/>
            </a:ln>
          </p:spPr>
          <p:txBody>
            <a:bodyPr rtlCol="0" anchor="ctr"/>
            <a:lstStyle/>
            <a:p>
              <a:pPr algn="ctr"/>
            </a:p>
          </p:txBody>
        </p:sp>
        <p:sp>
          <p:nvSpPr>
            <p:cNvPr id="83" name="Rectangle 82"/>
            <p:cNvSpPr/>
            <p:nvPr/>
          </p:nvSpPr>
          <p:spPr>
            <a:xfrm>
              <a:off x="2052828" y="4151376"/>
              <a:ext cx="54864" cy="365760"/>
            </a:xfrm>
            <a:prstGeom prst="rect">
              <a:avLst/>
            </a:prstGeom>
            <a:solidFill>
              <a:srgbClr val="6B5B4B"/>
            </a:solidFill>
            <a:ln>
              <a:noFill/>
            </a:ln>
          </p:spPr>
          <p:txBody>
            <a:bodyPr rtlCol="0" anchor="ctr"/>
            <a:lstStyle/>
            <a:p>
              <a:pPr algn="ctr"/>
            </a:p>
          </p:txBody>
        </p:sp>
        <p:sp>
          <p:nvSpPr>
            <p:cNvPr id="84" name="Rectangle 83"/>
            <p:cNvSpPr/>
            <p:nvPr/>
          </p:nvSpPr>
          <p:spPr>
            <a:xfrm>
              <a:off x="2372868" y="4151376"/>
              <a:ext cx="54864" cy="365760"/>
            </a:xfrm>
            <a:prstGeom prst="rect">
              <a:avLst/>
            </a:prstGeom>
            <a:solidFill>
              <a:srgbClr val="6B5B4B"/>
            </a:solidFill>
            <a:ln>
              <a:noFill/>
            </a:ln>
          </p:spPr>
          <p:txBody>
            <a:bodyPr rtlCol="0" anchor="ctr"/>
            <a:lstStyle/>
            <a:p>
              <a:pPr algn="ctr"/>
            </a:p>
          </p:txBody>
        </p:sp>
        <p:sp>
          <p:nvSpPr>
            <p:cNvPr id="85" name="Rectangle 84"/>
            <p:cNvSpPr/>
            <p:nvPr/>
          </p:nvSpPr>
          <p:spPr>
            <a:xfrm>
              <a:off x="2692908" y="4151376"/>
              <a:ext cx="54864" cy="365760"/>
            </a:xfrm>
            <a:prstGeom prst="rect">
              <a:avLst/>
            </a:prstGeom>
            <a:solidFill>
              <a:srgbClr val="6B5B4B"/>
            </a:solidFill>
            <a:ln>
              <a:noFill/>
            </a:ln>
          </p:spPr>
          <p:txBody>
            <a:bodyPr rtlCol="0" anchor="ctr"/>
            <a:lstStyle/>
            <a:p>
              <a:pPr algn="ctr"/>
            </a:p>
          </p:txBody>
        </p:sp>
        <p:sp>
          <p:nvSpPr>
            <p:cNvPr id="86" name="Rectangle 85"/>
            <p:cNvSpPr/>
            <p:nvPr/>
          </p:nvSpPr>
          <p:spPr>
            <a:xfrm>
              <a:off x="3012948" y="4151376"/>
              <a:ext cx="54864" cy="365760"/>
            </a:xfrm>
            <a:prstGeom prst="rect">
              <a:avLst/>
            </a:prstGeom>
            <a:solidFill>
              <a:srgbClr val="6B5B4B"/>
            </a:solidFill>
            <a:ln>
              <a:noFill/>
            </a:ln>
          </p:spPr>
          <p:txBody>
            <a:bodyPr rtlCol="0" anchor="ctr"/>
            <a:lstStyle/>
            <a:p>
              <a:pPr algn="ctr"/>
            </a:p>
          </p:txBody>
        </p:sp>
        <p:sp>
          <p:nvSpPr>
            <p:cNvPr id="87" name="Rectangle 86"/>
            <p:cNvSpPr/>
            <p:nvPr/>
          </p:nvSpPr>
          <p:spPr>
            <a:xfrm>
              <a:off x="3332988" y="4151376"/>
              <a:ext cx="54864" cy="365760"/>
            </a:xfrm>
            <a:prstGeom prst="rect">
              <a:avLst/>
            </a:prstGeom>
            <a:solidFill>
              <a:srgbClr val="6B5B4B"/>
            </a:solidFill>
            <a:ln>
              <a:noFill/>
            </a:ln>
          </p:spPr>
          <p:txBody>
            <a:bodyPr rtlCol="0" anchor="ctr"/>
            <a:lstStyle/>
            <a:p>
              <a:pPr algn="ctr"/>
            </a:p>
          </p:txBody>
        </p:sp>
        <p:sp>
          <p:nvSpPr>
            <p:cNvPr id="88" name="Rectangle 87"/>
            <p:cNvSpPr/>
            <p:nvPr/>
          </p:nvSpPr>
          <p:spPr>
            <a:xfrm>
              <a:off x="3653028" y="4151376"/>
              <a:ext cx="54864" cy="365760"/>
            </a:xfrm>
            <a:prstGeom prst="rect">
              <a:avLst/>
            </a:prstGeom>
            <a:solidFill>
              <a:srgbClr val="6B5B4B"/>
            </a:solidFill>
            <a:ln>
              <a:noFill/>
            </a:ln>
          </p:spPr>
          <p:txBody>
            <a:bodyPr rtlCol="0" anchor="ctr"/>
            <a:lstStyle/>
            <a:p>
              <a:pPr algn="ctr"/>
            </a:p>
          </p:txBody>
        </p:sp>
        <p:sp>
          <p:nvSpPr>
            <p:cNvPr id="89" name="Rectangle 88"/>
            <p:cNvSpPr/>
            <p:nvPr/>
          </p:nvSpPr>
          <p:spPr>
            <a:xfrm>
              <a:off x="3973068" y="4151376"/>
              <a:ext cx="54864" cy="365760"/>
            </a:xfrm>
            <a:prstGeom prst="rect">
              <a:avLst/>
            </a:prstGeom>
            <a:solidFill>
              <a:srgbClr val="6B5B4B"/>
            </a:solidFill>
            <a:ln>
              <a:noFill/>
            </a:ln>
          </p:spPr>
          <p:txBody>
            <a:bodyPr rtlCol="0" anchor="ctr"/>
            <a:lstStyle/>
            <a:p>
              <a:pPr algn="ctr"/>
            </a:p>
          </p:txBody>
        </p:sp>
        <p:sp>
          <p:nvSpPr>
            <p:cNvPr id="90" name="Rectangle 89"/>
            <p:cNvSpPr/>
            <p:nvPr/>
          </p:nvSpPr>
          <p:spPr>
            <a:xfrm>
              <a:off x="4293108" y="4151376"/>
              <a:ext cx="54864" cy="365760"/>
            </a:xfrm>
            <a:prstGeom prst="rect">
              <a:avLst/>
            </a:prstGeom>
            <a:solidFill>
              <a:srgbClr val="6B5B4B"/>
            </a:solidFill>
            <a:ln>
              <a:noFill/>
            </a:ln>
          </p:spPr>
          <p:txBody>
            <a:bodyPr rtlCol="0" anchor="ctr"/>
            <a:lstStyle/>
            <a:p>
              <a:pPr algn="ctr"/>
            </a:p>
          </p:txBody>
        </p:sp>
        <p:sp>
          <p:nvSpPr>
            <p:cNvPr id="91" name="Rectangle 90"/>
            <p:cNvSpPr/>
            <p:nvPr/>
          </p:nvSpPr>
          <p:spPr>
            <a:xfrm>
              <a:off x="4613148" y="4151376"/>
              <a:ext cx="54864" cy="365760"/>
            </a:xfrm>
            <a:prstGeom prst="rect">
              <a:avLst/>
            </a:prstGeom>
            <a:solidFill>
              <a:srgbClr val="6B5B4B"/>
            </a:solidFill>
            <a:ln>
              <a:noFill/>
            </a:ln>
          </p:spPr>
          <p:txBody>
            <a:bodyPr rtlCol="0" anchor="ctr"/>
            <a:lstStyle/>
            <a:p>
              <a:pPr algn="ctr"/>
            </a:p>
          </p:txBody>
        </p:sp>
        <p:sp>
          <p:nvSpPr>
            <p:cNvPr id="92" name="Rectangle 91"/>
            <p:cNvSpPr/>
            <p:nvPr/>
          </p:nvSpPr>
          <p:spPr>
            <a:xfrm>
              <a:off x="4933188" y="4151376"/>
              <a:ext cx="54864" cy="365760"/>
            </a:xfrm>
            <a:prstGeom prst="rect">
              <a:avLst/>
            </a:prstGeom>
            <a:solidFill>
              <a:srgbClr val="6B5B4B"/>
            </a:solidFill>
            <a:ln>
              <a:noFill/>
            </a:ln>
          </p:spPr>
          <p:txBody>
            <a:bodyPr rtlCol="0" anchor="ctr"/>
            <a:lstStyle/>
            <a:p>
              <a:pPr algn="ctr"/>
            </a:p>
          </p:txBody>
        </p:sp>
        <p:sp>
          <p:nvSpPr>
            <p:cNvPr id="93" name="Rectangle 92"/>
            <p:cNvSpPr/>
            <p:nvPr/>
          </p:nvSpPr>
          <p:spPr>
            <a:xfrm>
              <a:off x="5253228" y="4151376"/>
              <a:ext cx="54864" cy="365760"/>
            </a:xfrm>
            <a:prstGeom prst="rect">
              <a:avLst/>
            </a:prstGeom>
            <a:solidFill>
              <a:srgbClr val="6B5B4B"/>
            </a:solidFill>
            <a:ln>
              <a:noFill/>
            </a:ln>
          </p:spPr>
          <p:txBody>
            <a:bodyPr rtlCol="0" anchor="ctr"/>
            <a:lstStyle/>
            <a:p>
              <a:pPr algn="ctr"/>
            </a:p>
          </p:txBody>
        </p:sp>
        <p:sp>
          <p:nvSpPr>
            <p:cNvPr id="94" name="Rectangle 93"/>
            <p:cNvSpPr/>
            <p:nvPr/>
          </p:nvSpPr>
          <p:spPr>
            <a:xfrm>
              <a:off x="5573268" y="4151376"/>
              <a:ext cx="54864" cy="365760"/>
            </a:xfrm>
            <a:prstGeom prst="rect">
              <a:avLst/>
            </a:prstGeom>
            <a:solidFill>
              <a:srgbClr val="6B5B4B"/>
            </a:solidFill>
            <a:ln>
              <a:noFill/>
            </a:ln>
          </p:spPr>
          <p:txBody>
            <a:bodyPr rtlCol="0" anchor="ctr"/>
            <a:lstStyle/>
            <a:p>
              <a:pPr algn="ctr"/>
            </a:p>
          </p:txBody>
        </p:sp>
        <p:sp>
          <p:nvSpPr>
            <p:cNvPr id="95" name="Rectangle 94"/>
            <p:cNvSpPr/>
            <p:nvPr/>
          </p:nvSpPr>
          <p:spPr>
            <a:xfrm>
              <a:off x="5893308" y="4151376"/>
              <a:ext cx="54864" cy="365760"/>
            </a:xfrm>
            <a:prstGeom prst="rect">
              <a:avLst/>
            </a:prstGeom>
            <a:solidFill>
              <a:srgbClr val="6B5B4B"/>
            </a:solidFill>
            <a:ln>
              <a:noFill/>
            </a:ln>
          </p:spPr>
          <p:txBody>
            <a:bodyPr rtlCol="0" anchor="ctr"/>
            <a:lstStyle/>
            <a:p>
              <a:pPr algn="ctr"/>
            </a:p>
          </p:txBody>
        </p:sp>
        <p:sp>
          <p:nvSpPr>
            <p:cNvPr id="96" name="Rectangle 95"/>
            <p:cNvSpPr/>
            <p:nvPr/>
          </p:nvSpPr>
          <p:spPr>
            <a:xfrm>
              <a:off x="6213348" y="4151376"/>
              <a:ext cx="54864" cy="365760"/>
            </a:xfrm>
            <a:prstGeom prst="rect">
              <a:avLst/>
            </a:prstGeom>
            <a:solidFill>
              <a:srgbClr val="6B5B4B"/>
            </a:solidFill>
            <a:ln>
              <a:noFill/>
            </a:ln>
          </p:spPr>
          <p:txBody>
            <a:bodyPr rtlCol="0" anchor="ctr"/>
            <a:lstStyle/>
            <a:p>
              <a:pPr algn="ctr"/>
            </a:p>
          </p:txBody>
        </p:sp>
        <p:sp>
          <p:nvSpPr>
            <p:cNvPr id="97" name="Rectangle 96"/>
            <p:cNvSpPr/>
            <p:nvPr/>
          </p:nvSpPr>
          <p:spPr>
            <a:xfrm>
              <a:off x="6533388" y="4151376"/>
              <a:ext cx="54864" cy="365760"/>
            </a:xfrm>
            <a:prstGeom prst="rect">
              <a:avLst/>
            </a:prstGeom>
            <a:solidFill>
              <a:srgbClr val="6B5B4B"/>
            </a:solidFill>
            <a:ln>
              <a:noFill/>
            </a:ln>
          </p:spPr>
          <p:txBody>
            <a:bodyPr rtlCol="0" anchor="ctr"/>
            <a:lstStyle/>
            <a:p>
              <a:pPr algn="ctr"/>
            </a:p>
          </p:txBody>
        </p:sp>
        <p:sp>
          <p:nvSpPr>
            <p:cNvPr id="98" name="Rectangle 97"/>
            <p:cNvSpPr/>
            <p:nvPr/>
          </p:nvSpPr>
          <p:spPr>
            <a:xfrm>
              <a:off x="6853428" y="4151376"/>
              <a:ext cx="54864" cy="365760"/>
            </a:xfrm>
            <a:prstGeom prst="rect">
              <a:avLst/>
            </a:prstGeom>
            <a:solidFill>
              <a:srgbClr val="6B5B4B"/>
            </a:solidFill>
            <a:ln>
              <a:noFill/>
            </a:ln>
          </p:spPr>
          <p:txBody>
            <a:bodyPr rtlCol="0" anchor="ctr"/>
            <a:lstStyle/>
            <a:p>
              <a:pPr algn="ctr"/>
            </a:p>
          </p:txBody>
        </p:sp>
        <p:sp>
          <p:nvSpPr>
            <p:cNvPr id="99" name="Rectangle 98"/>
            <p:cNvSpPr/>
            <p:nvPr/>
          </p:nvSpPr>
          <p:spPr>
            <a:xfrm>
              <a:off x="7173468" y="4151376"/>
              <a:ext cx="54864" cy="365760"/>
            </a:xfrm>
            <a:prstGeom prst="rect">
              <a:avLst/>
            </a:prstGeom>
            <a:solidFill>
              <a:srgbClr val="6B5B4B"/>
            </a:solidFill>
            <a:ln>
              <a:noFill/>
            </a:ln>
          </p:spPr>
          <p:txBody>
            <a:bodyPr rtlCol="0" anchor="ctr"/>
            <a:lstStyle/>
            <a:p>
              <a:pPr algn="ctr"/>
            </a:p>
          </p:txBody>
        </p:sp>
        <p:sp>
          <p:nvSpPr>
            <p:cNvPr id="100" name="Rectangle 99"/>
            <p:cNvSpPr/>
            <p:nvPr/>
          </p:nvSpPr>
          <p:spPr>
            <a:xfrm>
              <a:off x="7493508" y="4151376"/>
              <a:ext cx="54864" cy="365760"/>
            </a:xfrm>
            <a:prstGeom prst="rect">
              <a:avLst/>
            </a:prstGeom>
            <a:solidFill>
              <a:srgbClr val="6B5B4B"/>
            </a:solidFill>
            <a:ln>
              <a:noFill/>
            </a:ln>
          </p:spPr>
          <p:txBody>
            <a:bodyPr rtlCol="0" anchor="ctr"/>
            <a:lstStyle/>
            <a:p>
              <a:pPr algn="ctr"/>
            </a:p>
          </p:txBody>
        </p:sp>
        <p:sp>
          <p:nvSpPr>
            <p:cNvPr id="101" name="Rectangle 100"/>
            <p:cNvSpPr/>
            <p:nvPr/>
          </p:nvSpPr>
          <p:spPr>
            <a:xfrm>
              <a:off x="7813548" y="4151376"/>
              <a:ext cx="54864" cy="365760"/>
            </a:xfrm>
            <a:prstGeom prst="rect">
              <a:avLst/>
            </a:prstGeom>
            <a:solidFill>
              <a:srgbClr val="6B5B4B"/>
            </a:solidFill>
            <a:ln>
              <a:noFill/>
            </a:ln>
          </p:spPr>
          <p:txBody>
            <a:bodyPr rtlCol="0" anchor="ctr"/>
            <a:lstStyle/>
            <a:p>
              <a:pPr algn="ctr"/>
            </a:p>
          </p:txBody>
        </p:sp>
        <p:sp>
          <p:nvSpPr>
            <p:cNvPr id="102" name="Rectangle 101"/>
            <p:cNvSpPr/>
            <p:nvPr/>
          </p:nvSpPr>
          <p:spPr>
            <a:xfrm>
              <a:off x="8133588" y="4151376"/>
              <a:ext cx="54864" cy="365760"/>
            </a:xfrm>
            <a:prstGeom prst="rect">
              <a:avLst/>
            </a:prstGeom>
            <a:solidFill>
              <a:srgbClr val="6B5B4B"/>
            </a:solidFill>
            <a:ln>
              <a:noFill/>
            </a:ln>
          </p:spPr>
          <p:txBody>
            <a:bodyPr rtlCol="0" anchor="ctr"/>
            <a:lstStyle/>
            <a:p>
              <a:pPr algn="ctr"/>
            </a:p>
          </p:txBody>
        </p:sp>
        <p:sp>
          <p:nvSpPr>
            <p:cNvPr id="103" name="Rectangle 102"/>
            <p:cNvSpPr/>
            <p:nvPr/>
          </p:nvSpPr>
          <p:spPr>
            <a:xfrm>
              <a:off x="8453628" y="4151376"/>
              <a:ext cx="54864" cy="365760"/>
            </a:xfrm>
            <a:prstGeom prst="rect">
              <a:avLst/>
            </a:prstGeom>
            <a:solidFill>
              <a:srgbClr val="6B5B4B"/>
            </a:solidFill>
            <a:ln>
              <a:noFill/>
            </a:ln>
          </p:spPr>
          <p:txBody>
            <a:bodyPr rtlCol="0" anchor="ctr"/>
            <a:lstStyle/>
            <a:p>
              <a:pPr algn="ctr"/>
            </a:p>
          </p:txBody>
        </p:sp>
        <p:sp>
          <p:nvSpPr>
            <p:cNvPr id="104" name="Rectangle 103"/>
            <p:cNvSpPr/>
            <p:nvPr/>
          </p:nvSpPr>
          <p:spPr>
            <a:xfrm>
              <a:off x="8773668" y="4151376"/>
              <a:ext cx="54864" cy="365760"/>
            </a:xfrm>
            <a:prstGeom prst="rect">
              <a:avLst/>
            </a:prstGeom>
            <a:solidFill>
              <a:srgbClr val="6B5B4B"/>
            </a:solidFill>
            <a:ln>
              <a:noFill/>
            </a:ln>
          </p:spPr>
          <p:txBody>
            <a:bodyPr rtlCol="0" anchor="ctr"/>
            <a:lstStyle/>
            <a:p>
              <a:pPr algn="ctr"/>
            </a:p>
          </p:txBody>
        </p:sp>
        <p:sp>
          <p:nvSpPr>
            <p:cNvPr id="105" name="Rectangle 104"/>
            <p:cNvSpPr/>
            <p:nvPr/>
          </p:nvSpPr>
          <p:spPr>
            <a:xfrm>
              <a:off x="9093708" y="4151376"/>
              <a:ext cx="54864" cy="365760"/>
            </a:xfrm>
            <a:prstGeom prst="rect">
              <a:avLst/>
            </a:prstGeom>
            <a:solidFill>
              <a:srgbClr val="6B5B4B"/>
            </a:solidFill>
            <a:ln>
              <a:noFill/>
            </a:ln>
          </p:spPr>
          <p:txBody>
            <a:bodyPr rtlCol="0" anchor="ctr"/>
            <a:lstStyle/>
            <a:p>
              <a:pPr algn="ctr"/>
            </a:p>
          </p:txBody>
        </p:sp>
        <p:sp>
          <p:nvSpPr>
            <p:cNvPr id="106" name="Rectangle 105"/>
            <p:cNvSpPr/>
            <p:nvPr/>
          </p:nvSpPr>
          <p:spPr>
            <a:xfrm>
              <a:off x="9413748" y="4151376"/>
              <a:ext cx="54864" cy="365760"/>
            </a:xfrm>
            <a:prstGeom prst="rect">
              <a:avLst/>
            </a:prstGeom>
            <a:solidFill>
              <a:srgbClr val="6B5B4B"/>
            </a:solidFill>
            <a:ln>
              <a:noFill/>
            </a:ln>
          </p:spPr>
          <p:txBody>
            <a:bodyPr rtlCol="0" anchor="ctr"/>
            <a:lstStyle/>
            <a:p>
              <a:pPr algn="ctr"/>
            </a:p>
          </p:txBody>
        </p:sp>
        <p:sp>
          <p:nvSpPr>
            <p:cNvPr id="107" name="Rectangle 106"/>
            <p:cNvSpPr/>
            <p:nvPr/>
          </p:nvSpPr>
          <p:spPr>
            <a:xfrm>
              <a:off x="9733788" y="4151376"/>
              <a:ext cx="54864" cy="365760"/>
            </a:xfrm>
            <a:prstGeom prst="rect">
              <a:avLst/>
            </a:prstGeom>
            <a:solidFill>
              <a:srgbClr val="6B5B4B"/>
            </a:solidFill>
            <a:ln>
              <a:noFill/>
            </a:ln>
          </p:spPr>
          <p:txBody>
            <a:bodyPr rtlCol="0" anchor="ctr"/>
            <a:lstStyle/>
            <a:p>
              <a:pPr algn="ctr"/>
            </a:p>
          </p:txBody>
        </p:sp>
        <p:sp>
          <p:nvSpPr>
            <p:cNvPr id="108" name="Rectangle 107"/>
            <p:cNvSpPr/>
            <p:nvPr/>
          </p:nvSpPr>
          <p:spPr>
            <a:xfrm>
              <a:off x="10053828" y="4151376"/>
              <a:ext cx="54864" cy="365760"/>
            </a:xfrm>
            <a:prstGeom prst="rect">
              <a:avLst/>
            </a:prstGeom>
            <a:solidFill>
              <a:srgbClr val="6B5B4B"/>
            </a:solidFill>
            <a:ln>
              <a:noFill/>
            </a:ln>
          </p:spPr>
          <p:txBody>
            <a:bodyPr rtlCol="0" anchor="ctr"/>
            <a:lstStyle/>
            <a:p>
              <a:pPr algn="ctr"/>
            </a:p>
          </p:txBody>
        </p:sp>
        <p:sp>
          <p:nvSpPr>
            <p:cNvPr id="109" name="Rectangle 108"/>
            <p:cNvSpPr/>
            <p:nvPr/>
          </p:nvSpPr>
          <p:spPr>
            <a:xfrm>
              <a:off x="10373868" y="4151376"/>
              <a:ext cx="54864" cy="365760"/>
            </a:xfrm>
            <a:prstGeom prst="rect">
              <a:avLst/>
            </a:prstGeom>
            <a:solidFill>
              <a:srgbClr val="6B5B4B"/>
            </a:solidFill>
            <a:ln>
              <a:noFill/>
            </a:ln>
          </p:spPr>
          <p:txBody>
            <a:bodyPr rtlCol="0" anchor="ctr"/>
            <a:lstStyle/>
            <a:p>
              <a:pPr algn="ctr"/>
            </a:p>
          </p:txBody>
        </p:sp>
        <p:sp>
          <p:nvSpPr>
            <p:cNvPr id="110" name="Rectangle 109"/>
            <p:cNvSpPr/>
            <p:nvPr/>
          </p:nvSpPr>
          <p:spPr>
            <a:xfrm>
              <a:off x="10693908" y="4151376"/>
              <a:ext cx="54864" cy="365760"/>
            </a:xfrm>
            <a:prstGeom prst="rect">
              <a:avLst/>
            </a:prstGeom>
            <a:solidFill>
              <a:srgbClr val="6B5B4B"/>
            </a:solidFill>
            <a:ln>
              <a:noFill/>
            </a:ln>
          </p:spPr>
          <p:txBody>
            <a:bodyPr rtlCol="0" anchor="ctr"/>
            <a:lstStyle/>
            <a:p>
              <a:pPr algn="ctr"/>
            </a:p>
          </p:txBody>
        </p:sp>
        <p:sp>
          <p:nvSpPr>
            <p:cNvPr id="111" name="Rectangle 110"/>
            <p:cNvSpPr/>
            <p:nvPr/>
          </p:nvSpPr>
          <p:spPr>
            <a:xfrm>
              <a:off x="11013948" y="4151376"/>
              <a:ext cx="54864" cy="365760"/>
            </a:xfrm>
            <a:prstGeom prst="rect">
              <a:avLst/>
            </a:prstGeom>
            <a:solidFill>
              <a:srgbClr val="6B5B4B"/>
            </a:solidFill>
            <a:ln>
              <a:noFill/>
            </a:ln>
          </p:spPr>
          <p:txBody>
            <a:bodyPr rtlCol="0" anchor="ctr"/>
            <a:lstStyle/>
            <a:p>
              <a:pPr algn="ctr"/>
            </a:p>
          </p:txBody>
        </p:sp>
        <p:sp>
          <p:nvSpPr>
            <p:cNvPr id="112" name="Rectangle 111"/>
            <p:cNvSpPr/>
            <p:nvPr/>
          </p:nvSpPr>
          <p:spPr>
            <a:xfrm>
              <a:off x="822960" y="4178808"/>
              <a:ext cx="10515600" cy="54864"/>
            </a:xfrm>
            <a:prstGeom prst="rect">
              <a:avLst/>
            </a:prstGeom>
            <a:solidFill>
              <a:srgbClr val="9AA0A6"/>
            </a:solidFill>
            <a:ln>
              <a:noFill/>
            </a:ln>
          </p:spPr>
          <p:txBody>
            <a:bodyPr rtlCol="0" anchor="ctr"/>
            <a:lstStyle/>
            <a:p>
              <a:pPr algn="ctr"/>
            </a:p>
          </p:txBody>
        </p:sp>
        <p:sp>
          <p:nvSpPr>
            <p:cNvPr id="113" name="Rectangle 112"/>
            <p:cNvSpPr/>
            <p:nvPr/>
          </p:nvSpPr>
          <p:spPr>
            <a:xfrm>
              <a:off x="822960" y="4434840"/>
              <a:ext cx="10515600" cy="54864"/>
            </a:xfrm>
            <a:prstGeom prst="rect">
              <a:avLst/>
            </a:prstGeom>
            <a:solidFill>
              <a:srgbClr val="9AA0A6"/>
            </a:solidFill>
            <a:ln>
              <a:noFill/>
            </a:ln>
          </p:spPr>
          <p:txBody>
            <a:bodyPr rtlCol="0" anchor="ctr"/>
            <a:lstStyle/>
            <a:p>
              <a:pPr algn="ctr"/>
            </a:p>
          </p:txBody>
        </p:sp>
        <p:grpSp>
          <p:nvGrpSpPr>
            <p:cNvPr id="114" name="Lead train" descr="A steam train: an engine pulling wagons."/>
            <p:cNvGrpSpPr/>
            <p:nvPr/>
          </p:nvGrpSpPr>
          <p:grpSpPr>
            <a:xfrm>
              <a:off x="4526280" y="3440887"/>
              <a:ext cx="2271370" cy="765353"/>
              <a:chOff x="4526280" y="3440887"/>
              <a:chExt cx="2271370" cy="765353"/>
            </a:xfrm>
          </p:grpSpPr>
          <p:sp>
            <p:nvSpPr>
              <p:cNvPr id="115" name="Rectangle 114"/>
              <p:cNvSpPr/>
              <p:nvPr/>
            </p:nvSpPr>
            <p:spPr>
              <a:xfrm>
                <a:off x="4526280" y="3737153"/>
                <a:ext cx="658368" cy="370332"/>
              </a:xfrm>
              <a:prstGeom prst="rect">
                <a:avLst/>
              </a:prstGeom>
              <a:solidFill>
                <a:srgbClr val="6C7480"/>
              </a:solidFill>
              <a:ln w="9525">
                <a:solidFill>
                  <a:srgbClr val="101418"/>
                </a:solidFill>
              </a:ln>
            </p:spPr>
            <p:txBody>
              <a:bodyPr rtlCol="0" anchor="ctr"/>
              <a:lstStyle/>
              <a:p>
                <a:pPr algn="ctr"/>
              </a:p>
            </p:txBody>
          </p:sp>
          <p:sp>
            <p:nvSpPr>
              <p:cNvPr id="116" name="Oval 115"/>
              <p:cNvSpPr/>
              <p:nvPr/>
            </p:nvSpPr>
            <p:spPr>
              <a:xfrm>
                <a:off x="4608576" y="4041648"/>
                <a:ext cx="164592" cy="164592"/>
              </a:xfrm>
              <a:prstGeom prst="ellipse">
                <a:avLst/>
              </a:prstGeom>
              <a:solidFill>
                <a:srgbClr val="1B1D21"/>
              </a:solidFill>
              <a:ln w="12700">
                <a:solidFill>
                  <a:srgbClr val="9AA0A6"/>
                </a:solidFill>
              </a:ln>
            </p:spPr>
            <p:txBody>
              <a:bodyPr rtlCol="0" anchor="ctr"/>
              <a:lstStyle/>
              <a:p>
                <a:pPr algn="ctr"/>
              </a:p>
            </p:txBody>
          </p:sp>
          <p:sp>
            <p:nvSpPr>
              <p:cNvPr id="117" name="Oval 116"/>
              <p:cNvSpPr/>
              <p:nvPr/>
            </p:nvSpPr>
            <p:spPr>
              <a:xfrm>
                <a:off x="4937760" y="4041648"/>
                <a:ext cx="164592" cy="164592"/>
              </a:xfrm>
              <a:prstGeom prst="ellipse">
                <a:avLst/>
              </a:prstGeom>
              <a:solidFill>
                <a:srgbClr val="1B1D21"/>
              </a:solidFill>
              <a:ln w="12700">
                <a:solidFill>
                  <a:srgbClr val="9AA0A6"/>
                </a:solidFill>
              </a:ln>
            </p:spPr>
            <p:txBody>
              <a:bodyPr rtlCol="0" anchor="ctr"/>
              <a:lstStyle/>
              <a:p>
                <a:pPr algn="ctr"/>
              </a:p>
            </p:txBody>
          </p:sp>
          <p:sp>
            <p:nvSpPr>
              <p:cNvPr id="118" name="Rectangle 117"/>
              <p:cNvSpPr/>
              <p:nvPr/>
            </p:nvSpPr>
            <p:spPr>
              <a:xfrm>
                <a:off x="5184648" y="4000500"/>
                <a:ext cx="65837" cy="41148"/>
              </a:xfrm>
              <a:prstGeom prst="rect">
                <a:avLst/>
              </a:prstGeom>
              <a:solidFill>
                <a:srgbClr val="9AA0A6"/>
              </a:solidFill>
              <a:ln>
                <a:noFill/>
              </a:ln>
            </p:spPr>
            <p:txBody>
              <a:bodyPr rtlCol="0" anchor="ctr"/>
              <a:lstStyle/>
              <a:p>
                <a:pPr algn="ctr"/>
              </a:p>
            </p:txBody>
          </p:sp>
          <p:sp>
            <p:nvSpPr>
              <p:cNvPr id="119" name="Rectangle 118"/>
              <p:cNvSpPr/>
              <p:nvPr/>
            </p:nvSpPr>
            <p:spPr>
              <a:xfrm>
                <a:off x="5250485" y="3737153"/>
                <a:ext cx="658368" cy="370332"/>
              </a:xfrm>
              <a:prstGeom prst="rect">
                <a:avLst/>
              </a:prstGeom>
              <a:solidFill>
                <a:srgbClr val="6C7480"/>
              </a:solidFill>
              <a:ln w="9525">
                <a:solidFill>
                  <a:srgbClr val="101418"/>
                </a:solidFill>
              </a:ln>
            </p:spPr>
            <p:txBody>
              <a:bodyPr rtlCol="0" anchor="ctr"/>
              <a:lstStyle/>
              <a:p>
                <a:pPr algn="ctr"/>
              </a:p>
            </p:txBody>
          </p:sp>
          <p:sp>
            <p:nvSpPr>
              <p:cNvPr id="120" name="Oval 119"/>
              <p:cNvSpPr/>
              <p:nvPr/>
            </p:nvSpPr>
            <p:spPr>
              <a:xfrm>
                <a:off x="5332781" y="4041648"/>
                <a:ext cx="164592" cy="164592"/>
              </a:xfrm>
              <a:prstGeom prst="ellipse">
                <a:avLst/>
              </a:prstGeom>
              <a:solidFill>
                <a:srgbClr val="1B1D21"/>
              </a:solidFill>
              <a:ln w="12700">
                <a:solidFill>
                  <a:srgbClr val="9AA0A6"/>
                </a:solidFill>
              </a:ln>
            </p:spPr>
            <p:txBody>
              <a:bodyPr rtlCol="0" anchor="ctr"/>
              <a:lstStyle/>
              <a:p>
                <a:pPr algn="ctr"/>
              </a:p>
            </p:txBody>
          </p:sp>
          <p:sp>
            <p:nvSpPr>
              <p:cNvPr id="121" name="Oval 120"/>
              <p:cNvSpPr/>
              <p:nvPr/>
            </p:nvSpPr>
            <p:spPr>
              <a:xfrm>
                <a:off x="5661965" y="4041648"/>
                <a:ext cx="164592" cy="164592"/>
              </a:xfrm>
              <a:prstGeom prst="ellipse">
                <a:avLst/>
              </a:prstGeom>
              <a:solidFill>
                <a:srgbClr val="1B1D21"/>
              </a:solidFill>
              <a:ln w="12700">
                <a:solidFill>
                  <a:srgbClr val="9AA0A6"/>
                </a:solidFill>
              </a:ln>
            </p:spPr>
            <p:txBody>
              <a:bodyPr rtlCol="0" anchor="ctr"/>
              <a:lstStyle/>
              <a:p>
                <a:pPr algn="ctr"/>
              </a:p>
            </p:txBody>
          </p:sp>
          <p:sp>
            <p:nvSpPr>
              <p:cNvPr id="122" name="Rectangle 121"/>
              <p:cNvSpPr/>
              <p:nvPr/>
            </p:nvSpPr>
            <p:spPr>
              <a:xfrm>
                <a:off x="5908853" y="4000500"/>
                <a:ext cx="65837" cy="41148"/>
              </a:xfrm>
              <a:prstGeom prst="rect">
                <a:avLst/>
              </a:prstGeom>
              <a:solidFill>
                <a:srgbClr val="9AA0A6"/>
              </a:solidFill>
              <a:ln>
                <a:noFill/>
              </a:ln>
            </p:spPr>
            <p:txBody>
              <a:bodyPr rtlCol="0" anchor="ctr"/>
              <a:lstStyle/>
              <a:p>
                <a:pPr algn="ctr"/>
              </a:p>
            </p:txBody>
          </p:sp>
          <p:sp>
            <p:nvSpPr>
              <p:cNvPr id="123" name="Rectangle 122"/>
              <p:cNvSpPr/>
              <p:nvPr/>
            </p:nvSpPr>
            <p:spPr>
              <a:xfrm>
                <a:off x="5974690" y="3671316"/>
                <a:ext cx="822960" cy="452628"/>
              </a:xfrm>
              <a:prstGeom prst="rect">
                <a:avLst/>
              </a:prstGeom>
              <a:solidFill>
                <a:srgbClr val="F28C28"/>
              </a:solidFill>
              <a:ln w="9525">
                <a:solidFill>
                  <a:srgbClr val="101418"/>
                </a:solidFill>
              </a:ln>
            </p:spPr>
            <p:txBody>
              <a:bodyPr rtlCol="0" anchor="ctr"/>
              <a:lstStyle/>
              <a:p>
                <a:pPr algn="ctr"/>
              </a:p>
            </p:txBody>
          </p:sp>
          <p:sp>
            <p:nvSpPr>
              <p:cNvPr id="124" name="Bunker"/>
              <p:cNvSpPr/>
              <p:nvPr/>
            </p:nvSpPr>
            <p:spPr>
              <a:xfrm>
                <a:off x="5999378" y="3696005"/>
                <a:ext cx="213970" cy="164592"/>
              </a:xfrm>
              <a:prstGeom prst="rect">
                <a:avLst/>
              </a:prstGeom>
              <a:solidFill>
                <a:srgbClr val="1B1D21"/>
              </a:solidFill>
              <a:ln>
                <a:noFill/>
              </a:ln>
            </p:spPr>
            <p:txBody>
              <a:bodyPr rtlCol="0" anchor="ctr"/>
              <a:lstStyle/>
              <a:p>
                <a:pPr algn="ctr"/>
              </a:p>
            </p:txBody>
          </p:sp>
          <p:sp>
            <p:nvSpPr>
              <p:cNvPr id="125" name="Rectangle 124"/>
              <p:cNvSpPr/>
              <p:nvPr/>
            </p:nvSpPr>
            <p:spPr>
              <a:xfrm>
                <a:off x="6254496" y="3728923"/>
                <a:ext cx="115214" cy="115214"/>
              </a:xfrm>
              <a:prstGeom prst="rect">
                <a:avLst/>
              </a:prstGeom>
              <a:solidFill>
                <a:srgbClr val="2B2F36"/>
              </a:solidFill>
              <a:ln>
                <a:noFill/>
              </a:ln>
            </p:spPr>
            <p:txBody>
              <a:bodyPr rtlCol="0" anchor="ctr"/>
              <a:lstStyle/>
              <a:p>
                <a:pPr algn="ctr"/>
              </a:p>
            </p:txBody>
          </p:sp>
          <p:sp>
            <p:nvSpPr>
              <p:cNvPr id="126" name="Chimney"/>
              <p:cNvSpPr/>
              <p:nvPr/>
            </p:nvSpPr>
            <p:spPr>
              <a:xfrm>
                <a:off x="6616598" y="3440887"/>
                <a:ext cx="123444" cy="246888"/>
              </a:xfrm>
              <a:prstGeom prst="rect">
                <a:avLst/>
              </a:prstGeom>
              <a:solidFill>
                <a:srgbClr val="1B1D21"/>
              </a:solidFill>
              <a:ln>
                <a:noFill/>
              </a:ln>
            </p:spPr>
            <p:txBody>
              <a:bodyPr rtlCol="0" anchor="ctr"/>
              <a:lstStyle/>
              <a:p>
                <a:pPr algn="ctr"/>
              </a:p>
            </p:txBody>
          </p:sp>
          <p:sp>
            <p:nvSpPr>
              <p:cNvPr id="127" name="Oval 126"/>
              <p:cNvSpPr/>
              <p:nvPr/>
            </p:nvSpPr>
            <p:spPr>
              <a:xfrm>
                <a:off x="6056986" y="4041648"/>
                <a:ext cx="164592" cy="164592"/>
              </a:xfrm>
              <a:prstGeom prst="ellipse">
                <a:avLst/>
              </a:prstGeom>
              <a:solidFill>
                <a:srgbClr val="1B1D21"/>
              </a:solidFill>
              <a:ln w="12700">
                <a:solidFill>
                  <a:srgbClr val="9AA0A6"/>
                </a:solidFill>
              </a:ln>
            </p:spPr>
            <p:txBody>
              <a:bodyPr rtlCol="0" anchor="ctr"/>
              <a:lstStyle/>
              <a:p>
                <a:pPr algn="ctr"/>
              </a:p>
            </p:txBody>
          </p:sp>
          <p:sp>
            <p:nvSpPr>
              <p:cNvPr id="128" name="Oval 127"/>
              <p:cNvSpPr/>
              <p:nvPr/>
            </p:nvSpPr>
            <p:spPr>
              <a:xfrm>
                <a:off x="6303874" y="4041648"/>
                <a:ext cx="164592" cy="164592"/>
              </a:xfrm>
              <a:prstGeom prst="ellipse">
                <a:avLst/>
              </a:prstGeom>
              <a:solidFill>
                <a:srgbClr val="1B1D21"/>
              </a:solidFill>
              <a:ln w="12700">
                <a:solidFill>
                  <a:srgbClr val="9AA0A6"/>
                </a:solidFill>
              </a:ln>
            </p:spPr>
            <p:txBody>
              <a:bodyPr rtlCol="0" anchor="ctr"/>
              <a:lstStyle/>
              <a:p>
                <a:pPr algn="ctr"/>
              </a:p>
            </p:txBody>
          </p:sp>
          <p:sp>
            <p:nvSpPr>
              <p:cNvPr id="129" name="Oval 128"/>
              <p:cNvSpPr/>
              <p:nvPr/>
            </p:nvSpPr>
            <p:spPr>
              <a:xfrm>
                <a:off x="6550762" y="4041648"/>
                <a:ext cx="164592" cy="164592"/>
              </a:xfrm>
              <a:prstGeom prst="ellipse">
                <a:avLst/>
              </a:prstGeom>
              <a:solidFill>
                <a:srgbClr val="1B1D21"/>
              </a:solidFill>
              <a:ln w="12700">
                <a:solidFill>
                  <a:srgbClr val="9AA0A6"/>
                </a:solidFill>
              </a:ln>
            </p:spPr>
            <p:txBody>
              <a:bodyPr rtlCol="0" anchor="ctr"/>
              <a:lstStyle/>
              <a:p>
                <a:pPr algn="ctr"/>
              </a:p>
            </p:txBody>
          </p:sp>
        </p:grpSp>
        <p:grpSp>
          <p:nvGrpSpPr>
            <p:cNvPr id="130" name="Following train" descr="A steam train: an engine pulling wagons."/>
            <p:cNvGrpSpPr/>
            <p:nvPr/>
          </p:nvGrpSpPr>
          <p:grpSpPr>
            <a:xfrm>
              <a:off x="1417320" y="3568446"/>
              <a:ext cx="1892808" cy="637794"/>
              <a:chOff x="1417320" y="3568446"/>
              <a:chExt cx="1892808" cy="637794"/>
            </a:xfrm>
          </p:grpSpPr>
          <p:sp>
            <p:nvSpPr>
              <p:cNvPr id="131" name="Rectangle 130"/>
              <p:cNvSpPr/>
              <p:nvPr/>
            </p:nvSpPr>
            <p:spPr>
              <a:xfrm>
                <a:off x="1417320" y="3815334"/>
                <a:ext cx="548640" cy="308610"/>
              </a:xfrm>
              <a:prstGeom prst="rect">
                <a:avLst/>
              </a:prstGeom>
              <a:solidFill>
                <a:srgbClr val="6C7480"/>
              </a:solidFill>
              <a:ln w="9525">
                <a:solidFill>
                  <a:srgbClr val="101418"/>
                </a:solidFill>
              </a:ln>
            </p:spPr>
            <p:txBody>
              <a:bodyPr rtlCol="0" anchor="ctr"/>
              <a:lstStyle/>
              <a:p>
                <a:pPr algn="ctr"/>
              </a:p>
            </p:txBody>
          </p:sp>
          <p:sp>
            <p:nvSpPr>
              <p:cNvPr id="132" name="Oval 131"/>
              <p:cNvSpPr/>
              <p:nvPr/>
            </p:nvSpPr>
            <p:spPr>
              <a:xfrm>
                <a:off x="1485900" y="4069080"/>
                <a:ext cx="137160" cy="137160"/>
              </a:xfrm>
              <a:prstGeom prst="ellipse">
                <a:avLst/>
              </a:prstGeom>
              <a:solidFill>
                <a:srgbClr val="1B1D21"/>
              </a:solidFill>
              <a:ln w="12700">
                <a:solidFill>
                  <a:srgbClr val="9AA0A6"/>
                </a:solidFill>
              </a:ln>
            </p:spPr>
            <p:txBody>
              <a:bodyPr rtlCol="0" anchor="ctr"/>
              <a:lstStyle/>
              <a:p>
                <a:pPr algn="ctr"/>
              </a:p>
            </p:txBody>
          </p:sp>
          <p:sp>
            <p:nvSpPr>
              <p:cNvPr id="133" name="Oval 132"/>
              <p:cNvSpPr/>
              <p:nvPr/>
            </p:nvSpPr>
            <p:spPr>
              <a:xfrm>
                <a:off x="1760220" y="4069080"/>
                <a:ext cx="137160" cy="137160"/>
              </a:xfrm>
              <a:prstGeom prst="ellipse">
                <a:avLst/>
              </a:prstGeom>
              <a:solidFill>
                <a:srgbClr val="1B1D21"/>
              </a:solidFill>
              <a:ln w="12700">
                <a:solidFill>
                  <a:srgbClr val="9AA0A6"/>
                </a:solidFill>
              </a:ln>
            </p:spPr>
            <p:txBody>
              <a:bodyPr rtlCol="0" anchor="ctr"/>
              <a:lstStyle/>
              <a:p>
                <a:pPr algn="ctr"/>
              </a:p>
            </p:txBody>
          </p:sp>
          <p:sp>
            <p:nvSpPr>
              <p:cNvPr id="134" name="Rectangle 133"/>
              <p:cNvSpPr/>
              <p:nvPr/>
            </p:nvSpPr>
            <p:spPr>
              <a:xfrm>
                <a:off x="1965960" y="4034790"/>
                <a:ext cx="54864" cy="34290"/>
              </a:xfrm>
              <a:prstGeom prst="rect">
                <a:avLst/>
              </a:prstGeom>
              <a:solidFill>
                <a:srgbClr val="9AA0A6"/>
              </a:solidFill>
              <a:ln>
                <a:noFill/>
              </a:ln>
            </p:spPr>
            <p:txBody>
              <a:bodyPr rtlCol="0" anchor="ctr"/>
              <a:lstStyle/>
              <a:p>
                <a:pPr algn="ctr"/>
              </a:p>
            </p:txBody>
          </p:sp>
          <p:sp>
            <p:nvSpPr>
              <p:cNvPr id="135" name="Rectangle 134"/>
              <p:cNvSpPr/>
              <p:nvPr/>
            </p:nvSpPr>
            <p:spPr>
              <a:xfrm>
                <a:off x="2020824" y="3815334"/>
                <a:ext cx="548640" cy="308610"/>
              </a:xfrm>
              <a:prstGeom prst="rect">
                <a:avLst/>
              </a:prstGeom>
              <a:solidFill>
                <a:srgbClr val="6C7480"/>
              </a:solidFill>
              <a:ln w="9525">
                <a:solidFill>
                  <a:srgbClr val="101418"/>
                </a:solidFill>
              </a:ln>
            </p:spPr>
            <p:txBody>
              <a:bodyPr rtlCol="0" anchor="ctr"/>
              <a:lstStyle/>
              <a:p>
                <a:pPr algn="ctr"/>
              </a:p>
            </p:txBody>
          </p:sp>
          <p:sp>
            <p:nvSpPr>
              <p:cNvPr id="136" name="Oval 135"/>
              <p:cNvSpPr/>
              <p:nvPr/>
            </p:nvSpPr>
            <p:spPr>
              <a:xfrm>
                <a:off x="2089404" y="4069080"/>
                <a:ext cx="137160" cy="137160"/>
              </a:xfrm>
              <a:prstGeom prst="ellipse">
                <a:avLst/>
              </a:prstGeom>
              <a:solidFill>
                <a:srgbClr val="1B1D21"/>
              </a:solidFill>
              <a:ln w="12700">
                <a:solidFill>
                  <a:srgbClr val="9AA0A6"/>
                </a:solidFill>
              </a:ln>
            </p:spPr>
            <p:txBody>
              <a:bodyPr rtlCol="0" anchor="ctr"/>
              <a:lstStyle/>
              <a:p>
                <a:pPr algn="ctr"/>
              </a:p>
            </p:txBody>
          </p:sp>
          <p:sp>
            <p:nvSpPr>
              <p:cNvPr id="137" name="Oval 136"/>
              <p:cNvSpPr/>
              <p:nvPr/>
            </p:nvSpPr>
            <p:spPr>
              <a:xfrm>
                <a:off x="2363724" y="4069080"/>
                <a:ext cx="137160" cy="137160"/>
              </a:xfrm>
              <a:prstGeom prst="ellipse">
                <a:avLst/>
              </a:prstGeom>
              <a:solidFill>
                <a:srgbClr val="1B1D21"/>
              </a:solidFill>
              <a:ln w="12700">
                <a:solidFill>
                  <a:srgbClr val="9AA0A6"/>
                </a:solidFill>
              </a:ln>
            </p:spPr>
            <p:txBody>
              <a:bodyPr rtlCol="0" anchor="ctr"/>
              <a:lstStyle/>
              <a:p>
                <a:pPr algn="ctr"/>
              </a:p>
            </p:txBody>
          </p:sp>
          <p:sp>
            <p:nvSpPr>
              <p:cNvPr id="138" name="Rectangle 137"/>
              <p:cNvSpPr/>
              <p:nvPr/>
            </p:nvSpPr>
            <p:spPr>
              <a:xfrm>
                <a:off x="2569464" y="4034790"/>
                <a:ext cx="54864" cy="34290"/>
              </a:xfrm>
              <a:prstGeom prst="rect">
                <a:avLst/>
              </a:prstGeom>
              <a:solidFill>
                <a:srgbClr val="9AA0A6"/>
              </a:solidFill>
              <a:ln>
                <a:noFill/>
              </a:ln>
            </p:spPr>
            <p:txBody>
              <a:bodyPr rtlCol="0" anchor="ctr"/>
              <a:lstStyle/>
              <a:p>
                <a:pPr algn="ctr"/>
              </a:p>
            </p:txBody>
          </p:sp>
          <p:sp>
            <p:nvSpPr>
              <p:cNvPr id="139" name="Rectangle 138"/>
              <p:cNvSpPr/>
              <p:nvPr/>
            </p:nvSpPr>
            <p:spPr>
              <a:xfrm>
                <a:off x="2624328" y="3760470"/>
                <a:ext cx="685800" cy="377190"/>
              </a:xfrm>
              <a:prstGeom prst="rect">
                <a:avLst/>
              </a:prstGeom>
              <a:solidFill>
                <a:srgbClr val="F28C28"/>
              </a:solidFill>
              <a:ln w="9525">
                <a:solidFill>
                  <a:srgbClr val="101418"/>
                </a:solidFill>
              </a:ln>
            </p:spPr>
            <p:txBody>
              <a:bodyPr rtlCol="0" anchor="ctr"/>
              <a:lstStyle/>
              <a:p>
                <a:pPr algn="ctr"/>
              </a:p>
            </p:txBody>
          </p:sp>
          <p:sp>
            <p:nvSpPr>
              <p:cNvPr id="140" name="Bunker"/>
              <p:cNvSpPr/>
              <p:nvPr/>
            </p:nvSpPr>
            <p:spPr>
              <a:xfrm>
                <a:off x="2644902" y="3781044"/>
                <a:ext cx="178308" cy="137160"/>
              </a:xfrm>
              <a:prstGeom prst="rect">
                <a:avLst/>
              </a:prstGeom>
              <a:solidFill>
                <a:srgbClr val="1B1D21"/>
              </a:solidFill>
              <a:ln>
                <a:noFill/>
              </a:ln>
            </p:spPr>
            <p:txBody>
              <a:bodyPr rtlCol="0" anchor="ctr"/>
              <a:lstStyle/>
              <a:p>
                <a:pPr algn="ctr"/>
              </a:p>
            </p:txBody>
          </p:sp>
          <p:sp>
            <p:nvSpPr>
              <p:cNvPr id="141" name="Rectangle 140"/>
              <p:cNvSpPr/>
              <p:nvPr/>
            </p:nvSpPr>
            <p:spPr>
              <a:xfrm>
                <a:off x="2857500" y="3808476"/>
                <a:ext cx="96012" cy="96012"/>
              </a:xfrm>
              <a:prstGeom prst="rect">
                <a:avLst/>
              </a:prstGeom>
              <a:solidFill>
                <a:srgbClr val="2B2F36"/>
              </a:solidFill>
              <a:ln>
                <a:noFill/>
              </a:ln>
            </p:spPr>
            <p:txBody>
              <a:bodyPr rtlCol="0" anchor="ctr"/>
              <a:lstStyle/>
              <a:p>
                <a:pPr algn="ctr"/>
              </a:p>
            </p:txBody>
          </p:sp>
          <p:sp>
            <p:nvSpPr>
              <p:cNvPr id="142" name="Chimney"/>
              <p:cNvSpPr/>
              <p:nvPr/>
            </p:nvSpPr>
            <p:spPr>
              <a:xfrm>
                <a:off x="3159252" y="3568446"/>
                <a:ext cx="102870" cy="205740"/>
              </a:xfrm>
              <a:prstGeom prst="rect">
                <a:avLst/>
              </a:prstGeom>
              <a:solidFill>
                <a:srgbClr val="1B1D21"/>
              </a:solidFill>
              <a:ln>
                <a:noFill/>
              </a:ln>
            </p:spPr>
            <p:txBody>
              <a:bodyPr rtlCol="0" anchor="ctr"/>
              <a:lstStyle/>
              <a:p>
                <a:pPr algn="ctr"/>
              </a:p>
            </p:txBody>
          </p:sp>
          <p:sp>
            <p:nvSpPr>
              <p:cNvPr id="143" name="Oval 142"/>
              <p:cNvSpPr/>
              <p:nvPr/>
            </p:nvSpPr>
            <p:spPr>
              <a:xfrm>
                <a:off x="2692908" y="4069080"/>
                <a:ext cx="137160" cy="137160"/>
              </a:xfrm>
              <a:prstGeom prst="ellipse">
                <a:avLst/>
              </a:prstGeom>
              <a:solidFill>
                <a:srgbClr val="1B1D21"/>
              </a:solidFill>
              <a:ln w="12700">
                <a:solidFill>
                  <a:srgbClr val="9AA0A6"/>
                </a:solidFill>
              </a:ln>
            </p:spPr>
            <p:txBody>
              <a:bodyPr rtlCol="0" anchor="ctr"/>
              <a:lstStyle/>
              <a:p>
                <a:pPr algn="ctr"/>
              </a:p>
            </p:txBody>
          </p:sp>
          <p:sp>
            <p:nvSpPr>
              <p:cNvPr id="144" name="Oval 143"/>
              <p:cNvSpPr/>
              <p:nvPr/>
            </p:nvSpPr>
            <p:spPr>
              <a:xfrm>
                <a:off x="2898648" y="4069080"/>
                <a:ext cx="137160" cy="137160"/>
              </a:xfrm>
              <a:prstGeom prst="ellipse">
                <a:avLst/>
              </a:prstGeom>
              <a:solidFill>
                <a:srgbClr val="1B1D21"/>
              </a:solidFill>
              <a:ln w="12700">
                <a:solidFill>
                  <a:srgbClr val="9AA0A6"/>
                </a:solidFill>
              </a:ln>
            </p:spPr>
            <p:txBody>
              <a:bodyPr rtlCol="0" anchor="ctr"/>
              <a:lstStyle/>
              <a:p>
                <a:pPr algn="ctr"/>
              </a:p>
            </p:txBody>
          </p:sp>
          <p:sp>
            <p:nvSpPr>
              <p:cNvPr id="145" name="Oval 144"/>
              <p:cNvSpPr/>
              <p:nvPr/>
            </p:nvSpPr>
            <p:spPr>
              <a:xfrm>
                <a:off x="3104388" y="4069080"/>
                <a:ext cx="137160" cy="137160"/>
              </a:xfrm>
              <a:prstGeom prst="ellipse">
                <a:avLst/>
              </a:prstGeom>
              <a:solidFill>
                <a:srgbClr val="1B1D21"/>
              </a:solidFill>
              <a:ln w="12700">
                <a:solidFill>
                  <a:srgbClr val="9AA0A6"/>
                </a:solidFill>
              </a:ln>
            </p:spPr>
            <p:txBody>
              <a:bodyPr rtlCol="0" anchor="ctr"/>
              <a:lstStyle/>
              <a:p>
                <a:pPr algn="ctr"/>
              </a:p>
            </p:txBody>
          </p:sp>
        </p:grpSp>
        <p:grpSp>
          <p:nvGrpSpPr>
            <p:cNvPr id="146" name="Signal stop" descr="Semaphore stop signal, arm flat: STOP."/>
            <p:cNvGrpSpPr/>
            <p:nvPr/>
          </p:nvGrpSpPr>
          <p:grpSpPr>
            <a:xfrm>
              <a:off x="3511296" y="3163824"/>
              <a:ext cx="1764792" cy="1389888"/>
              <a:chOff x="3511296" y="3163824"/>
              <a:chExt cx="1764792" cy="1389888"/>
            </a:xfrm>
          </p:grpSpPr>
          <p:sp>
            <p:nvSpPr>
              <p:cNvPr id="147" name="Rectangle 146"/>
              <p:cNvSpPr/>
              <p:nvPr/>
            </p:nvSpPr>
            <p:spPr>
              <a:xfrm>
                <a:off x="4050792" y="4489704"/>
                <a:ext cx="310896" cy="64008"/>
              </a:xfrm>
              <a:prstGeom prst="rect">
                <a:avLst/>
              </a:prstGeom>
              <a:solidFill>
                <a:srgbClr val="9AA0A6"/>
              </a:solidFill>
              <a:ln>
                <a:noFill/>
              </a:ln>
            </p:spPr>
            <p:txBody>
              <a:bodyPr rtlCol="0" anchor="ctr"/>
              <a:lstStyle/>
              <a:p>
                <a:pPr algn="ctr"/>
              </a:p>
            </p:txBody>
          </p:sp>
          <p:sp>
            <p:nvSpPr>
              <p:cNvPr id="148" name="Rectangle 147"/>
              <p:cNvSpPr/>
              <p:nvPr/>
            </p:nvSpPr>
            <p:spPr>
              <a:xfrm>
                <a:off x="4151376" y="3547872"/>
                <a:ext cx="109728" cy="1005840"/>
              </a:xfrm>
              <a:prstGeom prst="rect">
                <a:avLst/>
              </a:prstGeom>
              <a:solidFill>
                <a:srgbClr val="E8E8E8"/>
              </a:solidFill>
              <a:ln>
                <a:noFill/>
              </a:ln>
            </p:spPr>
            <p:txBody>
              <a:bodyPr rtlCol="0" anchor="ctr"/>
              <a:lstStyle/>
              <a:p>
                <a:pPr algn="ctr"/>
              </a:p>
            </p:txBody>
          </p:sp>
          <p:sp>
            <p:nvSpPr>
              <p:cNvPr id="149" name="Oval 148"/>
              <p:cNvSpPr/>
              <p:nvPr/>
            </p:nvSpPr>
            <p:spPr>
              <a:xfrm>
                <a:off x="4142232" y="3447288"/>
                <a:ext cx="128016" cy="128016"/>
              </a:xfrm>
              <a:prstGeom prst="ellipse">
                <a:avLst/>
              </a:prstGeom>
              <a:solidFill>
                <a:srgbClr val="E8E8E8"/>
              </a:solidFill>
              <a:ln>
                <a:noFill/>
              </a:ln>
            </p:spPr>
            <p:txBody>
              <a:bodyPr rtlCol="0" anchor="ctr"/>
              <a:lstStyle/>
              <a:p>
                <a:pPr algn="ctr"/>
              </a:p>
            </p:txBody>
          </p:sp>
          <p:sp>
            <p:nvSpPr>
              <p:cNvPr id="150" name="Freeform 149"/>
              <p:cNvSpPr/>
              <p:nvPr/>
            </p:nvSpPr>
            <p:spPr>
              <a:xfrm>
                <a:off x="3511296" y="3694176"/>
                <a:ext cx="640080" cy="128016"/>
              </a:xfrm>
              <a:custGeom>
                <a:avLst/>
                <a:gdLst/>
                <a:ahLst/>
                <a:cxnLst/>
                <a:rect l="l" t="t" r="r" b="b"/>
                <a:pathLst>
                  <a:path w="640080" h="128016">
                    <a:moveTo>
                      <a:pt x="640080" y="0"/>
                    </a:moveTo>
                    <a:lnTo>
                      <a:pt x="0" y="0"/>
                    </a:lnTo>
                    <a:lnTo>
                      <a:pt x="0" y="128016"/>
                    </a:lnTo>
                    <a:lnTo>
                      <a:pt x="640080" y="128016"/>
                    </a:lnTo>
                    <a:close/>
                  </a:path>
                </a:pathLst>
              </a:custGeom>
              <a:solidFill>
                <a:srgbClr val="E5484D"/>
              </a:solidFill>
              <a:ln w="9525">
                <a:solidFill>
                  <a:srgbClr val="101418"/>
                </a:solidFill>
              </a:ln>
            </p:spPr>
            <p:txBody>
              <a:bodyPr rtlCol="0" anchor="ctr"/>
              <a:lstStyle/>
              <a:p>
                <a:pPr algn="ctr"/>
              </a:p>
            </p:txBody>
          </p:sp>
          <p:sp>
            <p:nvSpPr>
              <p:cNvPr id="151" name="Freeform 150"/>
              <p:cNvSpPr/>
              <p:nvPr/>
            </p:nvSpPr>
            <p:spPr>
              <a:xfrm>
                <a:off x="3677717" y="3694176"/>
                <a:ext cx="76809" cy="128016"/>
              </a:xfrm>
              <a:custGeom>
                <a:avLst/>
                <a:gdLst/>
                <a:ahLst/>
                <a:cxnLst/>
                <a:rect l="l" t="t" r="r" b="b"/>
                <a:pathLst>
                  <a:path w="76809" h="128016">
                    <a:moveTo>
                      <a:pt x="76809" y="0"/>
                    </a:moveTo>
                    <a:lnTo>
                      <a:pt x="0" y="0"/>
                    </a:lnTo>
                    <a:lnTo>
                      <a:pt x="0" y="128016"/>
                    </a:lnTo>
                    <a:lnTo>
                      <a:pt x="76809" y="128016"/>
                    </a:lnTo>
                    <a:close/>
                  </a:path>
                </a:pathLst>
              </a:custGeom>
              <a:solidFill>
                <a:srgbClr val="FFFFFF"/>
              </a:solidFill>
              <a:ln>
                <a:noFill/>
              </a:ln>
            </p:spPr>
            <p:txBody>
              <a:bodyPr rtlCol="0" anchor="ctr"/>
              <a:lstStyle/>
              <a:p>
                <a:pPr algn="ctr"/>
              </a:p>
            </p:txBody>
          </p:sp>
          <p:sp>
            <p:nvSpPr>
              <p:cNvPr id="152" name="Oval 151"/>
              <p:cNvSpPr/>
              <p:nvPr/>
            </p:nvSpPr>
            <p:spPr>
              <a:xfrm>
                <a:off x="4283964" y="3680460"/>
                <a:ext cx="155448" cy="155448"/>
              </a:xfrm>
              <a:prstGeom prst="ellipse">
                <a:avLst/>
              </a:prstGeom>
              <a:solidFill>
                <a:srgbClr val="E5484D"/>
              </a:solidFill>
              <a:ln w="9525">
                <a:solidFill>
                  <a:srgbClr val="101418"/>
                </a:solidFill>
              </a:ln>
            </p:spPr>
            <p:txBody>
              <a:bodyPr rtlCol="0" anchor="ctr"/>
              <a:lstStyle/>
              <a:p>
                <a:pPr algn="ctr"/>
              </a:p>
            </p:txBody>
          </p:sp>
          <p:sp>
            <p:nvSpPr>
              <p:cNvPr id="153" name="Rounded Rectangle 152"/>
              <p:cNvSpPr/>
              <p:nvPr/>
            </p:nvSpPr>
            <p:spPr>
              <a:xfrm>
                <a:off x="4407408" y="3163824"/>
                <a:ext cx="86868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STOP</a:t>
                </a:r>
              </a:p>
            </p:txBody>
          </p:sp>
        </p:grpSp>
        <p:grpSp>
          <p:nvGrpSpPr>
            <p:cNvPr id="154" name="Signal clear" descr="Semaphore stop signal, arm raised: CLEAR."/>
            <p:cNvGrpSpPr/>
            <p:nvPr/>
          </p:nvGrpSpPr>
          <p:grpSpPr>
            <a:xfrm>
              <a:off x="7311111" y="3163824"/>
              <a:ext cx="1622577" cy="1389888"/>
              <a:chOff x="7311111" y="3163824"/>
              <a:chExt cx="1622577" cy="1389888"/>
            </a:xfrm>
          </p:grpSpPr>
          <p:sp>
            <p:nvSpPr>
              <p:cNvPr id="155" name="Rectangle 154"/>
              <p:cNvSpPr/>
              <p:nvPr/>
            </p:nvSpPr>
            <p:spPr>
              <a:xfrm>
                <a:off x="7708392" y="4489704"/>
                <a:ext cx="310896" cy="64008"/>
              </a:xfrm>
              <a:prstGeom prst="rect">
                <a:avLst/>
              </a:prstGeom>
              <a:solidFill>
                <a:srgbClr val="9AA0A6"/>
              </a:solidFill>
              <a:ln>
                <a:noFill/>
              </a:ln>
            </p:spPr>
            <p:txBody>
              <a:bodyPr rtlCol="0" anchor="ctr"/>
              <a:lstStyle/>
              <a:p>
                <a:pPr algn="ctr"/>
              </a:p>
            </p:txBody>
          </p:sp>
          <p:sp>
            <p:nvSpPr>
              <p:cNvPr id="156" name="Rectangle 155"/>
              <p:cNvSpPr/>
              <p:nvPr/>
            </p:nvSpPr>
            <p:spPr>
              <a:xfrm>
                <a:off x="7808976" y="3547872"/>
                <a:ext cx="109728" cy="1005840"/>
              </a:xfrm>
              <a:prstGeom prst="rect">
                <a:avLst/>
              </a:prstGeom>
              <a:solidFill>
                <a:srgbClr val="E8E8E8"/>
              </a:solidFill>
              <a:ln>
                <a:noFill/>
              </a:ln>
            </p:spPr>
            <p:txBody>
              <a:bodyPr rtlCol="0" anchor="ctr"/>
              <a:lstStyle/>
              <a:p>
                <a:pPr algn="ctr"/>
              </a:p>
            </p:txBody>
          </p:sp>
          <p:sp>
            <p:nvSpPr>
              <p:cNvPr id="157" name="Oval 156"/>
              <p:cNvSpPr/>
              <p:nvPr/>
            </p:nvSpPr>
            <p:spPr>
              <a:xfrm>
                <a:off x="7799832" y="3447288"/>
                <a:ext cx="128016" cy="128016"/>
              </a:xfrm>
              <a:prstGeom prst="ellipse">
                <a:avLst/>
              </a:prstGeom>
              <a:solidFill>
                <a:srgbClr val="E8E8E8"/>
              </a:solidFill>
              <a:ln>
                <a:noFill/>
              </a:ln>
            </p:spPr>
            <p:txBody>
              <a:bodyPr rtlCol="0" anchor="ctr"/>
              <a:lstStyle/>
              <a:p>
                <a:pPr algn="ctr"/>
              </a:p>
            </p:txBody>
          </p:sp>
          <p:sp>
            <p:nvSpPr>
              <p:cNvPr id="158" name="Freeform 157"/>
              <p:cNvSpPr/>
              <p:nvPr/>
            </p:nvSpPr>
            <p:spPr>
              <a:xfrm>
                <a:off x="7311111" y="3260319"/>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59" name="Freeform 158"/>
              <p:cNvSpPr/>
              <p:nvPr/>
            </p:nvSpPr>
            <p:spPr>
              <a:xfrm>
                <a:off x="7428788" y="3377996"/>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60" name="Oval 159"/>
              <p:cNvSpPr/>
              <p:nvPr/>
            </p:nvSpPr>
            <p:spPr>
              <a:xfrm>
                <a:off x="7941564" y="3680460"/>
                <a:ext cx="155448" cy="155448"/>
              </a:xfrm>
              <a:prstGeom prst="ellipse">
                <a:avLst/>
              </a:prstGeom>
              <a:solidFill>
                <a:srgbClr val="3FB950"/>
              </a:solidFill>
              <a:ln w="9525">
                <a:solidFill>
                  <a:srgbClr val="101418"/>
                </a:solidFill>
              </a:ln>
            </p:spPr>
            <p:txBody>
              <a:bodyPr rtlCol="0" anchor="ctr"/>
              <a:lstStyle/>
              <a:p>
                <a:pPr algn="ctr"/>
              </a:p>
            </p:txBody>
          </p:sp>
          <p:sp>
            <p:nvSpPr>
              <p:cNvPr id="161" name="Rounded Rectangle 160"/>
              <p:cNvSpPr/>
              <p:nvPr/>
            </p:nvSpPr>
            <p:spPr>
              <a:xfrm>
                <a:off x="8065008" y="3163824"/>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sp>
          <p:nvSpPr>
            <p:cNvPr id="162" name="Rectangle 161"/>
            <p:cNvSpPr/>
            <p:nvPr/>
          </p:nvSpPr>
          <p:spPr>
            <a:xfrm>
              <a:off x="6797650" y="4626864"/>
              <a:ext cx="3626510" cy="164592"/>
            </a:xfrm>
            <a:prstGeom prst="rect">
              <a:avLst/>
            </a:prstGeom>
            <a:solidFill>
              <a:srgbClr val="F2C14E"/>
            </a:solidFill>
            <a:ln>
              <a:noFill/>
            </a:ln>
          </p:spPr>
          <p:txBody>
            <a:bodyPr rtlCol="0" anchor="ctr"/>
            <a:lstStyle/>
            <a:p>
              <a:pPr algn="ctr"/>
            </a:p>
          </p:txBody>
        </p:sp>
        <p:cxnSp>
          <p:nvCxnSpPr>
            <p:cNvPr id="163" name="Connector 162"/>
            <p:cNvCxnSpPr/>
            <p:nvPr/>
          </p:nvCxnSpPr>
          <p:spPr>
            <a:xfrm>
              <a:off x="10424160" y="3749040"/>
              <a:ext cx="0" cy="1188720"/>
            </a:xfrm>
            <a:prstGeom prst="line">
              <a:avLst/>
            </a:prstGeom>
            <a:ln w="28575">
              <a:solidFill>
                <a:srgbClr val="F2C14E"/>
              </a:solidFill>
              <a:prstDash val="dash"/>
            </a:ln>
          </p:spPr>
        </p:cxnSp>
        <p:sp>
          <p:nvSpPr>
            <p:cNvPr id="164" name="TextBox 163"/>
            <p:cNvSpPr txBox="1"/>
            <p:nvPr/>
          </p:nvSpPr>
          <p:spPr>
            <a:xfrm>
              <a:off x="6889090" y="4809744"/>
              <a:ext cx="3626510" cy="320040"/>
            </a:xfrm>
            <a:prstGeom prst="rect">
              <a:avLst/>
            </a:prstGeom>
            <a:noFill/>
          </p:spPr>
          <p:txBody>
            <a:bodyPr wrap="square" lIns="0" tIns="0" rIns="0" bIns="0" anchor="t">
              <a:noAutofit/>
            </a:bodyPr>
            <a:lstStyle/>
            <a:p>
              <a:pPr algn="l"/>
              <a:r>
                <a:rPr sz="1600" b="0" i="0" lang="en-GB">
                  <a:solidFill>
                    <a:srgbClr val="F2F2F2"/>
                  </a:solidFill>
                  <a:latin typeface="Arial"/>
                </a:rPr>
                <a:t>Long stopping distance</a:t>
              </a:r>
            </a:p>
          </p:txBody>
        </p:sp>
        <p:sp>
          <p:nvSpPr>
            <p:cNvPr id="165" name="Rectangle 164"/>
            <p:cNvSpPr/>
            <p:nvPr/>
          </p:nvSpPr>
          <p:spPr>
            <a:xfrm>
              <a:off x="859536" y="5230368"/>
              <a:ext cx="331012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1</a:t>
              </a:r>
            </a:p>
          </p:txBody>
        </p:sp>
        <p:sp>
          <p:nvSpPr>
            <p:cNvPr id="166" name="Rectangle 165"/>
            <p:cNvSpPr/>
            <p:nvPr/>
          </p:nvSpPr>
          <p:spPr>
            <a:xfrm>
              <a:off x="4242816" y="5230368"/>
              <a:ext cx="358444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2</a:t>
              </a:r>
            </a:p>
          </p:txBody>
        </p:sp>
        <p:sp>
          <p:nvSpPr>
            <p:cNvPr id="167" name="Rectangle 166"/>
            <p:cNvSpPr/>
            <p:nvPr/>
          </p:nvSpPr>
          <p:spPr>
            <a:xfrm>
              <a:off x="7900416" y="5230368"/>
              <a:ext cx="340156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3</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Trains cannot swerve. They need a long way to stop. Signals keep them apart.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12</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78"/>
                                        </p:tgtEl>
                                        <p:attrNameLst>
                                          <p:attrName>style.visibility</p:attrName>
                                        </p:attrNameLst>
                                      </p:cBhvr>
                                      <p:to>
                                        <p:strVal val="visible"/>
                                      </p:to>
                                    </p:set>
                                    <p:animEffect transition="in" filter="fade">
                                      <p:cBhvr>
                                        <p:cTn id="10" dur="500"/>
                                        <p:tgtEl>
                                          <p:spTgt spid="78"/>
                                        </p:tgtEl>
                                      </p:cBhvr>
                                    </p:animEffect>
                                  </p:childTnLst>
                                </p:cTn>
                              </p:par>
                              <p:par>
                                <p:cTn id="11" presetID="10" presetClass="entr" presetSubtype="0" fill="hold" nodeType="withEffect">
                                  <p:stCondLst>
                                    <p:cond delay="6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nodeType="withEffect">
                                  <p:stCondLst>
                                    <p:cond delay="9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Words you will meet</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Glossary" descr="Eight glossary cards: vanilla, tier, wagon, tender, block, semaphore, signal box and service stop, each with a short meaning."/>
          <p:cNvGrpSpPr/>
          <p:nvPr/>
        </p:nvGrpSpPr>
        <p:grpSpPr>
          <a:xfrm>
            <a:off x="548640" y="1554480"/>
            <a:ext cx="11092586" cy="3429000"/>
            <a:chOff x="548640" y="1554480"/>
            <a:chExt cx="11092586" cy="3429000"/>
          </a:xfrm>
        </p:grpSpPr>
        <p:sp>
          <p:nvSpPr>
            <p:cNvPr id="9" name="Rounded Rectangle 8"/>
            <p:cNvSpPr/>
            <p:nvPr/>
          </p:nvSpPr>
          <p:spPr>
            <a:xfrm>
              <a:off x="548640"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Vanilla</a:t>
              </a:r>
            </a:p>
            <a:p>
              <a:pPr algn="l"/>
              <a:r>
                <a:rPr sz="1800" b="0" i="0" lang="en-GB">
                  <a:solidFill>
                    <a:srgbClr val="F2F2F2"/>
                  </a:solidFill>
                  <a:latin typeface="Arial"/>
                </a:rPr>
                <a:t>The game without mods.</a:t>
              </a:r>
            </a:p>
          </p:txBody>
        </p:sp>
        <p:sp>
          <p:nvSpPr>
            <p:cNvPr id="10" name="Rounded Rectangle 9"/>
            <p:cNvSpPr/>
            <p:nvPr/>
          </p:nvSpPr>
          <p:spPr>
            <a:xfrm>
              <a:off x="3362249"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Tier</a:t>
              </a:r>
            </a:p>
            <a:p>
              <a:pPr algn="l"/>
              <a:r>
                <a:rPr sz="1800" b="0" i="0" lang="en-GB">
                  <a:solidFill>
                    <a:srgbClr val="F2F2F2"/>
                  </a:solidFill>
                  <a:latin typeface="Arial"/>
                </a:rPr>
                <a:t>A step of unlocks.</a:t>
              </a:r>
            </a:p>
          </p:txBody>
        </p:sp>
        <p:sp>
          <p:nvSpPr>
            <p:cNvPr id="11" name="Rounded Rectangle 10"/>
            <p:cNvSpPr/>
            <p:nvPr/>
          </p:nvSpPr>
          <p:spPr>
            <a:xfrm>
              <a:off x="6175858"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Wagon</a:t>
              </a:r>
            </a:p>
            <a:p>
              <a:pPr algn="l"/>
              <a:r>
                <a:rPr sz="1800" b="0" i="0" lang="en-GB">
                  <a:solidFill>
                    <a:srgbClr val="F2F2F2"/>
                  </a:solidFill>
                  <a:latin typeface="Arial"/>
                </a:rPr>
                <a:t>A vehicle that carries cargo.</a:t>
              </a:r>
            </a:p>
          </p:txBody>
        </p:sp>
        <p:sp>
          <p:nvSpPr>
            <p:cNvPr id="12" name="Rounded Rectangle 11"/>
            <p:cNvSpPr/>
            <p:nvPr/>
          </p:nvSpPr>
          <p:spPr>
            <a:xfrm>
              <a:off x="8989466"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Tender</a:t>
              </a:r>
            </a:p>
            <a:p>
              <a:pPr algn="l"/>
              <a:r>
                <a:rPr sz="1800" b="0" i="0" lang="en-GB">
                  <a:solidFill>
                    <a:srgbClr val="F2F2F2"/>
                  </a:solidFill>
                  <a:latin typeface="Arial"/>
                </a:rPr>
                <a:t>A coal and water wagon behind an engine.</a:t>
              </a:r>
            </a:p>
          </p:txBody>
        </p:sp>
        <p:sp>
          <p:nvSpPr>
            <p:cNvPr id="13" name="Rounded Rectangle 12"/>
            <p:cNvSpPr/>
            <p:nvPr/>
          </p:nvSpPr>
          <p:spPr>
            <a:xfrm>
              <a:off x="548640"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Block</a:t>
              </a:r>
            </a:p>
            <a:p>
              <a:pPr algn="l"/>
              <a:r>
                <a:rPr sz="1800" b="0" i="0" lang="en-GB">
                  <a:solidFill>
                    <a:srgbClr val="F2F2F2"/>
                  </a:solidFill>
                  <a:latin typeface="Arial"/>
                </a:rPr>
                <a:t>A stretch of track that holds one train.</a:t>
              </a:r>
            </a:p>
          </p:txBody>
        </p:sp>
        <p:sp>
          <p:nvSpPr>
            <p:cNvPr id="14" name="Rounded Rectangle 13"/>
            <p:cNvSpPr/>
            <p:nvPr/>
          </p:nvSpPr>
          <p:spPr>
            <a:xfrm>
              <a:off x="3362249"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Semaphore</a:t>
              </a:r>
            </a:p>
            <a:p>
              <a:pPr algn="l"/>
              <a:r>
                <a:rPr sz="1800" b="0" i="0" lang="en-GB">
                  <a:solidFill>
                    <a:srgbClr val="F2F2F2"/>
                  </a:solidFill>
                  <a:latin typeface="Arial"/>
                </a:rPr>
                <a:t>A signal with a moving arm.</a:t>
              </a:r>
            </a:p>
          </p:txBody>
        </p:sp>
        <p:sp>
          <p:nvSpPr>
            <p:cNvPr id="15" name="Rounded Rectangle 14"/>
            <p:cNvSpPr/>
            <p:nvPr/>
          </p:nvSpPr>
          <p:spPr>
            <a:xfrm>
              <a:off x="6175858"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Signal box</a:t>
              </a:r>
            </a:p>
            <a:p>
              <a:pPr algn="l"/>
              <a:r>
                <a:rPr sz="1800" b="0" i="0" lang="en-GB">
                  <a:solidFill>
                    <a:srgbClr val="F2F2F2"/>
                  </a:solidFill>
                  <a:latin typeface="Arial"/>
                </a:rPr>
                <a:t>Where a signaller works the signals.</a:t>
              </a:r>
            </a:p>
          </p:txBody>
        </p:sp>
        <p:sp>
          <p:nvSpPr>
            <p:cNvPr id="16" name="Rounded Rectangle 15"/>
            <p:cNvSpPr/>
            <p:nvPr/>
          </p:nvSpPr>
          <p:spPr>
            <a:xfrm>
              <a:off x="8989466"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Service stop</a:t>
              </a:r>
            </a:p>
            <a:p>
              <a:pPr algn="l"/>
              <a:r>
                <a:rPr sz="1800" b="0" i="0" lang="en-GB">
                  <a:solidFill>
                    <a:srgbClr val="F2F2F2"/>
                  </a:solidFill>
                  <a:latin typeface="Arial"/>
                </a:rPr>
                <a:t>A stop to refill coal and water.</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Short meanings for the words in this guide.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13</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6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Not "trains, but earlier"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TextBox 7"/>
          <p:cNvSpPr txBox="1"/>
          <p:nvPr/>
        </p:nvSpPr>
        <p:spPr>
          <a:xfrm>
            <a:off x="548640" y="1298448"/>
            <a:ext cx="5394960" cy="411480"/>
          </a:xfrm>
          <a:prstGeom prst="rect">
            <a:avLst/>
          </a:prstGeom>
          <a:noFill/>
        </p:spPr>
        <p:txBody>
          <a:bodyPr wrap="square" lIns="0" tIns="0" rIns="0" bIns="0" anchor="t">
            <a:noAutofit/>
          </a:bodyPr>
          <a:lstStyle/>
          <a:p>
            <a:pPr algn="l"/>
            <a:r>
              <a:rPr sz="2000" b="1" i="0" lang="en-GB">
                <a:solidFill>
                  <a:srgbClr val="6CA0DC"/>
                </a:solidFill>
                <a:latin typeface="Arial"/>
              </a:rPr>
              <a:t>Vanilla electric (later)</a:t>
            </a:r>
          </a:p>
        </p:txBody>
      </p:sp>
      <p:sp>
        <p:nvSpPr>
          <p:cNvPr id="9" name="TextBox 8"/>
          <p:cNvSpPr txBox="1"/>
          <p:nvPr/>
        </p:nvSpPr>
        <p:spPr>
          <a:xfrm>
            <a:off x="6245352" y="1298448"/>
            <a:ext cx="5394960" cy="411480"/>
          </a:xfrm>
          <a:prstGeom prst="rect">
            <a:avLst/>
          </a:prstGeom>
          <a:noFill/>
        </p:spPr>
        <p:txBody>
          <a:bodyPr wrap="square" lIns="0" tIns="0" rIns="0" bIns="0" anchor="t">
            <a:noAutofit/>
          </a:bodyPr>
          <a:lstStyle/>
          <a:p>
            <a:pPr algn="l"/>
            <a:r>
              <a:rPr sz="2000" b="1" i="0" lang="en-GB">
                <a:solidFill>
                  <a:srgbClr val="F28C28"/>
                </a:solidFill>
                <a:latin typeface="Arial"/>
              </a:rPr>
              <a:t>Early steam (this mod)</a:t>
            </a:r>
          </a:p>
        </p:txBody>
      </p:sp>
      <p:grpSp>
        <p:nvGrpSpPr>
          <p:cNvPr id="10" name="Comparison" descr="Comparison in five rows. Vanilla electric: monorail beam, electricity, no refuelling, block and path signals, compact stations. Early steam: two-rail track, coal and water, service stops, semaphores and signal boxes, large stations."/>
          <p:cNvGrpSpPr/>
          <p:nvPr/>
        </p:nvGrpSpPr>
        <p:grpSpPr>
          <a:xfrm>
            <a:off x="548640" y="1810512"/>
            <a:ext cx="11091672" cy="3639312"/>
            <a:chOff x="548640" y="1810512"/>
            <a:chExt cx="11091672" cy="3639312"/>
          </a:xfrm>
        </p:grpSpPr>
        <p:sp>
          <p:nvSpPr>
            <p:cNvPr id="11" name="Rounded Rectangle 10"/>
            <p:cNvSpPr/>
            <p:nvPr/>
          </p:nvSpPr>
          <p:spPr>
            <a:xfrm>
              <a:off x="548640" y="1810512"/>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12" name="Rectangle 11"/>
            <p:cNvSpPr/>
            <p:nvPr/>
          </p:nvSpPr>
          <p:spPr>
            <a:xfrm>
              <a:off x="713232" y="2075688"/>
              <a:ext cx="585216" cy="146304"/>
            </a:xfrm>
            <a:prstGeom prst="rect">
              <a:avLst/>
            </a:prstGeom>
            <a:solidFill>
              <a:srgbClr val="6CA0DC"/>
            </a:solidFill>
            <a:ln>
              <a:noFill/>
            </a:ln>
          </p:spPr>
          <p:txBody>
            <a:bodyPr rtlCol="0" anchor="ctr"/>
            <a:lstStyle/>
            <a:p>
              <a:pPr algn="ctr"/>
            </a:p>
          </p:txBody>
        </p:sp>
        <p:sp>
          <p:nvSpPr>
            <p:cNvPr id="13" name="Rectangle 12"/>
            <p:cNvSpPr/>
            <p:nvPr/>
          </p:nvSpPr>
          <p:spPr>
            <a:xfrm>
              <a:off x="960120" y="2221992"/>
              <a:ext cx="91440" cy="164592"/>
            </a:xfrm>
            <a:prstGeom prst="rect">
              <a:avLst/>
            </a:prstGeom>
            <a:solidFill>
              <a:srgbClr val="6CA0DC"/>
            </a:solidFill>
            <a:ln>
              <a:noFill/>
            </a:ln>
          </p:spPr>
          <p:txBody>
            <a:bodyPr rtlCol="0" anchor="ctr"/>
            <a:lstStyle/>
            <a:p>
              <a:pPr algn="ctr"/>
            </a:p>
          </p:txBody>
        </p:sp>
        <p:sp>
          <p:nvSpPr>
            <p:cNvPr id="14" name="TextBox 13"/>
            <p:cNvSpPr txBox="1"/>
            <p:nvPr/>
          </p:nvSpPr>
          <p:spPr>
            <a:xfrm>
              <a:off x="1508760" y="1810512"/>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Monorail beam</a:t>
              </a:r>
            </a:p>
          </p:txBody>
        </p:sp>
        <p:sp>
          <p:nvSpPr>
            <p:cNvPr id="15" name="Rounded Rectangle 14"/>
            <p:cNvSpPr/>
            <p:nvPr/>
          </p:nvSpPr>
          <p:spPr>
            <a:xfrm>
              <a:off x="6245352" y="1810512"/>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16" name="Rectangle 15"/>
            <p:cNvSpPr/>
            <p:nvPr/>
          </p:nvSpPr>
          <p:spPr>
            <a:xfrm>
              <a:off x="6473952" y="1947672"/>
              <a:ext cx="54864" cy="365760"/>
            </a:xfrm>
            <a:prstGeom prst="rect">
              <a:avLst/>
            </a:prstGeom>
            <a:solidFill>
              <a:srgbClr val="6B5B4B"/>
            </a:solidFill>
            <a:ln>
              <a:noFill/>
            </a:ln>
          </p:spPr>
          <p:txBody>
            <a:bodyPr rtlCol="0" anchor="ctr"/>
            <a:lstStyle/>
            <a:p>
              <a:pPr algn="ctr"/>
            </a:p>
          </p:txBody>
        </p:sp>
        <p:sp>
          <p:nvSpPr>
            <p:cNvPr id="17" name="Rectangle 16"/>
            <p:cNvSpPr/>
            <p:nvPr/>
          </p:nvSpPr>
          <p:spPr>
            <a:xfrm>
              <a:off x="6675120" y="1947672"/>
              <a:ext cx="54864" cy="365760"/>
            </a:xfrm>
            <a:prstGeom prst="rect">
              <a:avLst/>
            </a:prstGeom>
            <a:solidFill>
              <a:srgbClr val="6B5B4B"/>
            </a:solidFill>
            <a:ln>
              <a:noFill/>
            </a:ln>
          </p:spPr>
          <p:txBody>
            <a:bodyPr rtlCol="0" anchor="ctr"/>
            <a:lstStyle/>
            <a:p>
              <a:pPr algn="ctr"/>
            </a:p>
          </p:txBody>
        </p:sp>
        <p:sp>
          <p:nvSpPr>
            <p:cNvPr id="18" name="Rectangle 17"/>
            <p:cNvSpPr/>
            <p:nvPr/>
          </p:nvSpPr>
          <p:spPr>
            <a:xfrm>
              <a:off x="6876288" y="1947672"/>
              <a:ext cx="54864" cy="365760"/>
            </a:xfrm>
            <a:prstGeom prst="rect">
              <a:avLst/>
            </a:prstGeom>
            <a:solidFill>
              <a:srgbClr val="6B5B4B"/>
            </a:solidFill>
            <a:ln>
              <a:noFill/>
            </a:ln>
          </p:spPr>
          <p:txBody>
            <a:bodyPr rtlCol="0" anchor="ctr"/>
            <a:lstStyle/>
            <a:p>
              <a:pPr algn="ctr"/>
            </a:p>
          </p:txBody>
        </p:sp>
        <p:sp>
          <p:nvSpPr>
            <p:cNvPr id="19" name="Rectangle 18"/>
            <p:cNvSpPr/>
            <p:nvPr/>
          </p:nvSpPr>
          <p:spPr>
            <a:xfrm>
              <a:off x="6409944" y="2029968"/>
              <a:ext cx="585216" cy="45720"/>
            </a:xfrm>
            <a:prstGeom prst="rect">
              <a:avLst/>
            </a:prstGeom>
            <a:solidFill>
              <a:srgbClr val="9AA0A6"/>
            </a:solidFill>
            <a:ln>
              <a:noFill/>
            </a:ln>
          </p:spPr>
          <p:txBody>
            <a:bodyPr rtlCol="0" anchor="ctr"/>
            <a:lstStyle/>
            <a:p>
              <a:pPr algn="ctr"/>
            </a:p>
          </p:txBody>
        </p:sp>
        <p:sp>
          <p:nvSpPr>
            <p:cNvPr id="20" name="Rectangle 19"/>
            <p:cNvSpPr/>
            <p:nvPr/>
          </p:nvSpPr>
          <p:spPr>
            <a:xfrm>
              <a:off x="6409944" y="2194560"/>
              <a:ext cx="585216" cy="45720"/>
            </a:xfrm>
            <a:prstGeom prst="rect">
              <a:avLst/>
            </a:prstGeom>
            <a:solidFill>
              <a:srgbClr val="9AA0A6"/>
            </a:solidFill>
            <a:ln>
              <a:noFill/>
            </a:ln>
          </p:spPr>
          <p:txBody>
            <a:bodyPr rtlCol="0" anchor="ctr"/>
            <a:lstStyle/>
            <a:p>
              <a:pPr algn="ctr"/>
            </a:p>
          </p:txBody>
        </p:sp>
        <p:sp>
          <p:nvSpPr>
            <p:cNvPr id="21" name="TextBox 20"/>
            <p:cNvSpPr txBox="1"/>
            <p:nvPr/>
          </p:nvSpPr>
          <p:spPr>
            <a:xfrm>
              <a:off x="7205472" y="1810512"/>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Two-rail track</a:t>
              </a:r>
            </a:p>
          </p:txBody>
        </p:sp>
        <p:sp>
          <p:nvSpPr>
            <p:cNvPr id="22" name="Rounded Rectangle 21"/>
            <p:cNvSpPr/>
            <p:nvPr/>
          </p:nvSpPr>
          <p:spPr>
            <a:xfrm>
              <a:off x="548640" y="2560320"/>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23" name="Lightning Bolt 22"/>
            <p:cNvSpPr/>
            <p:nvPr/>
          </p:nvSpPr>
          <p:spPr>
            <a:xfrm>
              <a:off x="850392" y="2651760"/>
              <a:ext cx="310896" cy="457200"/>
            </a:xfrm>
            <a:prstGeom prst="lightningBolt">
              <a:avLst/>
            </a:prstGeom>
            <a:solidFill>
              <a:srgbClr val="6CA0DC"/>
            </a:solidFill>
            <a:ln>
              <a:noFill/>
            </a:ln>
          </p:spPr>
          <p:txBody>
            <a:bodyPr rtlCol="0" anchor="ctr"/>
            <a:lstStyle/>
            <a:p>
              <a:pPr algn="ctr"/>
            </a:p>
          </p:txBody>
        </p:sp>
        <p:sp>
          <p:nvSpPr>
            <p:cNvPr id="24" name="TextBox 23"/>
            <p:cNvSpPr txBox="1"/>
            <p:nvPr/>
          </p:nvSpPr>
          <p:spPr>
            <a:xfrm>
              <a:off x="1508760" y="2560320"/>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Electricity</a:t>
              </a:r>
            </a:p>
          </p:txBody>
        </p:sp>
        <p:sp>
          <p:nvSpPr>
            <p:cNvPr id="25" name="Rounded Rectangle 24"/>
            <p:cNvSpPr/>
            <p:nvPr/>
          </p:nvSpPr>
          <p:spPr>
            <a:xfrm>
              <a:off x="6245352" y="2560320"/>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26" name="Freeform 25"/>
            <p:cNvSpPr/>
            <p:nvPr/>
          </p:nvSpPr>
          <p:spPr>
            <a:xfrm>
              <a:off x="6468478" y="2724912"/>
              <a:ext cx="248692" cy="333573"/>
            </a:xfrm>
            <a:custGeom>
              <a:avLst/>
              <a:gdLst/>
              <a:ahLst/>
              <a:cxnLst/>
              <a:rect l="l" t="t" r="r" b="b"/>
              <a:pathLst>
                <a:path w="248692" h="333573">
                  <a:moveTo>
                    <a:pt x="6800" y="165700"/>
                  </a:moveTo>
                  <a:lnTo>
                    <a:pt x="0" y="194865"/>
                  </a:lnTo>
                  <a:lnTo>
                    <a:pt x="326" y="224811"/>
                  </a:lnTo>
                  <a:lnTo>
                    <a:pt x="7761" y="253821"/>
                  </a:lnTo>
                  <a:lnTo>
                    <a:pt x="21878" y="280232"/>
                  </a:lnTo>
                  <a:lnTo>
                    <a:pt x="41868" y="302531"/>
                  </a:lnTo>
                  <a:lnTo>
                    <a:pt x="66586" y="319439"/>
                  </a:lnTo>
                  <a:lnTo>
                    <a:pt x="94614" y="329988"/>
                  </a:lnTo>
                  <a:lnTo>
                    <a:pt x="124346" y="333573"/>
                  </a:lnTo>
                  <a:lnTo>
                    <a:pt x="154078" y="329988"/>
                  </a:lnTo>
                  <a:lnTo>
                    <a:pt x="182106" y="319439"/>
                  </a:lnTo>
                  <a:lnTo>
                    <a:pt x="206824" y="302531"/>
                  </a:lnTo>
                  <a:lnTo>
                    <a:pt x="226814" y="280232"/>
                  </a:lnTo>
                  <a:lnTo>
                    <a:pt x="240931" y="253821"/>
                  </a:lnTo>
                  <a:lnTo>
                    <a:pt x="248366" y="224811"/>
                  </a:lnTo>
                  <a:lnTo>
                    <a:pt x="248692" y="194865"/>
                  </a:lnTo>
                  <a:lnTo>
                    <a:pt x="241892" y="165700"/>
                  </a:lnTo>
                  <a:lnTo>
                    <a:pt x="124346" y="0"/>
                  </a:lnTo>
                  <a:close/>
                </a:path>
              </a:pathLst>
            </a:custGeom>
            <a:solidFill>
              <a:srgbClr val="4DA3FF"/>
            </a:solidFill>
            <a:ln>
              <a:noFill/>
            </a:ln>
          </p:spPr>
          <p:txBody>
            <a:bodyPr rtlCol="0" anchor="ctr"/>
            <a:lstStyle/>
            <a:p>
              <a:pPr algn="ctr"/>
            </a:p>
          </p:txBody>
        </p:sp>
        <p:sp>
          <p:nvSpPr>
            <p:cNvPr id="27" name="Freeform 26"/>
            <p:cNvSpPr/>
            <p:nvPr/>
          </p:nvSpPr>
          <p:spPr>
            <a:xfrm>
              <a:off x="6720840" y="2770632"/>
              <a:ext cx="274320" cy="292608"/>
            </a:xfrm>
            <a:custGeom>
              <a:avLst/>
              <a:gdLst/>
              <a:ahLst/>
              <a:cxnLst/>
              <a:rect l="l" t="t" r="r" b="b"/>
              <a:pathLst>
                <a:path w="274320" h="292608">
                  <a:moveTo>
                    <a:pt x="0" y="292608"/>
                  </a:moveTo>
                  <a:lnTo>
                    <a:pt x="274320" y="292608"/>
                  </a:lnTo>
                  <a:lnTo>
                    <a:pt x="237744" y="91440"/>
                  </a:lnTo>
                  <a:lnTo>
                    <a:pt x="118872" y="0"/>
                  </a:lnTo>
                  <a:lnTo>
                    <a:pt x="27432" y="109728"/>
                  </a:lnTo>
                  <a:close/>
                </a:path>
              </a:pathLst>
            </a:custGeom>
            <a:solidFill>
              <a:srgbClr val="1B1D21"/>
            </a:solidFill>
            <a:ln w="12700">
              <a:solidFill>
                <a:srgbClr val="6B7078"/>
              </a:solidFill>
            </a:ln>
          </p:spPr>
          <p:txBody>
            <a:bodyPr rtlCol="0" anchor="ctr"/>
            <a:lstStyle/>
            <a:p>
              <a:pPr algn="ctr"/>
            </a:p>
          </p:txBody>
        </p:sp>
        <p:sp>
          <p:nvSpPr>
            <p:cNvPr id="28" name="TextBox 27"/>
            <p:cNvSpPr txBox="1"/>
            <p:nvPr/>
          </p:nvSpPr>
          <p:spPr>
            <a:xfrm>
              <a:off x="7205472" y="2560320"/>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Coal and water</a:t>
              </a:r>
            </a:p>
          </p:txBody>
        </p:sp>
        <p:sp>
          <p:nvSpPr>
            <p:cNvPr id="29" name="Rounded Rectangle 28"/>
            <p:cNvSpPr/>
            <p:nvPr/>
          </p:nvSpPr>
          <p:spPr>
            <a:xfrm>
              <a:off x="548640" y="3310128"/>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30" name="&quot;No&quot; Symbol 29"/>
            <p:cNvSpPr/>
            <p:nvPr/>
          </p:nvSpPr>
          <p:spPr>
            <a:xfrm>
              <a:off x="804672" y="3429000"/>
              <a:ext cx="402336" cy="402336"/>
            </a:xfrm>
            <a:prstGeom prst="noSmoking">
              <a:avLst/>
            </a:prstGeom>
            <a:solidFill>
              <a:srgbClr val="6CA0DC"/>
            </a:solidFill>
            <a:ln>
              <a:noFill/>
            </a:ln>
          </p:spPr>
          <p:txBody>
            <a:bodyPr rtlCol="0" anchor="ctr"/>
            <a:lstStyle/>
            <a:p>
              <a:pPr algn="ctr"/>
            </a:p>
          </p:txBody>
        </p:sp>
        <p:sp>
          <p:nvSpPr>
            <p:cNvPr id="31" name="TextBox 30"/>
            <p:cNvSpPr txBox="1"/>
            <p:nvPr/>
          </p:nvSpPr>
          <p:spPr>
            <a:xfrm>
              <a:off x="1508760" y="3310128"/>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No refuelling</a:t>
              </a:r>
            </a:p>
          </p:txBody>
        </p:sp>
        <p:sp>
          <p:nvSpPr>
            <p:cNvPr id="32" name="Rounded Rectangle 31"/>
            <p:cNvSpPr/>
            <p:nvPr/>
          </p:nvSpPr>
          <p:spPr>
            <a:xfrm>
              <a:off x="6245352" y="3310128"/>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33" name="Freeform 32"/>
            <p:cNvSpPr/>
            <p:nvPr/>
          </p:nvSpPr>
          <p:spPr>
            <a:xfrm>
              <a:off x="6519672" y="3447288"/>
              <a:ext cx="384048" cy="411480"/>
            </a:xfrm>
            <a:custGeom>
              <a:avLst/>
              <a:gdLst/>
              <a:ahLst/>
              <a:cxnLst/>
              <a:rect l="l" t="t" r="r" b="b"/>
              <a:pathLst>
                <a:path w="384048" h="411480">
                  <a:moveTo>
                    <a:pt x="0" y="411480"/>
                  </a:moveTo>
                  <a:lnTo>
                    <a:pt x="0" y="0"/>
                  </a:lnTo>
                  <a:lnTo>
                    <a:pt x="384048" y="0"/>
                  </a:lnTo>
                  <a:lnTo>
                    <a:pt x="384048" y="182880"/>
                  </a:lnTo>
                </a:path>
              </a:pathLst>
            </a:custGeom>
            <a:noFill/>
            <a:ln w="50800">
              <a:solidFill>
                <a:srgbClr val="F28C28"/>
              </a:solidFill>
            </a:ln>
          </p:spPr>
          <p:txBody>
            <a:bodyPr rtlCol="0" anchor="ctr"/>
            <a:lstStyle/>
            <a:p>
              <a:pPr algn="ctr"/>
            </a:p>
          </p:txBody>
        </p:sp>
        <p:sp>
          <p:nvSpPr>
            <p:cNvPr id="34" name="Oval 33"/>
            <p:cNvSpPr/>
            <p:nvPr/>
          </p:nvSpPr>
          <p:spPr>
            <a:xfrm>
              <a:off x="6858000" y="3675888"/>
              <a:ext cx="91440" cy="128016"/>
            </a:xfrm>
            <a:prstGeom prst="ellipse">
              <a:avLst/>
            </a:prstGeom>
            <a:solidFill>
              <a:srgbClr val="4DA3FF"/>
            </a:solidFill>
            <a:ln>
              <a:noFill/>
            </a:ln>
          </p:spPr>
          <p:txBody>
            <a:bodyPr rtlCol="0" anchor="ctr"/>
            <a:lstStyle/>
            <a:p>
              <a:pPr algn="ctr"/>
            </a:p>
          </p:txBody>
        </p:sp>
        <p:sp>
          <p:nvSpPr>
            <p:cNvPr id="35" name="TextBox 34"/>
            <p:cNvSpPr txBox="1"/>
            <p:nvPr/>
          </p:nvSpPr>
          <p:spPr>
            <a:xfrm>
              <a:off x="7205472" y="3310128"/>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Service stops</a:t>
              </a:r>
            </a:p>
          </p:txBody>
        </p:sp>
        <p:sp>
          <p:nvSpPr>
            <p:cNvPr id="36" name="Rounded Rectangle 35"/>
            <p:cNvSpPr/>
            <p:nvPr/>
          </p:nvSpPr>
          <p:spPr>
            <a:xfrm>
              <a:off x="548640" y="4059936"/>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37" name="Rounded Rectangle 36"/>
            <p:cNvSpPr/>
            <p:nvPr/>
          </p:nvSpPr>
          <p:spPr>
            <a:xfrm>
              <a:off x="896112" y="4133088"/>
              <a:ext cx="219456" cy="493776"/>
            </a:xfrm>
            <a:prstGeom prst="roundRect">
              <a:avLst>
                <a:gd name="adj" fmla="val 33333"/>
              </a:avLst>
            </a:prstGeom>
            <a:solidFill>
              <a:srgbClr val="343A43"/>
            </a:solidFill>
            <a:ln w="19050">
              <a:solidFill>
                <a:srgbClr val="6CA0DC"/>
              </a:solidFill>
            </a:ln>
          </p:spPr>
          <p:txBody>
            <a:bodyPr rtlCol="0" anchor="ctr"/>
            <a:lstStyle/>
            <a:p>
              <a:pPr algn="ctr"/>
            </a:p>
          </p:txBody>
        </p:sp>
        <p:sp>
          <p:nvSpPr>
            <p:cNvPr id="38" name="Oval 37"/>
            <p:cNvSpPr/>
            <p:nvPr/>
          </p:nvSpPr>
          <p:spPr>
            <a:xfrm>
              <a:off x="946404" y="4210812"/>
              <a:ext cx="118872" cy="118872"/>
            </a:xfrm>
            <a:prstGeom prst="ellipse">
              <a:avLst/>
            </a:prstGeom>
            <a:solidFill>
              <a:srgbClr val="3FB950"/>
            </a:solidFill>
            <a:ln>
              <a:noFill/>
            </a:ln>
          </p:spPr>
          <p:txBody>
            <a:bodyPr rtlCol="0" anchor="ctr"/>
            <a:lstStyle/>
            <a:p>
              <a:pPr algn="ctr"/>
            </a:p>
          </p:txBody>
        </p:sp>
        <p:sp>
          <p:nvSpPr>
            <p:cNvPr id="39" name="Oval 38"/>
            <p:cNvSpPr/>
            <p:nvPr/>
          </p:nvSpPr>
          <p:spPr>
            <a:xfrm>
              <a:off x="946404" y="4430268"/>
              <a:ext cx="118872" cy="118872"/>
            </a:xfrm>
            <a:prstGeom prst="ellipse">
              <a:avLst/>
            </a:prstGeom>
            <a:solidFill>
              <a:srgbClr val="E5484D"/>
            </a:solidFill>
            <a:ln>
              <a:noFill/>
            </a:ln>
          </p:spPr>
          <p:txBody>
            <a:bodyPr rtlCol="0" anchor="ctr"/>
            <a:lstStyle/>
            <a:p>
              <a:pPr algn="ctr"/>
            </a:p>
          </p:txBody>
        </p:sp>
        <p:sp>
          <p:nvSpPr>
            <p:cNvPr id="40" name="TextBox 39"/>
            <p:cNvSpPr txBox="1"/>
            <p:nvPr/>
          </p:nvSpPr>
          <p:spPr>
            <a:xfrm>
              <a:off x="1508760" y="4059936"/>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Block and path</a:t>
              </a:r>
            </a:p>
          </p:txBody>
        </p:sp>
        <p:sp>
          <p:nvSpPr>
            <p:cNvPr id="41" name="Rounded Rectangle 40"/>
            <p:cNvSpPr/>
            <p:nvPr/>
          </p:nvSpPr>
          <p:spPr>
            <a:xfrm>
              <a:off x="6245352" y="4059936"/>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42" name="Rectangle 41"/>
            <p:cNvSpPr/>
            <p:nvPr/>
          </p:nvSpPr>
          <p:spPr>
            <a:xfrm>
              <a:off x="6675120" y="4133088"/>
              <a:ext cx="54864" cy="493776"/>
            </a:xfrm>
            <a:prstGeom prst="rect">
              <a:avLst/>
            </a:prstGeom>
            <a:solidFill>
              <a:srgbClr val="E8E8E8"/>
            </a:solidFill>
            <a:ln>
              <a:noFill/>
            </a:ln>
          </p:spPr>
          <p:txBody>
            <a:bodyPr rtlCol="0" anchor="ctr"/>
            <a:lstStyle/>
            <a:p>
              <a:pPr algn="ctr"/>
            </a:p>
          </p:txBody>
        </p:sp>
        <p:sp>
          <p:nvSpPr>
            <p:cNvPr id="43" name="Rectangle 42"/>
            <p:cNvSpPr/>
            <p:nvPr/>
          </p:nvSpPr>
          <p:spPr>
            <a:xfrm>
              <a:off x="6729984" y="4178808"/>
              <a:ext cx="274320" cy="73152"/>
            </a:xfrm>
            <a:prstGeom prst="rect">
              <a:avLst/>
            </a:prstGeom>
            <a:solidFill>
              <a:srgbClr val="E5484D"/>
            </a:solidFill>
            <a:ln>
              <a:noFill/>
            </a:ln>
          </p:spPr>
          <p:txBody>
            <a:bodyPr rtlCol="0" anchor="ctr"/>
            <a:lstStyle/>
            <a:p>
              <a:pPr algn="ctr"/>
            </a:p>
          </p:txBody>
        </p:sp>
        <p:sp>
          <p:nvSpPr>
            <p:cNvPr id="44" name="TextBox 43"/>
            <p:cNvSpPr txBox="1"/>
            <p:nvPr/>
          </p:nvSpPr>
          <p:spPr>
            <a:xfrm>
              <a:off x="7205472" y="4059936"/>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Semaphores and boxes</a:t>
              </a:r>
            </a:p>
          </p:txBody>
        </p:sp>
        <p:sp>
          <p:nvSpPr>
            <p:cNvPr id="45" name="Rounded Rectangle 44"/>
            <p:cNvSpPr/>
            <p:nvPr/>
          </p:nvSpPr>
          <p:spPr>
            <a:xfrm>
              <a:off x="548640" y="4809744"/>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46" name="Rectangle 45"/>
            <p:cNvSpPr/>
            <p:nvPr/>
          </p:nvSpPr>
          <p:spPr>
            <a:xfrm>
              <a:off x="868680" y="5020056"/>
              <a:ext cx="274320" cy="219456"/>
            </a:xfrm>
            <a:prstGeom prst="rect">
              <a:avLst/>
            </a:prstGeom>
            <a:noFill/>
            <a:ln w="25400">
              <a:solidFill>
                <a:srgbClr val="6CA0DC"/>
              </a:solidFill>
            </a:ln>
          </p:spPr>
          <p:txBody>
            <a:bodyPr rtlCol="0" anchor="ctr"/>
            <a:lstStyle/>
            <a:p>
              <a:pPr algn="ctr"/>
            </a:p>
          </p:txBody>
        </p:sp>
        <p:sp>
          <p:nvSpPr>
            <p:cNvPr id="47" name="TextBox 46"/>
            <p:cNvSpPr txBox="1"/>
            <p:nvPr/>
          </p:nvSpPr>
          <p:spPr>
            <a:xfrm>
              <a:off x="1508760" y="4809744"/>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Compact</a:t>
              </a:r>
            </a:p>
          </p:txBody>
        </p:sp>
        <p:sp>
          <p:nvSpPr>
            <p:cNvPr id="48" name="Rounded Rectangle 47"/>
            <p:cNvSpPr/>
            <p:nvPr/>
          </p:nvSpPr>
          <p:spPr>
            <a:xfrm>
              <a:off x="6245352" y="4809744"/>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49" name="Rectangle 48"/>
            <p:cNvSpPr/>
            <p:nvPr/>
          </p:nvSpPr>
          <p:spPr>
            <a:xfrm>
              <a:off x="6400800" y="5020056"/>
              <a:ext cx="603504" cy="219456"/>
            </a:xfrm>
            <a:prstGeom prst="rect">
              <a:avLst/>
            </a:prstGeom>
            <a:noFill/>
            <a:ln w="25400">
              <a:solidFill>
                <a:srgbClr val="F28C28"/>
              </a:solidFill>
            </a:ln>
          </p:spPr>
          <p:txBody>
            <a:bodyPr rtlCol="0" anchor="ctr"/>
            <a:lstStyle/>
            <a:p>
              <a:pPr algn="ctr"/>
            </a:p>
          </p:txBody>
        </p:sp>
        <p:sp>
          <p:nvSpPr>
            <p:cNvPr id="50" name="TextBox 49"/>
            <p:cNvSpPr txBox="1"/>
            <p:nvPr/>
          </p:nvSpPr>
          <p:spPr>
            <a:xfrm>
              <a:off x="7205472" y="4809744"/>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Large</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rail is not electric trains with an early unlock. It works in its own way.</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14</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6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90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par>
                                <p:cTn id="17" presetID="10" presetClass="entr" presetSubtype="0" fill="hold" nodeType="withEffect">
                                  <p:stCondLst>
                                    <p:cond delay="12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Every limit has an answer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Limits and answers" descr="Four limits, each with arrows to its answers. Short range: auxiliary tender, service stop or bigger engine. Small loads: a suitable engine and train length. Busy line: more signals and boxes. Slow overall: convert to monorail later."/>
          <p:cNvGrpSpPr/>
          <p:nvPr/>
        </p:nvGrpSpPr>
        <p:grpSpPr>
          <a:xfrm>
            <a:off x="548640" y="1371600"/>
            <a:ext cx="8595360" cy="4023360"/>
            <a:chOff x="548640" y="1371600"/>
            <a:chExt cx="8595360" cy="4023360"/>
          </a:xfrm>
        </p:grpSpPr>
        <p:sp>
          <p:nvSpPr>
            <p:cNvPr id="9" name="Rounded Rectangle 8"/>
            <p:cNvSpPr/>
            <p:nvPr/>
          </p:nvSpPr>
          <p:spPr>
            <a:xfrm>
              <a:off x="548640" y="1874520"/>
              <a:ext cx="2560320" cy="640080"/>
            </a:xfrm>
            <a:prstGeom prst="roundRect">
              <a:avLst>
                <a:gd name="adj" fmla="val 11428"/>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Short range</a:t>
              </a:r>
            </a:p>
          </p:txBody>
        </p:sp>
        <p:sp>
          <p:nvSpPr>
            <p:cNvPr id="10" name="Rounded Rectangle 9"/>
            <p:cNvSpPr/>
            <p:nvPr/>
          </p:nvSpPr>
          <p:spPr>
            <a:xfrm>
              <a:off x="4206240" y="1371600"/>
              <a:ext cx="3291840" cy="457200"/>
            </a:xfrm>
            <a:prstGeom prst="roundRect">
              <a:avLst>
                <a:gd name="adj" fmla="val 16000"/>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Auxiliary tender</a:t>
              </a:r>
            </a:p>
          </p:txBody>
        </p:sp>
        <p:cxnSp>
          <p:nvCxnSpPr>
            <p:cNvPr id="11" name="Connector 10"/>
            <p:cNvCxnSpPr/>
            <p:nvPr/>
          </p:nvCxnSpPr>
          <p:spPr>
            <a:xfrm flipV="1">
              <a:off x="3154680" y="1600200"/>
              <a:ext cx="996696" cy="594360"/>
            </a:xfrm>
            <a:prstGeom prst="line">
              <a:avLst/>
            </a:prstGeom>
            <a:ln w="28575">
              <a:solidFill>
                <a:srgbClr val="F28C28"/>
              </a:solidFill>
              <a:tailEnd type="triangle" w="lg" len="lg"/>
            </a:ln>
          </p:spPr>
        </p:cxnSp>
        <p:sp>
          <p:nvSpPr>
            <p:cNvPr id="12" name="Rounded Rectangle 11"/>
            <p:cNvSpPr/>
            <p:nvPr/>
          </p:nvSpPr>
          <p:spPr>
            <a:xfrm>
              <a:off x="4206240" y="1938528"/>
              <a:ext cx="3291840" cy="457200"/>
            </a:xfrm>
            <a:prstGeom prst="roundRect">
              <a:avLst>
                <a:gd name="adj" fmla="val 16000"/>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Service stop</a:t>
              </a:r>
            </a:p>
          </p:txBody>
        </p:sp>
        <p:cxnSp>
          <p:nvCxnSpPr>
            <p:cNvPr id="13" name="Connector 12"/>
            <p:cNvCxnSpPr/>
            <p:nvPr/>
          </p:nvCxnSpPr>
          <p:spPr>
            <a:xfrm flipV="1">
              <a:off x="3154680" y="2167128"/>
              <a:ext cx="996696" cy="27432"/>
            </a:xfrm>
            <a:prstGeom prst="line">
              <a:avLst/>
            </a:prstGeom>
            <a:ln w="28575">
              <a:solidFill>
                <a:srgbClr val="F28C28"/>
              </a:solidFill>
              <a:tailEnd type="triangle" w="lg" len="lg"/>
            </a:ln>
          </p:spPr>
        </p:cxnSp>
        <p:sp>
          <p:nvSpPr>
            <p:cNvPr id="14" name="Rounded Rectangle 13"/>
            <p:cNvSpPr/>
            <p:nvPr/>
          </p:nvSpPr>
          <p:spPr>
            <a:xfrm>
              <a:off x="4206240" y="2505456"/>
              <a:ext cx="3291840" cy="457200"/>
            </a:xfrm>
            <a:prstGeom prst="roundRect">
              <a:avLst>
                <a:gd name="adj" fmla="val 16000"/>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Bigger engine</a:t>
              </a:r>
            </a:p>
          </p:txBody>
        </p:sp>
        <p:cxnSp>
          <p:nvCxnSpPr>
            <p:cNvPr id="15" name="Connector 14"/>
            <p:cNvCxnSpPr/>
            <p:nvPr/>
          </p:nvCxnSpPr>
          <p:spPr>
            <a:xfrm>
              <a:off x="3154680" y="2194560"/>
              <a:ext cx="996696" cy="539496"/>
            </a:xfrm>
            <a:prstGeom prst="line">
              <a:avLst/>
            </a:prstGeom>
            <a:ln w="28575">
              <a:solidFill>
                <a:srgbClr val="F28C28"/>
              </a:solidFill>
              <a:tailEnd type="triangle" w="lg" len="lg"/>
            </a:ln>
          </p:spPr>
        </p:cxnSp>
        <p:sp>
          <p:nvSpPr>
            <p:cNvPr id="16" name="Rounded Rectangle 15"/>
            <p:cNvSpPr/>
            <p:nvPr/>
          </p:nvSpPr>
          <p:spPr>
            <a:xfrm>
              <a:off x="548640" y="3246120"/>
              <a:ext cx="2560320" cy="594360"/>
            </a:xfrm>
            <a:prstGeom prst="roundRect">
              <a:avLst>
                <a:gd name="adj" fmla="val 12307"/>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Small loads</a:t>
              </a:r>
            </a:p>
          </p:txBody>
        </p:sp>
        <p:cxnSp>
          <p:nvCxnSpPr>
            <p:cNvPr id="17" name="Connector 16"/>
            <p:cNvCxnSpPr/>
            <p:nvPr/>
          </p:nvCxnSpPr>
          <p:spPr>
            <a:xfrm>
              <a:off x="3154680" y="3543300"/>
              <a:ext cx="996696" cy="0"/>
            </a:xfrm>
            <a:prstGeom prst="line">
              <a:avLst/>
            </a:prstGeom>
            <a:ln w="28575">
              <a:solidFill>
                <a:srgbClr val="F28C28"/>
              </a:solidFill>
              <a:tailEnd type="triangle" w="lg" len="lg"/>
            </a:ln>
          </p:spPr>
        </p:cxnSp>
        <p:sp>
          <p:nvSpPr>
            <p:cNvPr id="18" name="Rounded Rectangle 17"/>
            <p:cNvSpPr/>
            <p:nvPr/>
          </p:nvSpPr>
          <p:spPr>
            <a:xfrm>
              <a:off x="4206240" y="3246120"/>
              <a:ext cx="4937760" cy="594360"/>
            </a:xfrm>
            <a:prstGeom prst="roundRect">
              <a:avLst>
                <a:gd name="adj" fmla="val 12307"/>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A suitable engine and train length</a:t>
              </a:r>
            </a:p>
          </p:txBody>
        </p:sp>
        <p:sp>
          <p:nvSpPr>
            <p:cNvPr id="19" name="Rounded Rectangle 18"/>
            <p:cNvSpPr/>
            <p:nvPr/>
          </p:nvSpPr>
          <p:spPr>
            <a:xfrm>
              <a:off x="548640" y="4023360"/>
              <a:ext cx="2560320" cy="594360"/>
            </a:xfrm>
            <a:prstGeom prst="roundRect">
              <a:avLst>
                <a:gd name="adj" fmla="val 12307"/>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Busy line</a:t>
              </a:r>
            </a:p>
          </p:txBody>
        </p:sp>
        <p:cxnSp>
          <p:nvCxnSpPr>
            <p:cNvPr id="20" name="Connector 19"/>
            <p:cNvCxnSpPr/>
            <p:nvPr/>
          </p:nvCxnSpPr>
          <p:spPr>
            <a:xfrm>
              <a:off x="3154680" y="4320540"/>
              <a:ext cx="996696" cy="0"/>
            </a:xfrm>
            <a:prstGeom prst="line">
              <a:avLst/>
            </a:prstGeom>
            <a:ln w="28575">
              <a:solidFill>
                <a:srgbClr val="F28C28"/>
              </a:solidFill>
              <a:tailEnd type="triangle" w="lg" len="lg"/>
            </a:ln>
          </p:spPr>
        </p:cxnSp>
        <p:sp>
          <p:nvSpPr>
            <p:cNvPr id="21" name="Rounded Rectangle 20"/>
            <p:cNvSpPr/>
            <p:nvPr/>
          </p:nvSpPr>
          <p:spPr>
            <a:xfrm>
              <a:off x="4206240" y="4023360"/>
              <a:ext cx="3840480" cy="594360"/>
            </a:xfrm>
            <a:prstGeom prst="roundRect">
              <a:avLst>
                <a:gd name="adj" fmla="val 12307"/>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More signals and boxes</a:t>
              </a:r>
            </a:p>
          </p:txBody>
        </p:sp>
        <p:sp>
          <p:nvSpPr>
            <p:cNvPr id="22" name="Rounded Rectangle 21"/>
            <p:cNvSpPr/>
            <p:nvPr/>
          </p:nvSpPr>
          <p:spPr>
            <a:xfrm>
              <a:off x="548640" y="4800600"/>
              <a:ext cx="2560320" cy="594360"/>
            </a:xfrm>
            <a:prstGeom prst="roundRect">
              <a:avLst>
                <a:gd name="adj" fmla="val 12307"/>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Slow overall</a:t>
              </a:r>
            </a:p>
          </p:txBody>
        </p:sp>
        <p:cxnSp>
          <p:nvCxnSpPr>
            <p:cNvPr id="23" name="Connector 22"/>
            <p:cNvCxnSpPr/>
            <p:nvPr/>
          </p:nvCxnSpPr>
          <p:spPr>
            <a:xfrm>
              <a:off x="3154680" y="5097780"/>
              <a:ext cx="996696" cy="0"/>
            </a:xfrm>
            <a:prstGeom prst="line">
              <a:avLst/>
            </a:prstGeom>
            <a:ln w="28575">
              <a:solidFill>
                <a:srgbClr val="F28C28"/>
              </a:solidFill>
              <a:tailEnd type="triangle" w="lg" len="lg"/>
            </a:ln>
          </p:spPr>
        </p:cxnSp>
        <p:sp>
          <p:nvSpPr>
            <p:cNvPr id="24" name="Rounded Rectangle 23"/>
            <p:cNvSpPr/>
            <p:nvPr/>
          </p:nvSpPr>
          <p:spPr>
            <a:xfrm>
              <a:off x="4206240" y="4800600"/>
              <a:ext cx="3840480" cy="594360"/>
            </a:xfrm>
            <a:prstGeom prst="roundRect">
              <a:avLst>
                <a:gd name="adj" fmla="val 12307"/>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Convert to monorail later</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Short range, small loads, a busy line, slow trips: each has a fix.</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15</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6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Why steam stays behind electric</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team against electric" descr="Qualitative bars, not measured: steam scores high on cheap to start; electric scores high on speed, throughput, traffic density and convenience."/>
          <p:cNvGrpSpPr/>
          <p:nvPr/>
        </p:nvGrpSpPr>
        <p:grpSpPr>
          <a:xfrm>
            <a:off x="548640" y="1463040"/>
            <a:ext cx="7680960" cy="4242816"/>
            <a:chOff x="548640" y="1463040"/>
            <a:chExt cx="7680960" cy="4242816"/>
          </a:xfrm>
        </p:grpSpPr>
        <p:sp>
          <p:nvSpPr>
            <p:cNvPr id="9" name="TextBox 8"/>
            <p:cNvSpPr txBox="1"/>
            <p:nvPr/>
          </p:nvSpPr>
          <p:spPr>
            <a:xfrm>
              <a:off x="548640" y="1463040"/>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Cheap to start</a:t>
              </a:r>
            </a:p>
          </p:txBody>
        </p:sp>
        <p:sp>
          <p:nvSpPr>
            <p:cNvPr id="10" name="Rounded Rectangle 9"/>
            <p:cNvSpPr/>
            <p:nvPr/>
          </p:nvSpPr>
          <p:spPr>
            <a:xfrm>
              <a:off x="2743200" y="1463040"/>
              <a:ext cx="5486400" cy="237744"/>
            </a:xfrm>
            <a:prstGeom prst="roundRect">
              <a:avLst>
                <a:gd name="adj" fmla="val 19230"/>
              </a:avLst>
            </a:prstGeom>
            <a:solidFill>
              <a:srgbClr val="343A43"/>
            </a:solidFill>
            <a:ln>
              <a:noFill/>
            </a:ln>
          </p:spPr>
          <p:txBody>
            <a:bodyPr rtlCol="0" anchor="ctr"/>
            <a:lstStyle/>
            <a:p>
              <a:pPr algn="ctr"/>
            </a:p>
          </p:txBody>
        </p:sp>
        <p:sp>
          <p:nvSpPr>
            <p:cNvPr id="11" name="Rounded Rectangle 10"/>
            <p:cNvSpPr/>
            <p:nvPr/>
          </p:nvSpPr>
          <p:spPr>
            <a:xfrm>
              <a:off x="2743200" y="1463040"/>
              <a:ext cx="4663440" cy="237744"/>
            </a:xfrm>
            <a:prstGeom prst="roundRect">
              <a:avLst>
                <a:gd name="adj" fmla="val 19230"/>
              </a:avLst>
            </a:prstGeom>
            <a:solidFill>
              <a:srgbClr val="F28C28"/>
            </a:solidFill>
            <a:ln>
              <a:noFill/>
            </a:ln>
          </p:spPr>
          <p:txBody>
            <a:bodyPr rtlCol="0" anchor="ctr"/>
            <a:lstStyle/>
            <a:p>
              <a:pPr algn="ctr"/>
            </a:p>
          </p:txBody>
        </p:sp>
        <p:sp>
          <p:nvSpPr>
            <p:cNvPr id="12" name="Rounded Rectangle 11"/>
            <p:cNvSpPr/>
            <p:nvPr/>
          </p:nvSpPr>
          <p:spPr>
            <a:xfrm>
              <a:off x="2743200" y="1764792"/>
              <a:ext cx="5486400" cy="237744"/>
            </a:xfrm>
            <a:prstGeom prst="roundRect">
              <a:avLst>
                <a:gd name="adj" fmla="val 19230"/>
              </a:avLst>
            </a:prstGeom>
            <a:solidFill>
              <a:srgbClr val="343A43"/>
            </a:solidFill>
            <a:ln>
              <a:noFill/>
            </a:ln>
          </p:spPr>
          <p:txBody>
            <a:bodyPr rtlCol="0" anchor="ctr"/>
            <a:lstStyle/>
            <a:p>
              <a:pPr algn="ctr"/>
            </a:p>
          </p:txBody>
        </p:sp>
        <p:sp>
          <p:nvSpPr>
            <p:cNvPr id="13" name="Rounded Rectangle 12"/>
            <p:cNvSpPr/>
            <p:nvPr/>
          </p:nvSpPr>
          <p:spPr>
            <a:xfrm>
              <a:off x="2743200" y="1764792"/>
              <a:ext cx="2468880" cy="237744"/>
            </a:xfrm>
            <a:prstGeom prst="roundRect">
              <a:avLst>
                <a:gd name="adj" fmla="val 19230"/>
              </a:avLst>
            </a:prstGeom>
            <a:solidFill>
              <a:srgbClr val="6CA0DC"/>
            </a:solidFill>
            <a:ln>
              <a:noFill/>
            </a:ln>
          </p:spPr>
          <p:txBody>
            <a:bodyPr rtlCol="0" anchor="ctr"/>
            <a:lstStyle/>
            <a:p>
              <a:pPr algn="ctr"/>
            </a:p>
          </p:txBody>
        </p:sp>
        <p:sp>
          <p:nvSpPr>
            <p:cNvPr id="14" name="TextBox 13"/>
            <p:cNvSpPr txBox="1"/>
            <p:nvPr/>
          </p:nvSpPr>
          <p:spPr>
            <a:xfrm>
              <a:off x="548640" y="2249424"/>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Speed</a:t>
              </a:r>
            </a:p>
          </p:txBody>
        </p:sp>
        <p:sp>
          <p:nvSpPr>
            <p:cNvPr id="15" name="Rounded Rectangle 14"/>
            <p:cNvSpPr/>
            <p:nvPr/>
          </p:nvSpPr>
          <p:spPr>
            <a:xfrm>
              <a:off x="2743200" y="2249424"/>
              <a:ext cx="5486400" cy="237744"/>
            </a:xfrm>
            <a:prstGeom prst="roundRect">
              <a:avLst>
                <a:gd name="adj" fmla="val 19230"/>
              </a:avLst>
            </a:prstGeom>
            <a:solidFill>
              <a:srgbClr val="343A43"/>
            </a:solidFill>
            <a:ln>
              <a:noFill/>
            </a:ln>
          </p:spPr>
          <p:txBody>
            <a:bodyPr rtlCol="0" anchor="ctr"/>
            <a:lstStyle/>
            <a:p>
              <a:pPr algn="ctr"/>
            </a:p>
          </p:txBody>
        </p:sp>
        <p:sp>
          <p:nvSpPr>
            <p:cNvPr id="16" name="Rounded Rectangle 15"/>
            <p:cNvSpPr/>
            <p:nvPr/>
          </p:nvSpPr>
          <p:spPr>
            <a:xfrm>
              <a:off x="2743200" y="2249424"/>
              <a:ext cx="2194560" cy="237744"/>
            </a:xfrm>
            <a:prstGeom prst="roundRect">
              <a:avLst>
                <a:gd name="adj" fmla="val 19230"/>
              </a:avLst>
            </a:prstGeom>
            <a:solidFill>
              <a:srgbClr val="F28C28"/>
            </a:solidFill>
            <a:ln>
              <a:noFill/>
            </a:ln>
          </p:spPr>
          <p:txBody>
            <a:bodyPr rtlCol="0" anchor="ctr"/>
            <a:lstStyle/>
            <a:p>
              <a:pPr algn="ctr"/>
            </a:p>
          </p:txBody>
        </p:sp>
        <p:sp>
          <p:nvSpPr>
            <p:cNvPr id="17" name="Rounded Rectangle 16"/>
            <p:cNvSpPr/>
            <p:nvPr/>
          </p:nvSpPr>
          <p:spPr>
            <a:xfrm>
              <a:off x="2743200" y="2551176"/>
              <a:ext cx="5486400" cy="237744"/>
            </a:xfrm>
            <a:prstGeom prst="roundRect">
              <a:avLst>
                <a:gd name="adj" fmla="val 19230"/>
              </a:avLst>
            </a:prstGeom>
            <a:solidFill>
              <a:srgbClr val="343A43"/>
            </a:solidFill>
            <a:ln>
              <a:noFill/>
            </a:ln>
          </p:spPr>
          <p:txBody>
            <a:bodyPr rtlCol="0" anchor="ctr"/>
            <a:lstStyle/>
            <a:p>
              <a:pPr algn="ctr"/>
            </a:p>
          </p:txBody>
        </p:sp>
        <p:sp>
          <p:nvSpPr>
            <p:cNvPr id="18" name="Rounded Rectangle 17"/>
            <p:cNvSpPr/>
            <p:nvPr/>
          </p:nvSpPr>
          <p:spPr>
            <a:xfrm>
              <a:off x="2743200" y="2551176"/>
              <a:ext cx="4937760" cy="237744"/>
            </a:xfrm>
            <a:prstGeom prst="roundRect">
              <a:avLst>
                <a:gd name="adj" fmla="val 19230"/>
              </a:avLst>
            </a:prstGeom>
            <a:solidFill>
              <a:srgbClr val="6CA0DC"/>
            </a:solidFill>
            <a:ln>
              <a:noFill/>
            </a:ln>
          </p:spPr>
          <p:txBody>
            <a:bodyPr rtlCol="0" anchor="ctr"/>
            <a:lstStyle/>
            <a:p>
              <a:pPr algn="ctr"/>
            </a:p>
          </p:txBody>
        </p:sp>
        <p:sp>
          <p:nvSpPr>
            <p:cNvPr id="19" name="TextBox 18"/>
            <p:cNvSpPr txBox="1"/>
            <p:nvPr/>
          </p:nvSpPr>
          <p:spPr>
            <a:xfrm>
              <a:off x="548640" y="3035808"/>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Throughput</a:t>
              </a:r>
            </a:p>
          </p:txBody>
        </p:sp>
        <p:sp>
          <p:nvSpPr>
            <p:cNvPr id="20" name="Rounded Rectangle 19"/>
            <p:cNvSpPr/>
            <p:nvPr/>
          </p:nvSpPr>
          <p:spPr>
            <a:xfrm>
              <a:off x="2743200" y="3035808"/>
              <a:ext cx="5486400" cy="237744"/>
            </a:xfrm>
            <a:prstGeom prst="roundRect">
              <a:avLst>
                <a:gd name="adj" fmla="val 19230"/>
              </a:avLst>
            </a:prstGeom>
            <a:solidFill>
              <a:srgbClr val="343A43"/>
            </a:solidFill>
            <a:ln>
              <a:noFill/>
            </a:ln>
          </p:spPr>
          <p:txBody>
            <a:bodyPr rtlCol="0" anchor="ctr"/>
            <a:lstStyle/>
            <a:p>
              <a:pPr algn="ctr"/>
            </a:p>
          </p:txBody>
        </p:sp>
        <p:sp>
          <p:nvSpPr>
            <p:cNvPr id="21" name="Rounded Rectangle 20"/>
            <p:cNvSpPr/>
            <p:nvPr/>
          </p:nvSpPr>
          <p:spPr>
            <a:xfrm>
              <a:off x="2743200" y="3035808"/>
              <a:ext cx="1920240" cy="237744"/>
            </a:xfrm>
            <a:prstGeom prst="roundRect">
              <a:avLst>
                <a:gd name="adj" fmla="val 19230"/>
              </a:avLst>
            </a:prstGeom>
            <a:solidFill>
              <a:srgbClr val="F28C28"/>
            </a:solidFill>
            <a:ln>
              <a:noFill/>
            </a:ln>
          </p:spPr>
          <p:txBody>
            <a:bodyPr rtlCol="0" anchor="ctr"/>
            <a:lstStyle/>
            <a:p>
              <a:pPr algn="ctr"/>
            </a:p>
          </p:txBody>
        </p:sp>
        <p:sp>
          <p:nvSpPr>
            <p:cNvPr id="22" name="Rounded Rectangle 21"/>
            <p:cNvSpPr/>
            <p:nvPr/>
          </p:nvSpPr>
          <p:spPr>
            <a:xfrm>
              <a:off x="2743200" y="3337560"/>
              <a:ext cx="5486400" cy="237744"/>
            </a:xfrm>
            <a:prstGeom prst="roundRect">
              <a:avLst>
                <a:gd name="adj" fmla="val 19230"/>
              </a:avLst>
            </a:prstGeom>
            <a:solidFill>
              <a:srgbClr val="343A43"/>
            </a:solidFill>
            <a:ln>
              <a:noFill/>
            </a:ln>
          </p:spPr>
          <p:txBody>
            <a:bodyPr rtlCol="0" anchor="ctr"/>
            <a:lstStyle/>
            <a:p>
              <a:pPr algn="ctr"/>
            </a:p>
          </p:txBody>
        </p:sp>
        <p:sp>
          <p:nvSpPr>
            <p:cNvPr id="23" name="Rounded Rectangle 22"/>
            <p:cNvSpPr/>
            <p:nvPr/>
          </p:nvSpPr>
          <p:spPr>
            <a:xfrm>
              <a:off x="2743200" y="3337560"/>
              <a:ext cx="4937760" cy="237744"/>
            </a:xfrm>
            <a:prstGeom prst="roundRect">
              <a:avLst>
                <a:gd name="adj" fmla="val 19230"/>
              </a:avLst>
            </a:prstGeom>
            <a:solidFill>
              <a:srgbClr val="6CA0DC"/>
            </a:solidFill>
            <a:ln>
              <a:noFill/>
            </a:ln>
          </p:spPr>
          <p:txBody>
            <a:bodyPr rtlCol="0" anchor="ctr"/>
            <a:lstStyle/>
            <a:p>
              <a:pPr algn="ctr"/>
            </a:p>
          </p:txBody>
        </p:sp>
        <p:sp>
          <p:nvSpPr>
            <p:cNvPr id="24" name="TextBox 23"/>
            <p:cNvSpPr txBox="1"/>
            <p:nvPr/>
          </p:nvSpPr>
          <p:spPr>
            <a:xfrm>
              <a:off x="548640" y="3822192"/>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Traffic density</a:t>
              </a:r>
            </a:p>
          </p:txBody>
        </p:sp>
        <p:sp>
          <p:nvSpPr>
            <p:cNvPr id="25" name="Rounded Rectangle 24"/>
            <p:cNvSpPr/>
            <p:nvPr/>
          </p:nvSpPr>
          <p:spPr>
            <a:xfrm>
              <a:off x="2743200" y="3822192"/>
              <a:ext cx="5486400" cy="237744"/>
            </a:xfrm>
            <a:prstGeom prst="roundRect">
              <a:avLst>
                <a:gd name="adj" fmla="val 19230"/>
              </a:avLst>
            </a:prstGeom>
            <a:solidFill>
              <a:srgbClr val="343A43"/>
            </a:solidFill>
            <a:ln>
              <a:noFill/>
            </a:ln>
          </p:spPr>
          <p:txBody>
            <a:bodyPr rtlCol="0" anchor="ctr"/>
            <a:lstStyle/>
            <a:p>
              <a:pPr algn="ctr"/>
            </a:p>
          </p:txBody>
        </p:sp>
        <p:sp>
          <p:nvSpPr>
            <p:cNvPr id="26" name="Rounded Rectangle 25"/>
            <p:cNvSpPr/>
            <p:nvPr/>
          </p:nvSpPr>
          <p:spPr>
            <a:xfrm>
              <a:off x="2743200" y="3822192"/>
              <a:ext cx="1920240" cy="237744"/>
            </a:xfrm>
            <a:prstGeom prst="roundRect">
              <a:avLst>
                <a:gd name="adj" fmla="val 19230"/>
              </a:avLst>
            </a:prstGeom>
            <a:solidFill>
              <a:srgbClr val="F28C28"/>
            </a:solidFill>
            <a:ln>
              <a:noFill/>
            </a:ln>
          </p:spPr>
          <p:txBody>
            <a:bodyPr rtlCol="0" anchor="ctr"/>
            <a:lstStyle/>
            <a:p>
              <a:pPr algn="ctr"/>
            </a:p>
          </p:txBody>
        </p:sp>
        <p:sp>
          <p:nvSpPr>
            <p:cNvPr id="27" name="Rounded Rectangle 26"/>
            <p:cNvSpPr/>
            <p:nvPr/>
          </p:nvSpPr>
          <p:spPr>
            <a:xfrm>
              <a:off x="2743200" y="4123944"/>
              <a:ext cx="5486400" cy="237744"/>
            </a:xfrm>
            <a:prstGeom prst="roundRect">
              <a:avLst>
                <a:gd name="adj" fmla="val 19230"/>
              </a:avLst>
            </a:prstGeom>
            <a:solidFill>
              <a:srgbClr val="343A43"/>
            </a:solidFill>
            <a:ln>
              <a:noFill/>
            </a:ln>
          </p:spPr>
          <p:txBody>
            <a:bodyPr rtlCol="0" anchor="ctr"/>
            <a:lstStyle/>
            <a:p>
              <a:pPr algn="ctr"/>
            </a:p>
          </p:txBody>
        </p:sp>
        <p:sp>
          <p:nvSpPr>
            <p:cNvPr id="28" name="Rounded Rectangle 27"/>
            <p:cNvSpPr/>
            <p:nvPr/>
          </p:nvSpPr>
          <p:spPr>
            <a:xfrm>
              <a:off x="2743200" y="4123944"/>
              <a:ext cx="4937760" cy="237744"/>
            </a:xfrm>
            <a:prstGeom prst="roundRect">
              <a:avLst>
                <a:gd name="adj" fmla="val 19230"/>
              </a:avLst>
            </a:prstGeom>
            <a:solidFill>
              <a:srgbClr val="6CA0DC"/>
            </a:solidFill>
            <a:ln>
              <a:noFill/>
            </a:ln>
          </p:spPr>
          <p:txBody>
            <a:bodyPr rtlCol="0" anchor="ctr"/>
            <a:lstStyle/>
            <a:p>
              <a:pPr algn="ctr"/>
            </a:p>
          </p:txBody>
        </p:sp>
        <p:sp>
          <p:nvSpPr>
            <p:cNvPr id="29" name="TextBox 28"/>
            <p:cNvSpPr txBox="1"/>
            <p:nvPr/>
          </p:nvSpPr>
          <p:spPr>
            <a:xfrm>
              <a:off x="548640" y="4608576"/>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Convenience</a:t>
              </a:r>
            </a:p>
          </p:txBody>
        </p:sp>
        <p:sp>
          <p:nvSpPr>
            <p:cNvPr id="30" name="Rounded Rectangle 29"/>
            <p:cNvSpPr/>
            <p:nvPr/>
          </p:nvSpPr>
          <p:spPr>
            <a:xfrm>
              <a:off x="2743200" y="4608576"/>
              <a:ext cx="5486400" cy="237744"/>
            </a:xfrm>
            <a:prstGeom prst="roundRect">
              <a:avLst>
                <a:gd name="adj" fmla="val 19230"/>
              </a:avLst>
            </a:prstGeom>
            <a:solidFill>
              <a:srgbClr val="343A43"/>
            </a:solidFill>
            <a:ln>
              <a:noFill/>
            </a:ln>
          </p:spPr>
          <p:txBody>
            <a:bodyPr rtlCol="0" anchor="ctr"/>
            <a:lstStyle/>
            <a:p>
              <a:pPr algn="ctr"/>
            </a:p>
          </p:txBody>
        </p:sp>
        <p:sp>
          <p:nvSpPr>
            <p:cNvPr id="31" name="Rounded Rectangle 30"/>
            <p:cNvSpPr/>
            <p:nvPr/>
          </p:nvSpPr>
          <p:spPr>
            <a:xfrm>
              <a:off x="2743200" y="4608576"/>
              <a:ext cx="2468880" cy="237744"/>
            </a:xfrm>
            <a:prstGeom prst="roundRect">
              <a:avLst>
                <a:gd name="adj" fmla="val 19230"/>
              </a:avLst>
            </a:prstGeom>
            <a:solidFill>
              <a:srgbClr val="F28C28"/>
            </a:solidFill>
            <a:ln>
              <a:noFill/>
            </a:ln>
          </p:spPr>
          <p:txBody>
            <a:bodyPr rtlCol="0" anchor="ctr"/>
            <a:lstStyle/>
            <a:p>
              <a:pPr algn="ctr"/>
            </a:p>
          </p:txBody>
        </p:sp>
        <p:sp>
          <p:nvSpPr>
            <p:cNvPr id="32" name="Rounded Rectangle 31"/>
            <p:cNvSpPr/>
            <p:nvPr/>
          </p:nvSpPr>
          <p:spPr>
            <a:xfrm>
              <a:off x="2743200" y="4910328"/>
              <a:ext cx="5486400" cy="237744"/>
            </a:xfrm>
            <a:prstGeom prst="roundRect">
              <a:avLst>
                <a:gd name="adj" fmla="val 19230"/>
              </a:avLst>
            </a:prstGeom>
            <a:solidFill>
              <a:srgbClr val="343A43"/>
            </a:solidFill>
            <a:ln>
              <a:noFill/>
            </a:ln>
          </p:spPr>
          <p:txBody>
            <a:bodyPr rtlCol="0" anchor="ctr"/>
            <a:lstStyle/>
            <a:p>
              <a:pPr algn="ctr"/>
            </a:p>
          </p:txBody>
        </p:sp>
        <p:sp>
          <p:nvSpPr>
            <p:cNvPr id="33" name="Rounded Rectangle 32"/>
            <p:cNvSpPr/>
            <p:nvPr/>
          </p:nvSpPr>
          <p:spPr>
            <a:xfrm>
              <a:off x="2743200" y="4910328"/>
              <a:ext cx="4937760" cy="237744"/>
            </a:xfrm>
            <a:prstGeom prst="roundRect">
              <a:avLst>
                <a:gd name="adj" fmla="val 19230"/>
              </a:avLst>
            </a:prstGeom>
            <a:solidFill>
              <a:srgbClr val="6CA0DC"/>
            </a:solidFill>
            <a:ln>
              <a:noFill/>
            </a:ln>
          </p:spPr>
          <p:txBody>
            <a:bodyPr rtlCol="0" anchor="ctr"/>
            <a:lstStyle/>
            <a:p>
              <a:pPr algn="ctr"/>
            </a:p>
          </p:txBody>
        </p:sp>
        <p:sp>
          <p:nvSpPr>
            <p:cNvPr id="34" name="TextBox 33"/>
            <p:cNvSpPr txBox="1"/>
            <p:nvPr/>
          </p:nvSpPr>
          <p:spPr>
            <a:xfrm>
              <a:off x="2743200" y="5413248"/>
              <a:ext cx="5486400" cy="292608"/>
            </a:xfrm>
            <a:prstGeom prst="rect">
              <a:avLst/>
            </a:prstGeom>
            <a:noFill/>
          </p:spPr>
          <p:txBody>
            <a:bodyPr wrap="square" lIns="0" tIns="0" rIns="0" bIns="0" anchor="t">
              <a:noAutofit/>
            </a:bodyPr>
            <a:lstStyle/>
            <a:p>
              <a:pPr algn="l"/>
              <a:r>
                <a:rPr sz="1400" b="0" i="0" lang="en-GB">
                  <a:solidFill>
                    <a:srgbClr val="A9B0B8"/>
                  </a:solidFill>
                  <a:latin typeface="Arial"/>
                </a:rPr>
                <a:t>Shape only. Not measured.</a:t>
              </a:r>
            </a:p>
          </p:txBody>
        </p:sp>
      </p:grpSp>
      <p:grpSp>
        <p:nvGrpSpPr>
          <p:cNvPr id="35" name="Legend" descr="Legend: orange is steam, blue is electric."/>
          <p:cNvGrpSpPr/>
          <p:nvPr/>
        </p:nvGrpSpPr>
        <p:grpSpPr>
          <a:xfrm>
            <a:off x="8778240" y="1444752"/>
            <a:ext cx="2743200" cy="822960"/>
            <a:chOff x="8778240" y="1444752"/>
            <a:chExt cx="2743200" cy="822960"/>
          </a:xfrm>
        </p:grpSpPr>
        <p:sp>
          <p:nvSpPr>
            <p:cNvPr id="36" name="Rounded Rectangle 35"/>
            <p:cNvSpPr/>
            <p:nvPr/>
          </p:nvSpPr>
          <p:spPr>
            <a:xfrm>
              <a:off x="8778240" y="1508760"/>
              <a:ext cx="365760" cy="237744"/>
            </a:xfrm>
            <a:prstGeom prst="roundRect">
              <a:avLst>
                <a:gd name="adj" fmla="val 19230"/>
              </a:avLst>
            </a:prstGeom>
            <a:solidFill>
              <a:srgbClr val="F28C28"/>
            </a:solidFill>
            <a:ln>
              <a:noFill/>
            </a:ln>
          </p:spPr>
          <p:txBody>
            <a:bodyPr rtlCol="0" anchor="ctr"/>
            <a:lstStyle/>
            <a:p>
              <a:pPr algn="ctr"/>
            </a:p>
          </p:txBody>
        </p:sp>
        <p:sp>
          <p:nvSpPr>
            <p:cNvPr id="37" name="TextBox 36"/>
            <p:cNvSpPr txBox="1"/>
            <p:nvPr/>
          </p:nvSpPr>
          <p:spPr>
            <a:xfrm>
              <a:off x="9235440" y="1444752"/>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Steam</a:t>
              </a:r>
            </a:p>
          </p:txBody>
        </p:sp>
        <p:sp>
          <p:nvSpPr>
            <p:cNvPr id="38" name="Rounded Rectangle 37"/>
            <p:cNvSpPr/>
            <p:nvPr/>
          </p:nvSpPr>
          <p:spPr>
            <a:xfrm>
              <a:off x="8778240" y="1965960"/>
              <a:ext cx="365760" cy="237744"/>
            </a:xfrm>
            <a:prstGeom prst="roundRect">
              <a:avLst>
                <a:gd name="adj" fmla="val 19230"/>
              </a:avLst>
            </a:prstGeom>
            <a:solidFill>
              <a:srgbClr val="6CA0DC"/>
            </a:solidFill>
            <a:ln>
              <a:noFill/>
            </a:ln>
          </p:spPr>
          <p:txBody>
            <a:bodyPr rtlCol="0" anchor="ctr"/>
            <a:lstStyle/>
            <a:p>
              <a:pPr algn="ctr"/>
            </a:p>
          </p:txBody>
        </p:sp>
        <p:sp>
          <p:nvSpPr>
            <p:cNvPr id="39" name="TextBox 38"/>
            <p:cNvSpPr txBox="1"/>
            <p:nvPr/>
          </p:nvSpPr>
          <p:spPr>
            <a:xfrm>
              <a:off x="9235440" y="1901952"/>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Electric</a:t>
              </a:r>
            </a:p>
          </p:txBody>
        </p:sp>
      </p:grpSp>
      <p:sp>
        <p:nvSpPr>
          <p:cNvPr id="40" name="Rounded Rectangle 39"/>
          <p:cNvSpPr/>
          <p:nvPr/>
        </p:nvSpPr>
        <p:spPr>
          <a:xfrm>
            <a:off x="8778240" y="2834640"/>
            <a:ext cx="2862072" cy="1737360"/>
          </a:xfrm>
          <a:prstGeom prst="roundRect">
            <a:avLst>
              <a:gd name="adj" fmla="val 4210"/>
            </a:avLst>
          </a:prstGeom>
          <a:solidFill>
            <a:srgbClr val="2B2F36"/>
          </a:solidFill>
          <a:ln w="19050">
            <a:solidFill>
              <a:srgbClr val="F28C28"/>
            </a:solidFill>
          </a:ln>
        </p:spPr>
        <p:txBody>
          <a:bodyPr rtlCol="0" anchor="ctr" wrap="square" lIns="182880" tIns="91440" rIns="137160" bIns="91440">
            <a:noAutofit/>
          </a:bodyPr>
          <a:lstStyle/>
          <a:p>
            <a:pPr algn="l"/>
            <a:r>
              <a:rPr sz="2000" b="0" i="0" lang="en-GB">
                <a:solidFill>
                  <a:srgbClr val="F2F2F2"/>
                </a:solidFill>
                <a:latin typeface="Arial"/>
              </a:rPr>
              <a:t>Steam gets there first. Electric wins when the network matures.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is cheap and early. Electric wins on speed, throughput, traffic and convenience.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16</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35"/>
                                        </p:tgtEl>
                                        <p:attrNameLst>
                                          <p:attrName>style.visibility</p:attrName>
                                        </p:attrNameLst>
                                      </p:cBhvr>
                                      <p:to>
                                        <p:strVal val="visible"/>
                                      </p:to>
                                    </p:set>
                                    <p:animEffect transition="in" filter="fade">
                                      <p:cBhvr>
                                        <p:cTn id="10" dur="500"/>
                                        <p:tgtEl>
                                          <p:spTgt spid="35"/>
                                        </p:tgtEl>
                                      </p:cBhvr>
                                    </p:animEffect>
                                  </p:childTnLst>
                                </p:cTn>
                              </p:par>
                              <p:par>
                                <p:cTn id="11" presetID="10" presetClass="entr" presetSubtype="0" fill="hold" nodeType="withEffect">
                                  <p:stCondLst>
                                    <p:cond delay="600"/>
                                  </p:stCondLst>
                                  <p:childTnLst>
                                    <p:set>
                                      <p:cBhvr>
                                        <p:cTn id="12" dur="1" fill="hold">
                                          <p:stCondLst>
                                            <p:cond delay="0"/>
                                          </p:stCondLst>
                                        </p:cTn>
                                        <p:tgtEl>
                                          <p:spTgt spid="40"/>
                                        </p:tgtEl>
                                        <p:attrNameLst>
                                          <p:attrName>style.visibility</p:attrName>
                                        </p:attrNameLst>
                                      </p:cBhvr>
                                      <p:to>
                                        <p:strVal val="visible"/>
                                      </p:to>
                                    </p:set>
                                    <p:animEffect transition="in" filter="fade">
                                      <p:cBhvr>
                                        <p:cTn id="13" dur="500"/>
                                        <p:tgtEl>
                                          <p:spTgt spid="40"/>
                                        </p:tgtEl>
                                      </p:cBhvr>
                                    </p:animEffect>
                                  </p:childTnLst>
                                </p:cTn>
                              </p:par>
                              <p:par>
                                <p:cTn id="14" presetID="10" presetClass="entr" presetSubtype="0" fill="hold" nodeType="withEffect">
                                  <p:stCondLst>
                                    <p:cond delay="90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par>
                                <p:cTn id="17" presetID="10" presetClass="entr" presetSubtype="0" fill="hold" nodeType="withEffect">
                                  <p:stCondLst>
                                    <p:cond delay="12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The mod's track</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R02" descr="High-detail render of the mod's two-rail track. Visual development only: not Unreal-tested, not production-ready."/>
          <p:cNvPicPr>
            <a:picLocks noChangeAspect="1"/>
          </p:cNvPicPr>
          <p:nvPr/>
        </p:nvPicPr>
        <p:blipFill>
          <a:blip r:embed="rId2"/>
          <a:stretch>
            <a:fillRect/>
          </a:stretch>
        </p:blipFill>
        <p:spPr>
          <a:xfrm>
            <a:off x="548640" y="1325880"/>
            <a:ext cx="5120640" cy="2880360"/>
          </a:xfrm>
          <a:prstGeom prst="roundRect">
            <a:avLst>
              <a:gd name="adj" fmla="val 2540"/>
            </a:avLst>
          </a:prstGeom>
        </p:spPr>
      </p:pic>
      <p:sp>
        <p:nvSpPr>
          <p:cNvPr id="9" name="Credit"/>
          <p:cNvSpPr txBox="1"/>
          <p:nvPr/>
        </p:nvSpPr>
        <p:spPr>
          <a:xfrm>
            <a:off x="548640" y="423367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pic>
        <p:nvPicPr>
          <p:cNvPr id="10" name="Picture R05" descr="Close-up render of the mod's track: rail seated in a chair bolted to a sleeper. Visual development only."/>
          <p:cNvPicPr>
            <a:picLocks noChangeAspect="1"/>
          </p:cNvPicPr>
          <p:nvPr/>
        </p:nvPicPr>
        <p:blipFill>
          <a:blip r:embed="rId3"/>
          <a:stretch>
            <a:fillRect/>
          </a:stretch>
        </p:blipFill>
        <p:spPr>
          <a:xfrm>
            <a:off x="5852160" y="1325880"/>
            <a:ext cx="2286000" cy="1714500"/>
          </a:xfrm>
          <a:prstGeom prst="roundRect">
            <a:avLst>
              <a:gd name="adj" fmla="val 4267"/>
            </a:avLst>
          </a:prstGeom>
        </p:spPr>
      </p:pic>
      <p:sp>
        <p:nvSpPr>
          <p:cNvPr id="11" name="Credit"/>
          <p:cNvSpPr txBox="1"/>
          <p:nvPr/>
        </p:nvSpPr>
        <p:spPr>
          <a:xfrm>
            <a:off x="5852160" y="3067812"/>
            <a:ext cx="228600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12" name="TextBox 11"/>
          <p:cNvSpPr txBox="1"/>
          <p:nvPr/>
        </p:nvSpPr>
        <p:spPr>
          <a:xfrm>
            <a:off x="5852160" y="3429000"/>
            <a:ext cx="2286000" cy="594360"/>
          </a:xfrm>
          <a:prstGeom prst="rect">
            <a:avLst/>
          </a:prstGeom>
          <a:noFill/>
        </p:spPr>
        <p:txBody>
          <a:bodyPr wrap="square" lIns="0" tIns="0" rIns="0" bIns="0" anchor="t">
            <a:noAutofit/>
          </a:bodyPr>
          <a:lstStyle/>
          <a:p>
            <a:pPr algn="l"/>
            <a:r>
              <a:rPr sz="1600" b="0" i="0" lang="en-GB">
                <a:solidFill>
                  <a:srgbClr val="F2F2F2"/>
                </a:solidFill>
                <a:latin typeface="Arial"/>
              </a:rPr>
              <a:t>Close-up: chairs and rails</a:t>
            </a:r>
          </a:p>
        </p:txBody>
      </p:sp>
      <p:pic>
        <p:nvPicPr>
          <p:cNvPr id="13" name="Picture P02" descr="Full-size railway track at Sheffield Park station: rails, sleepers and ballast."/>
          <p:cNvPicPr>
            <a:picLocks noChangeAspect="1"/>
          </p:cNvPicPr>
          <p:nvPr/>
        </p:nvPicPr>
        <p:blipFill>
          <a:blip r:embed="rId4"/>
          <a:stretch>
            <a:fillRect/>
          </a:stretch>
        </p:blipFill>
        <p:spPr>
          <a:xfrm>
            <a:off x="8348472" y="1325880"/>
            <a:ext cx="3291840" cy="2468880"/>
          </a:xfrm>
          <a:prstGeom prst="roundRect">
            <a:avLst>
              <a:gd name="adj" fmla="val 2963"/>
            </a:avLst>
          </a:prstGeom>
        </p:spPr>
      </p:pic>
      <p:sp>
        <p:nvSpPr>
          <p:cNvPr id="14" name="Credit"/>
          <p:cNvSpPr txBox="1"/>
          <p:nvPr/>
        </p:nvSpPr>
        <p:spPr>
          <a:xfrm>
            <a:off x="8348472" y="3822192"/>
            <a:ext cx="3291840" cy="338328"/>
          </a:xfrm>
          <a:prstGeom prst="rect">
            <a:avLst/>
          </a:prstGeom>
          <a:noFill/>
        </p:spPr>
        <p:txBody>
          <a:bodyPr wrap="square" lIns="0" tIns="0" rIns="0" bIns="0" anchor="t">
            <a:noAutofit/>
          </a:bodyPr>
          <a:lstStyle/>
          <a:p>
            <a:pPr algn="l"/>
            <a:r>
              <a:rPr sz="1000" b="0" i="0" lang="en-GB">
                <a:solidFill>
                  <a:srgbClr val="A9B0B8"/>
                </a:solidFill>
                <a:latin typeface="Arial"/>
              </a:rPr>
              <a:t>Photo: James E. Petts, CC BY-SA 4.0, Wikimedia Commons.</a:t>
            </a:r>
          </a:p>
        </p:txBody>
      </p:sp>
      <p:sp>
        <p:nvSpPr>
          <p:cNvPr id="15" name="TextBox 14"/>
          <p:cNvSpPr txBox="1"/>
          <p:nvPr/>
        </p:nvSpPr>
        <p:spPr>
          <a:xfrm>
            <a:off x="8348472" y="4160520"/>
            <a:ext cx="3291840" cy="320040"/>
          </a:xfrm>
          <a:prstGeom prst="rect">
            <a:avLst/>
          </a:prstGeom>
          <a:noFill/>
        </p:spPr>
        <p:txBody>
          <a:bodyPr wrap="square" lIns="0" tIns="0" rIns="0" bIns="0" anchor="t">
            <a:noAutofit/>
          </a:bodyPr>
          <a:lstStyle/>
          <a:p>
            <a:pPr algn="l"/>
            <a:r>
              <a:rPr sz="1600" b="0" i="0" lang="en-GB">
                <a:solidFill>
                  <a:srgbClr val="F2F2F2"/>
                </a:solidFill>
                <a:latin typeface="Arial"/>
              </a:rPr>
              <a:t>Real railway, for comparison</a:t>
            </a:r>
          </a:p>
        </p:txBody>
      </p:sp>
      <p:sp>
        <p:nvSpPr>
          <p:cNvPr id="16" name="Speed rule"/>
          <p:cNvSpPr/>
          <p:nvPr/>
        </p:nvSpPr>
        <p:spPr>
          <a:xfrm>
            <a:off x="548640" y="4553712"/>
            <a:ext cx="11091672" cy="502920"/>
          </a:xfrm>
          <a:prstGeom prst="roundRect">
            <a:avLst>
              <a:gd name="adj" fmla="val 14545"/>
            </a:avLst>
          </a:prstGeom>
          <a:solidFill>
            <a:srgbClr val="2B2F36"/>
          </a:solidFill>
          <a:ln w="19050">
            <a:solidFill>
              <a:srgbClr val="F28C28"/>
            </a:solidFill>
          </a:ln>
        </p:spPr>
        <p:txBody>
          <a:bodyPr rtlCol="0" anchor="ctr" wrap="square" lIns="228600" tIns="18288" bIns="18288">
            <a:noAutofit/>
          </a:bodyPr>
          <a:lstStyle/>
          <a:p>
            <a:pPr algn="l"/>
            <a:r>
              <a:rPr sz="1800" b="1" i="0" lang="en-GB">
                <a:solidFill>
                  <a:srgbClr val="F2F2F2"/>
                </a:solidFill>
                <a:latin typeface="Arial"/>
              </a:rPr>
              <a:t>Speed = lowest of: track limit, signal limit, engine limit</a:t>
            </a:r>
          </a:p>
        </p:txBody>
      </p:sp>
      <p:sp>
        <p:nvSpPr>
          <p:cNvPr id="17" name="Inline chip Proposed"/>
          <p:cNvSpPr/>
          <p:nvPr/>
        </p:nvSpPr>
        <p:spPr>
          <a:xfrm>
            <a:off x="6879590" y="464058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8" name="TextBox 17"/>
          <p:cNvSpPr txBox="1"/>
          <p:nvPr/>
        </p:nvSpPr>
        <p:spPr>
          <a:xfrm>
            <a:off x="548640" y="5138928"/>
            <a:ext cx="2377440" cy="329184"/>
          </a:xfrm>
          <a:prstGeom prst="rect">
            <a:avLst/>
          </a:prstGeom>
          <a:noFill/>
        </p:spPr>
        <p:txBody>
          <a:bodyPr wrap="square" lIns="0" tIns="0" rIns="0" bIns="0" anchor="ctr">
            <a:noAutofit/>
          </a:bodyPr>
          <a:lstStyle/>
          <a:p>
            <a:pPr algn="l"/>
            <a:r>
              <a:rPr sz="1600" b="0" i="0" lang="en-GB">
                <a:solidFill>
                  <a:srgbClr val="F2F2F2"/>
                </a:solidFill>
                <a:latin typeface="Arial"/>
              </a:rPr>
              <a:t>Longest track piece:</a:t>
            </a:r>
          </a:p>
        </p:txBody>
      </p:sp>
      <p:sp>
        <p:nvSpPr>
          <p:cNvPr id="19" name="Inline chip Undecided"/>
          <p:cNvSpPr/>
          <p:nvPr/>
        </p:nvSpPr>
        <p:spPr>
          <a:xfrm>
            <a:off x="2517775" y="5138928"/>
            <a:ext cx="20612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(OQ02)</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Two thin rails on sleepers, built from iron plates and rods. Speed is the lowest of three limits.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17</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163"/>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nodeType="withEffect">
                                  <p:stCondLst>
                                    <p:cond delay="326"/>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489"/>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nodeType="withEffect">
                                  <p:stCondLst>
                                    <p:cond delay="652"/>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500"/>
                                        <p:tgtEl>
                                          <p:spTgt spid="15"/>
                                        </p:tgtEl>
                                      </p:cBhvr>
                                    </p:animEffect>
                                  </p:childTnLst>
                                </p:cTn>
                              </p:par>
                              <p:par>
                                <p:cTn id="20" presetID="10" presetClass="entr" presetSubtype="0" fill="hold" nodeType="withEffect">
                                  <p:stCondLst>
                                    <p:cond delay="815"/>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par>
                                <p:cTn id="23" presetID="10" presetClass="entr" presetSubtype="0" fill="hold" nodeType="withEffect">
                                  <p:stCondLst>
                                    <p:cond delay="978"/>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par>
                                <p:cTn id="26" presetID="10" presetClass="entr" presetSubtype="0" fill="hold" nodeType="withEffect">
                                  <p:stCondLst>
                                    <p:cond delay="1141"/>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500"/>
                                        <p:tgtEl>
                                          <p:spTgt spid="18"/>
                                        </p:tgtEl>
                                      </p:cBhvr>
                                    </p:animEffect>
                                  </p:childTnLst>
                                </p:cTn>
                              </p:par>
                              <p:par>
                                <p:cTn id="29" presetID="10" presetClass="entr" presetSubtype="0" fill="hold" nodeType="withEffect">
                                  <p:stCondLst>
                                    <p:cond delay="1304"/>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500"/>
                                        <p:tgtEl>
                                          <p:spTgt spid="19"/>
                                        </p:tgtEl>
                                      </p:cBhvr>
                                    </p:animEffect>
                                  </p:childTnLst>
                                </p:cTn>
                              </p:par>
                              <p:par>
                                <p:cTn id="32" presetID="10" presetClass="entr" presetSubtype="0" fill="hold" nodeType="withEffect">
                                  <p:stCondLst>
                                    <p:cond delay="1467"/>
                                  </p:stCondLst>
                                  <p:childTnLst>
                                    <p:set>
                                      <p:cBhvr>
                                        <p:cTn id="33" dur="1" fill="hold">
                                          <p:stCondLst>
                                            <p:cond delay="0"/>
                                          </p:stCondLst>
                                        </p:cTn>
                                        <p:tgtEl>
                                          <p:spTgt spid="4"/>
                                        </p:tgtEl>
                                        <p:attrNameLst>
                                          <p:attrName>style.visibility</p:attrName>
                                        </p:attrNameLst>
                                      </p:cBhvr>
                                      <p:to>
                                        <p:strVal val="visible"/>
                                      </p:to>
                                    </p:set>
                                    <p:animEffect transition="in" filter="fade">
                                      <p:cBhvr>
                                        <p:cTn id="34" dur="500"/>
                                        <p:tgtEl>
                                          <p:spTgt spid="4"/>
                                        </p:tgtEl>
                                      </p:cBhvr>
                                    </p:animEffect>
                                  </p:childTnLst>
                                </p:cTn>
                              </p:par>
                              <p:par>
                                <p:cTn id="35" presetID="10" presetClass="entr" presetSubtype="0" fill="hold" nodeType="withEffect">
                                  <p:stCondLst>
                                    <p:cond delay="163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Three roles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mall card" descr="Small locomotive card. Qualitative bars: haul low, speed medium, range low, servicing needs low. Best for: local branches."/>
          <p:cNvGrpSpPr/>
          <p:nvPr/>
        </p:nvGrpSpPr>
        <p:grpSpPr>
          <a:xfrm>
            <a:off x="548640" y="1325880"/>
            <a:ext cx="3474720" cy="3886200"/>
            <a:chOff x="548640" y="1325880"/>
            <a:chExt cx="3474720" cy="3886200"/>
          </a:xfrm>
        </p:grpSpPr>
        <p:sp>
          <p:nvSpPr>
            <p:cNvPr id="9" name="Rounded Rectangle 8"/>
            <p:cNvSpPr/>
            <p:nvPr/>
          </p:nvSpPr>
          <p:spPr>
            <a:xfrm>
              <a:off x="548640" y="1325880"/>
              <a:ext cx="3474720" cy="3886200"/>
            </a:xfrm>
            <a:prstGeom prst="roundRect">
              <a:avLst>
                <a:gd name="adj" fmla="val 2631"/>
              </a:avLst>
            </a:prstGeom>
            <a:solidFill>
              <a:srgbClr val="2B2F36"/>
            </a:solidFill>
            <a:ln>
              <a:noFill/>
            </a:ln>
          </p:spPr>
          <p:txBody>
            <a:bodyPr rtlCol="0" anchor="ctr"/>
            <a:lstStyle/>
            <a:p>
              <a:pPr algn="ctr"/>
            </a:p>
          </p:txBody>
        </p:sp>
        <p:sp>
          <p:nvSpPr>
            <p:cNvPr id="10" name="Rectangle 9"/>
            <p:cNvSpPr/>
            <p:nvPr/>
          </p:nvSpPr>
          <p:spPr>
            <a:xfrm>
              <a:off x="548640" y="1600200"/>
              <a:ext cx="3474720" cy="182880"/>
            </a:xfrm>
            <a:prstGeom prst="rect">
              <a:avLst/>
            </a:prstGeom>
            <a:solidFill>
              <a:srgbClr val="F28C28"/>
            </a:solidFill>
            <a:ln>
              <a:noFill/>
            </a:ln>
          </p:spPr>
          <p:txBody>
            <a:bodyPr rtlCol="0" anchor="ctr"/>
            <a:lstStyle/>
            <a:p>
              <a:pPr algn="ctr"/>
            </a:p>
          </p:txBody>
        </p:sp>
        <p:sp>
          <p:nvSpPr>
            <p:cNvPr id="11" name="Rounded Rectangle 10"/>
            <p:cNvSpPr/>
            <p:nvPr/>
          </p:nvSpPr>
          <p:spPr>
            <a:xfrm>
              <a:off x="548640" y="1325880"/>
              <a:ext cx="3474720" cy="457200"/>
            </a:xfrm>
            <a:prstGeom prst="roundRect">
              <a:avLst>
                <a:gd name="adj" fmla="val 20000"/>
              </a:avLst>
            </a:prstGeom>
            <a:solidFill>
              <a:srgbClr val="F28C28"/>
            </a:solidFill>
            <a:ln>
              <a:noFill/>
            </a:ln>
          </p:spPr>
          <p:txBody>
            <a:bodyPr rtlCol="0" anchor="ctr" wrap="square" lIns="73152" tIns="36576" rIns="73152" bIns="36576">
              <a:noAutofit/>
            </a:bodyPr>
            <a:lstStyle/>
            <a:p>
              <a:pPr algn="ctr"/>
              <a:r>
                <a:rPr sz="2000" b="1" i="0" lang="en-GB">
                  <a:solidFill>
                    <a:srgbClr val="101418"/>
                  </a:solidFill>
                  <a:latin typeface="Arial"/>
                </a:rPr>
                <a:t>Small</a:t>
              </a:r>
            </a:p>
          </p:txBody>
        </p:sp>
        <p:grpSp>
          <p:nvGrpSpPr>
            <p:cNvPr id="12" name="Small engine" descr="Side view of the small steam engine."/>
            <p:cNvGrpSpPr/>
            <p:nvPr/>
          </p:nvGrpSpPr>
          <p:grpSpPr>
            <a:xfrm>
              <a:off x="1563624" y="1828800"/>
              <a:ext cx="1408176" cy="914400"/>
              <a:chOff x="1563624" y="1828800"/>
              <a:chExt cx="1408176" cy="914400"/>
            </a:xfrm>
          </p:grpSpPr>
          <p:sp>
            <p:nvSpPr>
              <p:cNvPr id="13" name="Rectangle 12"/>
              <p:cNvSpPr/>
              <p:nvPr/>
            </p:nvSpPr>
            <p:spPr>
              <a:xfrm>
                <a:off x="1600200" y="1920240"/>
                <a:ext cx="457200" cy="713232"/>
              </a:xfrm>
              <a:prstGeom prst="rect">
                <a:avLst/>
              </a:prstGeom>
              <a:solidFill>
                <a:srgbClr val="F28C28"/>
              </a:solidFill>
              <a:ln w="9525">
                <a:solidFill>
                  <a:srgbClr val="101418"/>
                </a:solidFill>
              </a:ln>
            </p:spPr>
            <p:txBody>
              <a:bodyPr rtlCol="0" anchor="ctr"/>
              <a:lstStyle/>
              <a:p>
                <a:pPr algn="ctr"/>
              </a:p>
            </p:txBody>
          </p:sp>
          <p:sp>
            <p:nvSpPr>
              <p:cNvPr id="14" name="Rectangle 13"/>
              <p:cNvSpPr/>
              <p:nvPr/>
            </p:nvSpPr>
            <p:spPr>
              <a:xfrm>
                <a:off x="1691640" y="2011680"/>
                <a:ext cx="237744" cy="182880"/>
              </a:xfrm>
              <a:prstGeom prst="rect">
                <a:avLst/>
              </a:prstGeom>
              <a:solidFill>
                <a:srgbClr val="2B2F36"/>
              </a:solidFill>
              <a:ln>
                <a:noFill/>
              </a:ln>
            </p:spPr>
            <p:txBody>
              <a:bodyPr rtlCol="0" anchor="ctr"/>
              <a:lstStyle/>
              <a:p>
                <a:pPr algn="ctr"/>
              </a:p>
            </p:txBody>
          </p:sp>
          <p:sp>
            <p:nvSpPr>
              <p:cNvPr id="15" name="Rectangle 14"/>
              <p:cNvSpPr/>
              <p:nvPr/>
            </p:nvSpPr>
            <p:spPr>
              <a:xfrm>
                <a:off x="1563624" y="1865376"/>
                <a:ext cx="530352" cy="73152"/>
              </a:xfrm>
              <a:prstGeom prst="rect">
                <a:avLst/>
              </a:prstGeom>
              <a:solidFill>
                <a:srgbClr val="1B1D21"/>
              </a:solidFill>
              <a:ln>
                <a:noFill/>
              </a:ln>
            </p:spPr>
            <p:txBody>
              <a:bodyPr rtlCol="0" anchor="ctr"/>
              <a:lstStyle/>
              <a:p>
                <a:pPr algn="ctr"/>
              </a:p>
            </p:txBody>
          </p:sp>
          <p:sp>
            <p:nvSpPr>
              <p:cNvPr id="16" name="Rounded Rectangle 15"/>
              <p:cNvSpPr/>
              <p:nvPr/>
            </p:nvSpPr>
            <p:spPr>
              <a:xfrm>
                <a:off x="2057400" y="2066544"/>
                <a:ext cx="914400" cy="420624"/>
              </a:xfrm>
              <a:prstGeom prst="roundRect">
                <a:avLst>
                  <a:gd name="adj" fmla="val 21739"/>
                </a:avLst>
              </a:prstGeom>
              <a:solidFill>
                <a:srgbClr val="F28C28"/>
              </a:solidFill>
              <a:ln w="9525">
                <a:solidFill>
                  <a:srgbClr val="101418"/>
                </a:solidFill>
              </a:ln>
            </p:spPr>
            <p:txBody>
              <a:bodyPr rtlCol="0" anchor="ctr"/>
              <a:lstStyle/>
              <a:p>
                <a:pPr algn="ctr"/>
              </a:p>
            </p:txBody>
          </p:sp>
          <p:sp>
            <p:nvSpPr>
              <p:cNvPr id="17" name="Rectangle 16"/>
              <p:cNvSpPr/>
              <p:nvPr/>
            </p:nvSpPr>
            <p:spPr>
              <a:xfrm>
                <a:off x="2697480" y="1828800"/>
                <a:ext cx="137160" cy="256032"/>
              </a:xfrm>
              <a:prstGeom prst="rect">
                <a:avLst/>
              </a:prstGeom>
              <a:solidFill>
                <a:srgbClr val="1B1D21"/>
              </a:solidFill>
              <a:ln>
                <a:noFill/>
              </a:ln>
            </p:spPr>
            <p:txBody>
              <a:bodyPr rtlCol="0" anchor="ctr"/>
              <a:lstStyle/>
              <a:p>
                <a:pPr algn="ctr"/>
              </a:p>
            </p:txBody>
          </p:sp>
          <p:sp>
            <p:nvSpPr>
              <p:cNvPr id="18" name="Rectangle 17"/>
              <p:cNvSpPr/>
              <p:nvPr/>
            </p:nvSpPr>
            <p:spPr>
              <a:xfrm>
                <a:off x="1600200" y="2468880"/>
                <a:ext cx="1371600" cy="64008"/>
              </a:xfrm>
              <a:prstGeom prst="rect">
                <a:avLst/>
              </a:prstGeom>
              <a:solidFill>
                <a:srgbClr val="1B1D21"/>
              </a:solidFill>
              <a:ln>
                <a:noFill/>
              </a:ln>
            </p:spPr>
            <p:txBody>
              <a:bodyPr rtlCol="0" anchor="ctr"/>
              <a:lstStyle/>
              <a:p>
                <a:pPr algn="ctr"/>
              </a:p>
            </p:txBody>
          </p:sp>
          <p:sp>
            <p:nvSpPr>
              <p:cNvPr id="19" name="Oval 18"/>
              <p:cNvSpPr/>
              <p:nvPr/>
            </p:nvSpPr>
            <p:spPr>
              <a:xfrm>
                <a:off x="1655064" y="2487168"/>
                <a:ext cx="256032" cy="256032"/>
              </a:xfrm>
              <a:prstGeom prst="ellipse">
                <a:avLst/>
              </a:prstGeom>
              <a:solidFill>
                <a:srgbClr val="1B1D21"/>
              </a:solidFill>
              <a:ln w="15875">
                <a:solidFill>
                  <a:srgbClr val="9AA0A6"/>
                </a:solidFill>
              </a:ln>
            </p:spPr>
            <p:txBody>
              <a:bodyPr rtlCol="0" anchor="ctr"/>
              <a:lstStyle/>
              <a:p>
                <a:pPr algn="ctr"/>
              </a:p>
            </p:txBody>
          </p:sp>
          <p:sp>
            <p:nvSpPr>
              <p:cNvPr id="20" name="Oval 19"/>
              <p:cNvSpPr/>
              <p:nvPr/>
            </p:nvSpPr>
            <p:spPr>
              <a:xfrm>
                <a:off x="2157984" y="2487168"/>
                <a:ext cx="256032" cy="256032"/>
              </a:xfrm>
              <a:prstGeom prst="ellipse">
                <a:avLst/>
              </a:prstGeom>
              <a:solidFill>
                <a:srgbClr val="1B1D21"/>
              </a:solidFill>
              <a:ln w="15875">
                <a:solidFill>
                  <a:srgbClr val="9AA0A6"/>
                </a:solidFill>
              </a:ln>
            </p:spPr>
            <p:txBody>
              <a:bodyPr rtlCol="0" anchor="ctr"/>
              <a:lstStyle/>
              <a:p>
                <a:pPr algn="ctr"/>
              </a:p>
            </p:txBody>
          </p:sp>
          <p:sp>
            <p:nvSpPr>
              <p:cNvPr id="21" name="Oval 20"/>
              <p:cNvSpPr/>
              <p:nvPr/>
            </p:nvSpPr>
            <p:spPr>
              <a:xfrm>
                <a:off x="2660904" y="2487168"/>
                <a:ext cx="256032" cy="256032"/>
              </a:xfrm>
              <a:prstGeom prst="ellipse">
                <a:avLst/>
              </a:prstGeom>
              <a:solidFill>
                <a:srgbClr val="1B1D21"/>
              </a:solidFill>
              <a:ln w="15875">
                <a:solidFill>
                  <a:srgbClr val="9AA0A6"/>
                </a:solidFill>
              </a:ln>
            </p:spPr>
            <p:txBody>
              <a:bodyPr rtlCol="0" anchor="ctr"/>
              <a:lstStyle/>
              <a:p>
                <a:pPr algn="ctr"/>
              </a:p>
            </p:txBody>
          </p:sp>
        </p:grpSp>
        <p:sp>
          <p:nvSpPr>
            <p:cNvPr id="22" name="TextBox 21"/>
            <p:cNvSpPr txBox="1"/>
            <p:nvPr/>
          </p:nvSpPr>
          <p:spPr>
            <a:xfrm>
              <a:off x="777240" y="28529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Haul</a:t>
              </a:r>
            </a:p>
          </p:txBody>
        </p:sp>
        <p:sp>
          <p:nvSpPr>
            <p:cNvPr id="23" name="Rounded Rectangle 22"/>
            <p:cNvSpPr/>
            <p:nvPr/>
          </p:nvSpPr>
          <p:spPr>
            <a:xfrm>
              <a:off x="777240" y="3090672"/>
              <a:ext cx="3017520" cy="146304"/>
            </a:xfrm>
            <a:prstGeom prst="roundRect">
              <a:avLst>
                <a:gd name="adj" fmla="val 25000"/>
              </a:avLst>
            </a:prstGeom>
            <a:solidFill>
              <a:srgbClr val="343A43"/>
            </a:solidFill>
            <a:ln>
              <a:noFill/>
            </a:ln>
          </p:spPr>
          <p:txBody>
            <a:bodyPr rtlCol="0" anchor="ctr"/>
            <a:lstStyle/>
            <a:p>
              <a:pPr algn="ctr"/>
            </a:p>
          </p:txBody>
        </p:sp>
        <p:sp>
          <p:nvSpPr>
            <p:cNvPr id="24" name="Rounded Rectangle 23"/>
            <p:cNvSpPr/>
            <p:nvPr/>
          </p:nvSpPr>
          <p:spPr>
            <a:xfrm>
              <a:off x="777240" y="3090672"/>
              <a:ext cx="754380" cy="146304"/>
            </a:xfrm>
            <a:prstGeom prst="roundRect">
              <a:avLst>
                <a:gd name="adj" fmla="val 25000"/>
              </a:avLst>
            </a:prstGeom>
            <a:solidFill>
              <a:srgbClr val="F28C28"/>
            </a:solidFill>
            <a:ln>
              <a:noFill/>
            </a:ln>
          </p:spPr>
          <p:txBody>
            <a:bodyPr rtlCol="0" anchor="ctr"/>
            <a:lstStyle/>
            <a:p>
              <a:pPr algn="ctr"/>
            </a:p>
          </p:txBody>
        </p:sp>
        <p:sp>
          <p:nvSpPr>
            <p:cNvPr id="25" name="TextBox 24"/>
            <p:cNvSpPr txBox="1"/>
            <p:nvPr/>
          </p:nvSpPr>
          <p:spPr>
            <a:xfrm>
              <a:off x="777240" y="33101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Speed</a:t>
              </a:r>
            </a:p>
          </p:txBody>
        </p:sp>
        <p:sp>
          <p:nvSpPr>
            <p:cNvPr id="26" name="Rounded Rectangle 25"/>
            <p:cNvSpPr/>
            <p:nvPr/>
          </p:nvSpPr>
          <p:spPr>
            <a:xfrm>
              <a:off x="777240" y="3547872"/>
              <a:ext cx="3017520" cy="146304"/>
            </a:xfrm>
            <a:prstGeom prst="roundRect">
              <a:avLst>
                <a:gd name="adj" fmla="val 25000"/>
              </a:avLst>
            </a:prstGeom>
            <a:solidFill>
              <a:srgbClr val="343A43"/>
            </a:solidFill>
            <a:ln>
              <a:noFill/>
            </a:ln>
          </p:spPr>
          <p:txBody>
            <a:bodyPr rtlCol="0" anchor="ctr"/>
            <a:lstStyle/>
            <a:p>
              <a:pPr algn="ctr"/>
            </a:p>
          </p:txBody>
        </p:sp>
        <p:sp>
          <p:nvSpPr>
            <p:cNvPr id="27" name="Rounded Rectangle 26"/>
            <p:cNvSpPr/>
            <p:nvPr/>
          </p:nvSpPr>
          <p:spPr>
            <a:xfrm>
              <a:off x="777240" y="3547872"/>
              <a:ext cx="1056132" cy="146304"/>
            </a:xfrm>
            <a:prstGeom prst="roundRect">
              <a:avLst>
                <a:gd name="adj" fmla="val 25000"/>
              </a:avLst>
            </a:prstGeom>
            <a:solidFill>
              <a:srgbClr val="F28C28"/>
            </a:solidFill>
            <a:ln>
              <a:noFill/>
            </a:ln>
          </p:spPr>
          <p:txBody>
            <a:bodyPr rtlCol="0" anchor="ctr"/>
            <a:lstStyle/>
            <a:p>
              <a:pPr algn="ctr"/>
            </a:p>
          </p:txBody>
        </p:sp>
        <p:sp>
          <p:nvSpPr>
            <p:cNvPr id="28" name="TextBox 27"/>
            <p:cNvSpPr txBox="1"/>
            <p:nvPr/>
          </p:nvSpPr>
          <p:spPr>
            <a:xfrm>
              <a:off x="777240" y="37673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Range</a:t>
              </a:r>
            </a:p>
          </p:txBody>
        </p:sp>
        <p:sp>
          <p:nvSpPr>
            <p:cNvPr id="29" name="Rounded Rectangle 28"/>
            <p:cNvSpPr/>
            <p:nvPr/>
          </p:nvSpPr>
          <p:spPr>
            <a:xfrm>
              <a:off x="777240" y="4005072"/>
              <a:ext cx="3017520" cy="146304"/>
            </a:xfrm>
            <a:prstGeom prst="roundRect">
              <a:avLst>
                <a:gd name="adj" fmla="val 25000"/>
              </a:avLst>
            </a:prstGeom>
            <a:solidFill>
              <a:srgbClr val="343A43"/>
            </a:solidFill>
            <a:ln>
              <a:noFill/>
            </a:ln>
          </p:spPr>
          <p:txBody>
            <a:bodyPr rtlCol="0" anchor="ctr"/>
            <a:lstStyle/>
            <a:p>
              <a:pPr algn="ctr"/>
            </a:p>
          </p:txBody>
        </p:sp>
        <p:sp>
          <p:nvSpPr>
            <p:cNvPr id="30" name="Rounded Rectangle 29"/>
            <p:cNvSpPr/>
            <p:nvPr/>
          </p:nvSpPr>
          <p:spPr>
            <a:xfrm>
              <a:off x="777240" y="4005072"/>
              <a:ext cx="754380" cy="146304"/>
            </a:xfrm>
            <a:prstGeom prst="roundRect">
              <a:avLst>
                <a:gd name="adj" fmla="val 25000"/>
              </a:avLst>
            </a:prstGeom>
            <a:solidFill>
              <a:srgbClr val="F28C28"/>
            </a:solidFill>
            <a:ln>
              <a:noFill/>
            </a:ln>
          </p:spPr>
          <p:txBody>
            <a:bodyPr rtlCol="0" anchor="ctr"/>
            <a:lstStyle/>
            <a:p>
              <a:pPr algn="ctr"/>
            </a:p>
          </p:txBody>
        </p:sp>
        <p:sp>
          <p:nvSpPr>
            <p:cNvPr id="31" name="TextBox 30"/>
            <p:cNvSpPr txBox="1"/>
            <p:nvPr/>
          </p:nvSpPr>
          <p:spPr>
            <a:xfrm>
              <a:off x="777240" y="42245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Servicing needs</a:t>
              </a:r>
            </a:p>
          </p:txBody>
        </p:sp>
        <p:sp>
          <p:nvSpPr>
            <p:cNvPr id="32" name="Rounded Rectangle 31"/>
            <p:cNvSpPr/>
            <p:nvPr/>
          </p:nvSpPr>
          <p:spPr>
            <a:xfrm>
              <a:off x="777240" y="4462272"/>
              <a:ext cx="3017520" cy="146304"/>
            </a:xfrm>
            <a:prstGeom prst="roundRect">
              <a:avLst>
                <a:gd name="adj" fmla="val 25000"/>
              </a:avLst>
            </a:prstGeom>
            <a:solidFill>
              <a:srgbClr val="343A43"/>
            </a:solidFill>
            <a:ln>
              <a:noFill/>
            </a:ln>
          </p:spPr>
          <p:txBody>
            <a:bodyPr rtlCol="0" anchor="ctr"/>
            <a:lstStyle/>
            <a:p>
              <a:pPr algn="ctr"/>
            </a:p>
          </p:txBody>
        </p:sp>
        <p:sp>
          <p:nvSpPr>
            <p:cNvPr id="33" name="Rounded Rectangle 32"/>
            <p:cNvSpPr/>
            <p:nvPr/>
          </p:nvSpPr>
          <p:spPr>
            <a:xfrm>
              <a:off x="777240" y="4462272"/>
              <a:ext cx="754380" cy="146304"/>
            </a:xfrm>
            <a:prstGeom prst="roundRect">
              <a:avLst>
                <a:gd name="adj" fmla="val 25000"/>
              </a:avLst>
            </a:prstGeom>
            <a:solidFill>
              <a:srgbClr val="F28C28"/>
            </a:solidFill>
            <a:ln>
              <a:noFill/>
            </a:ln>
          </p:spPr>
          <p:txBody>
            <a:bodyPr rtlCol="0" anchor="ctr"/>
            <a:lstStyle/>
            <a:p>
              <a:pPr algn="ctr"/>
            </a:p>
          </p:txBody>
        </p:sp>
        <p:sp>
          <p:nvSpPr>
            <p:cNvPr id="34" name="TextBox 33"/>
            <p:cNvSpPr txBox="1"/>
            <p:nvPr/>
          </p:nvSpPr>
          <p:spPr>
            <a:xfrm>
              <a:off x="777240" y="4709160"/>
              <a:ext cx="3017520" cy="384048"/>
            </a:xfrm>
            <a:prstGeom prst="rect">
              <a:avLst/>
            </a:prstGeom>
            <a:noFill/>
          </p:spPr>
          <p:txBody>
            <a:bodyPr wrap="square" lIns="0" tIns="0" rIns="0" bIns="0" anchor="ctr">
              <a:noAutofit/>
            </a:bodyPr>
            <a:lstStyle/>
            <a:p>
              <a:pPr algn="l"/>
              <a:r>
                <a:rPr sz="1800" b="1" i="0" lang="en-GB">
                  <a:solidFill>
                    <a:srgbClr val="F2F2F2"/>
                  </a:solidFill>
                  <a:latin typeface="Arial"/>
                </a:rPr>
                <a:t>Local branches</a:t>
              </a:r>
            </a:p>
          </p:txBody>
        </p:sp>
      </p:grpSp>
      <p:grpSp>
        <p:nvGrpSpPr>
          <p:cNvPr id="35" name="Medium card" descr="Medium locomotive card. Qualitative bars: haul medium, speed high, range high, servicing needs medium. Best for: fast mixed freight."/>
          <p:cNvGrpSpPr/>
          <p:nvPr/>
        </p:nvGrpSpPr>
        <p:grpSpPr>
          <a:xfrm>
            <a:off x="4343400" y="1325880"/>
            <a:ext cx="3474720" cy="3886200"/>
            <a:chOff x="4343400" y="1325880"/>
            <a:chExt cx="3474720" cy="3886200"/>
          </a:xfrm>
        </p:grpSpPr>
        <p:sp>
          <p:nvSpPr>
            <p:cNvPr id="36" name="Rounded Rectangle 35"/>
            <p:cNvSpPr/>
            <p:nvPr/>
          </p:nvSpPr>
          <p:spPr>
            <a:xfrm>
              <a:off x="4343400" y="1325880"/>
              <a:ext cx="3474720" cy="3886200"/>
            </a:xfrm>
            <a:prstGeom prst="roundRect">
              <a:avLst>
                <a:gd name="adj" fmla="val 2631"/>
              </a:avLst>
            </a:prstGeom>
            <a:solidFill>
              <a:srgbClr val="2B2F36"/>
            </a:solidFill>
            <a:ln>
              <a:noFill/>
            </a:ln>
          </p:spPr>
          <p:txBody>
            <a:bodyPr rtlCol="0" anchor="ctr"/>
            <a:lstStyle/>
            <a:p>
              <a:pPr algn="ctr"/>
            </a:p>
          </p:txBody>
        </p:sp>
        <p:sp>
          <p:nvSpPr>
            <p:cNvPr id="37" name="Rectangle 36"/>
            <p:cNvSpPr/>
            <p:nvPr/>
          </p:nvSpPr>
          <p:spPr>
            <a:xfrm>
              <a:off x="4343400" y="1600200"/>
              <a:ext cx="3474720" cy="182880"/>
            </a:xfrm>
            <a:prstGeom prst="rect">
              <a:avLst/>
            </a:prstGeom>
            <a:solidFill>
              <a:srgbClr val="F28C28"/>
            </a:solidFill>
            <a:ln>
              <a:noFill/>
            </a:ln>
          </p:spPr>
          <p:txBody>
            <a:bodyPr rtlCol="0" anchor="ctr"/>
            <a:lstStyle/>
            <a:p>
              <a:pPr algn="ctr"/>
            </a:p>
          </p:txBody>
        </p:sp>
        <p:sp>
          <p:nvSpPr>
            <p:cNvPr id="38" name="Rounded Rectangle 37"/>
            <p:cNvSpPr/>
            <p:nvPr/>
          </p:nvSpPr>
          <p:spPr>
            <a:xfrm>
              <a:off x="4343400" y="1325880"/>
              <a:ext cx="3474720" cy="457200"/>
            </a:xfrm>
            <a:prstGeom prst="roundRect">
              <a:avLst>
                <a:gd name="adj" fmla="val 20000"/>
              </a:avLst>
            </a:prstGeom>
            <a:solidFill>
              <a:srgbClr val="F28C28"/>
            </a:solidFill>
            <a:ln>
              <a:noFill/>
            </a:ln>
          </p:spPr>
          <p:txBody>
            <a:bodyPr rtlCol="0" anchor="ctr" wrap="square" lIns="73152" tIns="36576" rIns="73152" bIns="36576">
              <a:noAutofit/>
            </a:bodyPr>
            <a:lstStyle/>
            <a:p>
              <a:pPr algn="ctr"/>
              <a:r>
                <a:rPr sz="2000" b="1" i="0" lang="en-GB">
                  <a:solidFill>
                    <a:srgbClr val="101418"/>
                  </a:solidFill>
                  <a:latin typeface="Arial"/>
                </a:rPr>
                <a:t>Medium</a:t>
              </a:r>
            </a:p>
          </p:txBody>
        </p:sp>
        <p:grpSp>
          <p:nvGrpSpPr>
            <p:cNvPr id="39" name="Medium engine" descr="Side view of the medium steam engine with its tender."/>
            <p:cNvGrpSpPr/>
            <p:nvPr/>
          </p:nvGrpSpPr>
          <p:grpSpPr>
            <a:xfrm>
              <a:off x="4837176" y="1828800"/>
              <a:ext cx="2487168" cy="914400"/>
              <a:chOff x="4837176" y="1828800"/>
              <a:chExt cx="2487168" cy="914400"/>
            </a:xfrm>
          </p:grpSpPr>
          <p:sp>
            <p:nvSpPr>
              <p:cNvPr id="40" name="Rectangle 39"/>
              <p:cNvSpPr/>
              <p:nvPr/>
            </p:nvSpPr>
            <p:spPr>
              <a:xfrm>
                <a:off x="4837176" y="2176272"/>
                <a:ext cx="685800" cy="457200"/>
              </a:xfrm>
              <a:prstGeom prst="rect">
                <a:avLst/>
              </a:prstGeom>
              <a:solidFill>
                <a:srgbClr val="F28C28"/>
              </a:solidFill>
              <a:ln w="9525">
                <a:solidFill>
                  <a:srgbClr val="101418"/>
                </a:solidFill>
              </a:ln>
            </p:spPr>
            <p:txBody>
              <a:bodyPr rtlCol="0" anchor="ctr"/>
              <a:lstStyle/>
              <a:p>
                <a:pPr algn="ctr"/>
              </a:p>
            </p:txBody>
          </p:sp>
          <p:sp>
            <p:nvSpPr>
              <p:cNvPr id="41" name="Rectangle 40"/>
              <p:cNvSpPr/>
              <p:nvPr/>
            </p:nvSpPr>
            <p:spPr>
              <a:xfrm>
                <a:off x="4882896" y="2103120"/>
                <a:ext cx="594360" cy="91440"/>
              </a:xfrm>
              <a:prstGeom prst="rect">
                <a:avLst/>
              </a:prstGeom>
              <a:solidFill>
                <a:srgbClr val="1B1D21"/>
              </a:solidFill>
              <a:ln>
                <a:noFill/>
              </a:ln>
            </p:spPr>
            <p:txBody>
              <a:bodyPr rtlCol="0" anchor="ctr"/>
              <a:lstStyle/>
              <a:p>
                <a:pPr algn="ctr"/>
              </a:p>
            </p:txBody>
          </p:sp>
          <p:sp>
            <p:nvSpPr>
              <p:cNvPr id="42" name="Oval 41"/>
              <p:cNvSpPr/>
              <p:nvPr/>
            </p:nvSpPr>
            <p:spPr>
              <a:xfrm>
                <a:off x="4898898" y="2523744"/>
                <a:ext cx="219456" cy="219456"/>
              </a:xfrm>
              <a:prstGeom prst="ellipse">
                <a:avLst/>
              </a:prstGeom>
              <a:solidFill>
                <a:srgbClr val="1B1D21"/>
              </a:solidFill>
              <a:ln w="12700">
                <a:solidFill>
                  <a:srgbClr val="9AA0A6"/>
                </a:solidFill>
              </a:ln>
            </p:spPr>
            <p:txBody>
              <a:bodyPr rtlCol="0" anchor="ctr"/>
              <a:lstStyle/>
              <a:p>
                <a:pPr algn="ctr"/>
              </a:p>
            </p:txBody>
          </p:sp>
          <p:sp>
            <p:nvSpPr>
              <p:cNvPr id="43" name="Oval 42"/>
              <p:cNvSpPr/>
              <p:nvPr/>
            </p:nvSpPr>
            <p:spPr>
              <a:xfrm>
                <a:off x="5241798" y="2523744"/>
                <a:ext cx="219456" cy="219456"/>
              </a:xfrm>
              <a:prstGeom prst="ellipse">
                <a:avLst/>
              </a:prstGeom>
              <a:solidFill>
                <a:srgbClr val="1B1D21"/>
              </a:solidFill>
              <a:ln w="12700">
                <a:solidFill>
                  <a:srgbClr val="9AA0A6"/>
                </a:solidFill>
              </a:ln>
            </p:spPr>
            <p:txBody>
              <a:bodyPr rtlCol="0" anchor="ctr"/>
              <a:lstStyle/>
              <a:p>
                <a:pPr algn="ctr"/>
              </a:p>
            </p:txBody>
          </p:sp>
          <p:sp>
            <p:nvSpPr>
              <p:cNvPr id="44" name="Rectangle 43"/>
              <p:cNvSpPr/>
              <p:nvPr/>
            </p:nvSpPr>
            <p:spPr>
              <a:xfrm>
                <a:off x="5586984" y="1920240"/>
                <a:ext cx="457200" cy="713232"/>
              </a:xfrm>
              <a:prstGeom prst="rect">
                <a:avLst/>
              </a:prstGeom>
              <a:solidFill>
                <a:srgbClr val="F28C28"/>
              </a:solidFill>
              <a:ln w="9525">
                <a:solidFill>
                  <a:srgbClr val="101418"/>
                </a:solidFill>
              </a:ln>
            </p:spPr>
            <p:txBody>
              <a:bodyPr rtlCol="0" anchor="ctr"/>
              <a:lstStyle/>
              <a:p>
                <a:pPr algn="ctr"/>
              </a:p>
            </p:txBody>
          </p:sp>
          <p:sp>
            <p:nvSpPr>
              <p:cNvPr id="45" name="Rectangle 44"/>
              <p:cNvSpPr/>
              <p:nvPr/>
            </p:nvSpPr>
            <p:spPr>
              <a:xfrm>
                <a:off x="5678424" y="2011680"/>
                <a:ext cx="237744" cy="182880"/>
              </a:xfrm>
              <a:prstGeom prst="rect">
                <a:avLst/>
              </a:prstGeom>
              <a:solidFill>
                <a:srgbClr val="2B2F36"/>
              </a:solidFill>
              <a:ln>
                <a:noFill/>
              </a:ln>
            </p:spPr>
            <p:txBody>
              <a:bodyPr rtlCol="0" anchor="ctr"/>
              <a:lstStyle/>
              <a:p>
                <a:pPr algn="ctr"/>
              </a:p>
            </p:txBody>
          </p:sp>
          <p:sp>
            <p:nvSpPr>
              <p:cNvPr id="46" name="Rectangle 45"/>
              <p:cNvSpPr/>
              <p:nvPr/>
            </p:nvSpPr>
            <p:spPr>
              <a:xfrm>
                <a:off x="5550408" y="1865376"/>
                <a:ext cx="530352" cy="73152"/>
              </a:xfrm>
              <a:prstGeom prst="rect">
                <a:avLst/>
              </a:prstGeom>
              <a:solidFill>
                <a:srgbClr val="1B1D21"/>
              </a:solidFill>
              <a:ln>
                <a:noFill/>
              </a:ln>
            </p:spPr>
            <p:txBody>
              <a:bodyPr rtlCol="0" anchor="ctr"/>
              <a:lstStyle/>
              <a:p>
                <a:pPr algn="ctr"/>
              </a:p>
            </p:txBody>
          </p:sp>
          <p:sp>
            <p:nvSpPr>
              <p:cNvPr id="47" name="Rounded Rectangle 46"/>
              <p:cNvSpPr/>
              <p:nvPr/>
            </p:nvSpPr>
            <p:spPr>
              <a:xfrm>
                <a:off x="6044184" y="2066544"/>
                <a:ext cx="1280160" cy="420624"/>
              </a:xfrm>
              <a:prstGeom prst="roundRect">
                <a:avLst>
                  <a:gd name="adj" fmla="val 21739"/>
                </a:avLst>
              </a:prstGeom>
              <a:solidFill>
                <a:srgbClr val="F28C28"/>
              </a:solidFill>
              <a:ln w="9525">
                <a:solidFill>
                  <a:srgbClr val="101418"/>
                </a:solidFill>
              </a:ln>
            </p:spPr>
            <p:txBody>
              <a:bodyPr rtlCol="0" anchor="ctr"/>
              <a:lstStyle/>
              <a:p>
                <a:pPr algn="ctr"/>
              </a:p>
            </p:txBody>
          </p:sp>
          <p:sp>
            <p:nvSpPr>
              <p:cNvPr id="48" name="Rectangle 47"/>
              <p:cNvSpPr/>
              <p:nvPr/>
            </p:nvSpPr>
            <p:spPr>
              <a:xfrm>
                <a:off x="7050024" y="1828800"/>
                <a:ext cx="137160" cy="256032"/>
              </a:xfrm>
              <a:prstGeom prst="rect">
                <a:avLst/>
              </a:prstGeom>
              <a:solidFill>
                <a:srgbClr val="1B1D21"/>
              </a:solidFill>
              <a:ln>
                <a:noFill/>
              </a:ln>
            </p:spPr>
            <p:txBody>
              <a:bodyPr rtlCol="0" anchor="ctr"/>
              <a:lstStyle/>
              <a:p>
                <a:pPr algn="ctr"/>
              </a:p>
            </p:txBody>
          </p:sp>
          <p:sp>
            <p:nvSpPr>
              <p:cNvPr id="49" name="Rectangle 48"/>
              <p:cNvSpPr/>
              <p:nvPr/>
            </p:nvSpPr>
            <p:spPr>
              <a:xfrm>
                <a:off x="5586984" y="2468880"/>
                <a:ext cx="1737360" cy="64008"/>
              </a:xfrm>
              <a:prstGeom prst="rect">
                <a:avLst/>
              </a:prstGeom>
              <a:solidFill>
                <a:srgbClr val="1B1D21"/>
              </a:solidFill>
              <a:ln>
                <a:noFill/>
              </a:ln>
            </p:spPr>
            <p:txBody>
              <a:bodyPr rtlCol="0" anchor="ctr"/>
              <a:lstStyle/>
              <a:p>
                <a:pPr algn="ctr"/>
              </a:p>
            </p:txBody>
          </p:sp>
          <p:sp>
            <p:nvSpPr>
              <p:cNvPr id="50" name="Oval 49"/>
              <p:cNvSpPr/>
              <p:nvPr/>
            </p:nvSpPr>
            <p:spPr>
              <a:xfrm>
                <a:off x="5641848" y="2487168"/>
                <a:ext cx="256032" cy="256032"/>
              </a:xfrm>
              <a:prstGeom prst="ellipse">
                <a:avLst/>
              </a:prstGeom>
              <a:solidFill>
                <a:srgbClr val="1B1D21"/>
              </a:solidFill>
              <a:ln w="15875">
                <a:solidFill>
                  <a:srgbClr val="9AA0A6"/>
                </a:solidFill>
              </a:ln>
            </p:spPr>
            <p:txBody>
              <a:bodyPr rtlCol="0" anchor="ctr"/>
              <a:lstStyle/>
              <a:p>
                <a:pPr algn="ctr"/>
              </a:p>
            </p:txBody>
          </p:sp>
          <p:sp>
            <p:nvSpPr>
              <p:cNvPr id="51" name="Oval 50"/>
              <p:cNvSpPr/>
              <p:nvPr/>
            </p:nvSpPr>
            <p:spPr>
              <a:xfrm>
                <a:off x="6099048" y="2487168"/>
                <a:ext cx="256032" cy="256032"/>
              </a:xfrm>
              <a:prstGeom prst="ellipse">
                <a:avLst/>
              </a:prstGeom>
              <a:solidFill>
                <a:srgbClr val="1B1D21"/>
              </a:solidFill>
              <a:ln w="15875">
                <a:solidFill>
                  <a:srgbClr val="9AA0A6"/>
                </a:solidFill>
              </a:ln>
            </p:spPr>
            <p:txBody>
              <a:bodyPr rtlCol="0" anchor="ctr"/>
              <a:lstStyle/>
              <a:p>
                <a:pPr algn="ctr"/>
              </a:p>
            </p:txBody>
          </p:sp>
          <p:sp>
            <p:nvSpPr>
              <p:cNvPr id="52" name="Oval 51"/>
              <p:cNvSpPr/>
              <p:nvPr/>
            </p:nvSpPr>
            <p:spPr>
              <a:xfrm>
                <a:off x="6556248" y="2487168"/>
                <a:ext cx="256032" cy="256032"/>
              </a:xfrm>
              <a:prstGeom prst="ellipse">
                <a:avLst/>
              </a:prstGeom>
              <a:solidFill>
                <a:srgbClr val="1B1D21"/>
              </a:solidFill>
              <a:ln w="15875">
                <a:solidFill>
                  <a:srgbClr val="9AA0A6"/>
                </a:solidFill>
              </a:ln>
            </p:spPr>
            <p:txBody>
              <a:bodyPr rtlCol="0" anchor="ctr"/>
              <a:lstStyle/>
              <a:p>
                <a:pPr algn="ctr"/>
              </a:p>
            </p:txBody>
          </p:sp>
          <p:sp>
            <p:nvSpPr>
              <p:cNvPr id="53" name="Oval 52"/>
              <p:cNvSpPr/>
              <p:nvPr/>
            </p:nvSpPr>
            <p:spPr>
              <a:xfrm>
                <a:off x="7013448" y="2487168"/>
                <a:ext cx="256032" cy="256032"/>
              </a:xfrm>
              <a:prstGeom prst="ellipse">
                <a:avLst/>
              </a:prstGeom>
              <a:solidFill>
                <a:srgbClr val="1B1D21"/>
              </a:solidFill>
              <a:ln w="15875">
                <a:solidFill>
                  <a:srgbClr val="9AA0A6"/>
                </a:solidFill>
              </a:ln>
            </p:spPr>
            <p:txBody>
              <a:bodyPr rtlCol="0" anchor="ctr"/>
              <a:lstStyle/>
              <a:p>
                <a:pPr algn="ctr"/>
              </a:p>
            </p:txBody>
          </p:sp>
        </p:grpSp>
        <p:sp>
          <p:nvSpPr>
            <p:cNvPr id="54" name="TextBox 53"/>
            <p:cNvSpPr txBox="1"/>
            <p:nvPr/>
          </p:nvSpPr>
          <p:spPr>
            <a:xfrm>
              <a:off x="4572000" y="28529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Haul</a:t>
              </a:r>
            </a:p>
          </p:txBody>
        </p:sp>
        <p:sp>
          <p:nvSpPr>
            <p:cNvPr id="55" name="Rounded Rectangle 54"/>
            <p:cNvSpPr/>
            <p:nvPr/>
          </p:nvSpPr>
          <p:spPr>
            <a:xfrm>
              <a:off x="4572000" y="3090672"/>
              <a:ext cx="3017520" cy="146304"/>
            </a:xfrm>
            <a:prstGeom prst="roundRect">
              <a:avLst>
                <a:gd name="adj" fmla="val 25000"/>
              </a:avLst>
            </a:prstGeom>
            <a:solidFill>
              <a:srgbClr val="343A43"/>
            </a:solidFill>
            <a:ln>
              <a:noFill/>
            </a:ln>
          </p:spPr>
          <p:txBody>
            <a:bodyPr rtlCol="0" anchor="ctr"/>
            <a:lstStyle/>
            <a:p>
              <a:pPr algn="ctr"/>
            </a:p>
          </p:txBody>
        </p:sp>
        <p:sp>
          <p:nvSpPr>
            <p:cNvPr id="56" name="Rounded Rectangle 55"/>
            <p:cNvSpPr/>
            <p:nvPr/>
          </p:nvSpPr>
          <p:spPr>
            <a:xfrm>
              <a:off x="4572000" y="3090672"/>
              <a:ext cx="1659636" cy="146304"/>
            </a:xfrm>
            <a:prstGeom prst="roundRect">
              <a:avLst>
                <a:gd name="adj" fmla="val 25000"/>
              </a:avLst>
            </a:prstGeom>
            <a:solidFill>
              <a:srgbClr val="F28C28"/>
            </a:solidFill>
            <a:ln>
              <a:noFill/>
            </a:ln>
          </p:spPr>
          <p:txBody>
            <a:bodyPr rtlCol="0" anchor="ctr"/>
            <a:lstStyle/>
            <a:p>
              <a:pPr algn="ctr"/>
            </a:p>
          </p:txBody>
        </p:sp>
        <p:sp>
          <p:nvSpPr>
            <p:cNvPr id="57" name="TextBox 56"/>
            <p:cNvSpPr txBox="1"/>
            <p:nvPr/>
          </p:nvSpPr>
          <p:spPr>
            <a:xfrm>
              <a:off x="4572000" y="33101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Speed</a:t>
              </a:r>
            </a:p>
          </p:txBody>
        </p:sp>
        <p:sp>
          <p:nvSpPr>
            <p:cNvPr id="58" name="Rounded Rectangle 57"/>
            <p:cNvSpPr/>
            <p:nvPr/>
          </p:nvSpPr>
          <p:spPr>
            <a:xfrm>
              <a:off x="4572000" y="3547872"/>
              <a:ext cx="3017520" cy="146304"/>
            </a:xfrm>
            <a:prstGeom prst="roundRect">
              <a:avLst>
                <a:gd name="adj" fmla="val 25000"/>
              </a:avLst>
            </a:prstGeom>
            <a:solidFill>
              <a:srgbClr val="343A43"/>
            </a:solidFill>
            <a:ln>
              <a:noFill/>
            </a:ln>
          </p:spPr>
          <p:txBody>
            <a:bodyPr rtlCol="0" anchor="ctr"/>
            <a:lstStyle/>
            <a:p>
              <a:pPr algn="ctr"/>
            </a:p>
          </p:txBody>
        </p:sp>
        <p:sp>
          <p:nvSpPr>
            <p:cNvPr id="59" name="Rounded Rectangle 58"/>
            <p:cNvSpPr/>
            <p:nvPr/>
          </p:nvSpPr>
          <p:spPr>
            <a:xfrm>
              <a:off x="4572000" y="3547872"/>
              <a:ext cx="2414016" cy="146304"/>
            </a:xfrm>
            <a:prstGeom prst="roundRect">
              <a:avLst>
                <a:gd name="adj" fmla="val 25000"/>
              </a:avLst>
            </a:prstGeom>
            <a:pattFill prst="wdUpDiag">
              <a:fgClr>
                <a:srgbClr val="F28C28"/>
              </a:fgClr>
              <a:bgClr>
                <a:srgbClr val="343A43"/>
              </a:bgClr>
            </a:pattFill>
            <a:ln w="12700">
              <a:solidFill>
                <a:srgbClr val="F28C28"/>
              </a:solidFill>
            </a:ln>
          </p:spPr>
          <p:txBody>
            <a:bodyPr rtlCol="0" anchor="ctr"/>
            <a:lstStyle/>
            <a:p>
              <a:pPr algn="ctr"/>
            </a:p>
          </p:txBody>
        </p:sp>
        <p:sp>
          <p:nvSpPr>
            <p:cNvPr id="60" name="Inline chip Undecided"/>
            <p:cNvSpPr/>
            <p:nvPr/>
          </p:nvSpPr>
          <p:spPr>
            <a:xfrm>
              <a:off x="5214134" y="3282696"/>
              <a:ext cx="2375386" cy="23774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FASTEST? UNDECIDED</a:t>
              </a:r>
            </a:p>
          </p:txBody>
        </p:sp>
        <p:sp>
          <p:nvSpPr>
            <p:cNvPr id="61" name="TextBox 60"/>
            <p:cNvSpPr txBox="1"/>
            <p:nvPr/>
          </p:nvSpPr>
          <p:spPr>
            <a:xfrm>
              <a:off x="4572000" y="37673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Range</a:t>
              </a:r>
            </a:p>
          </p:txBody>
        </p:sp>
        <p:sp>
          <p:nvSpPr>
            <p:cNvPr id="62" name="Rounded Rectangle 61"/>
            <p:cNvSpPr/>
            <p:nvPr/>
          </p:nvSpPr>
          <p:spPr>
            <a:xfrm>
              <a:off x="4572000" y="4005072"/>
              <a:ext cx="3017520" cy="146304"/>
            </a:xfrm>
            <a:prstGeom prst="roundRect">
              <a:avLst>
                <a:gd name="adj" fmla="val 25000"/>
              </a:avLst>
            </a:prstGeom>
            <a:solidFill>
              <a:srgbClr val="343A43"/>
            </a:solidFill>
            <a:ln>
              <a:noFill/>
            </a:ln>
          </p:spPr>
          <p:txBody>
            <a:bodyPr rtlCol="0" anchor="ctr"/>
            <a:lstStyle/>
            <a:p>
              <a:pPr algn="ctr"/>
            </a:p>
          </p:txBody>
        </p:sp>
        <p:sp>
          <p:nvSpPr>
            <p:cNvPr id="63" name="Rounded Rectangle 62"/>
            <p:cNvSpPr/>
            <p:nvPr/>
          </p:nvSpPr>
          <p:spPr>
            <a:xfrm>
              <a:off x="4572000" y="4005072"/>
              <a:ext cx="2112264" cy="146304"/>
            </a:xfrm>
            <a:prstGeom prst="roundRect">
              <a:avLst>
                <a:gd name="adj" fmla="val 25000"/>
              </a:avLst>
            </a:prstGeom>
            <a:solidFill>
              <a:srgbClr val="F28C28"/>
            </a:solidFill>
            <a:ln>
              <a:noFill/>
            </a:ln>
          </p:spPr>
          <p:txBody>
            <a:bodyPr rtlCol="0" anchor="ctr"/>
            <a:lstStyle/>
            <a:p>
              <a:pPr algn="ctr"/>
            </a:p>
          </p:txBody>
        </p:sp>
        <p:sp>
          <p:nvSpPr>
            <p:cNvPr id="64" name="TextBox 63"/>
            <p:cNvSpPr txBox="1"/>
            <p:nvPr/>
          </p:nvSpPr>
          <p:spPr>
            <a:xfrm>
              <a:off x="4572000" y="42245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Servicing needs</a:t>
              </a:r>
            </a:p>
          </p:txBody>
        </p:sp>
        <p:sp>
          <p:nvSpPr>
            <p:cNvPr id="65" name="Rounded Rectangle 64"/>
            <p:cNvSpPr/>
            <p:nvPr/>
          </p:nvSpPr>
          <p:spPr>
            <a:xfrm>
              <a:off x="4572000" y="4462272"/>
              <a:ext cx="3017520" cy="146304"/>
            </a:xfrm>
            <a:prstGeom prst="roundRect">
              <a:avLst>
                <a:gd name="adj" fmla="val 25000"/>
              </a:avLst>
            </a:prstGeom>
            <a:solidFill>
              <a:srgbClr val="343A43"/>
            </a:solidFill>
            <a:ln>
              <a:noFill/>
            </a:ln>
          </p:spPr>
          <p:txBody>
            <a:bodyPr rtlCol="0" anchor="ctr"/>
            <a:lstStyle/>
            <a:p>
              <a:pPr algn="ctr"/>
            </a:p>
          </p:txBody>
        </p:sp>
        <p:sp>
          <p:nvSpPr>
            <p:cNvPr id="66" name="Rounded Rectangle 65"/>
            <p:cNvSpPr/>
            <p:nvPr/>
          </p:nvSpPr>
          <p:spPr>
            <a:xfrm>
              <a:off x="4572000" y="4462272"/>
              <a:ext cx="1961388" cy="146304"/>
            </a:xfrm>
            <a:prstGeom prst="roundRect">
              <a:avLst>
                <a:gd name="adj" fmla="val 25000"/>
              </a:avLst>
            </a:prstGeom>
            <a:solidFill>
              <a:srgbClr val="F28C28"/>
            </a:solidFill>
            <a:ln>
              <a:noFill/>
            </a:ln>
          </p:spPr>
          <p:txBody>
            <a:bodyPr rtlCol="0" anchor="ctr"/>
            <a:lstStyle/>
            <a:p>
              <a:pPr algn="ctr"/>
            </a:p>
          </p:txBody>
        </p:sp>
        <p:sp>
          <p:nvSpPr>
            <p:cNvPr id="67" name="TextBox 66"/>
            <p:cNvSpPr txBox="1"/>
            <p:nvPr/>
          </p:nvSpPr>
          <p:spPr>
            <a:xfrm>
              <a:off x="4572000" y="4709160"/>
              <a:ext cx="3017520" cy="384048"/>
            </a:xfrm>
            <a:prstGeom prst="rect">
              <a:avLst/>
            </a:prstGeom>
            <a:noFill/>
          </p:spPr>
          <p:txBody>
            <a:bodyPr wrap="square" lIns="0" tIns="0" rIns="0" bIns="0" anchor="ctr">
              <a:noAutofit/>
            </a:bodyPr>
            <a:lstStyle/>
            <a:p>
              <a:pPr algn="l"/>
              <a:r>
                <a:rPr sz="1800" b="1" i="0" lang="en-GB">
                  <a:solidFill>
                    <a:srgbClr val="F2F2F2"/>
                  </a:solidFill>
                  <a:latin typeface="Arial"/>
                </a:rPr>
                <a:t>Fast mixed freight</a:t>
              </a:r>
            </a:p>
          </p:txBody>
        </p:sp>
      </p:grpSp>
      <p:grpSp>
        <p:nvGrpSpPr>
          <p:cNvPr id="68" name="Large card" descr="Large locomotive card. Qualitative bars: haul high, speed medium, range high, servicing needs high. Best for: heavy freight."/>
          <p:cNvGrpSpPr/>
          <p:nvPr/>
        </p:nvGrpSpPr>
        <p:grpSpPr>
          <a:xfrm>
            <a:off x="8138160" y="1325880"/>
            <a:ext cx="3474720" cy="3886200"/>
            <a:chOff x="8138160" y="1325880"/>
            <a:chExt cx="3474720" cy="3886200"/>
          </a:xfrm>
        </p:grpSpPr>
        <p:sp>
          <p:nvSpPr>
            <p:cNvPr id="69" name="Rounded Rectangle 68"/>
            <p:cNvSpPr/>
            <p:nvPr/>
          </p:nvSpPr>
          <p:spPr>
            <a:xfrm>
              <a:off x="8138160" y="1325880"/>
              <a:ext cx="3474720" cy="3886200"/>
            </a:xfrm>
            <a:prstGeom prst="roundRect">
              <a:avLst>
                <a:gd name="adj" fmla="val 2631"/>
              </a:avLst>
            </a:prstGeom>
            <a:solidFill>
              <a:srgbClr val="2B2F36"/>
            </a:solidFill>
            <a:ln>
              <a:noFill/>
            </a:ln>
          </p:spPr>
          <p:txBody>
            <a:bodyPr rtlCol="0" anchor="ctr"/>
            <a:lstStyle/>
            <a:p>
              <a:pPr algn="ctr"/>
            </a:p>
          </p:txBody>
        </p:sp>
        <p:sp>
          <p:nvSpPr>
            <p:cNvPr id="70" name="Rectangle 69"/>
            <p:cNvSpPr/>
            <p:nvPr/>
          </p:nvSpPr>
          <p:spPr>
            <a:xfrm>
              <a:off x="8138160" y="1600200"/>
              <a:ext cx="3474720" cy="182880"/>
            </a:xfrm>
            <a:prstGeom prst="rect">
              <a:avLst/>
            </a:prstGeom>
            <a:solidFill>
              <a:srgbClr val="F28C28"/>
            </a:solidFill>
            <a:ln>
              <a:noFill/>
            </a:ln>
          </p:spPr>
          <p:txBody>
            <a:bodyPr rtlCol="0" anchor="ctr"/>
            <a:lstStyle/>
            <a:p>
              <a:pPr algn="ctr"/>
            </a:p>
          </p:txBody>
        </p:sp>
        <p:sp>
          <p:nvSpPr>
            <p:cNvPr id="71" name="Rounded Rectangle 70"/>
            <p:cNvSpPr/>
            <p:nvPr/>
          </p:nvSpPr>
          <p:spPr>
            <a:xfrm>
              <a:off x="8138160" y="1325880"/>
              <a:ext cx="3474720" cy="457200"/>
            </a:xfrm>
            <a:prstGeom prst="roundRect">
              <a:avLst>
                <a:gd name="adj" fmla="val 20000"/>
              </a:avLst>
            </a:prstGeom>
            <a:solidFill>
              <a:srgbClr val="F28C28"/>
            </a:solidFill>
            <a:ln>
              <a:noFill/>
            </a:ln>
          </p:spPr>
          <p:txBody>
            <a:bodyPr rtlCol="0" anchor="ctr" wrap="square" lIns="73152" tIns="36576" rIns="73152" bIns="36576">
              <a:noAutofit/>
            </a:bodyPr>
            <a:lstStyle/>
            <a:p>
              <a:pPr algn="ctr"/>
              <a:r>
                <a:rPr sz="2000" b="1" i="0" lang="en-GB">
                  <a:solidFill>
                    <a:srgbClr val="101418"/>
                  </a:solidFill>
                  <a:latin typeface="Arial"/>
                </a:rPr>
                <a:t>Large</a:t>
              </a:r>
            </a:p>
          </p:txBody>
        </p:sp>
        <p:grpSp>
          <p:nvGrpSpPr>
            <p:cNvPr id="72" name="Large engine" descr="Side view of the large steam engine with its tender."/>
            <p:cNvGrpSpPr/>
            <p:nvPr/>
          </p:nvGrpSpPr>
          <p:grpSpPr>
            <a:xfrm>
              <a:off x="8471916" y="1828800"/>
              <a:ext cx="2807208" cy="914400"/>
              <a:chOff x="8471916" y="1828800"/>
              <a:chExt cx="2807208" cy="914400"/>
            </a:xfrm>
          </p:grpSpPr>
          <p:sp>
            <p:nvSpPr>
              <p:cNvPr id="73" name="Rectangle 72"/>
              <p:cNvSpPr/>
              <p:nvPr/>
            </p:nvSpPr>
            <p:spPr>
              <a:xfrm>
                <a:off x="8471916" y="2176272"/>
                <a:ext cx="777240" cy="457200"/>
              </a:xfrm>
              <a:prstGeom prst="rect">
                <a:avLst/>
              </a:prstGeom>
              <a:solidFill>
                <a:srgbClr val="F28C28"/>
              </a:solidFill>
              <a:ln w="9525">
                <a:solidFill>
                  <a:srgbClr val="101418"/>
                </a:solidFill>
              </a:ln>
            </p:spPr>
            <p:txBody>
              <a:bodyPr rtlCol="0" anchor="ctr"/>
              <a:lstStyle/>
              <a:p>
                <a:pPr algn="ctr"/>
              </a:p>
            </p:txBody>
          </p:sp>
          <p:sp>
            <p:nvSpPr>
              <p:cNvPr id="74" name="Rectangle 73"/>
              <p:cNvSpPr/>
              <p:nvPr/>
            </p:nvSpPr>
            <p:spPr>
              <a:xfrm>
                <a:off x="8517636" y="2103120"/>
                <a:ext cx="685800" cy="91440"/>
              </a:xfrm>
              <a:prstGeom prst="rect">
                <a:avLst/>
              </a:prstGeom>
              <a:solidFill>
                <a:srgbClr val="1B1D21"/>
              </a:solidFill>
              <a:ln>
                <a:noFill/>
              </a:ln>
            </p:spPr>
            <p:txBody>
              <a:bodyPr rtlCol="0" anchor="ctr"/>
              <a:lstStyle/>
              <a:p>
                <a:pPr algn="ctr"/>
              </a:p>
            </p:txBody>
          </p:sp>
          <p:sp>
            <p:nvSpPr>
              <p:cNvPr id="75" name="Oval 74"/>
              <p:cNvSpPr/>
              <p:nvPr/>
            </p:nvSpPr>
            <p:spPr>
              <a:xfrm>
                <a:off x="8556498" y="2523744"/>
                <a:ext cx="219456" cy="219456"/>
              </a:xfrm>
              <a:prstGeom prst="ellipse">
                <a:avLst/>
              </a:prstGeom>
              <a:solidFill>
                <a:srgbClr val="1B1D21"/>
              </a:solidFill>
              <a:ln w="12700">
                <a:solidFill>
                  <a:srgbClr val="9AA0A6"/>
                </a:solidFill>
              </a:ln>
            </p:spPr>
            <p:txBody>
              <a:bodyPr rtlCol="0" anchor="ctr"/>
              <a:lstStyle/>
              <a:p>
                <a:pPr algn="ctr"/>
              </a:p>
            </p:txBody>
          </p:sp>
          <p:sp>
            <p:nvSpPr>
              <p:cNvPr id="76" name="Oval 75"/>
              <p:cNvSpPr/>
              <p:nvPr/>
            </p:nvSpPr>
            <p:spPr>
              <a:xfrm>
                <a:off x="8945118" y="2523744"/>
                <a:ext cx="219456" cy="219456"/>
              </a:xfrm>
              <a:prstGeom prst="ellipse">
                <a:avLst/>
              </a:prstGeom>
              <a:solidFill>
                <a:srgbClr val="1B1D21"/>
              </a:solidFill>
              <a:ln w="12700">
                <a:solidFill>
                  <a:srgbClr val="9AA0A6"/>
                </a:solidFill>
              </a:ln>
            </p:spPr>
            <p:txBody>
              <a:bodyPr rtlCol="0" anchor="ctr"/>
              <a:lstStyle/>
              <a:p>
                <a:pPr algn="ctr"/>
              </a:p>
            </p:txBody>
          </p:sp>
          <p:sp>
            <p:nvSpPr>
              <p:cNvPr id="77" name="Rectangle 76"/>
              <p:cNvSpPr/>
              <p:nvPr/>
            </p:nvSpPr>
            <p:spPr>
              <a:xfrm>
                <a:off x="9313164" y="1920240"/>
                <a:ext cx="457200" cy="713232"/>
              </a:xfrm>
              <a:prstGeom prst="rect">
                <a:avLst/>
              </a:prstGeom>
              <a:solidFill>
                <a:srgbClr val="F28C28"/>
              </a:solidFill>
              <a:ln w="9525">
                <a:solidFill>
                  <a:srgbClr val="101418"/>
                </a:solidFill>
              </a:ln>
            </p:spPr>
            <p:txBody>
              <a:bodyPr rtlCol="0" anchor="ctr"/>
              <a:lstStyle/>
              <a:p>
                <a:pPr algn="ctr"/>
              </a:p>
            </p:txBody>
          </p:sp>
          <p:sp>
            <p:nvSpPr>
              <p:cNvPr id="78" name="Rectangle 77"/>
              <p:cNvSpPr/>
              <p:nvPr/>
            </p:nvSpPr>
            <p:spPr>
              <a:xfrm>
                <a:off x="9404604" y="2011680"/>
                <a:ext cx="237744" cy="182880"/>
              </a:xfrm>
              <a:prstGeom prst="rect">
                <a:avLst/>
              </a:prstGeom>
              <a:solidFill>
                <a:srgbClr val="2B2F36"/>
              </a:solidFill>
              <a:ln>
                <a:noFill/>
              </a:ln>
            </p:spPr>
            <p:txBody>
              <a:bodyPr rtlCol="0" anchor="ctr"/>
              <a:lstStyle/>
              <a:p>
                <a:pPr algn="ctr"/>
              </a:p>
            </p:txBody>
          </p:sp>
          <p:sp>
            <p:nvSpPr>
              <p:cNvPr id="79" name="Rectangle 78"/>
              <p:cNvSpPr/>
              <p:nvPr/>
            </p:nvSpPr>
            <p:spPr>
              <a:xfrm>
                <a:off x="9276588" y="1865376"/>
                <a:ext cx="530352" cy="73152"/>
              </a:xfrm>
              <a:prstGeom prst="rect">
                <a:avLst/>
              </a:prstGeom>
              <a:solidFill>
                <a:srgbClr val="1B1D21"/>
              </a:solidFill>
              <a:ln>
                <a:noFill/>
              </a:ln>
            </p:spPr>
            <p:txBody>
              <a:bodyPr rtlCol="0" anchor="ctr"/>
              <a:lstStyle/>
              <a:p>
                <a:pPr algn="ctr"/>
              </a:p>
            </p:txBody>
          </p:sp>
          <p:sp>
            <p:nvSpPr>
              <p:cNvPr id="80" name="Rounded Rectangle 79"/>
              <p:cNvSpPr/>
              <p:nvPr/>
            </p:nvSpPr>
            <p:spPr>
              <a:xfrm>
                <a:off x="9770364" y="2066544"/>
                <a:ext cx="1508760" cy="420624"/>
              </a:xfrm>
              <a:prstGeom prst="roundRect">
                <a:avLst>
                  <a:gd name="adj" fmla="val 21739"/>
                </a:avLst>
              </a:prstGeom>
              <a:solidFill>
                <a:srgbClr val="F28C28"/>
              </a:solidFill>
              <a:ln w="9525">
                <a:solidFill>
                  <a:srgbClr val="101418"/>
                </a:solidFill>
              </a:ln>
            </p:spPr>
            <p:txBody>
              <a:bodyPr rtlCol="0" anchor="ctr"/>
              <a:lstStyle/>
              <a:p>
                <a:pPr algn="ctr"/>
              </a:p>
            </p:txBody>
          </p:sp>
          <p:sp>
            <p:nvSpPr>
              <p:cNvPr id="81" name="Rectangle 80"/>
              <p:cNvSpPr/>
              <p:nvPr/>
            </p:nvSpPr>
            <p:spPr>
              <a:xfrm>
                <a:off x="11004804" y="1828800"/>
                <a:ext cx="137160" cy="256032"/>
              </a:xfrm>
              <a:prstGeom prst="rect">
                <a:avLst/>
              </a:prstGeom>
              <a:solidFill>
                <a:srgbClr val="1B1D21"/>
              </a:solidFill>
              <a:ln>
                <a:noFill/>
              </a:ln>
            </p:spPr>
            <p:txBody>
              <a:bodyPr rtlCol="0" anchor="ctr"/>
              <a:lstStyle/>
              <a:p>
                <a:pPr algn="ctr"/>
              </a:p>
            </p:txBody>
          </p:sp>
          <p:sp>
            <p:nvSpPr>
              <p:cNvPr id="82" name="Rectangle 81"/>
              <p:cNvSpPr/>
              <p:nvPr/>
            </p:nvSpPr>
            <p:spPr>
              <a:xfrm>
                <a:off x="9313164" y="2468880"/>
                <a:ext cx="1965960" cy="64008"/>
              </a:xfrm>
              <a:prstGeom prst="rect">
                <a:avLst/>
              </a:prstGeom>
              <a:solidFill>
                <a:srgbClr val="1B1D21"/>
              </a:solidFill>
              <a:ln>
                <a:noFill/>
              </a:ln>
            </p:spPr>
            <p:txBody>
              <a:bodyPr rtlCol="0" anchor="ctr"/>
              <a:lstStyle/>
              <a:p>
                <a:pPr algn="ctr"/>
              </a:p>
            </p:txBody>
          </p:sp>
          <p:sp>
            <p:nvSpPr>
              <p:cNvPr id="83" name="Oval 82"/>
              <p:cNvSpPr/>
              <p:nvPr/>
            </p:nvSpPr>
            <p:spPr>
              <a:xfrm>
                <a:off x="9368028" y="2487168"/>
                <a:ext cx="256032" cy="256032"/>
              </a:xfrm>
              <a:prstGeom prst="ellipse">
                <a:avLst/>
              </a:prstGeom>
              <a:solidFill>
                <a:srgbClr val="1B1D21"/>
              </a:solidFill>
              <a:ln w="15875">
                <a:solidFill>
                  <a:srgbClr val="9AA0A6"/>
                </a:solidFill>
              </a:ln>
            </p:spPr>
            <p:txBody>
              <a:bodyPr rtlCol="0" anchor="ctr"/>
              <a:lstStyle/>
              <a:p>
                <a:pPr algn="ctr"/>
              </a:p>
            </p:txBody>
          </p:sp>
          <p:sp>
            <p:nvSpPr>
              <p:cNvPr id="84" name="Oval 83"/>
              <p:cNvSpPr/>
              <p:nvPr/>
            </p:nvSpPr>
            <p:spPr>
              <a:xfrm>
                <a:off x="9768078" y="2487168"/>
                <a:ext cx="256032" cy="256032"/>
              </a:xfrm>
              <a:prstGeom prst="ellipse">
                <a:avLst/>
              </a:prstGeom>
              <a:solidFill>
                <a:srgbClr val="1B1D21"/>
              </a:solidFill>
              <a:ln w="15875">
                <a:solidFill>
                  <a:srgbClr val="9AA0A6"/>
                </a:solidFill>
              </a:ln>
            </p:spPr>
            <p:txBody>
              <a:bodyPr rtlCol="0" anchor="ctr"/>
              <a:lstStyle/>
              <a:p>
                <a:pPr algn="ctr"/>
              </a:p>
            </p:txBody>
          </p:sp>
          <p:sp>
            <p:nvSpPr>
              <p:cNvPr id="85" name="Oval 84"/>
              <p:cNvSpPr/>
              <p:nvPr/>
            </p:nvSpPr>
            <p:spPr>
              <a:xfrm>
                <a:off x="10168128" y="2487168"/>
                <a:ext cx="256032" cy="256032"/>
              </a:xfrm>
              <a:prstGeom prst="ellipse">
                <a:avLst/>
              </a:prstGeom>
              <a:solidFill>
                <a:srgbClr val="1B1D21"/>
              </a:solidFill>
              <a:ln w="15875">
                <a:solidFill>
                  <a:srgbClr val="9AA0A6"/>
                </a:solidFill>
              </a:ln>
            </p:spPr>
            <p:txBody>
              <a:bodyPr rtlCol="0" anchor="ctr"/>
              <a:lstStyle/>
              <a:p>
                <a:pPr algn="ctr"/>
              </a:p>
            </p:txBody>
          </p:sp>
          <p:sp>
            <p:nvSpPr>
              <p:cNvPr id="86" name="Oval 85"/>
              <p:cNvSpPr/>
              <p:nvPr/>
            </p:nvSpPr>
            <p:spPr>
              <a:xfrm>
                <a:off x="10568178" y="2487168"/>
                <a:ext cx="256032" cy="256032"/>
              </a:xfrm>
              <a:prstGeom prst="ellipse">
                <a:avLst/>
              </a:prstGeom>
              <a:solidFill>
                <a:srgbClr val="1B1D21"/>
              </a:solidFill>
              <a:ln w="15875">
                <a:solidFill>
                  <a:srgbClr val="9AA0A6"/>
                </a:solidFill>
              </a:ln>
            </p:spPr>
            <p:txBody>
              <a:bodyPr rtlCol="0" anchor="ctr"/>
              <a:lstStyle/>
              <a:p>
                <a:pPr algn="ctr"/>
              </a:p>
            </p:txBody>
          </p:sp>
          <p:sp>
            <p:nvSpPr>
              <p:cNvPr id="87" name="Oval 86"/>
              <p:cNvSpPr/>
              <p:nvPr/>
            </p:nvSpPr>
            <p:spPr>
              <a:xfrm>
                <a:off x="10968228" y="2487168"/>
                <a:ext cx="256032" cy="256032"/>
              </a:xfrm>
              <a:prstGeom prst="ellipse">
                <a:avLst/>
              </a:prstGeom>
              <a:solidFill>
                <a:srgbClr val="1B1D21"/>
              </a:solidFill>
              <a:ln w="15875">
                <a:solidFill>
                  <a:srgbClr val="9AA0A6"/>
                </a:solidFill>
              </a:ln>
            </p:spPr>
            <p:txBody>
              <a:bodyPr rtlCol="0" anchor="ctr"/>
              <a:lstStyle/>
              <a:p>
                <a:pPr algn="ctr"/>
              </a:p>
            </p:txBody>
          </p:sp>
        </p:grpSp>
        <p:sp>
          <p:nvSpPr>
            <p:cNvPr id="88" name="TextBox 87"/>
            <p:cNvSpPr txBox="1"/>
            <p:nvPr/>
          </p:nvSpPr>
          <p:spPr>
            <a:xfrm>
              <a:off x="8366760" y="28529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Haul</a:t>
              </a:r>
            </a:p>
          </p:txBody>
        </p:sp>
        <p:sp>
          <p:nvSpPr>
            <p:cNvPr id="89" name="Rounded Rectangle 88"/>
            <p:cNvSpPr/>
            <p:nvPr/>
          </p:nvSpPr>
          <p:spPr>
            <a:xfrm>
              <a:off x="8366760" y="3090672"/>
              <a:ext cx="3017520" cy="146304"/>
            </a:xfrm>
            <a:prstGeom prst="roundRect">
              <a:avLst>
                <a:gd name="adj" fmla="val 25000"/>
              </a:avLst>
            </a:prstGeom>
            <a:solidFill>
              <a:srgbClr val="343A43"/>
            </a:solidFill>
            <a:ln>
              <a:noFill/>
            </a:ln>
          </p:spPr>
          <p:txBody>
            <a:bodyPr rtlCol="0" anchor="ctr"/>
            <a:lstStyle/>
            <a:p>
              <a:pPr algn="ctr"/>
            </a:p>
          </p:txBody>
        </p:sp>
        <p:sp>
          <p:nvSpPr>
            <p:cNvPr id="90" name="Rounded Rectangle 89"/>
            <p:cNvSpPr/>
            <p:nvPr/>
          </p:nvSpPr>
          <p:spPr>
            <a:xfrm>
              <a:off x="8366760" y="3090672"/>
              <a:ext cx="2866644" cy="146304"/>
            </a:xfrm>
            <a:prstGeom prst="roundRect">
              <a:avLst>
                <a:gd name="adj" fmla="val 25000"/>
              </a:avLst>
            </a:prstGeom>
            <a:solidFill>
              <a:srgbClr val="F28C28"/>
            </a:solidFill>
            <a:ln>
              <a:noFill/>
            </a:ln>
          </p:spPr>
          <p:txBody>
            <a:bodyPr rtlCol="0" anchor="ctr"/>
            <a:lstStyle/>
            <a:p>
              <a:pPr algn="ctr"/>
            </a:p>
          </p:txBody>
        </p:sp>
        <p:sp>
          <p:nvSpPr>
            <p:cNvPr id="91" name="TextBox 90"/>
            <p:cNvSpPr txBox="1"/>
            <p:nvPr/>
          </p:nvSpPr>
          <p:spPr>
            <a:xfrm>
              <a:off x="8366760" y="33101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Speed</a:t>
              </a:r>
            </a:p>
          </p:txBody>
        </p:sp>
        <p:sp>
          <p:nvSpPr>
            <p:cNvPr id="92" name="Rounded Rectangle 91"/>
            <p:cNvSpPr/>
            <p:nvPr/>
          </p:nvSpPr>
          <p:spPr>
            <a:xfrm>
              <a:off x="8366760" y="3547872"/>
              <a:ext cx="3017520" cy="146304"/>
            </a:xfrm>
            <a:prstGeom prst="roundRect">
              <a:avLst>
                <a:gd name="adj" fmla="val 25000"/>
              </a:avLst>
            </a:prstGeom>
            <a:solidFill>
              <a:srgbClr val="343A43"/>
            </a:solidFill>
            <a:ln>
              <a:noFill/>
            </a:ln>
          </p:spPr>
          <p:txBody>
            <a:bodyPr rtlCol="0" anchor="ctr"/>
            <a:lstStyle/>
            <a:p>
              <a:pPr algn="ctr"/>
            </a:p>
          </p:txBody>
        </p:sp>
        <p:sp>
          <p:nvSpPr>
            <p:cNvPr id="93" name="Rounded Rectangle 92"/>
            <p:cNvSpPr/>
            <p:nvPr/>
          </p:nvSpPr>
          <p:spPr>
            <a:xfrm>
              <a:off x="8366760" y="3547872"/>
              <a:ext cx="1810512" cy="146304"/>
            </a:xfrm>
            <a:prstGeom prst="roundRect">
              <a:avLst>
                <a:gd name="adj" fmla="val 25000"/>
              </a:avLst>
            </a:prstGeom>
            <a:solidFill>
              <a:srgbClr val="F28C28"/>
            </a:solidFill>
            <a:ln>
              <a:noFill/>
            </a:ln>
          </p:spPr>
          <p:txBody>
            <a:bodyPr rtlCol="0" anchor="ctr"/>
            <a:lstStyle/>
            <a:p>
              <a:pPr algn="ctr"/>
            </a:p>
          </p:txBody>
        </p:sp>
        <p:sp>
          <p:nvSpPr>
            <p:cNvPr id="94" name="TextBox 93"/>
            <p:cNvSpPr txBox="1"/>
            <p:nvPr/>
          </p:nvSpPr>
          <p:spPr>
            <a:xfrm>
              <a:off x="8366760" y="37673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Range</a:t>
              </a:r>
            </a:p>
          </p:txBody>
        </p:sp>
        <p:sp>
          <p:nvSpPr>
            <p:cNvPr id="95" name="Rounded Rectangle 94"/>
            <p:cNvSpPr/>
            <p:nvPr/>
          </p:nvSpPr>
          <p:spPr>
            <a:xfrm>
              <a:off x="8366760" y="4005072"/>
              <a:ext cx="3017520" cy="146304"/>
            </a:xfrm>
            <a:prstGeom prst="roundRect">
              <a:avLst>
                <a:gd name="adj" fmla="val 25000"/>
              </a:avLst>
            </a:prstGeom>
            <a:solidFill>
              <a:srgbClr val="343A43"/>
            </a:solidFill>
            <a:ln>
              <a:noFill/>
            </a:ln>
          </p:spPr>
          <p:txBody>
            <a:bodyPr rtlCol="0" anchor="ctr"/>
            <a:lstStyle/>
            <a:p>
              <a:pPr algn="ctr"/>
            </a:p>
          </p:txBody>
        </p:sp>
        <p:sp>
          <p:nvSpPr>
            <p:cNvPr id="96" name="Rounded Rectangle 95"/>
            <p:cNvSpPr/>
            <p:nvPr/>
          </p:nvSpPr>
          <p:spPr>
            <a:xfrm>
              <a:off x="8366760" y="4005072"/>
              <a:ext cx="2715768" cy="146304"/>
            </a:xfrm>
            <a:prstGeom prst="roundRect">
              <a:avLst>
                <a:gd name="adj" fmla="val 25000"/>
              </a:avLst>
            </a:prstGeom>
            <a:solidFill>
              <a:srgbClr val="F28C28"/>
            </a:solidFill>
            <a:ln>
              <a:noFill/>
            </a:ln>
          </p:spPr>
          <p:txBody>
            <a:bodyPr rtlCol="0" anchor="ctr"/>
            <a:lstStyle/>
            <a:p>
              <a:pPr algn="ctr"/>
            </a:p>
          </p:txBody>
        </p:sp>
        <p:sp>
          <p:nvSpPr>
            <p:cNvPr id="97" name="TextBox 96"/>
            <p:cNvSpPr txBox="1"/>
            <p:nvPr/>
          </p:nvSpPr>
          <p:spPr>
            <a:xfrm>
              <a:off x="8366760" y="42245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Servicing needs</a:t>
              </a:r>
            </a:p>
          </p:txBody>
        </p:sp>
        <p:sp>
          <p:nvSpPr>
            <p:cNvPr id="98" name="Rounded Rectangle 97"/>
            <p:cNvSpPr/>
            <p:nvPr/>
          </p:nvSpPr>
          <p:spPr>
            <a:xfrm>
              <a:off x="8366760" y="4462272"/>
              <a:ext cx="3017520" cy="146304"/>
            </a:xfrm>
            <a:prstGeom prst="roundRect">
              <a:avLst>
                <a:gd name="adj" fmla="val 25000"/>
              </a:avLst>
            </a:prstGeom>
            <a:solidFill>
              <a:srgbClr val="343A43"/>
            </a:solidFill>
            <a:ln>
              <a:noFill/>
            </a:ln>
          </p:spPr>
          <p:txBody>
            <a:bodyPr rtlCol="0" anchor="ctr"/>
            <a:lstStyle/>
            <a:p>
              <a:pPr algn="ctr"/>
            </a:p>
          </p:txBody>
        </p:sp>
        <p:sp>
          <p:nvSpPr>
            <p:cNvPr id="99" name="Rounded Rectangle 98"/>
            <p:cNvSpPr/>
            <p:nvPr/>
          </p:nvSpPr>
          <p:spPr>
            <a:xfrm>
              <a:off x="8366760" y="4462272"/>
              <a:ext cx="2715768" cy="146304"/>
            </a:xfrm>
            <a:prstGeom prst="roundRect">
              <a:avLst>
                <a:gd name="adj" fmla="val 25000"/>
              </a:avLst>
            </a:prstGeom>
            <a:solidFill>
              <a:srgbClr val="F28C28"/>
            </a:solidFill>
            <a:ln>
              <a:noFill/>
            </a:ln>
          </p:spPr>
          <p:txBody>
            <a:bodyPr rtlCol="0" anchor="ctr"/>
            <a:lstStyle/>
            <a:p>
              <a:pPr algn="ctr"/>
            </a:p>
          </p:txBody>
        </p:sp>
        <p:sp>
          <p:nvSpPr>
            <p:cNvPr id="100" name="TextBox 99"/>
            <p:cNvSpPr txBox="1"/>
            <p:nvPr/>
          </p:nvSpPr>
          <p:spPr>
            <a:xfrm>
              <a:off x="8366760" y="4709160"/>
              <a:ext cx="3017520" cy="384048"/>
            </a:xfrm>
            <a:prstGeom prst="rect">
              <a:avLst/>
            </a:prstGeom>
            <a:noFill/>
          </p:spPr>
          <p:txBody>
            <a:bodyPr wrap="square" lIns="0" tIns="0" rIns="0" bIns="0" anchor="ctr">
              <a:noAutofit/>
            </a:bodyPr>
            <a:lstStyle/>
            <a:p>
              <a:pPr algn="l"/>
              <a:r>
                <a:rPr sz="1800" b="1" i="0" lang="en-GB">
                  <a:solidFill>
                    <a:srgbClr val="F2F2F2"/>
                  </a:solidFill>
                  <a:latin typeface="Arial"/>
                </a:rPr>
                <a:t>Heavy freight</a:t>
              </a:r>
            </a:p>
          </p:txBody>
        </p:sp>
      </p:grpSp>
      <p:sp>
        <p:nvSpPr>
          <p:cNvPr id="101" name="TextBox 100"/>
          <p:cNvSpPr txBox="1"/>
          <p:nvPr/>
        </p:nvSpPr>
        <p:spPr>
          <a:xfrm>
            <a:off x="548640" y="5321808"/>
            <a:ext cx="5486400" cy="292608"/>
          </a:xfrm>
          <a:prstGeom prst="rect">
            <a:avLst/>
          </a:prstGeom>
          <a:noFill/>
        </p:spPr>
        <p:txBody>
          <a:bodyPr wrap="square" lIns="0" tIns="0" rIns="0" bIns="0" anchor="t">
            <a:noAutofit/>
          </a:bodyPr>
          <a:lstStyle/>
          <a:p>
            <a:pPr algn="l"/>
            <a:r>
              <a:rPr sz="1400" b="0" i="0" lang="en-GB">
                <a:solidFill>
                  <a:srgbClr val="A9B0B8"/>
                </a:solidFill>
                <a:latin typeface="Arial"/>
              </a:rPr>
              <a:t>Shape only. Not measured.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Small, Medium and Large each have a job. Bigger is not simply better.</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18</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35"/>
                                        </p:tgtEl>
                                        <p:attrNameLst>
                                          <p:attrName>style.visibility</p:attrName>
                                        </p:attrNameLst>
                                      </p:cBhvr>
                                      <p:to>
                                        <p:strVal val="visible"/>
                                      </p:to>
                                    </p:set>
                                    <p:animEffect transition="in" filter="fade">
                                      <p:cBhvr>
                                        <p:cTn id="10" dur="500"/>
                                        <p:tgtEl>
                                          <p:spTgt spid="35"/>
                                        </p:tgtEl>
                                      </p:cBhvr>
                                    </p:animEffect>
                                  </p:childTnLst>
                                </p:cTn>
                              </p:par>
                              <p:par>
                                <p:cTn id="11" presetID="10" presetClass="entr" presetSubtype="0" fill="hold" nodeType="withEffect">
                                  <p:stCondLst>
                                    <p:cond delay="600"/>
                                  </p:stCondLst>
                                  <p:childTnLst>
                                    <p:set>
                                      <p:cBhvr>
                                        <p:cTn id="12" dur="1" fill="hold">
                                          <p:stCondLst>
                                            <p:cond delay="0"/>
                                          </p:stCondLst>
                                        </p:cTn>
                                        <p:tgtEl>
                                          <p:spTgt spid="68"/>
                                        </p:tgtEl>
                                        <p:attrNameLst>
                                          <p:attrName>style.visibility</p:attrName>
                                        </p:attrNameLst>
                                      </p:cBhvr>
                                      <p:to>
                                        <p:strVal val="visible"/>
                                      </p:to>
                                    </p:set>
                                    <p:animEffect transition="in" filter="fade">
                                      <p:cBhvr>
                                        <p:cTn id="13" dur="500"/>
                                        <p:tgtEl>
                                          <p:spTgt spid="68"/>
                                        </p:tgtEl>
                                      </p:cBhvr>
                                    </p:animEffect>
                                  </p:childTnLst>
                                </p:cTn>
                              </p:par>
                              <p:par>
                                <p:cTn id="14" presetID="10" presetClass="entr" presetSubtype="0" fill="hold" nodeType="withEffect">
                                  <p:stCondLst>
                                    <p:cond delay="900"/>
                                  </p:stCondLst>
                                  <p:childTnLst>
                                    <p:set>
                                      <p:cBhvr>
                                        <p:cTn id="15" dur="1" fill="hold">
                                          <p:stCondLst>
                                            <p:cond delay="0"/>
                                          </p:stCondLst>
                                        </p:cTn>
                                        <p:tgtEl>
                                          <p:spTgt spid="101"/>
                                        </p:tgtEl>
                                        <p:attrNameLst>
                                          <p:attrName>style.visibility</p:attrName>
                                        </p:attrNameLst>
                                      </p:cBhvr>
                                      <p:to>
                                        <p:strVal val="visible"/>
                                      </p:to>
                                    </p:set>
                                    <p:animEffect transition="in" filter="fade">
                                      <p:cBhvr>
                                        <p:cTn id="16" dur="500"/>
                                        <p:tgtEl>
                                          <p:spTgt spid="101"/>
                                        </p:tgtEl>
                                      </p:cBhvr>
                                    </p:animEffect>
                                  </p:childTnLst>
                                </p:cTn>
                              </p:par>
                              <p:par>
                                <p:cTn id="17" presetID="10" presetClass="entr" presetSubtype="0" fill="hold" nodeType="withEffect">
                                  <p:stCondLst>
                                    <p:cond delay="120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childTnLst>
                                </p:cTn>
                              </p:par>
                              <p:par>
                                <p:cTn id="20" presetID="10" presetClass="entr" presetSubtype="0" fill="hold" nodeType="withEffect">
                                  <p:stCondLst>
                                    <p:cond delay="15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Small: the branch-line tank</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0" descr="LMS Fowler Class 3F 'Jinty' tank engine No. 47406 at the Great Central Railway. A related Fowler tank engine, NOT the Dock Tank."/>
          <p:cNvPicPr>
            <a:picLocks noChangeAspect="1"/>
          </p:cNvPicPr>
          <p:nvPr/>
        </p:nvPicPr>
        <p:blipFill>
          <a:blip r:embed="rId2"/>
          <a:srcRect t="5377" b="5377"/>
          <a:stretch>
            <a:fillRect/>
          </a:stretch>
        </p:blipFill>
        <p:spPr>
          <a:xfrm>
            <a:off x="548640" y="1325880"/>
            <a:ext cx="5120640" cy="3291840"/>
          </a:xfrm>
          <a:prstGeom prst="roundRect">
            <a:avLst>
              <a:gd name="adj" fmla="val 2222"/>
            </a:avLst>
          </a:prstGeom>
        </p:spPr>
      </p:pic>
      <p:sp>
        <p:nvSpPr>
          <p:cNvPr id="9" name="Credit"/>
          <p:cNvSpPr txBox="1"/>
          <p:nvPr/>
        </p:nvSpPr>
        <p:spPr>
          <a:xfrm>
            <a:off x="548640" y="464515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Photo: Duncan Harris, CC BY-SA 2.0, Wikimedia Commons.</a:t>
            </a:r>
          </a:p>
        </p:txBody>
      </p:sp>
      <p:sp>
        <p:nvSpPr>
          <p:cNvPr id="10" name="TextBox 9"/>
          <p:cNvSpPr txBox="1"/>
          <p:nvPr/>
        </p:nvSpPr>
        <p:spPr>
          <a:xfrm>
            <a:off x="548640" y="4846320"/>
            <a:ext cx="5120640" cy="640080"/>
          </a:xfrm>
          <a:prstGeom prst="rect">
            <a:avLst/>
          </a:prstGeom>
          <a:noFill/>
        </p:spPr>
        <p:txBody>
          <a:bodyPr wrap="square" lIns="0" tIns="0" rIns="0" bIns="0" anchor="t">
            <a:noAutofit/>
          </a:bodyPr>
          <a:lstStyle/>
          <a:p>
            <a:pPr algn="l"/>
            <a:r>
              <a:rPr sz="1600" b="0" i="0" lang="en-GB">
                <a:solidFill>
                  <a:srgbClr val="F2F2F2"/>
                </a:solidFill>
                <a:latin typeface="Arial"/>
              </a:rPr>
              <a:t>A related Fowler tank engine (a Jinty). The design's reference, the Dock Tank, has no survivor.</a:t>
            </a:r>
          </a:p>
        </p:txBody>
      </p:sp>
      <p:grpSp>
        <p:nvGrpSpPr>
          <p:cNvPr id="11" name="Traits" descr="Traits: No tender; Weakest hauler; Cheap to run; Struggles with long trains and hills."/>
          <p:cNvGrpSpPr/>
          <p:nvPr/>
        </p:nvGrpSpPr>
        <p:grpSpPr>
          <a:xfrm>
            <a:off x="5989320" y="1371600"/>
            <a:ext cx="5650992" cy="3438144"/>
            <a:chOff x="5989320" y="1371600"/>
            <a:chExt cx="5650992" cy="3438144"/>
          </a:xfrm>
        </p:grpSpPr>
        <p:sp>
          <p:nvSpPr>
            <p:cNvPr id="12" name="Rounded Rectangle 11"/>
            <p:cNvSpPr/>
            <p:nvPr/>
          </p:nvSpPr>
          <p:spPr>
            <a:xfrm>
              <a:off x="5989320" y="1371600"/>
              <a:ext cx="5650992" cy="749808"/>
            </a:xfrm>
            <a:prstGeom prst="roundRect">
              <a:avLst>
                <a:gd name="adj" fmla="val 9756"/>
              </a:avLst>
            </a:prstGeom>
            <a:solidFill>
              <a:srgbClr val="2B2F36"/>
            </a:solidFill>
            <a:ln>
              <a:noFill/>
            </a:ln>
          </p:spPr>
          <p:txBody>
            <a:bodyPr rtlCol="0" anchor="ctr"/>
            <a:lstStyle/>
            <a:p>
              <a:pPr algn="ctr"/>
            </a:p>
          </p:txBody>
        </p:sp>
        <p:sp>
          <p:nvSpPr>
            <p:cNvPr id="13" name="Rectangle 12"/>
            <p:cNvSpPr/>
            <p:nvPr/>
          </p:nvSpPr>
          <p:spPr>
            <a:xfrm>
              <a:off x="6217920" y="1643634"/>
              <a:ext cx="365760" cy="251460"/>
            </a:xfrm>
            <a:prstGeom prst="rect">
              <a:avLst/>
            </a:prstGeom>
            <a:noFill/>
            <a:ln w="25400">
              <a:solidFill>
                <a:srgbClr val="F28C28"/>
              </a:solidFill>
            </a:ln>
          </p:spPr>
          <p:txBody>
            <a:bodyPr rtlCol="0" anchor="ctr"/>
            <a:lstStyle/>
            <a:p>
              <a:pPr algn="ctr"/>
            </a:p>
          </p:txBody>
        </p:sp>
        <p:cxnSp>
          <p:nvCxnSpPr>
            <p:cNvPr id="14" name="Connector 13"/>
            <p:cNvCxnSpPr/>
            <p:nvPr/>
          </p:nvCxnSpPr>
          <p:spPr>
            <a:xfrm flipV="1">
              <a:off x="6172200" y="1586484"/>
              <a:ext cx="457200" cy="320040"/>
            </a:xfrm>
            <a:prstGeom prst="line">
              <a:avLst/>
            </a:prstGeom>
            <a:ln w="31750">
              <a:solidFill>
                <a:srgbClr val="F2F2F2"/>
              </a:solidFill>
            </a:ln>
          </p:spPr>
        </p:cxnSp>
        <p:sp>
          <p:nvSpPr>
            <p:cNvPr id="15" name="TextBox 14"/>
            <p:cNvSpPr txBox="1"/>
            <p:nvPr/>
          </p:nvSpPr>
          <p:spPr>
            <a:xfrm>
              <a:off x="6720840" y="1371600"/>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No tender</a:t>
              </a:r>
            </a:p>
          </p:txBody>
        </p:sp>
        <p:sp>
          <p:nvSpPr>
            <p:cNvPr id="16" name="Rounded Rectangle 15"/>
            <p:cNvSpPr/>
            <p:nvPr/>
          </p:nvSpPr>
          <p:spPr>
            <a:xfrm>
              <a:off x="5989320" y="2267712"/>
              <a:ext cx="5650992" cy="749808"/>
            </a:xfrm>
            <a:prstGeom prst="roundRect">
              <a:avLst>
                <a:gd name="adj" fmla="val 9756"/>
              </a:avLst>
            </a:prstGeom>
            <a:solidFill>
              <a:srgbClr val="2B2F36"/>
            </a:solidFill>
            <a:ln>
              <a:noFill/>
            </a:ln>
          </p:spPr>
          <p:txBody>
            <a:bodyPr rtlCol="0" anchor="ctr"/>
            <a:lstStyle/>
            <a:p>
              <a:pPr algn="ctr"/>
            </a:p>
          </p:txBody>
        </p:sp>
        <p:sp>
          <p:nvSpPr>
            <p:cNvPr id="17" name="Freeform 16"/>
            <p:cNvSpPr/>
            <p:nvPr/>
          </p:nvSpPr>
          <p:spPr>
            <a:xfrm>
              <a:off x="6240780" y="2562606"/>
              <a:ext cx="320040" cy="240030"/>
            </a:xfrm>
            <a:custGeom>
              <a:avLst/>
              <a:gdLst/>
              <a:ahLst/>
              <a:cxnLst/>
              <a:rect l="l" t="t" r="r" b="b"/>
              <a:pathLst>
                <a:path w="320040" h="240030">
                  <a:moveTo>
                    <a:pt x="0" y="240030"/>
                  </a:moveTo>
                  <a:lnTo>
                    <a:pt x="320040" y="240030"/>
                  </a:lnTo>
                  <a:lnTo>
                    <a:pt x="262890" y="0"/>
                  </a:lnTo>
                  <a:lnTo>
                    <a:pt x="57150" y="0"/>
                  </a:lnTo>
                  <a:close/>
                </a:path>
              </a:pathLst>
            </a:custGeom>
            <a:solidFill>
              <a:srgbClr val="F28C28"/>
            </a:solidFill>
            <a:ln>
              <a:noFill/>
            </a:ln>
          </p:spPr>
          <p:txBody>
            <a:bodyPr rtlCol="0" anchor="ctr"/>
            <a:lstStyle/>
            <a:p>
              <a:pPr algn="ctr"/>
            </a:p>
          </p:txBody>
        </p:sp>
        <p:sp>
          <p:nvSpPr>
            <p:cNvPr id="18" name="Oval 17"/>
            <p:cNvSpPr/>
            <p:nvPr/>
          </p:nvSpPr>
          <p:spPr>
            <a:xfrm>
              <a:off x="6336792" y="2452878"/>
              <a:ext cx="128016" cy="128016"/>
            </a:xfrm>
            <a:prstGeom prst="ellipse">
              <a:avLst/>
            </a:prstGeom>
            <a:noFill/>
            <a:ln w="25400">
              <a:solidFill>
                <a:srgbClr val="F28C28"/>
              </a:solidFill>
            </a:ln>
          </p:spPr>
          <p:txBody>
            <a:bodyPr rtlCol="0" anchor="ctr"/>
            <a:lstStyle/>
            <a:p>
              <a:pPr algn="ctr"/>
            </a:p>
          </p:txBody>
        </p:sp>
        <p:sp>
          <p:nvSpPr>
            <p:cNvPr id="19" name="TextBox 18"/>
            <p:cNvSpPr txBox="1"/>
            <p:nvPr/>
          </p:nvSpPr>
          <p:spPr>
            <a:xfrm>
              <a:off x="6720840" y="2267712"/>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Weakest hauler</a:t>
              </a:r>
            </a:p>
          </p:txBody>
        </p:sp>
        <p:sp>
          <p:nvSpPr>
            <p:cNvPr id="20" name="Rounded Rectangle 19"/>
            <p:cNvSpPr/>
            <p:nvPr/>
          </p:nvSpPr>
          <p:spPr>
            <a:xfrm>
              <a:off x="5989320" y="3163824"/>
              <a:ext cx="5650992" cy="749808"/>
            </a:xfrm>
            <a:prstGeom prst="roundRect">
              <a:avLst>
                <a:gd name="adj" fmla="val 9756"/>
              </a:avLst>
            </a:prstGeom>
            <a:solidFill>
              <a:srgbClr val="2B2F36"/>
            </a:solidFill>
            <a:ln>
              <a:noFill/>
            </a:ln>
          </p:spPr>
          <p:txBody>
            <a:bodyPr rtlCol="0" anchor="ctr"/>
            <a:lstStyle/>
            <a:p>
              <a:pPr algn="ctr"/>
            </a:p>
          </p:txBody>
        </p:sp>
        <p:sp>
          <p:nvSpPr>
            <p:cNvPr id="21" name="Oval 20"/>
            <p:cNvSpPr/>
            <p:nvPr/>
          </p:nvSpPr>
          <p:spPr>
            <a:xfrm>
              <a:off x="6229350" y="3550158"/>
              <a:ext cx="342900" cy="137160"/>
            </a:xfrm>
            <a:prstGeom prst="ellipse">
              <a:avLst/>
            </a:prstGeom>
            <a:solidFill>
              <a:srgbClr val="F28C28"/>
            </a:solidFill>
            <a:ln w="12700">
              <a:solidFill>
                <a:srgbClr val="1E2126"/>
              </a:solidFill>
            </a:ln>
          </p:spPr>
          <p:txBody>
            <a:bodyPr rtlCol="0" anchor="ctr"/>
            <a:lstStyle/>
            <a:p>
              <a:pPr algn="ctr"/>
            </a:p>
          </p:txBody>
        </p:sp>
        <p:sp>
          <p:nvSpPr>
            <p:cNvPr id="22" name="Oval 21"/>
            <p:cNvSpPr/>
            <p:nvPr/>
          </p:nvSpPr>
          <p:spPr>
            <a:xfrm>
              <a:off x="6229350" y="3481578"/>
              <a:ext cx="342900" cy="137160"/>
            </a:xfrm>
            <a:prstGeom prst="ellipse">
              <a:avLst/>
            </a:prstGeom>
            <a:solidFill>
              <a:srgbClr val="F28C28"/>
            </a:solidFill>
            <a:ln w="12700">
              <a:solidFill>
                <a:srgbClr val="1E2126"/>
              </a:solidFill>
            </a:ln>
          </p:spPr>
          <p:txBody>
            <a:bodyPr rtlCol="0" anchor="ctr"/>
            <a:lstStyle/>
            <a:p>
              <a:pPr algn="ctr"/>
            </a:p>
          </p:txBody>
        </p:sp>
        <p:sp>
          <p:nvSpPr>
            <p:cNvPr id="23" name="Oval 22"/>
            <p:cNvSpPr/>
            <p:nvPr/>
          </p:nvSpPr>
          <p:spPr>
            <a:xfrm>
              <a:off x="6229350" y="3412998"/>
              <a:ext cx="342900" cy="137160"/>
            </a:xfrm>
            <a:prstGeom prst="ellipse">
              <a:avLst/>
            </a:prstGeom>
            <a:solidFill>
              <a:srgbClr val="F28C28"/>
            </a:solidFill>
            <a:ln w="12700">
              <a:solidFill>
                <a:srgbClr val="1E2126"/>
              </a:solidFill>
            </a:ln>
          </p:spPr>
          <p:txBody>
            <a:bodyPr rtlCol="0" anchor="ctr"/>
            <a:lstStyle/>
            <a:p>
              <a:pPr algn="ctr"/>
            </a:p>
          </p:txBody>
        </p:sp>
        <p:sp>
          <p:nvSpPr>
            <p:cNvPr id="24" name="TextBox 23"/>
            <p:cNvSpPr txBox="1"/>
            <p:nvPr/>
          </p:nvSpPr>
          <p:spPr>
            <a:xfrm>
              <a:off x="6720840" y="3163824"/>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Cheap to run</a:t>
              </a:r>
            </a:p>
          </p:txBody>
        </p:sp>
        <p:sp>
          <p:nvSpPr>
            <p:cNvPr id="25" name="Rounded Rectangle 24"/>
            <p:cNvSpPr/>
            <p:nvPr/>
          </p:nvSpPr>
          <p:spPr>
            <a:xfrm>
              <a:off x="5989320" y="4059936"/>
              <a:ext cx="5650992" cy="749808"/>
            </a:xfrm>
            <a:prstGeom prst="roundRect">
              <a:avLst>
                <a:gd name="adj" fmla="val 9756"/>
              </a:avLst>
            </a:prstGeom>
            <a:solidFill>
              <a:srgbClr val="2B2F36"/>
            </a:solidFill>
            <a:ln>
              <a:noFill/>
            </a:ln>
          </p:spPr>
          <p:txBody>
            <a:bodyPr rtlCol="0" anchor="ctr"/>
            <a:lstStyle/>
            <a:p>
              <a:pPr algn="ctr"/>
            </a:p>
          </p:txBody>
        </p:sp>
        <p:sp>
          <p:nvSpPr>
            <p:cNvPr id="26" name="Freeform 25"/>
            <p:cNvSpPr/>
            <p:nvPr/>
          </p:nvSpPr>
          <p:spPr>
            <a:xfrm>
              <a:off x="6172200" y="4274820"/>
              <a:ext cx="457200" cy="320040"/>
            </a:xfrm>
            <a:custGeom>
              <a:avLst/>
              <a:gdLst/>
              <a:ahLst/>
              <a:cxnLst/>
              <a:rect l="l" t="t" r="r" b="b"/>
              <a:pathLst>
                <a:path w="457200" h="320040">
                  <a:moveTo>
                    <a:pt x="0" y="320040"/>
                  </a:moveTo>
                  <a:lnTo>
                    <a:pt x="457200" y="320040"/>
                  </a:lnTo>
                  <a:lnTo>
                    <a:pt x="251460" y="0"/>
                  </a:lnTo>
                  <a:close/>
                </a:path>
              </a:pathLst>
            </a:custGeom>
            <a:solidFill>
              <a:srgbClr val="F28C28"/>
            </a:solidFill>
            <a:ln>
              <a:noFill/>
            </a:ln>
          </p:spPr>
          <p:txBody>
            <a:bodyPr rtlCol="0" anchor="ctr"/>
            <a:lstStyle/>
            <a:p>
              <a:pPr algn="ctr"/>
            </a:p>
          </p:txBody>
        </p:sp>
        <p:sp>
          <p:nvSpPr>
            <p:cNvPr id="27" name="TextBox 26"/>
            <p:cNvSpPr txBox="1"/>
            <p:nvPr/>
          </p:nvSpPr>
          <p:spPr>
            <a:xfrm>
              <a:off x="6720840" y="4059936"/>
              <a:ext cx="3349244" cy="749808"/>
            </a:xfrm>
            <a:prstGeom prst="rect">
              <a:avLst/>
            </a:prstGeom>
            <a:noFill/>
          </p:spPr>
          <p:txBody>
            <a:bodyPr wrap="square" lIns="0" tIns="0" rIns="0" bIns="0" anchor="ctr">
              <a:noAutofit/>
            </a:bodyPr>
            <a:lstStyle/>
            <a:p>
              <a:pPr algn="l"/>
              <a:r>
                <a:rPr sz="2000" b="0" i="0" lang="en-GB">
                  <a:solidFill>
                    <a:srgbClr val="F2F2F2"/>
                  </a:solidFill>
                  <a:latin typeface="Arial"/>
                </a:rPr>
                <a:t>Struggles with long trains and hills</a:t>
              </a:r>
            </a:p>
          </p:txBody>
        </p:sp>
        <p:sp>
          <p:nvSpPr>
            <p:cNvPr id="28" name="Inline chip Proposed"/>
            <p:cNvSpPr/>
            <p:nvPr/>
          </p:nvSpPr>
          <p:spPr>
            <a:xfrm>
              <a:off x="10161524" y="4270248"/>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Small carries its own coal and water. It is cheap, light and best on short branches.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19</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nodeType="withEffect">
                                  <p:stCondLst>
                                    <p:cond delay="60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nodeType="withEffect">
                                  <p:stCondLst>
                                    <p:cond delay="90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par>
                                <p:cTn id="17" presetID="10" presetClass="entr" presetSubtype="0" fill="hold" nodeType="withEffect">
                                  <p:stCondLst>
                                    <p:cond delay="12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Medium: the long-range runner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1" descr="Merchant Navy class No. 35005 'Canadian Pacific', raised front three-quarter view showing boiler and tender."/>
          <p:cNvPicPr>
            <a:picLocks noChangeAspect="1"/>
          </p:cNvPicPr>
          <p:nvPr/>
        </p:nvPicPr>
        <p:blipFill>
          <a:blip r:embed="rId2"/>
          <a:srcRect l="205" r="205"/>
          <a:stretch>
            <a:fillRect/>
          </a:stretch>
        </p:blipFill>
        <p:spPr>
          <a:xfrm>
            <a:off x="548640" y="1325880"/>
            <a:ext cx="5120640" cy="3154680"/>
          </a:xfrm>
          <a:prstGeom prst="roundRect">
            <a:avLst>
              <a:gd name="adj" fmla="val 2319"/>
            </a:avLst>
          </a:prstGeom>
        </p:spPr>
      </p:pic>
      <p:sp>
        <p:nvSpPr>
          <p:cNvPr id="9" name="Credit"/>
          <p:cNvSpPr txBox="1"/>
          <p:nvPr/>
        </p:nvSpPr>
        <p:spPr>
          <a:xfrm>
            <a:off x="548640" y="450799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Photo: kitmasterbloke, CC BY 2.0, Wikimedia Commons.</a:t>
            </a:r>
          </a:p>
        </p:txBody>
      </p:sp>
      <p:sp>
        <p:nvSpPr>
          <p:cNvPr id="10" name="TextBox 9"/>
          <p:cNvSpPr txBox="1"/>
          <p:nvPr/>
        </p:nvSpPr>
        <p:spPr>
          <a:xfrm>
            <a:off x="548640" y="4709160"/>
            <a:ext cx="5120640" cy="329184"/>
          </a:xfrm>
          <a:prstGeom prst="rect">
            <a:avLst/>
          </a:prstGeom>
          <a:noFill/>
        </p:spPr>
        <p:txBody>
          <a:bodyPr wrap="square" lIns="0" tIns="0" rIns="0" bIns="0" anchor="t">
            <a:noAutofit/>
          </a:bodyPr>
          <a:lstStyle/>
          <a:p>
            <a:pPr algn="l"/>
            <a:r>
              <a:rPr sz="1600" b="0" i="0" lang="en-GB">
                <a:solidFill>
                  <a:srgbClr val="F2F2F2"/>
                </a:solidFill>
                <a:latin typeface="Arial"/>
              </a:rPr>
              <a:t>Reference: Merchant Navy class</a:t>
            </a:r>
          </a:p>
        </p:txBody>
      </p:sp>
      <p:grpSp>
        <p:nvGrpSpPr>
          <p:cNvPr id="11" name="Traits" descr="Traits: Normal tender: more coal and water; Burns more; Auxiliary tender: a practical extra; Fastest class."/>
          <p:cNvGrpSpPr/>
          <p:nvPr/>
        </p:nvGrpSpPr>
        <p:grpSpPr>
          <a:xfrm>
            <a:off x="5989320" y="1371600"/>
            <a:ext cx="5650992" cy="3621024"/>
            <a:chOff x="5989320" y="1371600"/>
            <a:chExt cx="5650992" cy="3621024"/>
          </a:xfrm>
        </p:grpSpPr>
        <p:sp>
          <p:nvSpPr>
            <p:cNvPr id="12" name="Rounded Rectangle 11"/>
            <p:cNvSpPr/>
            <p:nvPr/>
          </p:nvSpPr>
          <p:spPr>
            <a:xfrm>
              <a:off x="5989320" y="1371600"/>
              <a:ext cx="5650992" cy="749808"/>
            </a:xfrm>
            <a:prstGeom prst="roundRect">
              <a:avLst>
                <a:gd name="adj" fmla="val 9756"/>
              </a:avLst>
            </a:prstGeom>
            <a:solidFill>
              <a:srgbClr val="2B2F36"/>
            </a:solidFill>
            <a:ln>
              <a:noFill/>
            </a:ln>
          </p:spPr>
          <p:txBody>
            <a:bodyPr rtlCol="0" anchor="ctr"/>
            <a:lstStyle/>
            <a:p>
              <a:pPr algn="ctr"/>
            </a:p>
          </p:txBody>
        </p:sp>
        <p:sp>
          <p:nvSpPr>
            <p:cNvPr id="13" name="Rectangle 12"/>
            <p:cNvSpPr/>
            <p:nvPr/>
          </p:nvSpPr>
          <p:spPr>
            <a:xfrm>
              <a:off x="6206490" y="1655064"/>
              <a:ext cx="388620" cy="274320"/>
            </a:xfrm>
            <a:prstGeom prst="rect">
              <a:avLst/>
            </a:prstGeom>
            <a:solidFill>
              <a:srgbClr val="F28C28"/>
            </a:solidFill>
            <a:ln w="9525">
              <a:solidFill>
                <a:srgbClr val="101418"/>
              </a:solidFill>
            </a:ln>
          </p:spPr>
          <p:txBody>
            <a:bodyPr rtlCol="0" anchor="ctr"/>
            <a:lstStyle/>
            <a:p>
              <a:pPr algn="ctr"/>
            </a:p>
          </p:txBody>
        </p:sp>
        <p:sp>
          <p:nvSpPr>
            <p:cNvPr id="14" name="Rectangle 13"/>
            <p:cNvSpPr/>
            <p:nvPr/>
          </p:nvSpPr>
          <p:spPr>
            <a:xfrm>
              <a:off x="6229350" y="1620774"/>
              <a:ext cx="342900" cy="54864"/>
            </a:xfrm>
            <a:prstGeom prst="rect">
              <a:avLst/>
            </a:prstGeom>
            <a:solidFill>
              <a:srgbClr val="1B1D21"/>
            </a:solidFill>
            <a:ln>
              <a:noFill/>
            </a:ln>
          </p:spPr>
          <p:txBody>
            <a:bodyPr rtlCol="0" anchor="ctr"/>
            <a:lstStyle/>
            <a:p>
              <a:pPr algn="ctr"/>
            </a:p>
          </p:txBody>
        </p:sp>
        <p:sp>
          <p:nvSpPr>
            <p:cNvPr id="15" name="Oval 14"/>
            <p:cNvSpPr/>
            <p:nvPr/>
          </p:nvSpPr>
          <p:spPr>
            <a:xfrm>
              <a:off x="6247638" y="1844802"/>
              <a:ext cx="100584" cy="100584"/>
            </a:xfrm>
            <a:prstGeom prst="ellipse">
              <a:avLst/>
            </a:prstGeom>
            <a:solidFill>
              <a:srgbClr val="1B1D21"/>
            </a:solidFill>
            <a:ln w="12700">
              <a:solidFill>
                <a:srgbClr val="9AA0A6"/>
              </a:solidFill>
            </a:ln>
          </p:spPr>
          <p:txBody>
            <a:bodyPr rtlCol="0" anchor="ctr"/>
            <a:lstStyle/>
            <a:p>
              <a:pPr algn="ctr"/>
            </a:p>
          </p:txBody>
        </p:sp>
        <p:sp>
          <p:nvSpPr>
            <p:cNvPr id="16" name="Oval 15"/>
            <p:cNvSpPr/>
            <p:nvPr/>
          </p:nvSpPr>
          <p:spPr>
            <a:xfrm>
              <a:off x="6453378" y="1844802"/>
              <a:ext cx="100584" cy="100584"/>
            </a:xfrm>
            <a:prstGeom prst="ellipse">
              <a:avLst/>
            </a:prstGeom>
            <a:solidFill>
              <a:srgbClr val="1B1D21"/>
            </a:solidFill>
            <a:ln w="12700">
              <a:solidFill>
                <a:srgbClr val="9AA0A6"/>
              </a:solidFill>
            </a:ln>
          </p:spPr>
          <p:txBody>
            <a:bodyPr rtlCol="0" anchor="ctr"/>
            <a:lstStyle/>
            <a:p>
              <a:pPr algn="ctr"/>
            </a:p>
          </p:txBody>
        </p:sp>
        <p:sp>
          <p:nvSpPr>
            <p:cNvPr id="17" name="TextBox 16"/>
            <p:cNvSpPr txBox="1"/>
            <p:nvPr/>
          </p:nvSpPr>
          <p:spPr>
            <a:xfrm>
              <a:off x="6720840" y="1371600"/>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Normal tender: more coal and water</a:t>
              </a:r>
            </a:p>
          </p:txBody>
        </p:sp>
        <p:sp>
          <p:nvSpPr>
            <p:cNvPr id="18" name="Rounded Rectangle 17"/>
            <p:cNvSpPr/>
            <p:nvPr/>
          </p:nvSpPr>
          <p:spPr>
            <a:xfrm>
              <a:off x="5989320" y="2267712"/>
              <a:ext cx="5650992" cy="749808"/>
            </a:xfrm>
            <a:prstGeom prst="roundRect">
              <a:avLst>
                <a:gd name="adj" fmla="val 9756"/>
              </a:avLst>
            </a:prstGeom>
            <a:solidFill>
              <a:srgbClr val="2B2F36"/>
            </a:solidFill>
            <a:ln>
              <a:noFill/>
            </a:ln>
          </p:spPr>
          <p:txBody>
            <a:bodyPr rtlCol="0" anchor="ctr"/>
            <a:lstStyle/>
            <a:p>
              <a:pPr algn="ctr"/>
            </a:p>
          </p:txBody>
        </p:sp>
        <p:sp>
          <p:nvSpPr>
            <p:cNvPr id="19" name="Freeform 18"/>
            <p:cNvSpPr/>
            <p:nvPr/>
          </p:nvSpPr>
          <p:spPr>
            <a:xfrm>
              <a:off x="6263640" y="2436876"/>
              <a:ext cx="274320" cy="388620"/>
            </a:xfrm>
            <a:custGeom>
              <a:avLst/>
              <a:gdLst/>
              <a:ahLst/>
              <a:cxnLst/>
              <a:rect l="l" t="t" r="r" b="b"/>
              <a:pathLst>
                <a:path w="274320" h="388620">
                  <a:moveTo>
                    <a:pt x="0" y="262890"/>
                  </a:moveTo>
                  <a:lnTo>
                    <a:pt x="4674" y="295431"/>
                  </a:lnTo>
                  <a:lnTo>
                    <a:pt x="18376" y="325755"/>
                  </a:lnTo>
                  <a:lnTo>
                    <a:pt x="40173" y="351795"/>
                  </a:lnTo>
                  <a:lnTo>
                    <a:pt x="68580" y="371775"/>
                  </a:lnTo>
                  <a:lnTo>
                    <a:pt x="101660" y="384336"/>
                  </a:lnTo>
                  <a:lnTo>
                    <a:pt x="137160" y="388620"/>
                  </a:lnTo>
                  <a:lnTo>
                    <a:pt x="172660" y="384336"/>
                  </a:lnTo>
                  <a:lnTo>
                    <a:pt x="205740" y="371775"/>
                  </a:lnTo>
                  <a:lnTo>
                    <a:pt x="234147" y="351795"/>
                  </a:lnTo>
                  <a:lnTo>
                    <a:pt x="255944" y="325755"/>
                  </a:lnTo>
                  <a:lnTo>
                    <a:pt x="269646" y="295431"/>
                  </a:lnTo>
                  <a:lnTo>
                    <a:pt x="274320" y="262890"/>
                  </a:lnTo>
                  <a:lnTo>
                    <a:pt x="274320" y="262890"/>
                  </a:lnTo>
                  <a:lnTo>
                    <a:pt x="171450" y="0"/>
                  </a:lnTo>
                  <a:lnTo>
                    <a:pt x="0" y="262890"/>
                  </a:lnTo>
                  <a:close/>
                </a:path>
              </a:pathLst>
            </a:custGeom>
            <a:solidFill>
              <a:srgbClr val="F28C28"/>
            </a:solidFill>
            <a:ln>
              <a:noFill/>
            </a:ln>
          </p:spPr>
          <p:txBody>
            <a:bodyPr rtlCol="0" anchor="ctr"/>
            <a:lstStyle/>
            <a:p>
              <a:pPr algn="ctr"/>
            </a:p>
          </p:txBody>
        </p:sp>
        <p:sp>
          <p:nvSpPr>
            <p:cNvPr id="20" name="Freeform 19"/>
            <p:cNvSpPr/>
            <p:nvPr/>
          </p:nvSpPr>
          <p:spPr>
            <a:xfrm>
              <a:off x="6343650" y="2608326"/>
              <a:ext cx="114300" cy="171450"/>
            </a:xfrm>
            <a:custGeom>
              <a:avLst/>
              <a:gdLst/>
              <a:ahLst/>
              <a:cxnLst/>
              <a:rect l="l" t="t" r="r" b="b"/>
              <a:pathLst>
                <a:path w="114300" h="171450">
                  <a:moveTo>
                    <a:pt x="0" y="171450"/>
                  </a:moveTo>
                  <a:lnTo>
                    <a:pt x="114300" y="171450"/>
                  </a:lnTo>
                  <a:lnTo>
                    <a:pt x="57150" y="0"/>
                  </a:lnTo>
                  <a:close/>
                </a:path>
              </a:pathLst>
            </a:custGeom>
            <a:solidFill>
              <a:srgbClr val="F2C14E"/>
            </a:solidFill>
            <a:ln>
              <a:noFill/>
            </a:ln>
          </p:spPr>
          <p:txBody>
            <a:bodyPr rtlCol="0" anchor="ctr"/>
            <a:lstStyle/>
            <a:p>
              <a:pPr algn="ctr"/>
            </a:p>
          </p:txBody>
        </p:sp>
        <p:sp>
          <p:nvSpPr>
            <p:cNvPr id="21" name="TextBox 20"/>
            <p:cNvSpPr txBox="1"/>
            <p:nvPr/>
          </p:nvSpPr>
          <p:spPr>
            <a:xfrm>
              <a:off x="6720840" y="2267712"/>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Burns more</a:t>
              </a:r>
            </a:p>
          </p:txBody>
        </p:sp>
        <p:sp>
          <p:nvSpPr>
            <p:cNvPr id="22" name="Rounded Rectangle 21"/>
            <p:cNvSpPr/>
            <p:nvPr/>
          </p:nvSpPr>
          <p:spPr>
            <a:xfrm>
              <a:off x="5989320" y="3163824"/>
              <a:ext cx="5650992" cy="749808"/>
            </a:xfrm>
            <a:prstGeom prst="roundRect">
              <a:avLst>
                <a:gd name="adj" fmla="val 9756"/>
              </a:avLst>
            </a:prstGeom>
            <a:solidFill>
              <a:srgbClr val="2B2F36"/>
            </a:solidFill>
            <a:ln>
              <a:noFill/>
            </a:ln>
          </p:spPr>
          <p:txBody>
            <a:bodyPr rtlCol="0" anchor="ctr"/>
            <a:lstStyle/>
            <a:p>
              <a:pPr algn="ctr"/>
            </a:p>
          </p:txBody>
        </p:sp>
        <p:sp>
          <p:nvSpPr>
            <p:cNvPr id="23" name="Rectangle 22"/>
            <p:cNvSpPr/>
            <p:nvPr/>
          </p:nvSpPr>
          <p:spPr>
            <a:xfrm>
              <a:off x="6206490" y="3447288"/>
              <a:ext cx="388620" cy="274320"/>
            </a:xfrm>
            <a:prstGeom prst="rect">
              <a:avLst/>
            </a:prstGeom>
            <a:pattFill prst="wdUpDiag">
              <a:fgClr>
                <a:srgbClr val="F28C28"/>
              </a:fgClr>
              <a:bgClr>
                <a:srgbClr val="2B2F36"/>
              </a:bgClr>
            </a:pattFill>
            <a:ln w="19050">
              <a:solidFill>
                <a:srgbClr val="F28C28"/>
              </a:solidFill>
            </a:ln>
          </p:spPr>
          <p:txBody>
            <a:bodyPr rtlCol="0" anchor="ctr"/>
            <a:lstStyle/>
            <a:p>
              <a:pPr algn="ctr"/>
            </a:p>
          </p:txBody>
        </p:sp>
        <p:sp>
          <p:nvSpPr>
            <p:cNvPr id="24" name="Oval 23"/>
            <p:cNvSpPr/>
            <p:nvPr/>
          </p:nvSpPr>
          <p:spPr>
            <a:xfrm>
              <a:off x="6247638" y="3637026"/>
              <a:ext cx="100584" cy="100584"/>
            </a:xfrm>
            <a:prstGeom prst="ellipse">
              <a:avLst/>
            </a:prstGeom>
            <a:solidFill>
              <a:srgbClr val="1B1D21"/>
            </a:solidFill>
            <a:ln w="12700">
              <a:solidFill>
                <a:srgbClr val="9AA0A6"/>
              </a:solidFill>
            </a:ln>
          </p:spPr>
          <p:txBody>
            <a:bodyPr rtlCol="0" anchor="ctr"/>
            <a:lstStyle/>
            <a:p>
              <a:pPr algn="ctr"/>
            </a:p>
          </p:txBody>
        </p:sp>
        <p:sp>
          <p:nvSpPr>
            <p:cNvPr id="25" name="Oval 24"/>
            <p:cNvSpPr/>
            <p:nvPr/>
          </p:nvSpPr>
          <p:spPr>
            <a:xfrm>
              <a:off x="6453378" y="3637026"/>
              <a:ext cx="100584" cy="100584"/>
            </a:xfrm>
            <a:prstGeom prst="ellipse">
              <a:avLst/>
            </a:prstGeom>
            <a:solidFill>
              <a:srgbClr val="1B1D21"/>
            </a:solidFill>
            <a:ln w="12700">
              <a:solidFill>
                <a:srgbClr val="9AA0A6"/>
              </a:solidFill>
            </a:ln>
          </p:spPr>
          <p:txBody>
            <a:bodyPr rtlCol="0" anchor="ctr"/>
            <a:lstStyle/>
            <a:p>
              <a:pPr algn="ctr"/>
            </a:p>
          </p:txBody>
        </p:sp>
        <p:sp>
          <p:nvSpPr>
            <p:cNvPr id="26" name="TextBox 25"/>
            <p:cNvSpPr txBox="1"/>
            <p:nvPr/>
          </p:nvSpPr>
          <p:spPr>
            <a:xfrm>
              <a:off x="6720840" y="3163824"/>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Auxiliary tender: a practical extra</a:t>
              </a:r>
            </a:p>
          </p:txBody>
        </p:sp>
        <p:sp>
          <p:nvSpPr>
            <p:cNvPr id="27" name="Rounded Rectangle 26"/>
            <p:cNvSpPr/>
            <p:nvPr/>
          </p:nvSpPr>
          <p:spPr>
            <a:xfrm>
              <a:off x="5989320" y="4059936"/>
              <a:ext cx="5650992" cy="932688"/>
            </a:xfrm>
            <a:prstGeom prst="roundRect">
              <a:avLst>
                <a:gd name="adj" fmla="val 7843"/>
              </a:avLst>
            </a:prstGeom>
            <a:solidFill>
              <a:srgbClr val="2B2F36"/>
            </a:solidFill>
            <a:ln>
              <a:noFill/>
            </a:ln>
          </p:spPr>
          <p:txBody>
            <a:bodyPr rtlCol="0" anchor="ctr"/>
            <a:lstStyle/>
            <a:p>
              <a:pPr algn="ctr"/>
            </a:p>
          </p:txBody>
        </p:sp>
        <p:sp>
          <p:nvSpPr>
            <p:cNvPr id="28" name="Chevron 27"/>
            <p:cNvSpPr/>
            <p:nvPr/>
          </p:nvSpPr>
          <p:spPr>
            <a:xfrm>
              <a:off x="6195060" y="4400550"/>
              <a:ext cx="160020" cy="251460"/>
            </a:xfrm>
            <a:prstGeom prst="chevron">
              <a:avLst/>
            </a:prstGeom>
            <a:solidFill>
              <a:srgbClr val="F28C28"/>
            </a:solidFill>
            <a:ln>
              <a:noFill/>
            </a:ln>
          </p:spPr>
          <p:txBody>
            <a:bodyPr rtlCol="0" anchor="ctr"/>
            <a:lstStyle/>
            <a:p>
              <a:pPr algn="ctr"/>
            </a:p>
          </p:txBody>
        </p:sp>
        <p:sp>
          <p:nvSpPr>
            <p:cNvPr id="29" name="Chevron 28"/>
            <p:cNvSpPr/>
            <p:nvPr/>
          </p:nvSpPr>
          <p:spPr>
            <a:xfrm>
              <a:off x="6320790" y="4400550"/>
              <a:ext cx="160020" cy="251460"/>
            </a:xfrm>
            <a:prstGeom prst="chevron">
              <a:avLst/>
            </a:prstGeom>
            <a:solidFill>
              <a:srgbClr val="F28C28"/>
            </a:solidFill>
            <a:ln>
              <a:noFill/>
            </a:ln>
          </p:spPr>
          <p:txBody>
            <a:bodyPr rtlCol="0" anchor="ctr"/>
            <a:lstStyle/>
            <a:p>
              <a:pPr algn="ctr"/>
            </a:p>
          </p:txBody>
        </p:sp>
        <p:sp>
          <p:nvSpPr>
            <p:cNvPr id="30" name="Chevron 29"/>
            <p:cNvSpPr/>
            <p:nvPr/>
          </p:nvSpPr>
          <p:spPr>
            <a:xfrm>
              <a:off x="6446520" y="4400550"/>
              <a:ext cx="160020" cy="251460"/>
            </a:xfrm>
            <a:prstGeom prst="chevron">
              <a:avLst/>
            </a:prstGeom>
            <a:solidFill>
              <a:srgbClr val="F28C28"/>
            </a:solidFill>
            <a:ln>
              <a:noFill/>
            </a:ln>
          </p:spPr>
          <p:txBody>
            <a:bodyPr rtlCol="0" anchor="ctr"/>
            <a:lstStyle/>
            <a:p>
              <a:pPr algn="ctr"/>
            </a:p>
          </p:txBody>
        </p:sp>
        <p:sp>
          <p:nvSpPr>
            <p:cNvPr id="31" name="TextBox 30"/>
            <p:cNvSpPr txBox="1"/>
            <p:nvPr/>
          </p:nvSpPr>
          <p:spPr>
            <a:xfrm>
              <a:off x="6720840" y="4133088"/>
              <a:ext cx="4809744" cy="384048"/>
            </a:xfrm>
            <a:prstGeom prst="rect">
              <a:avLst/>
            </a:prstGeom>
            <a:noFill/>
          </p:spPr>
          <p:txBody>
            <a:bodyPr wrap="square" lIns="0" tIns="0" rIns="0" bIns="0" anchor="ctr">
              <a:noAutofit/>
            </a:bodyPr>
            <a:lstStyle/>
            <a:p>
              <a:pPr algn="l"/>
              <a:r>
                <a:rPr sz="2000" b="0" i="0" lang="en-GB">
                  <a:solidFill>
                    <a:srgbClr val="F2F2F2"/>
                  </a:solidFill>
                  <a:latin typeface="Arial"/>
                </a:rPr>
                <a:t>Fastest class</a:t>
              </a:r>
            </a:p>
          </p:txBody>
        </p:sp>
        <p:sp>
          <p:nvSpPr>
            <p:cNvPr id="32" name="Inline chip Proposed"/>
            <p:cNvSpPr/>
            <p:nvPr/>
          </p:nvSpPr>
          <p:spPr>
            <a:xfrm>
              <a:off x="6720840" y="457200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33" name="Inline chip Undecided"/>
            <p:cNvSpPr/>
            <p:nvPr/>
          </p:nvSpPr>
          <p:spPr>
            <a:xfrm>
              <a:off x="8199628" y="4572000"/>
              <a:ext cx="20612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(OQ05)</a:t>
              </a:r>
            </a:p>
          </p:txBody>
        </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Medium has a tender and more range. It uses more coal and water. It may be the fastest class.</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20</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nodeType="withEffect">
                                  <p:stCondLst>
                                    <p:cond delay="60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nodeType="withEffect">
                                  <p:stCondLst>
                                    <p:cond delay="90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par>
                                <p:cTn id="17" presetID="10" presetClass="entr" presetSubtype="0" fill="hold" nodeType="withEffect">
                                  <p:stCondLst>
                                    <p:cond delay="12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Large: the heavy hauler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2" descr="BR Standard 9F No. 92203 at Toddington, front three-quarter view."/>
          <p:cNvPicPr>
            <a:picLocks noChangeAspect="1"/>
          </p:cNvPicPr>
          <p:nvPr/>
        </p:nvPicPr>
        <p:blipFill>
          <a:blip r:embed="rId2"/>
          <a:srcRect t="230" b="230"/>
          <a:stretch>
            <a:fillRect/>
          </a:stretch>
        </p:blipFill>
        <p:spPr>
          <a:xfrm>
            <a:off x="548640" y="1325880"/>
            <a:ext cx="5120640" cy="3291840"/>
          </a:xfrm>
          <a:prstGeom prst="roundRect">
            <a:avLst>
              <a:gd name="adj" fmla="val 2222"/>
            </a:avLst>
          </a:prstGeom>
        </p:spPr>
      </p:pic>
      <p:sp>
        <p:nvSpPr>
          <p:cNvPr id="9" name="Credit"/>
          <p:cNvSpPr txBox="1"/>
          <p:nvPr/>
        </p:nvSpPr>
        <p:spPr>
          <a:xfrm>
            <a:off x="548640" y="464515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Photo: Tony Hisgett, CC BY 2.0, Wikimedia Commons.</a:t>
            </a:r>
          </a:p>
        </p:txBody>
      </p:sp>
      <p:sp>
        <p:nvSpPr>
          <p:cNvPr id="10" name="TextBox 9"/>
          <p:cNvSpPr txBox="1"/>
          <p:nvPr/>
        </p:nvSpPr>
        <p:spPr>
          <a:xfrm>
            <a:off x="548640" y="4846320"/>
            <a:ext cx="5120640" cy="329184"/>
          </a:xfrm>
          <a:prstGeom prst="rect">
            <a:avLst/>
          </a:prstGeom>
          <a:noFill/>
        </p:spPr>
        <p:txBody>
          <a:bodyPr wrap="square" lIns="0" tIns="0" rIns="0" bIns="0" anchor="t">
            <a:noAutofit/>
          </a:bodyPr>
          <a:lstStyle/>
          <a:p>
            <a:pPr algn="l"/>
            <a:r>
              <a:rPr sz="1600" b="0" i="0" lang="en-GB">
                <a:solidFill>
                  <a:srgbClr val="F2F2F2"/>
                </a:solidFill>
                <a:latin typeface="Arial"/>
              </a:rPr>
              <a:t>Reference: BR Standard 9F</a:t>
            </a:r>
          </a:p>
        </p:txBody>
      </p:sp>
      <p:grpSp>
        <p:nvGrpSpPr>
          <p:cNvPr id="11" name="Traits" descr="Traits: Most powerful; High coal and water demand; Auxiliary tender for very long routes; Slower to speed up."/>
          <p:cNvGrpSpPr/>
          <p:nvPr/>
        </p:nvGrpSpPr>
        <p:grpSpPr>
          <a:xfrm>
            <a:off x="5989320" y="1371600"/>
            <a:ext cx="5650992" cy="3438144"/>
            <a:chOff x="5989320" y="1371600"/>
            <a:chExt cx="5650992" cy="3438144"/>
          </a:xfrm>
        </p:grpSpPr>
        <p:sp>
          <p:nvSpPr>
            <p:cNvPr id="12" name="Rounded Rectangle 11"/>
            <p:cNvSpPr/>
            <p:nvPr/>
          </p:nvSpPr>
          <p:spPr>
            <a:xfrm>
              <a:off x="5989320" y="1371600"/>
              <a:ext cx="5650992" cy="749808"/>
            </a:xfrm>
            <a:prstGeom prst="roundRect">
              <a:avLst>
                <a:gd name="adj" fmla="val 9756"/>
              </a:avLst>
            </a:prstGeom>
            <a:solidFill>
              <a:srgbClr val="2B2F36"/>
            </a:solidFill>
            <a:ln>
              <a:noFill/>
            </a:ln>
          </p:spPr>
          <p:txBody>
            <a:bodyPr rtlCol="0" anchor="ctr"/>
            <a:lstStyle/>
            <a:p>
              <a:pPr algn="ctr"/>
            </a:p>
          </p:txBody>
        </p:sp>
        <p:sp>
          <p:nvSpPr>
            <p:cNvPr id="13" name="Freeform 12"/>
            <p:cNvSpPr/>
            <p:nvPr/>
          </p:nvSpPr>
          <p:spPr>
            <a:xfrm>
              <a:off x="6183630" y="1700784"/>
              <a:ext cx="228600" cy="205740"/>
            </a:xfrm>
            <a:custGeom>
              <a:avLst/>
              <a:gdLst/>
              <a:ahLst/>
              <a:cxnLst/>
              <a:rect l="l" t="t" r="r" b="b"/>
              <a:pathLst>
                <a:path w="228600" h="205740">
                  <a:moveTo>
                    <a:pt x="0" y="205740"/>
                  </a:moveTo>
                  <a:lnTo>
                    <a:pt x="228600" y="205740"/>
                  </a:lnTo>
                  <a:lnTo>
                    <a:pt x="187452" y="0"/>
                  </a:lnTo>
                  <a:lnTo>
                    <a:pt x="41148" y="0"/>
                  </a:lnTo>
                  <a:close/>
                </a:path>
              </a:pathLst>
            </a:custGeom>
            <a:solidFill>
              <a:srgbClr val="F28C28"/>
            </a:solidFill>
            <a:ln>
              <a:noFill/>
            </a:ln>
          </p:spPr>
          <p:txBody>
            <a:bodyPr rtlCol="0" anchor="ctr"/>
            <a:lstStyle/>
            <a:p>
              <a:pPr algn="ctr"/>
            </a:p>
          </p:txBody>
        </p:sp>
        <p:sp>
          <p:nvSpPr>
            <p:cNvPr id="14" name="Freeform 13"/>
            <p:cNvSpPr/>
            <p:nvPr/>
          </p:nvSpPr>
          <p:spPr>
            <a:xfrm>
              <a:off x="6389370" y="1700784"/>
              <a:ext cx="228600" cy="205740"/>
            </a:xfrm>
            <a:custGeom>
              <a:avLst/>
              <a:gdLst/>
              <a:ahLst/>
              <a:cxnLst/>
              <a:rect l="l" t="t" r="r" b="b"/>
              <a:pathLst>
                <a:path w="228600" h="205740">
                  <a:moveTo>
                    <a:pt x="0" y="205740"/>
                  </a:moveTo>
                  <a:lnTo>
                    <a:pt x="228600" y="205740"/>
                  </a:lnTo>
                  <a:lnTo>
                    <a:pt x="187452" y="0"/>
                  </a:lnTo>
                  <a:lnTo>
                    <a:pt x="41148" y="0"/>
                  </a:lnTo>
                  <a:close/>
                </a:path>
              </a:pathLst>
            </a:custGeom>
            <a:solidFill>
              <a:srgbClr val="F28C28"/>
            </a:solidFill>
            <a:ln>
              <a:noFill/>
            </a:ln>
          </p:spPr>
          <p:txBody>
            <a:bodyPr rtlCol="0" anchor="ctr"/>
            <a:lstStyle/>
            <a:p>
              <a:pPr algn="ctr"/>
            </a:p>
          </p:txBody>
        </p:sp>
        <p:sp>
          <p:nvSpPr>
            <p:cNvPr id="15" name="Freeform 14"/>
            <p:cNvSpPr/>
            <p:nvPr/>
          </p:nvSpPr>
          <p:spPr>
            <a:xfrm>
              <a:off x="6286500" y="1563624"/>
              <a:ext cx="228600" cy="194310"/>
            </a:xfrm>
            <a:custGeom>
              <a:avLst/>
              <a:gdLst/>
              <a:ahLst/>
              <a:cxnLst/>
              <a:rect l="l" t="t" r="r" b="b"/>
              <a:pathLst>
                <a:path w="228600" h="194310">
                  <a:moveTo>
                    <a:pt x="0" y="194310"/>
                  </a:moveTo>
                  <a:lnTo>
                    <a:pt x="228600" y="194310"/>
                  </a:lnTo>
                  <a:lnTo>
                    <a:pt x="187452" y="0"/>
                  </a:lnTo>
                  <a:lnTo>
                    <a:pt x="41148" y="0"/>
                  </a:lnTo>
                  <a:close/>
                </a:path>
              </a:pathLst>
            </a:custGeom>
            <a:solidFill>
              <a:srgbClr val="F28C28"/>
            </a:solidFill>
            <a:ln w="12700">
              <a:solidFill>
                <a:srgbClr val="1E2126"/>
              </a:solidFill>
            </a:ln>
          </p:spPr>
          <p:txBody>
            <a:bodyPr rtlCol="0" anchor="ctr"/>
            <a:lstStyle/>
            <a:p>
              <a:pPr algn="ctr"/>
            </a:p>
          </p:txBody>
        </p:sp>
        <p:sp>
          <p:nvSpPr>
            <p:cNvPr id="16" name="TextBox 15"/>
            <p:cNvSpPr txBox="1"/>
            <p:nvPr/>
          </p:nvSpPr>
          <p:spPr>
            <a:xfrm>
              <a:off x="6720840" y="1371600"/>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Most powerful</a:t>
              </a:r>
            </a:p>
          </p:txBody>
        </p:sp>
        <p:sp>
          <p:nvSpPr>
            <p:cNvPr id="17" name="Rounded Rectangle 16"/>
            <p:cNvSpPr/>
            <p:nvPr/>
          </p:nvSpPr>
          <p:spPr>
            <a:xfrm>
              <a:off x="5989320" y="2267712"/>
              <a:ext cx="5650992" cy="749808"/>
            </a:xfrm>
            <a:prstGeom prst="roundRect">
              <a:avLst>
                <a:gd name="adj" fmla="val 9756"/>
              </a:avLst>
            </a:prstGeom>
            <a:solidFill>
              <a:srgbClr val="2B2F36"/>
            </a:solidFill>
            <a:ln>
              <a:noFill/>
            </a:ln>
          </p:spPr>
          <p:txBody>
            <a:bodyPr rtlCol="0" anchor="ctr"/>
            <a:lstStyle/>
            <a:p>
              <a:pPr algn="ctr"/>
            </a:p>
          </p:txBody>
        </p:sp>
        <p:sp>
          <p:nvSpPr>
            <p:cNvPr id="18" name="Freeform 17"/>
            <p:cNvSpPr/>
            <p:nvPr/>
          </p:nvSpPr>
          <p:spPr>
            <a:xfrm>
              <a:off x="6207919" y="2500884"/>
              <a:ext cx="202882" cy="272125"/>
            </a:xfrm>
            <a:custGeom>
              <a:avLst/>
              <a:gdLst/>
              <a:ahLst/>
              <a:cxnLst/>
              <a:rect l="l" t="t" r="r" b="b"/>
              <a:pathLst>
                <a:path w="202882" h="272125">
                  <a:moveTo>
                    <a:pt x="5548" y="135176"/>
                  </a:moveTo>
                  <a:lnTo>
                    <a:pt x="0" y="158969"/>
                  </a:lnTo>
                  <a:lnTo>
                    <a:pt x="267" y="183398"/>
                  </a:lnTo>
                  <a:lnTo>
                    <a:pt x="6332" y="207064"/>
                  </a:lnTo>
                  <a:lnTo>
                    <a:pt x="17849" y="228610"/>
                  </a:lnTo>
                  <a:lnTo>
                    <a:pt x="34157" y="246801"/>
                  </a:lnTo>
                  <a:lnTo>
                    <a:pt x="54321" y="260595"/>
                  </a:lnTo>
                  <a:lnTo>
                    <a:pt x="77186" y="269201"/>
                  </a:lnTo>
                  <a:lnTo>
                    <a:pt x="101441" y="272125"/>
                  </a:lnTo>
                  <a:lnTo>
                    <a:pt x="125696" y="269201"/>
                  </a:lnTo>
                  <a:lnTo>
                    <a:pt x="148561" y="260595"/>
                  </a:lnTo>
                  <a:lnTo>
                    <a:pt x="168725" y="246801"/>
                  </a:lnTo>
                  <a:lnTo>
                    <a:pt x="185033" y="228610"/>
                  </a:lnTo>
                  <a:lnTo>
                    <a:pt x="196550" y="207064"/>
                  </a:lnTo>
                  <a:lnTo>
                    <a:pt x="202615" y="183398"/>
                  </a:lnTo>
                  <a:lnTo>
                    <a:pt x="202882" y="158969"/>
                  </a:lnTo>
                  <a:lnTo>
                    <a:pt x="197334" y="135176"/>
                  </a:lnTo>
                  <a:lnTo>
                    <a:pt x="101441" y="0"/>
                  </a:lnTo>
                  <a:close/>
                </a:path>
              </a:pathLst>
            </a:custGeom>
            <a:solidFill>
              <a:srgbClr val="4DA3FF"/>
            </a:solidFill>
            <a:ln>
              <a:noFill/>
            </a:ln>
          </p:spPr>
          <p:txBody>
            <a:bodyPr rtlCol="0" anchor="ctr"/>
            <a:lstStyle/>
            <a:p>
              <a:pPr algn="ctr"/>
            </a:p>
          </p:txBody>
        </p:sp>
        <p:sp>
          <p:nvSpPr>
            <p:cNvPr id="19" name="Freeform 18"/>
            <p:cNvSpPr/>
            <p:nvPr/>
          </p:nvSpPr>
          <p:spPr>
            <a:xfrm>
              <a:off x="6423660" y="2596896"/>
              <a:ext cx="194310" cy="182880"/>
            </a:xfrm>
            <a:custGeom>
              <a:avLst/>
              <a:gdLst/>
              <a:ahLst/>
              <a:cxnLst/>
              <a:rect l="l" t="t" r="r" b="b"/>
              <a:pathLst>
                <a:path w="194310" h="182880">
                  <a:moveTo>
                    <a:pt x="0" y="182880"/>
                  </a:moveTo>
                  <a:lnTo>
                    <a:pt x="194310" y="182880"/>
                  </a:lnTo>
                  <a:lnTo>
                    <a:pt x="160020" y="45720"/>
                  </a:lnTo>
                  <a:lnTo>
                    <a:pt x="80010" y="0"/>
                  </a:lnTo>
                  <a:lnTo>
                    <a:pt x="22860" y="68580"/>
                  </a:lnTo>
                  <a:close/>
                </a:path>
              </a:pathLst>
            </a:custGeom>
            <a:solidFill>
              <a:srgbClr val="1B1D21"/>
            </a:solidFill>
            <a:ln w="12700">
              <a:solidFill>
                <a:srgbClr val="6B7078"/>
              </a:solidFill>
            </a:ln>
          </p:spPr>
          <p:txBody>
            <a:bodyPr rtlCol="0" anchor="ctr"/>
            <a:lstStyle/>
            <a:p>
              <a:pPr algn="ctr"/>
            </a:p>
          </p:txBody>
        </p:sp>
        <p:sp>
          <p:nvSpPr>
            <p:cNvPr id="20" name="TextBox 19"/>
            <p:cNvSpPr txBox="1"/>
            <p:nvPr/>
          </p:nvSpPr>
          <p:spPr>
            <a:xfrm>
              <a:off x="6720840" y="2267712"/>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High coal and water demand</a:t>
              </a:r>
            </a:p>
          </p:txBody>
        </p:sp>
        <p:sp>
          <p:nvSpPr>
            <p:cNvPr id="21" name="Rounded Rectangle 20"/>
            <p:cNvSpPr/>
            <p:nvPr/>
          </p:nvSpPr>
          <p:spPr>
            <a:xfrm>
              <a:off x="5989320" y="3163824"/>
              <a:ext cx="5650992" cy="749808"/>
            </a:xfrm>
            <a:prstGeom prst="roundRect">
              <a:avLst>
                <a:gd name="adj" fmla="val 9756"/>
              </a:avLst>
            </a:prstGeom>
            <a:solidFill>
              <a:srgbClr val="2B2F36"/>
            </a:solidFill>
            <a:ln>
              <a:noFill/>
            </a:ln>
          </p:spPr>
          <p:txBody>
            <a:bodyPr rtlCol="0" anchor="ctr"/>
            <a:lstStyle/>
            <a:p>
              <a:pPr algn="ctr"/>
            </a:p>
          </p:txBody>
        </p:sp>
        <p:sp>
          <p:nvSpPr>
            <p:cNvPr id="22" name="Rectangle 21"/>
            <p:cNvSpPr/>
            <p:nvPr/>
          </p:nvSpPr>
          <p:spPr>
            <a:xfrm>
              <a:off x="6206490" y="3447288"/>
              <a:ext cx="388620" cy="274320"/>
            </a:xfrm>
            <a:prstGeom prst="rect">
              <a:avLst/>
            </a:prstGeom>
            <a:pattFill prst="wdUpDiag">
              <a:fgClr>
                <a:srgbClr val="F28C28"/>
              </a:fgClr>
              <a:bgClr>
                <a:srgbClr val="2B2F36"/>
              </a:bgClr>
            </a:pattFill>
            <a:ln w="19050">
              <a:solidFill>
                <a:srgbClr val="F28C28"/>
              </a:solidFill>
            </a:ln>
          </p:spPr>
          <p:txBody>
            <a:bodyPr rtlCol="0" anchor="ctr"/>
            <a:lstStyle/>
            <a:p>
              <a:pPr algn="ctr"/>
            </a:p>
          </p:txBody>
        </p:sp>
        <p:sp>
          <p:nvSpPr>
            <p:cNvPr id="23" name="Oval 22"/>
            <p:cNvSpPr/>
            <p:nvPr/>
          </p:nvSpPr>
          <p:spPr>
            <a:xfrm>
              <a:off x="6247638" y="3637026"/>
              <a:ext cx="100584" cy="100584"/>
            </a:xfrm>
            <a:prstGeom prst="ellipse">
              <a:avLst/>
            </a:prstGeom>
            <a:solidFill>
              <a:srgbClr val="1B1D21"/>
            </a:solidFill>
            <a:ln w="12700">
              <a:solidFill>
                <a:srgbClr val="9AA0A6"/>
              </a:solidFill>
            </a:ln>
          </p:spPr>
          <p:txBody>
            <a:bodyPr rtlCol="0" anchor="ctr"/>
            <a:lstStyle/>
            <a:p>
              <a:pPr algn="ctr"/>
            </a:p>
          </p:txBody>
        </p:sp>
        <p:sp>
          <p:nvSpPr>
            <p:cNvPr id="24" name="Oval 23"/>
            <p:cNvSpPr/>
            <p:nvPr/>
          </p:nvSpPr>
          <p:spPr>
            <a:xfrm>
              <a:off x="6453378" y="3637026"/>
              <a:ext cx="100584" cy="100584"/>
            </a:xfrm>
            <a:prstGeom prst="ellipse">
              <a:avLst/>
            </a:prstGeom>
            <a:solidFill>
              <a:srgbClr val="1B1D21"/>
            </a:solidFill>
            <a:ln w="12700">
              <a:solidFill>
                <a:srgbClr val="9AA0A6"/>
              </a:solidFill>
            </a:ln>
          </p:spPr>
          <p:txBody>
            <a:bodyPr rtlCol="0" anchor="ctr"/>
            <a:lstStyle/>
            <a:p>
              <a:pPr algn="ctr"/>
            </a:p>
          </p:txBody>
        </p:sp>
        <p:sp>
          <p:nvSpPr>
            <p:cNvPr id="25" name="TextBox 24"/>
            <p:cNvSpPr txBox="1"/>
            <p:nvPr/>
          </p:nvSpPr>
          <p:spPr>
            <a:xfrm>
              <a:off x="6720840" y="3163824"/>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Auxiliary tender for very long routes</a:t>
              </a:r>
            </a:p>
          </p:txBody>
        </p:sp>
        <p:sp>
          <p:nvSpPr>
            <p:cNvPr id="26" name="Rounded Rectangle 25"/>
            <p:cNvSpPr/>
            <p:nvPr/>
          </p:nvSpPr>
          <p:spPr>
            <a:xfrm>
              <a:off x="5989320" y="4059936"/>
              <a:ext cx="5650992" cy="749808"/>
            </a:xfrm>
            <a:prstGeom prst="roundRect">
              <a:avLst>
                <a:gd name="adj" fmla="val 9756"/>
              </a:avLst>
            </a:prstGeom>
            <a:solidFill>
              <a:srgbClr val="2B2F36"/>
            </a:solidFill>
            <a:ln>
              <a:noFill/>
            </a:ln>
          </p:spPr>
          <p:txBody>
            <a:bodyPr rtlCol="0" anchor="ctr"/>
            <a:lstStyle/>
            <a:p>
              <a:pPr algn="ctr"/>
            </a:p>
          </p:txBody>
        </p:sp>
        <p:sp>
          <p:nvSpPr>
            <p:cNvPr id="27" name="Oval 26"/>
            <p:cNvSpPr/>
            <p:nvPr/>
          </p:nvSpPr>
          <p:spPr>
            <a:xfrm>
              <a:off x="6195060" y="4229100"/>
              <a:ext cx="411480" cy="411480"/>
            </a:xfrm>
            <a:prstGeom prst="ellipse">
              <a:avLst/>
            </a:prstGeom>
            <a:noFill/>
            <a:ln w="31750">
              <a:solidFill>
                <a:srgbClr val="F28C28"/>
              </a:solidFill>
            </a:ln>
          </p:spPr>
          <p:txBody>
            <a:bodyPr rtlCol="0" anchor="ctr"/>
            <a:lstStyle/>
            <a:p>
              <a:pPr algn="ctr"/>
            </a:p>
          </p:txBody>
        </p:sp>
        <p:cxnSp>
          <p:nvCxnSpPr>
            <p:cNvPr id="28" name="Connector 27"/>
            <p:cNvCxnSpPr/>
            <p:nvPr/>
          </p:nvCxnSpPr>
          <p:spPr>
            <a:xfrm flipH="1" flipV="1">
              <a:off x="6297930" y="4389120"/>
              <a:ext cx="102870" cy="45720"/>
            </a:xfrm>
            <a:prstGeom prst="line">
              <a:avLst/>
            </a:prstGeom>
            <a:ln w="31750">
              <a:solidFill>
                <a:srgbClr val="F2F2F2"/>
              </a:solidFill>
            </a:ln>
          </p:spPr>
        </p:cxnSp>
        <p:sp>
          <p:nvSpPr>
            <p:cNvPr id="29" name="Oval 28"/>
            <p:cNvSpPr/>
            <p:nvPr/>
          </p:nvSpPr>
          <p:spPr>
            <a:xfrm>
              <a:off x="6373368" y="4407408"/>
              <a:ext cx="54864" cy="54864"/>
            </a:xfrm>
            <a:prstGeom prst="ellipse">
              <a:avLst/>
            </a:prstGeom>
            <a:solidFill>
              <a:srgbClr val="F28C28"/>
            </a:solidFill>
            <a:ln>
              <a:noFill/>
            </a:ln>
          </p:spPr>
          <p:txBody>
            <a:bodyPr rtlCol="0" anchor="ctr"/>
            <a:lstStyle/>
            <a:p>
              <a:pPr algn="ctr"/>
            </a:p>
          </p:txBody>
        </p:sp>
        <p:sp>
          <p:nvSpPr>
            <p:cNvPr id="30" name="TextBox 29"/>
            <p:cNvSpPr txBox="1"/>
            <p:nvPr/>
          </p:nvSpPr>
          <p:spPr>
            <a:xfrm>
              <a:off x="6720840" y="4059936"/>
              <a:ext cx="3349244" cy="749808"/>
            </a:xfrm>
            <a:prstGeom prst="rect">
              <a:avLst/>
            </a:prstGeom>
            <a:noFill/>
          </p:spPr>
          <p:txBody>
            <a:bodyPr wrap="square" lIns="0" tIns="0" rIns="0" bIns="0" anchor="ctr">
              <a:noAutofit/>
            </a:bodyPr>
            <a:lstStyle/>
            <a:p>
              <a:pPr algn="l"/>
              <a:r>
                <a:rPr sz="2000" b="0" i="0" lang="en-GB">
                  <a:solidFill>
                    <a:srgbClr val="F2F2F2"/>
                  </a:solidFill>
                  <a:latin typeface="Arial"/>
                </a:rPr>
                <a:t>Slower to speed up</a:t>
              </a:r>
            </a:p>
          </p:txBody>
        </p:sp>
        <p:sp>
          <p:nvSpPr>
            <p:cNvPr id="31" name="Inline chip Proposed"/>
            <p:cNvSpPr/>
            <p:nvPr/>
          </p:nvSpPr>
          <p:spPr>
            <a:xfrm>
              <a:off x="10161524" y="4270248"/>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Large pulls the heaviest trains. It is thirsty and slow to speed up. It suits heavy freight.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21</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nodeType="withEffect">
                                  <p:stCondLst>
                                    <p:cond delay="60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nodeType="withEffect">
                                  <p:stCondLst>
                                    <p:cond delay="90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par>
                                <p:cTn id="17" presetID="10" presetClass="entr" presetSubtype="0" fill="hold" nodeType="withEffect">
                                  <p:stCondLst>
                                    <p:cond delay="12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Wagons</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nvGrpSpPr>
          <p:cNvPr id="8" name="Wagon comparison" descr="Two wagons side by side. The steam wagon holds a grid of 20 squares (about 20 item stacks); the vanilla wagon holds 32."/>
          <p:cNvGrpSpPr/>
          <p:nvPr/>
        </p:nvGrpSpPr>
        <p:grpSpPr>
          <a:xfrm>
            <a:off x="640080" y="1737360"/>
            <a:ext cx="10360152" cy="1865376"/>
            <a:chOff x="640080" y="1737360"/>
            <a:chExt cx="10360152" cy="1865376"/>
          </a:xfrm>
        </p:grpSpPr>
        <p:sp>
          <p:nvSpPr>
            <p:cNvPr id="9" name="Rounded Rectangle 8"/>
            <p:cNvSpPr/>
            <p:nvPr/>
          </p:nvSpPr>
          <p:spPr>
            <a:xfrm>
              <a:off x="914400" y="1737360"/>
              <a:ext cx="4206240" cy="1463040"/>
            </a:xfrm>
            <a:prstGeom prst="roundRect">
              <a:avLst>
                <a:gd name="adj" fmla="val 3750"/>
              </a:avLst>
            </a:prstGeom>
            <a:solidFill>
              <a:srgbClr val="4D3926"/>
            </a:solidFill>
            <a:ln w="31750">
              <a:solidFill>
                <a:srgbClr val="F28C28"/>
              </a:solidFill>
            </a:ln>
          </p:spPr>
          <p:txBody>
            <a:bodyPr rtlCol="0" anchor="ctr"/>
            <a:lstStyle/>
            <a:p>
              <a:pPr algn="ctr"/>
            </a:p>
          </p:txBody>
        </p:sp>
        <p:sp>
          <p:nvSpPr>
            <p:cNvPr id="10" name="Rounded Rectangle 9"/>
            <p:cNvSpPr/>
            <p:nvPr/>
          </p:nvSpPr>
          <p:spPr>
            <a:xfrm>
              <a:off x="2295144" y="1897380"/>
              <a:ext cx="237744" cy="237744"/>
            </a:xfrm>
            <a:prstGeom prst="roundRect">
              <a:avLst>
                <a:gd name="adj" fmla="val 11538"/>
              </a:avLst>
            </a:prstGeom>
            <a:solidFill>
              <a:srgbClr val="F28C28"/>
            </a:solidFill>
            <a:ln>
              <a:noFill/>
            </a:ln>
          </p:spPr>
          <p:txBody>
            <a:bodyPr rtlCol="0" anchor="ctr"/>
            <a:lstStyle/>
            <a:p>
              <a:pPr algn="ctr"/>
            </a:p>
          </p:txBody>
        </p:sp>
        <p:sp>
          <p:nvSpPr>
            <p:cNvPr id="11" name="Rounded Rectangle 10"/>
            <p:cNvSpPr/>
            <p:nvPr/>
          </p:nvSpPr>
          <p:spPr>
            <a:xfrm>
              <a:off x="2596896" y="1897380"/>
              <a:ext cx="237744" cy="237744"/>
            </a:xfrm>
            <a:prstGeom prst="roundRect">
              <a:avLst>
                <a:gd name="adj" fmla="val 11538"/>
              </a:avLst>
            </a:prstGeom>
            <a:solidFill>
              <a:srgbClr val="F28C28"/>
            </a:solidFill>
            <a:ln>
              <a:noFill/>
            </a:ln>
          </p:spPr>
          <p:txBody>
            <a:bodyPr rtlCol="0" anchor="ctr"/>
            <a:lstStyle/>
            <a:p>
              <a:pPr algn="ctr"/>
            </a:p>
          </p:txBody>
        </p:sp>
        <p:sp>
          <p:nvSpPr>
            <p:cNvPr id="12" name="Rounded Rectangle 11"/>
            <p:cNvSpPr/>
            <p:nvPr/>
          </p:nvSpPr>
          <p:spPr>
            <a:xfrm>
              <a:off x="2898648" y="1897380"/>
              <a:ext cx="237744" cy="237744"/>
            </a:xfrm>
            <a:prstGeom prst="roundRect">
              <a:avLst>
                <a:gd name="adj" fmla="val 11538"/>
              </a:avLst>
            </a:prstGeom>
            <a:solidFill>
              <a:srgbClr val="F28C28"/>
            </a:solidFill>
            <a:ln>
              <a:noFill/>
            </a:ln>
          </p:spPr>
          <p:txBody>
            <a:bodyPr rtlCol="0" anchor="ctr"/>
            <a:lstStyle/>
            <a:p>
              <a:pPr algn="ctr"/>
            </a:p>
          </p:txBody>
        </p:sp>
        <p:sp>
          <p:nvSpPr>
            <p:cNvPr id="13" name="Rounded Rectangle 12"/>
            <p:cNvSpPr/>
            <p:nvPr/>
          </p:nvSpPr>
          <p:spPr>
            <a:xfrm>
              <a:off x="3200400" y="1897380"/>
              <a:ext cx="237744" cy="237744"/>
            </a:xfrm>
            <a:prstGeom prst="roundRect">
              <a:avLst>
                <a:gd name="adj" fmla="val 11538"/>
              </a:avLst>
            </a:prstGeom>
            <a:solidFill>
              <a:srgbClr val="F28C28"/>
            </a:solidFill>
            <a:ln>
              <a:noFill/>
            </a:ln>
          </p:spPr>
          <p:txBody>
            <a:bodyPr rtlCol="0" anchor="ctr"/>
            <a:lstStyle/>
            <a:p>
              <a:pPr algn="ctr"/>
            </a:p>
          </p:txBody>
        </p:sp>
        <p:sp>
          <p:nvSpPr>
            <p:cNvPr id="14" name="Rounded Rectangle 13"/>
            <p:cNvSpPr/>
            <p:nvPr/>
          </p:nvSpPr>
          <p:spPr>
            <a:xfrm>
              <a:off x="3502152" y="1897380"/>
              <a:ext cx="237744" cy="237744"/>
            </a:xfrm>
            <a:prstGeom prst="roundRect">
              <a:avLst>
                <a:gd name="adj" fmla="val 11538"/>
              </a:avLst>
            </a:prstGeom>
            <a:solidFill>
              <a:srgbClr val="F28C28"/>
            </a:solidFill>
            <a:ln>
              <a:noFill/>
            </a:ln>
          </p:spPr>
          <p:txBody>
            <a:bodyPr rtlCol="0" anchor="ctr"/>
            <a:lstStyle/>
            <a:p>
              <a:pPr algn="ctr"/>
            </a:p>
          </p:txBody>
        </p:sp>
        <p:sp>
          <p:nvSpPr>
            <p:cNvPr id="15" name="Rounded Rectangle 14"/>
            <p:cNvSpPr/>
            <p:nvPr/>
          </p:nvSpPr>
          <p:spPr>
            <a:xfrm>
              <a:off x="2295144" y="2199132"/>
              <a:ext cx="237744" cy="237744"/>
            </a:xfrm>
            <a:prstGeom prst="roundRect">
              <a:avLst>
                <a:gd name="adj" fmla="val 11538"/>
              </a:avLst>
            </a:prstGeom>
            <a:solidFill>
              <a:srgbClr val="F28C28"/>
            </a:solidFill>
            <a:ln>
              <a:noFill/>
            </a:ln>
          </p:spPr>
          <p:txBody>
            <a:bodyPr rtlCol="0" anchor="ctr"/>
            <a:lstStyle/>
            <a:p>
              <a:pPr algn="ctr"/>
            </a:p>
          </p:txBody>
        </p:sp>
        <p:sp>
          <p:nvSpPr>
            <p:cNvPr id="16" name="Rounded Rectangle 15"/>
            <p:cNvSpPr/>
            <p:nvPr/>
          </p:nvSpPr>
          <p:spPr>
            <a:xfrm>
              <a:off x="2596896" y="2199132"/>
              <a:ext cx="237744" cy="237744"/>
            </a:xfrm>
            <a:prstGeom prst="roundRect">
              <a:avLst>
                <a:gd name="adj" fmla="val 11538"/>
              </a:avLst>
            </a:prstGeom>
            <a:solidFill>
              <a:srgbClr val="F28C28"/>
            </a:solidFill>
            <a:ln>
              <a:noFill/>
            </a:ln>
          </p:spPr>
          <p:txBody>
            <a:bodyPr rtlCol="0" anchor="ctr"/>
            <a:lstStyle/>
            <a:p>
              <a:pPr algn="ctr"/>
            </a:p>
          </p:txBody>
        </p:sp>
        <p:sp>
          <p:nvSpPr>
            <p:cNvPr id="17" name="Rounded Rectangle 16"/>
            <p:cNvSpPr/>
            <p:nvPr/>
          </p:nvSpPr>
          <p:spPr>
            <a:xfrm>
              <a:off x="2898648" y="2199132"/>
              <a:ext cx="237744" cy="237744"/>
            </a:xfrm>
            <a:prstGeom prst="roundRect">
              <a:avLst>
                <a:gd name="adj" fmla="val 11538"/>
              </a:avLst>
            </a:prstGeom>
            <a:solidFill>
              <a:srgbClr val="F28C28"/>
            </a:solidFill>
            <a:ln>
              <a:noFill/>
            </a:ln>
          </p:spPr>
          <p:txBody>
            <a:bodyPr rtlCol="0" anchor="ctr"/>
            <a:lstStyle/>
            <a:p>
              <a:pPr algn="ctr"/>
            </a:p>
          </p:txBody>
        </p:sp>
        <p:sp>
          <p:nvSpPr>
            <p:cNvPr id="18" name="Rounded Rectangle 17"/>
            <p:cNvSpPr/>
            <p:nvPr/>
          </p:nvSpPr>
          <p:spPr>
            <a:xfrm>
              <a:off x="3200400" y="2199132"/>
              <a:ext cx="237744" cy="237744"/>
            </a:xfrm>
            <a:prstGeom prst="roundRect">
              <a:avLst>
                <a:gd name="adj" fmla="val 11538"/>
              </a:avLst>
            </a:prstGeom>
            <a:solidFill>
              <a:srgbClr val="F28C28"/>
            </a:solidFill>
            <a:ln>
              <a:noFill/>
            </a:ln>
          </p:spPr>
          <p:txBody>
            <a:bodyPr rtlCol="0" anchor="ctr"/>
            <a:lstStyle/>
            <a:p>
              <a:pPr algn="ctr"/>
            </a:p>
          </p:txBody>
        </p:sp>
        <p:sp>
          <p:nvSpPr>
            <p:cNvPr id="19" name="Rounded Rectangle 18"/>
            <p:cNvSpPr/>
            <p:nvPr/>
          </p:nvSpPr>
          <p:spPr>
            <a:xfrm>
              <a:off x="3502152" y="2199132"/>
              <a:ext cx="237744" cy="237744"/>
            </a:xfrm>
            <a:prstGeom prst="roundRect">
              <a:avLst>
                <a:gd name="adj" fmla="val 11538"/>
              </a:avLst>
            </a:prstGeom>
            <a:solidFill>
              <a:srgbClr val="F28C28"/>
            </a:solidFill>
            <a:ln>
              <a:noFill/>
            </a:ln>
          </p:spPr>
          <p:txBody>
            <a:bodyPr rtlCol="0" anchor="ctr"/>
            <a:lstStyle/>
            <a:p>
              <a:pPr algn="ctr"/>
            </a:p>
          </p:txBody>
        </p:sp>
        <p:sp>
          <p:nvSpPr>
            <p:cNvPr id="20" name="Rounded Rectangle 19"/>
            <p:cNvSpPr/>
            <p:nvPr/>
          </p:nvSpPr>
          <p:spPr>
            <a:xfrm>
              <a:off x="2295144" y="2500884"/>
              <a:ext cx="237744" cy="237744"/>
            </a:xfrm>
            <a:prstGeom prst="roundRect">
              <a:avLst>
                <a:gd name="adj" fmla="val 11538"/>
              </a:avLst>
            </a:prstGeom>
            <a:solidFill>
              <a:srgbClr val="F28C28"/>
            </a:solidFill>
            <a:ln>
              <a:noFill/>
            </a:ln>
          </p:spPr>
          <p:txBody>
            <a:bodyPr rtlCol="0" anchor="ctr"/>
            <a:lstStyle/>
            <a:p>
              <a:pPr algn="ctr"/>
            </a:p>
          </p:txBody>
        </p:sp>
        <p:sp>
          <p:nvSpPr>
            <p:cNvPr id="21" name="Rounded Rectangle 20"/>
            <p:cNvSpPr/>
            <p:nvPr/>
          </p:nvSpPr>
          <p:spPr>
            <a:xfrm>
              <a:off x="2596896" y="2500884"/>
              <a:ext cx="237744" cy="237744"/>
            </a:xfrm>
            <a:prstGeom prst="roundRect">
              <a:avLst>
                <a:gd name="adj" fmla="val 11538"/>
              </a:avLst>
            </a:prstGeom>
            <a:solidFill>
              <a:srgbClr val="F28C28"/>
            </a:solidFill>
            <a:ln>
              <a:noFill/>
            </a:ln>
          </p:spPr>
          <p:txBody>
            <a:bodyPr rtlCol="0" anchor="ctr"/>
            <a:lstStyle/>
            <a:p>
              <a:pPr algn="ctr"/>
            </a:p>
          </p:txBody>
        </p:sp>
        <p:sp>
          <p:nvSpPr>
            <p:cNvPr id="22" name="Rounded Rectangle 21"/>
            <p:cNvSpPr/>
            <p:nvPr/>
          </p:nvSpPr>
          <p:spPr>
            <a:xfrm>
              <a:off x="2898648" y="2500884"/>
              <a:ext cx="237744" cy="237744"/>
            </a:xfrm>
            <a:prstGeom prst="roundRect">
              <a:avLst>
                <a:gd name="adj" fmla="val 11538"/>
              </a:avLst>
            </a:prstGeom>
            <a:solidFill>
              <a:srgbClr val="F28C28"/>
            </a:solidFill>
            <a:ln>
              <a:noFill/>
            </a:ln>
          </p:spPr>
          <p:txBody>
            <a:bodyPr rtlCol="0" anchor="ctr"/>
            <a:lstStyle/>
            <a:p>
              <a:pPr algn="ctr"/>
            </a:p>
          </p:txBody>
        </p:sp>
        <p:sp>
          <p:nvSpPr>
            <p:cNvPr id="23" name="Rounded Rectangle 22"/>
            <p:cNvSpPr/>
            <p:nvPr/>
          </p:nvSpPr>
          <p:spPr>
            <a:xfrm>
              <a:off x="3200400" y="2500884"/>
              <a:ext cx="237744" cy="237744"/>
            </a:xfrm>
            <a:prstGeom prst="roundRect">
              <a:avLst>
                <a:gd name="adj" fmla="val 11538"/>
              </a:avLst>
            </a:prstGeom>
            <a:solidFill>
              <a:srgbClr val="F28C28"/>
            </a:solidFill>
            <a:ln>
              <a:noFill/>
            </a:ln>
          </p:spPr>
          <p:txBody>
            <a:bodyPr rtlCol="0" anchor="ctr"/>
            <a:lstStyle/>
            <a:p>
              <a:pPr algn="ctr"/>
            </a:p>
          </p:txBody>
        </p:sp>
        <p:sp>
          <p:nvSpPr>
            <p:cNvPr id="24" name="Rounded Rectangle 23"/>
            <p:cNvSpPr/>
            <p:nvPr/>
          </p:nvSpPr>
          <p:spPr>
            <a:xfrm>
              <a:off x="3502152" y="2500884"/>
              <a:ext cx="237744" cy="237744"/>
            </a:xfrm>
            <a:prstGeom prst="roundRect">
              <a:avLst>
                <a:gd name="adj" fmla="val 11538"/>
              </a:avLst>
            </a:prstGeom>
            <a:solidFill>
              <a:srgbClr val="F28C28"/>
            </a:solidFill>
            <a:ln>
              <a:noFill/>
            </a:ln>
          </p:spPr>
          <p:txBody>
            <a:bodyPr rtlCol="0" anchor="ctr"/>
            <a:lstStyle/>
            <a:p>
              <a:pPr algn="ctr"/>
            </a:p>
          </p:txBody>
        </p:sp>
        <p:sp>
          <p:nvSpPr>
            <p:cNvPr id="25" name="Rounded Rectangle 24"/>
            <p:cNvSpPr/>
            <p:nvPr/>
          </p:nvSpPr>
          <p:spPr>
            <a:xfrm>
              <a:off x="2295144" y="2802636"/>
              <a:ext cx="237744" cy="237744"/>
            </a:xfrm>
            <a:prstGeom prst="roundRect">
              <a:avLst>
                <a:gd name="adj" fmla="val 11538"/>
              </a:avLst>
            </a:prstGeom>
            <a:solidFill>
              <a:srgbClr val="F28C28"/>
            </a:solidFill>
            <a:ln>
              <a:noFill/>
            </a:ln>
          </p:spPr>
          <p:txBody>
            <a:bodyPr rtlCol="0" anchor="ctr"/>
            <a:lstStyle/>
            <a:p>
              <a:pPr algn="ctr"/>
            </a:p>
          </p:txBody>
        </p:sp>
        <p:sp>
          <p:nvSpPr>
            <p:cNvPr id="26" name="Rounded Rectangle 25"/>
            <p:cNvSpPr/>
            <p:nvPr/>
          </p:nvSpPr>
          <p:spPr>
            <a:xfrm>
              <a:off x="2596896" y="2802636"/>
              <a:ext cx="237744" cy="237744"/>
            </a:xfrm>
            <a:prstGeom prst="roundRect">
              <a:avLst>
                <a:gd name="adj" fmla="val 11538"/>
              </a:avLst>
            </a:prstGeom>
            <a:solidFill>
              <a:srgbClr val="F28C28"/>
            </a:solidFill>
            <a:ln>
              <a:noFill/>
            </a:ln>
          </p:spPr>
          <p:txBody>
            <a:bodyPr rtlCol="0" anchor="ctr"/>
            <a:lstStyle/>
            <a:p>
              <a:pPr algn="ctr"/>
            </a:p>
          </p:txBody>
        </p:sp>
        <p:sp>
          <p:nvSpPr>
            <p:cNvPr id="27" name="Rounded Rectangle 26"/>
            <p:cNvSpPr/>
            <p:nvPr/>
          </p:nvSpPr>
          <p:spPr>
            <a:xfrm>
              <a:off x="2898648" y="2802636"/>
              <a:ext cx="237744" cy="237744"/>
            </a:xfrm>
            <a:prstGeom prst="roundRect">
              <a:avLst>
                <a:gd name="adj" fmla="val 11538"/>
              </a:avLst>
            </a:prstGeom>
            <a:solidFill>
              <a:srgbClr val="F28C28"/>
            </a:solidFill>
            <a:ln>
              <a:noFill/>
            </a:ln>
          </p:spPr>
          <p:txBody>
            <a:bodyPr rtlCol="0" anchor="ctr"/>
            <a:lstStyle/>
            <a:p>
              <a:pPr algn="ctr"/>
            </a:p>
          </p:txBody>
        </p:sp>
        <p:sp>
          <p:nvSpPr>
            <p:cNvPr id="28" name="Rounded Rectangle 27"/>
            <p:cNvSpPr/>
            <p:nvPr/>
          </p:nvSpPr>
          <p:spPr>
            <a:xfrm>
              <a:off x="3200400" y="2802636"/>
              <a:ext cx="237744" cy="237744"/>
            </a:xfrm>
            <a:prstGeom prst="roundRect">
              <a:avLst>
                <a:gd name="adj" fmla="val 11538"/>
              </a:avLst>
            </a:prstGeom>
            <a:solidFill>
              <a:srgbClr val="F28C28"/>
            </a:solidFill>
            <a:ln>
              <a:noFill/>
            </a:ln>
          </p:spPr>
          <p:txBody>
            <a:bodyPr rtlCol="0" anchor="ctr"/>
            <a:lstStyle/>
            <a:p>
              <a:pPr algn="ctr"/>
            </a:p>
          </p:txBody>
        </p:sp>
        <p:sp>
          <p:nvSpPr>
            <p:cNvPr id="29" name="Rounded Rectangle 28"/>
            <p:cNvSpPr/>
            <p:nvPr/>
          </p:nvSpPr>
          <p:spPr>
            <a:xfrm>
              <a:off x="3502152" y="2802636"/>
              <a:ext cx="237744" cy="237744"/>
            </a:xfrm>
            <a:prstGeom prst="roundRect">
              <a:avLst>
                <a:gd name="adj" fmla="val 11538"/>
              </a:avLst>
            </a:prstGeom>
            <a:solidFill>
              <a:srgbClr val="F28C28"/>
            </a:solidFill>
            <a:ln>
              <a:noFill/>
            </a:ln>
          </p:spPr>
          <p:txBody>
            <a:bodyPr rtlCol="0" anchor="ctr"/>
            <a:lstStyle/>
            <a:p>
              <a:pPr algn="ctr"/>
            </a:p>
          </p:txBody>
        </p:sp>
        <p:sp>
          <p:nvSpPr>
            <p:cNvPr id="30" name="Rectangle 29"/>
            <p:cNvSpPr/>
            <p:nvPr/>
          </p:nvSpPr>
          <p:spPr>
            <a:xfrm>
              <a:off x="822960" y="3200400"/>
              <a:ext cx="4389120" cy="73152"/>
            </a:xfrm>
            <a:prstGeom prst="rect">
              <a:avLst/>
            </a:prstGeom>
            <a:solidFill>
              <a:srgbClr val="9AA0A6"/>
            </a:solidFill>
            <a:ln>
              <a:noFill/>
            </a:ln>
          </p:spPr>
          <p:txBody>
            <a:bodyPr rtlCol="0" anchor="ctr"/>
            <a:lstStyle/>
            <a:p>
              <a:pPr algn="ctr"/>
            </a:p>
          </p:txBody>
        </p:sp>
        <p:sp>
          <p:nvSpPr>
            <p:cNvPr id="31" name="Oval 30"/>
            <p:cNvSpPr/>
            <p:nvPr/>
          </p:nvSpPr>
          <p:spPr>
            <a:xfrm>
              <a:off x="1525219" y="3255264"/>
              <a:ext cx="292608" cy="292608"/>
            </a:xfrm>
            <a:prstGeom prst="ellipse">
              <a:avLst/>
            </a:prstGeom>
            <a:solidFill>
              <a:srgbClr val="1B1D21"/>
            </a:solidFill>
            <a:ln w="19050">
              <a:solidFill>
                <a:srgbClr val="9AA0A6"/>
              </a:solidFill>
            </a:ln>
          </p:spPr>
          <p:txBody>
            <a:bodyPr rtlCol="0" anchor="ctr"/>
            <a:lstStyle/>
            <a:p>
              <a:pPr algn="ctr"/>
            </a:p>
          </p:txBody>
        </p:sp>
        <p:sp>
          <p:nvSpPr>
            <p:cNvPr id="32" name="Oval 31"/>
            <p:cNvSpPr/>
            <p:nvPr/>
          </p:nvSpPr>
          <p:spPr>
            <a:xfrm>
              <a:off x="4217213" y="3255264"/>
              <a:ext cx="292608" cy="292608"/>
            </a:xfrm>
            <a:prstGeom prst="ellipse">
              <a:avLst/>
            </a:prstGeom>
            <a:solidFill>
              <a:srgbClr val="1B1D21"/>
            </a:solidFill>
            <a:ln w="19050">
              <a:solidFill>
                <a:srgbClr val="9AA0A6"/>
              </a:solidFill>
            </a:ln>
          </p:spPr>
          <p:txBody>
            <a:bodyPr rtlCol="0" anchor="ctr"/>
            <a:lstStyle/>
            <a:p>
              <a:pPr algn="ctr"/>
            </a:p>
          </p:txBody>
        </p:sp>
        <p:sp>
          <p:nvSpPr>
            <p:cNvPr id="33" name="Rectangle 32"/>
            <p:cNvSpPr/>
            <p:nvPr/>
          </p:nvSpPr>
          <p:spPr>
            <a:xfrm>
              <a:off x="640080" y="3547872"/>
              <a:ext cx="4754880" cy="54864"/>
            </a:xfrm>
            <a:prstGeom prst="rect">
              <a:avLst/>
            </a:prstGeom>
            <a:solidFill>
              <a:srgbClr val="9AA0A6"/>
            </a:solidFill>
            <a:ln>
              <a:noFill/>
            </a:ln>
          </p:spPr>
          <p:txBody>
            <a:bodyPr rtlCol="0" anchor="ctr"/>
            <a:lstStyle/>
            <a:p>
              <a:pPr algn="ctr"/>
            </a:p>
          </p:txBody>
        </p:sp>
        <p:sp>
          <p:nvSpPr>
            <p:cNvPr id="34" name="Rounded Rectangle 33"/>
            <p:cNvSpPr/>
            <p:nvPr/>
          </p:nvSpPr>
          <p:spPr>
            <a:xfrm>
              <a:off x="6519672" y="1737360"/>
              <a:ext cx="4206240" cy="1463040"/>
            </a:xfrm>
            <a:prstGeom prst="roundRect">
              <a:avLst>
                <a:gd name="adj" fmla="val 3750"/>
              </a:avLst>
            </a:prstGeom>
            <a:solidFill>
              <a:srgbClr val="2F3D4E"/>
            </a:solidFill>
            <a:ln w="31750">
              <a:solidFill>
                <a:srgbClr val="6CA0DC"/>
              </a:solidFill>
            </a:ln>
          </p:spPr>
          <p:txBody>
            <a:bodyPr rtlCol="0" anchor="ctr"/>
            <a:lstStyle/>
            <a:p>
              <a:pPr algn="ctr"/>
            </a:p>
          </p:txBody>
        </p:sp>
        <p:sp>
          <p:nvSpPr>
            <p:cNvPr id="35" name="Rounded Rectangle 34"/>
            <p:cNvSpPr/>
            <p:nvPr/>
          </p:nvSpPr>
          <p:spPr>
            <a:xfrm>
              <a:off x="7447788" y="1897380"/>
              <a:ext cx="237744" cy="237744"/>
            </a:xfrm>
            <a:prstGeom prst="roundRect">
              <a:avLst>
                <a:gd name="adj" fmla="val 11538"/>
              </a:avLst>
            </a:prstGeom>
            <a:solidFill>
              <a:srgbClr val="6CA0DC"/>
            </a:solidFill>
            <a:ln>
              <a:noFill/>
            </a:ln>
          </p:spPr>
          <p:txBody>
            <a:bodyPr rtlCol="0" anchor="ctr"/>
            <a:lstStyle/>
            <a:p>
              <a:pPr algn="ctr"/>
            </a:p>
          </p:txBody>
        </p:sp>
        <p:sp>
          <p:nvSpPr>
            <p:cNvPr id="36" name="Rounded Rectangle 35"/>
            <p:cNvSpPr/>
            <p:nvPr/>
          </p:nvSpPr>
          <p:spPr>
            <a:xfrm>
              <a:off x="7749540" y="1897380"/>
              <a:ext cx="237744" cy="237744"/>
            </a:xfrm>
            <a:prstGeom prst="roundRect">
              <a:avLst>
                <a:gd name="adj" fmla="val 11538"/>
              </a:avLst>
            </a:prstGeom>
            <a:solidFill>
              <a:srgbClr val="6CA0DC"/>
            </a:solidFill>
            <a:ln>
              <a:noFill/>
            </a:ln>
          </p:spPr>
          <p:txBody>
            <a:bodyPr rtlCol="0" anchor="ctr"/>
            <a:lstStyle/>
            <a:p>
              <a:pPr algn="ctr"/>
            </a:p>
          </p:txBody>
        </p:sp>
        <p:sp>
          <p:nvSpPr>
            <p:cNvPr id="37" name="Rounded Rectangle 36"/>
            <p:cNvSpPr/>
            <p:nvPr/>
          </p:nvSpPr>
          <p:spPr>
            <a:xfrm>
              <a:off x="8051292" y="1897380"/>
              <a:ext cx="237744" cy="237744"/>
            </a:xfrm>
            <a:prstGeom prst="roundRect">
              <a:avLst>
                <a:gd name="adj" fmla="val 11538"/>
              </a:avLst>
            </a:prstGeom>
            <a:solidFill>
              <a:srgbClr val="6CA0DC"/>
            </a:solidFill>
            <a:ln>
              <a:noFill/>
            </a:ln>
          </p:spPr>
          <p:txBody>
            <a:bodyPr rtlCol="0" anchor="ctr"/>
            <a:lstStyle/>
            <a:p>
              <a:pPr algn="ctr"/>
            </a:p>
          </p:txBody>
        </p:sp>
        <p:sp>
          <p:nvSpPr>
            <p:cNvPr id="38" name="Rounded Rectangle 37"/>
            <p:cNvSpPr/>
            <p:nvPr/>
          </p:nvSpPr>
          <p:spPr>
            <a:xfrm>
              <a:off x="8353044" y="1897380"/>
              <a:ext cx="237744" cy="237744"/>
            </a:xfrm>
            <a:prstGeom prst="roundRect">
              <a:avLst>
                <a:gd name="adj" fmla="val 11538"/>
              </a:avLst>
            </a:prstGeom>
            <a:solidFill>
              <a:srgbClr val="6CA0DC"/>
            </a:solidFill>
            <a:ln>
              <a:noFill/>
            </a:ln>
          </p:spPr>
          <p:txBody>
            <a:bodyPr rtlCol="0" anchor="ctr"/>
            <a:lstStyle/>
            <a:p>
              <a:pPr algn="ctr"/>
            </a:p>
          </p:txBody>
        </p:sp>
        <p:sp>
          <p:nvSpPr>
            <p:cNvPr id="39" name="Rounded Rectangle 38"/>
            <p:cNvSpPr/>
            <p:nvPr/>
          </p:nvSpPr>
          <p:spPr>
            <a:xfrm>
              <a:off x="8654796" y="1897380"/>
              <a:ext cx="237744" cy="237744"/>
            </a:xfrm>
            <a:prstGeom prst="roundRect">
              <a:avLst>
                <a:gd name="adj" fmla="val 11538"/>
              </a:avLst>
            </a:prstGeom>
            <a:solidFill>
              <a:srgbClr val="6CA0DC"/>
            </a:solidFill>
            <a:ln>
              <a:noFill/>
            </a:ln>
          </p:spPr>
          <p:txBody>
            <a:bodyPr rtlCol="0" anchor="ctr"/>
            <a:lstStyle/>
            <a:p>
              <a:pPr algn="ctr"/>
            </a:p>
          </p:txBody>
        </p:sp>
        <p:sp>
          <p:nvSpPr>
            <p:cNvPr id="40" name="Rounded Rectangle 39"/>
            <p:cNvSpPr/>
            <p:nvPr/>
          </p:nvSpPr>
          <p:spPr>
            <a:xfrm>
              <a:off x="8956548" y="1897380"/>
              <a:ext cx="237744" cy="237744"/>
            </a:xfrm>
            <a:prstGeom prst="roundRect">
              <a:avLst>
                <a:gd name="adj" fmla="val 11538"/>
              </a:avLst>
            </a:prstGeom>
            <a:solidFill>
              <a:srgbClr val="6CA0DC"/>
            </a:solidFill>
            <a:ln>
              <a:noFill/>
            </a:ln>
          </p:spPr>
          <p:txBody>
            <a:bodyPr rtlCol="0" anchor="ctr"/>
            <a:lstStyle/>
            <a:p>
              <a:pPr algn="ctr"/>
            </a:p>
          </p:txBody>
        </p:sp>
        <p:sp>
          <p:nvSpPr>
            <p:cNvPr id="41" name="Rounded Rectangle 40"/>
            <p:cNvSpPr/>
            <p:nvPr/>
          </p:nvSpPr>
          <p:spPr>
            <a:xfrm>
              <a:off x="9258300" y="1897380"/>
              <a:ext cx="237744" cy="237744"/>
            </a:xfrm>
            <a:prstGeom prst="roundRect">
              <a:avLst>
                <a:gd name="adj" fmla="val 11538"/>
              </a:avLst>
            </a:prstGeom>
            <a:solidFill>
              <a:srgbClr val="6CA0DC"/>
            </a:solidFill>
            <a:ln>
              <a:noFill/>
            </a:ln>
          </p:spPr>
          <p:txBody>
            <a:bodyPr rtlCol="0" anchor="ctr"/>
            <a:lstStyle/>
            <a:p>
              <a:pPr algn="ctr"/>
            </a:p>
          </p:txBody>
        </p:sp>
        <p:sp>
          <p:nvSpPr>
            <p:cNvPr id="42" name="Rounded Rectangle 41"/>
            <p:cNvSpPr/>
            <p:nvPr/>
          </p:nvSpPr>
          <p:spPr>
            <a:xfrm>
              <a:off x="9560052" y="1897380"/>
              <a:ext cx="237744" cy="237744"/>
            </a:xfrm>
            <a:prstGeom prst="roundRect">
              <a:avLst>
                <a:gd name="adj" fmla="val 11538"/>
              </a:avLst>
            </a:prstGeom>
            <a:solidFill>
              <a:srgbClr val="6CA0DC"/>
            </a:solidFill>
            <a:ln>
              <a:noFill/>
            </a:ln>
          </p:spPr>
          <p:txBody>
            <a:bodyPr rtlCol="0" anchor="ctr"/>
            <a:lstStyle/>
            <a:p>
              <a:pPr algn="ctr"/>
            </a:p>
          </p:txBody>
        </p:sp>
        <p:sp>
          <p:nvSpPr>
            <p:cNvPr id="43" name="Rounded Rectangle 42"/>
            <p:cNvSpPr/>
            <p:nvPr/>
          </p:nvSpPr>
          <p:spPr>
            <a:xfrm>
              <a:off x="7447788" y="2199132"/>
              <a:ext cx="237744" cy="237744"/>
            </a:xfrm>
            <a:prstGeom prst="roundRect">
              <a:avLst>
                <a:gd name="adj" fmla="val 11538"/>
              </a:avLst>
            </a:prstGeom>
            <a:solidFill>
              <a:srgbClr val="6CA0DC"/>
            </a:solidFill>
            <a:ln>
              <a:noFill/>
            </a:ln>
          </p:spPr>
          <p:txBody>
            <a:bodyPr rtlCol="0" anchor="ctr"/>
            <a:lstStyle/>
            <a:p>
              <a:pPr algn="ctr"/>
            </a:p>
          </p:txBody>
        </p:sp>
        <p:sp>
          <p:nvSpPr>
            <p:cNvPr id="44" name="Rounded Rectangle 43"/>
            <p:cNvSpPr/>
            <p:nvPr/>
          </p:nvSpPr>
          <p:spPr>
            <a:xfrm>
              <a:off x="7749540" y="2199132"/>
              <a:ext cx="237744" cy="237744"/>
            </a:xfrm>
            <a:prstGeom prst="roundRect">
              <a:avLst>
                <a:gd name="adj" fmla="val 11538"/>
              </a:avLst>
            </a:prstGeom>
            <a:solidFill>
              <a:srgbClr val="6CA0DC"/>
            </a:solidFill>
            <a:ln>
              <a:noFill/>
            </a:ln>
          </p:spPr>
          <p:txBody>
            <a:bodyPr rtlCol="0" anchor="ctr"/>
            <a:lstStyle/>
            <a:p>
              <a:pPr algn="ctr"/>
            </a:p>
          </p:txBody>
        </p:sp>
        <p:sp>
          <p:nvSpPr>
            <p:cNvPr id="45" name="Rounded Rectangle 44"/>
            <p:cNvSpPr/>
            <p:nvPr/>
          </p:nvSpPr>
          <p:spPr>
            <a:xfrm>
              <a:off x="8051292" y="2199132"/>
              <a:ext cx="237744" cy="237744"/>
            </a:xfrm>
            <a:prstGeom prst="roundRect">
              <a:avLst>
                <a:gd name="adj" fmla="val 11538"/>
              </a:avLst>
            </a:prstGeom>
            <a:solidFill>
              <a:srgbClr val="6CA0DC"/>
            </a:solidFill>
            <a:ln>
              <a:noFill/>
            </a:ln>
          </p:spPr>
          <p:txBody>
            <a:bodyPr rtlCol="0" anchor="ctr"/>
            <a:lstStyle/>
            <a:p>
              <a:pPr algn="ctr"/>
            </a:p>
          </p:txBody>
        </p:sp>
        <p:sp>
          <p:nvSpPr>
            <p:cNvPr id="46" name="Rounded Rectangle 45"/>
            <p:cNvSpPr/>
            <p:nvPr/>
          </p:nvSpPr>
          <p:spPr>
            <a:xfrm>
              <a:off x="8353044" y="2199132"/>
              <a:ext cx="237744" cy="237744"/>
            </a:xfrm>
            <a:prstGeom prst="roundRect">
              <a:avLst>
                <a:gd name="adj" fmla="val 11538"/>
              </a:avLst>
            </a:prstGeom>
            <a:solidFill>
              <a:srgbClr val="6CA0DC"/>
            </a:solidFill>
            <a:ln>
              <a:noFill/>
            </a:ln>
          </p:spPr>
          <p:txBody>
            <a:bodyPr rtlCol="0" anchor="ctr"/>
            <a:lstStyle/>
            <a:p>
              <a:pPr algn="ctr"/>
            </a:p>
          </p:txBody>
        </p:sp>
        <p:sp>
          <p:nvSpPr>
            <p:cNvPr id="47" name="Rounded Rectangle 46"/>
            <p:cNvSpPr/>
            <p:nvPr/>
          </p:nvSpPr>
          <p:spPr>
            <a:xfrm>
              <a:off x="8654796" y="2199132"/>
              <a:ext cx="237744" cy="237744"/>
            </a:xfrm>
            <a:prstGeom prst="roundRect">
              <a:avLst>
                <a:gd name="adj" fmla="val 11538"/>
              </a:avLst>
            </a:prstGeom>
            <a:solidFill>
              <a:srgbClr val="6CA0DC"/>
            </a:solidFill>
            <a:ln>
              <a:noFill/>
            </a:ln>
          </p:spPr>
          <p:txBody>
            <a:bodyPr rtlCol="0" anchor="ctr"/>
            <a:lstStyle/>
            <a:p>
              <a:pPr algn="ctr"/>
            </a:p>
          </p:txBody>
        </p:sp>
        <p:sp>
          <p:nvSpPr>
            <p:cNvPr id="48" name="Rounded Rectangle 47"/>
            <p:cNvSpPr/>
            <p:nvPr/>
          </p:nvSpPr>
          <p:spPr>
            <a:xfrm>
              <a:off x="8956548" y="2199132"/>
              <a:ext cx="237744" cy="237744"/>
            </a:xfrm>
            <a:prstGeom prst="roundRect">
              <a:avLst>
                <a:gd name="adj" fmla="val 11538"/>
              </a:avLst>
            </a:prstGeom>
            <a:solidFill>
              <a:srgbClr val="6CA0DC"/>
            </a:solidFill>
            <a:ln>
              <a:noFill/>
            </a:ln>
          </p:spPr>
          <p:txBody>
            <a:bodyPr rtlCol="0" anchor="ctr"/>
            <a:lstStyle/>
            <a:p>
              <a:pPr algn="ctr"/>
            </a:p>
          </p:txBody>
        </p:sp>
        <p:sp>
          <p:nvSpPr>
            <p:cNvPr id="49" name="Rounded Rectangle 48"/>
            <p:cNvSpPr/>
            <p:nvPr/>
          </p:nvSpPr>
          <p:spPr>
            <a:xfrm>
              <a:off x="9258300" y="2199132"/>
              <a:ext cx="237744" cy="237744"/>
            </a:xfrm>
            <a:prstGeom prst="roundRect">
              <a:avLst>
                <a:gd name="adj" fmla="val 11538"/>
              </a:avLst>
            </a:prstGeom>
            <a:solidFill>
              <a:srgbClr val="6CA0DC"/>
            </a:solidFill>
            <a:ln>
              <a:noFill/>
            </a:ln>
          </p:spPr>
          <p:txBody>
            <a:bodyPr rtlCol="0" anchor="ctr"/>
            <a:lstStyle/>
            <a:p>
              <a:pPr algn="ctr"/>
            </a:p>
          </p:txBody>
        </p:sp>
        <p:sp>
          <p:nvSpPr>
            <p:cNvPr id="50" name="Rounded Rectangle 49"/>
            <p:cNvSpPr/>
            <p:nvPr/>
          </p:nvSpPr>
          <p:spPr>
            <a:xfrm>
              <a:off x="9560052" y="2199132"/>
              <a:ext cx="237744" cy="237744"/>
            </a:xfrm>
            <a:prstGeom prst="roundRect">
              <a:avLst>
                <a:gd name="adj" fmla="val 11538"/>
              </a:avLst>
            </a:prstGeom>
            <a:solidFill>
              <a:srgbClr val="6CA0DC"/>
            </a:solidFill>
            <a:ln>
              <a:noFill/>
            </a:ln>
          </p:spPr>
          <p:txBody>
            <a:bodyPr rtlCol="0" anchor="ctr"/>
            <a:lstStyle/>
            <a:p>
              <a:pPr algn="ctr"/>
            </a:p>
          </p:txBody>
        </p:sp>
        <p:sp>
          <p:nvSpPr>
            <p:cNvPr id="51" name="Rounded Rectangle 50"/>
            <p:cNvSpPr/>
            <p:nvPr/>
          </p:nvSpPr>
          <p:spPr>
            <a:xfrm>
              <a:off x="7447788" y="2500884"/>
              <a:ext cx="237744" cy="237744"/>
            </a:xfrm>
            <a:prstGeom prst="roundRect">
              <a:avLst>
                <a:gd name="adj" fmla="val 11538"/>
              </a:avLst>
            </a:prstGeom>
            <a:solidFill>
              <a:srgbClr val="6CA0DC"/>
            </a:solidFill>
            <a:ln>
              <a:noFill/>
            </a:ln>
          </p:spPr>
          <p:txBody>
            <a:bodyPr rtlCol="0" anchor="ctr"/>
            <a:lstStyle/>
            <a:p>
              <a:pPr algn="ctr"/>
            </a:p>
          </p:txBody>
        </p:sp>
        <p:sp>
          <p:nvSpPr>
            <p:cNvPr id="52" name="Rounded Rectangle 51"/>
            <p:cNvSpPr/>
            <p:nvPr/>
          </p:nvSpPr>
          <p:spPr>
            <a:xfrm>
              <a:off x="7749540" y="2500884"/>
              <a:ext cx="237744" cy="237744"/>
            </a:xfrm>
            <a:prstGeom prst="roundRect">
              <a:avLst>
                <a:gd name="adj" fmla="val 11538"/>
              </a:avLst>
            </a:prstGeom>
            <a:solidFill>
              <a:srgbClr val="6CA0DC"/>
            </a:solidFill>
            <a:ln>
              <a:noFill/>
            </a:ln>
          </p:spPr>
          <p:txBody>
            <a:bodyPr rtlCol="0" anchor="ctr"/>
            <a:lstStyle/>
            <a:p>
              <a:pPr algn="ctr"/>
            </a:p>
          </p:txBody>
        </p:sp>
        <p:sp>
          <p:nvSpPr>
            <p:cNvPr id="53" name="Rounded Rectangle 52"/>
            <p:cNvSpPr/>
            <p:nvPr/>
          </p:nvSpPr>
          <p:spPr>
            <a:xfrm>
              <a:off x="8051292" y="2500884"/>
              <a:ext cx="237744" cy="237744"/>
            </a:xfrm>
            <a:prstGeom prst="roundRect">
              <a:avLst>
                <a:gd name="adj" fmla="val 11538"/>
              </a:avLst>
            </a:prstGeom>
            <a:solidFill>
              <a:srgbClr val="6CA0DC"/>
            </a:solidFill>
            <a:ln>
              <a:noFill/>
            </a:ln>
          </p:spPr>
          <p:txBody>
            <a:bodyPr rtlCol="0" anchor="ctr"/>
            <a:lstStyle/>
            <a:p>
              <a:pPr algn="ctr"/>
            </a:p>
          </p:txBody>
        </p:sp>
        <p:sp>
          <p:nvSpPr>
            <p:cNvPr id="54" name="Rounded Rectangle 53"/>
            <p:cNvSpPr/>
            <p:nvPr/>
          </p:nvSpPr>
          <p:spPr>
            <a:xfrm>
              <a:off x="8353044" y="2500884"/>
              <a:ext cx="237744" cy="237744"/>
            </a:xfrm>
            <a:prstGeom prst="roundRect">
              <a:avLst>
                <a:gd name="adj" fmla="val 11538"/>
              </a:avLst>
            </a:prstGeom>
            <a:solidFill>
              <a:srgbClr val="6CA0DC"/>
            </a:solidFill>
            <a:ln>
              <a:noFill/>
            </a:ln>
          </p:spPr>
          <p:txBody>
            <a:bodyPr rtlCol="0" anchor="ctr"/>
            <a:lstStyle/>
            <a:p>
              <a:pPr algn="ctr"/>
            </a:p>
          </p:txBody>
        </p:sp>
        <p:sp>
          <p:nvSpPr>
            <p:cNvPr id="55" name="Rounded Rectangle 54"/>
            <p:cNvSpPr/>
            <p:nvPr/>
          </p:nvSpPr>
          <p:spPr>
            <a:xfrm>
              <a:off x="8654796" y="2500884"/>
              <a:ext cx="237744" cy="237744"/>
            </a:xfrm>
            <a:prstGeom prst="roundRect">
              <a:avLst>
                <a:gd name="adj" fmla="val 11538"/>
              </a:avLst>
            </a:prstGeom>
            <a:solidFill>
              <a:srgbClr val="6CA0DC"/>
            </a:solidFill>
            <a:ln>
              <a:noFill/>
            </a:ln>
          </p:spPr>
          <p:txBody>
            <a:bodyPr rtlCol="0" anchor="ctr"/>
            <a:lstStyle/>
            <a:p>
              <a:pPr algn="ctr"/>
            </a:p>
          </p:txBody>
        </p:sp>
        <p:sp>
          <p:nvSpPr>
            <p:cNvPr id="56" name="Rounded Rectangle 55"/>
            <p:cNvSpPr/>
            <p:nvPr/>
          </p:nvSpPr>
          <p:spPr>
            <a:xfrm>
              <a:off x="8956548" y="2500884"/>
              <a:ext cx="237744" cy="237744"/>
            </a:xfrm>
            <a:prstGeom prst="roundRect">
              <a:avLst>
                <a:gd name="adj" fmla="val 11538"/>
              </a:avLst>
            </a:prstGeom>
            <a:solidFill>
              <a:srgbClr val="6CA0DC"/>
            </a:solidFill>
            <a:ln>
              <a:noFill/>
            </a:ln>
          </p:spPr>
          <p:txBody>
            <a:bodyPr rtlCol="0" anchor="ctr"/>
            <a:lstStyle/>
            <a:p>
              <a:pPr algn="ctr"/>
            </a:p>
          </p:txBody>
        </p:sp>
        <p:sp>
          <p:nvSpPr>
            <p:cNvPr id="57" name="Rounded Rectangle 56"/>
            <p:cNvSpPr/>
            <p:nvPr/>
          </p:nvSpPr>
          <p:spPr>
            <a:xfrm>
              <a:off x="9258300" y="2500884"/>
              <a:ext cx="237744" cy="237744"/>
            </a:xfrm>
            <a:prstGeom prst="roundRect">
              <a:avLst>
                <a:gd name="adj" fmla="val 11538"/>
              </a:avLst>
            </a:prstGeom>
            <a:solidFill>
              <a:srgbClr val="6CA0DC"/>
            </a:solidFill>
            <a:ln>
              <a:noFill/>
            </a:ln>
          </p:spPr>
          <p:txBody>
            <a:bodyPr rtlCol="0" anchor="ctr"/>
            <a:lstStyle/>
            <a:p>
              <a:pPr algn="ctr"/>
            </a:p>
          </p:txBody>
        </p:sp>
        <p:sp>
          <p:nvSpPr>
            <p:cNvPr id="58" name="Rounded Rectangle 57"/>
            <p:cNvSpPr/>
            <p:nvPr/>
          </p:nvSpPr>
          <p:spPr>
            <a:xfrm>
              <a:off x="9560052" y="2500884"/>
              <a:ext cx="237744" cy="237744"/>
            </a:xfrm>
            <a:prstGeom prst="roundRect">
              <a:avLst>
                <a:gd name="adj" fmla="val 11538"/>
              </a:avLst>
            </a:prstGeom>
            <a:solidFill>
              <a:srgbClr val="6CA0DC"/>
            </a:solidFill>
            <a:ln>
              <a:noFill/>
            </a:ln>
          </p:spPr>
          <p:txBody>
            <a:bodyPr rtlCol="0" anchor="ctr"/>
            <a:lstStyle/>
            <a:p>
              <a:pPr algn="ctr"/>
            </a:p>
          </p:txBody>
        </p:sp>
        <p:sp>
          <p:nvSpPr>
            <p:cNvPr id="59" name="Rounded Rectangle 58"/>
            <p:cNvSpPr/>
            <p:nvPr/>
          </p:nvSpPr>
          <p:spPr>
            <a:xfrm>
              <a:off x="7447788" y="2802636"/>
              <a:ext cx="237744" cy="237744"/>
            </a:xfrm>
            <a:prstGeom prst="roundRect">
              <a:avLst>
                <a:gd name="adj" fmla="val 11538"/>
              </a:avLst>
            </a:prstGeom>
            <a:solidFill>
              <a:srgbClr val="6CA0DC"/>
            </a:solidFill>
            <a:ln>
              <a:noFill/>
            </a:ln>
          </p:spPr>
          <p:txBody>
            <a:bodyPr rtlCol="0" anchor="ctr"/>
            <a:lstStyle/>
            <a:p>
              <a:pPr algn="ctr"/>
            </a:p>
          </p:txBody>
        </p:sp>
        <p:sp>
          <p:nvSpPr>
            <p:cNvPr id="60" name="Rounded Rectangle 59"/>
            <p:cNvSpPr/>
            <p:nvPr/>
          </p:nvSpPr>
          <p:spPr>
            <a:xfrm>
              <a:off x="7749540" y="2802636"/>
              <a:ext cx="237744" cy="237744"/>
            </a:xfrm>
            <a:prstGeom prst="roundRect">
              <a:avLst>
                <a:gd name="adj" fmla="val 11538"/>
              </a:avLst>
            </a:prstGeom>
            <a:solidFill>
              <a:srgbClr val="6CA0DC"/>
            </a:solidFill>
            <a:ln>
              <a:noFill/>
            </a:ln>
          </p:spPr>
          <p:txBody>
            <a:bodyPr rtlCol="0" anchor="ctr"/>
            <a:lstStyle/>
            <a:p>
              <a:pPr algn="ctr"/>
            </a:p>
          </p:txBody>
        </p:sp>
        <p:sp>
          <p:nvSpPr>
            <p:cNvPr id="61" name="Rounded Rectangle 60"/>
            <p:cNvSpPr/>
            <p:nvPr/>
          </p:nvSpPr>
          <p:spPr>
            <a:xfrm>
              <a:off x="8051292" y="2802636"/>
              <a:ext cx="237744" cy="237744"/>
            </a:xfrm>
            <a:prstGeom prst="roundRect">
              <a:avLst>
                <a:gd name="adj" fmla="val 11538"/>
              </a:avLst>
            </a:prstGeom>
            <a:solidFill>
              <a:srgbClr val="6CA0DC"/>
            </a:solidFill>
            <a:ln>
              <a:noFill/>
            </a:ln>
          </p:spPr>
          <p:txBody>
            <a:bodyPr rtlCol="0" anchor="ctr"/>
            <a:lstStyle/>
            <a:p>
              <a:pPr algn="ctr"/>
            </a:p>
          </p:txBody>
        </p:sp>
        <p:sp>
          <p:nvSpPr>
            <p:cNvPr id="62" name="Rounded Rectangle 61"/>
            <p:cNvSpPr/>
            <p:nvPr/>
          </p:nvSpPr>
          <p:spPr>
            <a:xfrm>
              <a:off x="8353044" y="2802636"/>
              <a:ext cx="237744" cy="237744"/>
            </a:xfrm>
            <a:prstGeom prst="roundRect">
              <a:avLst>
                <a:gd name="adj" fmla="val 11538"/>
              </a:avLst>
            </a:prstGeom>
            <a:solidFill>
              <a:srgbClr val="6CA0DC"/>
            </a:solidFill>
            <a:ln>
              <a:noFill/>
            </a:ln>
          </p:spPr>
          <p:txBody>
            <a:bodyPr rtlCol="0" anchor="ctr"/>
            <a:lstStyle/>
            <a:p>
              <a:pPr algn="ctr"/>
            </a:p>
          </p:txBody>
        </p:sp>
        <p:sp>
          <p:nvSpPr>
            <p:cNvPr id="63" name="Rounded Rectangle 62"/>
            <p:cNvSpPr/>
            <p:nvPr/>
          </p:nvSpPr>
          <p:spPr>
            <a:xfrm>
              <a:off x="8654796" y="2802636"/>
              <a:ext cx="237744" cy="237744"/>
            </a:xfrm>
            <a:prstGeom prst="roundRect">
              <a:avLst>
                <a:gd name="adj" fmla="val 11538"/>
              </a:avLst>
            </a:prstGeom>
            <a:solidFill>
              <a:srgbClr val="6CA0DC"/>
            </a:solidFill>
            <a:ln>
              <a:noFill/>
            </a:ln>
          </p:spPr>
          <p:txBody>
            <a:bodyPr rtlCol="0" anchor="ctr"/>
            <a:lstStyle/>
            <a:p>
              <a:pPr algn="ctr"/>
            </a:p>
          </p:txBody>
        </p:sp>
        <p:sp>
          <p:nvSpPr>
            <p:cNvPr id="64" name="Rounded Rectangle 63"/>
            <p:cNvSpPr/>
            <p:nvPr/>
          </p:nvSpPr>
          <p:spPr>
            <a:xfrm>
              <a:off x="8956548" y="2802636"/>
              <a:ext cx="237744" cy="237744"/>
            </a:xfrm>
            <a:prstGeom prst="roundRect">
              <a:avLst>
                <a:gd name="adj" fmla="val 11538"/>
              </a:avLst>
            </a:prstGeom>
            <a:solidFill>
              <a:srgbClr val="6CA0DC"/>
            </a:solidFill>
            <a:ln>
              <a:noFill/>
            </a:ln>
          </p:spPr>
          <p:txBody>
            <a:bodyPr rtlCol="0" anchor="ctr"/>
            <a:lstStyle/>
            <a:p>
              <a:pPr algn="ctr"/>
            </a:p>
          </p:txBody>
        </p:sp>
        <p:sp>
          <p:nvSpPr>
            <p:cNvPr id="65" name="Rounded Rectangle 64"/>
            <p:cNvSpPr/>
            <p:nvPr/>
          </p:nvSpPr>
          <p:spPr>
            <a:xfrm>
              <a:off x="9258300" y="2802636"/>
              <a:ext cx="237744" cy="237744"/>
            </a:xfrm>
            <a:prstGeom prst="roundRect">
              <a:avLst>
                <a:gd name="adj" fmla="val 11538"/>
              </a:avLst>
            </a:prstGeom>
            <a:solidFill>
              <a:srgbClr val="6CA0DC"/>
            </a:solidFill>
            <a:ln>
              <a:noFill/>
            </a:ln>
          </p:spPr>
          <p:txBody>
            <a:bodyPr rtlCol="0" anchor="ctr"/>
            <a:lstStyle/>
            <a:p>
              <a:pPr algn="ctr"/>
            </a:p>
          </p:txBody>
        </p:sp>
        <p:sp>
          <p:nvSpPr>
            <p:cNvPr id="66" name="Rounded Rectangle 65"/>
            <p:cNvSpPr/>
            <p:nvPr/>
          </p:nvSpPr>
          <p:spPr>
            <a:xfrm>
              <a:off x="9560052" y="2802636"/>
              <a:ext cx="237744" cy="237744"/>
            </a:xfrm>
            <a:prstGeom prst="roundRect">
              <a:avLst>
                <a:gd name="adj" fmla="val 11538"/>
              </a:avLst>
            </a:prstGeom>
            <a:solidFill>
              <a:srgbClr val="6CA0DC"/>
            </a:solidFill>
            <a:ln>
              <a:noFill/>
            </a:ln>
          </p:spPr>
          <p:txBody>
            <a:bodyPr rtlCol="0" anchor="ctr"/>
            <a:lstStyle/>
            <a:p>
              <a:pPr algn="ctr"/>
            </a:p>
          </p:txBody>
        </p:sp>
        <p:sp>
          <p:nvSpPr>
            <p:cNvPr id="67" name="Rectangle 66"/>
            <p:cNvSpPr/>
            <p:nvPr/>
          </p:nvSpPr>
          <p:spPr>
            <a:xfrm>
              <a:off x="6428232" y="3200400"/>
              <a:ext cx="4389120" cy="73152"/>
            </a:xfrm>
            <a:prstGeom prst="rect">
              <a:avLst/>
            </a:prstGeom>
            <a:solidFill>
              <a:srgbClr val="9AA0A6"/>
            </a:solidFill>
            <a:ln>
              <a:noFill/>
            </a:ln>
          </p:spPr>
          <p:txBody>
            <a:bodyPr rtlCol="0" anchor="ctr"/>
            <a:lstStyle/>
            <a:p>
              <a:pPr algn="ctr"/>
            </a:p>
          </p:txBody>
        </p:sp>
        <p:sp>
          <p:nvSpPr>
            <p:cNvPr id="68" name="Oval 67"/>
            <p:cNvSpPr/>
            <p:nvPr/>
          </p:nvSpPr>
          <p:spPr>
            <a:xfrm>
              <a:off x="7130491" y="3255264"/>
              <a:ext cx="292608" cy="292608"/>
            </a:xfrm>
            <a:prstGeom prst="ellipse">
              <a:avLst/>
            </a:prstGeom>
            <a:solidFill>
              <a:srgbClr val="1B1D21"/>
            </a:solidFill>
            <a:ln w="19050">
              <a:solidFill>
                <a:srgbClr val="9AA0A6"/>
              </a:solidFill>
            </a:ln>
          </p:spPr>
          <p:txBody>
            <a:bodyPr rtlCol="0" anchor="ctr"/>
            <a:lstStyle/>
            <a:p>
              <a:pPr algn="ctr"/>
            </a:p>
          </p:txBody>
        </p:sp>
        <p:sp>
          <p:nvSpPr>
            <p:cNvPr id="69" name="Oval 68"/>
            <p:cNvSpPr/>
            <p:nvPr/>
          </p:nvSpPr>
          <p:spPr>
            <a:xfrm>
              <a:off x="9822485" y="3255264"/>
              <a:ext cx="292608" cy="292608"/>
            </a:xfrm>
            <a:prstGeom prst="ellipse">
              <a:avLst/>
            </a:prstGeom>
            <a:solidFill>
              <a:srgbClr val="1B1D21"/>
            </a:solidFill>
            <a:ln w="19050">
              <a:solidFill>
                <a:srgbClr val="9AA0A6"/>
              </a:solidFill>
            </a:ln>
          </p:spPr>
          <p:txBody>
            <a:bodyPr rtlCol="0" anchor="ctr"/>
            <a:lstStyle/>
            <a:p>
              <a:pPr algn="ctr"/>
            </a:p>
          </p:txBody>
        </p:sp>
        <p:sp>
          <p:nvSpPr>
            <p:cNvPr id="70" name="Rectangle 69"/>
            <p:cNvSpPr/>
            <p:nvPr/>
          </p:nvSpPr>
          <p:spPr>
            <a:xfrm>
              <a:off x="6245352" y="3547872"/>
              <a:ext cx="4754880" cy="54864"/>
            </a:xfrm>
            <a:prstGeom prst="rect">
              <a:avLst/>
            </a:prstGeom>
            <a:solidFill>
              <a:srgbClr val="9AA0A6"/>
            </a:solidFill>
            <a:ln>
              <a:noFill/>
            </a:ln>
          </p:spPr>
          <p:txBody>
            <a:bodyPr rtlCol="0" anchor="ctr"/>
            <a:lstStyle/>
            <a:p>
              <a:pPr algn="ctr"/>
            </a:p>
          </p:txBody>
        </p:sp>
      </p:grpSp>
      <p:sp>
        <p:nvSpPr>
          <p:cNvPr id="71" name="TextBox 70"/>
          <p:cNvSpPr txBox="1"/>
          <p:nvPr/>
        </p:nvSpPr>
        <p:spPr>
          <a:xfrm>
            <a:off x="914400" y="3794760"/>
            <a:ext cx="4206240" cy="365760"/>
          </a:xfrm>
          <a:prstGeom prst="rect">
            <a:avLst/>
          </a:prstGeom>
          <a:noFill/>
        </p:spPr>
        <p:txBody>
          <a:bodyPr wrap="square" lIns="0" tIns="0" rIns="0" bIns="0" anchor="t">
            <a:noAutofit/>
          </a:bodyPr>
          <a:lstStyle/>
          <a:p>
            <a:pPr algn="l"/>
            <a:r>
              <a:rPr sz="2000" b="1" i="0" lang="en-GB">
                <a:solidFill>
                  <a:srgbClr val="F2F2F2"/>
                </a:solidFill>
                <a:latin typeface="Arial"/>
              </a:rPr>
              <a:t>Steam wagon: about 20 stacks</a:t>
            </a:r>
          </a:p>
        </p:txBody>
      </p:sp>
      <p:sp>
        <p:nvSpPr>
          <p:cNvPr id="72" name="Inline chip Provisional"/>
          <p:cNvSpPr/>
          <p:nvPr/>
        </p:nvSpPr>
        <p:spPr>
          <a:xfrm>
            <a:off x="914400" y="4224528"/>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73" name="TextBox 72"/>
          <p:cNvSpPr txBox="1"/>
          <p:nvPr/>
        </p:nvSpPr>
        <p:spPr>
          <a:xfrm>
            <a:off x="6519672" y="3794760"/>
            <a:ext cx="4206240" cy="365760"/>
          </a:xfrm>
          <a:prstGeom prst="rect">
            <a:avLst/>
          </a:prstGeom>
          <a:noFill/>
        </p:spPr>
        <p:txBody>
          <a:bodyPr wrap="square" lIns="0" tIns="0" rIns="0" bIns="0" anchor="t">
            <a:noAutofit/>
          </a:bodyPr>
          <a:lstStyle/>
          <a:p>
            <a:pPr algn="l"/>
            <a:r>
              <a:rPr sz="2000" b="1" i="0" lang="en-GB">
                <a:solidFill>
                  <a:srgbClr val="F2F2F2"/>
                </a:solidFill>
                <a:latin typeface="Arial"/>
              </a:rPr>
              <a:t>Vanilla wagon: 32 stacks</a:t>
            </a:r>
          </a:p>
        </p:txBody>
      </p:sp>
      <p:grpSp>
        <p:nvGrpSpPr>
          <p:cNvPr id="74" name="Legend" descr="Legend: one square is one stack, a pile of one item."/>
          <p:cNvGrpSpPr/>
          <p:nvPr/>
        </p:nvGrpSpPr>
        <p:grpSpPr>
          <a:xfrm>
            <a:off x="914400" y="4800600"/>
            <a:ext cx="4480560" cy="384048"/>
            <a:chOff x="914400" y="4800600"/>
            <a:chExt cx="4480560" cy="384048"/>
          </a:xfrm>
        </p:grpSpPr>
        <p:sp>
          <p:nvSpPr>
            <p:cNvPr id="75" name="Rounded Rectangle 74"/>
            <p:cNvSpPr/>
            <p:nvPr/>
          </p:nvSpPr>
          <p:spPr>
            <a:xfrm>
              <a:off x="914400" y="4873752"/>
              <a:ext cx="237744" cy="237744"/>
            </a:xfrm>
            <a:prstGeom prst="roundRect">
              <a:avLst>
                <a:gd name="adj" fmla="val 11538"/>
              </a:avLst>
            </a:prstGeom>
            <a:solidFill>
              <a:srgbClr val="F28C28"/>
            </a:solidFill>
            <a:ln>
              <a:noFill/>
            </a:ln>
          </p:spPr>
          <p:txBody>
            <a:bodyPr rtlCol="0" anchor="ctr"/>
            <a:lstStyle/>
            <a:p>
              <a:pPr algn="ctr"/>
            </a:p>
          </p:txBody>
        </p:sp>
        <p:sp>
          <p:nvSpPr>
            <p:cNvPr id="76" name="TextBox 75"/>
            <p:cNvSpPr txBox="1"/>
            <p:nvPr/>
          </p:nvSpPr>
          <p:spPr>
            <a:xfrm>
              <a:off x="1280160" y="4800600"/>
              <a:ext cx="4114800" cy="384048"/>
            </a:xfrm>
            <a:prstGeom prst="rect">
              <a:avLst/>
            </a:prstGeom>
            <a:noFill/>
          </p:spPr>
          <p:txBody>
            <a:bodyPr wrap="square" lIns="0" tIns="0" rIns="0" bIns="0" anchor="ctr">
              <a:noAutofit/>
            </a:bodyPr>
            <a:lstStyle/>
            <a:p>
              <a:pPr algn="l"/>
              <a:r>
                <a:rPr sz="1800" b="0" i="0" lang="en-GB">
                  <a:solidFill>
                    <a:srgbClr val="F2F2F2"/>
                  </a:solidFill>
                  <a:latin typeface="Arial"/>
                </a:rPr>
                <a:t>Stack = a pile of one item.</a:t>
              </a:r>
            </a:p>
          </p:txBody>
        </p:sp>
      </p:grpSp>
      <p:sp>
        <p:nvSpPr>
          <p:cNvPr id="77" name="TextBox 76"/>
          <p:cNvSpPr txBox="1"/>
          <p:nvPr/>
        </p:nvSpPr>
        <p:spPr>
          <a:xfrm>
            <a:off x="6519672" y="4800600"/>
            <a:ext cx="2377440" cy="384048"/>
          </a:xfrm>
          <a:prstGeom prst="rect">
            <a:avLst/>
          </a:prstGeom>
          <a:noFill/>
        </p:spPr>
        <p:txBody>
          <a:bodyPr wrap="square" lIns="0" tIns="0" rIns="0" bIns="0" anchor="ctr">
            <a:noAutofit/>
          </a:bodyPr>
          <a:lstStyle/>
          <a:p>
            <a:pPr algn="l"/>
            <a:r>
              <a:rPr sz="1800" b="0" i="0" lang="en-GB">
                <a:solidFill>
                  <a:srgbClr val="F2F2F2"/>
                </a:solidFill>
                <a:latin typeface="Arial"/>
              </a:rPr>
              <a:t>Wagon catalogue:</a:t>
            </a:r>
          </a:p>
        </p:txBody>
      </p:sp>
      <p:sp>
        <p:nvSpPr>
          <p:cNvPr id="78" name="Inline chip Undecided"/>
          <p:cNvSpPr/>
          <p:nvPr/>
        </p:nvSpPr>
        <p:spPr>
          <a:xfrm>
            <a:off x="8498183" y="482803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wagons are cheaper and hold less. About 20 item stacks, against 32 in a vanilla wagon.</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22</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20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40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par>
                                <p:cTn id="14" presetID="10" presetClass="entr" presetSubtype="0" fill="hold" nodeType="withEffect">
                                  <p:stCondLst>
                                    <p:cond delay="600"/>
                                  </p:stCondLst>
                                  <p:childTnLst>
                                    <p:set>
                                      <p:cBhvr>
                                        <p:cTn id="15" dur="1" fill="hold">
                                          <p:stCondLst>
                                            <p:cond delay="0"/>
                                          </p:stCondLst>
                                        </p:cTn>
                                        <p:tgtEl>
                                          <p:spTgt spid="73"/>
                                        </p:tgtEl>
                                        <p:attrNameLst>
                                          <p:attrName>style.visibility</p:attrName>
                                        </p:attrNameLst>
                                      </p:cBhvr>
                                      <p:to>
                                        <p:strVal val="visible"/>
                                      </p:to>
                                    </p:set>
                                    <p:animEffect transition="in" filter="fade">
                                      <p:cBhvr>
                                        <p:cTn id="16" dur="500"/>
                                        <p:tgtEl>
                                          <p:spTgt spid="73"/>
                                        </p:tgtEl>
                                      </p:cBhvr>
                                    </p:animEffect>
                                  </p:childTnLst>
                                </p:cTn>
                              </p:par>
                              <p:par>
                                <p:cTn id="17" presetID="10" presetClass="entr" presetSubtype="0" fill="hold" nodeType="withEffect">
                                  <p:stCondLst>
                                    <p:cond delay="800"/>
                                  </p:stCondLst>
                                  <p:childTnLst>
                                    <p:set>
                                      <p:cBhvr>
                                        <p:cTn id="18" dur="1" fill="hold">
                                          <p:stCondLst>
                                            <p:cond delay="0"/>
                                          </p:stCondLst>
                                        </p:cTn>
                                        <p:tgtEl>
                                          <p:spTgt spid="74"/>
                                        </p:tgtEl>
                                        <p:attrNameLst>
                                          <p:attrName>style.visibility</p:attrName>
                                        </p:attrNameLst>
                                      </p:cBhvr>
                                      <p:to>
                                        <p:strVal val="visible"/>
                                      </p:to>
                                    </p:set>
                                    <p:animEffect transition="in" filter="fade">
                                      <p:cBhvr>
                                        <p:cTn id="19" dur="500"/>
                                        <p:tgtEl>
                                          <p:spTgt spid="74"/>
                                        </p:tgtEl>
                                      </p:cBhvr>
                                    </p:animEffect>
                                  </p:childTnLst>
                                </p:cTn>
                              </p:par>
                              <p:par>
                                <p:cTn id="20" presetID="10" presetClass="entr" presetSubtype="0" fill="hold" nodeType="withEffect">
                                  <p:stCondLst>
                                    <p:cond delay="1000"/>
                                  </p:stCondLst>
                                  <p:childTnLst>
                                    <p:set>
                                      <p:cBhvr>
                                        <p:cTn id="21" dur="1" fill="hold">
                                          <p:stCondLst>
                                            <p:cond delay="0"/>
                                          </p:stCondLst>
                                        </p:cTn>
                                        <p:tgtEl>
                                          <p:spTgt spid="77"/>
                                        </p:tgtEl>
                                        <p:attrNameLst>
                                          <p:attrName>style.visibility</p:attrName>
                                        </p:attrNameLst>
                                      </p:cBhvr>
                                      <p:to>
                                        <p:strVal val="visible"/>
                                      </p:to>
                                    </p:set>
                                    <p:animEffect transition="in" filter="fade">
                                      <p:cBhvr>
                                        <p:cTn id="22" dur="500"/>
                                        <p:tgtEl>
                                          <p:spTgt spid="77"/>
                                        </p:tgtEl>
                                      </p:cBhvr>
                                    </p:animEffect>
                                  </p:childTnLst>
                                </p:cTn>
                              </p:par>
                              <p:par>
                                <p:cTn id="23" presetID="10" presetClass="entr" presetSubtype="0" fill="hold" nodeType="withEffect">
                                  <p:stCondLst>
                                    <p:cond delay="1200"/>
                                  </p:stCondLst>
                                  <p:childTnLst>
                                    <p:set>
                                      <p:cBhvr>
                                        <p:cTn id="24" dur="1" fill="hold">
                                          <p:stCondLst>
                                            <p:cond delay="0"/>
                                          </p:stCondLst>
                                        </p:cTn>
                                        <p:tgtEl>
                                          <p:spTgt spid="78"/>
                                        </p:tgtEl>
                                        <p:attrNameLst>
                                          <p:attrName>style.visibility</p:attrName>
                                        </p:attrNameLst>
                                      </p:cBhvr>
                                      <p:to>
                                        <p:strVal val="visible"/>
                                      </p:to>
                                    </p:set>
                                    <p:animEffect transition="in" filter="fade">
                                      <p:cBhvr>
                                        <p:cTn id="25" dur="500"/>
                                        <p:tgtEl>
                                          <p:spTgt spid="78"/>
                                        </p:tgtEl>
                                      </p:cBhvr>
                                    </p:animEffect>
                                  </p:childTnLst>
                                </p:cTn>
                              </p:par>
                              <p:par>
                                <p:cTn id="26" presetID="10" presetClass="entr" presetSubtype="0" fill="hold" nodeType="withEffect">
                                  <p:stCondLst>
                                    <p:cond delay="1400"/>
                                  </p:stCondLst>
                                  <p:childTnLst>
                                    <p:set>
                                      <p:cBhvr>
                                        <p:cTn id="27" dur="1" fill="hold">
                                          <p:stCondLst>
                                            <p:cond delay="0"/>
                                          </p:stCondLst>
                                        </p:cTn>
                                        <p:tgtEl>
                                          <p:spTgt spid="4"/>
                                        </p:tgtEl>
                                        <p:attrNameLst>
                                          <p:attrName>style.visibility</p:attrName>
                                        </p:attrNameLst>
                                      </p:cBhvr>
                                      <p:to>
                                        <p:strVal val="visible"/>
                                      </p:to>
                                    </p:set>
                                    <p:animEffect transition="in" filter="fade">
                                      <p:cBhvr>
                                        <p:cTn id="28" dur="500"/>
                                        <p:tgtEl>
                                          <p:spTgt spid="4"/>
                                        </p:tgtEl>
                                      </p:cBhvr>
                                    </p:animEffect>
                                  </p:childTnLst>
                                </p:cTn>
                              </p:par>
                              <p:par>
                                <p:cTn id="29" presetID="10" presetClass="entr" presetSubtype="0" fill="hold" nodeType="withEffect">
                                  <p:stCondLst>
                                    <p:cond delay="160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How far can an engine go?</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Engine gauges" descr="Gauges for one engine: coal about two-thirds full, water about half full, and a readout card showing range left with a dial and no number."/>
          <p:cNvGrpSpPr/>
          <p:nvPr/>
        </p:nvGrpSpPr>
        <p:grpSpPr>
          <a:xfrm>
            <a:off x="548640" y="1371600"/>
            <a:ext cx="5120640" cy="3017520"/>
            <a:chOff x="548640" y="1371600"/>
            <a:chExt cx="5120640" cy="3017520"/>
          </a:xfrm>
        </p:grpSpPr>
        <p:sp>
          <p:nvSpPr>
            <p:cNvPr id="9" name="Rounded Rectangle 8"/>
            <p:cNvSpPr/>
            <p:nvPr/>
          </p:nvSpPr>
          <p:spPr>
            <a:xfrm>
              <a:off x="548640" y="1371600"/>
              <a:ext cx="5120640" cy="3017520"/>
            </a:xfrm>
            <a:prstGeom prst="roundRect">
              <a:avLst>
                <a:gd name="adj" fmla="val 3030"/>
              </a:avLst>
            </a:prstGeom>
            <a:solidFill>
              <a:srgbClr val="2B2F36"/>
            </a:solidFill>
            <a:ln>
              <a:noFill/>
            </a:ln>
          </p:spPr>
          <p:txBody>
            <a:bodyPr rtlCol="0" anchor="ctr"/>
            <a:lstStyle/>
            <a:p>
              <a:pPr algn="ctr"/>
            </a:p>
          </p:txBody>
        </p:sp>
        <p:sp>
          <p:nvSpPr>
            <p:cNvPr id="10" name="Rounded Rectangle 9"/>
            <p:cNvSpPr/>
            <p:nvPr/>
          </p:nvSpPr>
          <p:spPr>
            <a:xfrm>
              <a:off x="914400" y="1828800"/>
              <a:ext cx="914400" cy="2103120"/>
            </a:xfrm>
            <a:prstGeom prst="roundRect">
              <a:avLst>
                <a:gd name="adj" fmla="val 8000"/>
              </a:avLst>
            </a:prstGeom>
            <a:solidFill>
              <a:srgbClr val="2B2F36"/>
            </a:solidFill>
            <a:ln w="25400">
              <a:solidFill>
                <a:srgbClr val="6B7078"/>
              </a:solidFill>
            </a:ln>
          </p:spPr>
          <p:txBody>
            <a:bodyPr rtlCol="0" anchor="ctr"/>
            <a:lstStyle/>
            <a:p>
              <a:pPr algn="ctr"/>
            </a:p>
          </p:txBody>
        </p:sp>
        <p:sp>
          <p:nvSpPr>
            <p:cNvPr id="11" name="Rounded Rectangle 10"/>
            <p:cNvSpPr/>
            <p:nvPr/>
          </p:nvSpPr>
          <p:spPr>
            <a:xfrm>
              <a:off x="950976" y="2575865"/>
              <a:ext cx="841248" cy="1319479"/>
            </a:xfrm>
            <a:prstGeom prst="roundRect">
              <a:avLst>
                <a:gd name="adj" fmla="val 5434"/>
              </a:avLst>
            </a:prstGeom>
            <a:solidFill>
              <a:srgbClr val="1B1D21"/>
            </a:solidFill>
            <a:ln>
              <a:noFill/>
            </a:ln>
          </p:spPr>
          <p:txBody>
            <a:bodyPr rtlCol="0" anchor="ctr"/>
            <a:lstStyle/>
            <a:p>
              <a:pPr algn="ctr"/>
            </a:p>
          </p:txBody>
        </p:sp>
        <p:sp>
          <p:nvSpPr>
            <p:cNvPr id="12" name="Freeform 11"/>
            <p:cNvSpPr/>
            <p:nvPr/>
          </p:nvSpPr>
          <p:spPr>
            <a:xfrm>
              <a:off x="1097280" y="1490472"/>
              <a:ext cx="548640" cy="201168"/>
            </a:xfrm>
            <a:custGeom>
              <a:avLst/>
              <a:gdLst/>
              <a:ahLst/>
              <a:cxnLst/>
              <a:rect l="l" t="t" r="r" b="b"/>
              <a:pathLst>
                <a:path w="548640" h="201168">
                  <a:moveTo>
                    <a:pt x="0" y="201168"/>
                  </a:moveTo>
                  <a:lnTo>
                    <a:pt x="98755" y="80467"/>
                  </a:lnTo>
                  <a:lnTo>
                    <a:pt x="208483" y="30175"/>
                  </a:lnTo>
                  <a:lnTo>
                    <a:pt x="301752" y="0"/>
                  </a:lnTo>
                  <a:lnTo>
                    <a:pt x="411480" y="60350"/>
                  </a:lnTo>
                  <a:lnTo>
                    <a:pt x="504749" y="120701"/>
                  </a:lnTo>
                  <a:lnTo>
                    <a:pt x="548640" y="201168"/>
                  </a:lnTo>
                  <a:close/>
                </a:path>
              </a:pathLst>
            </a:custGeom>
            <a:solidFill>
              <a:srgbClr val="1B1D21"/>
            </a:solidFill>
            <a:ln w="25400">
              <a:solidFill>
                <a:srgbClr val="6B7078"/>
              </a:solidFill>
            </a:ln>
          </p:spPr>
          <p:txBody>
            <a:bodyPr rtlCol="0" anchor="ctr"/>
            <a:lstStyle/>
            <a:p>
              <a:pPr algn="ctr"/>
            </a:p>
          </p:txBody>
        </p:sp>
        <p:sp>
          <p:nvSpPr>
            <p:cNvPr id="13" name="Rounded Rectangle 12"/>
            <p:cNvSpPr/>
            <p:nvPr/>
          </p:nvSpPr>
          <p:spPr>
            <a:xfrm>
              <a:off x="2103120" y="1828800"/>
              <a:ext cx="914400" cy="2103120"/>
            </a:xfrm>
            <a:prstGeom prst="roundRect">
              <a:avLst>
                <a:gd name="adj" fmla="val 8000"/>
              </a:avLst>
            </a:prstGeom>
            <a:solidFill>
              <a:srgbClr val="2B2F36"/>
            </a:solidFill>
            <a:ln w="25400">
              <a:solidFill>
                <a:srgbClr val="F2F2F2"/>
              </a:solidFill>
            </a:ln>
          </p:spPr>
          <p:txBody>
            <a:bodyPr rtlCol="0" anchor="ctr"/>
            <a:lstStyle/>
            <a:p>
              <a:pPr algn="ctr"/>
            </a:p>
          </p:txBody>
        </p:sp>
        <p:sp>
          <p:nvSpPr>
            <p:cNvPr id="14" name="Rounded Rectangle 13"/>
            <p:cNvSpPr/>
            <p:nvPr/>
          </p:nvSpPr>
          <p:spPr>
            <a:xfrm>
              <a:off x="2139696" y="2880360"/>
              <a:ext cx="841248" cy="1014984"/>
            </a:xfrm>
            <a:prstGeom prst="roundRect">
              <a:avLst>
                <a:gd name="adj" fmla="val 5434"/>
              </a:avLst>
            </a:prstGeom>
            <a:solidFill>
              <a:srgbClr val="4DA3FF"/>
            </a:solidFill>
            <a:ln>
              <a:noFill/>
            </a:ln>
          </p:spPr>
          <p:txBody>
            <a:bodyPr rtlCol="0" anchor="ctr"/>
            <a:lstStyle/>
            <a:p>
              <a:pPr algn="ctr"/>
            </a:p>
          </p:txBody>
        </p:sp>
        <p:sp>
          <p:nvSpPr>
            <p:cNvPr id="15" name="Freeform 14"/>
            <p:cNvSpPr/>
            <p:nvPr/>
          </p:nvSpPr>
          <p:spPr>
            <a:xfrm>
              <a:off x="2462152" y="1435608"/>
              <a:ext cx="196336" cy="263347"/>
            </a:xfrm>
            <a:custGeom>
              <a:avLst/>
              <a:gdLst/>
              <a:ahLst/>
              <a:cxnLst/>
              <a:rect l="l" t="t" r="r" b="b"/>
              <a:pathLst>
                <a:path w="196336" h="263347">
                  <a:moveTo>
                    <a:pt x="5368" y="130816"/>
                  </a:moveTo>
                  <a:lnTo>
                    <a:pt x="0" y="153841"/>
                  </a:lnTo>
                  <a:lnTo>
                    <a:pt x="258" y="177482"/>
                  </a:lnTo>
                  <a:lnTo>
                    <a:pt x="6127" y="200385"/>
                  </a:lnTo>
                  <a:lnTo>
                    <a:pt x="17272" y="221236"/>
                  </a:lnTo>
                  <a:lnTo>
                    <a:pt x="33054" y="238840"/>
                  </a:lnTo>
                  <a:lnTo>
                    <a:pt x="52568" y="252189"/>
                  </a:lnTo>
                  <a:lnTo>
                    <a:pt x="74695" y="260517"/>
                  </a:lnTo>
                  <a:lnTo>
                    <a:pt x="98168" y="263347"/>
                  </a:lnTo>
                  <a:lnTo>
                    <a:pt x="121641" y="260517"/>
                  </a:lnTo>
                  <a:lnTo>
                    <a:pt x="143768" y="252189"/>
                  </a:lnTo>
                  <a:lnTo>
                    <a:pt x="163282" y="238840"/>
                  </a:lnTo>
                  <a:lnTo>
                    <a:pt x="179064" y="221236"/>
                  </a:lnTo>
                  <a:lnTo>
                    <a:pt x="190209" y="200385"/>
                  </a:lnTo>
                  <a:lnTo>
                    <a:pt x="196078" y="177482"/>
                  </a:lnTo>
                  <a:lnTo>
                    <a:pt x="196336" y="153841"/>
                  </a:lnTo>
                  <a:lnTo>
                    <a:pt x="190968" y="130816"/>
                  </a:lnTo>
                  <a:lnTo>
                    <a:pt x="98168" y="0"/>
                  </a:lnTo>
                  <a:close/>
                </a:path>
              </a:pathLst>
            </a:custGeom>
            <a:solidFill>
              <a:srgbClr val="4DA3FF"/>
            </a:solidFill>
            <a:ln>
              <a:noFill/>
            </a:ln>
          </p:spPr>
          <p:txBody>
            <a:bodyPr rtlCol="0" anchor="ctr"/>
            <a:lstStyle/>
            <a:p>
              <a:pPr algn="ctr"/>
            </a:p>
          </p:txBody>
        </p:sp>
        <p:sp>
          <p:nvSpPr>
            <p:cNvPr id="16" name="Rounded Rectangle 15"/>
            <p:cNvSpPr/>
            <p:nvPr/>
          </p:nvSpPr>
          <p:spPr>
            <a:xfrm>
              <a:off x="3337560" y="1828800"/>
              <a:ext cx="2103120" cy="2103120"/>
            </a:xfrm>
            <a:prstGeom prst="roundRect">
              <a:avLst>
                <a:gd name="adj" fmla="val 5217"/>
              </a:avLst>
            </a:prstGeom>
            <a:solidFill>
              <a:srgbClr val="1E2126"/>
            </a:solidFill>
            <a:ln w="25400">
              <a:solidFill>
                <a:srgbClr val="F28C28"/>
              </a:solidFill>
            </a:ln>
          </p:spPr>
          <p:txBody>
            <a:bodyPr rtlCol="0" anchor="ctr"/>
            <a:lstStyle/>
            <a:p>
              <a:pPr algn="ctr"/>
            </a:p>
          </p:txBody>
        </p:sp>
        <p:sp>
          <p:nvSpPr>
            <p:cNvPr id="17" name="TextBox 16"/>
            <p:cNvSpPr txBox="1"/>
            <p:nvPr/>
          </p:nvSpPr>
          <p:spPr>
            <a:xfrm>
              <a:off x="3337560" y="1938528"/>
              <a:ext cx="2103120" cy="365760"/>
            </a:xfrm>
            <a:prstGeom prst="rect">
              <a:avLst/>
            </a:prstGeom>
            <a:noFill/>
          </p:spPr>
          <p:txBody>
            <a:bodyPr wrap="square" lIns="0" tIns="0" rIns="0" bIns="0" anchor="t">
              <a:noAutofit/>
            </a:bodyPr>
            <a:lstStyle/>
            <a:p>
              <a:pPr algn="ctr"/>
              <a:r>
                <a:rPr sz="1800" b="1" i="0" lang="en-GB">
                  <a:solidFill>
                    <a:srgbClr val="F2F2F2"/>
                  </a:solidFill>
                  <a:latin typeface="Arial"/>
                </a:rPr>
                <a:t>Range left</a:t>
              </a:r>
            </a:p>
          </p:txBody>
        </p:sp>
        <p:sp>
          <p:nvSpPr>
            <p:cNvPr id="18" name="Freeform 17"/>
            <p:cNvSpPr/>
            <p:nvPr/>
          </p:nvSpPr>
          <p:spPr>
            <a:xfrm>
              <a:off x="3703320" y="2743200"/>
              <a:ext cx="1371600" cy="685800"/>
            </a:xfrm>
            <a:custGeom>
              <a:avLst/>
              <a:gdLst/>
              <a:ahLst/>
              <a:cxnLst/>
              <a:rect l="l" t="t" r="r" b="b"/>
              <a:pathLst>
                <a:path w="1371600" h="685800">
                  <a:moveTo>
                    <a:pt x="0" y="685800"/>
                  </a:moveTo>
                  <a:lnTo>
                    <a:pt x="5867" y="596285"/>
                  </a:lnTo>
                  <a:lnTo>
                    <a:pt x="23368" y="508302"/>
                  </a:lnTo>
                  <a:lnTo>
                    <a:pt x="52203" y="423356"/>
                  </a:lnTo>
                  <a:lnTo>
                    <a:pt x="91880" y="342900"/>
                  </a:lnTo>
                  <a:lnTo>
                    <a:pt x="141718" y="268311"/>
                  </a:lnTo>
                  <a:lnTo>
                    <a:pt x="200866" y="200866"/>
                  </a:lnTo>
                  <a:lnTo>
                    <a:pt x="268311" y="141718"/>
                  </a:lnTo>
                  <a:lnTo>
                    <a:pt x="342900" y="91880"/>
                  </a:lnTo>
                  <a:lnTo>
                    <a:pt x="423356" y="52203"/>
                  </a:lnTo>
                  <a:lnTo>
                    <a:pt x="508302" y="23368"/>
                  </a:lnTo>
                  <a:lnTo>
                    <a:pt x="596285" y="5867"/>
                  </a:lnTo>
                  <a:lnTo>
                    <a:pt x="685800" y="0"/>
                  </a:lnTo>
                  <a:lnTo>
                    <a:pt x="775315" y="5867"/>
                  </a:lnTo>
                  <a:lnTo>
                    <a:pt x="863298" y="23368"/>
                  </a:lnTo>
                  <a:lnTo>
                    <a:pt x="948244" y="52203"/>
                  </a:lnTo>
                  <a:lnTo>
                    <a:pt x="1028700" y="91880"/>
                  </a:lnTo>
                  <a:lnTo>
                    <a:pt x="1103289" y="141718"/>
                  </a:lnTo>
                  <a:lnTo>
                    <a:pt x="1170734" y="200866"/>
                  </a:lnTo>
                  <a:lnTo>
                    <a:pt x="1229882" y="268311"/>
                  </a:lnTo>
                  <a:lnTo>
                    <a:pt x="1279720" y="342900"/>
                  </a:lnTo>
                  <a:lnTo>
                    <a:pt x="1319397" y="423356"/>
                  </a:lnTo>
                  <a:lnTo>
                    <a:pt x="1348232" y="508302"/>
                  </a:lnTo>
                  <a:lnTo>
                    <a:pt x="1365733" y="596285"/>
                  </a:lnTo>
                  <a:lnTo>
                    <a:pt x="1371600" y="685800"/>
                  </a:lnTo>
                </a:path>
              </a:pathLst>
            </a:custGeom>
            <a:noFill/>
            <a:ln w="101600">
              <a:solidFill>
                <a:srgbClr val="4A515B"/>
              </a:solidFill>
            </a:ln>
          </p:spPr>
          <p:txBody>
            <a:bodyPr rtlCol="0" anchor="ctr"/>
            <a:lstStyle/>
            <a:p>
              <a:pPr algn="ctr"/>
            </a:p>
          </p:txBody>
        </p:sp>
        <p:sp>
          <p:nvSpPr>
            <p:cNvPr id="19" name="Freeform 18"/>
            <p:cNvSpPr/>
            <p:nvPr/>
          </p:nvSpPr>
          <p:spPr>
            <a:xfrm>
              <a:off x="3703320" y="2743241"/>
              <a:ext cx="920357" cy="685759"/>
            </a:xfrm>
            <a:custGeom>
              <a:avLst/>
              <a:gdLst/>
              <a:ahLst/>
              <a:cxnLst/>
              <a:rect l="l" t="t" r="r" b="b"/>
              <a:pathLst>
                <a:path w="920357" h="685759">
                  <a:moveTo>
                    <a:pt x="0" y="685759"/>
                  </a:moveTo>
                  <a:lnTo>
                    <a:pt x="4931" y="603666"/>
                  </a:lnTo>
                  <a:lnTo>
                    <a:pt x="19654" y="522754"/>
                  </a:lnTo>
                  <a:lnTo>
                    <a:pt x="43956" y="444186"/>
                  </a:lnTo>
                  <a:lnTo>
                    <a:pt x="77488" y="369092"/>
                  </a:lnTo>
                  <a:lnTo>
                    <a:pt x="119768" y="298552"/>
                  </a:lnTo>
                  <a:lnTo>
                    <a:pt x="170188" y="233580"/>
                  </a:lnTo>
                  <a:lnTo>
                    <a:pt x="228023" y="175110"/>
                  </a:lnTo>
                  <a:lnTo>
                    <a:pt x="292441" y="123985"/>
                  </a:lnTo>
                  <a:lnTo>
                    <a:pt x="362516" y="80937"/>
                  </a:lnTo>
                  <a:lnTo>
                    <a:pt x="437240" y="46588"/>
                  </a:lnTo>
                  <a:lnTo>
                    <a:pt x="515538" y="21430"/>
                  </a:lnTo>
                  <a:lnTo>
                    <a:pt x="596285" y="5826"/>
                  </a:lnTo>
                  <a:lnTo>
                    <a:pt x="678319" y="0"/>
                  </a:lnTo>
                  <a:lnTo>
                    <a:pt x="760461" y="4035"/>
                  </a:lnTo>
                  <a:lnTo>
                    <a:pt x="841529" y="17874"/>
                  </a:lnTo>
                  <a:lnTo>
                    <a:pt x="920357" y="41318"/>
                  </a:lnTo>
                </a:path>
              </a:pathLst>
            </a:custGeom>
            <a:noFill/>
            <a:ln w="101600">
              <a:solidFill>
                <a:srgbClr val="F28C28"/>
              </a:solidFill>
            </a:ln>
          </p:spPr>
          <p:txBody>
            <a:bodyPr rtlCol="0" anchor="ctr"/>
            <a:lstStyle/>
            <a:p>
              <a:pPr algn="ctr"/>
            </a:p>
          </p:txBody>
        </p:sp>
        <p:cxnSp>
          <p:nvCxnSpPr>
            <p:cNvPr id="20" name="Connector 19"/>
            <p:cNvCxnSpPr/>
            <p:nvPr/>
          </p:nvCxnSpPr>
          <p:spPr>
            <a:xfrm flipV="1">
              <a:off x="4389120" y="2956255"/>
              <a:ext cx="171999" cy="472745"/>
            </a:xfrm>
            <a:prstGeom prst="line">
              <a:avLst/>
            </a:prstGeom>
            <a:ln w="38100">
              <a:solidFill>
                <a:srgbClr val="F2F2F2"/>
              </a:solidFill>
            </a:ln>
          </p:spPr>
        </p:cxnSp>
        <p:sp>
          <p:nvSpPr>
            <p:cNvPr id="21" name="Oval 20"/>
            <p:cNvSpPr/>
            <p:nvPr/>
          </p:nvSpPr>
          <p:spPr>
            <a:xfrm>
              <a:off x="4315968" y="3355848"/>
              <a:ext cx="146304" cy="146304"/>
            </a:xfrm>
            <a:prstGeom prst="ellipse">
              <a:avLst/>
            </a:prstGeom>
            <a:solidFill>
              <a:srgbClr val="F2F2F2"/>
            </a:solidFill>
            <a:ln>
              <a:noFill/>
            </a:ln>
          </p:spPr>
          <p:txBody>
            <a:bodyPr rtlCol="0" anchor="ctr"/>
            <a:lstStyle/>
            <a:p>
              <a:pPr algn="ctr"/>
            </a:p>
          </p:txBody>
        </p:sp>
      </p:grpSp>
      <p:sp>
        <p:nvSpPr>
          <p:cNvPr id="22" name="Inline chip Agreed"/>
          <p:cNvSpPr/>
          <p:nvPr/>
        </p:nvSpPr>
        <p:spPr>
          <a:xfrm>
            <a:off x="3337560" y="4526280"/>
            <a:ext cx="2146935"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 DIRECTION</a:t>
            </a:r>
          </a:p>
        </p:txBody>
      </p:sp>
      <p:sp>
        <p:nvSpPr>
          <p:cNvPr id="23" name="TextBox 22"/>
          <p:cNvSpPr txBox="1"/>
          <p:nvPr/>
        </p:nvSpPr>
        <p:spPr>
          <a:xfrm>
            <a:off x="6172200" y="1325880"/>
            <a:ext cx="3291840" cy="384048"/>
          </a:xfrm>
          <a:prstGeom prst="rect">
            <a:avLst/>
          </a:prstGeom>
          <a:noFill/>
        </p:spPr>
        <p:txBody>
          <a:bodyPr wrap="square" lIns="0" tIns="0" rIns="0" bIns="0" anchor="ctr">
            <a:noAutofit/>
          </a:bodyPr>
          <a:lstStyle/>
          <a:p>
            <a:pPr algn="l"/>
            <a:r>
              <a:rPr sz="2000" b="1" i="0" lang="en-GB">
                <a:solidFill>
                  <a:srgbClr val="F2F2F2"/>
                </a:solidFill>
                <a:latin typeface="Arial"/>
              </a:rPr>
              <a:t>Route-dependent targets</a:t>
            </a:r>
          </a:p>
        </p:txBody>
      </p:sp>
      <p:sp>
        <p:nvSpPr>
          <p:cNvPr id="24" name="Inline chip Provisional"/>
          <p:cNvSpPr/>
          <p:nvPr/>
        </p:nvSpPr>
        <p:spPr>
          <a:xfrm>
            <a:off x="9380855" y="1353312"/>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aphicFrame>
        <p:nvGraphicFramePr>
          <p:cNvPr id="25" name="Table" descr="Table of provisional, route-dependent range targets. Small: water 2 to 3 km, coal 4 to 5 km. Medium: water 4 to 5 km, coal about 7 km. Large: water 6 to 7 km, coal about 10 km."/>
          <p:cNvGraphicFramePr>
            <a:graphicFrameLocks noGrp="1"/>
          </p:cNvGraphicFramePr>
          <p:nvPr/>
        </p:nvGraphicFramePr>
        <p:xfrm>
          <a:off x="6172200" y="1874520"/>
          <a:ext cx="5486400" cy="2267712"/>
        </p:xfrm>
        <a:graphic>
          <a:graphicData uri="http://schemas.openxmlformats.org/drawingml/2006/table">
            <a:tbl>
              <a:tblPr firstRow="1">
                <a:tableStyleId>{2D5ABB26-0587-4C30-8999-92F81FD0307C}</a:tableStyleId>
              </a:tblPr>
              <a:tblGrid>
                <a:gridCol w="1828800"/>
                <a:gridCol w="1828800"/>
                <a:gridCol w="1828800"/>
              </a:tblGrid>
              <a:tr h="566928">
                <a:tc>
                  <a:txBody>
                    <a:bodyPr wrap="square"/>
                    <a:lstStyle/>
                    <a:p>
                      <a:pPr algn="l"/>
                      <a:r>
                        <a:rPr sz="2000" b="1" lang="en-GB">
                          <a:solidFill>
                            <a:srgbClr val="F28C28"/>
                          </a:solidFill>
                          <a:latin typeface="Arial"/>
                        </a:rPr>
                        <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ctr"/>
                      <a:r>
                        <a:rPr sz="2000" b="1" lang="en-GB">
                          <a:solidFill>
                            <a:srgbClr val="F28C28"/>
                          </a:solidFill>
                          <a:latin typeface="Arial"/>
                        </a:rPr>
                        <a:t>Water (km)</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ctr"/>
                      <a:r>
                        <a:rPr sz="2000" b="1" lang="en-GB">
                          <a:solidFill>
                            <a:srgbClr val="F28C28"/>
                          </a:solidFill>
                          <a:latin typeface="Arial"/>
                        </a:rPr>
                        <a:t>Coal (km)</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r>
              <a:tr h="566928">
                <a:tc>
                  <a:txBody>
                    <a:bodyPr wrap="square"/>
                    <a:lstStyle/>
                    <a:p>
                      <a:pPr algn="l"/>
                      <a:r>
                        <a:rPr sz="2000" b="0" lang="en-GB">
                          <a:solidFill>
                            <a:srgbClr val="F2F2F2"/>
                          </a:solidFill>
                          <a:latin typeface="Arial"/>
                        </a:rPr>
                        <a:t>Small</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2–3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4–5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566928">
                <a:tc>
                  <a:txBody>
                    <a:bodyPr wrap="square"/>
                    <a:lstStyle/>
                    <a:p>
                      <a:pPr algn="l"/>
                      <a:r>
                        <a:rPr sz="2000" b="0" lang="en-GB">
                          <a:solidFill>
                            <a:srgbClr val="F2F2F2"/>
                          </a:solidFill>
                          <a:latin typeface="Arial"/>
                        </a:rPr>
                        <a:t>Medium</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4–5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about 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566928">
                <a:tc>
                  <a:txBody>
                    <a:bodyPr wrap="square"/>
                    <a:lstStyle/>
                    <a:p>
                      <a:pPr algn="l"/>
                      <a:r>
                        <a:rPr sz="2000" b="0" lang="en-GB">
                          <a:solidFill>
                            <a:srgbClr val="F2F2F2"/>
                          </a:solidFill>
                          <a:latin typeface="Arial"/>
                        </a:rPr>
                        <a:t>Large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6–7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about 10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bl>
          </a:graphicData>
        </a:graphic>
      </p:graphicFrame>
      <p:sp>
        <p:nvSpPr>
          <p:cNvPr id="26" name="TextBox 25"/>
          <p:cNvSpPr txBox="1"/>
          <p:nvPr/>
        </p:nvSpPr>
        <p:spPr>
          <a:xfrm>
            <a:off x="6172200" y="4434840"/>
            <a:ext cx="4754880" cy="384048"/>
          </a:xfrm>
          <a:prstGeom prst="rect">
            <a:avLst/>
          </a:prstGeom>
          <a:noFill/>
        </p:spPr>
        <p:txBody>
          <a:bodyPr wrap="square" lIns="0" tIns="0" rIns="0" bIns="0" anchor="ctr">
            <a:noAutofit/>
          </a:bodyPr>
          <a:lstStyle/>
          <a:p>
            <a:pPr algn="l"/>
            <a:r>
              <a:rPr sz="1800" b="0" i="0" lang="en-GB">
                <a:solidFill>
                  <a:srgbClr val="F2F2F2"/>
                </a:solidFill>
                <a:latin typeface="Arial"/>
              </a:rPr>
              <a:t>Compacted Coal burns more efficiently.</a:t>
            </a:r>
          </a:p>
        </p:txBody>
      </p:sp>
      <p:sp>
        <p:nvSpPr>
          <p:cNvPr id="27" name="Inline chip Agreed"/>
          <p:cNvSpPr/>
          <p:nvPr/>
        </p:nvSpPr>
        <p:spPr>
          <a:xfrm>
            <a:off x="10355282" y="4462272"/>
            <a:ext cx="112141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Range comes from real tank sizes and real use. Hills and heavy loads use more. Coasting uses less.</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23</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20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40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500"/>
                                        <p:tgtEl>
                                          <p:spTgt spid="23"/>
                                        </p:tgtEl>
                                      </p:cBhvr>
                                    </p:animEffect>
                                  </p:childTnLst>
                                </p:cTn>
                              </p:par>
                              <p:par>
                                <p:cTn id="14" presetID="10" presetClass="entr" presetSubtype="0" fill="hold" nodeType="withEffect">
                                  <p:stCondLst>
                                    <p:cond delay="60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80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500"/>
                                        <p:tgtEl>
                                          <p:spTgt spid="25"/>
                                        </p:tgtEl>
                                      </p:cBhvr>
                                    </p:animEffect>
                                  </p:childTnLst>
                                </p:cTn>
                              </p:par>
                              <p:par>
                                <p:cTn id="20" presetID="10" presetClass="entr" presetSubtype="0" fill="hold" nodeType="withEffect">
                                  <p:stCondLst>
                                    <p:cond delay="100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par>
                                <p:cTn id="23" presetID="10" presetClass="entr" presetSubtype="0" fill="hold" nodeType="withEffect">
                                  <p:stCondLst>
                                    <p:cond delay="120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00"/>
                                        <p:tgtEl>
                                          <p:spTgt spid="27"/>
                                        </p:tgtEl>
                                      </p:cBhvr>
                                    </p:animEffect>
                                  </p:childTnLst>
                                </p:cTn>
                              </p:par>
                              <p:par>
                                <p:cTn id="26" presetID="10" presetClass="entr" presetSubtype="0" fill="hold" nodeType="withEffect">
                                  <p:stCondLst>
                                    <p:cond delay="1400"/>
                                  </p:stCondLst>
                                  <p:childTnLst>
                                    <p:set>
                                      <p:cBhvr>
                                        <p:cTn id="27" dur="1" fill="hold">
                                          <p:stCondLst>
                                            <p:cond delay="0"/>
                                          </p:stCondLst>
                                        </p:cTn>
                                        <p:tgtEl>
                                          <p:spTgt spid="4"/>
                                        </p:tgtEl>
                                        <p:attrNameLst>
                                          <p:attrName>style.visibility</p:attrName>
                                        </p:attrNameLst>
                                      </p:cBhvr>
                                      <p:to>
                                        <p:strVal val="visible"/>
                                      </p:to>
                                    </p:set>
                                    <p:animEffect transition="in" filter="fade">
                                      <p:cBhvr>
                                        <p:cTn id="28" dur="500"/>
                                        <p:tgtEl>
                                          <p:spTgt spid="4"/>
                                        </p:tgtEl>
                                      </p:cBhvr>
                                    </p:animEffect>
                                  </p:childTnLst>
                                </p:cTn>
                              </p:par>
                              <p:par>
                                <p:cTn id="29" presetID="10" presetClass="entr" presetSubtype="0" fill="hold" nodeType="withEffect">
                                  <p:stCondLst>
                                    <p:cond delay="160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Tenders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Train with tenders" descr="A train facing left: the engine and its normal tender form one vehicle; behind them a hatched auxiliary tender, a separate wagon; then three cargo wagons."/>
          <p:cNvGrpSpPr/>
          <p:nvPr/>
        </p:nvGrpSpPr>
        <p:grpSpPr>
          <a:xfrm>
            <a:off x="640080" y="1421892"/>
            <a:ext cx="7827264" cy="1330452"/>
            <a:chOff x="640080" y="1421892"/>
            <a:chExt cx="7827264" cy="1330452"/>
          </a:xfrm>
        </p:grpSpPr>
        <p:sp>
          <p:nvSpPr>
            <p:cNvPr id="9" name="Rounded Rectangle 8"/>
            <p:cNvSpPr/>
            <p:nvPr/>
          </p:nvSpPr>
          <p:spPr>
            <a:xfrm>
              <a:off x="822960" y="1805940"/>
              <a:ext cx="1371600" cy="754380"/>
            </a:xfrm>
            <a:prstGeom prst="roundRect">
              <a:avLst>
                <a:gd name="adj" fmla="val 10909"/>
              </a:avLst>
            </a:prstGeom>
            <a:solidFill>
              <a:srgbClr val="F28C28"/>
            </a:solidFill>
            <a:ln w="9525">
              <a:solidFill>
                <a:srgbClr val="101418"/>
              </a:solidFill>
            </a:ln>
          </p:spPr>
          <p:txBody>
            <a:bodyPr rtlCol="0" anchor="ctr"/>
            <a:lstStyle/>
            <a:p>
              <a:pPr algn="ctr"/>
            </a:p>
          </p:txBody>
        </p:sp>
        <p:sp>
          <p:nvSpPr>
            <p:cNvPr id="10" name="Rectangle 9"/>
            <p:cNvSpPr/>
            <p:nvPr/>
          </p:nvSpPr>
          <p:spPr>
            <a:xfrm>
              <a:off x="918972" y="1421892"/>
              <a:ext cx="205740" cy="411480"/>
            </a:xfrm>
            <a:prstGeom prst="rect">
              <a:avLst/>
            </a:prstGeom>
            <a:solidFill>
              <a:srgbClr val="1B1D21"/>
            </a:solidFill>
            <a:ln>
              <a:noFill/>
            </a:ln>
          </p:spPr>
          <p:txBody>
            <a:bodyPr rtlCol="0" anchor="ctr"/>
            <a:lstStyle/>
            <a:p>
              <a:pPr algn="ctr"/>
            </a:p>
          </p:txBody>
        </p:sp>
        <p:sp>
          <p:nvSpPr>
            <p:cNvPr id="11" name="Rectangle 10"/>
            <p:cNvSpPr/>
            <p:nvPr/>
          </p:nvSpPr>
          <p:spPr>
            <a:xfrm>
              <a:off x="1536192" y="1901952"/>
              <a:ext cx="192024" cy="192024"/>
            </a:xfrm>
            <a:prstGeom prst="rect">
              <a:avLst/>
            </a:prstGeom>
            <a:solidFill>
              <a:srgbClr val="2B2F36"/>
            </a:solidFill>
            <a:ln>
              <a:noFill/>
            </a:ln>
          </p:spPr>
          <p:txBody>
            <a:bodyPr rtlCol="0" anchor="ctr"/>
            <a:lstStyle/>
            <a:p>
              <a:pPr algn="ctr"/>
            </a:p>
          </p:txBody>
        </p:sp>
        <p:sp>
          <p:nvSpPr>
            <p:cNvPr id="12" name="Oval 11"/>
            <p:cNvSpPr/>
            <p:nvPr/>
          </p:nvSpPr>
          <p:spPr>
            <a:xfrm>
              <a:off x="960120" y="2423160"/>
              <a:ext cx="274320" cy="274320"/>
            </a:xfrm>
            <a:prstGeom prst="ellipse">
              <a:avLst/>
            </a:prstGeom>
            <a:solidFill>
              <a:srgbClr val="1B1D21"/>
            </a:solidFill>
            <a:ln w="12700">
              <a:solidFill>
                <a:srgbClr val="9AA0A6"/>
              </a:solidFill>
            </a:ln>
          </p:spPr>
          <p:txBody>
            <a:bodyPr rtlCol="0" anchor="ctr"/>
            <a:lstStyle/>
            <a:p>
              <a:pPr algn="ctr"/>
            </a:p>
          </p:txBody>
        </p:sp>
        <p:sp>
          <p:nvSpPr>
            <p:cNvPr id="13" name="Oval 12"/>
            <p:cNvSpPr/>
            <p:nvPr/>
          </p:nvSpPr>
          <p:spPr>
            <a:xfrm>
              <a:off x="1371600" y="2423160"/>
              <a:ext cx="274320" cy="274320"/>
            </a:xfrm>
            <a:prstGeom prst="ellipse">
              <a:avLst/>
            </a:prstGeom>
            <a:solidFill>
              <a:srgbClr val="1B1D21"/>
            </a:solidFill>
            <a:ln w="12700">
              <a:solidFill>
                <a:srgbClr val="9AA0A6"/>
              </a:solidFill>
            </a:ln>
          </p:spPr>
          <p:txBody>
            <a:bodyPr rtlCol="0" anchor="ctr"/>
            <a:lstStyle/>
            <a:p>
              <a:pPr algn="ctr"/>
            </a:p>
          </p:txBody>
        </p:sp>
        <p:sp>
          <p:nvSpPr>
            <p:cNvPr id="14" name="Oval 13"/>
            <p:cNvSpPr/>
            <p:nvPr/>
          </p:nvSpPr>
          <p:spPr>
            <a:xfrm>
              <a:off x="1783080" y="2423160"/>
              <a:ext cx="274320" cy="274320"/>
            </a:xfrm>
            <a:prstGeom prst="ellipse">
              <a:avLst/>
            </a:prstGeom>
            <a:solidFill>
              <a:srgbClr val="1B1D21"/>
            </a:solidFill>
            <a:ln w="12700">
              <a:solidFill>
                <a:srgbClr val="9AA0A6"/>
              </a:solidFill>
            </a:ln>
          </p:spPr>
          <p:txBody>
            <a:bodyPr rtlCol="0" anchor="ctr"/>
            <a:lstStyle/>
            <a:p>
              <a:pPr algn="ctr"/>
            </a:p>
          </p:txBody>
        </p:sp>
        <p:sp>
          <p:nvSpPr>
            <p:cNvPr id="15" name="Rectangle 14"/>
            <p:cNvSpPr/>
            <p:nvPr/>
          </p:nvSpPr>
          <p:spPr>
            <a:xfrm>
              <a:off x="2194560" y="2354580"/>
              <a:ext cx="109728" cy="68580"/>
            </a:xfrm>
            <a:prstGeom prst="rect">
              <a:avLst/>
            </a:prstGeom>
            <a:solidFill>
              <a:srgbClr val="9AA0A6"/>
            </a:solidFill>
            <a:ln>
              <a:noFill/>
            </a:ln>
          </p:spPr>
          <p:txBody>
            <a:bodyPr rtlCol="0" anchor="ctr"/>
            <a:lstStyle/>
            <a:p>
              <a:pPr algn="ctr"/>
            </a:p>
          </p:txBody>
        </p:sp>
        <p:sp>
          <p:nvSpPr>
            <p:cNvPr id="16" name="Rectangle 15"/>
            <p:cNvSpPr/>
            <p:nvPr/>
          </p:nvSpPr>
          <p:spPr>
            <a:xfrm>
              <a:off x="2304288" y="1874520"/>
              <a:ext cx="850392" cy="658368"/>
            </a:xfrm>
            <a:prstGeom prst="rect">
              <a:avLst/>
            </a:prstGeom>
            <a:solidFill>
              <a:srgbClr val="F28C28"/>
            </a:solidFill>
            <a:ln w="9525">
              <a:solidFill>
                <a:srgbClr val="101418"/>
              </a:solidFill>
            </a:ln>
          </p:spPr>
          <p:txBody>
            <a:bodyPr rtlCol="0" anchor="ctr"/>
            <a:lstStyle/>
            <a:p>
              <a:pPr algn="ctr"/>
            </a:p>
          </p:txBody>
        </p:sp>
        <p:sp>
          <p:nvSpPr>
            <p:cNvPr id="17" name="Rectangle 16"/>
            <p:cNvSpPr/>
            <p:nvPr/>
          </p:nvSpPr>
          <p:spPr>
            <a:xfrm>
              <a:off x="2372868" y="1764792"/>
              <a:ext cx="713232" cy="164592"/>
            </a:xfrm>
            <a:prstGeom prst="rect">
              <a:avLst/>
            </a:prstGeom>
            <a:solidFill>
              <a:srgbClr val="1B1D21"/>
            </a:solidFill>
            <a:ln>
              <a:noFill/>
            </a:ln>
          </p:spPr>
          <p:txBody>
            <a:bodyPr rtlCol="0" anchor="ctr"/>
            <a:lstStyle/>
            <a:p>
              <a:pPr algn="ctr"/>
            </a:p>
          </p:txBody>
        </p:sp>
        <p:sp>
          <p:nvSpPr>
            <p:cNvPr id="18" name="Oval 17"/>
            <p:cNvSpPr/>
            <p:nvPr/>
          </p:nvSpPr>
          <p:spPr>
            <a:xfrm>
              <a:off x="2372868" y="2423160"/>
              <a:ext cx="274320" cy="274320"/>
            </a:xfrm>
            <a:prstGeom prst="ellipse">
              <a:avLst/>
            </a:prstGeom>
            <a:solidFill>
              <a:srgbClr val="1B1D21"/>
            </a:solidFill>
            <a:ln w="12700">
              <a:solidFill>
                <a:srgbClr val="9AA0A6"/>
              </a:solidFill>
            </a:ln>
          </p:spPr>
          <p:txBody>
            <a:bodyPr rtlCol="0" anchor="ctr"/>
            <a:lstStyle/>
            <a:p>
              <a:pPr algn="ctr"/>
            </a:p>
          </p:txBody>
        </p:sp>
        <p:sp>
          <p:nvSpPr>
            <p:cNvPr id="19" name="Oval 18"/>
            <p:cNvSpPr/>
            <p:nvPr/>
          </p:nvSpPr>
          <p:spPr>
            <a:xfrm>
              <a:off x="2811780" y="2423160"/>
              <a:ext cx="274320" cy="274320"/>
            </a:xfrm>
            <a:prstGeom prst="ellipse">
              <a:avLst/>
            </a:prstGeom>
            <a:solidFill>
              <a:srgbClr val="1B1D21"/>
            </a:solidFill>
            <a:ln w="12700">
              <a:solidFill>
                <a:srgbClr val="9AA0A6"/>
              </a:solidFill>
            </a:ln>
          </p:spPr>
          <p:txBody>
            <a:bodyPr rtlCol="0" anchor="ctr"/>
            <a:lstStyle/>
            <a:p>
              <a:pPr algn="ctr"/>
            </a:p>
          </p:txBody>
        </p:sp>
        <p:sp>
          <p:nvSpPr>
            <p:cNvPr id="20" name="Rectangle 19"/>
            <p:cNvSpPr/>
            <p:nvPr/>
          </p:nvSpPr>
          <p:spPr>
            <a:xfrm>
              <a:off x="3154680" y="2354580"/>
              <a:ext cx="411480" cy="68580"/>
            </a:xfrm>
            <a:prstGeom prst="rect">
              <a:avLst/>
            </a:prstGeom>
            <a:solidFill>
              <a:srgbClr val="9AA0A6"/>
            </a:solidFill>
            <a:ln>
              <a:noFill/>
            </a:ln>
          </p:spPr>
          <p:txBody>
            <a:bodyPr rtlCol="0" anchor="ctr"/>
            <a:lstStyle/>
            <a:p>
              <a:pPr algn="ctr"/>
            </a:p>
          </p:txBody>
        </p:sp>
        <p:sp>
          <p:nvSpPr>
            <p:cNvPr id="21" name="Rectangle 20"/>
            <p:cNvSpPr/>
            <p:nvPr/>
          </p:nvSpPr>
          <p:spPr>
            <a:xfrm>
              <a:off x="3566160" y="1915668"/>
              <a:ext cx="1097280" cy="617220"/>
            </a:xfrm>
            <a:prstGeom prst="rect">
              <a:avLst/>
            </a:prstGeom>
            <a:pattFill prst="wdUpDiag">
              <a:fgClr>
                <a:srgbClr val="F28C28"/>
              </a:fgClr>
              <a:bgClr>
                <a:srgbClr val="2B2F36"/>
              </a:bgClr>
            </a:pattFill>
            <a:ln w="25400">
              <a:solidFill>
                <a:srgbClr val="F28C28"/>
              </a:solidFill>
            </a:ln>
          </p:spPr>
          <p:txBody>
            <a:bodyPr rtlCol="0" anchor="ctr"/>
            <a:lstStyle/>
            <a:p>
              <a:pPr algn="ctr"/>
            </a:p>
          </p:txBody>
        </p:sp>
        <p:sp>
          <p:nvSpPr>
            <p:cNvPr id="22" name="Oval 21"/>
            <p:cNvSpPr/>
            <p:nvPr/>
          </p:nvSpPr>
          <p:spPr>
            <a:xfrm>
              <a:off x="3703320" y="2423160"/>
              <a:ext cx="274320" cy="274320"/>
            </a:xfrm>
            <a:prstGeom prst="ellipse">
              <a:avLst/>
            </a:prstGeom>
            <a:solidFill>
              <a:srgbClr val="1B1D21"/>
            </a:solidFill>
            <a:ln w="12700">
              <a:solidFill>
                <a:srgbClr val="9AA0A6"/>
              </a:solidFill>
            </a:ln>
          </p:spPr>
          <p:txBody>
            <a:bodyPr rtlCol="0" anchor="ctr"/>
            <a:lstStyle/>
            <a:p>
              <a:pPr algn="ctr"/>
            </a:p>
          </p:txBody>
        </p:sp>
        <p:sp>
          <p:nvSpPr>
            <p:cNvPr id="23" name="Oval 22"/>
            <p:cNvSpPr/>
            <p:nvPr/>
          </p:nvSpPr>
          <p:spPr>
            <a:xfrm>
              <a:off x="4251960" y="2423160"/>
              <a:ext cx="274320" cy="274320"/>
            </a:xfrm>
            <a:prstGeom prst="ellipse">
              <a:avLst/>
            </a:prstGeom>
            <a:solidFill>
              <a:srgbClr val="1B1D21"/>
            </a:solidFill>
            <a:ln w="12700">
              <a:solidFill>
                <a:srgbClr val="9AA0A6"/>
              </a:solidFill>
            </a:ln>
          </p:spPr>
          <p:txBody>
            <a:bodyPr rtlCol="0" anchor="ctr"/>
            <a:lstStyle/>
            <a:p>
              <a:pPr algn="ctr"/>
            </a:p>
          </p:txBody>
        </p:sp>
        <p:sp>
          <p:nvSpPr>
            <p:cNvPr id="24" name="Rectangle 23"/>
            <p:cNvSpPr/>
            <p:nvPr/>
          </p:nvSpPr>
          <p:spPr>
            <a:xfrm>
              <a:off x="4663440" y="2354580"/>
              <a:ext cx="109728" cy="68580"/>
            </a:xfrm>
            <a:prstGeom prst="rect">
              <a:avLst/>
            </a:prstGeom>
            <a:solidFill>
              <a:srgbClr val="9AA0A6"/>
            </a:solidFill>
            <a:ln>
              <a:noFill/>
            </a:ln>
          </p:spPr>
          <p:txBody>
            <a:bodyPr rtlCol="0" anchor="ctr"/>
            <a:lstStyle/>
            <a:p>
              <a:pPr algn="ctr"/>
            </a:p>
          </p:txBody>
        </p:sp>
        <p:sp>
          <p:nvSpPr>
            <p:cNvPr id="25" name="Rectangle 24"/>
            <p:cNvSpPr/>
            <p:nvPr/>
          </p:nvSpPr>
          <p:spPr>
            <a:xfrm>
              <a:off x="4773168" y="1915668"/>
              <a:ext cx="1097280" cy="617220"/>
            </a:xfrm>
            <a:prstGeom prst="rect">
              <a:avLst/>
            </a:prstGeom>
            <a:solidFill>
              <a:srgbClr val="6C7480"/>
            </a:solidFill>
            <a:ln w="9525">
              <a:solidFill>
                <a:srgbClr val="101418"/>
              </a:solidFill>
            </a:ln>
          </p:spPr>
          <p:txBody>
            <a:bodyPr rtlCol="0" anchor="ctr"/>
            <a:lstStyle/>
            <a:p>
              <a:pPr algn="ctr"/>
            </a:p>
          </p:txBody>
        </p:sp>
        <p:sp>
          <p:nvSpPr>
            <p:cNvPr id="26" name="Oval 25"/>
            <p:cNvSpPr/>
            <p:nvPr/>
          </p:nvSpPr>
          <p:spPr>
            <a:xfrm>
              <a:off x="4910328" y="2423160"/>
              <a:ext cx="274320" cy="274320"/>
            </a:xfrm>
            <a:prstGeom prst="ellipse">
              <a:avLst/>
            </a:prstGeom>
            <a:solidFill>
              <a:srgbClr val="1B1D21"/>
            </a:solidFill>
            <a:ln w="12700">
              <a:solidFill>
                <a:srgbClr val="9AA0A6"/>
              </a:solidFill>
            </a:ln>
          </p:spPr>
          <p:txBody>
            <a:bodyPr rtlCol="0" anchor="ctr"/>
            <a:lstStyle/>
            <a:p>
              <a:pPr algn="ctr"/>
            </a:p>
          </p:txBody>
        </p:sp>
        <p:sp>
          <p:nvSpPr>
            <p:cNvPr id="27" name="Oval 26"/>
            <p:cNvSpPr/>
            <p:nvPr/>
          </p:nvSpPr>
          <p:spPr>
            <a:xfrm>
              <a:off x="5458968" y="2423160"/>
              <a:ext cx="274320" cy="274320"/>
            </a:xfrm>
            <a:prstGeom prst="ellipse">
              <a:avLst/>
            </a:prstGeom>
            <a:solidFill>
              <a:srgbClr val="1B1D21"/>
            </a:solidFill>
            <a:ln w="12700">
              <a:solidFill>
                <a:srgbClr val="9AA0A6"/>
              </a:solidFill>
            </a:ln>
          </p:spPr>
          <p:txBody>
            <a:bodyPr rtlCol="0" anchor="ctr"/>
            <a:lstStyle/>
            <a:p>
              <a:pPr algn="ctr"/>
            </a:p>
          </p:txBody>
        </p:sp>
        <p:sp>
          <p:nvSpPr>
            <p:cNvPr id="28" name="Rectangle 27"/>
            <p:cNvSpPr/>
            <p:nvPr/>
          </p:nvSpPr>
          <p:spPr>
            <a:xfrm>
              <a:off x="5870448" y="2354580"/>
              <a:ext cx="109728" cy="68580"/>
            </a:xfrm>
            <a:prstGeom prst="rect">
              <a:avLst/>
            </a:prstGeom>
            <a:solidFill>
              <a:srgbClr val="9AA0A6"/>
            </a:solidFill>
            <a:ln>
              <a:noFill/>
            </a:ln>
          </p:spPr>
          <p:txBody>
            <a:bodyPr rtlCol="0" anchor="ctr"/>
            <a:lstStyle/>
            <a:p>
              <a:pPr algn="ctr"/>
            </a:p>
          </p:txBody>
        </p:sp>
        <p:sp>
          <p:nvSpPr>
            <p:cNvPr id="29" name="Rectangle 28"/>
            <p:cNvSpPr/>
            <p:nvPr/>
          </p:nvSpPr>
          <p:spPr>
            <a:xfrm>
              <a:off x="5980176" y="1915668"/>
              <a:ext cx="1097280" cy="617220"/>
            </a:xfrm>
            <a:prstGeom prst="rect">
              <a:avLst/>
            </a:prstGeom>
            <a:solidFill>
              <a:srgbClr val="6C7480"/>
            </a:solidFill>
            <a:ln w="9525">
              <a:solidFill>
                <a:srgbClr val="101418"/>
              </a:solidFill>
            </a:ln>
          </p:spPr>
          <p:txBody>
            <a:bodyPr rtlCol="0" anchor="ctr"/>
            <a:lstStyle/>
            <a:p>
              <a:pPr algn="ctr"/>
            </a:p>
          </p:txBody>
        </p:sp>
        <p:sp>
          <p:nvSpPr>
            <p:cNvPr id="30" name="Oval 29"/>
            <p:cNvSpPr/>
            <p:nvPr/>
          </p:nvSpPr>
          <p:spPr>
            <a:xfrm>
              <a:off x="6117336" y="2423160"/>
              <a:ext cx="274320" cy="274320"/>
            </a:xfrm>
            <a:prstGeom prst="ellipse">
              <a:avLst/>
            </a:prstGeom>
            <a:solidFill>
              <a:srgbClr val="1B1D21"/>
            </a:solidFill>
            <a:ln w="12700">
              <a:solidFill>
                <a:srgbClr val="9AA0A6"/>
              </a:solidFill>
            </a:ln>
          </p:spPr>
          <p:txBody>
            <a:bodyPr rtlCol="0" anchor="ctr"/>
            <a:lstStyle/>
            <a:p>
              <a:pPr algn="ctr"/>
            </a:p>
          </p:txBody>
        </p:sp>
        <p:sp>
          <p:nvSpPr>
            <p:cNvPr id="31" name="Oval 30"/>
            <p:cNvSpPr/>
            <p:nvPr/>
          </p:nvSpPr>
          <p:spPr>
            <a:xfrm>
              <a:off x="6665976" y="2423160"/>
              <a:ext cx="274320" cy="274320"/>
            </a:xfrm>
            <a:prstGeom prst="ellipse">
              <a:avLst/>
            </a:prstGeom>
            <a:solidFill>
              <a:srgbClr val="1B1D21"/>
            </a:solidFill>
            <a:ln w="12700">
              <a:solidFill>
                <a:srgbClr val="9AA0A6"/>
              </a:solidFill>
            </a:ln>
          </p:spPr>
          <p:txBody>
            <a:bodyPr rtlCol="0" anchor="ctr"/>
            <a:lstStyle/>
            <a:p>
              <a:pPr algn="ctr"/>
            </a:p>
          </p:txBody>
        </p:sp>
        <p:sp>
          <p:nvSpPr>
            <p:cNvPr id="32" name="Rectangle 31"/>
            <p:cNvSpPr/>
            <p:nvPr/>
          </p:nvSpPr>
          <p:spPr>
            <a:xfrm>
              <a:off x="7077456" y="2354580"/>
              <a:ext cx="109728" cy="68580"/>
            </a:xfrm>
            <a:prstGeom prst="rect">
              <a:avLst/>
            </a:prstGeom>
            <a:solidFill>
              <a:srgbClr val="9AA0A6"/>
            </a:solidFill>
            <a:ln>
              <a:noFill/>
            </a:ln>
          </p:spPr>
          <p:txBody>
            <a:bodyPr rtlCol="0" anchor="ctr"/>
            <a:lstStyle/>
            <a:p>
              <a:pPr algn="ctr"/>
            </a:p>
          </p:txBody>
        </p:sp>
        <p:sp>
          <p:nvSpPr>
            <p:cNvPr id="33" name="Rectangle 32"/>
            <p:cNvSpPr/>
            <p:nvPr/>
          </p:nvSpPr>
          <p:spPr>
            <a:xfrm>
              <a:off x="7187184" y="1915668"/>
              <a:ext cx="1097280" cy="617220"/>
            </a:xfrm>
            <a:prstGeom prst="rect">
              <a:avLst/>
            </a:prstGeom>
            <a:solidFill>
              <a:srgbClr val="6C7480"/>
            </a:solidFill>
            <a:ln w="9525">
              <a:solidFill>
                <a:srgbClr val="101418"/>
              </a:solidFill>
            </a:ln>
          </p:spPr>
          <p:txBody>
            <a:bodyPr rtlCol="0" anchor="ctr"/>
            <a:lstStyle/>
            <a:p>
              <a:pPr algn="ctr"/>
            </a:p>
          </p:txBody>
        </p:sp>
        <p:sp>
          <p:nvSpPr>
            <p:cNvPr id="34" name="Oval 33"/>
            <p:cNvSpPr/>
            <p:nvPr/>
          </p:nvSpPr>
          <p:spPr>
            <a:xfrm>
              <a:off x="7324344" y="2423160"/>
              <a:ext cx="274320" cy="274320"/>
            </a:xfrm>
            <a:prstGeom prst="ellipse">
              <a:avLst/>
            </a:prstGeom>
            <a:solidFill>
              <a:srgbClr val="1B1D21"/>
            </a:solidFill>
            <a:ln w="12700">
              <a:solidFill>
                <a:srgbClr val="9AA0A6"/>
              </a:solidFill>
            </a:ln>
          </p:spPr>
          <p:txBody>
            <a:bodyPr rtlCol="0" anchor="ctr"/>
            <a:lstStyle/>
            <a:p>
              <a:pPr algn="ctr"/>
            </a:p>
          </p:txBody>
        </p:sp>
        <p:sp>
          <p:nvSpPr>
            <p:cNvPr id="35" name="Oval 34"/>
            <p:cNvSpPr/>
            <p:nvPr/>
          </p:nvSpPr>
          <p:spPr>
            <a:xfrm>
              <a:off x="7872984" y="2423160"/>
              <a:ext cx="274320" cy="274320"/>
            </a:xfrm>
            <a:prstGeom prst="ellipse">
              <a:avLst/>
            </a:prstGeom>
            <a:solidFill>
              <a:srgbClr val="1B1D21"/>
            </a:solidFill>
            <a:ln w="12700">
              <a:solidFill>
                <a:srgbClr val="9AA0A6"/>
              </a:solidFill>
            </a:ln>
          </p:spPr>
          <p:txBody>
            <a:bodyPr rtlCol="0" anchor="ctr"/>
            <a:lstStyle/>
            <a:p>
              <a:pPr algn="ctr"/>
            </a:p>
          </p:txBody>
        </p:sp>
        <p:sp>
          <p:nvSpPr>
            <p:cNvPr id="36" name="Rectangle 35"/>
            <p:cNvSpPr/>
            <p:nvPr/>
          </p:nvSpPr>
          <p:spPr>
            <a:xfrm>
              <a:off x="640080" y="2697480"/>
              <a:ext cx="7827264" cy="54864"/>
            </a:xfrm>
            <a:prstGeom prst="rect">
              <a:avLst/>
            </a:prstGeom>
            <a:solidFill>
              <a:srgbClr val="9AA0A6"/>
            </a:solidFill>
            <a:ln>
              <a:noFill/>
            </a:ln>
          </p:spPr>
          <p:txBody>
            <a:bodyPr rtlCol="0" anchor="ctr"/>
            <a:lstStyle/>
            <a:p>
              <a:pPr algn="ctr"/>
            </a:p>
          </p:txBody>
        </p:sp>
      </p:grpSp>
      <p:grpSp>
        <p:nvGrpSpPr>
          <p:cNvPr id="37" name="Brackets" descr="Brackets: one under the engine and normal tender, one under the auxiliary tender."/>
          <p:cNvGrpSpPr/>
          <p:nvPr/>
        </p:nvGrpSpPr>
        <p:grpSpPr>
          <a:xfrm>
            <a:off x="0" y="0"/>
            <a:ext cx="0" cy="0"/>
            <a:chOff x="0" y="0"/>
            <a:chExt cx="0" cy="0"/>
          </a:xfrm>
        </p:grpSpPr>
        <p:sp>
          <p:nvSpPr>
            <p:cNvPr id="38" name="Freeform 37"/>
            <p:cNvSpPr/>
            <p:nvPr/>
          </p:nvSpPr>
          <p:spPr>
            <a:xfrm>
              <a:off x="822960" y="2834640"/>
              <a:ext cx="2331720" cy="109728"/>
            </a:xfrm>
            <a:custGeom>
              <a:avLst/>
              <a:gdLst/>
              <a:ahLst/>
              <a:cxnLst/>
              <a:rect l="l" t="t" r="r" b="b"/>
              <a:pathLst>
                <a:path w="2331720" h="109728">
                  <a:moveTo>
                    <a:pt x="0" y="0"/>
                  </a:moveTo>
                  <a:lnTo>
                    <a:pt x="0" y="109728"/>
                  </a:lnTo>
                  <a:lnTo>
                    <a:pt x="2331720" y="109728"/>
                  </a:lnTo>
                  <a:lnTo>
                    <a:pt x="2331720" y="0"/>
                  </a:lnTo>
                </a:path>
              </a:pathLst>
            </a:custGeom>
            <a:noFill/>
            <a:ln w="25400">
              <a:solidFill>
                <a:srgbClr val="F28C28"/>
              </a:solidFill>
            </a:ln>
          </p:spPr>
          <p:txBody>
            <a:bodyPr rtlCol="0" anchor="ctr"/>
            <a:lstStyle/>
            <a:p>
              <a:pPr algn="ctr"/>
            </a:p>
          </p:txBody>
        </p:sp>
        <p:sp>
          <p:nvSpPr>
            <p:cNvPr id="41" name="Freeform 40"/>
            <p:cNvSpPr/>
            <p:nvPr/>
          </p:nvSpPr>
          <p:spPr>
            <a:xfrm>
              <a:off x="3566160" y="2834640"/>
              <a:ext cx="1097280" cy="109728"/>
            </a:xfrm>
            <a:custGeom>
              <a:avLst/>
              <a:gdLst/>
              <a:ahLst/>
              <a:cxnLst/>
              <a:rect l="l" t="t" r="r" b="b"/>
              <a:pathLst>
                <a:path w="1097280" h="109728">
                  <a:moveTo>
                    <a:pt x="0" y="0"/>
                  </a:moveTo>
                  <a:lnTo>
                    <a:pt x="0" y="109728"/>
                  </a:lnTo>
                  <a:lnTo>
                    <a:pt x="1097280" y="109728"/>
                  </a:lnTo>
                  <a:lnTo>
                    <a:pt x="1097280" y="0"/>
                  </a:lnTo>
                </a:path>
              </a:pathLst>
            </a:custGeom>
            <a:noFill/>
            <a:ln w="25400">
              <a:solidFill>
                <a:srgbClr val="F28C28"/>
              </a:solidFill>
            </a:ln>
          </p:spPr>
          <p:txBody>
            <a:bodyPr rtlCol="0" anchor="ctr"/>
            <a:lstStyle/>
            <a:p>
              <a:pPr algn="ctr"/>
            </a:p>
          </p:txBody>
        </p:sp>
      </p:grpSp>
      <p:sp>
        <p:nvSpPr>
          <p:cNvPr id="39" name="TextBox 38"/>
          <p:cNvSpPr txBox="1"/>
          <p:nvPr/>
        </p:nvSpPr>
        <p:spPr>
          <a:xfrm>
            <a:off x="822960" y="3017520"/>
            <a:ext cx="2194560" cy="365760"/>
          </a:xfrm>
          <a:prstGeom prst="rect">
            <a:avLst/>
          </a:prstGeom>
          <a:noFill/>
        </p:spPr>
        <p:txBody>
          <a:bodyPr wrap="square" lIns="0" tIns="0" rIns="0" bIns="0" anchor="ctr">
            <a:noAutofit/>
          </a:bodyPr>
          <a:lstStyle/>
          <a:p>
            <a:pPr algn="l"/>
            <a:r>
              <a:rPr sz="1800" b="1" i="0" lang="en-GB">
                <a:solidFill>
                  <a:srgbClr val="F2F2F2"/>
                </a:solidFill>
                <a:latin typeface="Arial"/>
              </a:rPr>
              <a:t>One vehicle</a:t>
            </a:r>
          </a:p>
        </p:txBody>
      </p:sp>
      <p:sp>
        <p:nvSpPr>
          <p:cNvPr id="40" name="Inline chip Proposed"/>
          <p:cNvSpPr/>
          <p:nvPr/>
        </p:nvSpPr>
        <p:spPr>
          <a:xfrm>
            <a:off x="822960" y="347472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42" name="TextBox 41"/>
          <p:cNvSpPr txBox="1"/>
          <p:nvPr/>
        </p:nvSpPr>
        <p:spPr>
          <a:xfrm>
            <a:off x="3474720" y="3017520"/>
            <a:ext cx="4572000" cy="365760"/>
          </a:xfrm>
          <a:prstGeom prst="rect">
            <a:avLst/>
          </a:prstGeom>
          <a:noFill/>
        </p:spPr>
        <p:txBody>
          <a:bodyPr wrap="square" lIns="0" tIns="0" rIns="0" bIns="0" anchor="ctr">
            <a:noAutofit/>
          </a:bodyPr>
          <a:lstStyle/>
          <a:p>
            <a:pPr algn="l"/>
            <a:r>
              <a:rPr sz="1800" b="1" i="0" lang="en-GB">
                <a:solidFill>
                  <a:srgbClr val="F2F2F2"/>
                </a:solidFill>
                <a:latin typeface="Arial"/>
              </a:rPr>
              <a:t>Auxiliary tender: a separate wagon</a:t>
            </a:r>
          </a:p>
        </p:txBody>
      </p:sp>
      <p:sp>
        <p:nvSpPr>
          <p:cNvPr id="43" name="Inline chip Proposed"/>
          <p:cNvSpPr/>
          <p:nvPr/>
        </p:nvSpPr>
        <p:spPr>
          <a:xfrm>
            <a:off x="3474720" y="3474720"/>
            <a:ext cx="155579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WATER ONLY</a:t>
            </a:r>
          </a:p>
        </p:txBody>
      </p:sp>
      <p:sp>
        <p:nvSpPr>
          <p:cNvPr id="44" name="Inline chip Proposed"/>
          <p:cNvSpPr/>
          <p:nvPr/>
        </p:nvSpPr>
        <p:spPr>
          <a:xfrm>
            <a:off x="5140238" y="3474720"/>
            <a:ext cx="199721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COAL AND WATER</a:t>
            </a:r>
          </a:p>
        </p:txBody>
      </p:sp>
      <p:grpSp>
        <p:nvGrpSpPr>
          <p:cNvPr id="45" name="Downsides" descr="Downsides of an auxiliary tender: it carries no freight and adds weight."/>
          <p:cNvGrpSpPr/>
          <p:nvPr/>
        </p:nvGrpSpPr>
        <p:grpSpPr>
          <a:xfrm>
            <a:off x="3474720" y="3977640"/>
            <a:ext cx="3840480" cy="1298448"/>
            <a:chOff x="3474720" y="3977640"/>
            <a:chExt cx="3840480" cy="1298448"/>
          </a:xfrm>
        </p:grpSpPr>
        <p:sp>
          <p:nvSpPr>
            <p:cNvPr id="46" name="Rounded Rectangle 45"/>
            <p:cNvSpPr/>
            <p:nvPr/>
          </p:nvSpPr>
          <p:spPr>
            <a:xfrm>
              <a:off x="3474720" y="3977640"/>
              <a:ext cx="3840480" cy="603504"/>
            </a:xfrm>
            <a:prstGeom prst="roundRect">
              <a:avLst>
                <a:gd name="adj" fmla="val 12121"/>
              </a:avLst>
            </a:prstGeom>
            <a:solidFill>
              <a:srgbClr val="2B2F36"/>
            </a:solidFill>
            <a:ln>
              <a:noFill/>
            </a:ln>
          </p:spPr>
          <p:txBody>
            <a:bodyPr rtlCol="0" anchor="ctr"/>
            <a:lstStyle/>
            <a:p>
              <a:pPr algn="ctr"/>
            </a:p>
          </p:txBody>
        </p:sp>
        <p:sp>
          <p:nvSpPr>
            <p:cNvPr id="47" name="Rectangle 46"/>
            <p:cNvSpPr/>
            <p:nvPr/>
          </p:nvSpPr>
          <p:spPr>
            <a:xfrm>
              <a:off x="3703320" y="4176522"/>
              <a:ext cx="365760" cy="251460"/>
            </a:xfrm>
            <a:prstGeom prst="rect">
              <a:avLst/>
            </a:prstGeom>
            <a:noFill/>
            <a:ln w="25400">
              <a:solidFill>
                <a:srgbClr val="F28C28"/>
              </a:solidFill>
            </a:ln>
          </p:spPr>
          <p:txBody>
            <a:bodyPr rtlCol="0" anchor="ctr"/>
            <a:lstStyle/>
            <a:p>
              <a:pPr algn="ctr"/>
            </a:p>
          </p:txBody>
        </p:sp>
        <p:cxnSp>
          <p:nvCxnSpPr>
            <p:cNvPr id="48" name="Connector 47"/>
            <p:cNvCxnSpPr/>
            <p:nvPr/>
          </p:nvCxnSpPr>
          <p:spPr>
            <a:xfrm flipV="1">
              <a:off x="3657600" y="4119372"/>
              <a:ext cx="457200" cy="320040"/>
            </a:xfrm>
            <a:prstGeom prst="line">
              <a:avLst/>
            </a:prstGeom>
            <a:ln w="31750">
              <a:solidFill>
                <a:srgbClr val="F2F2F2"/>
              </a:solidFill>
            </a:ln>
          </p:spPr>
        </p:cxnSp>
        <p:sp>
          <p:nvSpPr>
            <p:cNvPr id="49" name="TextBox 48"/>
            <p:cNvSpPr txBox="1"/>
            <p:nvPr/>
          </p:nvSpPr>
          <p:spPr>
            <a:xfrm>
              <a:off x="4206240" y="3977640"/>
              <a:ext cx="2999232" cy="603504"/>
            </a:xfrm>
            <a:prstGeom prst="rect">
              <a:avLst/>
            </a:prstGeom>
            <a:noFill/>
          </p:spPr>
          <p:txBody>
            <a:bodyPr wrap="square" lIns="0" tIns="0" rIns="0" bIns="0" anchor="ctr">
              <a:noAutofit/>
            </a:bodyPr>
            <a:lstStyle/>
            <a:p>
              <a:pPr algn="l"/>
              <a:r>
                <a:rPr sz="1800" b="0" i="0" lang="en-GB">
                  <a:solidFill>
                    <a:srgbClr val="F2F2F2"/>
                  </a:solidFill>
                  <a:latin typeface="Arial"/>
                </a:rPr>
                <a:t>Carries no freight</a:t>
              </a:r>
            </a:p>
          </p:txBody>
        </p:sp>
        <p:sp>
          <p:nvSpPr>
            <p:cNvPr id="50" name="Rounded Rectangle 49"/>
            <p:cNvSpPr/>
            <p:nvPr/>
          </p:nvSpPr>
          <p:spPr>
            <a:xfrm>
              <a:off x="3474720" y="4672584"/>
              <a:ext cx="3840480" cy="603504"/>
            </a:xfrm>
            <a:prstGeom prst="roundRect">
              <a:avLst>
                <a:gd name="adj" fmla="val 12121"/>
              </a:avLst>
            </a:prstGeom>
            <a:solidFill>
              <a:srgbClr val="2B2F36"/>
            </a:solidFill>
            <a:ln>
              <a:noFill/>
            </a:ln>
          </p:spPr>
          <p:txBody>
            <a:bodyPr rtlCol="0" anchor="ctr"/>
            <a:lstStyle/>
            <a:p>
              <a:pPr algn="ctr"/>
            </a:p>
          </p:txBody>
        </p:sp>
        <p:sp>
          <p:nvSpPr>
            <p:cNvPr id="51" name="Freeform 50"/>
            <p:cNvSpPr/>
            <p:nvPr/>
          </p:nvSpPr>
          <p:spPr>
            <a:xfrm>
              <a:off x="3726180" y="4894326"/>
              <a:ext cx="320040" cy="240030"/>
            </a:xfrm>
            <a:custGeom>
              <a:avLst/>
              <a:gdLst/>
              <a:ahLst/>
              <a:cxnLst/>
              <a:rect l="l" t="t" r="r" b="b"/>
              <a:pathLst>
                <a:path w="320040" h="240030">
                  <a:moveTo>
                    <a:pt x="0" y="240030"/>
                  </a:moveTo>
                  <a:lnTo>
                    <a:pt x="320040" y="240030"/>
                  </a:lnTo>
                  <a:lnTo>
                    <a:pt x="262890" y="0"/>
                  </a:lnTo>
                  <a:lnTo>
                    <a:pt x="57150" y="0"/>
                  </a:lnTo>
                  <a:close/>
                </a:path>
              </a:pathLst>
            </a:custGeom>
            <a:solidFill>
              <a:srgbClr val="F28C28"/>
            </a:solidFill>
            <a:ln>
              <a:noFill/>
            </a:ln>
          </p:spPr>
          <p:txBody>
            <a:bodyPr rtlCol="0" anchor="ctr"/>
            <a:lstStyle/>
            <a:p>
              <a:pPr algn="ctr"/>
            </a:p>
          </p:txBody>
        </p:sp>
        <p:sp>
          <p:nvSpPr>
            <p:cNvPr id="52" name="Oval 51"/>
            <p:cNvSpPr/>
            <p:nvPr/>
          </p:nvSpPr>
          <p:spPr>
            <a:xfrm>
              <a:off x="3822192" y="4784598"/>
              <a:ext cx="128016" cy="128016"/>
            </a:xfrm>
            <a:prstGeom prst="ellipse">
              <a:avLst/>
            </a:prstGeom>
            <a:noFill/>
            <a:ln w="25400">
              <a:solidFill>
                <a:srgbClr val="F28C28"/>
              </a:solidFill>
            </a:ln>
          </p:spPr>
          <p:txBody>
            <a:bodyPr rtlCol="0" anchor="ctr"/>
            <a:lstStyle/>
            <a:p>
              <a:pPr algn="ctr"/>
            </a:p>
          </p:txBody>
        </p:sp>
        <p:sp>
          <p:nvSpPr>
            <p:cNvPr id="53" name="TextBox 52"/>
            <p:cNvSpPr txBox="1"/>
            <p:nvPr/>
          </p:nvSpPr>
          <p:spPr>
            <a:xfrm>
              <a:off x="4206240" y="4672584"/>
              <a:ext cx="2999232" cy="603504"/>
            </a:xfrm>
            <a:prstGeom prst="rect">
              <a:avLst/>
            </a:prstGeom>
            <a:noFill/>
          </p:spPr>
          <p:txBody>
            <a:bodyPr wrap="square" lIns="0" tIns="0" rIns="0" bIns="0" anchor="ctr">
              <a:noAutofit/>
            </a:bodyPr>
            <a:lstStyle/>
            <a:p>
              <a:pPr algn="l"/>
              <a:r>
                <a:rPr sz="1800" b="0" i="0" lang="en-GB">
                  <a:solidFill>
                    <a:srgbClr val="F2F2F2"/>
                  </a:solidFill>
                  <a:latin typeface="Arial"/>
                </a:rPr>
                <a:t>Adds weight</a:t>
              </a:r>
            </a:p>
          </p:txBody>
        </p:sp>
      </p:grpSp>
      <p:sp>
        <p:nvSpPr>
          <p:cNvPr id="54" name="TextBox 53"/>
          <p:cNvSpPr txBox="1"/>
          <p:nvPr/>
        </p:nvSpPr>
        <p:spPr>
          <a:xfrm>
            <a:off x="8531352" y="2743200"/>
            <a:ext cx="3108960" cy="310896"/>
          </a:xfrm>
          <a:prstGeom prst="rect">
            <a:avLst/>
          </a:prstGeom>
          <a:noFill/>
        </p:spPr>
        <p:txBody>
          <a:bodyPr wrap="square" lIns="0" tIns="0" rIns="0" bIns="0" anchor="t">
            <a:noAutofit/>
          </a:bodyPr>
          <a:lstStyle/>
          <a:p>
            <a:pPr algn="l"/>
            <a:r>
              <a:rPr sz="1400" b="0" i="0" lang="en-GB">
                <a:solidFill>
                  <a:srgbClr val="F2F2F2"/>
                </a:solidFill>
                <a:latin typeface="Arial"/>
              </a:rPr>
              <a:t>A real tender, for illustration</a:t>
            </a:r>
          </a:p>
        </p:txBody>
      </p:sp>
      <p:pic>
        <p:nvPicPr>
          <p:cNvPr id="55" name="Picture P18" descr="A detached LMS tender at Norton Fitzwarren. Comparison only: not any particular engine's tender."/>
          <p:cNvPicPr>
            <a:picLocks noChangeAspect="1"/>
          </p:cNvPicPr>
          <p:nvPr/>
        </p:nvPicPr>
        <p:blipFill>
          <a:blip r:embed="rId2"/>
          <a:srcRect l="73" r="73"/>
          <a:stretch>
            <a:fillRect/>
          </a:stretch>
        </p:blipFill>
        <p:spPr>
          <a:xfrm>
            <a:off x="8531352" y="3072384"/>
            <a:ext cx="3108960" cy="2075688"/>
          </a:xfrm>
          <a:prstGeom prst="roundRect">
            <a:avLst>
              <a:gd name="adj" fmla="val 3524"/>
            </a:avLst>
          </a:prstGeom>
        </p:spPr>
      </p:pic>
      <p:sp>
        <p:nvSpPr>
          <p:cNvPr id="56" name="Credit"/>
          <p:cNvSpPr txBox="1"/>
          <p:nvPr/>
        </p:nvSpPr>
        <p:spPr>
          <a:xfrm>
            <a:off x="8531352" y="5175504"/>
            <a:ext cx="3108960" cy="338328"/>
          </a:xfrm>
          <a:prstGeom prst="rect">
            <a:avLst/>
          </a:prstGeom>
          <a:noFill/>
        </p:spPr>
        <p:txBody>
          <a:bodyPr wrap="square" lIns="0" tIns="0" rIns="0" bIns="0" anchor="t">
            <a:noAutofit/>
          </a:bodyPr>
          <a:lstStyle/>
          <a:p>
            <a:pPr algn="l"/>
            <a:r>
              <a:rPr sz="1000" b="0" i="0" lang="en-GB">
                <a:solidFill>
                  <a:srgbClr val="A9B0B8"/>
                </a:solidFill>
                <a:latin typeface="Arial"/>
              </a:rPr>
              <a:t>Photo: Geof Sheppard, CC BY-SA 4.0, Wikimedia Commons.</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normal tender belongs to the engine. An auxiliary tender is an extra wagon: more range, less pulling power.</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24</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15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500"/>
                                        <p:tgtEl>
                                          <p:spTgt spid="37"/>
                                        </p:tgtEl>
                                      </p:cBhvr>
                                    </p:animEffect>
                                  </p:childTnLst>
                                </p:cTn>
                              </p:par>
                              <p:par>
                                <p:cTn id="11" presetID="10" presetClass="entr" presetSubtype="0" fill="hold" nodeType="withEffect">
                                  <p:stCondLst>
                                    <p:cond delay="30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500"/>
                                        <p:tgtEl>
                                          <p:spTgt spid="39"/>
                                        </p:tgtEl>
                                      </p:cBhvr>
                                    </p:animEffect>
                                  </p:childTnLst>
                                </p:cTn>
                              </p:par>
                              <p:par>
                                <p:cTn id="14" presetID="10" presetClass="entr" presetSubtype="0" fill="hold" nodeType="withEffect">
                                  <p:stCondLst>
                                    <p:cond delay="450"/>
                                  </p:stCondLst>
                                  <p:childTnLst>
                                    <p:set>
                                      <p:cBhvr>
                                        <p:cTn id="15" dur="1" fill="hold">
                                          <p:stCondLst>
                                            <p:cond delay="0"/>
                                          </p:stCondLst>
                                        </p:cTn>
                                        <p:tgtEl>
                                          <p:spTgt spid="40"/>
                                        </p:tgtEl>
                                        <p:attrNameLst>
                                          <p:attrName>style.visibility</p:attrName>
                                        </p:attrNameLst>
                                      </p:cBhvr>
                                      <p:to>
                                        <p:strVal val="visible"/>
                                      </p:to>
                                    </p:set>
                                    <p:animEffect transition="in" filter="fade">
                                      <p:cBhvr>
                                        <p:cTn id="16" dur="500"/>
                                        <p:tgtEl>
                                          <p:spTgt spid="40"/>
                                        </p:tgtEl>
                                      </p:cBhvr>
                                    </p:animEffect>
                                  </p:childTnLst>
                                </p:cTn>
                              </p:par>
                              <p:par>
                                <p:cTn id="17" presetID="10" presetClass="entr" presetSubtype="0" fill="hold" nodeType="withEffect">
                                  <p:stCondLst>
                                    <p:cond delay="600"/>
                                  </p:stCondLst>
                                  <p:childTnLst>
                                    <p:set>
                                      <p:cBhvr>
                                        <p:cTn id="18" dur="1" fill="hold">
                                          <p:stCondLst>
                                            <p:cond delay="0"/>
                                          </p:stCondLst>
                                        </p:cTn>
                                        <p:tgtEl>
                                          <p:spTgt spid="42"/>
                                        </p:tgtEl>
                                        <p:attrNameLst>
                                          <p:attrName>style.visibility</p:attrName>
                                        </p:attrNameLst>
                                      </p:cBhvr>
                                      <p:to>
                                        <p:strVal val="visible"/>
                                      </p:to>
                                    </p:set>
                                    <p:animEffect transition="in" filter="fade">
                                      <p:cBhvr>
                                        <p:cTn id="19" dur="500"/>
                                        <p:tgtEl>
                                          <p:spTgt spid="42"/>
                                        </p:tgtEl>
                                      </p:cBhvr>
                                    </p:animEffect>
                                  </p:childTnLst>
                                </p:cTn>
                              </p:par>
                              <p:par>
                                <p:cTn id="20" presetID="10" presetClass="entr" presetSubtype="0" fill="hold" nodeType="withEffect">
                                  <p:stCondLst>
                                    <p:cond delay="75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500"/>
                                        <p:tgtEl>
                                          <p:spTgt spid="43"/>
                                        </p:tgtEl>
                                      </p:cBhvr>
                                    </p:animEffect>
                                  </p:childTnLst>
                                </p:cTn>
                              </p:par>
                              <p:par>
                                <p:cTn id="23" presetID="10" presetClass="entr" presetSubtype="0" fill="hold" nodeType="withEffect">
                                  <p:stCondLst>
                                    <p:cond delay="900"/>
                                  </p:stCondLst>
                                  <p:childTnLst>
                                    <p:set>
                                      <p:cBhvr>
                                        <p:cTn id="24" dur="1" fill="hold">
                                          <p:stCondLst>
                                            <p:cond delay="0"/>
                                          </p:stCondLst>
                                        </p:cTn>
                                        <p:tgtEl>
                                          <p:spTgt spid="44"/>
                                        </p:tgtEl>
                                        <p:attrNameLst>
                                          <p:attrName>style.visibility</p:attrName>
                                        </p:attrNameLst>
                                      </p:cBhvr>
                                      <p:to>
                                        <p:strVal val="visible"/>
                                      </p:to>
                                    </p:set>
                                    <p:animEffect transition="in" filter="fade">
                                      <p:cBhvr>
                                        <p:cTn id="25" dur="500"/>
                                        <p:tgtEl>
                                          <p:spTgt spid="44"/>
                                        </p:tgtEl>
                                      </p:cBhvr>
                                    </p:animEffect>
                                  </p:childTnLst>
                                </p:cTn>
                              </p:par>
                              <p:par>
                                <p:cTn id="26" presetID="10" presetClass="entr" presetSubtype="0" fill="hold" nodeType="withEffect">
                                  <p:stCondLst>
                                    <p:cond delay="105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500"/>
                                        <p:tgtEl>
                                          <p:spTgt spid="45"/>
                                        </p:tgtEl>
                                      </p:cBhvr>
                                    </p:animEffect>
                                  </p:childTnLst>
                                </p:cTn>
                              </p:par>
                              <p:par>
                                <p:cTn id="29" presetID="10" presetClass="entr" presetSubtype="0" fill="hold" nodeType="withEffect">
                                  <p:stCondLst>
                                    <p:cond delay="1200"/>
                                  </p:stCondLst>
                                  <p:childTnLst>
                                    <p:set>
                                      <p:cBhvr>
                                        <p:cTn id="30" dur="1" fill="hold">
                                          <p:stCondLst>
                                            <p:cond delay="0"/>
                                          </p:stCondLst>
                                        </p:cTn>
                                        <p:tgtEl>
                                          <p:spTgt spid="54"/>
                                        </p:tgtEl>
                                        <p:attrNameLst>
                                          <p:attrName>style.visibility</p:attrName>
                                        </p:attrNameLst>
                                      </p:cBhvr>
                                      <p:to>
                                        <p:strVal val="visible"/>
                                      </p:to>
                                    </p:set>
                                    <p:animEffect transition="in" filter="fade">
                                      <p:cBhvr>
                                        <p:cTn id="31" dur="500"/>
                                        <p:tgtEl>
                                          <p:spTgt spid="54"/>
                                        </p:tgtEl>
                                      </p:cBhvr>
                                    </p:animEffect>
                                  </p:childTnLst>
                                </p:cTn>
                              </p:par>
                              <p:par>
                                <p:cTn id="32" presetID="10" presetClass="entr" presetSubtype="0" fill="hold" nodeType="withEffect">
                                  <p:stCondLst>
                                    <p:cond delay="1350"/>
                                  </p:stCondLst>
                                  <p:childTnLst>
                                    <p:set>
                                      <p:cBhvr>
                                        <p:cTn id="33" dur="1" fill="hold">
                                          <p:stCondLst>
                                            <p:cond delay="0"/>
                                          </p:stCondLst>
                                        </p:cTn>
                                        <p:tgtEl>
                                          <p:spTgt spid="55"/>
                                        </p:tgtEl>
                                        <p:attrNameLst>
                                          <p:attrName>style.visibility</p:attrName>
                                        </p:attrNameLst>
                                      </p:cBhvr>
                                      <p:to>
                                        <p:strVal val="visible"/>
                                      </p:to>
                                    </p:set>
                                    <p:animEffect transition="in" filter="fade">
                                      <p:cBhvr>
                                        <p:cTn id="34" dur="500"/>
                                        <p:tgtEl>
                                          <p:spTgt spid="55"/>
                                        </p:tgtEl>
                                      </p:cBhvr>
                                    </p:animEffect>
                                  </p:childTnLst>
                                </p:cTn>
                              </p:par>
                              <p:par>
                                <p:cTn id="35" presetID="10" presetClass="entr" presetSubtype="0" fill="hold" nodeType="withEffect">
                                  <p:stCondLst>
                                    <p:cond delay="150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500"/>
                                        <p:tgtEl>
                                          <p:spTgt spid="4"/>
                                        </p:tgtEl>
                                      </p:cBhvr>
                                    </p:animEffect>
                                  </p:childTnLst>
                                </p:cTn>
                              </p:par>
                              <p:par>
                                <p:cTn id="38" presetID="10" presetClass="entr" presetSubtype="0" fill="hold" nodeType="withEffect">
                                  <p:stCondLst>
                                    <p:cond delay="1650"/>
                                  </p:stCondLst>
                                  <p:childTnLst>
                                    <p:set>
                                      <p:cBhvr>
                                        <p:cTn id="39" dur="1" fill="hold">
                                          <p:stCondLst>
                                            <p:cond delay="0"/>
                                          </p:stCondLst>
                                        </p:cTn>
                                        <p:tgtEl>
                                          <p:spTgt spid="5"/>
                                        </p:tgtEl>
                                        <p:attrNameLst>
                                          <p:attrName>style.visibility</p:attrName>
                                        </p:attrNameLst>
                                      </p:cBhvr>
                                      <p:to>
                                        <p:strVal val="visible"/>
                                      </p:to>
                                    </p:set>
                                    <p:animEffect transition="in" filter="fade">
                                      <p:cBhvr>
                                        <p:cTn id="4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A steam station</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tation plan" descr="Top-down plan of a steam station: main line with a docked engine, a coaling stage fed by a conveyor, a water tower fed by a pipe, a signal box and a platform for cargo. A dashed outline shows a large footprint; a small vanilla station is shown for comparison."/>
          <p:cNvGrpSpPr/>
          <p:nvPr/>
        </p:nvGrpSpPr>
        <p:grpSpPr>
          <a:xfrm>
            <a:off x="457200" y="1417320"/>
            <a:ext cx="11201400" cy="3840480"/>
            <a:chOff x="457200" y="1417320"/>
            <a:chExt cx="11201400" cy="3840480"/>
          </a:xfrm>
        </p:grpSpPr>
        <p:sp>
          <p:nvSpPr>
            <p:cNvPr id="9" name="Rounded Rectangle 8"/>
            <p:cNvSpPr/>
            <p:nvPr/>
          </p:nvSpPr>
          <p:spPr>
            <a:xfrm>
              <a:off x="640080" y="1783080"/>
              <a:ext cx="8641080" cy="3474720"/>
            </a:xfrm>
            <a:prstGeom prst="roundRect">
              <a:avLst>
                <a:gd name="adj" fmla="val 3947"/>
              </a:avLst>
            </a:prstGeom>
            <a:noFill/>
            <a:ln w="19050">
              <a:solidFill>
                <a:srgbClr val="A9B0B8"/>
              </a:solidFill>
              <a:prstDash val="dash"/>
            </a:ln>
          </p:spPr>
          <p:txBody>
            <a:bodyPr rtlCol="0" anchor="ctr"/>
            <a:lstStyle/>
            <a:p>
              <a:pPr algn="ctr"/>
            </a:p>
          </p:txBody>
        </p:sp>
        <p:sp>
          <p:nvSpPr>
            <p:cNvPr id="10" name="Rectangle 9"/>
            <p:cNvSpPr/>
            <p:nvPr/>
          </p:nvSpPr>
          <p:spPr>
            <a:xfrm>
              <a:off x="589788" y="3602736"/>
              <a:ext cx="54864" cy="329184"/>
            </a:xfrm>
            <a:prstGeom prst="rect">
              <a:avLst/>
            </a:prstGeom>
            <a:solidFill>
              <a:srgbClr val="6B5B4B"/>
            </a:solidFill>
            <a:ln>
              <a:noFill/>
            </a:ln>
          </p:spPr>
          <p:txBody>
            <a:bodyPr rtlCol="0" anchor="ctr"/>
            <a:lstStyle/>
            <a:p>
              <a:pPr algn="ctr"/>
            </a:p>
          </p:txBody>
        </p:sp>
        <p:sp>
          <p:nvSpPr>
            <p:cNvPr id="11" name="Rectangle 10"/>
            <p:cNvSpPr/>
            <p:nvPr/>
          </p:nvSpPr>
          <p:spPr>
            <a:xfrm>
              <a:off x="909828" y="3602736"/>
              <a:ext cx="54864" cy="329184"/>
            </a:xfrm>
            <a:prstGeom prst="rect">
              <a:avLst/>
            </a:prstGeom>
            <a:solidFill>
              <a:srgbClr val="6B5B4B"/>
            </a:solidFill>
            <a:ln>
              <a:noFill/>
            </a:ln>
          </p:spPr>
          <p:txBody>
            <a:bodyPr rtlCol="0" anchor="ctr"/>
            <a:lstStyle/>
            <a:p>
              <a:pPr algn="ctr"/>
            </a:p>
          </p:txBody>
        </p:sp>
        <p:sp>
          <p:nvSpPr>
            <p:cNvPr id="12" name="Rectangle 11"/>
            <p:cNvSpPr/>
            <p:nvPr/>
          </p:nvSpPr>
          <p:spPr>
            <a:xfrm>
              <a:off x="1229868" y="3602736"/>
              <a:ext cx="54864" cy="329184"/>
            </a:xfrm>
            <a:prstGeom prst="rect">
              <a:avLst/>
            </a:prstGeom>
            <a:solidFill>
              <a:srgbClr val="6B5B4B"/>
            </a:solidFill>
            <a:ln>
              <a:noFill/>
            </a:ln>
          </p:spPr>
          <p:txBody>
            <a:bodyPr rtlCol="0" anchor="ctr"/>
            <a:lstStyle/>
            <a:p>
              <a:pPr algn="ctr"/>
            </a:p>
          </p:txBody>
        </p:sp>
        <p:sp>
          <p:nvSpPr>
            <p:cNvPr id="13" name="Rectangle 12"/>
            <p:cNvSpPr/>
            <p:nvPr/>
          </p:nvSpPr>
          <p:spPr>
            <a:xfrm>
              <a:off x="1549908" y="3602736"/>
              <a:ext cx="54864" cy="329184"/>
            </a:xfrm>
            <a:prstGeom prst="rect">
              <a:avLst/>
            </a:prstGeom>
            <a:solidFill>
              <a:srgbClr val="6B5B4B"/>
            </a:solidFill>
            <a:ln>
              <a:noFill/>
            </a:ln>
          </p:spPr>
          <p:txBody>
            <a:bodyPr rtlCol="0" anchor="ctr"/>
            <a:lstStyle/>
            <a:p>
              <a:pPr algn="ctr"/>
            </a:p>
          </p:txBody>
        </p:sp>
        <p:sp>
          <p:nvSpPr>
            <p:cNvPr id="14" name="Rectangle 13"/>
            <p:cNvSpPr/>
            <p:nvPr/>
          </p:nvSpPr>
          <p:spPr>
            <a:xfrm>
              <a:off x="1869948" y="3602736"/>
              <a:ext cx="54864" cy="329184"/>
            </a:xfrm>
            <a:prstGeom prst="rect">
              <a:avLst/>
            </a:prstGeom>
            <a:solidFill>
              <a:srgbClr val="6B5B4B"/>
            </a:solidFill>
            <a:ln>
              <a:noFill/>
            </a:ln>
          </p:spPr>
          <p:txBody>
            <a:bodyPr rtlCol="0" anchor="ctr"/>
            <a:lstStyle/>
            <a:p>
              <a:pPr algn="ctr"/>
            </a:p>
          </p:txBody>
        </p:sp>
        <p:sp>
          <p:nvSpPr>
            <p:cNvPr id="15" name="Rectangle 14"/>
            <p:cNvSpPr/>
            <p:nvPr/>
          </p:nvSpPr>
          <p:spPr>
            <a:xfrm>
              <a:off x="2189988" y="3602736"/>
              <a:ext cx="54864" cy="329184"/>
            </a:xfrm>
            <a:prstGeom prst="rect">
              <a:avLst/>
            </a:prstGeom>
            <a:solidFill>
              <a:srgbClr val="6B5B4B"/>
            </a:solidFill>
            <a:ln>
              <a:noFill/>
            </a:ln>
          </p:spPr>
          <p:txBody>
            <a:bodyPr rtlCol="0" anchor="ctr"/>
            <a:lstStyle/>
            <a:p>
              <a:pPr algn="ctr"/>
            </a:p>
          </p:txBody>
        </p:sp>
        <p:sp>
          <p:nvSpPr>
            <p:cNvPr id="16" name="Rectangle 15"/>
            <p:cNvSpPr/>
            <p:nvPr/>
          </p:nvSpPr>
          <p:spPr>
            <a:xfrm>
              <a:off x="2510028" y="3602736"/>
              <a:ext cx="54864" cy="329184"/>
            </a:xfrm>
            <a:prstGeom prst="rect">
              <a:avLst/>
            </a:prstGeom>
            <a:solidFill>
              <a:srgbClr val="6B5B4B"/>
            </a:solidFill>
            <a:ln>
              <a:noFill/>
            </a:ln>
          </p:spPr>
          <p:txBody>
            <a:bodyPr rtlCol="0" anchor="ctr"/>
            <a:lstStyle/>
            <a:p>
              <a:pPr algn="ctr"/>
            </a:p>
          </p:txBody>
        </p:sp>
        <p:sp>
          <p:nvSpPr>
            <p:cNvPr id="17" name="Rectangle 16"/>
            <p:cNvSpPr/>
            <p:nvPr/>
          </p:nvSpPr>
          <p:spPr>
            <a:xfrm>
              <a:off x="2830068" y="3602736"/>
              <a:ext cx="54864" cy="329184"/>
            </a:xfrm>
            <a:prstGeom prst="rect">
              <a:avLst/>
            </a:prstGeom>
            <a:solidFill>
              <a:srgbClr val="6B5B4B"/>
            </a:solidFill>
            <a:ln>
              <a:noFill/>
            </a:ln>
          </p:spPr>
          <p:txBody>
            <a:bodyPr rtlCol="0" anchor="ctr"/>
            <a:lstStyle/>
            <a:p>
              <a:pPr algn="ctr"/>
            </a:p>
          </p:txBody>
        </p:sp>
        <p:sp>
          <p:nvSpPr>
            <p:cNvPr id="18" name="Rectangle 17"/>
            <p:cNvSpPr/>
            <p:nvPr/>
          </p:nvSpPr>
          <p:spPr>
            <a:xfrm>
              <a:off x="3150108" y="3602736"/>
              <a:ext cx="54864" cy="329184"/>
            </a:xfrm>
            <a:prstGeom prst="rect">
              <a:avLst/>
            </a:prstGeom>
            <a:solidFill>
              <a:srgbClr val="6B5B4B"/>
            </a:solidFill>
            <a:ln>
              <a:noFill/>
            </a:ln>
          </p:spPr>
          <p:txBody>
            <a:bodyPr rtlCol="0" anchor="ctr"/>
            <a:lstStyle/>
            <a:p>
              <a:pPr algn="ctr"/>
            </a:p>
          </p:txBody>
        </p:sp>
        <p:sp>
          <p:nvSpPr>
            <p:cNvPr id="19" name="Rectangle 18"/>
            <p:cNvSpPr/>
            <p:nvPr/>
          </p:nvSpPr>
          <p:spPr>
            <a:xfrm>
              <a:off x="3470148" y="3602736"/>
              <a:ext cx="54864" cy="329184"/>
            </a:xfrm>
            <a:prstGeom prst="rect">
              <a:avLst/>
            </a:prstGeom>
            <a:solidFill>
              <a:srgbClr val="6B5B4B"/>
            </a:solidFill>
            <a:ln>
              <a:noFill/>
            </a:ln>
          </p:spPr>
          <p:txBody>
            <a:bodyPr rtlCol="0" anchor="ctr"/>
            <a:lstStyle/>
            <a:p>
              <a:pPr algn="ctr"/>
            </a:p>
          </p:txBody>
        </p:sp>
        <p:sp>
          <p:nvSpPr>
            <p:cNvPr id="20" name="Rectangle 19"/>
            <p:cNvSpPr/>
            <p:nvPr/>
          </p:nvSpPr>
          <p:spPr>
            <a:xfrm>
              <a:off x="3790188" y="3602736"/>
              <a:ext cx="54864" cy="329184"/>
            </a:xfrm>
            <a:prstGeom prst="rect">
              <a:avLst/>
            </a:prstGeom>
            <a:solidFill>
              <a:srgbClr val="6B5B4B"/>
            </a:solidFill>
            <a:ln>
              <a:noFill/>
            </a:ln>
          </p:spPr>
          <p:txBody>
            <a:bodyPr rtlCol="0" anchor="ctr"/>
            <a:lstStyle/>
            <a:p>
              <a:pPr algn="ctr"/>
            </a:p>
          </p:txBody>
        </p:sp>
        <p:sp>
          <p:nvSpPr>
            <p:cNvPr id="21" name="Rectangle 20"/>
            <p:cNvSpPr/>
            <p:nvPr/>
          </p:nvSpPr>
          <p:spPr>
            <a:xfrm>
              <a:off x="4110228" y="3602736"/>
              <a:ext cx="54864" cy="329184"/>
            </a:xfrm>
            <a:prstGeom prst="rect">
              <a:avLst/>
            </a:prstGeom>
            <a:solidFill>
              <a:srgbClr val="6B5B4B"/>
            </a:solidFill>
            <a:ln>
              <a:noFill/>
            </a:ln>
          </p:spPr>
          <p:txBody>
            <a:bodyPr rtlCol="0" anchor="ctr"/>
            <a:lstStyle/>
            <a:p>
              <a:pPr algn="ctr"/>
            </a:p>
          </p:txBody>
        </p:sp>
        <p:sp>
          <p:nvSpPr>
            <p:cNvPr id="22" name="Rectangle 21"/>
            <p:cNvSpPr/>
            <p:nvPr/>
          </p:nvSpPr>
          <p:spPr>
            <a:xfrm>
              <a:off x="4430268" y="3602736"/>
              <a:ext cx="54864" cy="329184"/>
            </a:xfrm>
            <a:prstGeom prst="rect">
              <a:avLst/>
            </a:prstGeom>
            <a:solidFill>
              <a:srgbClr val="6B5B4B"/>
            </a:solidFill>
            <a:ln>
              <a:noFill/>
            </a:ln>
          </p:spPr>
          <p:txBody>
            <a:bodyPr rtlCol="0" anchor="ctr"/>
            <a:lstStyle/>
            <a:p>
              <a:pPr algn="ctr"/>
            </a:p>
          </p:txBody>
        </p:sp>
        <p:sp>
          <p:nvSpPr>
            <p:cNvPr id="23" name="Rectangle 22"/>
            <p:cNvSpPr/>
            <p:nvPr/>
          </p:nvSpPr>
          <p:spPr>
            <a:xfrm>
              <a:off x="4750308" y="3602736"/>
              <a:ext cx="54864" cy="329184"/>
            </a:xfrm>
            <a:prstGeom prst="rect">
              <a:avLst/>
            </a:prstGeom>
            <a:solidFill>
              <a:srgbClr val="6B5B4B"/>
            </a:solidFill>
            <a:ln>
              <a:noFill/>
            </a:ln>
          </p:spPr>
          <p:txBody>
            <a:bodyPr rtlCol="0" anchor="ctr"/>
            <a:lstStyle/>
            <a:p>
              <a:pPr algn="ctr"/>
            </a:p>
          </p:txBody>
        </p:sp>
        <p:sp>
          <p:nvSpPr>
            <p:cNvPr id="24" name="Rectangle 23"/>
            <p:cNvSpPr/>
            <p:nvPr/>
          </p:nvSpPr>
          <p:spPr>
            <a:xfrm>
              <a:off x="5070348" y="3602736"/>
              <a:ext cx="54864" cy="329184"/>
            </a:xfrm>
            <a:prstGeom prst="rect">
              <a:avLst/>
            </a:prstGeom>
            <a:solidFill>
              <a:srgbClr val="6B5B4B"/>
            </a:solidFill>
            <a:ln>
              <a:noFill/>
            </a:ln>
          </p:spPr>
          <p:txBody>
            <a:bodyPr rtlCol="0" anchor="ctr"/>
            <a:lstStyle/>
            <a:p>
              <a:pPr algn="ctr"/>
            </a:p>
          </p:txBody>
        </p:sp>
        <p:sp>
          <p:nvSpPr>
            <p:cNvPr id="25" name="Rectangle 24"/>
            <p:cNvSpPr/>
            <p:nvPr/>
          </p:nvSpPr>
          <p:spPr>
            <a:xfrm>
              <a:off x="5390388" y="3602736"/>
              <a:ext cx="54864" cy="329184"/>
            </a:xfrm>
            <a:prstGeom prst="rect">
              <a:avLst/>
            </a:prstGeom>
            <a:solidFill>
              <a:srgbClr val="6B5B4B"/>
            </a:solidFill>
            <a:ln>
              <a:noFill/>
            </a:ln>
          </p:spPr>
          <p:txBody>
            <a:bodyPr rtlCol="0" anchor="ctr"/>
            <a:lstStyle/>
            <a:p>
              <a:pPr algn="ctr"/>
            </a:p>
          </p:txBody>
        </p:sp>
        <p:sp>
          <p:nvSpPr>
            <p:cNvPr id="26" name="Rectangle 25"/>
            <p:cNvSpPr/>
            <p:nvPr/>
          </p:nvSpPr>
          <p:spPr>
            <a:xfrm>
              <a:off x="5710428" y="3602736"/>
              <a:ext cx="54864" cy="329184"/>
            </a:xfrm>
            <a:prstGeom prst="rect">
              <a:avLst/>
            </a:prstGeom>
            <a:solidFill>
              <a:srgbClr val="6B5B4B"/>
            </a:solidFill>
            <a:ln>
              <a:noFill/>
            </a:ln>
          </p:spPr>
          <p:txBody>
            <a:bodyPr rtlCol="0" anchor="ctr"/>
            <a:lstStyle/>
            <a:p>
              <a:pPr algn="ctr"/>
            </a:p>
          </p:txBody>
        </p:sp>
        <p:sp>
          <p:nvSpPr>
            <p:cNvPr id="27" name="Rectangle 26"/>
            <p:cNvSpPr/>
            <p:nvPr/>
          </p:nvSpPr>
          <p:spPr>
            <a:xfrm>
              <a:off x="6030468" y="3602736"/>
              <a:ext cx="54864" cy="329184"/>
            </a:xfrm>
            <a:prstGeom prst="rect">
              <a:avLst/>
            </a:prstGeom>
            <a:solidFill>
              <a:srgbClr val="6B5B4B"/>
            </a:solidFill>
            <a:ln>
              <a:noFill/>
            </a:ln>
          </p:spPr>
          <p:txBody>
            <a:bodyPr rtlCol="0" anchor="ctr"/>
            <a:lstStyle/>
            <a:p>
              <a:pPr algn="ctr"/>
            </a:p>
          </p:txBody>
        </p:sp>
        <p:sp>
          <p:nvSpPr>
            <p:cNvPr id="28" name="Rectangle 27"/>
            <p:cNvSpPr/>
            <p:nvPr/>
          </p:nvSpPr>
          <p:spPr>
            <a:xfrm>
              <a:off x="6350508" y="3602736"/>
              <a:ext cx="54864" cy="329184"/>
            </a:xfrm>
            <a:prstGeom prst="rect">
              <a:avLst/>
            </a:prstGeom>
            <a:solidFill>
              <a:srgbClr val="6B5B4B"/>
            </a:solidFill>
            <a:ln>
              <a:noFill/>
            </a:ln>
          </p:spPr>
          <p:txBody>
            <a:bodyPr rtlCol="0" anchor="ctr"/>
            <a:lstStyle/>
            <a:p>
              <a:pPr algn="ctr"/>
            </a:p>
          </p:txBody>
        </p:sp>
        <p:sp>
          <p:nvSpPr>
            <p:cNvPr id="29" name="Rectangle 28"/>
            <p:cNvSpPr/>
            <p:nvPr/>
          </p:nvSpPr>
          <p:spPr>
            <a:xfrm>
              <a:off x="6670548" y="3602736"/>
              <a:ext cx="54864" cy="329184"/>
            </a:xfrm>
            <a:prstGeom prst="rect">
              <a:avLst/>
            </a:prstGeom>
            <a:solidFill>
              <a:srgbClr val="6B5B4B"/>
            </a:solidFill>
            <a:ln>
              <a:noFill/>
            </a:ln>
          </p:spPr>
          <p:txBody>
            <a:bodyPr rtlCol="0" anchor="ctr"/>
            <a:lstStyle/>
            <a:p>
              <a:pPr algn="ctr"/>
            </a:p>
          </p:txBody>
        </p:sp>
        <p:sp>
          <p:nvSpPr>
            <p:cNvPr id="30" name="Rectangle 29"/>
            <p:cNvSpPr/>
            <p:nvPr/>
          </p:nvSpPr>
          <p:spPr>
            <a:xfrm>
              <a:off x="6990588" y="3602736"/>
              <a:ext cx="54864" cy="329184"/>
            </a:xfrm>
            <a:prstGeom prst="rect">
              <a:avLst/>
            </a:prstGeom>
            <a:solidFill>
              <a:srgbClr val="6B5B4B"/>
            </a:solidFill>
            <a:ln>
              <a:noFill/>
            </a:ln>
          </p:spPr>
          <p:txBody>
            <a:bodyPr rtlCol="0" anchor="ctr"/>
            <a:lstStyle/>
            <a:p>
              <a:pPr algn="ctr"/>
            </a:p>
          </p:txBody>
        </p:sp>
        <p:sp>
          <p:nvSpPr>
            <p:cNvPr id="31" name="Rectangle 30"/>
            <p:cNvSpPr/>
            <p:nvPr/>
          </p:nvSpPr>
          <p:spPr>
            <a:xfrm>
              <a:off x="7310628" y="3602736"/>
              <a:ext cx="54864" cy="329184"/>
            </a:xfrm>
            <a:prstGeom prst="rect">
              <a:avLst/>
            </a:prstGeom>
            <a:solidFill>
              <a:srgbClr val="6B5B4B"/>
            </a:solidFill>
            <a:ln>
              <a:noFill/>
            </a:ln>
          </p:spPr>
          <p:txBody>
            <a:bodyPr rtlCol="0" anchor="ctr"/>
            <a:lstStyle/>
            <a:p>
              <a:pPr algn="ctr"/>
            </a:p>
          </p:txBody>
        </p:sp>
        <p:sp>
          <p:nvSpPr>
            <p:cNvPr id="32" name="Rectangle 31"/>
            <p:cNvSpPr/>
            <p:nvPr/>
          </p:nvSpPr>
          <p:spPr>
            <a:xfrm>
              <a:off x="7630668" y="3602736"/>
              <a:ext cx="54864" cy="329184"/>
            </a:xfrm>
            <a:prstGeom prst="rect">
              <a:avLst/>
            </a:prstGeom>
            <a:solidFill>
              <a:srgbClr val="6B5B4B"/>
            </a:solidFill>
            <a:ln>
              <a:noFill/>
            </a:ln>
          </p:spPr>
          <p:txBody>
            <a:bodyPr rtlCol="0" anchor="ctr"/>
            <a:lstStyle/>
            <a:p>
              <a:pPr algn="ctr"/>
            </a:p>
          </p:txBody>
        </p:sp>
        <p:sp>
          <p:nvSpPr>
            <p:cNvPr id="33" name="Rectangle 32"/>
            <p:cNvSpPr/>
            <p:nvPr/>
          </p:nvSpPr>
          <p:spPr>
            <a:xfrm>
              <a:off x="7950708" y="3602736"/>
              <a:ext cx="54864" cy="329184"/>
            </a:xfrm>
            <a:prstGeom prst="rect">
              <a:avLst/>
            </a:prstGeom>
            <a:solidFill>
              <a:srgbClr val="6B5B4B"/>
            </a:solidFill>
            <a:ln>
              <a:noFill/>
            </a:ln>
          </p:spPr>
          <p:txBody>
            <a:bodyPr rtlCol="0" anchor="ctr"/>
            <a:lstStyle/>
            <a:p>
              <a:pPr algn="ctr"/>
            </a:p>
          </p:txBody>
        </p:sp>
        <p:sp>
          <p:nvSpPr>
            <p:cNvPr id="34" name="Rectangle 33"/>
            <p:cNvSpPr/>
            <p:nvPr/>
          </p:nvSpPr>
          <p:spPr>
            <a:xfrm>
              <a:off x="8270748" y="3602736"/>
              <a:ext cx="54864" cy="329184"/>
            </a:xfrm>
            <a:prstGeom prst="rect">
              <a:avLst/>
            </a:prstGeom>
            <a:solidFill>
              <a:srgbClr val="6B5B4B"/>
            </a:solidFill>
            <a:ln>
              <a:noFill/>
            </a:ln>
          </p:spPr>
          <p:txBody>
            <a:bodyPr rtlCol="0" anchor="ctr"/>
            <a:lstStyle/>
            <a:p>
              <a:pPr algn="ctr"/>
            </a:p>
          </p:txBody>
        </p:sp>
        <p:sp>
          <p:nvSpPr>
            <p:cNvPr id="35" name="Rectangle 34"/>
            <p:cNvSpPr/>
            <p:nvPr/>
          </p:nvSpPr>
          <p:spPr>
            <a:xfrm>
              <a:off x="8590788" y="3602736"/>
              <a:ext cx="54864" cy="329184"/>
            </a:xfrm>
            <a:prstGeom prst="rect">
              <a:avLst/>
            </a:prstGeom>
            <a:solidFill>
              <a:srgbClr val="6B5B4B"/>
            </a:solidFill>
            <a:ln>
              <a:noFill/>
            </a:ln>
          </p:spPr>
          <p:txBody>
            <a:bodyPr rtlCol="0" anchor="ctr"/>
            <a:lstStyle/>
            <a:p>
              <a:pPr algn="ctr"/>
            </a:p>
          </p:txBody>
        </p:sp>
        <p:sp>
          <p:nvSpPr>
            <p:cNvPr id="36" name="Rectangle 35"/>
            <p:cNvSpPr/>
            <p:nvPr/>
          </p:nvSpPr>
          <p:spPr>
            <a:xfrm>
              <a:off x="8910828" y="3602736"/>
              <a:ext cx="54864" cy="329184"/>
            </a:xfrm>
            <a:prstGeom prst="rect">
              <a:avLst/>
            </a:prstGeom>
            <a:solidFill>
              <a:srgbClr val="6B5B4B"/>
            </a:solidFill>
            <a:ln>
              <a:noFill/>
            </a:ln>
          </p:spPr>
          <p:txBody>
            <a:bodyPr rtlCol="0" anchor="ctr"/>
            <a:lstStyle/>
            <a:p>
              <a:pPr algn="ctr"/>
            </a:p>
          </p:txBody>
        </p:sp>
        <p:sp>
          <p:nvSpPr>
            <p:cNvPr id="37" name="Rectangle 36"/>
            <p:cNvSpPr/>
            <p:nvPr/>
          </p:nvSpPr>
          <p:spPr>
            <a:xfrm>
              <a:off x="9230868" y="3602736"/>
              <a:ext cx="54864" cy="329184"/>
            </a:xfrm>
            <a:prstGeom prst="rect">
              <a:avLst/>
            </a:prstGeom>
            <a:solidFill>
              <a:srgbClr val="6B5B4B"/>
            </a:solidFill>
            <a:ln>
              <a:noFill/>
            </a:ln>
          </p:spPr>
          <p:txBody>
            <a:bodyPr rtlCol="0" anchor="ctr"/>
            <a:lstStyle/>
            <a:p>
              <a:pPr algn="ctr"/>
            </a:p>
          </p:txBody>
        </p:sp>
        <p:sp>
          <p:nvSpPr>
            <p:cNvPr id="38" name="Rectangle 37"/>
            <p:cNvSpPr/>
            <p:nvPr/>
          </p:nvSpPr>
          <p:spPr>
            <a:xfrm>
              <a:off x="9550908" y="3602736"/>
              <a:ext cx="54864" cy="329184"/>
            </a:xfrm>
            <a:prstGeom prst="rect">
              <a:avLst/>
            </a:prstGeom>
            <a:solidFill>
              <a:srgbClr val="6B5B4B"/>
            </a:solidFill>
            <a:ln>
              <a:noFill/>
            </a:ln>
          </p:spPr>
          <p:txBody>
            <a:bodyPr rtlCol="0" anchor="ctr"/>
            <a:lstStyle/>
            <a:p>
              <a:pPr algn="ctr"/>
            </a:p>
          </p:txBody>
        </p:sp>
        <p:sp>
          <p:nvSpPr>
            <p:cNvPr id="39" name="Rectangle 38"/>
            <p:cNvSpPr/>
            <p:nvPr/>
          </p:nvSpPr>
          <p:spPr>
            <a:xfrm>
              <a:off x="9870948" y="3602736"/>
              <a:ext cx="54864" cy="329184"/>
            </a:xfrm>
            <a:prstGeom prst="rect">
              <a:avLst/>
            </a:prstGeom>
            <a:solidFill>
              <a:srgbClr val="6B5B4B"/>
            </a:solidFill>
            <a:ln>
              <a:noFill/>
            </a:ln>
          </p:spPr>
          <p:txBody>
            <a:bodyPr rtlCol="0" anchor="ctr"/>
            <a:lstStyle/>
            <a:p>
              <a:pPr algn="ctr"/>
            </a:p>
          </p:txBody>
        </p:sp>
        <p:sp>
          <p:nvSpPr>
            <p:cNvPr id="40" name="Rectangle 39"/>
            <p:cNvSpPr/>
            <p:nvPr/>
          </p:nvSpPr>
          <p:spPr>
            <a:xfrm>
              <a:off x="10190988" y="3602736"/>
              <a:ext cx="54864" cy="329184"/>
            </a:xfrm>
            <a:prstGeom prst="rect">
              <a:avLst/>
            </a:prstGeom>
            <a:solidFill>
              <a:srgbClr val="6B5B4B"/>
            </a:solidFill>
            <a:ln>
              <a:noFill/>
            </a:ln>
          </p:spPr>
          <p:txBody>
            <a:bodyPr rtlCol="0" anchor="ctr"/>
            <a:lstStyle/>
            <a:p>
              <a:pPr algn="ctr"/>
            </a:p>
          </p:txBody>
        </p:sp>
        <p:sp>
          <p:nvSpPr>
            <p:cNvPr id="41" name="Rectangle 40"/>
            <p:cNvSpPr/>
            <p:nvPr/>
          </p:nvSpPr>
          <p:spPr>
            <a:xfrm>
              <a:off x="10511028" y="3602736"/>
              <a:ext cx="54864" cy="329184"/>
            </a:xfrm>
            <a:prstGeom prst="rect">
              <a:avLst/>
            </a:prstGeom>
            <a:solidFill>
              <a:srgbClr val="6B5B4B"/>
            </a:solidFill>
            <a:ln>
              <a:noFill/>
            </a:ln>
          </p:spPr>
          <p:txBody>
            <a:bodyPr rtlCol="0" anchor="ctr"/>
            <a:lstStyle/>
            <a:p>
              <a:pPr algn="ctr"/>
            </a:p>
          </p:txBody>
        </p:sp>
        <p:sp>
          <p:nvSpPr>
            <p:cNvPr id="42" name="Rectangle 41"/>
            <p:cNvSpPr/>
            <p:nvPr/>
          </p:nvSpPr>
          <p:spPr>
            <a:xfrm>
              <a:off x="10831068" y="3602736"/>
              <a:ext cx="54864" cy="329184"/>
            </a:xfrm>
            <a:prstGeom prst="rect">
              <a:avLst/>
            </a:prstGeom>
            <a:solidFill>
              <a:srgbClr val="6B5B4B"/>
            </a:solidFill>
            <a:ln>
              <a:noFill/>
            </a:ln>
          </p:spPr>
          <p:txBody>
            <a:bodyPr rtlCol="0" anchor="ctr"/>
            <a:lstStyle/>
            <a:p>
              <a:pPr algn="ctr"/>
            </a:p>
          </p:txBody>
        </p:sp>
        <p:sp>
          <p:nvSpPr>
            <p:cNvPr id="43" name="Rectangle 42"/>
            <p:cNvSpPr/>
            <p:nvPr/>
          </p:nvSpPr>
          <p:spPr>
            <a:xfrm>
              <a:off x="11151108" y="3602736"/>
              <a:ext cx="54864" cy="329184"/>
            </a:xfrm>
            <a:prstGeom prst="rect">
              <a:avLst/>
            </a:prstGeom>
            <a:solidFill>
              <a:srgbClr val="6B5B4B"/>
            </a:solidFill>
            <a:ln>
              <a:noFill/>
            </a:ln>
          </p:spPr>
          <p:txBody>
            <a:bodyPr rtlCol="0" anchor="ctr"/>
            <a:lstStyle/>
            <a:p>
              <a:pPr algn="ctr"/>
            </a:p>
          </p:txBody>
        </p:sp>
        <p:sp>
          <p:nvSpPr>
            <p:cNvPr id="44" name="Rectangle 43"/>
            <p:cNvSpPr/>
            <p:nvPr/>
          </p:nvSpPr>
          <p:spPr>
            <a:xfrm>
              <a:off x="11471148" y="3602736"/>
              <a:ext cx="54864" cy="329184"/>
            </a:xfrm>
            <a:prstGeom prst="rect">
              <a:avLst/>
            </a:prstGeom>
            <a:solidFill>
              <a:srgbClr val="6B5B4B"/>
            </a:solidFill>
            <a:ln>
              <a:noFill/>
            </a:ln>
          </p:spPr>
          <p:txBody>
            <a:bodyPr rtlCol="0" anchor="ctr"/>
            <a:lstStyle/>
            <a:p>
              <a:pPr algn="ctr"/>
            </a:p>
          </p:txBody>
        </p:sp>
        <p:sp>
          <p:nvSpPr>
            <p:cNvPr id="45" name="Rectangle 44"/>
            <p:cNvSpPr/>
            <p:nvPr/>
          </p:nvSpPr>
          <p:spPr>
            <a:xfrm>
              <a:off x="457200" y="3630168"/>
              <a:ext cx="11201400" cy="54864"/>
            </a:xfrm>
            <a:prstGeom prst="rect">
              <a:avLst/>
            </a:prstGeom>
            <a:solidFill>
              <a:srgbClr val="9AA0A6"/>
            </a:solidFill>
            <a:ln>
              <a:noFill/>
            </a:ln>
          </p:spPr>
          <p:txBody>
            <a:bodyPr rtlCol="0" anchor="ctr"/>
            <a:lstStyle/>
            <a:p>
              <a:pPr algn="ctr"/>
            </a:p>
          </p:txBody>
        </p:sp>
        <p:sp>
          <p:nvSpPr>
            <p:cNvPr id="46" name="Rectangle 45"/>
            <p:cNvSpPr/>
            <p:nvPr/>
          </p:nvSpPr>
          <p:spPr>
            <a:xfrm>
              <a:off x="457200" y="3849624"/>
              <a:ext cx="11201400" cy="54864"/>
            </a:xfrm>
            <a:prstGeom prst="rect">
              <a:avLst/>
            </a:prstGeom>
            <a:solidFill>
              <a:srgbClr val="9AA0A6"/>
            </a:solidFill>
            <a:ln>
              <a:noFill/>
            </a:ln>
          </p:spPr>
          <p:txBody>
            <a:bodyPr rtlCol="0" anchor="ctr"/>
            <a:lstStyle/>
            <a:p>
              <a:pPr algn="ctr"/>
            </a:p>
          </p:txBody>
        </p:sp>
        <p:sp>
          <p:nvSpPr>
            <p:cNvPr id="47" name="Rectangle 46"/>
            <p:cNvSpPr/>
            <p:nvPr/>
          </p:nvSpPr>
          <p:spPr>
            <a:xfrm>
              <a:off x="4206240" y="2194560"/>
              <a:ext cx="1645920" cy="777240"/>
            </a:xfrm>
            <a:prstGeom prst="rect">
              <a:avLst/>
            </a:prstGeom>
            <a:solidFill>
              <a:srgbClr val="343A43"/>
            </a:solidFill>
            <a:ln w="19050">
              <a:solidFill>
                <a:srgbClr val="9AA0A6"/>
              </a:solidFill>
            </a:ln>
          </p:spPr>
          <p:txBody>
            <a:bodyPr rtlCol="0" anchor="ctr"/>
            <a:lstStyle/>
            <a:p>
              <a:pPr algn="ctr"/>
            </a:p>
          </p:txBody>
        </p:sp>
        <p:sp>
          <p:nvSpPr>
            <p:cNvPr id="48" name="Freeform 47"/>
            <p:cNvSpPr/>
            <p:nvPr/>
          </p:nvSpPr>
          <p:spPr>
            <a:xfrm>
              <a:off x="4480560" y="2404872"/>
              <a:ext cx="1097280" cy="411480"/>
            </a:xfrm>
            <a:custGeom>
              <a:avLst/>
              <a:gdLst/>
              <a:ahLst/>
              <a:cxnLst/>
              <a:rect l="l" t="t" r="r" b="b"/>
              <a:pathLst>
                <a:path w="1097280" h="411480">
                  <a:moveTo>
                    <a:pt x="0" y="411480"/>
                  </a:moveTo>
                  <a:lnTo>
                    <a:pt x="197510" y="164592"/>
                  </a:lnTo>
                  <a:lnTo>
                    <a:pt x="416966" y="61722"/>
                  </a:lnTo>
                  <a:lnTo>
                    <a:pt x="603504" y="0"/>
                  </a:lnTo>
                  <a:lnTo>
                    <a:pt x="822960" y="123444"/>
                  </a:lnTo>
                  <a:lnTo>
                    <a:pt x="1009498" y="246888"/>
                  </a:lnTo>
                  <a:lnTo>
                    <a:pt x="1097280" y="411480"/>
                  </a:lnTo>
                  <a:close/>
                </a:path>
              </a:pathLst>
            </a:custGeom>
            <a:solidFill>
              <a:srgbClr val="1B1D21"/>
            </a:solidFill>
            <a:ln w="25400">
              <a:solidFill>
                <a:srgbClr val="6B7078"/>
              </a:solidFill>
            </a:ln>
          </p:spPr>
          <p:txBody>
            <a:bodyPr rtlCol="0" anchor="ctr"/>
            <a:lstStyle/>
            <a:p>
              <a:pPr algn="ctr"/>
            </a:p>
          </p:txBody>
        </p:sp>
        <p:cxnSp>
          <p:nvCxnSpPr>
            <p:cNvPr id="49" name="Connector 48"/>
            <p:cNvCxnSpPr/>
            <p:nvPr/>
          </p:nvCxnSpPr>
          <p:spPr>
            <a:xfrm>
              <a:off x="5257800" y="2971800"/>
              <a:ext cx="0" cy="667512"/>
            </a:xfrm>
            <a:prstGeom prst="line">
              <a:avLst/>
            </a:prstGeom>
            <a:ln w="50800">
              <a:solidFill>
                <a:srgbClr val="9AA0A6"/>
              </a:solidFill>
            </a:ln>
          </p:spPr>
        </p:cxnSp>
        <p:sp>
          <p:nvSpPr>
            <p:cNvPr id="50" name="Rectangle 49"/>
            <p:cNvSpPr/>
            <p:nvPr/>
          </p:nvSpPr>
          <p:spPr>
            <a:xfrm>
              <a:off x="777240" y="2496312"/>
              <a:ext cx="3429000" cy="182880"/>
            </a:xfrm>
            <a:prstGeom prst="rect">
              <a:avLst/>
            </a:prstGeom>
            <a:solidFill>
              <a:srgbClr val="1B1D21"/>
            </a:solidFill>
            <a:ln w="12700">
              <a:solidFill>
                <a:srgbClr val="9AA0A6"/>
              </a:solidFill>
              <a:prstDash val="dash"/>
            </a:ln>
          </p:spPr>
          <p:txBody>
            <a:bodyPr rtlCol="0" anchor="ctr"/>
            <a:lstStyle/>
            <a:p>
              <a:pPr algn="ctr"/>
            </a:p>
          </p:txBody>
        </p:sp>
        <p:sp>
          <p:nvSpPr>
            <p:cNvPr id="51" name="Chevron 50"/>
            <p:cNvSpPr/>
            <p:nvPr/>
          </p:nvSpPr>
          <p:spPr>
            <a:xfrm>
              <a:off x="960120" y="2523744"/>
              <a:ext cx="109728" cy="128016"/>
            </a:xfrm>
            <a:prstGeom prst="chevron">
              <a:avLst/>
            </a:prstGeom>
            <a:solidFill>
              <a:srgbClr val="F28C28"/>
            </a:solidFill>
            <a:ln>
              <a:noFill/>
            </a:ln>
          </p:spPr>
          <p:txBody>
            <a:bodyPr rtlCol="0" anchor="ctr"/>
            <a:lstStyle/>
            <a:p>
              <a:pPr algn="ctr"/>
            </a:p>
          </p:txBody>
        </p:sp>
        <p:sp>
          <p:nvSpPr>
            <p:cNvPr id="52" name="Chevron 51"/>
            <p:cNvSpPr/>
            <p:nvPr/>
          </p:nvSpPr>
          <p:spPr>
            <a:xfrm>
              <a:off x="1307592" y="2523744"/>
              <a:ext cx="109728" cy="128016"/>
            </a:xfrm>
            <a:prstGeom prst="chevron">
              <a:avLst/>
            </a:prstGeom>
            <a:solidFill>
              <a:srgbClr val="F28C28"/>
            </a:solidFill>
            <a:ln>
              <a:noFill/>
            </a:ln>
          </p:spPr>
          <p:txBody>
            <a:bodyPr rtlCol="0" anchor="ctr"/>
            <a:lstStyle/>
            <a:p>
              <a:pPr algn="ctr"/>
            </a:p>
          </p:txBody>
        </p:sp>
        <p:sp>
          <p:nvSpPr>
            <p:cNvPr id="53" name="Chevron 52"/>
            <p:cNvSpPr/>
            <p:nvPr/>
          </p:nvSpPr>
          <p:spPr>
            <a:xfrm>
              <a:off x="1655064" y="2523744"/>
              <a:ext cx="109728" cy="128016"/>
            </a:xfrm>
            <a:prstGeom prst="chevron">
              <a:avLst/>
            </a:prstGeom>
            <a:solidFill>
              <a:srgbClr val="F28C28"/>
            </a:solidFill>
            <a:ln>
              <a:noFill/>
            </a:ln>
          </p:spPr>
          <p:txBody>
            <a:bodyPr rtlCol="0" anchor="ctr"/>
            <a:lstStyle/>
            <a:p>
              <a:pPr algn="ctr"/>
            </a:p>
          </p:txBody>
        </p:sp>
        <p:sp>
          <p:nvSpPr>
            <p:cNvPr id="54" name="Chevron 53"/>
            <p:cNvSpPr/>
            <p:nvPr/>
          </p:nvSpPr>
          <p:spPr>
            <a:xfrm>
              <a:off x="2002536" y="2523744"/>
              <a:ext cx="109728" cy="128016"/>
            </a:xfrm>
            <a:prstGeom prst="chevron">
              <a:avLst/>
            </a:prstGeom>
            <a:solidFill>
              <a:srgbClr val="F28C28"/>
            </a:solidFill>
            <a:ln>
              <a:noFill/>
            </a:ln>
          </p:spPr>
          <p:txBody>
            <a:bodyPr rtlCol="0" anchor="ctr"/>
            <a:lstStyle/>
            <a:p>
              <a:pPr algn="ctr"/>
            </a:p>
          </p:txBody>
        </p:sp>
        <p:sp>
          <p:nvSpPr>
            <p:cNvPr id="55" name="Chevron 54"/>
            <p:cNvSpPr/>
            <p:nvPr/>
          </p:nvSpPr>
          <p:spPr>
            <a:xfrm>
              <a:off x="2350008" y="2523744"/>
              <a:ext cx="109728" cy="128016"/>
            </a:xfrm>
            <a:prstGeom prst="chevron">
              <a:avLst/>
            </a:prstGeom>
            <a:solidFill>
              <a:srgbClr val="F28C28"/>
            </a:solidFill>
            <a:ln>
              <a:noFill/>
            </a:ln>
          </p:spPr>
          <p:txBody>
            <a:bodyPr rtlCol="0" anchor="ctr"/>
            <a:lstStyle/>
            <a:p>
              <a:pPr algn="ctr"/>
            </a:p>
          </p:txBody>
        </p:sp>
        <p:sp>
          <p:nvSpPr>
            <p:cNvPr id="56" name="Chevron 55"/>
            <p:cNvSpPr/>
            <p:nvPr/>
          </p:nvSpPr>
          <p:spPr>
            <a:xfrm>
              <a:off x="2697480" y="2523744"/>
              <a:ext cx="109728" cy="128016"/>
            </a:xfrm>
            <a:prstGeom prst="chevron">
              <a:avLst/>
            </a:prstGeom>
            <a:solidFill>
              <a:srgbClr val="F28C28"/>
            </a:solidFill>
            <a:ln>
              <a:noFill/>
            </a:ln>
          </p:spPr>
          <p:txBody>
            <a:bodyPr rtlCol="0" anchor="ctr"/>
            <a:lstStyle/>
            <a:p>
              <a:pPr algn="ctr"/>
            </a:p>
          </p:txBody>
        </p:sp>
        <p:sp>
          <p:nvSpPr>
            <p:cNvPr id="57" name="Chevron 56"/>
            <p:cNvSpPr/>
            <p:nvPr/>
          </p:nvSpPr>
          <p:spPr>
            <a:xfrm>
              <a:off x="3044952" y="2523744"/>
              <a:ext cx="109728" cy="128016"/>
            </a:xfrm>
            <a:prstGeom prst="chevron">
              <a:avLst/>
            </a:prstGeom>
            <a:solidFill>
              <a:srgbClr val="F28C28"/>
            </a:solidFill>
            <a:ln>
              <a:noFill/>
            </a:ln>
          </p:spPr>
          <p:txBody>
            <a:bodyPr rtlCol="0" anchor="ctr"/>
            <a:lstStyle/>
            <a:p>
              <a:pPr algn="ctr"/>
            </a:p>
          </p:txBody>
        </p:sp>
        <p:sp>
          <p:nvSpPr>
            <p:cNvPr id="58" name="Chevron 57"/>
            <p:cNvSpPr/>
            <p:nvPr/>
          </p:nvSpPr>
          <p:spPr>
            <a:xfrm>
              <a:off x="3392424" y="2523744"/>
              <a:ext cx="109728" cy="128016"/>
            </a:xfrm>
            <a:prstGeom prst="chevron">
              <a:avLst/>
            </a:prstGeom>
            <a:solidFill>
              <a:srgbClr val="F28C28"/>
            </a:solidFill>
            <a:ln>
              <a:noFill/>
            </a:ln>
          </p:spPr>
          <p:txBody>
            <a:bodyPr rtlCol="0" anchor="ctr"/>
            <a:lstStyle/>
            <a:p>
              <a:pPr algn="ctr"/>
            </a:p>
          </p:txBody>
        </p:sp>
        <p:sp>
          <p:nvSpPr>
            <p:cNvPr id="59" name="Chevron 58"/>
            <p:cNvSpPr/>
            <p:nvPr/>
          </p:nvSpPr>
          <p:spPr>
            <a:xfrm>
              <a:off x="3739896" y="2523744"/>
              <a:ext cx="109728" cy="128016"/>
            </a:xfrm>
            <a:prstGeom prst="chevron">
              <a:avLst/>
            </a:prstGeom>
            <a:solidFill>
              <a:srgbClr val="F28C28"/>
            </a:solidFill>
            <a:ln>
              <a:noFill/>
            </a:ln>
          </p:spPr>
          <p:txBody>
            <a:bodyPr rtlCol="0" anchor="ctr"/>
            <a:lstStyle/>
            <a:p>
              <a:pPr algn="ctr"/>
            </a:p>
          </p:txBody>
        </p:sp>
        <p:sp>
          <p:nvSpPr>
            <p:cNvPr id="60" name="Oval 59"/>
            <p:cNvSpPr/>
            <p:nvPr/>
          </p:nvSpPr>
          <p:spPr>
            <a:xfrm>
              <a:off x="6949440" y="2103120"/>
              <a:ext cx="914400" cy="914400"/>
            </a:xfrm>
            <a:prstGeom prst="ellipse">
              <a:avLst/>
            </a:prstGeom>
            <a:solidFill>
              <a:srgbClr val="4DA3FF"/>
            </a:solidFill>
            <a:ln w="25400">
              <a:solidFill>
                <a:srgbClr val="FFFFFF"/>
              </a:solidFill>
            </a:ln>
          </p:spPr>
          <p:txBody>
            <a:bodyPr rtlCol="0" anchor="ctr"/>
            <a:lstStyle/>
            <a:p>
              <a:pPr algn="ctr"/>
            </a:p>
          </p:txBody>
        </p:sp>
        <p:sp>
          <p:nvSpPr>
            <p:cNvPr id="61" name="Freeform 60"/>
            <p:cNvSpPr/>
            <p:nvPr/>
          </p:nvSpPr>
          <p:spPr>
            <a:xfrm>
              <a:off x="7275749" y="2404872"/>
              <a:ext cx="261782" cy="351130"/>
            </a:xfrm>
            <a:custGeom>
              <a:avLst/>
              <a:gdLst/>
              <a:ahLst/>
              <a:cxnLst/>
              <a:rect l="l" t="t" r="r" b="b"/>
              <a:pathLst>
                <a:path w="261782" h="351130">
                  <a:moveTo>
                    <a:pt x="7158" y="174421"/>
                  </a:moveTo>
                  <a:lnTo>
                    <a:pt x="0" y="205121"/>
                  </a:lnTo>
                  <a:lnTo>
                    <a:pt x="344" y="236643"/>
                  </a:lnTo>
                  <a:lnTo>
                    <a:pt x="8170" y="267180"/>
                  </a:lnTo>
                  <a:lnTo>
                    <a:pt x="23030" y="294981"/>
                  </a:lnTo>
                  <a:lnTo>
                    <a:pt x="44073" y="318453"/>
                  </a:lnTo>
                  <a:lnTo>
                    <a:pt x="70091" y="336252"/>
                  </a:lnTo>
                  <a:lnTo>
                    <a:pt x="99594" y="347356"/>
                  </a:lnTo>
                  <a:lnTo>
                    <a:pt x="130891" y="351130"/>
                  </a:lnTo>
                  <a:lnTo>
                    <a:pt x="162188" y="347356"/>
                  </a:lnTo>
                  <a:lnTo>
                    <a:pt x="191691" y="336252"/>
                  </a:lnTo>
                  <a:lnTo>
                    <a:pt x="217709" y="318453"/>
                  </a:lnTo>
                  <a:lnTo>
                    <a:pt x="238752" y="294981"/>
                  </a:lnTo>
                  <a:lnTo>
                    <a:pt x="253612" y="267180"/>
                  </a:lnTo>
                  <a:lnTo>
                    <a:pt x="261438" y="236643"/>
                  </a:lnTo>
                  <a:lnTo>
                    <a:pt x="261782" y="205121"/>
                  </a:lnTo>
                  <a:lnTo>
                    <a:pt x="254624" y="174421"/>
                  </a:lnTo>
                  <a:lnTo>
                    <a:pt x="130891" y="0"/>
                  </a:lnTo>
                  <a:close/>
                </a:path>
              </a:pathLst>
            </a:custGeom>
            <a:solidFill>
              <a:srgbClr val="FFFFFF"/>
            </a:solidFill>
            <a:ln>
              <a:noFill/>
            </a:ln>
          </p:spPr>
          <p:txBody>
            <a:bodyPr rtlCol="0" anchor="ctr"/>
            <a:lstStyle/>
            <a:p>
              <a:pPr algn="ctr"/>
            </a:p>
          </p:txBody>
        </p:sp>
        <p:cxnSp>
          <p:nvCxnSpPr>
            <p:cNvPr id="62" name="Connector 61"/>
            <p:cNvCxnSpPr/>
            <p:nvPr/>
          </p:nvCxnSpPr>
          <p:spPr>
            <a:xfrm flipH="1">
              <a:off x="6446520" y="2880360"/>
              <a:ext cx="640080" cy="758952"/>
            </a:xfrm>
            <a:prstGeom prst="line">
              <a:avLst/>
            </a:prstGeom>
            <a:ln w="50800">
              <a:solidFill>
                <a:srgbClr val="9AA0A6"/>
              </a:solidFill>
            </a:ln>
          </p:spPr>
        </p:cxnSp>
        <p:sp>
          <p:nvSpPr>
            <p:cNvPr id="63" name="Freeform 62"/>
            <p:cNvSpPr/>
            <p:nvPr/>
          </p:nvSpPr>
          <p:spPr>
            <a:xfrm>
              <a:off x="7406640" y="1417320"/>
              <a:ext cx="0" cy="685800"/>
            </a:xfrm>
            <a:custGeom>
              <a:avLst/>
              <a:gdLst/>
              <a:ahLst/>
              <a:cxnLst/>
              <a:rect l="l" t="t" r="r" b="b"/>
              <a:pathLst>
                <a:path w="0" h="685800">
                  <a:moveTo>
                    <a:pt x="0" y="0"/>
                  </a:moveTo>
                  <a:lnTo>
                    <a:pt x="0" y="685800"/>
                  </a:lnTo>
                </a:path>
              </a:pathLst>
            </a:custGeom>
            <a:noFill/>
            <a:ln w="114300">
              <a:solidFill>
                <a:srgbClr val="4DA3FF"/>
              </a:solidFill>
            </a:ln>
          </p:spPr>
          <p:txBody>
            <a:bodyPr rtlCol="0" anchor="ctr"/>
            <a:lstStyle/>
            <a:p>
              <a:pPr algn="ctr"/>
            </a:p>
          </p:txBody>
        </p:sp>
        <p:sp>
          <p:nvSpPr>
            <p:cNvPr id="64" name="Rounded Rectangle 63"/>
            <p:cNvSpPr/>
            <p:nvPr/>
          </p:nvSpPr>
          <p:spPr>
            <a:xfrm>
              <a:off x="4754880" y="3547872"/>
              <a:ext cx="2011680" cy="438912"/>
            </a:xfrm>
            <a:prstGeom prst="roundRect">
              <a:avLst>
                <a:gd name="adj" fmla="val 20833"/>
              </a:avLst>
            </a:prstGeom>
            <a:solidFill>
              <a:srgbClr val="F28C28"/>
            </a:solidFill>
            <a:ln w="12700">
              <a:solidFill>
                <a:srgbClr val="101418"/>
              </a:solidFill>
            </a:ln>
          </p:spPr>
          <p:txBody>
            <a:bodyPr rtlCol="0" anchor="ctr"/>
            <a:lstStyle/>
            <a:p>
              <a:pPr algn="ctr"/>
            </a:p>
          </p:txBody>
        </p:sp>
        <p:sp>
          <p:nvSpPr>
            <p:cNvPr id="65" name="Oval 64"/>
            <p:cNvSpPr/>
            <p:nvPr/>
          </p:nvSpPr>
          <p:spPr>
            <a:xfrm>
              <a:off x="5166360" y="3675888"/>
              <a:ext cx="182880" cy="182880"/>
            </a:xfrm>
            <a:prstGeom prst="ellipse">
              <a:avLst/>
            </a:prstGeom>
            <a:solidFill>
              <a:srgbClr val="1B1D21"/>
            </a:solidFill>
            <a:ln w="19050">
              <a:solidFill>
                <a:srgbClr val="F2F2F2"/>
              </a:solidFill>
            </a:ln>
          </p:spPr>
          <p:txBody>
            <a:bodyPr rtlCol="0" anchor="ctr"/>
            <a:lstStyle/>
            <a:p>
              <a:pPr algn="ctr"/>
            </a:p>
          </p:txBody>
        </p:sp>
        <p:sp>
          <p:nvSpPr>
            <p:cNvPr id="66" name="Oval 65"/>
            <p:cNvSpPr/>
            <p:nvPr/>
          </p:nvSpPr>
          <p:spPr>
            <a:xfrm>
              <a:off x="6355080" y="3675888"/>
              <a:ext cx="182880" cy="182880"/>
            </a:xfrm>
            <a:prstGeom prst="ellipse">
              <a:avLst/>
            </a:prstGeom>
            <a:solidFill>
              <a:srgbClr val="4DA3FF"/>
            </a:solidFill>
            <a:ln w="19050">
              <a:solidFill>
                <a:srgbClr val="F2F2F2"/>
              </a:solidFill>
            </a:ln>
          </p:spPr>
          <p:txBody>
            <a:bodyPr rtlCol="0" anchor="ctr"/>
            <a:lstStyle/>
            <a:p>
              <a:pPr algn="ctr"/>
            </a:p>
          </p:txBody>
        </p:sp>
        <p:sp>
          <p:nvSpPr>
            <p:cNvPr id="67" name="Rectangle 66"/>
            <p:cNvSpPr/>
            <p:nvPr/>
          </p:nvSpPr>
          <p:spPr>
            <a:xfrm>
              <a:off x="4114800" y="4160520"/>
              <a:ext cx="3291840" cy="502920"/>
            </a:xfrm>
            <a:prstGeom prst="rect">
              <a:avLst/>
            </a:prstGeom>
            <a:solidFill>
              <a:srgbClr val="343A43"/>
            </a:solidFill>
            <a:ln w="19050">
              <a:solidFill>
                <a:srgbClr val="9AA0A6"/>
              </a:solidFill>
            </a:ln>
          </p:spPr>
          <p:txBody>
            <a:bodyPr rtlCol="0" anchor="ctr" wrap="square" lIns="73152" tIns="36576" rIns="73152" bIns="36576">
              <a:noAutofit/>
            </a:bodyPr>
            <a:lstStyle/>
            <a:p>
              <a:pPr algn="ctr"/>
              <a:r>
                <a:rPr sz="1400" b="0" i="0" lang="en-GB">
                  <a:solidFill>
                    <a:srgbClr val="F2F2F2"/>
                  </a:solidFill>
                  <a:latin typeface="Arial"/>
                </a:rPr>
                <a:t>Platform and cargo loading</a:t>
              </a:r>
            </a:p>
          </p:txBody>
        </p:sp>
        <p:sp>
          <p:nvSpPr>
            <p:cNvPr id="68" name="Rectangle 67"/>
            <p:cNvSpPr/>
            <p:nvPr/>
          </p:nvSpPr>
          <p:spPr>
            <a:xfrm>
              <a:off x="2011680" y="4160520"/>
              <a:ext cx="1371600" cy="914400"/>
            </a:xfrm>
            <a:prstGeom prst="rect">
              <a:avLst/>
            </a:prstGeom>
            <a:solidFill>
              <a:srgbClr val="343A43"/>
            </a:solidFill>
            <a:ln w="19050">
              <a:solidFill>
                <a:srgbClr val="F28C28"/>
              </a:solidFill>
            </a:ln>
          </p:spPr>
          <p:txBody>
            <a:bodyPr rtlCol="0" anchor="ctr"/>
            <a:lstStyle/>
            <a:p>
              <a:pPr algn="ctr"/>
            </a:p>
          </p:txBody>
        </p:sp>
        <p:cxnSp>
          <p:nvCxnSpPr>
            <p:cNvPr id="69" name="Connector 68"/>
            <p:cNvCxnSpPr/>
            <p:nvPr/>
          </p:nvCxnSpPr>
          <p:spPr>
            <a:xfrm>
              <a:off x="2011680" y="4160520"/>
              <a:ext cx="1371600" cy="914400"/>
            </a:xfrm>
            <a:prstGeom prst="line">
              <a:avLst/>
            </a:prstGeom>
            <a:ln w="19050">
              <a:solidFill>
                <a:srgbClr val="F28C28"/>
              </a:solidFill>
            </a:ln>
          </p:spPr>
        </p:cxnSp>
        <p:sp>
          <p:nvSpPr>
            <p:cNvPr id="70" name="TextBox 69"/>
            <p:cNvSpPr txBox="1"/>
            <p:nvPr/>
          </p:nvSpPr>
          <p:spPr>
            <a:xfrm>
              <a:off x="777240" y="3035808"/>
              <a:ext cx="2103120" cy="274320"/>
            </a:xfrm>
            <a:prstGeom prst="rect">
              <a:avLst/>
            </a:prstGeom>
            <a:noFill/>
          </p:spPr>
          <p:txBody>
            <a:bodyPr wrap="square" lIns="0" tIns="0" rIns="0" bIns="0" anchor="t">
              <a:noAutofit/>
            </a:bodyPr>
            <a:lstStyle/>
            <a:p>
              <a:pPr algn="l"/>
              <a:r>
                <a:rPr sz="1400" b="0" i="0" lang="en-GB">
                  <a:solidFill>
                    <a:srgbClr val="F2F2F2"/>
                  </a:solidFill>
                  <a:latin typeface="Arial"/>
                </a:rPr>
                <a:t>Conveyor: coal in</a:t>
              </a:r>
            </a:p>
          </p:txBody>
        </p:sp>
      </p:grpSp>
      <p:sp>
        <p:nvSpPr>
          <p:cNvPr id="71" name="TextBox 70"/>
          <p:cNvSpPr txBox="1"/>
          <p:nvPr/>
        </p:nvSpPr>
        <p:spPr>
          <a:xfrm>
            <a:off x="731520" y="4480560"/>
            <a:ext cx="1188720" cy="274320"/>
          </a:xfrm>
          <a:prstGeom prst="rect">
            <a:avLst/>
          </a:prstGeom>
          <a:noFill/>
        </p:spPr>
        <p:txBody>
          <a:bodyPr wrap="square" lIns="0" tIns="0" rIns="0" bIns="0" anchor="t">
            <a:noAutofit/>
          </a:bodyPr>
          <a:lstStyle/>
          <a:p>
            <a:pPr algn="r"/>
            <a:r>
              <a:rPr sz="1400" b="0" i="0" lang="en-GB">
                <a:solidFill>
                  <a:srgbClr val="F2F2F2"/>
                </a:solidFill>
                <a:latin typeface="Arial"/>
              </a:rPr>
              <a:t>Signal box</a:t>
            </a:r>
          </a:p>
        </p:txBody>
      </p:sp>
      <p:sp>
        <p:nvSpPr>
          <p:cNvPr id="72" name="TextBox 71"/>
          <p:cNvSpPr txBox="1"/>
          <p:nvPr/>
        </p:nvSpPr>
        <p:spPr>
          <a:xfrm>
            <a:off x="7543800" y="1325880"/>
            <a:ext cx="1737360" cy="292608"/>
          </a:xfrm>
          <a:prstGeom prst="rect">
            <a:avLst/>
          </a:prstGeom>
          <a:noFill/>
        </p:spPr>
        <p:txBody>
          <a:bodyPr wrap="square" lIns="0" tIns="0" rIns="0" bIns="0" anchor="ctr">
            <a:noAutofit/>
          </a:bodyPr>
          <a:lstStyle/>
          <a:p>
            <a:pPr algn="l"/>
            <a:r>
              <a:rPr sz="1400" b="0" i="0" lang="en-GB">
                <a:solidFill>
                  <a:srgbClr val="F2F2F2"/>
                </a:solidFill>
                <a:latin typeface="Arial"/>
              </a:rPr>
              <a:t>Pipe: water in</a:t>
            </a:r>
          </a:p>
        </p:txBody>
      </p:sp>
      <p:sp>
        <p:nvSpPr>
          <p:cNvPr id="73" name="TextBox 72"/>
          <p:cNvSpPr txBox="1"/>
          <p:nvPr/>
        </p:nvSpPr>
        <p:spPr>
          <a:xfrm>
            <a:off x="3657600" y="3108960"/>
            <a:ext cx="1508760" cy="274320"/>
          </a:xfrm>
          <a:prstGeom prst="rect">
            <a:avLst/>
          </a:prstGeom>
          <a:noFill/>
        </p:spPr>
        <p:txBody>
          <a:bodyPr wrap="square" lIns="0" tIns="0" rIns="0" bIns="0" anchor="t">
            <a:noAutofit/>
          </a:bodyPr>
          <a:lstStyle/>
          <a:p>
            <a:pPr algn="r"/>
            <a:r>
              <a:rPr sz="1400" b="0" i="0" lang="en-GB">
                <a:solidFill>
                  <a:srgbClr val="F2F2F2"/>
                </a:solidFill>
                <a:latin typeface="Arial"/>
              </a:rPr>
              <a:t>Coal bunker</a:t>
            </a:r>
          </a:p>
        </p:txBody>
      </p:sp>
      <p:sp>
        <p:nvSpPr>
          <p:cNvPr id="74" name="TextBox 73"/>
          <p:cNvSpPr txBox="1"/>
          <p:nvPr/>
        </p:nvSpPr>
        <p:spPr>
          <a:xfrm>
            <a:off x="7059168" y="3127248"/>
            <a:ext cx="1280160" cy="274320"/>
          </a:xfrm>
          <a:prstGeom prst="rect">
            <a:avLst/>
          </a:prstGeom>
          <a:noFill/>
        </p:spPr>
        <p:txBody>
          <a:bodyPr wrap="square" lIns="0" tIns="0" rIns="0" bIns="0" anchor="t">
            <a:noAutofit/>
          </a:bodyPr>
          <a:lstStyle/>
          <a:p>
            <a:pPr algn="l"/>
            <a:r>
              <a:rPr sz="1400" b="0" i="0" lang="en-GB">
                <a:solidFill>
                  <a:srgbClr val="F2F2F2"/>
                </a:solidFill>
                <a:latin typeface="Arial"/>
              </a:rPr>
              <a:t>Water hatch</a:t>
            </a:r>
          </a:p>
        </p:txBody>
      </p:sp>
      <p:sp>
        <p:nvSpPr>
          <p:cNvPr id="75" name="TextBox 74"/>
          <p:cNvSpPr txBox="1"/>
          <p:nvPr/>
        </p:nvSpPr>
        <p:spPr>
          <a:xfrm>
            <a:off x="4114800" y="4846320"/>
            <a:ext cx="5029200" cy="329184"/>
          </a:xfrm>
          <a:prstGeom prst="rect">
            <a:avLst/>
          </a:prstGeom>
          <a:noFill/>
        </p:spPr>
        <p:txBody>
          <a:bodyPr wrap="square" lIns="0" tIns="0" rIns="0" bIns="0" anchor="t">
            <a:noAutofit/>
          </a:bodyPr>
          <a:lstStyle/>
          <a:p>
            <a:pPr algn="l"/>
            <a:r>
              <a:rPr sz="1600" b="0" i="0" lang="en-GB">
                <a:solidFill>
                  <a:srgbClr val="F2F2F2"/>
                </a:solidFill>
                <a:latin typeface="Arial"/>
              </a:rPr>
              <a:t>Large footprint. Exact size undecided.</a:t>
            </a:r>
          </a:p>
        </p:txBody>
      </p:sp>
      <p:sp>
        <p:nvSpPr>
          <p:cNvPr id="76" name="Vanilla station"/>
          <p:cNvSpPr/>
          <p:nvPr/>
        </p:nvSpPr>
        <p:spPr>
          <a:xfrm>
            <a:off x="10149840" y="4343400"/>
            <a:ext cx="1463040" cy="685800"/>
          </a:xfrm>
          <a:prstGeom prst="rect">
            <a:avLst/>
          </a:prstGeom>
          <a:solidFill>
            <a:srgbClr val="2B2F36"/>
          </a:solidFill>
          <a:ln w="19050">
            <a:solidFill>
              <a:srgbClr val="6CA0DC"/>
            </a:solidFill>
          </a:ln>
        </p:spPr>
        <p:txBody>
          <a:bodyPr rtlCol="0" anchor="ctr" wrap="square" lIns="73152" tIns="36576" rIns="73152" bIns="36576">
            <a:noAutofit/>
          </a:bodyPr>
          <a:lstStyle/>
          <a:p>
            <a:pPr algn="ctr"/>
            <a:r>
              <a:rPr sz="1400" b="0" i="0" lang="en-GB">
                <a:solidFill>
                  <a:srgbClr val="F2F2F2"/>
                </a:solidFill>
                <a:latin typeface="Arial"/>
              </a:rPr>
              <a:t>Vanilla station (for comparison)</a:t>
            </a:r>
          </a:p>
        </p:txBody>
      </p:sp>
      <p:pic>
        <p:nvPicPr>
          <p:cNvPr id="77" name="Picture P17" descr="A coal stage and a water tank at Didcot Railway Centre."/>
          <p:cNvPicPr>
            <a:picLocks noChangeAspect="1"/>
          </p:cNvPicPr>
          <p:nvPr/>
        </p:nvPicPr>
        <p:blipFill>
          <a:blip r:embed="rId2"/>
          <a:srcRect l="1853" r="1853"/>
          <a:stretch>
            <a:fillRect/>
          </a:stretch>
        </p:blipFill>
        <p:spPr>
          <a:xfrm>
            <a:off x="9445752" y="1371600"/>
            <a:ext cx="2194560" cy="1280160"/>
          </a:xfrm>
          <a:prstGeom prst="roundRect">
            <a:avLst>
              <a:gd name="adj" fmla="val 5714"/>
            </a:avLst>
          </a:prstGeom>
        </p:spPr>
      </p:pic>
      <p:sp>
        <p:nvSpPr>
          <p:cNvPr id="78" name="Credit"/>
          <p:cNvSpPr txBox="1"/>
          <p:nvPr/>
        </p:nvSpPr>
        <p:spPr>
          <a:xfrm>
            <a:off x="9445752" y="2679192"/>
            <a:ext cx="2194560" cy="338328"/>
          </a:xfrm>
          <a:prstGeom prst="rect">
            <a:avLst/>
          </a:prstGeom>
          <a:noFill/>
        </p:spPr>
        <p:txBody>
          <a:bodyPr wrap="square" lIns="0" tIns="0" rIns="0" bIns="0" anchor="t">
            <a:noAutofit/>
          </a:bodyPr>
          <a:lstStyle/>
          <a:p>
            <a:pPr algn="l"/>
            <a:r>
              <a:rPr sz="1000" b="0" i="0" lang="en-GB">
                <a:solidFill>
                  <a:srgbClr val="A9B0B8"/>
                </a:solidFill>
                <a:latin typeface="Arial"/>
              </a:rPr>
              <a:t>Photo: Rosser1954, CC BY-SA 4.0,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steam station is big. It has a water tower, coal loading, a signal box and a platform.</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STATIONS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25</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18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36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par>
                                <p:cTn id="14" presetID="10" presetClass="entr" presetSubtype="0" fill="hold" nodeType="withEffect">
                                  <p:stCondLst>
                                    <p:cond delay="540"/>
                                  </p:stCondLst>
                                  <p:childTnLst>
                                    <p:set>
                                      <p:cBhvr>
                                        <p:cTn id="15" dur="1" fill="hold">
                                          <p:stCondLst>
                                            <p:cond delay="0"/>
                                          </p:stCondLst>
                                        </p:cTn>
                                        <p:tgtEl>
                                          <p:spTgt spid="73"/>
                                        </p:tgtEl>
                                        <p:attrNameLst>
                                          <p:attrName>style.visibility</p:attrName>
                                        </p:attrNameLst>
                                      </p:cBhvr>
                                      <p:to>
                                        <p:strVal val="visible"/>
                                      </p:to>
                                    </p:set>
                                    <p:animEffect transition="in" filter="fade">
                                      <p:cBhvr>
                                        <p:cTn id="16" dur="500"/>
                                        <p:tgtEl>
                                          <p:spTgt spid="73"/>
                                        </p:tgtEl>
                                      </p:cBhvr>
                                    </p:animEffect>
                                  </p:childTnLst>
                                </p:cTn>
                              </p:par>
                              <p:par>
                                <p:cTn id="17" presetID="10" presetClass="entr" presetSubtype="0" fill="hold" nodeType="withEffect">
                                  <p:stCondLst>
                                    <p:cond delay="720"/>
                                  </p:stCondLst>
                                  <p:childTnLst>
                                    <p:set>
                                      <p:cBhvr>
                                        <p:cTn id="18" dur="1" fill="hold">
                                          <p:stCondLst>
                                            <p:cond delay="0"/>
                                          </p:stCondLst>
                                        </p:cTn>
                                        <p:tgtEl>
                                          <p:spTgt spid="74"/>
                                        </p:tgtEl>
                                        <p:attrNameLst>
                                          <p:attrName>style.visibility</p:attrName>
                                        </p:attrNameLst>
                                      </p:cBhvr>
                                      <p:to>
                                        <p:strVal val="visible"/>
                                      </p:to>
                                    </p:set>
                                    <p:animEffect transition="in" filter="fade">
                                      <p:cBhvr>
                                        <p:cTn id="19" dur="500"/>
                                        <p:tgtEl>
                                          <p:spTgt spid="74"/>
                                        </p:tgtEl>
                                      </p:cBhvr>
                                    </p:animEffect>
                                  </p:childTnLst>
                                </p:cTn>
                              </p:par>
                              <p:par>
                                <p:cTn id="20" presetID="10" presetClass="entr" presetSubtype="0" fill="hold" nodeType="withEffect">
                                  <p:stCondLst>
                                    <p:cond delay="900"/>
                                  </p:stCondLst>
                                  <p:childTnLst>
                                    <p:set>
                                      <p:cBhvr>
                                        <p:cTn id="21" dur="1" fill="hold">
                                          <p:stCondLst>
                                            <p:cond delay="0"/>
                                          </p:stCondLst>
                                        </p:cTn>
                                        <p:tgtEl>
                                          <p:spTgt spid="75"/>
                                        </p:tgtEl>
                                        <p:attrNameLst>
                                          <p:attrName>style.visibility</p:attrName>
                                        </p:attrNameLst>
                                      </p:cBhvr>
                                      <p:to>
                                        <p:strVal val="visible"/>
                                      </p:to>
                                    </p:set>
                                    <p:animEffect transition="in" filter="fade">
                                      <p:cBhvr>
                                        <p:cTn id="22" dur="500"/>
                                        <p:tgtEl>
                                          <p:spTgt spid="75"/>
                                        </p:tgtEl>
                                      </p:cBhvr>
                                    </p:animEffect>
                                  </p:childTnLst>
                                </p:cTn>
                              </p:par>
                              <p:par>
                                <p:cTn id="23" presetID="10" presetClass="entr" presetSubtype="0" fill="hold" nodeType="withEffect">
                                  <p:stCondLst>
                                    <p:cond delay="1080"/>
                                  </p:stCondLst>
                                  <p:childTnLst>
                                    <p:set>
                                      <p:cBhvr>
                                        <p:cTn id="24" dur="1" fill="hold">
                                          <p:stCondLst>
                                            <p:cond delay="0"/>
                                          </p:stCondLst>
                                        </p:cTn>
                                        <p:tgtEl>
                                          <p:spTgt spid="76"/>
                                        </p:tgtEl>
                                        <p:attrNameLst>
                                          <p:attrName>style.visibility</p:attrName>
                                        </p:attrNameLst>
                                      </p:cBhvr>
                                      <p:to>
                                        <p:strVal val="visible"/>
                                      </p:to>
                                    </p:set>
                                    <p:animEffect transition="in" filter="fade">
                                      <p:cBhvr>
                                        <p:cTn id="25" dur="500"/>
                                        <p:tgtEl>
                                          <p:spTgt spid="76"/>
                                        </p:tgtEl>
                                      </p:cBhvr>
                                    </p:animEffect>
                                  </p:childTnLst>
                                </p:cTn>
                              </p:par>
                              <p:par>
                                <p:cTn id="26" presetID="10" presetClass="entr" presetSubtype="0" fill="hold" nodeType="withEffect">
                                  <p:stCondLst>
                                    <p:cond delay="1260"/>
                                  </p:stCondLst>
                                  <p:childTnLst>
                                    <p:set>
                                      <p:cBhvr>
                                        <p:cTn id="27" dur="1" fill="hold">
                                          <p:stCondLst>
                                            <p:cond delay="0"/>
                                          </p:stCondLst>
                                        </p:cTn>
                                        <p:tgtEl>
                                          <p:spTgt spid="77"/>
                                        </p:tgtEl>
                                        <p:attrNameLst>
                                          <p:attrName>style.visibility</p:attrName>
                                        </p:attrNameLst>
                                      </p:cBhvr>
                                      <p:to>
                                        <p:strVal val="visible"/>
                                      </p:to>
                                    </p:set>
                                    <p:animEffect transition="in" filter="fade">
                                      <p:cBhvr>
                                        <p:cTn id="28" dur="500"/>
                                        <p:tgtEl>
                                          <p:spTgt spid="77"/>
                                        </p:tgtEl>
                                      </p:cBhvr>
                                    </p:animEffect>
                                  </p:childTnLst>
                                </p:cTn>
                              </p:par>
                              <p:par>
                                <p:cTn id="29" presetID="10" presetClass="entr" presetSubtype="0" fill="hold" nodeType="withEffect">
                                  <p:stCondLst>
                                    <p:cond delay="144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par>
                                <p:cTn id="32" presetID="10" presetClass="entr" presetSubtype="0" fill="hold" nodeType="withEffect">
                                  <p:stCondLst>
                                    <p:cond delay="162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Servicing takes time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ervicing steps" descr="Nine servicing steps: approach slowly, settle into the dock, a long hiss of steam, coal chutes in, the water arm swings round, the machinery finds the hatches, wait while it fills, the machinery folds away (proposed), depart."/>
          <p:cNvGrpSpPr/>
          <p:nvPr/>
        </p:nvGrpSpPr>
        <p:grpSpPr>
          <a:xfrm>
            <a:off x="548640" y="1325880"/>
            <a:ext cx="11082528" cy="2971800"/>
            <a:chOff x="548640" y="1325880"/>
            <a:chExt cx="11082528" cy="2971800"/>
          </a:xfrm>
        </p:grpSpPr>
        <p:sp>
          <p:nvSpPr>
            <p:cNvPr id="9" name="Rounded Rectangle 8"/>
            <p:cNvSpPr/>
            <p:nvPr/>
          </p:nvSpPr>
          <p:spPr>
            <a:xfrm>
              <a:off x="548640" y="1325880"/>
              <a:ext cx="2011680" cy="1325880"/>
            </a:xfrm>
            <a:prstGeom prst="roundRect">
              <a:avLst>
                <a:gd name="adj" fmla="val 5517"/>
              </a:avLst>
            </a:prstGeom>
            <a:solidFill>
              <a:srgbClr val="2B2F36"/>
            </a:solidFill>
            <a:ln>
              <a:noFill/>
            </a:ln>
          </p:spPr>
          <p:txBody>
            <a:bodyPr rtlCol="0" anchor="ctr"/>
            <a:lstStyle/>
            <a:p>
              <a:pPr algn="ctr"/>
            </a:p>
          </p:txBody>
        </p:sp>
        <p:sp>
          <p:nvSpPr>
            <p:cNvPr id="10" name="Badge 1"/>
            <p:cNvSpPr/>
            <p:nvPr/>
          </p:nvSpPr>
          <p:spPr>
            <a:xfrm>
              <a:off x="640080"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1</a:t>
              </a:r>
            </a:p>
          </p:txBody>
        </p:sp>
        <p:cxnSp>
          <p:nvCxnSpPr>
            <p:cNvPr id="11" name="Connector 10"/>
            <p:cNvCxnSpPr/>
            <p:nvPr/>
          </p:nvCxnSpPr>
          <p:spPr>
            <a:xfrm>
              <a:off x="1463040" y="1709928"/>
              <a:ext cx="640080" cy="0"/>
            </a:xfrm>
            <a:prstGeom prst="line">
              <a:avLst/>
            </a:prstGeom>
            <a:ln w="38100">
              <a:solidFill>
                <a:srgbClr val="F28C28"/>
              </a:solidFill>
              <a:tailEnd type="triangle" w="lg" len="lg"/>
            </a:ln>
          </p:spPr>
        </p:cxnSp>
        <p:sp>
          <p:nvSpPr>
            <p:cNvPr id="12" name="TextBox 11"/>
            <p:cNvSpPr txBox="1"/>
            <p:nvPr/>
          </p:nvSpPr>
          <p:spPr>
            <a:xfrm>
              <a:off x="658368"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Approach slowly</a:t>
              </a:r>
            </a:p>
          </p:txBody>
        </p:sp>
        <p:sp>
          <p:nvSpPr>
            <p:cNvPr id="13" name="Rounded Rectangle 12"/>
            <p:cNvSpPr/>
            <p:nvPr/>
          </p:nvSpPr>
          <p:spPr>
            <a:xfrm>
              <a:off x="2816352" y="1325880"/>
              <a:ext cx="2011680" cy="1325880"/>
            </a:xfrm>
            <a:prstGeom prst="roundRect">
              <a:avLst>
                <a:gd name="adj" fmla="val 5517"/>
              </a:avLst>
            </a:prstGeom>
            <a:solidFill>
              <a:srgbClr val="2B2F36"/>
            </a:solidFill>
            <a:ln>
              <a:noFill/>
            </a:ln>
          </p:spPr>
          <p:txBody>
            <a:bodyPr rtlCol="0" anchor="ctr"/>
            <a:lstStyle/>
            <a:p>
              <a:pPr algn="ctr"/>
            </a:p>
          </p:txBody>
        </p:sp>
        <p:sp>
          <p:nvSpPr>
            <p:cNvPr id="14" name="Badge 2"/>
            <p:cNvSpPr/>
            <p:nvPr/>
          </p:nvSpPr>
          <p:spPr>
            <a:xfrm>
              <a:off x="2907792"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2</a:t>
              </a:r>
            </a:p>
          </p:txBody>
        </p:sp>
        <p:sp>
          <p:nvSpPr>
            <p:cNvPr id="15" name="Freeform 14"/>
            <p:cNvSpPr/>
            <p:nvPr/>
          </p:nvSpPr>
          <p:spPr>
            <a:xfrm>
              <a:off x="3730752" y="1527048"/>
              <a:ext cx="640080" cy="365760"/>
            </a:xfrm>
            <a:custGeom>
              <a:avLst/>
              <a:gdLst/>
              <a:ahLst/>
              <a:cxnLst/>
              <a:rect l="l" t="t" r="r" b="b"/>
              <a:pathLst>
                <a:path w="640080" h="365760">
                  <a:moveTo>
                    <a:pt x="0" y="0"/>
                  </a:moveTo>
                  <a:lnTo>
                    <a:pt x="0" y="365760"/>
                  </a:lnTo>
                  <a:lnTo>
                    <a:pt x="640080" y="365760"/>
                  </a:lnTo>
                  <a:lnTo>
                    <a:pt x="640080" y="0"/>
                  </a:lnTo>
                </a:path>
              </a:pathLst>
            </a:custGeom>
            <a:noFill/>
            <a:ln w="38100">
              <a:solidFill>
                <a:srgbClr val="F28C28"/>
              </a:solidFill>
            </a:ln>
          </p:spPr>
          <p:txBody>
            <a:bodyPr rtlCol="0" anchor="ctr"/>
            <a:lstStyle/>
            <a:p>
              <a:pPr algn="ctr"/>
            </a:p>
          </p:txBody>
        </p:sp>
        <p:sp>
          <p:nvSpPr>
            <p:cNvPr id="16" name="Rounded Rectangle 15"/>
            <p:cNvSpPr/>
            <p:nvPr/>
          </p:nvSpPr>
          <p:spPr>
            <a:xfrm>
              <a:off x="3849624" y="1664208"/>
              <a:ext cx="402336" cy="182880"/>
            </a:xfrm>
            <a:prstGeom prst="roundRect">
              <a:avLst>
                <a:gd name="adj" fmla="val 25000"/>
              </a:avLst>
            </a:prstGeom>
            <a:solidFill>
              <a:srgbClr val="F28C28"/>
            </a:solidFill>
            <a:ln>
              <a:noFill/>
            </a:ln>
          </p:spPr>
          <p:txBody>
            <a:bodyPr rtlCol="0" anchor="ctr"/>
            <a:lstStyle/>
            <a:p>
              <a:pPr algn="ctr"/>
            </a:p>
          </p:txBody>
        </p:sp>
        <p:sp>
          <p:nvSpPr>
            <p:cNvPr id="17" name="TextBox 16"/>
            <p:cNvSpPr txBox="1"/>
            <p:nvPr/>
          </p:nvSpPr>
          <p:spPr>
            <a:xfrm>
              <a:off x="2926080"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Settle into dock</a:t>
              </a:r>
            </a:p>
          </p:txBody>
        </p:sp>
        <p:sp>
          <p:nvSpPr>
            <p:cNvPr id="18" name="Rounded Rectangle 17"/>
            <p:cNvSpPr/>
            <p:nvPr/>
          </p:nvSpPr>
          <p:spPr>
            <a:xfrm>
              <a:off x="5084064" y="1325880"/>
              <a:ext cx="2011680" cy="1325880"/>
            </a:xfrm>
            <a:prstGeom prst="roundRect">
              <a:avLst>
                <a:gd name="adj" fmla="val 5517"/>
              </a:avLst>
            </a:prstGeom>
            <a:solidFill>
              <a:srgbClr val="2B2F36"/>
            </a:solidFill>
            <a:ln>
              <a:noFill/>
            </a:ln>
          </p:spPr>
          <p:txBody>
            <a:bodyPr rtlCol="0" anchor="ctr"/>
            <a:lstStyle/>
            <a:p>
              <a:pPr algn="ctr"/>
            </a:p>
          </p:txBody>
        </p:sp>
        <p:sp>
          <p:nvSpPr>
            <p:cNvPr id="19" name="Badge 3"/>
            <p:cNvSpPr/>
            <p:nvPr/>
          </p:nvSpPr>
          <p:spPr>
            <a:xfrm>
              <a:off x="5175504"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3</a:t>
              </a:r>
            </a:p>
          </p:txBody>
        </p:sp>
        <p:sp>
          <p:nvSpPr>
            <p:cNvPr id="20" name="Oval 19"/>
            <p:cNvSpPr/>
            <p:nvPr/>
          </p:nvSpPr>
          <p:spPr>
            <a:xfrm>
              <a:off x="5998464" y="1742389"/>
              <a:ext cx="237744" cy="154534"/>
            </a:xfrm>
            <a:prstGeom prst="ellipse">
              <a:avLst/>
            </a:prstGeom>
            <a:solidFill>
              <a:srgbClr val="D4D5D6"/>
            </a:solidFill>
            <a:ln>
              <a:noFill/>
            </a:ln>
          </p:spPr>
          <p:txBody>
            <a:bodyPr rtlCol="0" anchor="ctr"/>
            <a:lstStyle/>
            <a:p>
              <a:pPr algn="ctr"/>
            </a:p>
          </p:txBody>
        </p:sp>
        <p:sp>
          <p:nvSpPr>
            <p:cNvPr id="21" name="Oval 20"/>
            <p:cNvSpPr/>
            <p:nvPr/>
          </p:nvSpPr>
          <p:spPr>
            <a:xfrm>
              <a:off x="6172200" y="1596542"/>
              <a:ext cx="292608" cy="190195"/>
            </a:xfrm>
            <a:prstGeom prst="ellipse">
              <a:avLst/>
            </a:prstGeom>
            <a:solidFill>
              <a:srgbClr val="D4D5D6"/>
            </a:solidFill>
            <a:ln>
              <a:noFill/>
            </a:ln>
          </p:spPr>
          <p:txBody>
            <a:bodyPr rtlCol="0" anchor="ctr"/>
            <a:lstStyle/>
            <a:p>
              <a:pPr algn="ctr"/>
            </a:p>
          </p:txBody>
        </p:sp>
        <p:sp>
          <p:nvSpPr>
            <p:cNvPr id="22" name="Oval 21"/>
            <p:cNvSpPr/>
            <p:nvPr/>
          </p:nvSpPr>
          <p:spPr>
            <a:xfrm>
              <a:off x="6364224" y="1450696"/>
              <a:ext cx="347472" cy="225857"/>
            </a:xfrm>
            <a:prstGeom prst="ellipse">
              <a:avLst/>
            </a:prstGeom>
            <a:solidFill>
              <a:srgbClr val="D4D5D6"/>
            </a:solidFill>
            <a:ln>
              <a:noFill/>
            </a:ln>
          </p:spPr>
          <p:txBody>
            <a:bodyPr rtlCol="0" anchor="ctr"/>
            <a:lstStyle/>
            <a:p>
              <a:pPr algn="ctr"/>
            </a:p>
          </p:txBody>
        </p:sp>
        <p:sp>
          <p:nvSpPr>
            <p:cNvPr id="23" name="TextBox 22"/>
            <p:cNvSpPr txBox="1"/>
            <p:nvPr/>
          </p:nvSpPr>
          <p:spPr>
            <a:xfrm>
              <a:off x="5193792"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Long steam hiss</a:t>
              </a:r>
            </a:p>
          </p:txBody>
        </p:sp>
        <p:sp>
          <p:nvSpPr>
            <p:cNvPr id="24" name="Rounded Rectangle 23"/>
            <p:cNvSpPr/>
            <p:nvPr/>
          </p:nvSpPr>
          <p:spPr>
            <a:xfrm>
              <a:off x="7351776" y="1325880"/>
              <a:ext cx="2011680" cy="1325880"/>
            </a:xfrm>
            <a:prstGeom prst="roundRect">
              <a:avLst>
                <a:gd name="adj" fmla="val 5517"/>
              </a:avLst>
            </a:prstGeom>
            <a:solidFill>
              <a:srgbClr val="2B2F36"/>
            </a:solidFill>
            <a:ln>
              <a:noFill/>
            </a:ln>
          </p:spPr>
          <p:txBody>
            <a:bodyPr rtlCol="0" anchor="ctr"/>
            <a:lstStyle/>
            <a:p>
              <a:pPr algn="ctr"/>
            </a:p>
          </p:txBody>
        </p:sp>
        <p:sp>
          <p:nvSpPr>
            <p:cNvPr id="25" name="Badge 4"/>
            <p:cNvSpPr/>
            <p:nvPr/>
          </p:nvSpPr>
          <p:spPr>
            <a:xfrm>
              <a:off x="7443216"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4</a:t>
              </a:r>
            </a:p>
          </p:txBody>
        </p:sp>
        <p:sp>
          <p:nvSpPr>
            <p:cNvPr id="26" name="Freeform 25"/>
            <p:cNvSpPr/>
            <p:nvPr/>
          </p:nvSpPr>
          <p:spPr>
            <a:xfrm>
              <a:off x="8266176" y="1481328"/>
              <a:ext cx="594360" cy="365760"/>
            </a:xfrm>
            <a:custGeom>
              <a:avLst/>
              <a:gdLst/>
              <a:ahLst/>
              <a:cxnLst/>
              <a:rect l="l" t="t" r="r" b="b"/>
              <a:pathLst>
                <a:path w="594360" h="365760">
                  <a:moveTo>
                    <a:pt x="0" y="0"/>
                  </a:moveTo>
                  <a:lnTo>
                    <a:pt x="182880" y="0"/>
                  </a:lnTo>
                  <a:lnTo>
                    <a:pt x="594360" y="365760"/>
                  </a:lnTo>
                  <a:lnTo>
                    <a:pt x="411480" y="365760"/>
                  </a:lnTo>
                  <a:close/>
                </a:path>
              </a:pathLst>
            </a:custGeom>
            <a:solidFill>
              <a:srgbClr val="9AA0A6"/>
            </a:solidFill>
            <a:ln>
              <a:noFill/>
            </a:ln>
          </p:spPr>
          <p:txBody>
            <a:bodyPr rtlCol="0" anchor="ctr"/>
            <a:lstStyle/>
            <a:p>
              <a:pPr algn="ctr"/>
            </a:p>
          </p:txBody>
        </p:sp>
        <p:sp>
          <p:nvSpPr>
            <p:cNvPr id="27" name="Freeform 26"/>
            <p:cNvSpPr/>
            <p:nvPr/>
          </p:nvSpPr>
          <p:spPr>
            <a:xfrm>
              <a:off x="8238744" y="1353312"/>
              <a:ext cx="329184" cy="128016"/>
            </a:xfrm>
            <a:custGeom>
              <a:avLst/>
              <a:gdLst/>
              <a:ahLst/>
              <a:cxnLst/>
              <a:rect l="l" t="t" r="r" b="b"/>
              <a:pathLst>
                <a:path w="329184" h="128016">
                  <a:moveTo>
                    <a:pt x="0" y="128016"/>
                  </a:moveTo>
                  <a:lnTo>
                    <a:pt x="59253" y="51206"/>
                  </a:lnTo>
                  <a:lnTo>
                    <a:pt x="125090" y="19202"/>
                  </a:lnTo>
                  <a:lnTo>
                    <a:pt x="181051" y="0"/>
                  </a:lnTo>
                  <a:lnTo>
                    <a:pt x="246888" y="38405"/>
                  </a:lnTo>
                  <a:lnTo>
                    <a:pt x="302849" y="76810"/>
                  </a:lnTo>
                  <a:lnTo>
                    <a:pt x="329184" y="128016"/>
                  </a:lnTo>
                  <a:close/>
                </a:path>
              </a:pathLst>
            </a:custGeom>
            <a:solidFill>
              <a:srgbClr val="1B1D21"/>
            </a:solidFill>
            <a:ln w="25400">
              <a:solidFill>
                <a:srgbClr val="6B7078"/>
              </a:solidFill>
            </a:ln>
          </p:spPr>
          <p:txBody>
            <a:bodyPr rtlCol="0" anchor="ctr"/>
            <a:lstStyle/>
            <a:p>
              <a:pPr algn="ctr"/>
            </a:p>
          </p:txBody>
        </p:sp>
        <p:sp>
          <p:nvSpPr>
            <p:cNvPr id="28" name="TextBox 27"/>
            <p:cNvSpPr txBox="1"/>
            <p:nvPr/>
          </p:nvSpPr>
          <p:spPr>
            <a:xfrm>
              <a:off x="7461504"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Coal chutes in</a:t>
              </a:r>
            </a:p>
          </p:txBody>
        </p:sp>
        <p:sp>
          <p:nvSpPr>
            <p:cNvPr id="29" name="Rounded Rectangle 28"/>
            <p:cNvSpPr/>
            <p:nvPr/>
          </p:nvSpPr>
          <p:spPr>
            <a:xfrm>
              <a:off x="9619488" y="1325880"/>
              <a:ext cx="2011680" cy="1325880"/>
            </a:xfrm>
            <a:prstGeom prst="roundRect">
              <a:avLst>
                <a:gd name="adj" fmla="val 5517"/>
              </a:avLst>
            </a:prstGeom>
            <a:solidFill>
              <a:srgbClr val="2B2F36"/>
            </a:solidFill>
            <a:ln>
              <a:noFill/>
            </a:ln>
          </p:spPr>
          <p:txBody>
            <a:bodyPr rtlCol="0" anchor="ctr"/>
            <a:lstStyle/>
            <a:p>
              <a:pPr algn="ctr"/>
            </a:p>
          </p:txBody>
        </p:sp>
        <p:sp>
          <p:nvSpPr>
            <p:cNvPr id="30" name="Badge 5"/>
            <p:cNvSpPr/>
            <p:nvPr/>
          </p:nvSpPr>
          <p:spPr>
            <a:xfrm>
              <a:off x="9710928"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5</a:t>
              </a:r>
            </a:p>
          </p:txBody>
        </p:sp>
        <p:sp>
          <p:nvSpPr>
            <p:cNvPr id="31" name="Freeform 30"/>
            <p:cNvSpPr/>
            <p:nvPr/>
          </p:nvSpPr>
          <p:spPr>
            <a:xfrm>
              <a:off x="10448005" y="1527758"/>
              <a:ext cx="640391" cy="301536"/>
            </a:xfrm>
            <a:custGeom>
              <a:avLst/>
              <a:gdLst/>
              <a:ahLst/>
              <a:cxnLst/>
              <a:rect l="l" t="t" r="r" b="b"/>
              <a:pathLst>
                <a:path w="640391" h="301536">
                  <a:moveTo>
                    <a:pt x="0" y="301536"/>
                  </a:moveTo>
                  <a:lnTo>
                    <a:pt x="14968" y="244247"/>
                  </a:lnTo>
                  <a:lnTo>
                    <a:pt x="38985" y="190124"/>
                  </a:lnTo>
                  <a:lnTo>
                    <a:pt x="71420" y="140585"/>
                  </a:lnTo>
                  <a:lnTo>
                    <a:pt x="111423" y="96929"/>
                  </a:lnTo>
                  <a:lnTo>
                    <a:pt x="157946" y="60300"/>
                  </a:lnTo>
                  <a:lnTo>
                    <a:pt x="209771" y="31658"/>
                  </a:lnTo>
                  <a:lnTo>
                    <a:pt x="265537" y="11753"/>
                  </a:lnTo>
                  <a:lnTo>
                    <a:pt x="323785" y="1108"/>
                  </a:lnTo>
                  <a:lnTo>
                    <a:pt x="382987" y="0"/>
                  </a:lnTo>
                  <a:lnTo>
                    <a:pt x="441592" y="8460"/>
                  </a:lnTo>
                  <a:lnTo>
                    <a:pt x="498064" y="26266"/>
                  </a:lnTo>
                  <a:lnTo>
                    <a:pt x="550923" y="52950"/>
                  </a:lnTo>
                  <a:lnTo>
                    <a:pt x="598784" y="87814"/>
                  </a:lnTo>
                  <a:lnTo>
                    <a:pt x="640391" y="129944"/>
                  </a:lnTo>
                </a:path>
              </a:pathLst>
            </a:custGeom>
            <a:noFill/>
            <a:ln w="38100">
              <a:solidFill>
                <a:srgbClr val="F28C28"/>
              </a:solidFill>
              <a:tailEnd type="triangle" w="lg" len="lg"/>
            </a:ln>
          </p:spPr>
          <p:txBody>
            <a:bodyPr rtlCol="0" anchor="ctr"/>
            <a:lstStyle/>
            <a:p>
              <a:pPr algn="ctr"/>
            </a:p>
          </p:txBody>
        </p:sp>
        <p:sp>
          <p:nvSpPr>
            <p:cNvPr id="32" name="Freeform 31"/>
            <p:cNvSpPr/>
            <p:nvPr/>
          </p:nvSpPr>
          <p:spPr>
            <a:xfrm>
              <a:off x="11056258" y="1719072"/>
              <a:ext cx="143980" cy="193121"/>
            </a:xfrm>
            <a:custGeom>
              <a:avLst/>
              <a:gdLst/>
              <a:ahLst/>
              <a:cxnLst/>
              <a:rect l="l" t="t" r="r" b="b"/>
              <a:pathLst>
                <a:path w="143980" h="193121">
                  <a:moveTo>
                    <a:pt x="3937" y="95932"/>
                  </a:moveTo>
                  <a:lnTo>
                    <a:pt x="0" y="112817"/>
                  </a:lnTo>
                  <a:lnTo>
                    <a:pt x="189" y="130154"/>
                  </a:lnTo>
                  <a:lnTo>
                    <a:pt x="4494" y="146949"/>
                  </a:lnTo>
                  <a:lnTo>
                    <a:pt x="12667" y="162239"/>
                  </a:lnTo>
                  <a:lnTo>
                    <a:pt x="24240" y="175149"/>
                  </a:lnTo>
                  <a:lnTo>
                    <a:pt x="38550" y="184939"/>
                  </a:lnTo>
                  <a:lnTo>
                    <a:pt x="54777" y="191046"/>
                  </a:lnTo>
                  <a:lnTo>
                    <a:pt x="71990" y="193121"/>
                  </a:lnTo>
                  <a:lnTo>
                    <a:pt x="89203" y="191046"/>
                  </a:lnTo>
                  <a:lnTo>
                    <a:pt x="105430" y="184939"/>
                  </a:lnTo>
                  <a:lnTo>
                    <a:pt x="119740" y="175149"/>
                  </a:lnTo>
                  <a:lnTo>
                    <a:pt x="131313" y="162239"/>
                  </a:lnTo>
                  <a:lnTo>
                    <a:pt x="139486" y="146949"/>
                  </a:lnTo>
                  <a:lnTo>
                    <a:pt x="143791" y="130154"/>
                  </a:lnTo>
                  <a:lnTo>
                    <a:pt x="143980" y="112817"/>
                  </a:lnTo>
                  <a:lnTo>
                    <a:pt x="140043" y="95932"/>
                  </a:lnTo>
                  <a:lnTo>
                    <a:pt x="71990" y="0"/>
                  </a:lnTo>
                  <a:close/>
                </a:path>
              </a:pathLst>
            </a:custGeom>
            <a:solidFill>
              <a:srgbClr val="4DA3FF"/>
            </a:solidFill>
            <a:ln>
              <a:noFill/>
            </a:ln>
          </p:spPr>
          <p:txBody>
            <a:bodyPr rtlCol="0" anchor="ctr"/>
            <a:lstStyle/>
            <a:p>
              <a:pPr algn="ctr"/>
            </a:p>
          </p:txBody>
        </p:sp>
        <p:sp>
          <p:nvSpPr>
            <p:cNvPr id="33" name="TextBox 32"/>
            <p:cNvSpPr txBox="1"/>
            <p:nvPr/>
          </p:nvSpPr>
          <p:spPr>
            <a:xfrm>
              <a:off x="9729216"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Water arm swings</a:t>
              </a:r>
            </a:p>
          </p:txBody>
        </p:sp>
        <p:sp>
          <p:nvSpPr>
            <p:cNvPr id="34" name="Rounded Rectangle 33"/>
            <p:cNvSpPr/>
            <p:nvPr/>
          </p:nvSpPr>
          <p:spPr>
            <a:xfrm>
              <a:off x="9619488" y="2971800"/>
              <a:ext cx="2011680" cy="1325880"/>
            </a:xfrm>
            <a:prstGeom prst="roundRect">
              <a:avLst>
                <a:gd name="adj" fmla="val 5517"/>
              </a:avLst>
            </a:prstGeom>
            <a:solidFill>
              <a:srgbClr val="2B2F36"/>
            </a:solidFill>
            <a:ln>
              <a:noFill/>
            </a:ln>
          </p:spPr>
          <p:txBody>
            <a:bodyPr rtlCol="0" anchor="ctr"/>
            <a:lstStyle/>
            <a:p>
              <a:pPr algn="ctr"/>
            </a:p>
          </p:txBody>
        </p:sp>
        <p:sp>
          <p:nvSpPr>
            <p:cNvPr id="35" name="Badge 6"/>
            <p:cNvSpPr/>
            <p:nvPr/>
          </p:nvSpPr>
          <p:spPr>
            <a:xfrm>
              <a:off x="9710928"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6</a:t>
              </a:r>
            </a:p>
          </p:txBody>
        </p:sp>
        <p:sp>
          <p:nvSpPr>
            <p:cNvPr id="36" name="Oval 35"/>
            <p:cNvSpPr/>
            <p:nvPr/>
          </p:nvSpPr>
          <p:spPr>
            <a:xfrm>
              <a:off x="10533888" y="3218688"/>
              <a:ext cx="274320" cy="274320"/>
            </a:xfrm>
            <a:prstGeom prst="ellipse">
              <a:avLst/>
            </a:prstGeom>
            <a:noFill/>
            <a:ln w="25400">
              <a:solidFill>
                <a:srgbClr val="F28C28"/>
              </a:solidFill>
            </a:ln>
          </p:spPr>
          <p:txBody>
            <a:bodyPr rtlCol="0" anchor="ctr"/>
            <a:lstStyle/>
            <a:p>
              <a:pPr algn="ctr"/>
            </a:p>
          </p:txBody>
        </p:sp>
        <p:cxnSp>
          <p:nvCxnSpPr>
            <p:cNvPr id="37" name="Connector 36"/>
            <p:cNvCxnSpPr/>
            <p:nvPr/>
          </p:nvCxnSpPr>
          <p:spPr>
            <a:xfrm>
              <a:off x="10488168" y="3355848"/>
              <a:ext cx="365760" cy="0"/>
            </a:xfrm>
            <a:prstGeom prst="line">
              <a:avLst/>
            </a:prstGeom>
            <a:ln w="19050">
              <a:solidFill>
                <a:srgbClr val="F28C28"/>
              </a:solidFill>
            </a:ln>
          </p:spPr>
        </p:cxnSp>
        <p:cxnSp>
          <p:nvCxnSpPr>
            <p:cNvPr id="38" name="Connector 37"/>
            <p:cNvCxnSpPr/>
            <p:nvPr/>
          </p:nvCxnSpPr>
          <p:spPr>
            <a:xfrm>
              <a:off x="10671048" y="3172968"/>
              <a:ext cx="0" cy="365760"/>
            </a:xfrm>
            <a:prstGeom prst="line">
              <a:avLst/>
            </a:prstGeom>
            <a:ln w="19050">
              <a:solidFill>
                <a:srgbClr val="F28C28"/>
              </a:solidFill>
            </a:ln>
          </p:spPr>
        </p:cxnSp>
        <p:sp>
          <p:nvSpPr>
            <p:cNvPr id="39" name="Oval 38"/>
            <p:cNvSpPr/>
            <p:nvPr/>
          </p:nvSpPr>
          <p:spPr>
            <a:xfrm>
              <a:off x="10899648" y="3218688"/>
              <a:ext cx="274320" cy="274320"/>
            </a:xfrm>
            <a:prstGeom prst="ellipse">
              <a:avLst/>
            </a:prstGeom>
            <a:noFill/>
            <a:ln w="25400">
              <a:solidFill>
                <a:srgbClr val="F28C28"/>
              </a:solidFill>
            </a:ln>
          </p:spPr>
          <p:txBody>
            <a:bodyPr rtlCol="0" anchor="ctr"/>
            <a:lstStyle/>
            <a:p>
              <a:pPr algn="ctr"/>
            </a:p>
          </p:txBody>
        </p:sp>
        <p:cxnSp>
          <p:nvCxnSpPr>
            <p:cNvPr id="40" name="Connector 39"/>
            <p:cNvCxnSpPr/>
            <p:nvPr/>
          </p:nvCxnSpPr>
          <p:spPr>
            <a:xfrm>
              <a:off x="10853928" y="3355848"/>
              <a:ext cx="365760" cy="0"/>
            </a:xfrm>
            <a:prstGeom prst="line">
              <a:avLst/>
            </a:prstGeom>
            <a:ln w="19050">
              <a:solidFill>
                <a:srgbClr val="F28C28"/>
              </a:solidFill>
            </a:ln>
          </p:spPr>
        </p:cxnSp>
        <p:cxnSp>
          <p:nvCxnSpPr>
            <p:cNvPr id="41" name="Connector 40"/>
            <p:cNvCxnSpPr/>
            <p:nvPr/>
          </p:nvCxnSpPr>
          <p:spPr>
            <a:xfrm>
              <a:off x="11036808" y="3172968"/>
              <a:ext cx="0" cy="365760"/>
            </a:xfrm>
            <a:prstGeom prst="line">
              <a:avLst/>
            </a:prstGeom>
            <a:ln w="19050">
              <a:solidFill>
                <a:srgbClr val="F28C28"/>
              </a:solidFill>
            </a:ln>
          </p:spPr>
        </p:cxnSp>
        <p:sp>
          <p:nvSpPr>
            <p:cNvPr id="42" name="TextBox 41"/>
            <p:cNvSpPr txBox="1"/>
            <p:nvPr/>
          </p:nvSpPr>
          <p:spPr>
            <a:xfrm>
              <a:off x="9729216"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Finds the hatches</a:t>
              </a:r>
            </a:p>
          </p:txBody>
        </p:sp>
        <p:sp>
          <p:nvSpPr>
            <p:cNvPr id="43" name="Rounded Rectangle 42"/>
            <p:cNvSpPr/>
            <p:nvPr/>
          </p:nvSpPr>
          <p:spPr>
            <a:xfrm>
              <a:off x="7351776" y="2971800"/>
              <a:ext cx="2011680" cy="1325880"/>
            </a:xfrm>
            <a:prstGeom prst="roundRect">
              <a:avLst>
                <a:gd name="adj" fmla="val 5517"/>
              </a:avLst>
            </a:prstGeom>
            <a:solidFill>
              <a:srgbClr val="2B2F36"/>
            </a:solidFill>
            <a:ln>
              <a:noFill/>
            </a:ln>
          </p:spPr>
          <p:txBody>
            <a:bodyPr rtlCol="0" anchor="ctr"/>
            <a:lstStyle/>
            <a:p>
              <a:pPr algn="ctr"/>
            </a:p>
          </p:txBody>
        </p:sp>
        <p:sp>
          <p:nvSpPr>
            <p:cNvPr id="44" name="Badge 7"/>
            <p:cNvSpPr/>
            <p:nvPr/>
          </p:nvSpPr>
          <p:spPr>
            <a:xfrm>
              <a:off x="7443216"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7</a:t>
              </a:r>
            </a:p>
          </p:txBody>
        </p:sp>
        <p:sp>
          <p:nvSpPr>
            <p:cNvPr id="45" name="Oval 44"/>
            <p:cNvSpPr/>
            <p:nvPr/>
          </p:nvSpPr>
          <p:spPr>
            <a:xfrm>
              <a:off x="8357616" y="3127248"/>
              <a:ext cx="457200" cy="457200"/>
            </a:xfrm>
            <a:prstGeom prst="ellipse">
              <a:avLst/>
            </a:prstGeom>
            <a:noFill/>
            <a:ln w="31750">
              <a:solidFill>
                <a:srgbClr val="F28C28"/>
              </a:solidFill>
            </a:ln>
          </p:spPr>
          <p:txBody>
            <a:bodyPr rtlCol="0" anchor="ctr"/>
            <a:lstStyle/>
            <a:p>
              <a:pPr algn="ctr"/>
            </a:p>
          </p:txBody>
        </p:sp>
        <p:cxnSp>
          <p:nvCxnSpPr>
            <p:cNvPr id="46" name="Connector 45"/>
            <p:cNvCxnSpPr/>
            <p:nvPr/>
          </p:nvCxnSpPr>
          <p:spPr>
            <a:xfrm flipV="1">
              <a:off x="8586216" y="3200400"/>
              <a:ext cx="0" cy="155448"/>
            </a:xfrm>
            <a:prstGeom prst="line">
              <a:avLst/>
            </a:prstGeom>
            <a:ln w="31750">
              <a:solidFill>
                <a:srgbClr val="F2F2F2"/>
              </a:solidFill>
            </a:ln>
          </p:spPr>
        </p:cxnSp>
        <p:cxnSp>
          <p:nvCxnSpPr>
            <p:cNvPr id="47" name="Connector 46"/>
            <p:cNvCxnSpPr/>
            <p:nvPr/>
          </p:nvCxnSpPr>
          <p:spPr>
            <a:xfrm>
              <a:off x="8586216" y="3355848"/>
              <a:ext cx="118872" cy="54864"/>
            </a:xfrm>
            <a:prstGeom prst="line">
              <a:avLst/>
            </a:prstGeom>
            <a:ln w="31750">
              <a:solidFill>
                <a:srgbClr val="F2F2F2"/>
              </a:solidFill>
            </a:ln>
          </p:spPr>
        </p:cxnSp>
        <p:sp>
          <p:nvSpPr>
            <p:cNvPr id="48" name="TextBox 47"/>
            <p:cNvSpPr txBox="1"/>
            <p:nvPr/>
          </p:nvSpPr>
          <p:spPr>
            <a:xfrm>
              <a:off x="7461504"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Wait while it fills</a:t>
              </a:r>
            </a:p>
          </p:txBody>
        </p:sp>
        <p:sp>
          <p:nvSpPr>
            <p:cNvPr id="49" name="Rounded Rectangle 48"/>
            <p:cNvSpPr/>
            <p:nvPr/>
          </p:nvSpPr>
          <p:spPr>
            <a:xfrm>
              <a:off x="5084064" y="2971800"/>
              <a:ext cx="2011680" cy="1325880"/>
            </a:xfrm>
            <a:prstGeom prst="roundRect">
              <a:avLst>
                <a:gd name="adj" fmla="val 5517"/>
              </a:avLst>
            </a:prstGeom>
            <a:solidFill>
              <a:srgbClr val="2B2F36"/>
            </a:solidFill>
            <a:ln>
              <a:noFill/>
            </a:ln>
          </p:spPr>
          <p:txBody>
            <a:bodyPr rtlCol="0" anchor="ctr"/>
            <a:lstStyle/>
            <a:p>
              <a:pPr algn="ctr"/>
            </a:p>
          </p:txBody>
        </p:sp>
        <p:sp>
          <p:nvSpPr>
            <p:cNvPr id="50" name="Badge 8"/>
            <p:cNvSpPr/>
            <p:nvPr/>
          </p:nvSpPr>
          <p:spPr>
            <a:xfrm>
              <a:off x="5175504"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8</a:t>
              </a:r>
            </a:p>
          </p:txBody>
        </p:sp>
        <p:cxnSp>
          <p:nvCxnSpPr>
            <p:cNvPr id="51" name="Connector 50"/>
            <p:cNvCxnSpPr/>
            <p:nvPr/>
          </p:nvCxnSpPr>
          <p:spPr>
            <a:xfrm flipH="1">
              <a:off x="6044184" y="3218688"/>
              <a:ext cx="548640" cy="0"/>
            </a:xfrm>
            <a:prstGeom prst="line">
              <a:avLst/>
            </a:prstGeom>
            <a:ln w="38100">
              <a:solidFill>
                <a:srgbClr val="F28C28"/>
              </a:solidFill>
              <a:tailEnd type="triangle" w="lg" len="lg"/>
            </a:ln>
          </p:spPr>
        </p:cxnSp>
        <p:sp>
          <p:nvSpPr>
            <p:cNvPr id="52" name="Rectangle 51"/>
            <p:cNvSpPr/>
            <p:nvPr/>
          </p:nvSpPr>
          <p:spPr>
            <a:xfrm>
              <a:off x="5998464" y="3374136"/>
              <a:ext cx="640080" cy="128016"/>
            </a:xfrm>
            <a:prstGeom prst="rect">
              <a:avLst/>
            </a:prstGeom>
            <a:solidFill>
              <a:srgbClr val="9AA0A6"/>
            </a:solidFill>
            <a:ln>
              <a:noFill/>
            </a:ln>
          </p:spPr>
          <p:txBody>
            <a:bodyPr rtlCol="0" anchor="ctr"/>
            <a:lstStyle/>
            <a:p>
              <a:pPr algn="ctr"/>
            </a:p>
          </p:txBody>
        </p:sp>
        <p:sp>
          <p:nvSpPr>
            <p:cNvPr id="53" name="TextBox 52"/>
            <p:cNvSpPr txBox="1"/>
            <p:nvPr/>
          </p:nvSpPr>
          <p:spPr>
            <a:xfrm>
              <a:off x="5193792"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Folds away</a:t>
              </a:r>
            </a:p>
          </p:txBody>
        </p:sp>
        <p:sp>
          <p:nvSpPr>
            <p:cNvPr id="54" name="Inline chip Proposed"/>
            <p:cNvSpPr/>
            <p:nvPr/>
          </p:nvSpPr>
          <p:spPr>
            <a:xfrm>
              <a:off x="5671820" y="2807208"/>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55" name="Rounded Rectangle 54"/>
            <p:cNvSpPr/>
            <p:nvPr/>
          </p:nvSpPr>
          <p:spPr>
            <a:xfrm>
              <a:off x="2816352" y="2971800"/>
              <a:ext cx="2011680" cy="1325880"/>
            </a:xfrm>
            <a:prstGeom prst="roundRect">
              <a:avLst>
                <a:gd name="adj" fmla="val 5517"/>
              </a:avLst>
            </a:prstGeom>
            <a:solidFill>
              <a:srgbClr val="2B2F36"/>
            </a:solidFill>
            <a:ln>
              <a:noFill/>
            </a:ln>
          </p:spPr>
          <p:txBody>
            <a:bodyPr rtlCol="0" anchor="ctr"/>
            <a:lstStyle/>
            <a:p>
              <a:pPr algn="ctr"/>
            </a:p>
          </p:txBody>
        </p:sp>
        <p:sp>
          <p:nvSpPr>
            <p:cNvPr id="56" name="Badge 9"/>
            <p:cNvSpPr/>
            <p:nvPr/>
          </p:nvSpPr>
          <p:spPr>
            <a:xfrm>
              <a:off x="2907792"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9</a:t>
              </a:r>
            </a:p>
          </p:txBody>
        </p:sp>
        <p:sp>
          <p:nvSpPr>
            <p:cNvPr id="57" name="Rounded Rectangle 56"/>
            <p:cNvSpPr/>
            <p:nvPr/>
          </p:nvSpPr>
          <p:spPr>
            <a:xfrm>
              <a:off x="3730752" y="3218688"/>
              <a:ext cx="502920" cy="274320"/>
            </a:xfrm>
            <a:prstGeom prst="roundRect">
              <a:avLst>
                <a:gd name="adj" fmla="val 16666"/>
              </a:avLst>
            </a:prstGeom>
            <a:solidFill>
              <a:srgbClr val="F28C28"/>
            </a:solidFill>
            <a:ln>
              <a:noFill/>
            </a:ln>
          </p:spPr>
          <p:txBody>
            <a:bodyPr rtlCol="0" anchor="ctr"/>
            <a:lstStyle/>
            <a:p>
              <a:pPr algn="ctr"/>
            </a:p>
          </p:txBody>
        </p:sp>
        <p:sp>
          <p:nvSpPr>
            <p:cNvPr id="58" name="Rectangle 57"/>
            <p:cNvSpPr/>
            <p:nvPr/>
          </p:nvSpPr>
          <p:spPr>
            <a:xfrm>
              <a:off x="4096512" y="3081528"/>
              <a:ext cx="91440" cy="146304"/>
            </a:xfrm>
            <a:prstGeom prst="rect">
              <a:avLst/>
            </a:prstGeom>
            <a:solidFill>
              <a:srgbClr val="1B1D21"/>
            </a:solidFill>
            <a:ln>
              <a:noFill/>
            </a:ln>
          </p:spPr>
          <p:txBody>
            <a:bodyPr rtlCol="0" anchor="ctr"/>
            <a:lstStyle/>
            <a:p>
              <a:pPr algn="ctr"/>
            </a:p>
          </p:txBody>
        </p:sp>
        <p:cxnSp>
          <p:nvCxnSpPr>
            <p:cNvPr id="59" name="Connector 58"/>
            <p:cNvCxnSpPr/>
            <p:nvPr/>
          </p:nvCxnSpPr>
          <p:spPr>
            <a:xfrm>
              <a:off x="4251960" y="3355848"/>
              <a:ext cx="182880" cy="0"/>
            </a:xfrm>
            <a:prstGeom prst="line">
              <a:avLst/>
            </a:prstGeom>
            <a:ln w="31750">
              <a:solidFill>
                <a:srgbClr val="F2F2F2"/>
              </a:solidFill>
              <a:tailEnd type="triangle" w="lg" len="lg"/>
            </a:ln>
          </p:spPr>
        </p:cxnSp>
        <p:sp>
          <p:nvSpPr>
            <p:cNvPr id="60" name="TextBox 59"/>
            <p:cNvSpPr txBox="1"/>
            <p:nvPr/>
          </p:nvSpPr>
          <p:spPr>
            <a:xfrm>
              <a:off x="2926080"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Depart</a:t>
              </a:r>
            </a:p>
          </p:txBody>
        </p:sp>
        <p:cxnSp>
          <p:nvCxnSpPr>
            <p:cNvPr id="61" name="Connector 60"/>
            <p:cNvCxnSpPr/>
            <p:nvPr/>
          </p:nvCxnSpPr>
          <p:spPr>
            <a:xfrm>
              <a:off x="2587752" y="1984248"/>
              <a:ext cx="201168" cy="0"/>
            </a:xfrm>
            <a:prstGeom prst="line">
              <a:avLst/>
            </a:prstGeom>
            <a:ln w="28575">
              <a:solidFill>
                <a:srgbClr val="F28C28"/>
              </a:solidFill>
              <a:tailEnd type="triangle" w="lg" len="lg"/>
            </a:ln>
          </p:spPr>
        </p:cxnSp>
        <p:cxnSp>
          <p:nvCxnSpPr>
            <p:cNvPr id="62" name="Connector 61"/>
            <p:cNvCxnSpPr/>
            <p:nvPr/>
          </p:nvCxnSpPr>
          <p:spPr>
            <a:xfrm>
              <a:off x="4855464" y="1984248"/>
              <a:ext cx="201168" cy="0"/>
            </a:xfrm>
            <a:prstGeom prst="line">
              <a:avLst/>
            </a:prstGeom>
            <a:ln w="28575">
              <a:solidFill>
                <a:srgbClr val="F28C28"/>
              </a:solidFill>
              <a:tailEnd type="triangle" w="lg" len="lg"/>
            </a:ln>
          </p:spPr>
        </p:cxnSp>
        <p:cxnSp>
          <p:nvCxnSpPr>
            <p:cNvPr id="63" name="Connector 62"/>
            <p:cNvCxnSpPr/>
            <p:nvPr/>
          </p:nvCxnSpPr>
          <p:spPr>
            <a:xfrm>
              <a:off x="7123176" y="1984248"/>
              <a:ext cx="201168" cy="0"/>
            </a:xfrm>
            <a:prstGeom prst="line">
              <a:avLst/>
            </a:prstGeom>
            <a:ln w="28575">
              <a:solidFill>
                <a:srgbClr val="F28C28"/>
              </a:solidFill>
              <a:tailEnd type="triangle" w="lg" len="lg"/>
            </a:ln>
          </p:spPr>
        </p:cxnSp>
        <p:cxnSp>
          <p:nvCxnSpPr>
            <p:cNvPr id="64" name="Connector 63"/>
            <p:cNvCxnSpPr/>
            <p:nvPr/>
          </p:nvCxnSpPr>
          <p:spPr>
            <a:xfrm>
              <a:off x="9390888" y="1984248"/>
              <a:ext cx="201168" cy="0"/>
            </a:xfrm>
            <a:prstGeom prst="line">
              <a:avLst/>
            </a:prstGeom>
            <a:ln w="28575">
              <a:solidFill>
                <a:srgbClr val="F28C28"/>
              </a:solidFill>
              <a:tailEnd type="triangle" w="lg" len="lg"/>
            </a:ln>
          </p:spPr>
        </p:cxnSp>
        <p:cxnSp>
          <p:nvCxnSpPr>
            <p:cNvPr id="65" name="Connector 64"/>
            <p:cNvCxnSpPr/>
            <p:nvPr/>
          </p:nvCxnSpPr>
          <p:spPr>
            <a:xfrm>
              <a:off x="10625328" y="2679192"/>
              <a:ext cx="0" cy="265176"/>
            </a:xfrm>
            <a:prstGeom prst="line">
              <a:avLst/>
            </a:prstGeom>
            <a:ln w="28575">
              <a:solidFill>
                <a:srgbClr val="F28C28"/>
              </a:solidFill>
              <a:tailEnd type="triangle" w="lg" len="lg"/>
            </a:ln>
          </p:spPr>
        </p:cxnSp>
        <p:cxnSp>
          <p:nvCxnSpPr>
            <p:cNvPr id="66" name="Connector 65"/>
            <p:cNvCxnSpPr/>
            <p:nvPr/>
          </p:nvCxnSpPr>
          <p:spPr>
            <a:xfrm flipH="1">
              <a:off x="9390888" y="3630168"/>
              <a:ext cx="201168" cy="0"/>
            </a:xfrm>
            <a:prstGeom prst="line">
              <a:avLst/>
            </a:prstGeom>
            <a:ln w="28575">
              <a:solidFill>
                <a:srgbClr val="F28C28"/>
              </a:solidFill>
              <a:tailEnd type="triangle" w="lg" len="lg"/>
            </a:ln>
          </p:spPr>
        </p:cxnSp>
        <p:cxnSp>
          <p:nvCxnSpPr>
            <p:cNvPr id="67" name="Connector 66"/>
            <p:cNvCxnSpPr/>
            <p:nvPr/>
          </p:nvCxnSpPr>
          <p:spPr>
            <a:xfrm flipH="1">
              <a:off x="7123176" y="3630168"/>
              <a:ext cx="201168" cy="0"/>
            </a:xfrm>
            <a:prstGeom prst="line">
              <a:avLst/>
            </a:prstGeom>
            <a:ln w="28575">
              <a:solidFill>
                <a:srgbClr val="F28C28"/>
              </a:solidFill>
              <a:tailEnd type="triangle" w="lg" len="lg"/>
            </a:ln>
          </p:spPr>
        </p:cxnSp>
        <p:cxnSp>
          <p:nvCxnSpPr>
            <p:cNvPr id="68" name="Connector 67"/>
            <p:cNvCxnSpPr/>
            <p:nvPr/>
          </p:nvCxnSpPr>
          <p:spPr>
            <a:xfrm flipH="1">
              <a:off x="4855464" y="3630168"/>
              <a:ext cx="201168" cy="0"/>
            </a:xfrm>
            <a:prstGeom prst="line">
              <a:avLst/>
            </a:prstGeom>
            <a:ln w="28575">
              <a:solidFill>
                <a:srgbClr val="F28C28"/>
              </a:solidFill>
              <a:tailEnd type="triangle" w="lg" len="lg"/>
            </a:ln>
          </p:spPr>
        </p:cxnSp>
      </p:grpSp>
      <p:grpSp>
        <p:nvGrpSpPr>
          <p:cNvPr id="69" name="Stop time" descr="Qualitative stop-time bars: a long stop for empty tanks, a short stop for a small top-up. Rates and times are proposed or provisional."/>
          <p:cNvGrpSpPr/>
          <p:nvPr/>
        </p:nvGrpSpPr>
        <p:grpSpPr>
          <a:xfrm>
            <a:off x="676656" y="4480560"/>
            <a:ext cx="7644384" cy="594360"/>
            <a:chOff x="676656" y="4480560"/>
            <a:chExt cx="7644384" cy="594360"/>
          </a:xfrm>
        </p:grpSpPr>
        <p:sp>
          <p:nvSpPr>
            <p:cNvPr id="70" name="Oval 69"/>
            <p:cNvSpPr/>
            <p:nvPr/>
          </p:nvSpPr>
          <p:spPr>
            <a:xfrm>
              <a:off x="676656" y="4562856"/>
              <a:ext cx="384048" cy="384048"/>
            </a:xfrm>
            <a:prstGeom prst="ellipse">
              <a:avLst/>
            </a:prstGeom>
            <a:noFill/>
            <a:ln w="31750">
              <a:solidFill>
                <a:srgbClr val="F28C28"/>
              </a:solidFill>
            </a:ln>
          </p:spPr>
          <p:txBody>
            <a:bodyPr rtlCol="0" anchor="ctr"/>
            <a:lstStyle/>
            <a:p>
              <a:pPr algn="ctr"/>
            </a:p>
          </p:txBody>
        </p:sp>
        <p:cxnSp>
          <p:nvCxnSpPr>
            <p:cNvPr id="71" name="Connector 70"/>
            <p:cNvCxnSpPr/>
            <p:nvPr/>
          </p:nvCxnSpPr>
          <p:spPr>
            <a:xfrm flipV="1">
              <a:off x="868680" y="4626864"/>
              <a:ext cx="0" cy="128016"/>
            </a:xfrm>
            <a:prstGeom prst="line">
              <a:avLst/>
            </a:prstGeom>
            <a:ln w="25400">
              <a:solidFill>
                <a:srgbClr val="F2F2F2"/>
              </a:solidFill>
            </a:ln>
          </p:spPr>
        </p:cxnSp>
        <p:cxnSp>
          <p:nvCxnSpPr>
            <p:cNvPr id="72" name="Connector 71"/>
            <p:cNvCxnSpPr/>
            <p:nvPr/>
          </p:nvCxnSpPr>
          <p:spPr>
            <a:xfrm>
              <a:off x="868680" y="4754880"/>
              <a:ext cx="100584" cy="45720"/>
            </a:xfrm>
            <a:prstGeom prst="line">
              <a:avLst/>
            </a:prstGeom>
            <a:ln w="25400">
              <a:solidFill>
                <a:srgbClr val="F2F2F2"/>
              </a:solidFill>
            </a:ln>
          </p:spPr>
        </p:cxnSp>
        <p:sp>
          <p:nvSpPr>
            <p:cNvPr id="73" name="TextBox 72"/>
            <p:cNvSpPr txBox="1"/>
            <p:nvPr/>
          </p:nvSpPr>
          <p:spPr>
            <a:xfrm>
              <a:off x="1234440" y="4480560"/>
              <a:ext cx="1645920" cy="274320"/>
            </a:xfrm>
            <a:prstGeom prst="rect">
              <a:avLst/>
            </a:prstGeom>
            <a:noFill/>
          </p:spPr>
          <p:txBody>
            <a:bodyPr wrap="square" lIns="0" tIns="0" rIns="0" bIns="0" anchor="ctr">
              <a:noAutofit/>
            </a:bodyPr>
            <a:lstStyle/>
            <a:p>
              <a:pPr algn="l"/>
              <a:r>
                <a:rPr sz="1400" b="0" i="0" lang="en-GB">
                  <a:solidFill>
                    <a:srgbClr val="F2F2F2"/>
                  </a:solidFill>
                  <a:latin typeface="Arial"/>
                </a:rPr>
                <a:t>Empty tanks</a:t>
              </a:r>
            </a:p>
          </p:txBody>
        </p:sp>
        <p:sp>
          <p:nvSpPr>
            <p:cNvPr id="74" name="Rounded Rectangle 73"/>
            <p:cNvSpPr/>
            <p:nvPr/>
          </p:nvSpPr>
          <p:spPr>
            <a:xfrm>
              <a:off x="2834640" y="4526280"/>
              <a:ext cx="5486400" cy="182880"/>
            </a:xfrm>
            <a:prstGeom prst="roundRect">
              <a:avLst>
                <a:gd name="adj" fmla="val 20000"/>
              </a:avLst>
            </a:prstGeom>
            <a:solidFill>
              <a:srgbClr val="343A43"/>
            </a:solidFill>
            <a:ln>
              <a:noFill/>
            </a:ln>
          </p:spPr>
          <p:txBody>
            <a:bodyPr rtlCol="0" anchor="ctr"/>
            <a:lstStyle/>
            <a:p>
              <a:pPr algn="ctr"/>
            </a:p>
          </p:txBody>
        </p:sp>
        <p:sp>
          <p:nvSpPr>
            <p:cNvPr id="75" name="Rounded Rectangle 74"/>
            <p:cNvSpPr/>
            <p:nvPr/>
          </p:nvSpPr>
          <p:spPr>
            <a:xfrm>
              <a:off x="2834640" y="4526280"/>
              <a:ext cx="4937760" cy="182880"/>
            </a:xfrm>
            <a:prstGeom prst="roundRect">
              <a:avLst>
                <a:gd name="adj" fmla="val 20000"/>
              </a:avLst>
            </a:prstGeom>
            <a:solidFill>
              <a:srgbClr val="F28C28"/>
            </a:solidFill>
            <a:ln>
              <a:noFill/>
            </a:ln>
          </p:spPr>
          <p:txBody>
            <a:bodyPr rtlCol="0" anchor="ctr"/>
            <a:lstStyle/>
            <a:p>
              <a:pPr algn="ctr"/>
            </a:p>
          </p:txBody>
        </p:sp>
        <p:sp>
          <p:nvSpPr>
            <p:cNvPr id="76" name="TextBox 75"/>
            <p:cNvSpPr txBox="1"/>
            <p:nvPr/>
          </p:nvSpPr>
          <p:spPr>
            <a:xfrm>
              <a:off x="1234440" y="4800600"/>
              <a:ext cx="1645920" cy="274320"/>
            </a:xfrm>
            <a:prstGeom prst="rect">
              <a:avLst/>
            </a:prstGeom>
            <a:noFill/>
          </p:spPr>
          <p:txBody>
            <a:bodyPr wrap="square" lIns="0" tIns="0" rIns="0" bIns="0" anchor="ctr">
              <a:noAutofit/>
            </a:bodyPr>
            <a:lstStyle/>
            <a:p>
              <a:pPr algn="l"/>
              <a:r>
                <a:rPr sz="1400" b="0" i="0" lang="en-GB">
                  <a:solidFill>
                    <a:srgbClr val="F2F2F2"/>
                  </a:solidFill>
                  <a:latin typeface="Arial"/>
                </a:rPr>
                <a:t>Small top-up</a:t>
              </a:r>
            </a:p>
          </p:txBody>
        </p:sp>
        <p:sp>
          <p:nvSpPr>
            <p:cNvPr id="77" name="Rounded Rectangle 76"/>
            <p:cNvSpPr/>
            <p:nvPr/>
          </p:nvSpPr>
          <p:spPr>
            <a:xfrm>
              <a:off x="2834640" y="4846320"/>
              <a:ext cx="5486400" cy="182880"/>
            </a:xfrm>
            <a:prstGeom prst="roundRect">
              <a:avLst>
                <a:gd name="adj" fmla="val 20000"/>
              </a:avLst>
            </a:prstGeom>
            <a:solidFill>
              <a:srgbClr val="343A43"/>
            </a:solidFill>
            <a:ln>
              <a:noFill/>
            </a:ln>
          </p:spPr>
          <p:txBody>
            <a:bodyPr rtlCol="0" anchor="ctr"/>
            <a:lstStyle/>
            <a:p>
              <a:pPr algn="ctr"/>
            </a:p>
          </p:txBody>
        </p:sp>
        <p:sp>
          <p:nvSpPr>
            <p:cNvPr id="78" name="Rounded Rectangle 77"/>
            <p:cNvSpPr/>
            <p:nvPr/>
          </p:nvSpPr>
          <p:spPr>
            <a:xfrm>
              <a:off x="2834640" y="4846320"/>
              <a:ext cx="1188720" cy="182880"/>
            </a:xfrm>
            <a:prstGeom prst="roundRect">
              <a:avLst>
                <a:gd name="adj" fmla="val 20000"/>
              </a:avLst>
            </a:prstGeom>
            <a:solidFill>
              <a:srgbClr val="F28C28"/>
            </a:solidFill>
            <a:ln>
              <a:noFill/>
            </a:ln>
          </p:spPr>
          <p:txBody>
            <a:bodyPr rtlCol="0" anchor="ctr"/>
            <a:lstStyle/>
            <a:p>
              <a:pPr algn="ctr"/>
            </a:p>
          </p:txBody>
        </p:sp>
      </p:grpSp>
      <p:sp>
        <p:nvSpPr>
          <p:cNvPr id="79" name="TextBox 78"/>
          <p:cNvSpPr txBox="1"/>
          <p:nvPr/>
        </p:nvSpPr>
        <p:spPr>
          <a:xfrm>
            <a:off x="8549640" y="4462272"/>
            <a:ext cx="2011680" cy="292608"/>
          </a:xfrm>
          <a:prstGeom prst="rect">
            <a:avLst/>
          </a:prstGeom>
          <a:noFill/>
        </p:spPr>
        <p:txBody>
          <a:bodyPr wrap="square" lIns="0" tIns="0" rIns="0" bIns="0" anchor="ctr">
            <a:noAutofit/>
          </a:bodyPr>
          <a:lstStyle/>
          <a:p>
            <a:pPr algn="l"/>
            <a:r>
              <a:rPr sz="1400" b="0" i="0" lang="en-GB">
                <a:solidFill>
                  <a:srgbClr val="F2F2F2"/>
                </a:solidFill>
                <a:latin typeface="Arial"/>
              </a:rPr>
              <a:t>Rates and times:</a:t>
            </a:r>
          </a:p>
        </p:txBody>
      </p:sp>
      <p:sp>
        <p:nvSpPr>
          <p:cNvPr id="80" name="Inline chip Proposed"/>
          <p:cNvSpPr/>
          <p:nvPr/>
        </p:nvSpPr>
        <p:spPr>
          <a:xfrm>
            <a:off x="8549640" y="4773168"/>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81" name="Inline chip Provisional"/>
          <p:cNvSpPr/>
          <p:nvPr/>
        </p:nvSpPr>
        <p:spPr>
          <a:xfrm>
            <a:off x="10010140" y="4773168"/>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The machinery finds each engine's hatches. Servicing takes visible time. Then it folds away.</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STATIONS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26</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257"/>
                                  </p:stCondLst>
                                  <p:childTnLst>
                                    <p:set>
                                      <p:cBhvr>
                                        <p:cTn id="9" dur="1" fill="hold">
                                          <p:stCondLst>
                                            <p:cond delay="0"/>
                                          </p:stCondLst>
                                        </p:cTn>
                                        <p:tgtEl>
                                          <p:spTgt spid="69"/>
                                        </p:tgtEl>
                                        <p:attrNameLst>
                                          <p:attrName>style.visibility</p:attrName>
                                        </p:attrNameLst>
                                      </p:cBhvr>
                                      <p:to>
                                        <p:strVal val="visible"/>
                                      </p:to>
                                    </p:set>
                                    <p:animEffect transition="in" filter="fade">
                                      <p:cBhvr>
                                        <p:cTn id="10" dur="500"/>
                                        <p:tgtEl>
                                          <p:spTgt spid="69"/>
                                        </p:tgtEl>
                                      </p:cBhvr>
                                    </p:animEffect>
                                  </p:childTnLst>
                                </p:cTn>
                              </p:par>
                              <p:par>
                                <p:cTn id="11" presetID="10" presetClass="entr" presetSubtype="0" fill="hold" nodeType="withEffect">
                                  <p:stCondLst>
                                    <p:cond delay="514"/>
                                  </p:stCondLst>
                                  <p:childTnLst>
                                    <p:set>
                                      <p:cBhvr>
                                        <p:cTn id="12" dur="1" fill="hold">
                                          <p:stCondLst>
                                            <p:cond delay="0"/>
                                          </p:stCondLst>
                                        </p:cTn>
                                        <p:tgtEl>
                                          <p:spTgt spid="79"/>
                                        </p:tgtEl>
                                        <p:attrNameLst>
                                          <p:attrName>style.visibility</p:attrName>
                                        </p:attrNameLst>
                                      </p:cBhvr>
                                      <p:to>
                                        <p:strVal val="visible"/>
                                      </p:to>
                                    </p:set>
                                    <p:animEffect transition="in" filter="fade">
                                      <p:cBhvr>
                                        <p:cTn id="13" dur="500"/>
                                        <p:tgtEl>
                                          <p:spTgt spid="79"/>
                                        </p:tgtEl>
                                      </p:cBhvr>
                                    </p:animEffect>
                                  </p:childTnLst>
                                </p:cTn>
                              </p:par>
                              <p:par>
                                <p:cTn id="14" presetID="10" presetClass="entr" presetSubtype="0" fill="hold" nodeType="withEffect">
                                  <p:stCondLst>
                                    <p:cond delay="771"/>
                                  </p:stCondLst>
                                  <p:childTnLst>
                                    <p:set>
                                      <p:cBhvr>
                                        <p:cTn id="15" dur="1" fill="hold">
                                          <p:stCondLst>
                                            <p:cond delay="0"/>
                                          </p:stCondLst>
                                        </p:cTn>
                                        <p:tgtEl>
                                          <p:spTgt spid="80"/>
                                        </p:tgtEl>
                                        <p:attrNameLst>
                                          <p:attrName>style.visibility</p:attrName>
                                        </p:attrNameLst>
                                      </p:cBhvr>
                                      <p:to>
                                        <p:strVal val="visible"/>
                                      </p:to>
                                    </p:set>
                                    <p:animEffect transition="in" filter="fade">
                                      <p:cBhvr>
                                        <p:cTn id="16" dur="500"/>
                                        <p:tgtEl>
                                          <p:spTgt spid="80"/>
                                        </p:tgtEl>
                                      </p:cBhvr>
                                    </p:animEffect>
                                  </p:childTnLst>
                                </p:cTn>
                              </p:par>
                              <p:par>
                                <p:cTn id="17" presetID="10" presetClass="entr" presetSubtype="0" fill="hold" nodeType="withEffect">
                                  <p:stCondLst>
                                    <p:cond delay="1028"/>
                                  </p:stCondLst>
                                  <p:childTnLst>
                                    <p:set>
                                      <p:cBhvr>
                                        <p:cTn id="18" dur="1" fill="hold">
                                          <p:stCondLst>
                                            <p:cond delay="0"/>
                                          </p:stCondLst>
                                        </p:cTn>
                                        <p:tgtEl>
                                          <p:spTgt spid="81"/>
                                        </p:tgtEl>
                                        <p:attrNameLst>
                                          <p:attrName>style.visibility</p:attrName>
                                        </p:attrNameLst>
                                      </p:cBhvr>
                                      <p:to>
                                        <p:strVal val="visible"/>
                                      </p:to>
                                    </p:set>
                                    <p:animEffect transition="in" filter="fade">
                                      <p:cBhvr>
                                        <p:cTn id="19" dur="500"/>
                                        <p:tgtEl>
                                          <p:spTgt spid="81"/>
                                        </p:tgtEl>
                                      </p:cBhvr>
                                    </p:animEffect>
                                  </p:childTnLst>
                                </p:cTn>
                              </p:par>
                              <p:par>
                                <p:cTn id="20" presetID="10" presetClass="entr" presetSubtype="0" fill="hold" nodeType="withEffect">
                                  <p:stCondLst>
                                    <p:cond delay="1285"/>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par>
                                <p:cTn id="23" presetID="10" presetClass="entr" presetSubtype="0" fill="hold" nodeType="withEffect">
                                  <p:stCondLst>
                                    <p:cond delay="1542"/>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Service points</a:t>
            </a:r>
          </a:p>
        </p:txBody>
      </p:sp>
      <p:sp>
        <p:nvSpPr>
          <p:cNvPr id="3" name="Status chip"/>
          <p:cNvSpPr/>
          <p:nvPr/>
        </p:nvSpPr>
        <p:spPr>
          <a:xfrm>
            <a:off x="10088575" y="457200"/>
            <a:ext cx="1554480" cy="365760"/>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nvGrpSpPr>
          <p:cNvPr id="9" name="Service point types" descr="Four proposed service point types: water tower, coaling stage, steam service point with water and coal, and full station with platform, water, coal and signal box."/>
          <p:cNvGrpSpPr/>
          <p:nvPr/>
        </p:nvGrpSpPr>
        <p:grpSpPr>
          <a:xfrm>
            <a:off x="548640" y="1371600"/>
            <a:ext cx="11091672" cy="2194560"/>
            <a:chOff x="548640" y="1371600"/>
            <a:chExt cx="11091672" cy="2194560"/>
          </a:xfrm>
        </p:grpSpPr>
        <p:sp>
          <p:nvSpPr>
            <p:cNvPr id="10" name="Rounded Rectangle 9"/>
            <p:cNvSpPr/>
            <p:nvPr/>
          </p:nvSpPr>
          <p:spPr>
            <a:xfrm>
              <a:off x="548640" y="1371600"/>
              <a:ext cx="2560320" cy="2194560"/>
            </a:xfrm>
            <a:prstGeom prst="roundRect">
              <a:avLst>
                <a:gd name="adj" fmla="val 4166"/>
              </a:avLst>
            </a:prstGeom>
            <a:solidFill>
              <a:srgbClr val="2B2F36"/>
            </a:solidFill>
            <a:ln>
              <a:noFill/>
            </a:ln>
          </p:spPr>
          <p:txBody>
            <a:bodyPr rtlCol="0" anchor="ctr"/>
            <a:lstStyle/>
            <a:p>
              <a:pPr algn="ctr"/>
            </a:p>
          </p:txBody>
        </p:sp>
        <p:sp>
          <p:nvSpPr>
            <p:cNvPr id="11" name="Freeform 10"/>
            <p:cNvSpPr/>
            <p:nvPr/>
          </p:nvSpPr>
          <p:spPr>
            <a:xfrm>
              <a:off x="1648825" y="2080260"/>
              <a:ext cx="359950" cy="482803"/>
            </a:xfrm>
            <a:custGeom>
              <a:avLst/>
              <a:gdLst/>
              <a:ahLst/>
              <a:cxnLst/>
              <a:rect l="l" t="t" r="r" b="b"/>
              <a:pathLst>
                <a:path w="359950" h="482803">
                  <a:moveTo>
                    <a:pt x="9843" y="239829"/>
                  </a:moveTo>
                  <a:lnTo>
                    <a:pt x="0" y="282042"/>
                  </a:lnTo>
                  <a:lnTo>
                    <a:pt x="473" y="325384"/>
                  </a:lnTo>
                  <a:lnTo>
                    <a:pt x="11234" y="367372"/>
                  </a:lnTo>
                  <a:lnTo>
                    <a:pt x="31667" y="405599"/>
                  </a:lnTo>
                  <a:lnTo>
                    <a:pt x="60600" y="437873"/>
                  </a:lnTo>
                  <a:lnTo>
                    <a:pt x="96375" y="462346"/>
                  </a:lnTo>
                  <a:lnTo>
                    <a:pt x="136942" y="477615"/>
                  </a:lnTo>
                  <a:lnTo>
                    <a:pt x="179975" y="482803"/>
                  </a:lnTo>
                  <a:lnTo>
                    <a:pt x="223008" y="477615"/>
                  </a:lnTo>
                  <a:lnTo>
                    <a:pt x="263575" y="462346"/>
                  </a:lnTo>
                  <a:lnTo>
                    <a:pt x="299350" y="437873"/>
                  </a:lnTo>
                  <a:lnTo>
                    <a:pt x="328283" y="405599"/>
                  </a:lnTo>
                  <a:lnTo>
                    <a:pt x="348716" y="367372"/>
                  </a:lnTo>
                  <a:lnTo>
                    <a:pt x="359477" y="325384"/>
                  </a:lnTo>
                  <a:lnTo>
                    <a:pt x="359950" y="282042"/>
                  </a:lnTo>
                  <a:lnTo>
                    <a:pt x="350107" y="239829"/>
                  </a:lnTo>
                  <a:lnTo>
                    <a:pt x="179975" y="0"/>
                  </a:lnTo>
                  <a:close/>
                </a:path>
              </a:pathLst>
            </a:custGeom>
            <a:solidFill>
              <a:srgbClr val="4DA3FF"/>
            </a:solidFill>
            <a:ln>
              <a:noFill/>
            </a:ln>
          </p:spPr>
          <p:txBody>
            <a:bodyPr rtlCol="0" anchor="ctr"/>
            <a:lstStyle/>
            <a:p>
              <a:pPr algn="ctr"/>
            </a:p>
          </p:txBody>
        </p:sp>
        <p:sp>
          <p:nvSpPr>
            <p:cNvPr id="12" name="TextBox 11"/>
            <p:cNvSpPr txBox="1"/>
            <p:nvPr/>
          </p:nvSpPr>
          <p:spPr>
            <a:xfrm>
              <a:off x="640080"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Water Tower</a:t>
              </a:r>
            </a:p>
          </p:txBody>
        </p:sp>
        <p:sp>
          <p:nvSpPr>
            <p:cNvPr id="13" name="Inline chip Proposed"/>
            <p:cNvSpPr/>
            <p:nvPr/>
          </p:nvSpPr>
          <p:spPr>
            <a:xfrm>
              <a:off x="1648460" y="146304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4" name="Rounded Rectangle 13"/>
            <p:cNvSpPr/>
            <p:nvPr/>
          </p:nvSpPr>
          <p:spPr>
            <a:xfrm>
              <a:off x="3392424" y="1371600"/>
              <a:ext cx="2560320" cy="2194560"/>
            </a:xfrm>
            <a:prstGeom prst="roundRect">
              <a:avLst>
                <a:gd name="adj" fmla="val 4166"/>
              </a:avLst>
            </a:prstGeom>
            <a:solidFill>
              <a:srgbClr val="2B2F36"/>
            </a:solidFill>
            <a:ln>
              <a:noFill/>
            </a:ln>
          </p:spPr>
          <p:txBody>
            <a:bodyPr rtlCol="0" anchor="ctr"/>
            <a:lstStyle/>
            <a:p>
              <a:pPr algn="ctr"/>
            </a:p>
          </p:txBody>
        </p:sp>
        <p:sp>
          <p:nvSpPr>
            <p:cNvPr id="15" name="Freeform 14"/>
            <p:cNvSpPr/>
            <p:nvPr/>
          </p:nvSpPr>
          <p:spPr>
            <a:xfrm>
              <a:off x="4329684" y="2176272"/>
              <a:ext cx="685800" cy="384048"/>
            </a:xfrm>
            <a:custGeom>
              <a:avLst/>
              <a:gdLst/>
              <a:ahLst/>
              <a:cxnLst/>
              <a:rect l="l" t="t" r="r" b="b"/>
              <a:pathLst>
                <a:path w="685800" h="384048">
                  <a:moveTo>
                    <a:pt x="0" y="384048"/>
                  </a:moveTo>
                  <a:lnTo>
                    <a:pt x="123444" y="153619"/>
                  </a:lnTo>
                  <a:lnTo>
                    <a:pt x="260604" y="57607"/>
                  </a:lnTo>
                  <a:lnTo>
                    <a:pt x="377190" y="0"/>
                  </a:lnTo>
                  <a:lnTo>
                    <a:pt x="514350" y="115214"/>
                  </a:lnTo>
                  <a:lnTo>
                    <a:pt x="630936" y="230429"/>
                  </a:lnTo>
                  <a:lnTo>
                    <a:pt x="685800" y="384048"/>
                  </a:lnTo>
                  <a:close/>
                </a:path>
              </a:pathLst>
            </a:custGeom>
            <a:solidFill>
              <a:srgbClr val="1B1D21"/>
            </a:solidFill>
            <a:ln w="25400">
              <a:solidFill>
                <a:srgbClr val="6B7078"/>
              </a:solidFill>
            </a:ln>
          </p:spPr>
          <p:txBody>
            <a:bodyPr rtlCol="0" anchor="ctr"/>
            <a:lstStyle/>
            <a:p>
              <a:pPr algn="ctr"/>
            </a:p>
          </p:txBody>
        </p:sp>
        <p:sp>
          <p:nvSpPr>
            <p:cNvPr id="16" name="TextBox 15"/>
            <p:cNvSpPr txBox="1"/>
            <p:nvPr/>
          </p:nvSpPr>
          <p:spPr>
            <a:xfrm>
              <a:off x="3483864"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Coaling Stage</a:t>
              </a:r>
            </a:p>
          </p:txBody>
        </p:sp>
        <p:sp>
          <p:nvSpPr>
            <p:cNvPr id="17" name="Inline chip Proposed"/>
            <p:cNvSpPr/>
            <p:nvPr/>
          </p:nvSpPr>
          <p:spPr>
            <a:xfrm>
              <a:off x="4492244" y="146304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8" name="Rounded Rectangle 17"/>
            <p:cNvSpPr/>
            <p:nvPr/>
          </p:nvSpPr>
          <p:spPr>
            <a:xfrm>
              <a:off x="6236208" y="1371600"/>
              <a:ext cx="2560320" cy="2194560"/>
            </a:xfrm>
            <a:prstGeom prst="roundRect">
              <a:avLst>
                <a:gd name="adj" fmla="val 4166"/>
              </a:avLst>
            </a:prstGeom>
            <a:solidFill>
              <a:srgbClr val="2B2F36"/>
            </a:solidFill>
            <a:ln>
              <a:noFill/>
            </a:ln>
          </p:spPr>
          <p:txBody>
            <a:bodyPr rtlCol="0" anchor="ctr"/>
            <a:lstStyle/>
            <a:p>
              <a:pPr algn="ctr"/>
            </a:p>
          </p:txBody>
        </p:sp>
        <p:sp>
          <p:nvSpPr>
            <p:cNvPr id="19" name="Freeform 18"/>
            <p:cNvSpPr/>
            <p:nvPr/>
          </p:nvSpPr>
          <p:spPr>
            <a:xfrm>
              <a:off x="7016353" y="2080260"/>
              <a:ext cx="359950" cy="482803"/>
            </a:xfrm>
            <a:custGeom>
              <a:avLst/>
              <a:gdLst/>
              <a:ahLst/>
              <a:cxnLst/>
              <a:rect l="l" t="t" r="r" b="b"/>
              <a:pathLst>
                <a:path w="359950" h="482803">
                  <a:moveTo>
                    <a:pt x="9843" y="239829"/>
                  </a:moveTo>
                  <a:lnTo>
                    <a:pt x="0" y="282042"/>
                  </a:lnTo>
                  <a:lnTo>
                    <a:pt x="473" y="325384"/>
                  </a:lnTo>
                  <a:lnTo>
                    <a:pt x="11234" y="367372"/>
                  </a:lnTo>
                  <a:lnTo>
                    <a:pt x="31667" y="405599"/>
                  </a:lnTo>
                  <a:lnTo>
                    <a:pt x="60600" y="437873"/>
                  </a:lnTo>
                  <a:lnTo>
                    <a:pt x="96375" y="462346"/>
                  </a:lnTo>
                  <a:lnTo>
                    <a:pt x="136942" y="477615"/>
                  </a:lnTo>
                  <a:lnTo>
                    <a:pt x="179975" y="482803"/>
                  </a:lnTo>
                  <a:lnTo>
                    <a:pt x="223008" y="477615"/>
                  </a:lnTo>
                  <a:lnTo>
                    <a:pt x="263575" y="462346"/>
                  </a:lnTo>
                  <a:lnTo>
                    <a:pt x="299350" y="437873"/>
                  </a:lnTo>
                  <a:lnTo>
                    <a:pt x="328283" y="405599"/>
                  </a:lnTo>
                  <a:lnTo>
                    <a:pt x="348716" y="367372"/>
                  </a:lnTo>
                  <a:lnTo>
                    <a:pt x="359477" y="325384"/>
                  </a:lnTo>
                  <a:lnTo>
                    <a:pt x="359950" y="282042"/>
                  </a:lnTo>
                  <a:lnTo>
                    <a:pt x="350107" y="239829"/>
                  </a:lnTo>
                  <a:lnTo>
                    <a:pt x="179975" y="0"/>
                  </a:lnTo>
                  <a:close/>
                </a:path>
              </a:pathLst>
            </a:custGeom>
            <a:solidFill>
              <a:srgbClr val="4DA3FF"/>
            </a:solidFill>
            <a:ln>
              <a:noFill/>
            </a:ln>
          </p:spPr>
          <p:txBody>
            <a:bodyPr rtlCol="0" anchor="ctr"/>
            <a:lstStyle/>
            <a:p>
              <a:pPr algn="ctr"/>
            </a:p>
          </p:txBody>
        </p:sp>
        <p:sp>
          <p:nvSpPr>
            <p:cNvPr id="20" name="Freeform 19"/>
            <p:cNvSpPr/>
            <p:nvPr/>
          </p:nvSpPr>
          <p:spPr>
            <a:xfrm>
              <a:off x="7493508" y="2176272"/>
              <a:ext cx="685800" cy="384048"/>
            </a:xfrm>
            <a:custGeom>
              <a:avLst/>
              <a:gdLst/>
              <a:ahLst/>
              <a:cxnLst/>
              <a:rect l="l" t="t" r="r" b="b"/>
              <a:pathLst>
                <a:path w="685800" h="384048">
                  <a:moveTo>
                    <a:pt x="0" y="384048"/>
                  </a:moveTo>
                  <a:lnTo>
                    <a:pt x="123444" y="153619"/>
                  </a:lnTo>
                  <a:lnTo>
                    <a:pt x="260604" y="57607"/>
                  </a:lnTo>
                  <a:lnTo>
                    <a:pt x="377190" y="0"/>
                  </a:lnTo>
                  <a:lnTo>
                    <a:pt x="514350" y="115214"/>
                  </a:lnTo>
                  <a:lnTo>
                    <a:pt x="630936" y="230429"/>
                  </a:lnTo>
                  <a:lnTo>
                    <a:pt x="685800" y="384048"/>
                  </a:lnTo>
                  <a:close/>
                </a:path>
              </a:pathLst>
            </a:custGeom>
            <a:solidFill>
              <a:srgbClr val="1B1D21"/>
            </a:solidFill>
            <a:ln w="25400">
              <a:solidFill>
                <a:srgbClr val="6B7078"/>
              </a:solidFill>
            </a:ln>
          </p:spPr>
          <p:txBody>
            <a:bodyPr rtlCol="0" anchor="ctr"/>
            <a:lstStyle/>
            <a:p>
              <a:pPr algn="ctr"/>
            </a:p>
          </p:txBody>
        </p:sp>
        <p:sp>
          <p:nvSpPr>
            <p:cNvPr id="21" name="TextBox 20"/>
            <p:cNvSpPr txBox="1"/>
            <p:nvPr/>
          </p:nvSpPr>
          <p:spPr>
            <a:xfrm>
              <a:off x="6327648"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Steam Service Point</a:t>
              </a:r>
            </a:p>
          </p:txBody>
        </p:sp>
        <p:sp>
          <p:nvSpPr>
            <p:cNvPr id="22" name="Inline chip Proposed"/>
            <p:cNvSpPr/>
            <p:nvPr/>
          </p:nvSpPr>
          <p:spPr>
            <a:xfrm>
              <a:off x="7336028" y="146304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23" name="Rounded Rectangle 22"/>
            <p:cNvSpPr/>
            <p:nvPr/>
          </p:nvSpPr>
          <p:spPr>
            <a:xfrm>
              <a:off x="9079992" y="1371600"/>
              <a:ext cx="2560320" cy="2194560"/>
            </a:xfrm>
            <a:prstGeom prst="roundRect">
              <a:avLst>
                <a:gd name="adj" fmla="val 4166"/>
              </a:avLst>
            </a:prstGeom>
            <a:solidFill>
              <a:srgbClr val="2B2F36"/>
            </a:solidFill>
            <a:ln>
              <a:noFill/>
            </a:ln>
          </p:spPr>
          <p:txBody>
            <a:bodyPr rtlCol="0" anchor="ctr"/>
            <a:lstStyle/>
            <a:p>
              <a:pPr algn="ctr"/>
            </a:p>
          </p:txBody>
        </p:sp>
        <p:sp>
          <p:nvSpPr>
            <p:cNvPr id="24" name="Freeform 23"/>
            <p:cNvSpPr/>
            <p:nvPr/>
          </p:nvSpPr>
          <p:spPr>
            <a:xfrm>
              <a:off x="9860137" y="2080260"/>
              <a:ext cx="359950" cy="482803"/>
            </a:xfrm>
            <a:custGeom>
              <a:avLst/>
              <a:gdLst/>
              <a:ahLst/>
              <a:cxnLst/>
              <a:rect l="l" t="t" r="r" b="b"/>
              <a:pathLst>
                <a:path w="359950" h="482803">
                  <a:moveTo>
                    <a:pt x="9843" y="239829"/>
                  </a:moveTo>
                  <a:lnTo>
                    <a:pt x="0" y="282042"/>
                  </a:lnTo>
                  <a:lnTo>
                    <a:pt x="473" y="325384"/>
                  </a:lnTo>
                  <a:lnTo>
                    <a:pt x="11234" y="367372"/>
                  </a:lnTo>
                  <a:lnTo>
                    <a:pt x="31667" y="405599"/>
                  </a:lnTo>
                  <a:lnTo>
                    <a:pt x="60600" y="437873"/>
                  </a:lnTo>
                  <a:lnTo>
                    <a:pt x="96375" y="462346"/>
                  </a:lnTo>
                  <a:lnTo>
                    <a:pt x="136942" y="477615"/>
                  </a:lnTo>
                  <a:lnTo>
                    <a:pt x="179975" y="482803"/>
                  </a:lnTo>
                  <a:lnTo>
                    <a:pt x="223008" y="477615"/>
                  </a:lnTo>
                  <a:lnTo>
                    <a:pt x="263575" y="462346"/>
                  </a:lnTo>
                  <a:lnTo>
                    <a:pt x="299350" y="437873"/>
                  </a:lnTo>
                  <a:lnTo>
                    <a:pt x="328283" y="405599"/>
                  </a:lnTo>
                  <a:lnTo>
                    <a:pt x="348716" y="367372"/>
                  </a:lnTo>
                  <a:lnTo>
                    <a:pt x="359477" y="325384"/>
                  </a:lnTo>
                  <a:lnTo>
                    <a:pt x="359950" y="282042"/>
                  </a:lnTo>
                  <a:lnTo>
                    <a:pt x="350107" y="239829"/>
                  </a:lnTo>
                  <a:lnTo>
                    <a:pt x="179975" y="0"/>
                  </a:lnTo>
                  <a:close/>
                </a:path>
              </a:pathLst>
            </a:custGeom>
            <a:solidFill>
              <a:srgbClr val="4DA3FF"/>
            </a:solidFill>
            <a:ln>
              <a:noFill/>
            </a:ln>
          </p:spPr>
          <p:txBody>
            <a:bodyPr rtlCol="0" anchor="ctr"/>
            <a:lstStyle/>
            <a:p>
              <a:pPr algn="ctr"/>
            </a:p>
          </p:txBody>
        </p:sp>
        <p:sp>
          <p:nvSpPr>
            <p:cNvPr id="25" name="Freeform 24"/>
            <p:cNvSpPr/>
            <p:nvPr/>
          </p:nvSpPr>
          <p:spPr>
            <a:xfrm>
              <a:off x="10337292" y="2176272"/>
              <a:ext cx="685800" cy="384048"/>
            </a:xfrm>
            <a:custGeom>
              <a:avLst/>
              <a:gdLst/>
              <a:ahLst/>
              <a:cxnLst/>
              <a:rect l="l" t="t" r="r" b="b"/>
              <a:pathLst>
                <a:path w="685800" h="384048">
                  <a:moveTo>
                    <a:pt x="0" y="384048"/>
                  </a:moveTo>
                  <a:lnTo>
                    <a:pt x="123444" y="153619"/>
                  </a:lnTo>
                  <a:lnTo>
                    <a:pt x="260604" y="57607"/>
                  </a:lnTo>
                  <a:lnTo>
                    <a:pt x="377190" y="0"/>
                  </a:lnTo>
                  <a:lnTo>
                    <a:pt x="514350" y="115214"/>
                  </a:lnTo>
                  <a:lnTo>
                    <a:pt x="630936" y="230429"/>
                  </a:lnTo>
                  <a:lnTo>
                    <a:pt x="685800" y="384048"/>
                  </a:lnTo>
                  <a:close/>
                </a:path>
              </a:pathLst>
            </a:custGeom>
            <a:solidFill>
              <a:srgbClr val="1B1D21"/>
            </a:solidFill>
            <a:ln w="25400">
              <a:solidFill>
                <a:srgbClr val="6B7078"/>
              </a:solidFill>
            </a:ln>
          </p:spPr>
          <p:txBody>
            <a:bodyPr rtlCol="0" anchor="ctr"/>
            <a:lstStyle/>
            <a:p>
              <a:pPr algn="ctr"/>
            </a:p>
          </p:txBody>
        </p:sp>
        <p:sp>
          <p:nvSpPr>
            <p:cNvPr id="26" name="Rectangle 25"/>
            <p:cNvSpPr/>
            <p:nvPr/>
          </p:nvSpPr>
          <p:spPr>
            <a:xfrm>
              <a:off x="9537192" y="2715768"/>
              <a:ext cx="1645920" cy="128016"/>
            </a:xfrm>
            <a:prstGeom prst="rect">
              <a:avLst/>
            </a:prstGeom>
            <a:solidFill>
              <a:srgbClr val="9AA0A6"/>
            </a:solidFill>
            <a:ln>
              <a:noFill/>
            </a:ln>
          </p:spPr>
          <p:txBody>
            <a:bodyPr rtlCol="0" anchor="ctr"/>
            <a:lstStyle/>
            <a:p>
              <a:pPr algn="ctr"/>
            </a:p>
          </p:txBody>
        </p:sp>
        <p:sp>
          <p:nvSpPr>
            <p:cNvPr id="27" name="Freeform 26"/>
            <p:cNvSpPr/>
            <p:nvPr/>
          </p:nvSpPr>
          <p:spPr>
            <a:xfrm>
              <a:off x="10835640" y="2079346"/>
              <a:ext cx="566928" cy="115214"/>
            </a:xfrm>
            <a:custGeom>
              <a:avLst/>
              <a:gdLst/>
              <a:ahLst/>
              <a:cxnLst/>
              <a:rect l="l" t="t" r="r" b="b"/>
              <a:pathLst>
                <a:path w="566928" h="115214">
                  <a:moveTo>
                    <a:pt x="0" y="115214"/>
                  </a:moveTo>
                  <a:lnTo>
                    <a:pt x="283464" y="0"/>
                  </a:lnTo>
                  <a:lnTo>
                    <a:pt x="566928" y="115214"/>
                  </a:lnTo>
                  <a:close/>
                </a:path>
              </a:pathLst>
            </a:custGeom>
            <a:solidFill>
              <a:srgbClr val="4A515B"/>
            </a:solidFill>
            <a:ln w="19050">
              <a:solidFill>
                <a:srgbClr val="F28C28"/>
              </a:solidFill>
            </a:ln>
          </p:spPr>
          <p:txBody>
            <a:bodyPr rtlCol="0" anchor="ctr"/>
            <a:lstStyle/>
            <a:p>
              <a:pPr algn="ctr"/>
            </a:p>
          </p:txBody>
        </p:sp>
        <p:sp>
          <p:nvSpPr>
            <p:cNvPr id="28" name="Rectangle 27"/>
            <p:cNvSpPr/>
            <p:nvPr/>
          </p:nvSpPr>
          <p:spPr>
            <a:xfrm>
              <a:off x="10927080" y="2194560"/>
              <a:ext cx="384048" cy="384048"/>
            </a:xfrm>
            <a:prstGeom prst="rect">
              <a:avLst/>
            </a:prstGeom>
            <a:solidFill>
              <a:srgbClr val="2B2F36"/>
            </a:solidFill>
            <a:ln w="19050">
              <a:solidFill>
                <a:srgbClr val="F28C28"/>
              </a:solidFill>
            </a:ln>
          </p:spPr>
          <p:txBody>
            <a:bodyPr rtlCol="0" anchor="ctr"/>
            <a:lstStyle/>
            <a:p>
              <a:pPr algn="ctr"/>
            </a:p>
          </p:txBody>
        </p:sp>
        <p:sp>
          <p:nvSpPr>
            <p:cNvPr id="29" name="TextBox 28"/>
            <p:cNvSpPr txBox="1"/>
            <p:nvPr/>
          </p:nvSpPr>
          <p:spPr>
            <a:xfrm>
              <a:off x="9171432"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Full Station</a:t>
              </a:r>
            </a:p>
          </p:txBody>
        </p:sp>
        <p:sp>
          <p:nvSpPr>
            <p:cNvPr id="30" name="Inline chip Proposed"/>
            <p:cNvSpPr/>
            <p:nvPr/>
          </p:nvSpPr>
          <p:spPr>
            <a:xfrm>
              <a:off x="10179812" y="146304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grpSp>
        <p:nvGrpSpPr>
          <p:cNvPr id="31" name="Route" descr="A route from a mine to a factory with a water stop and a water and coal stop on the way; a train is at the water stop."/>
          <p:cNvGrpSpPr/>
          <p:nvPr/>
        </p:nvGrpSpPr>
        <p:grpSpPr>
          <a:xfrm>
            <a:off x="0" y="3702406"/>
            <a:ext cx="12115800" cy="1244498"/>
            <a:chOff x="0" y="3702406"/>
            <a:chExt cx="12115800" cy="1244498"/>
          </a:xfrm>
        </p:grpSpPr>
        <p:cxnSp>
          <p:nvCxnSpPr>
            <p:cNvPr id="32" name="Connector 31"/>
            <p:cNvCxnSpPr/>
            <p:nvPr/>
          </p:nvCxnSpPr>
          <p:spPr>
            <a:xfrm>
              <a:off x="914400" y="4343400"/>
              <a:ext cx="10332720" cy="0"/>
            </a:xfrm>
            <a:prstGeom prst="line">
              <a:avLst/>
            </a:prstGeom>
            <a:ln w="63500">
              <a:solidFill>
                <a:srgbClr val="9AA0A6"/>
              </a:solidFill>
            </a:ln>
          </p:spPr>
        </p:cxnSp>
        <p:sp>
          <p:nvSpPr>
            <p:cNvPr id="33" name="Oval 32"/>
            <p:cNvSpPr/>
            <p:nvPr/>
          </p:nvSpPr>
          <p:spPr>
            <a:xfrm>
              <a:off x="1024128" y="4178808"/>
              <a:ext cx="329184" cy="329184"/>
            </a:xfrm>
            <a:prstGeom prst="ellipse">
              <a:avLst/>
            </a:prstGeom>
            <a:solidFill>
              <a:srgbClr val="1E2126"/>
            </a:solidFill>
            <a:ln w="38100">
              <a:solidFill>
                <a:srgbClr val="F28C28"/>
              </a:solidFill>
            </a:ln>
          </p:spPr>
          <p:txBody>
            <a:bodyPr rtlCol="0" anchor="ctr"/>
            <a:lstStyle/>
            <a:p>
              <a:pPr algn="ctr"/>
            </a:p>
          </p:txBody>
        </p:sp>
        <p:sp>
          <p:nvSpPr>
            <p:cNvPr id="34" name="TextBox 33"/>
            <p:cNvSpPr txBox="1"/>
            <p:nvPr/>
          </p:nvSpPr>
          <p:spPr>
            <a:xfrm>
              <a:off x="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Mine</a:t>
              </a:r>
            </a:p>
          </p:txBody>
        </p:sp>
        <p:sp>
          <p:nvSpPr>
            <p:cNvPr id="35" name="Oval 34"/>
            <p:cNvSpPr/>
            <p:nvPr/>
          </p:nvSpPr>
          <p:spPr>
            <a:xfrm>
              <a:off x="4178808" y="4178808"/>
              <a:ext cx="329184" cy="329184"/>
            </a:xfrm>
            <a:prstGeom prst="ellipse">
              <a:avLst/>
            </a:prstGeom>
            <a:solidFill>
              <a:srgbClr val="1E2126"/>
            </a:solidFill>
            <a:ln w="38100">
              <a:solidFill>
                <a:srgbClr val="F28C28"/>
              </a:solidFill>
            </a:ln>
          </p:spPr>
          <p:txBody>
            <a:bodyPr rtlCol="0" anchor="ctr"/>
            <a:lstStyle/>
            <a:p>
              <a:pPr algn="ctr"/>
            </a:p>
          </p:txBody>
        </p:sp>
        <p:sp>
          <p:nvSpPr>
            <p:cNvPr id="36" name="TextBox 35"/>
            <p:cNvSpPr txBox="1"/>
            <p:nvPr/>
          </p:nvSpPr>
          <p:spPr>
            <a:xfrm>
              <a:off x="315468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Water stop</a:t>
              </a:r>
            </a:p>
          </p:txBody>
        </p:sp>
        <p:sp>
          <p:nvSpPr>
            <p:cNvPr id="37" name="Oval 36"/>
            <p:cNvSpPr/>
            <p:nvPr/>
          </p:nvSpPr>
          <p:spPr>
            <a:xfrm>
              <a:off x="7333488" y="4178808"/>
              <a:ext cx="329184" cy="329184"/>
            </a:xfrm>
            <a:prstGeom prst="ellipse">
              <a:avLst/>
            </a:prstGeom>
            <a:solidFill>
              <a:srgbClr val="1E2126"/>
            </a:solidFill>
            <a:ln w="38100">
              <a:solidFill>
                <a:srgbClr val="F28C28"/>
              </a:solidFill>
            </a:ln>
          </p:spPr>
          <p:txBody>
            <a:bodyPr rtlCol="0" anchor="ctr"/>
            <a:lstStyle/>
            <a:p>
              <a:pPr algn="ctr"/>
            </a:p>
          </p:txBody>
        </p:sp>
        <p:sp>
          <p:nvSpPr>
            <p:cNvPr id="38" name="TextBox 37"/>
            <p:cNvSpPr txBox="1"/>
            <p:nvPr/>
          </p:nvSpPr>
          <p:spPr>
            <a:xfrm>
              <a:off x="630936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Water and coal stop</a:t>
              </a:r>
            </a:p>
          </p:txBody>
        </p:sp>
        <p:sp>
          <p:nvSpPr>
            <p:cNvPr id="39" name="Oval 38"/>
            <p:cNvSpPr/>
            <p:nvPr/>
          </p:nvSpPr>
          <p:spPr>
            <a:xfrm>
              <a:off x="10762488" y="4178808"/>
              <a:ext cx="329184" cy="329184"/>
            </a:xfrm>
            <a:prstGeom prst="ellipse">
              <a:avLst/>
            </a:prstGeom>
            <a:solidFill>
              <a:srgbClr val="1E2126"/>
            </a:solidFill>
            <a:ln w="38100">
              <a:solidFill>
                <a:srgbClr val="F28C28"/>
              </a:solidFill>
            </a:ln>
          </p:spPr>
          <p:txBody>
            <a:bodyPr rtlCol="0" anchor="ctr"/>
            <a:lstStyle/>
            <a:p>
              <a:pPr algn="ctr"/>
            </a:p>
          </p:txBody>
        </p:sp>
        <p:sp>
          <p:nvSpPr>
            <p:cNvPr id="40" name="TextBox 39"/>
            <p:cNvSpPr txBox="1"/>
            <p:nvPr/>
          </p:nvSpPr>
          <p:spPr>
            <a:xfrm>
              <a:off x="973836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Factory</a:t>
              </a:r>
            </a:p>
          </p:txBody>
        </p:sp>
        <p:grpSp>
          <p:nvGrpSpPr>
            <p:cNvPr id="41" name="Train at water stop" descr="A steam train: an engine pulling wagons."/>
            <p:cNvGrpSpPr/>
            <p:nvPr/>
          </p:nvGrpSpPr>
          <p:grpSpPr>
            <a:xfrm>
              <a:off x="3429000" y="3702406"/>
              <a:ext cx="1203350" cy="595274"/>
              <a:chOff x="3429000" y="3702406"/>
              <a:chExt cx="1203350" cy="595274"/>
            </a:xfrm>
          </p:grpSpPr>
          <p:sp>
            <p:nvSpPr>
              <p:cNvPr id="42" name="Rectangle 41"/>
              <p:cNvSpPr/>
              <p:nvPr/>
            </p:nvSpPr>
            <p:spPr>
              <a:xfrm>
                <a:off x="3429000" y="3932834"/>
                <a:ext cx="512064" cy="288036"/>
              </a:xfrm>
              <a:prstGeom prst="rect">
                <a:avLst/>
              </a:prstGeom>
              <a:solidFill>
                <a:srgbClr val="6C7480"/>
              </a:solidFill>
              <a:ln w="9525">
                <a:solidFill>
                  <a:srgbClr val="101418"/>
                </a:solidFill>
              </a:ln>
            </p:spPr>
            <p:txBody>
              <a:bodyPr rtlCol="0" anchor="ctr"/>
              <a:lstStyle/>
              <a:p>
                <a:pPr algn="ctr"/>
              </a:p>
            </p:txBody>
          </p:sp>
          <p:sp>
            <p:nvSpPr>
              <p:cNvPr id="43" name="Oval 42"/>
              <p:cNvSpPr/>
              <p:nvPr/>
            </p:nvSpPr>
            <p:spPr>
              <a:xfrm>
                <a:off x="3493008" y="4169664"/>
                <a:ext cx="128016" cy="128016"/>
              </a:xfrm>
              <a:prstGeom prst="ellipse">
                <a:avLst/>
              </a:prstGeom>
              <a:solidFill>
                <a:srgbClr val="1B1D21"/>
              </a:solidFill>
              <a:ln w="12700">
                <a:solidFill>
                  <a:srgbClr val="9AA0A6"/>
                </a:solidFill>
              </a:ln>
            </p:spPr>
            <p:txBody>
              <a:bodyPr rtlCol="0" anchor="ctr"/>
              <a:lstStyle/>
              <a:p>
                <a:pPr algn="ctr"/>
              </a:p>
            </p:txBody>
          </p:sp>
          <p:sp>
            <p:nvSpPr>
              <p:cNvPr id="44" name="Oval 43"/>
              <p:cNvSpPr/>
              <p:nvPr/>
            </p:nvSpPr>
            <p:spPr>
              <a:xfrm>
                <a:off x="3749040" y="4169664"/>
                <a:ext cx="128016" cy="128016"/>
              </a:xfrm>
              <a:prstGeom prst="ellipse">
                <a:avLst/>
              </a:prstGeom>
              <a:solidFill>
                <a:srgbClr val="1B1D21"/>
              </a:solidFill>
              <a:ln w="12700">
                <a:solidFill>
                  <a:srgbClr val="9AA0A6"/>
                </a:solidFill>
              </a:ln>
            </p:spPr>
            <p:txBody>
              <a:bodyPr rtlCol="0" anchor="ctr"/>
              <a:lstStyle/>
              <a:p>
                <a:pPr algn="ctr"/>
              </a:p>
            </p:txBody>
          </p:sp>
          <p:sp>
            <p:nvSpPr>
              <p:cNvPr id="45" name="Rectangle 44"/>
              <p:cNvSpPr/>
              <p:nvPr/>
            </p:nvSpPr>
            <p:spPr>
              <a:xfrm>
                <a:off x="3941064" y="4137660"/>
                <a:ext cx="51206" cy="32004"/>
              </a:xfrm>
              <a:prstGeom prst="rect">
                <a:avLst/>
              </a:prstGeom>
              <a:solidFill>
                <a:srgbClr val="9AA0A6"/>
              </a:solidFill>
              <a:ln>
                <a:noFill/>
              </a:ln>
            </p:spPr>
            <p:txBody>
              <a:bodyPr rtlCol="0" anchor="ctr"/>
              <a:lstStyle/>
              <a:p>
                <a:pPr algn="ctr"/>
              </a:p>
            </p:txBody>
          </p:sp>
          <p:sp>
            <p:nvSpPr>
              <p:cNvPr id="46" name="Rectangle 45"/>
              <p:cNvSpPr/>
              <p:nvPr/>
            </p:nvSpPr>
            <p:spPr>
              <a:xfrm>
                <a:off x="3992270" y="3881628"/>
                <a:ext cx="640080" cy="352044"/>
              </a:xfrm>
              <a:prstGeom prst="rect">
                <a:avLst/>
              </a:prstGeom>
              <a:solidFill>
                <a:srgbClr val="F28C28"/>
              </a:solidFill>
              <a:ln w="9525">
                <a:solidFill>
                  <a:srgbClr val="101418"/>
                </a:solidFill>
              </a:ln>
            </p:spPr>
            <p:txBody>
              <a:bodyPr rtlCol="0" anchor="ctr"/>
              <a:lstStyle/>
              <a:p>
                <a:pPr algn="ctr"/>
              </a:p>
            </p:txBody>
          </p:sp>
          <p:sp>
            <p:nvSpPr>
              <p:cNvPr id="47" name="Bunker"/>
              <p:cNvSpPr/>
              <p:nvPr/>
            </p:nvSpPr>
            <p:spPr>
              <a:xfrm>
                <a:off x="4011473" y="3900830"/>
                <a:ext cx="166421" cy="128016"/>
              </a:xfrm>
              <a:prstGeom prst="rect">
                <a:avLst/>
              </a:prstGeom>
              <a:solidFill>
                <a:srgbClr val="1B1D21"/>
              </a:solidFill>
              <a:ln>
                <a:noFill/>
              </a:ln>
            </p:spPr>
            <p:txBody>
              <a:bodyPr rtlCol="0" anchor="ctr"/>
              <a:lstStyle/>
              <a:p>
                <a:pPr algn="ctr"/>
              </a:p>
            </p:txBody>
          </p:sp>
          <p:sp>
            <p:nvSpPr>
              <p:cNvPr id="48" name="Rectangle 47"/>
              <p:cNvSpPr/>
              <p:nvPr/>
            </p:nvSpPr>
            <p:spPr>
              <a:xfrm>
                <a:off x="4209898" y="3926434"/>
                <a:ext cx="89611" cy="89611"/>
              </a:xfrm>
              <a:prstGeom prst="rect">
                <a:avLst/>
              </a:prstGeom>
              <a:solidFill>
                <a:srgbClr val="2B2F36"/>
              </a:solidFill>
              <a:ln>
                <a:noFill/>
              </a:ln>
            </p:spPr>
            <p:txBody>
              <a:bodyPr rtlCol="0" anchor="ctr"/>
              <a:lstStyle/>
              <a:p>
                <a:pPr algn="ctr"/>
              </a:p>
            </p:txBody>
          </p:sp>
          <p:sp>
            <p:nvSpPr>
              <p:cNvPr id="49" name="Chimney"/>
              <p:cNvSpPr/>
              <p:nvPr/>
            </p:nvSpPr>
            <p:spPr>
              <a:xfrm>
                <a:off x="4491533" y="3702406"/>
                <a:ext cx="96012" cy="192024"/>
              </a:xfrm>
              <a:prstGeom prst="rect">
                <a:avLst/>
              </a:prstGeom>
              <a:solidFill>
                <a:srgbClr val="1B1D21"/>
              </a:solidFill>
              <a:ln>
                <a:noFill/>
              </a:ln>
            </p:spPr>
            <p:txBody>
              <a:bodyPr rtlCol="0" anchor="ctr"/>
              <a:lstStyle/>
              <a:p>
                <a:pPr algn="ctr"/>
              </a:p>
            </p:txBody>
          </p:sp>
          <p:sp>
            <p:nvSpPr>
              <p:cNvPr id="50" name="Oval 49"/>
              <p:cNvSpPr/>
              <p:nvPr/>
            </p:nvSpPr>
            <p:spPr>
              <a:xfrm>
                <a:off x="4056278" y="4169664"/>
                <a:ext cx="128016" cy="128016"/>
              </a:xfrm>
              <a:prstGeom prst="ellipse">
                <a:avLst/>
              </a:prstGeom>
              <a:solidFill>
                <a:srgbClr val="1B1D21"/>
              </a:solidFill>
              <a:ln w="12700">
                <a:solidFill>
                  <a:srgbClr val="9AA0A6"/>
                </a:solidFill>
              </a:ln>
            </p:spPr>
            <p:txBody>
              <a:bodyPr rtlCol="0" anchor="ctr"/>
              <a:lstStyle/>
              <a:p>
                <a:pPr algn="ctr"/>
              </a:p>
            </p:txBody>
          </p:sp>
          <p:sp>
            <p:nvSpPr>
              <p:cNvPr id="51" name="Oval 50"/>
              <p:cNvSpPr/>
              <p:nvPr/>
            </p:nvSpPr>
            <p:spPr>
              <a:xfrm>
                <a:off x="4248302" y="4169664"/>
                <a:ext cx="128016" cy="128016"/>
              </a:xfrm>
              <a:prstGeom prst="ellipse">
                <a:avLst/>
              </a:prstGeom>
              <a:solidFill>
                <a:srgbClr val="1B1D21"/>
              </a:solidFill>
              <a:ln w="12700">
                <a:solidFill>
                  <a:srgbClr val="9AA0A6"/>
                </a:solidFill>
              </a:ln>
            </p:spPr>
            <p:txBody>
              <a:bodyPr rtlCol="0" anchor="ctr"/>
              <a:lstStyle/>
              <a:p>
                <a:pPr algn="ctr"/>
              </a:p>
            </p:txBody>
          </p:sp>
          <p:sp>
            <p:nvSpPr>
              <p:cNvPr id="52" name="Oval 51"/>
              <p:cNvSpPr/>
              <p:nvPr/>
            </p:nvSpPr>
            <p:spPr>
              <a:xfrm>
                <a:off x="4440326" y="4169664"/>
                <a:ext cx="128016" cy="128016"/>
              </a:xfrm>
              <a:prstGeom prst="ellipse">
                <a:avLst/>
              </a:prstGeom>
              <a:solidFill>
                <a:srgbClr val="1B1D21"/>
              </a:solidFill>
              <a:ln w="12700">
                <a:solidFill>
                  <a:srgbClr val="9AA0A6"/>
                </a:solidFill>
              </a:ln>
            </p:spPr>
            <p:txBody>
              <a:bodyPr rtlCol="0" anchor="ctr"/>
              <a:lstStyle/>
              <a:p>
                <a:pPr algn="ctr"/>
              </a:p>
            </p:txBody>
          </p:sp>
        </p:gr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487170" bIns="27432">
            <a:noAutofit/>
          </a:bodyPr>
          <a:lstStyle/>
          <a:p>
            <a:pPr algn="l"/>
            <a:r>
              <a:rPr sz="2000" b="0" i="0" lang="en-GB">
                <a:solidFill>
                  <a:srgbClr val="F2F2F2"/>
                </a:solidFill>
                <a:latin typeface="Arial"/>
              </a:rPr>
              <a:t>Separate coal and water stops make long routes possible. Not every stop needs a full station.</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8" name="Inline chip Agreed"/>
          <p:cNvSpPr/>
          <p:nvPr/>
        </p:nvSpPr>
        <p:spPr>
          <a:xfrm>
            <a:off x="10336022" y="5833872"/>
            <a:ext cx="112141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STATIONS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27</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nodeType="withEffect">
                                  <p:stCondLst>
                                    <p:cond delay="30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6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nodeType="withEffect">
                                  <p:stCondLst>
                                    <p:cond delay="9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nodeType="withEffect">
                                  <p:stCondLst>
                                    <p:cond delay="12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Blocks: one train at a time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Block diagram" descr="Track split into four blocks, A to D, by three signals. A train occupies block B, so the signal at its entrance shows STOP and a second train waits in block A. Blocks C and D are free and their signals show CLEAR."/>
          <p:cNvGrpSpPr/>
          <p:nvPr/>
        </p:nvGrpSpPr>
        <p:grpSpPr>
          <a:xfrm>
            <a:off x="731520" y="1673352"/>
            <a:ext cx="10698480" cy="2651760"/>
            <a:chOff x="731520" y="1673352"/>
            <a:chExt cx="10698480" cy="2651760"/>
          </a:xfrm>
        </p:grpSpPr>
        <p:sp>
          <p:nvSpPr>
            <p:cNvPr id="9" name="Rectangle 8"/>
            <p:cNvSpPr/>
            <p:nvPr/>
          </p:nvSpPr>
          <p:spPr>
            <a:xfrm>
              <a:off x="932688" y="3282696"/>
              <a:ext cx="54864" cy="365760"/>
            </a:xfrm>
            <a:prstGeom prst="rect">
              <a:avLst/>
            </a:prstGeom>
            <a:solidFill>
              <a:srgbClr val="6B5B4B"/>
            </a:solidFill>
            <a:ln>
              <a:noFill/>
            </a:ln>
          </p:spPr>
          <p:txBody>
            <a:bodyPr rtlCol="0" anchor="ctr"/>
            <a:lstStyle/>
            <a:p>
              <a:pPr algn="ctr"/>
            </a:p>
          </p:txBody>
        </p:sp>
        <p:sp>
          <p:nvSpPr>
            <p:cNvPr id="10" name="Rectangle 9"/>
            <p:cNvSpPr/>
            <p:nvPr/>
          </p:nvSpPr>
          <p:spPr>
            <a:xfrm>
              <a:off x="1252728" y="3282696"/>
              <a:ext cx="54864" cy="365760"/>
            </a:xfrm>
            <a:prstGeom prst="rect">
              <a:avLst/>
            </a:prstGeom>
            <a:solidFill>
              <a:srgbClr val="6B5B4B"/>
            </a:solidFill>
            <a:ln>
              <a:noFill/>
            </a:ln>
          </p:spPr>
          <p:txBody>
            <a:bodyPr rtlCol="0" anchor="ctr"/>
            <a:lstStyle/>
            <a:p>
              <a:pPr algn="ctr"/>
            </a:p>
          </p:txBody>
        </p:sp>
        <p:sp>
          <p:nvSpPr>
            <p:cNvPr id="11" name="Rectangle 10"/>
            <p:cNvSpPr/>
            <p:nvPr/>
          </p:nvSpPr>
          <p:spPr>
            <a:xfrm>
              <a:off x="1572768" y="3282696"/>
              <a:ext cx="54864" cy="365760"/>
            </a:xfrm>
            <a:prstGeom prst="rect">
              <a:avLst/>
            </a:prstGeom>
            <a:solidFill>
              <a:srgbClr val="6B5B4B"/>
            </a:solidFill>
            <a:ln>
              <a:noFill/>
            </a:ln>
          </p:spPr>
          <p:txBody>
            <a:bodyPr rtlCol="0" anchor="ctr"/>
            <a:lstStyle/>
            <a:p>
              <a:pPr algn="ctr"/>
            </a:p>
          </p:txBody>
        </p:sp>
        <p:sp>
          <p:nvSpPr>
            <p:cNvPr id="12" name="Rectangle 11"/>
            <p:cNvSpPr/>
            <p:nvPr/>
          </p:nvSpPr>
          <p:spPr>
            <a:xfrm>
              <a:off x="1892808" y="3282696"/>
              <a:ext cx="54864" cy="365760"/>
            </a:xfrm>
            <a:prstGeom prst="rect">
              <a:avLst/>
            </a:prstGeom>
            <a:solidFill>
              <a:srgbClr val="6B5B4B"/>
            </a:solidFill>
            <a:ln>
              <a:noFill/>
            </a:ln>
          </p:spPr>
          <p:txBody>
            <a:bodyPr rtlCol="0" anchor="ctr"/>
            <a:lstStyle/>
            <a:p>
              <a:pPr algn="ctr"/>
            </a:p>
          </p:txBody>
        </p:sp>
        <p:sp>
          <p:nvSpPr>
            <p:cNvPr id="13" name="Rectangle 12"/>
            <p:cNvSpPr/>
            <p:nvPr/>
          </p:nvSpPr>
          <p:spPr>
            <a:xfrm>
              <a:off x="2212848" y="3282696"/>
              <a:ext cx="54864" cy="365760"/>
            </a:xfrm>
            <a:prstGeom prst="rect">
              <a:avLst/>
            </a:prstGeom>
            <a:solidFill>
              <a:srgbClr val="6B5B4B"/>
            </a:solidFill>
            <a:ln>
              <a:noFill/>
            </a:ln>
          </p:spPr>
          <p:txBody>
            <a:bodyPr rtlCol="0" anchor="ctr"/>
            <a:lstStyle/>
            <a:p>
              <a:pPr algn="ctr"/>
            </a:p>
          </p:txBody>
        </p:sp>
        <p:sp>
          <p:nvSpPr>
            <p:cNvPr id="14" name="Rectangle 13"/>
            <p:cNvSpPr/>
            <p:nvPr/>
          </p:nvSpPr>
          <p:spPr>
            <a:xfrm>
              <a:off x="2532888" y="3282696"/>
              <a:ext cx="54864" cy="365760"/>
            </a:xfrm>
            <a:prstGeom prst="rect">
              <a:avLst/>
            </a:prstGeom>
            <a:solidFill>
              <a:srgbClr val="6B5B4B"/>
            </a:solidFill>
            <a:ln>
              <a:noFill/>
            </a:ln>
          </p:spPr>
          <p:txBody>
            <a:bodyPr rtlCol="0" anchor="ctr"/>
            <a:lstStyle/>
            <a:p>
              <a:pPr algn="ctr"/>
            </a:p>
          </p:txBody>
        </p:sp>
        <p:sp>
          <p:nvSpPr>
            <p:cNvPr id="15" name="Rectangle 14"/>
            <p:cNvSpPr/>
            <p:nvPr/>
          </p:nvSpPr>
          <p:spPr>
            <a:xfrm>
              <a:off x="2852928" y="3282696"/>
              <a:ext cx="54864" cy="365760"/>
            </a:xfrm>
            <a:prstGeom prst="rect">
              <a:avLst/>
            </a:prstGeom>
            <a:solidFill>
              <a:srgbClr val="6B5B4B"/>
            </a:solidFill>
            <a:ln>
              <a:noFill/>
            </a:ln>
          </p:spPr>
          <p:txBody>
            <a:bodyPr rtlCol="0" anchor="ctr"/>
            <a:lstStyle/>
            <a:p>
              <a:pPr algn="ctr"/>
            </a:p>
          </p:txBody>
        </p:sp>
        <p:sp>
          <p:nvSpPr>
            <p:cNvPr id="16" name="Rectangle 15"/>
            <p:cNvSpPr/>
            <p:nvPr/>
          </p:nvSpPr>
          <p:spPr>
            <a:xfrm>
              <a:off x="3172968" y="3282696"/>
              <a:ext cx="54864" cy="365760"/>
            </a:xfrm>
            <a:prstGeom prst="rect">
              <a:avLst/>
            </a:prstGeom>
            <a:solidFill>
              <a:srgbClr val="6B5B4B"/>
            </a:solidFill>
            <a:ln>
              <a:noFill/>
            </a:ln>
          </p:spPr>
          <p:txBody>
            <a:bodyPr rtlCol="0" anchor="ctr"/>
            <a:lstStyle/>
            <a:p>
              <a:pPr algn="ctr"/>
            </a:p>
          </p:txBody>
        </p:sp>
        <p:sp>
          <p:nvSpPr>
            <p:cNvPr id="17" name="Rectangle 16"/>
            <p:cNvSpPr/>
            <p:nvPr/>
          </p:nvSpPr>
          <p:spPr>
            <a:xfrm>
              <a:off x="3493008" y="3282696"/>
              <a:ext cx="54864" cy="365760"/>
            </a:xfrm>
            <a:prstGeom prst="rect">
              <a:avLst/>
            </a:prstGeom>
            <a:solidFill>
              <a:srgbClr val="6B5B4B"/>
            </a:solidFill>
            <a:ln>
              <a:noFill/>
            </a:ln>
          </p:spPr>
          <p:txBody>
            <a:bodyPr rtlCol="0" anchor="ctr"/>
            <a:lstStyle/>
            <a:p>
              <a:pPr algn="ctr"/>
            </a:p>
          </p:txBody>
        </p:sp>
        <p:sp>
          <p:nvSpPr>
            <p:cNvPr id="18" name="Rectangle 17"/>
            <p:cNvSpPr/>
            <p:nvPr/>
          </p:nvSpPr>
          <p:spPr>
            <a:xfrm>
              <a:off x="3813048" y="3282696"/>
              <a:ext cx="54864" cy="365760"/>
            </a:xfrm>
            <a:prstGeom prst="rect">
              <a:avLst/>
            </a:prstGeom>
            <a:solidFill>
              <a:srgbClr val="6B5B4B"/>
            </a:solidFill>
            <a:ln>
              <a:noFill/>
            </a:ln>
          </p:spPr>
          <p:txBody>
            <a:bodyPr rtlCol="0" anchor="ctr"/>
            <a:lstStyle/>
            <a:p>
              <a:pPr algn="ctr"/>
            </a:p>
          </p:txBody>
        </p:sp>
        <p:sp>
          <p:nvSpPr>
            <p:cNvPr id="19" name="Rectangle 18"/>
            <p:cNvSpPr/>
            <p:nvPr/>
          </p:nvSpPr>
          <p:spPr>
            <a:xfrm>
              <a:off x="4133088" y="3282696"/>
              <a:ext cx="54864" cy="365760"/>
            </a:xfrm>
            <a:prstGeom prst="rect">
              <a:avLst/>
            </a:prstGeom>
            <a:solidFill>
              <a:srgbClr val="6B5B4B"/>
            </a:solidFill>
            <a:ln>
              <a:noFill/>
            </a:ln>
          </p:spPr>
          <p:txBody>
            <a:bodyPr rtlCol="0" anchor="ctr"/>
            <a:lstStyle/>
            <a:p>
              <a:pPr algn="ctr"/>
            </a:p>
          </p:txBody>
        </p:sp>
        <p:sp>
          <p:nvSpPr>
            <p:cNvPr id="20" name="Rectangle 19"/>
            <p:cNvSpPr/>
            <p:nvPr/>
          </p:nvSpPr>
          <p:spPr>
            <a:xfrm>
              <a:off x="4453128" y="3282696"/>
              <a:ext cx="54864" cy="365760"/>
            </a:xfrm>
            <a:prstGeom prst="rect">
              <a:avLst/>
            </a:prstGeom>
            <a:solidFill>
              <a:srgbClr val="6B5B4B"/>
            </a:solidFill>
            <a:ln>
              <a:noFill/>
            </a:ln>
          </p:spPr>
          <p:txBody>
            <a:bodyPr rtlCol="0" anchor="ctr"/>
            <a:lstStyle/>
            <a:p>
              <a:pPr algn="ctr"/>
            </a:p>
          </p:txBody>
        </p:sp>
        <p:sp>
          <p:nvSpPr>
            <p:cNvPr id="21" name="Rectangle 20"/>
            <p:cNvSpPr/>
            <p:nvPr/>
          </p:nvSpPr>
          <p:spPr>
            <a:xfrm>
              <a:off x="4773168" y="3282696"/>
              <a:ext cx="54864" cy="365760"/>
            </a:xfrm>
            <a:prstGeom prst="rect">
              <a:avLst/>
            </a:prstGeom>
            <a:solidFill>
              <a:srgbClr val="6B5B4B"/>
            </a:solidFill>
            <a:ln>
              <a:noFill/>
            </a:ln>
          </p:spPr>
          <p:txBody>
            <a:bodyPr rtlCol="0" anchor="ctr"/>
            <a:lstStyle/>
            <a:p>
              <a:pPr algn="ctr"/>
            </a:p>
          </p:txBody>
        </p:sp>
        <p:sp>
          <p:nvSpPr>
            <p:cNvPr id="22" name="Rectangle 21"/>
            <p:cNvSpPr/>
            <p:nvPr/>
          </p:nvSpPr>
          <p:spPr>
            <a:xfrm>
              <a:off x="5093208" y="3282696"/>
              <a:ext cx="54864" cy="365760"/>
            </a:xfrm>
            <a:prstGeom prst="rect">
              <a:avLst/>
            </a:prstGeom>
            <a:solidFill>
              <a:srgbClr val="6B5B4B"/>
            </a:solidFill>
            <a:ln>
              <a:noFill/>
            </a:ln>
          </p:spPr>
          <p:txBody>
            <a:bodyPr rtlCol="0" anchor="ctr"/>
            <a:lstStyle/>
            <a:p>
              <a:pPr algn="ctr"/>
            </a:p>
          </p:txBody>
        </p:sp>
        <p:sp>
          <p:nvSpPr>
            <p:cNvPr id="23" name="Rectangle 22"/>
            <p:cNvSpPr/>
            <p:nvPr/>
          </p:nvSpPr>
          <p:spPr>
            <a:xfrm>
              <a:off x="5413248" y="3282696"/>
              <a:ext cx="54864" cy="365760"/>
            </a:xfrm>
            <a:prstGeom prst="rect">
              <a:avLst/>
            </a:prstGeom>
            <a:solidFill>
              <a:srgbClr val="6B5B4B"/>
            </a:solidFill>
            <a:ln>
              <a:noFill/>
            </a:ln>
          </p:spPr>
          <p:txBody>
            <a:bodyPr rtlCol="0" anchor="ctr"/>
            <a:lstStyle/>
            <a:p>
              <a:pPr algn="ctr"/>
            </a:p>
          </p:txBody>
        </p:sp>
        <p:sp>
          <p:nvSpPr>
            <p:cNvPr id="24" name="Rectangle 23"/>
            <p:cNvSpPr/>
            <p:nvPr/>
          </p:nvSpPr>
          <p:spPr>
            <a:xfrm>
              <a:off x="5733288" y="3282696"/>
              <a:ext cx="54864" cy="365760"/>
            </a:xfrm>
            <a:prstGeom prst="rect">
              <a:avLst/>
            </a:prstGeom>
            <a:solidFill>
              <a:srgbClr val="6B5B4B"/>
            </a:solidFill>
            <a:ln>
              <a:noFill/>
            </a:ln>
          </p:spPr>
          <p:txBody>
            <a:bodyPr rtlCol="0" anchor="ctr"/>
            <a:lstStyle/>
            <a:p>
              <a:pPr algn="ctr"/>
            </a:p>
          </p:txBody>
        </p:sp>
        <p:sp>
          <p:nvSpPr>
            <p:cNvPr id="25" name="Rectangle 24"/>
            <p:cNvSpPr/>
            <p:nvPr/>
          </p:nvSpPr>
          <p:spPr>
            <a:xfrm>
              <a:off x="6053328" y="3282696"/>
              <a:ext cx="54864" cy="365760"/>
            </a:xfrm>
            <a:prstGeom prst="rect">
              <a:avLst/>
            </a:prstGeom>
            <a:solidFill>
              <a:srgbClr val="6B5B4B"/>
            </a:solidFill>
            <a:ln>
              <a:noFill/>
            </a:ln>
          </p:spPr>
          <p:txBody>
            <a:bodyPr rtlCol="0" anchor="ctr"/>
            <a:lstStyle/>
            <a:p>
              <a:pPr algn="ctr"/>
            </a:p>
          </p:txBody>
        </p:sp>
        <p:sp>
          <p:nvSpPr>
            <p:cNvPr id="26" name="Rectangle 25"/>
            <p:cNvSpPr/>
            <p:nvPr/>
          </p:nvSpPr>
          <p:spPr>
            <a:xfrm>
              <a:off x="6373368" y="3282696"/>
              <a:ext cx="54864" cy="365760"/>
            </a:xfrm>
            <a:prstGeom prst="rect">
              <a:avLst/>
            </a:prstGeom>
            <a:solidFill>
              <a:srgbClr val="6B5B4B"/>
            </a:solidFill>
            <a:ln>
              <a:noFill/>
            </a:ln>
          </p:spPr>
          <p:txBody>
            <a:bodyPr rtlCol="0" anchor="ctr"/>
            <a:lstStyle/>
            <a:p>
              <a:pPr algn="ctr"/>
            </a:p>
          </p:txBody>
        </p:sp>
        <p:sp>
          <p:nvSpPr>
            <p:cNvPr id="27" name="Rectangle 26"/>
            <p:cNvSpPr/>
            <p:nvPr/>
          </p:nvSpPr>
          <p:spPr>
            <a:xfrm>
              <a:off x="6693408" y="3282696"/>
              <a:ext cx="54864" cy="365760"/>
            </a:xfrm>
            <a:prstGeom prst="rect">
              <a:avLst/>
            </a:prstGeom>
            <a:solidFill>
              <a:srgbClr val="6B5B4B"/>
            </a:solidFill>
            <a:ln>
              <a:noFill/>
            </a:ln>
          </p:spPr>
          <p:txBody>
            <a:bodyPr rtlCol="0" anchor="ctr"/>
            <a:lstStyle/>
            <a:p>
              <a:pPr algn="ctr"/>
            </a:p>
          </p:txBody>
        </p:sp>
        <p:sp>
          <p:nvSpPr>
            <p:cNvPr id="28" name="Rectangle 27"/>
            <p:cNvSpPr/>
            <p:nvPr/>
          </p:nvSpPr>
          <p:spPr>
            <a:xfrm>
              <a:off x="7013448" y="3282696"/>
              <a:ext cx="54864" cy="365760"/>
            </a:xfrm>
            <a:prstGeom prst="rect">
              <a:avLst/>
            </a:prstGeom>
            <a:solidFill>
              <a:srgbClr val="6B5B4B"/>
            </a:solidFill>
            <a:ln>
              <a:noFill/>
            </a:ln>
          </p:spPr>
          <p:txBody>
            <a:bodyPr rtlCol="0" anchor="ctr"/>
            <a:lstStyle/>
            <a:p>
              <a:pPr algn="ctr"/>
            </a:p>
          </p:txBody>
        </p:sp>
        <p:sp>
          <p:nvSpPr>
            <p:cNvPr id="29" name="Rectangle 28"/>
            <p:cNvSpPr/>
            <p:nvPr/>
          </p:nvSpPr>
          <p:spPr>
            <a:xfrm>
              <a:off x="7333488" y="3282696"/>
              <a:ext cx="54864" cy="365760"/>
            </a:xfrm>
            <a:prstGeom prst="rect">
              <a:avLst/>
            </a:prstGeom>
            <a:solidFill>
              <a:srgbClr val="6B5B4B"/>
            </a:solidFill>
            <a:ln>
              <a:noFill/>
            </a:ln>
          </p:spPr>
          <p:txBody>
            <a:bodyPr rtlCol="0" anchor="ctr"/>
            <a:lstStyle/>
            <a:p>
              <a:pPr algn="ctr"/>
            </a:p>
          </p:txBody>
        </p:sp>
        <p:sp>
          <p:nvSpPr>
            <p:cNvPr id="30" name="Rectangle 29"/>
            <p:cNvSpPr/>
            <p:nvPr/>
          </p:nvSpPr>
          <p:spPr>
            <a:xfrm>
              <a:off x="7653528" y="3282696"/>
              <a:ext cx="54864" cy="365760"/>
            </a:xfrm>
            <a:prstGeom prst="rect">
              <a:avLst/>
            </a:prstGeom>
            <a:solidFill>
              <a:srgbClr val="6B5B4B"/>
            </a:solidFill>
            <a:ln>
              <a:noFill/>
            </a:ln>
          </p:spPr>
          <p:txBody>
            <a:bodyPr rtlCol="0" anchor="ctr"/>
            <a:lstStyle/>
            <a:p>
              <a:pPr algn="ctr"/>
            </a:p>
          </p:txBody>
        </p:sp>
        <p:sp>
          <p:nvSpPr>
            <p:cNvPr id="31" name="Rectangle 30"/>
            <p:cNvSpPr/>
            <p:nvPr/>
          </p:nvSpPr>
          <p:spPr>
            <a:xfrm>
              <a:off x="7973568" y="3282696"/>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8293608" y="3282696"/>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8613648" y="3282696"/>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8933688" y="3282696"/>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9253728" y="3282696"/>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9573768" y="3282696"/>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9893808" y="3282696"/>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10213848" y="3282696"/>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10533888" y="3282696"/>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10853928" y="3282696"/>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11173968" y="3282696"/>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731520" y="3310128"/>
              <a:ext cx="10698480" cy="54864"/>
            </a:xfrm>
            <a:prstGeom prst="rect">
              <a:avLst/>
            </a:prstGeom>
            <a:solidFill>
              <a:srgbClr val="9AA0A6"/>
            </a:solidFill>
            <a:ln>
              <a:noFill/>
            </a:ln>
          </p:spPr>
          <p:txBody>
            <a:bodyPr rtlCol="0" anchor="ctr"/>
            <a:lstStyle/>
            <a:p>
              <a:pPr algn="ctr"/>
            </a:p>
          </p:txBody>
        </p:sp>
        <p:sp>
          <p:nvSpPr>
            <p:cNvPr id="43" name="Rectangle 42"/>
            <p:cNvSpPr/>
            <p:nvPr/>
          </p:nvSpPr>
          <p:spPr>
            <a:xfrm>
              <a:off x="731520" y="3566160"/>
              <a:ext cx="10698480" cy="54864"/>
            </a:xfrm>
            <a:prstGeom prst="rect">
              <a:avLst/>
            </a:prstGeom>
            <a:solidFill>
              <a:srgbClr val="9AA0A6"/>
            </a:solidFill>
            <a:ln>
              <a:noFill/>
            </a:ln>
          </p:spPr>
          <p:txBody>
            <a:bodyPr rtlCol="0" anchor="ctr"/>
            <a:lstStyle/>
            <a:p>
              <a:pPr algn="ctr"/>
            </a:p>
          </p:txBody>
        </p:sp>
        <p:sp>
          <p:nvSpPr>
            <p:cNvPr id="44" name="Rectangle 43"/>
            <p:cNvSpPr/>
            <p:nvPr/>
          </p:nvSpPr>
          <p:spPr>
            <a:xfrm>
              <a:off x="768096" y="3977640"/>
              <a:ext cx="2578608" cy="347472"/>
            </a:xfrm>
            <a:prstGeom prst="rect">
              <a:avLst/>
            </a:prstGeom>
            <a:solidFill>
              <a:srgbClr val="502B30"/>
            </a:solidFill>
            <a:ln w="19050">
              <a:solidFill>
                <a:srgbClr val="E5484D"/>
              </a:solidFill>
            </a:ln>
          </p:spPr>
          <p:txBody>
            <a:bodyPr rtlCol="0" anchor="ctr" wrap="square" lIns="36576" tIns="0" rIns="36576" bIns="0">
              <a:noAutofit/>
            </a:bodyPr>
            <a:lstStyle/>
            <a:p>
              <a:pPr algn="ctr"/>
              <a:r>
                <a:rPr sz="1600" b="1" i="0" lang="en-GB">
                  <a:solidFill>
                    <a:srgbClr val="F2F2F2"/>
                  </a:solidFill>
                  <a:latin typeface="Arial"/>
                </a:rPr>
                <a:t>Block A: occupied</a:t>
              </a:r>
            </a:p>
          </p:txBody>
        </p:sp>
        <p:sp>
          <p:nvSpPr>
            <p:cNvPr id="45" name="Rectangle 44"/>
            <p:cNvSpPr/>
            <p:nvPr/>
          </p:nvSpPr>
          <p:spPr>
            <a:xfrm>
              <a:off x="3419856" y="3977640"/>
              <a:ext cx="2670048" cy="347472"/>
            </a:xfrm>
            <a:prstGeom prst="rect">
              <a:avLst/>
            </a:prstGeom>
            <a:solidFill>
              <a:srgbClr val="502B30"/>
            </a:solidFill>
            <a:ln w="19050">
              <a:solidFill>
                <a:srgbClr val="E5484D"/>
              </a:solidFill>
            </a:ln>
          </p:spPr>
          <p:txBody>
            <a:bodyPr rtlCol="0" anchor="ctr" wrap="square" lIns="36576" tIns="0" rIns="36576" bIns="0">
              <a:noAutofit/>
            </a:bodyPr>
            <a:lstStyle/>
            <a:p>
              <a:pPr algn="ctr"/>
              <a:r>
                <a:rPr sz="1600" b="1" i="0" lang="en-GB">
                  <a:solidFill>
                    <a:srgbClr val="F2F2F2"/>
                  </a:solidFill>
                  <a:latin typeface="Arial"/>
                </a:rPr>
                <a:t>Block B: occupied</a:t>
              </a:r>
            </a:p>
          </p:txBody>
        </p:sp>
        <p:sp>
          <p:nvSpPr>
            <p:cNvPr id="46" name="Rectangle 45"/>
            <p:cNvSpPr/>
            <p:nvPr/>
          </p:nvSpPr>
          <p:spPr>
            <a:xfrm>
              <a:off x="6163056" y="3977640"/>
              <a:ext cx="2670048" cy="347472"/>
            </a:xfrm>
            <a:prstGeom prst="rect">
              <a:avLst/>
            </a:prstGeom>
            <a:solidFill>
              <a:srgbClr val="264730"/>
            </a:solidFill>
            <a:ln w="19050">
              <a:solidFill>
                <a:srgbClr val="3FB950"/>
              </a:solidFill>
            </a:ln>
          </p:spPr>
          <p:txBody>
            <a:bodyPr rtlCol="0" anchor="ctr" wrap="square" lIns="36576" tIns="0" rIns="36576" bIns="0">
              <a:noAutofit/>
            </a:bodyPr>
            <a:lstStyle/>
            <a:p>
              <a:pPr algn="ctr"/>
              <a:r>
                <a:rPr sz="1600" b="1" i="0" lang="en-GB">
                  <a:solidFill>
                    <a:srgbClr val="F2F2F2"/>
                  </a:solidFill>
                  <a:latin typeface="Arial"/>
                </a:rPr>
                <a:t>Block C: free</a:t>
              </a:r>
            </a:p>
          </p:txBody>
        </p:sp>
        <p:sp>
          <p:nvSpPr>
            <p:cNvPr id="47" name="Rectangle 46"/>
            <p:cNvSpPr/>
            <p:nvPr/>
          </p:nvSpPr>
          <p:spPr>
            <a:xfrm>
              <a:off x="8906256" y="3977640"/>
              <a:ext cx="2487168" cy="347472"/>
            </a:xfrm>
            <a:prstGeom prst="rect">
              <a:avLst/>
            </a:prstGeom>
            <a:solidFill>
              <a:srgbClr val="264730"/>
            </a:solidFill>
            <a:ln w="19050">
              <a:solidFill>
                <a:srgbClr val="3FB950"/>
              </a:solidFill>
            </a:ln>
          </p:spPr>
          <p:txBody>
            <a:bodyPr rtlCol="0" anchor="ctr" wrap="square" lIns="36576" tIns="0" rIns="36576" bIns="0">
              <a:noAutofit/>
            </a:bodyPr>
            <a:lstStyle/>
            <a:p>
              <a:pPr algn="ctr"/>
              <a:r>
                <a:rPr sz="1600" b="1" i="0" lang="en-GB">
                  <a:solidFill>
                    <a:srgbClr val="F2F2F2"/>
                  </a:solidFill>
                  <a:latin typeface="Arial"/>
                </a:rPr>
                <a:t>Block D: free</a:t>
              </a:r>
            </a:p>
          </p:txBody>
        </p:sp>
        <p:grpSp>
          <p:nvGrpSpPr>
            <p:cNvPr id="48" name="Train in block B" descr="A steam train: an engine pulling wagons."/>
            <p:cNvGrpSpPr/>
            <p:nvPr/>
          </p:nvGrpSpPr>
          <p:grpSpPr>
            <a:xfrm>
              <a:off x="3657600" y="2721334"/>
              <a:ext cx="1828800" cy="616226"/>
              <a:chOff x="3657600" y="2721334"/>
              <a:chExt cx="1828800" cy="616226"/>
            </a:xfrm>
          </p:grpSpPr>
          <p:sp>
            <p:nvSpPr>
              <p:cNvPr id="49" name="Rectangle 48"/>
              <p:cNvSpPr/>
              <p:nvPr/>
            </p:nvSpPr>
            <p:spPr>
              <a:xfrm>
                <a:off x="3657600" y="2959873"/>
                <a:ext cx="530087" cy="298174"/>
              </a:xfrm>
              <a:prstGeom prst="rect">
                <a:avLst/>
              </a:prstGeom>
              <a:solidFill>
                <a:srgbClr val="6C7480"/>
              </a:solidFill>
              <a:ln w="9525">
                <a:solidFill>
                  <a:srgbClr val="101418"/>
                </a:solidFill>
              </a:ln>
            </p:spPr>
            <p:txBody>
              <a:bodyPr rtlCol="0" anchor="ctr"/>
              <a:lstStyle/>
              <a:p>
                <a:pPr algn="ctr"/>
              </a:p>
            </p:txBody>
          </p:sp>
          <p:sp>
            <p:nvSpPr>
              <p:cNvPr id="50" name="Oval 49"/>
              <p:cNvSpPr/>
              <p:nvPr/>
            </p:nvSpPr>
            <p:spPr>
              <a:xfrm>
                <a:off x="3723861" y="3205038"/>
                <a:ext cx="132522" cy="132522"/>
              </a:xfrm>
              <a:prstGeom prst="ellipse">
                <a:avLst/>
              </a:prstGeom>
              <a:solidFill>
                <a:srgbClr val="1B1D21"/>
              </a:solidFill>
              <a:ln w="12700">
                <a:solidFill>
                  <a:srgbClr val="9AA0A6"/>
                </a:solidFill>
              </a:ln>
            </p:spPr>
            <p:txBody>
              <a:bodyPr rtlCol="0" anchor="ctr"/>
              <a:lstStyle/>
              <a:p>
                <a:pPr algn="ctr"/>
              </a:p>
            </p:txBody>
          </p:sp>
          <p:sp>
            <p:nvSpPr>
              <p:cNvPr id="51" name="Oval 50"/>
              <p:cNvSpPr/>
              <p:nvPr/>
            </p:nvSpPr>
            <p:spPr>
              <a:xfrm>
                <a:off x="3988904" y="3205038"/>
                <a:ext cx="132522" cy="132522"/>
              </a:xfrm>
              <a:prstGeom prst="ellipse">
                <a:avLst/>
              </a:prstGeom>
              <a:solidFill>
                <a:srgbClr val="1B1D21"/>
              </a:solidFill>
              <a:ln w="12700">
                <a:solidFill>
                  <a:srgbClr val="9AA0A6"/>
                </a:solidFill>
              </a:ln>
            </p:spPr>
            <p:txBody>
              <a:bodyPr rtlCol="0" anchor="ctr"/>
              <a:lstStyle/>
              <a:p>
                <a:pPr algn="ctr"/>
              </a:p>
            </p:txBody>
          </p:sp>
          <p:sp>
            <p:nvSpPr>
              <p:cNvPr id="52" name="Rectangle 51"/>
              <p:cNvSpPr/>
              <p:nvPr/>
            </p:nvSpPr>
            <p:spPr>
              <a:xfrm>
                <a:off x="4187687" y="3171908"/>
                <a:ext cx="53009" cy="33130"/>
              </a:xfrm>
              <a:prstGeom prst="rect">
                <a:avLst/>
              </a:prstGeom>
              <a:solidFill>
                <a:srgbClr val="9AA0A6"/>
              </a:solidFill>
              <a:ln>
                <a:noFill/>
              </a:ln>
            </p:spPr>
            <p:txBody>
              <a:bodyPr rtlCol="0" anchor="ctr"/>
              <a:lstStyle/>
              <a:p>
                <a:pPr algn="ctr"/>
              </a:p>
            </p:txBody>
          </p:sp>
          <p:sp>
            <p:nvSpPr>
              <p:cNvPr id="53" name="Rectangle 52"/>
              <p:cNvSpPr/>
              <p:nvPr/>
            </p:nvSpPr>
            <p:spPr>
              <a:xfrm>
                <a:off x="4240696" y="2959873"/>
                <a:ext cx="530087" cy="298174"/>
              </a:xfrm>
              <a:prstGeom prst="rect">
                <a:avLst/>
              </a:prstGeom>
              <a:solidFill>
                <a:srgbClr val="6C7480"/>
              </a:solidFill>
              <a:ln w="9525">
                <a:solidFill>
                  <a:srgbClr val="101418"/>
                </a:solidFill>
              </a:ln>
            </p:spPr>
            <p:txBody>
              <a:bodyPr rtlCol="0" anchor="ctr"/>
              <a:lstStyle/>
              <a:p>
                <a:pPr algn="ctr"/>
              </a:p>
            </p:txBody>
          </p:sp>
          <p:sp>
            <p:nvSpPr>
              <p:cNvPr id="54" name="Oval 53"/>
              <p:cNvSpPr/>
              <p:nvPr/>
            </p:nvSpPr>
            <p:spPr>
              <a:xfrm>
                <a:off x="4306957" y="3205038"/>
                <a:ext cx="132522" cy="132522"/>
              </a:xfrm>
              <a:prstGeom prst="ellipse">
                <a:avLst/>
              </a:prstGeom>
              <a:solidFill>
                <a:srgbClr val="1B1D21"/>
              </a:solidFill>
              <a:ln w="12700">
                <a:solidFill>
                  <a:srgbClr val="9AA0A6"/>
                </a:solidFill>
              </a:ln>
            </p:spPr>
            <p:txBody>
              <a:bodyPr rtlCol="0" anchor="ctr"/>
              <a:lstStyle/>
              <a:p>
                <a:pPr algn="ctr"/>
              </a:p>
            </p:txBody>
          </p:sp>
          <p:sp>
            <p:nvSpPr>
              <p:cNvPr id="55" name="Oval 54"/>
              <p:cNvSpPr/>
              <p:nvPr/>
            </p:nvSpPr>
            <p:spPr>
              <a:xfrm>
                <a:off x="4572000" y="3205038"/>
                <a:ext cx="132522" cy="132522"/>
              </a:xfrm>
              <a:prstGeom prst="ellipse">
                <a:avLst/>
              </a:prstGeom>
              <a:solidFill>
                <a:srgbClr val="1B1D21"/>
              </a:solidFill>
              <a:ln w="12700">
                <a:solidFill>
                  <a:srgbClr val="9AA0A6"/>
                </a:solidFill>
              </a:ln>
            </p:spPr>
            <p:txBody>
              <a:bodyPr rtlCol="0" anchor="ctr"/>
              <a:lstStyle/>
              <a:p>
                <a:pPr algn="ctr"/>
              </a:p>
            </p:txBody>
          </p:sp>
          <p:sp>
            <p:nvSpPr>
              <p:cNvPr id="56" name="Rectangle 55"/>
              <p:cNvSpPr/>
              <p:nvPr/>
            </p:nvSpPr>
            <p:spPr>
              <a:xfrm>
                <a:off x="4770783" y="3171908"/>
                <a:ext cx="53009" cy="33130"/>
              </a:xfrm>
              <a:prstGeom prst="rect">
                <a:avLst/>
              </a:prstGeom>
              <a:solidFill>
                <a:srgbClr val="9AA0A6"/>
              </a:solidFill>
              <a:ln>
                <a:noFill/>
              </a:ln>
            </p:spPr>
            <p:txBody>
              <a:bodyPr rtlCol="0" anchor="ctr"/>
              <a:lstStyle/>
              <a:p>
                <a:pPr algn="ctr"/>
              </a:p>
            </p:txBody>
          </p:sp>
          <p:sp>
            <p:nvSpPr>
              <p:cNvPr id="57" name="Rectangle 56"/>
              <p:cNvSpPr/>
              <p:nvPr/>
            </p:nvSpPr>
            <p:spPr>
              <a:xfrm>
                <a:off x="4823791" y="2906864"/>
                <a:ext cx="662609" cy="364435"/>
              </a:xfrm>
              <a:prstGeom prst="rect">
                <a:avLst/>
              </a:prstGeom>
              <a:solidFill>
                <a:srgbClr val="F28C28"/>
              </a:solidFill>
              <a:ln w="9525">
                <a:solidFill>
                  <a:srgbClr val="101418"/>
                </a:solidFill>
              </a:ln>
            </p:spPr>
            <p:txBody>
              <a:bodyPr rtlCol="0" anchor="ctr"/>
              <a:lstStyle/>
              <a:p>
                <a:pPr algn="ctr"/>
              </a:p>
            </p:txBody>
          </p:sp>
          <p:sp>
            <p:nvSpPr>
              <p:cNvPr id="58" name="Bunker"/>
              <p:cNvSpPr/>
              <p:nvPr/>
            </p:nvSpPr>
            <p:spPr>
              <a:xfrm>
                <a:off x="4843670" y="2926743"/>
                <a:ext cx="172278" cy="132522"/>
              </a:xfrm>
              <a:prstGeom prst="rect">
                <a:avLst/>
              </a:prstGeom>
              <a:solidFill>
                <a:srgbClr val="1B1D21"/>
              </a:solidFill>
              <a:ln>
                <a:noFill/>
              </a:ln>
            </p:spPr>
            <p:txBody>
              <a:bodyPr rtlCol="0" anchor="ctr"/>
              <a:lstStyle/>
              <a:p>
                <a:pPr algn="ctr"/>
              </a:p>
            </p:txBody>
          </p:sp>
          <p:sp>
            <p:nvSpPr>
              <p:cNvPr id="59" name="Rectangle 58"/>
              <p:cNvSpPr/>
              <p:nvPr/>
            </p:nvSpPr>
            <p:spPr>
              <a:xfrm>
                <a:off x="5049078" y="2953247"/>
                <a:ext cx="92765" cy="92765"/>
              </a:xfrm>
              <a:prstGeom prst="rect">
                <a:avLst/>
              </a:prstGeom>
              <a:solidFill>
                <a:srgbClr val="2B2F36"/>
              </a:solidFill>
              <a:ln>
                <a:noFill/>
              </a:ln>
            </p:spPr>
            <p:txBody>
              <a:bodyPr rtlCol="0" anchor="ctr"/>
              <a:lstStyle/>
              <a:p>
                <a:pPr algn="ctr"/>
              </a:p>
            </p:txBody>
          </p:sp>
          <p:sp>
            <p:nvSpPr>
              <p:cNvPr id="60" name="Chimney"/>
              <p:cNvSpPr/>
              <p:nvPr/>
            </p:nvSpPr>
            <p:spPr>
              <a:xfrm>
                <a:off x="5340626" y="2721334"/>
                <a:ext cx="99391" cy="198783"/>
              </a:xfrm>
              <a:prstGeom prst="rect">
                <a:avLst/>
              </a:prstGeom>
              <a:solidFill>
                <a:srgbClr val="1B1D21"/>
              </a:solidFill>
              <a:ln>
                <a:noFill/>
              </a:ln>
            </p:spPr>
            <p:txBody>
              <a:bodyPr rtlCol="0" anchor="ctr"/>
              <a:lstStyle/>
              <a:p>
                <a:pPr algn="ctr"/>
              </a:p>
            </p:txBody>
          </p:sp>
          <p:sp>
            <p:nvSpPr>
              <p:cNvPr id="61" name="Oval 60"/>
              <p:cNvSpPr/>
              <p:nvPr/>
            </p:nvSpPr>
            <p:spPr>
              <a:xfrm>
                <a:off x="4890052" y="3205038"/>
                <a:ext cx="132522" cy="132522"/>
              </a:xfrm>
              <a:prstGeom prst="ellipse">
                <a:avLst/>
              </a:prstGeom>
              <a:solidFill>
                <a:srgbClr val="1B1D21"/>
              </a:solidFill>
              <a:ln w="12700">
                <a:solidFill>
                  <a:srgbClr val="9AA0A6"/>
                </a:solidFill>
              </a:ln>
            </p:spPr>
            <p:txBody>
              <a:bodyPr rtlCol="0" anchor="ctr"/>
              <a:lstStyle/>
              <a:p>
                <a:pPr algn="ctr"/>
              </a:p>
            </p:txBody>
          </p:sp>
          <p:sp>
            <p:nvSpPr>
              <p:cNvPr id="62" name="Oval 61"/>
              <p:cNvSpPr/>
              <p:nvPr/>
            </p:nvSpPr>
            <p:spPr>
              <a:xfrm>
                <a:off x="5088835" y="3205038"/>
                <a:ext cx="132522" cy="132522"/>
              </a:xfrm>
              <a:prstGeom prst="ellipse">
                <a:avLst/>
              </a:prstGeom>
              <a:solidFill>
                <a:srgbClr val="1B1D21"/>
              </a:solidFill>
              <a:ln w="12700">
                <a:solidFill>
                  <a:srgbClr val="9AA0A6"/>
                </a:solidFill>
              </a:ln>
            </p:spPr>
            <p:txBody>
              <a:bodyPr rtlCol="0" anchor="ctr"/>
              <a:lstStyle/>
              <a:p>
                <a:pPr algn="ctr"/>
              </a:p>
            </p:txBody>
          </p:sp>
          <p:sp>
            <p:nvSpPr>
              <p:cNvPr id="63" name="Oval 62"/>
              <p:cNvSpPr/>
              <p:nvPr/>
            </p:nvSpPr>
            <p:spPr>
              <a:xfrm>
                <a:off x="5287617" y="3205038"/>
                <a:ext cx="132522" cy="132522"/>
              </a:xfrm>
              <a:prstGeom prst="ellipse">
                <a:avLst/>
              </a:prstGeom>
              <a:solidFill>
                <a:srgbClr val="1B1D21"/>
              </a:solidFill>
              <a:ln w="12700">
                <a:solidFill>
                  <a:srgbClr val="9AA0A6"/>
                </a:solidFill>
              </a:ln>
            </p:spPr>
            <p:txBody>
              <a:bodyPr rtlCol="0" anchor="ctr"/>
              <a:lstStyle/>
              <a:p>
                <a:pPr algn="ctr"/>
              </a:p>
            </p:txBody>
          </p:sp>
        </p:grpSp>
        <p:grpSp>
          <p:nvGrpSpPr>
            <p:cNvPr id="64" name="Waiting train in block A" descr="A steam train: an engine pulling wagons."/>
            <p:cNvGrpSpPr/>
            <p:nvPr/>
          </p:nvGrpSpPr>
          <p:grpSpPr>
            <a:xfrm>
              <a:off x="822960" y="2810317"/>
              <a:ext cx="1564721" cy="527243"/>
              <a:chOff x="822960" y="2810317"/>
              <a:chExt cx="1564721" cy="527243"/>
            </a:xfrm>
          </p:grpSpPr>
          <p:sp>
            <p:nvSpPr>
              <p:cNvPr id="65" name="Rectangle 64"/>
              <p:cNvSpPr/>
              <p:nvPr/>
            </p:nvSpPr>
            <p:spPr>
              <a:xfrm>
                <a:off x="822960" y="3014411"/>
                <a:ext cx="453542" cy="255118"/>
              </a:xfrm>
              <a:prstGeom prst="rect">
                <a:avLst/>
              </a:prstGeom>
              <a:solidFill>
                <a:srgbClr val="6C7480"/>
              </a:solidFill>
              <a:ln w="9525">
                <a:solidFill>
                  <a:srgbClr val="101418"/>
                </a:solidFill>
              </a:ln>
            </p:spPr>
            <p:txBody>
              <a:bodyPr rtlCol="0" anchor="ctr"/>
              <a:lstStyle/>
              <a:p>
                <a:pPr algn="ctr"/>
              </a:p>
            </p:txBody>
          </p:sp>
          <p:sp>
            <p:nvSpPr>
              <p:cNvPr id="66" name="Oval 65"/>
              <p:cNvSpPr/>
              <p:nvPr/>
            </p:nvSpPr>
            <p:spPr>
              <a:xfrm>
                <a:off x="879653" y="3224174"/>
                <a:ext cx="113386" cy="113386"/>
              </a:xfrm>
              <a:prstGeom prst="ellipse">
                <a:avLst/>
              </a:prstGeom>
              <a:solidFill>
                <a:srgbClr val="1B1D21"/>
              </a:solidFill>
              <a:ln w="12700">
                <a:solidFill>
                  <a:srgbClr val="9AA0A6"/>
                </a:solidFill>
              </a:ln>
            </p:spPr>
            <p:txBody>
              <a:bodyPr rtlCol="0" anchor="ctr"/>
              <a:lstStyle/>
              <a:p>
                <a:pPr algn="ctr"/>
              </a:p>
            </p:txBody>
          </p:sp>
          <p:sp>
            <p:nvSpPr>
              <p:cNvPr id="67" name="Oval 66"/>
              <p:cNvSpPr/>
              <p:nvPr/>
            </p:nvSpPr>
            <p:spPr>
              <a:xfrm>
                <a:off x="1106424" y="3224174"/>
                <a:ext cx="113386" cy="113386"/>
              </a:xfrm>
              <a:prstGeom prst="ellipse">
                <a:avLst/>
              </a:prstGeom>
              <a:solidFill>
                <a:srgbClr val="1B1D21"/>
              </a:solidFill>
              <a:ln w="12700">
                <a:solidFill>
                  <a:srgbClr val="9AA0A6"/>
                </a:solidFill>
              </a:ln>
            </p:spPr>
            <p:txBody>
              <a:bodyPr rtlCol="0" anchor="ctr"/>
              <a:lstStyle/>
              <a:p>
                <a:pPr algn="ctr"/>
              </a:p>
            </p:txBody>
          </p:sp>
          <p:sp>
            <p:nvSpPr>
              <p:cNvPr id="68" name="Rectangle 67"/>
              <p:cNvSpPr/>
              <p:nvPr/>
            </p:nvSpPr>
            <p:spPr>
              <a:xfrm>
                <a:off x="1276502" y="3195828"/>
                <a:ext cx="45354" cy="28346"/>
              </a:xfrm>
              <a:prstGeom prst="rect">
                <a:avLst/>
              </a:prstGeom>
              <a:solidFill>
                <a:srgbClr val="9AA0A6"/>
              </a:solidFill>
              <a:ln>
                <a:noFill/>
              </a:ln>
            </p:spPr>
            <p:txBody>
              <a:bodyPr rtlCol="0" anchor="ctr"/>
              <a:lstStyle/>
              <a:p>
                <a:pPr algn="ctr"/>
              </a:p>
            </p:txBody>
          </p:sp>
          <p:sp>
            <p:nvSpPr>
              <p:cNvPr id="69" name="Rectangle 68"/>
              <p:cNvSpPr/>
              <p:nvPr/>
            </p:nvSpPr>
            <p:spPr>
              <a:xfrm>
                <a:off x="1321857" y="3014411"/>
                <a:ext cx="453542" cy="255118"/>
              </a:xfrm>
              <a:prstGeom prst="rect">
                <a:avLst/>
              </a:prstGeom>
              <a:solidFill>
                <a:srgbClr val="6C7480"/>
              </a:solidFill>
              <a:ln w="9525">
                <a:solidFill>
                  <a:srgbClr val="101418"/>
                </a:solidFill>
              </a:ln>
            </p:spPr>
            <p:txBody>
              <a:bodyPr rtlCol="0" anchor="ctr"/>
              <a:lstStyle/>
              <a:p>
                <a:pPr algn="ctr"/>
              </a:p>
            </p:txBody>
          </p:sp>
          <p:sp>
            <p:nvSpPr>
              <p:cNvPr id="70" name="Oval 69"/>
              <p:cNvSpPr/>
              <p:nvPr/>
            </p:nvSpPr>
            <p:spPr>
              <a:xfrm>
                <a:off x="1378549" y="3224174"/>
                <a:ext cx="113386" cy="113386"/>
              </a:xfrm>
              <a:prstGeom prst="ellipse">
                <a:avLst/>
              </a:prstGeom>
              <a:solidFill>
                <a:srgbClr val="1B1D21"/>
              </a:solidFill>
              <a:ln w="12700">
                <a:solidFill>
                  <a:srgbClr val="9AA0A6"/>
                </a:solidFill>
              </a:ln>
            </p:spPr>
            <p:txBody>
              <a:bodyPr rtlCol="0" anchor="ctr"/>
              <a:lstStyle/>
              <a:p>
                <a:pPr algn="ctr"/>
              </a:p>
            </p:txBody>
          </p:sp>
          <p:sp>
            <p:nvSpPr>
              <p:cNvPr id="71" name="Oval 70"/>
              <p:cNvSpPr/>
              <p:nvPr/>
            </p:nvSpPr>
            <p:spPr>
              <a:xfrm>
                <a:off x="1605321" y="3224174"/>
                <a:ext cx="113386" cy="113386"/>
              </a:xfrm>
              <a:prstGeom prst="ellipse">
                <a:avLst/>
              </a:prstGeom>
              <a:solidFill>
                <a:srgbClr val="1B1D21"/>
              </a:solidFill>
              <a:ln w="12700">
                <a:solidFill>
                  <a:srgbClr val="9AA0A6"/>
                </a:solidFill>
              </a:ln>
            </p:spPr>
            <p:txBody>
              <a:bodyPr rtlCol="0" anchor="ctr"/>
              <a:lstStyle/>
              <a:p>
                <a:pPr algn="ctr"/>
              </a:p>
            </p:txBody>
          </p:sp>
          <p:sp>
            <p:nvSpPr>
              <p:cNvPr id="72" name="Rectangle 71"/>
              <p:cNvSpPr/>
              <p:nvPr/>
            </p:nvSpPr>
            <p:spPr>
              <a:xfrm>
                <a:off x="1775399" y="3195828"/>
                <a:ext cx="45354" cy="28346"/>
              </a:xfrm>
              <a:prstGeom prst="rect">
                <a:avLst/>
              </a:prstGeom>
              <a:solidFill>
                <a:srgbClr val="9AA0A6"/>
              </a:solidFill>
              <a:ln>
                <a:noFill/>
              </a:ln>
            </p:spPr>
            <p:txBody>
              <a:bodyPr rtlCol="0" anchor="ctr"/>
              <a:lstStyle/>
              <a:p>
                <a:pPr algn="ctr"/>
              </a:p>
            </p:txBody>
          </p:sp>
          <p:sp>
            <p:nvSpPr>
              <p:cNvPr id="73" name="Rectangle 72"/>
              <p:cNvSpPr/>
              <p:nvPr/>
            </p:nvSpPr>
            <p:spPr>
              <a:xfrm>
                <a:off x="1820753" y="2969057"/>
                <a:ext cx="566928" cy="311810"/>
              </a:xfrm>
              <a:prstGeom prst="rect">
                <a:avLst/>
              </a:prstGeom>
              <a:solidFill>
                <a:srgbClr val="F28C28"/>
              </a:solidFill>
              <a:ln w="9525">
                <a:solidFill>
                  <a:srgbClr val="101418"/>
                </a:solidFill>
              </a:ln>
            </p:spPr>
            <p:txBody>
              <a:bodyPr rtlCol="0" anchor="ctr"/>
              <a:lstStyle/>
              <a:p>
                <a:pPr algn="ctr"/>
              </a:p>
            </p:txBody>
          </p:sp>
          <p:sp>
            <p:nvSpPr>
              <p:cNvPr id="74" name="Bunker"/>
              <p:cNvSpPr/>
              <p:nvPr/>
            </p:nvSpPr>
            <p:spPr>
              <a:xfrm>
                <a:off x="1837761" y="2986065"/>
                <a:ext cx="147401" cy="113386"/>
              </a:xfrm>
              <a:prstGeom prst="rect">
                <a:avLst/>
              </a:prstGeom>
              <a:solidFill>
                <a:srgbClr val="1B1D21"/>
              </a:solidFill>
              <a:ln>
                <a:noFill/>
              </a:ln>
            </p:spPr>
            <p:txBody>
              <a:bodyPr rtlCol="0" anchor="ctr"/>
              <a:lstStyle/>
              <a:p>
                <a:pPr algn="ctr"/>
              </a:p>
            </p:txBody>
          </p:sp>
          <p:sp>
            <p:nvSpPr>
              <p:cNvPr id="75" name="Rectangle 74"/>
              <p:cNvSpPr/>
              <p:nvPr/>
            </p:nvSpPr>
            <p:spPr>
              <a:xfrm>
                <a:off x="2013509" y="3008742"/>
                <a:ext cx="79370" cy="79370"/>
              </a:xfrm>
              <a:prstGeom prst="rect">
                <a:avLst/>
              </a:prstGeom>
              <a:solidFill>
                <a:srgbClr val="2B2F36"/>
              </a:solidFill>
              <a:ln>
                <a:noFill/>
              </a:ln>
            </p:spPr>
            <p:txBody>
              <a:bodyPr rtlCol="0" anchor="ctr"/>
              <a:lstStyle/>
              <a:p>
                <a:pPr algn="ctr"/>
              </a:p>
            </p:txBody>
          </p:sp>
          <p:sp>
            <p:nvSpPr>
              <p:cNvPr id="76" name="Chimney"/>
              <p:cNvSpPr/>
              <p:nvPr/>
            </p:nvSpPr>
            <p:spPr>
              <a:xfrm>
                <a:off x="2262957" y="2810317"/>
                <a:ext cx="85039" cy="170078"/>
              </a:xfrm>
              <a:prstGeom prst="rect">
                <a:avLst/>
              </a:prstGeom>
              <a:solidFill>
                <a:srgbClr val="1B1D21"/>
              </a:solidFill>
              <a:ln>
                <a:noFill/>
              </a:ln>
            </p:spPr>
            <p:txBody>
              <a:bodyPr rtlCol="0" anchor="ctr"/>
              <a:lstStyle/>
              <a:p>
                <a:pPr algn="ctr"/>
              </a:p>
            </p:txBody>
          </p:sp>
          <p:sp>
            <p:nvSpPr>
              <p:cNvPr id="77" name="Oval 76"/>
              <p:cNvSpPr/>
              <p:nvPr/>
            </p:nvSpPr>
            <p:spPr>
              <a:xfrm>
                <a:off x="1877446" y="3224174"/>
                <a:ext cx="113386" cy="113386"/>
              </a:xfrm>
              <a:prstGeom prst="ellipse">
                <a:avLst/>
              </a:prstGeom>
              <a:solidFill>
                <a:srgbClr val="1B1D21"/>
              </a:solidFill>
              <a:ln w="12700">
                <a:solidFill>
                  <a:srgbClr val="9AA0A6"/>
                </a:solidFill>
              </a:ln>
            </p:spPr>
            <p:txBody>
              <a:bodyPr rtlCol="0" anchor="ctr"/>
              <a:lstStyle/>
              <a:p>
                <a:pPr algn="ctr"/>
              </a:p>
            </p:txBody>
          </p:sp>
          <p:sp>
            <p:nvSpPr>
              <p:cNvPr id="78" name="Oval 77"/>
              <p:cNvSpPr/>
              <p:nvPr/>
            </p:nvSpPr>
            <p:spPr>
              <a:xfrm>
                <a:off x="2047524" y="3224174"/>
                <a:ext cx="113386" cy="113386"/>
              </a:xfrm>
              <a:prstGeom prst="ellipse">
                <a:avLst/>
              </a:prstGeom>
              <a:solidFill>
                <a:srgbClr val="1B1D21"/>
              </a:solidFill>
              <a:ln w="12700">
                <a:solidFill>
                  <a:srgbClr val="9AA0A6"/>
                </a:solidFill>
              </a:ln>
            </p:spPr>
            <p:txBody>
              <a:bodyPr rtlCol="0" anchor="ctr"/>
              <a:lstStyle/>
              <a:p>
                <a:pPr algn="ctr"/>
              </a:p>
            </p:txBody>
          </p:sp>
          <p:sp>
            <p:nvSpPr>
              <p:cNvPr id="79" name="Oval 78"/>
              <p:cNvSpPr/>
              <p:nvPr/>
            </p:nvSpPr>
            <p:spPr>
              <a:xfrm>
                <a:off x="2217603" y="3224174"/>
                <a:ext cx="113386" cy="113386"/>
              </a:xfrm>
              <a:prstGeom prst="ellipse">
                <a:avLst/>
              </a:prstGeom>
              <a:solidFill>
                <a:srgbClr val="1B1D21"/>
              </a:solidFill>
              <a:ln w="12700">
                <a:solidFill>
                  <a:srgbClr val="9AA0A6"/>
                </a:solidFill>
              </a:ln>
            </p:spPr>
            <p:txBody>
              <a:bodyPr rtlCol="0" anchor="ctr"/>
              <a:lstStyle/>
              <a:p>
                <a:pPr algn="ctr"/>
              </a:p>
            </p:txBody>
          </p:sp>
        </p:grpSp>
        <p:grpSp>
          <p:nvGrpSpPr>
            <p:cNvPr id="80" name="Signal stop" descr="Semaphore stop signal, arm flat: STOP."/>
            <p:cNvGrpSpPr/>
            <p:nvPr/>
          </p:nvGrpSpPr>
          <p:grpSpPr>
            <a:xfrm>
              <a:off x="2688336" y="2450592"/>
              <a:ext cx="1764792" cy="1389888"/>
              <a:chOff x="2688336" y="2450592"/>
              <a:chExt cx="1764792" cy="1389888"/>
            </a:xfrm>
          </p:grpSpPr>
          <p:sp>
            <p:nvSpPr>
              <p:cNvPr id="81" name="Rectangle 80"/>
              <p:cNvSpPr/>
              <p:nvPr/>
            </p:nvSpPr>
            <p:spPr>
              <a:xfrm>
                <a:off x="3227832" y="3776472"/>
                <a:ext cx="310896" cy="64008"/>
              </a:xfrm>
              <a:prstGeom prst="rect">
                <a:avLst/>
              </a:prstGeom>
              <a:solidFill>
                <a:srgbClr val="9AA0A6"/>
              </a:solidFill>
              <a:ln>
                <a:noFill/>
              </a:ln>
            </p:spPr>
            <p:txBody>
              <a:bodyPr rtlCol="0" anchor="ctr"/>
              <a:lstStyle/>
              <a:p>
                <a:pPr algn="ctr"/>
              </a:p>
            </p:txBody>
          </p:sp>
          <p:sp>
            <p:nvSpPr>
              <p:cNvPr id="82" name="Rectangle 81"/>
              <p:cNvSpPr/>
              <p:nvPr/>
            </p:nvSpPr>
            <p:spPr>
              <a:xfrm>
                <a:off x="3328416" y="2834640"/>
                <a:ext cx="109728" cy="1005840"/>
              </a:xfrm>
              <a:prstGeom prst="rect">
                <a:avLst/>
              </a:prstGeom>
              <a:solidFill>
                <a:srgbClr val="E8E8E8"/>
              </a:solidFill>
              <a:ln>
                <a:noFill/>
              </a:ln>
            </p:spPr>
            <p:txBody>
              <a:bodyPr rtlCol="0" anchor="ctr"/>
              <a:lstStyle/>
              <a:p>
                <a:pPr algn="ctr"/>
              </a:p>
            </p:txBody>
          </p:sp>
          <p:sp>
            <p:nvSpPr>
              <p:cNvPr id="83" name="Oval 82"/>
              <p:cNvSpPr/>
              <p:nvPr/>
            </p:nvSpPr>
            <p:spPr>
              <a:xfrm>
                <a:off x="3319272" y="2734056"/>
                <a:ext cx="128016" cy="128016"/>
              </a:xfrm>
              <a:prstGeom prst="ellipse">
                <a:avLst/>
              </a:prstGeom>
              <a:solidFill>
                <a:srgbClr val="E8E8E8"/>
              </a:solidFill>
              <a:ln>
                <a:noFill/>
              </a:ln>
            </p:spPr>
            <p:txBody>
              <a:bodyPr rtlCol="0" anchor="ctr"/>
              <a:lstStyle/>
              <a:p>
                <a:pPr algn="ctr"/>
              </a:p>
            </p:txBody>
          </p:sp>
          <p:sp>
            <p:nvSpPr>
              <p:cNvPr id="84" name="Freeform 83"/>
              <p:cNvSpPr/>
              <p:nvPr/>
            </p:nvSpPr>
            <p:spPr>
              <a:xfrm>
                <a:off x="2688336" y="2980944"/>
                <a:ext cx="640080" cy="128016"/>
              </a:xfrm>
              <a:custGeom>
                <a:avLst/>
                <a:gdLst/>
                <a:ahLst/>
                <a:cxnLst/>
                <a:rect l="l" t="t" r="r" b="b"/>
                <a:pathLst>
                  <a:path w="640080" h="128016">
                    <a:moveTo>
                      <a:pt x="640080" y="0"/>
                    </a:moveTo>
                    <a:lnTo>
                      <a:pt x="0" y="0"/>
                    </a:lnTo>
                    <a:lnTo>
                      <a:pt x="0" y="128016"/>
                    </a:lnTo>
                    <a:lnTo>
                      <a:pt x="640080" y="128016"/>
                    </a:lnTo>
                    <a:close/>
                  </a:path>
                </a:pathLst>
              </a:custGeom>
              <a:solidFill>
                <a:srgbClr val="E5484D"/>
              </a:solidFill>
              <a:ln w="9525">
                <a:solidFill>
                  <a:srgbClr val="101418"/>
                </a:solidFill>
              </a:ln>
            </p:spPr>
            <p:txBody>
              <a:bodyPr rtlCol="0" anchor="ctr"/>
              <a:lstStyle/>
              <a:p>
                <a:pPr algn="ctr"/>
              </a:p>
            </p:txBody>
          </p:sp>
          <p:sp>
            <p:nvSpPr>
              <p:cNvPr id="85" name="Freeform 84"/>
              <p:cNvSpPr/>
              <p:nvPr/>
            </p:nvSpPr>
            <p:spPr>
              <a:xfrm>
                <a:off x="2854757" y="2980944"/>
                <a:ext cx="76809" cy="128016"/>
              </a:xfrm>
              <a:custGeom>
                <a:avLst/>
                <a:gdLst/>
                <a:ahLst/>
                <a:cxnLst/>
                <a:rect l="l" t="t" r="r" b="b"/>
                <a:pathLst>
                  <a:path w="76809" h="128016">
                    <a:moveTo>
                      <a:pt x="76809" y="0"/>
                    </a:moveTo>
                    <a:lnTo>
                      <a:pt x="0" y="0"/>
                    </a:lnTo>
                    <a:lnTo>
                      <a:pt x="0" y="128016"/>
                    </a:lnTo>
                    <a:lnTo>
                      <a:pt x="76809" y="128016"/>
                    </a:lnTo>
                    <a:close/>
                  </a:path>
                </a:pathLst>
              </a:custGeom>
              <a:solidFill>
                <a:srgbClr val="FFFFFF"/>
              </a:solidFill>
              <a:ln>
                <a:noFill/>
              </a:ln>
            </p:spPr>
            <p:txBody>
              <a:bodyPr rtlCol="0" anchor="ctr"/>
              <a:lstStyle/>
              <a:p>
                <a:pPr algn="ctr"/>
              </a:p>
            </p:txBody>
          </p:sp>
          <p:sp>
            <p:nvSpPr>
              <p:cNvPr id="86" name="Oval 85"/>
              <p:cNvSpPr/>
              <p:nvPr/>
            </p:nvSpPr>
            <p:spPr>
              <a:xfrm>
                <a:off x="3461004" y="2967228"/>
                <a:ext cx="155448" cy="155448"/>
              </a:xfrm>
              <a:prstGeom prst="ellipse">
                <a:avLst/>
              </a:prstGeom>
              <a:solidFill>
                <a:srgbClr val="E5484D"/>
              </a:solidFill>
              <a:ln w="9525">
                <a:solidFill>
                  <a:srgbClr val="101418"/>
                </a:solidFill>
              </a:ln>
            </p:spPr>
            <p:txBody>
              <a:bodyPr rtlCol="0" anchor="ctr"/>
              <a:lstStyle/>
              <a:p>
                <a:pPr algn="ctr"/>
              </a:p>
            </p:txBody>
          </p:sp>
          <p:sp>
            <p:nvSpPr>
              <p:cNvPr id="87" name="Rounded Rectangle 86"/>
              <p:cNvSpPr/>
              <p:nvPr/>
            </p:nvSpPr>
            <p:spPr>
              <a:xfrm>
                <a:off x="3584448" y="2450592"/>
                <a:ext cx="86868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STOP</a:t>
                </a:r>
              </a:p>
            </p:txBody>
          </p:sp>
        </p:grpSp>
        <p:grpSp>
          <p:nvGrpSpPr>
            <p:cNvPr id="88" name="Signal clear" descr="Semaphore stop signal, arm raised: CLEAR."/>
            <p:cNvGrpSpPr/>
            <p:nvPr/>
          </p:nvGrpSpPr>
          <p:grpSpPr>
            <a:xfrm>
              <a:off x="5573751" y="2450592"/>
              <a:ext cx="1622577" cy="1389888"/>
              <a:chOff x="5573751" y="2450592"/>
              <a:chExt cx="1622577" cy="1389888"/>
            </a:xfrm>
          </p:grpSpPr>
          <p:sp>
            <p:nvSpPr>
              <p:cNvPr id="89" name="Rectangle 88"/>
              <p:cNvSpPr/>
              <p:nvPr/>
            </p:nvSpPr>
            <p:spPr>
              <a:xfrm>
                <a:off x="5971032" y="3776472"/>
                <a:ext cx="310896" cy="64008"/>
              </a:xfrm>
              <a:prstGeom prst="rect">
                <a:avLst/>
              </a:prstGeom>
              <a:solidFill>
                <a:srgbClr val="9AA0A6"/>
              </a:solidFill>
              <a:ln>
                <a:noFill/>
              </a:ln>
            </p:spPr>
            <p:txBody>
              <a:bodyPr rtlCol="0" anchor="ctr"/>
              <a:lstStyle/>
              <a:p>
                <a:pPr algn="ctr"/>
              </a:p>
            </p:txBody>
          </p:sp>
          <p:sp>
            <p:nvSpPr>
              <p:cNvPr id="90" name="Rectangle 89"/>
              <p:cNvSpPr/>
              <p:nvPr/>
            </p:nvSpPr>
            <p:spPr>
              <a:xfrm>
                <a:off x="6071616" y="2834640"/>
                <a:ext cx="109728" cy="1005840"/>
              </a:xfrm>
              <a:prstGeom prst="rect">
                <a:avLst/>
              </a:prstGeom>
              <a:solidFill>
                <a:srgbClr val="E8E8E8"/>
              </a:solidFill>
              <a:ln>
                <a:noFill/>
              </a:ln>
            </p:spPr>
            <p:txBody>
              <a:bodyPr rtlCol="0" anchor="ctr"/>
              <a:lstStyle/>
              <a:p>
                <a:pPr algn="ctr"/>
              </a:p>
            </p:txBody>
          </p:sp>
          <p:sp>
            <p:nvSpPr>
              <p:cNvPr id="91" name="Oval 90"/>
              <p:cNvSpPr/>
              <p:nvPr/>
            </p:nvSpPr>
            <p:spPr>
              <a:xfrm>
                <a:off x="6062472" y="2734056"/>
                <a:ext cx="128016" cy="128016"/>
              </a:xfrm>
              <a:prstGeom prst="ellipse">
                <a:avLst/>
              </a:prstGeom>
              <a:solidFill>
                <a:srgbClr val="E8E8E8"/>
              </a:solidFill>
              <a:ln>
                <a:noFill/>
              </a:ln>
            </p:spPr>
            <p:txBody>
              <a:bodyPr rtlCol="0" anchor="ctr"/>
              <a:lstStyle/>
              <a:p>
                <a:pPr algn="ctr"/>
              </a:p>
            </p:txBody>
          </p:sp>
          <p:sp>
            <p:nvSpPr>
              <p:cNvPr id="92" name="Freeform 91"/>
              <p:cNvSpPr/>
              <p:nvPr/>
            </p:nvSpPr>
            <p:spPr>
              <a:xfrm>
                <a:off x="5573751" y="2547087"/>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93" name="Freeform 92"/>
              <p:cNvSpPr/>
              <p:nvPr/>
            </p:nvSpPr>
            <p:spPr>
              <a:xfrm>
                <a:off x="5691428" y="2664764"/>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94" name="Oval 93"/>
              <p:cNvSpPr/>
              <p:nvPr/>
            </p:nvSpPr>
            <p:spPr>
              <a:xfrm>
                <a:off x="6204204" y="2967228"/>
                <a:ext cx="155448" cy="155448"/>
              </a:xfrm>
              <a:prstGeom prst="ellipse">
                <a:avLst/>
              </a:prstGeom>
              <a:solidFill>
                <a:srgbClr val="3FB950"/>
              </a:solidFill>
              <a:ln w="9525">
                <a:solidFill>
                  <a:srgbClr val="101418"/>
                </a:solidFill>
              </a:ln>
            </p:spPr>
            <p:txBody>
              <a:bodyPr rtlCol="0" anchor="ctr"/>
              <a:lstStyle/>
              <a:p>
                <a:pPr algn="ctr"/>
              </a:p>
            </p:txBody>
          </p:sp>
          <p:sp>
            <p:nvSpPr>
              <p:cNvPr id="95" name="Rounded Rectangle 94"/>
              <p:cNvSpPr/>
              <p:nvPr/>
            </p:nvSpPr>
            <p:spPr>
              <a:xfrm>
                <a:off x="6327648" y="2450592"/>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grpSp>
          <p:nvGrpSpPr>
            <p:cNvPr id="96" name="Signal clear" descr="Semaphore stop signal, arm raised: CLEAR."/>
            <p:cNvGrpSpPr/>
            <p:nvPr/>
          </p:nvGrpSpPr>
          <p:grpSpPr>
            <a:xfrm>
              <a:off x="8316951" y="2450592"/>
              <a:ext cx="1622577" cy="1389888"/>
              <a:chOff x="8316951" y="2450592"/>
              <a:chExt cx="1622577" cy="1389888"/>
            </a:xfrm>
          </p:grpSpPr>
          <p:sp>
            <p:nvSpPr>
              <p:cNvPr id="97" name="Rectangle 96"/>
              <p:cNvSpPr/>
              <p:nvPr/>
            </p:nvSpPr>
            <p:spPr>
              <a:xfrm>
                <a:off x="8714232" y="3776472"/>
                <a:ext cx="310896" cy="64008"/>
              </a:xfrm>
              <a:prstGeom prst="rect">
                <a:avLst/>
              </a:prstGeom>
              <a:solidFill>
                <a:srgbClr val="9AA0A6"/>
              </a:solidFill>
              <a:ln>
                <a:noFill/>
              </a:ln>
            </p:spPr>
            <p:txBody>
              <a:bodyPr rtlCol="0" anchor="ctr"/>
              <a:lstStyle/>
              <a:p>
                <a:pPr algn="ctr"/>
              </a:p>
            </p:txBody>
          </p:sp>
          <p:sp>
            <p:nvSpPr>
              <p:cNvPr id="98" name="Rectangle 97"/>
              <p:cNvSpPr/>
              <p:nvPr/>
            </p:nvSpPr>
            <p:spPr>
              <a:xfrm>
                <a:off x="8814816" y="2834640"/>
                <a:ext cx="109728" cy="1005840"/>
              </a:xfrm>
              <a:prstGeom prst="rect">
                <a:avLst/>
              </a:prstGeom>
              <a:solidFill>
                <a:srgbClr val="E8E8E8"/>
              </a:solidFill>
              <a:ln>
                <a:noFill/>
              </a:ln>
            </p:spPr>
            <p:txBody>
              <a:bodyPr rtlCol="0" anchor="ctr"/>
              <a:lstStyle/>
              <a:p>
                <a:pPr algn="ctr"/>
              </a:p>
            </p:txBody>
          </p:sp>
          <p:sp>
            <p:nvSpPr>
              <p:cNvPr id="99" name="Oval 98"/>
              <p:cNvSpPr/>
              <p:nvPr/>
            </p:nvSpPr>
            <p:spPr>
              <a:xfrm>
                <a:off x="8805672" y="2734056"/>
                <a:ext cx="128016" cy="128016"/>
              </a:xfrm>
              <a:prstGeom prst="ellipse">
                <a:avLst/>
              </a:prstGeom>
              <a:solidFill>
                <a:srgbClr val="E8E8E8"/>
              </a:solidFill>
              <a:ln>
                <a:noFill/>
              </a:ln>
            </p:spPr>
            <p:txBody>
              <a:bodyPr rtlCol="0" anchor="ctr"/>
              <a:lstStyle/>
              <a:p>
                <a:pPr algn="ctr"/>
              </a:p>
            </p:txBody>
          </p:sp>
          <p:sp>
            <p:nvSpPr>
              <p:cNvPr id="100" name="Freeform 99"/>
              <p:cNvSpPr/>
              <p:nvPr/>
            </p:nvSpPr>
            <p:spPr>
              <a:xfrm>
                <a:off x="8316951" y="2547087"/>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01" name="Freeform 100"/>
              <p:cNvSpPr/>
              <p:nvPr/>
            </p:nvSpPr>
            <p:spPr>
              <a:xfrm>
                <a:off x="8434628" y="2664764"/>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02" name="Oval 101"/>
              <p:cNvSpPr/>
              <p:nvPr/>
            </p:nvSpPr>
            <p:spPr>
              <a:xfrm>
                <a:off x="8947404" y="2967228"/>
                <a:ext cx="155448" cy="155448"/>
              </a:xfrm>
              <a:prstGeom prst="ellipse">
                <a:avLst/>
              </a:prstGeom>
              <a:solidFill>
                <a:srgbClr val="3FB950"/>
              </a:solidFill>
              <a:ln w="9525">
                <a:solidFill>
                  <a:srgbClr val="101418"/>
                </a:solidFill>
              </a:ln>
            </p:spPr>
            <p:txBody>
              <a:bodyPr rtlCol="0" anchor="ctr"/>
              <a:lstStyle/>
              <a:p>
                <a:pPr algn="ctr"/>
              </a:p>
            </p:txBody>
          </p:sp>
          <p:sp>
            <p:nvSpPr>
              <p:cNvPr id="103" name="Rounded Rectangle 102"/>
              <p:cNvSpPr/>
              <p:nvPr/>
            </p:nvSpPr>
            <p:spPr>
              <a:xfrm>
                <a:off x="9070848" y="2450592"/>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cxnSp>
          <p:nvCxnSpPr>
            <p:cNvPr id="104" name="Connector 103"/>
            <p:cNvCxnSpPr/>
            <p:nvPr/>
          </p:nvCxnSpPr>
          <p:spPr>
            <a:xfrm>
              <a:off x="6126480" y="2057400"/>
              <a:ext cx="2743200" cy="0"/>
            </a:xfrm>
            <a:prstGeom prst="line">
              <a:avLst/>
            </a:prstGeom>
            <a:ln w="19050">
              <a:solidFill>
                <a:srgbClr val="F2F2F2"/>
              </a:solidFill>
              <a:headEnd type="triangle" w="med" len="med"/>
              <a:tailEnd type="triangle" w="med" len="med"/>
            </a:ln>
          </p:spPr>
        </p:cxnSp>
        <p:cxnSp>
          <p:nvCxnSpPr>
            <p:cNvPr id="105" name="Connector 104"/>
            <p:cNvCxnSpPr/>
            <p:nvPr/>
          </p:nvCxnSpPr>
          <p:spPr>
            <a:xfrm>
              <a:off x="6126480" y="1920240"/>
              <a:ext cx="0" cy="274320"/>
            </a:xfrm>
            <a:prstGeom prst="line">
              <a:avLst/>
            </a:prstGeom>
            <a:ln w="19050">
              <a:solidFill>
                <a:srgbClr val="F2F2F2"/>
              </a:solidFill>
            </a:ln>
          </p:spPr>
        </p:cxnSp>
        <p:cxnSp>
          <p:nvCxnSpPr>
            <p:cNvPr id="106" name="Connector 105"/>
            <p:cNvCxnSpPr/>
            <p:nvPr/>
          </p:nvCxnSpPr>
          <p:spPr>
            <a:xfrm>
              <a:off x="8869680" y="1920240"/>
              <a:ext cx="0" cy="274320"/>
            </a:xfrm>
            <a:prstGeom prst="line">
              <a:avLst/>
            </a:prstGeom>
            <a:ln w="19050">
              <a:solidFill>
                <a:srgbClr val="F2F2F2"/>
              </a:solidFill>
            </a:ln>
          </p:spPr>
        </p:cxnSp>
        <p:sp>
          <p:nvSpPr>
            <p:cNvPr id="107" name="TextBox 106"/>
            <p:cNvSpPr txBox="1"/>
            <p:nvPr/>
          </p:nvSpPr>
          <p:spPr>
            <a:xfrm>
              <a:off x="6126480" y="1673352"/>
              <a:ext cx="2743200" cy="347472"/>
            </a:xfrm>
            <a:prstGeom prst="rect">
              <a:avLst/>
            </a:prstGeom>
            <a:noFill/>
          </p:spPr>
          <p:txBody>
            <a:bodyPr wrap="square" lIns="0" tIns="0" rIns="0" bIns="0" anchor="b">
              <a:noAutofit/>
            </a:bodyPr>
            <a:lstStyle/>
            <a:p>
              <a:pPr algn="ctr"/>
              <a:r>
                <a:rPr sz="1800" b="1" i="0" lang="en-GB">
                  <a:solidFill>
                    <a:srgbClr val="F2F2F2"/>
                  </a:solidFill>
                  <a:latin typeface="Arial"/>
                </a:rPr>
                <a:t>One block</a:t>
              </a:r>
            </a:p>
          </p:txBody>
        </p:sp>
        <p:sp>
          <p:nvSpPr>
            <p:cNvPr id="108" name="TextBox 107"/>
            <p:cNvSpPr txBox="1"/>
            <p:nvPr/>
          </p:nvSpPr>
          <p:spPr>
            <a:xfrm>
              <a:off x="822960" y="1874520"/>
              <a:ext cx="1280160" cy="365760"/>
            </a:xfrm>
            <a:prstGeom prst="rect">
              <a:avLst/>
            </a:prstGeom>
            <a:noFill/>
          </p:spPr>
          <p:txBody>
            <a:bodyPr wrap="square" lIns="0" tIns="0" rIns="0" bIns="0" anchor="ctr">
              <a:noAutofit/>
            </a:bodyPr>
            <a:lstStyle/>
            <a:p>
              <a:pPr algn="l"/>
              <a:r>
                <a:rPr sz="1800" b="1" i="0" lang="en-GB">
                  <a:solidFill>
                    <a:srgbClr val="F2F2F2"/>
                  </a:solidFill>
                  <a:latin typeface="Arial"/>
                </a:rPr>
                <a:t>Waits</a:t>
              </a:r>
            </a:p>
          </p:txBody>
        </p:sp>
        <p:cxnSp>
          <p:nvCxnSpPr>
            <p:cNvPr id="109" name="Connector 108"/>
            <p:cNvCxnSpPr/>
            <p:nvPr/>
          </p:nvCxnSpPr>
          <p:spPr>
            <a:xfrm>
              <a:off x="1554480" y="2240280"/>
              <a:ext cx="320040" cy="484632"/>
            </a:xfrm>
            <a:prstGeom prst="line">
              <a:avLst/>
            </a:prstGeom>
            <a:ln w="28575">
              <a:solidFill>
                <a:srgbClr val="F28C28"/>
              </a:solidFill>
              <a:tailEnd type="triangle" w="lg" len="lg"/>
            </a:ln>
          </p:spPr>
        </p:cxnSp>
      </p:grpSp>
      <p:grpSp>
        <p:nvGrpSpPr>
          <p:cNvPr id="110" name="Legend" descr="Legend: arm flat means stop; arm raised means go."/>
          <p:cNvGrpSpPr/>
          <p:nvPr/>
        </p:nvGrpSpPr>
        <p:grpSpPr>
          <a:xfrm>
            <a:off x="543154" y="4526280"/>
            <a:ext cx="4577486" cy="868680"/>
            <a:chOff x="543154" y="4526280"/>
            <a:chExt cx="4577486" cy="868680"/>
          </a:xfrm>
        </p:grpSpPr>
        <p:sp>
          <p:nvSpPr>
            <p:cNvPr id="111" name="Rounded Rectangle 110"/>
            <p:cNvSpPr/>
            <p:nvPr/>
          </p:nvSpPr>
          <p:spPr>
            <a:xfrm>
              <a:off x="548640" y="4526280"/>
              <a:ext cx="4572000" cy="868680"/>
            </a:xfrm>
            <a:prstGeom prst="roundRect">
              <a:avLst>
                <a:gd name="adj" fmla="val 8421"/>
              </a:avLst>
            </a:prstGeom>
            <a:solidFill>
              <a:srgbClr val="2B2F36"/>
            </a:solidFill>
            <a:ln>
              <a:noFill/>
            </a:ln>
          </p:spPr>
          <p:txBody>
            <a:bodyPr rtlCol="0" anchor="ctr"/>
            <a:lstStyle/>
            <a:p>
              <a:pPr algn="ctr"/>
            </a:p>
          </p:txBody>
        </p:sp>
        <p:grpSp>
          <p:nvGrpSpPr>
            <p:cNvPr id="112" name="Signal stop" descr="Semaphore stop signal, arm flat: STOP."/>
            <p:cNvGrpSpPr/>
            <p:nvPr/>
          </p:nvGrpSpPr>
          <p:grpSpPr>
            <a:xfrm>
              <a:off x="543154" y="4657954"/>
              <a:ext cx="556869" cy="663854"/>
              <a:chOff x="543154" y="4657954"/>
              <a:chExt cx="556869" cy="663854"/>
            </a:xfrm>
          </p:grpSpPr>
          <p:sp>
            <p:nvSpPr>
              <p:cNvPr id="113" name="Rectangle 112"/>
              <p:cNvSpPr/>
              <p:nvPr/>
            </p:nvSpPr>
            <p:spPr>
              <a:xfrm>
                <a:off x="866851" y="5283403"/>
                <a:ext cx="186538" cy="38405"/>
              </a:xfrm>
              <a:prstGeom prst="rect">
                <a:avLst/>
              </a:prstGeom>
              <a:solidFill>
                <a:srgbClr val="9AA0A6"/>
              </a:solidFill>
              <a:ln>
                <a:noFill/>
              </a:ln>
            </p:spPr>
            <p:txBody>
              <a:bodyPr rtlCol="0" anchor="ctr"/>
              <a:lstStyle/>
              <a:p>
                <a:pPr algn="ctr"/>
              </a:p>
            </p:txBody>
          </p:sp>
          <p:sp>
            <p:nvSpPr>
              <p:cNvPr id="114" name="Rectangle 113"/>
              <p:cNvSpPr/>
              <p:nvPr/>
            </p:nvSpPr>
            <p:spPr>
              <a:xfrm>
                <a:off x="927202" y="4718304"/>
                <a:ext cx="65837" cy="603504"/>
              </a:xfrm>
              <a:prstGeom prst="rect">
                <a:avLst/>
              </a:prstGeom>
              <a:solidFill>
                <a:srgbClr val="E8E8E8"/>
              </a:solidFill>
              <a:ln>
                <a:noFill/>
              </a:ln>
            </p:spPr>
            <p:txBody>
              <a:bodyPr rtlCol="0" anchor="ctr"/>
              <a:lstStyle/>
              <a:p>
                <a:pPr algn="ctr"/>
              </a:p>
            </p:txBody>
          </p:sp>
          <p:sp>
            <p:nvSpPr>
              <p:cNvPr id="115" name="Oval 114"/>
              <p:cNvSpPr/>
              <p:nvPr/>
            </p:nvSpPr>
            <p:spPr>
              <a:xfrm>
                <a:off x="921715" y="4657954"/>
                <a:ext cx="76810" cy="76810"/>
              </a:xfrm>
              <a:prstGeom prst="ellipse">
                <a:avLst/>
              </a:prstGeom>
              <a:solidFill>
                <a:srgbClr val="E8E8E8"/>
              </a:solidFill>
              <a:ln>
                <a:noFill/>
              </a:ln>
            </p:spPr>
            <p:txBody>
              <a:bodyPr rtlCol="0" anchor="ctr"/>
              <a:lstStyle/>
              <a:p>
                <a:pPr algn="ctr"/>
              </a:p>
            </p:txBody>
          </p:sp>
          <p:sp>
            <p:nvSpPr>
              <p:cNvPr id="116" name="Freeform 115"/>
              <p:cNvSpPr/>
              <p:nvPr/>
            </p:nvSpPr>
            <p:spPr>
              <a:xfrm>
                <a:off x="543154" y="4806086"/>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117" name="Freeform 116"/>
              <p:cNvSpPr/>
              <p:nvPr/>
            </p:nvSpPr>
            <p:spPr>
              <a:xfrm>
                <a:off x="643006" y="4806086"/>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118" name="Oval 117"/>
              <p:cNvSpPr/>
              <p:nvPr/>
            </p:nvSpPr>
            <p:spPr>
              <a:xfrm>
                <a:off x="1006754" y="4797857"/>
                <a:ext cx="93269" cy="93269"/>
              </a:xfrm>
              <a:prstGeom prst="ellipse">
                <a:avLst/>
              </a:prstGeom>
              <a:solidFill>
                <a:srgbClr val="E5484D"/>
              </a:solidFill>
              <a:ln w="9525">
                <a:solidFill>
                  <a:srgbClr val="101418"/>
                </a:solidFill>
              </a:ln>
            </p:spPr>
            <p:txBody>
              <a:bodyPr rtlCol="0" anchor="ctr"/>
              <a:lstStyle/>
              <a:p>
                <a:pPr algn="ctr"/>
              </a:p>
            </p:txBody>
          </p:sp>
        </p:grpSp>
        <p:sp>
          <p:nvSpPr>
            <p:cNvPr id="119" name="TextBox 118"/>
            <p:cNvSpPr txBox="1"/>
            <p:nvPr/>
          </p:nvSpPr>
          <p:spPr>
            <a:xfrm>
              <a:off x="1508760" y="4617720"/>
              <a:ext cx="1463040" cy="685800"/>
            </a:xfrm>
            <a:prstGeom prst="rect">
              <a:avLst/>
            </a:prstGeom>
            <a:noFill/>
          </p:spPr>
          <p:txBody>
            <a:bodyPr wrap="square" lIns="0" tIns="0" rIns="0" bIns="0" anchor="ctr">
              <a:noAutofit/>
            </a:bodyPr>
            <a:lstStyle/>
            <a:p>
              <a:pPr algn="l"/>
              <a:r>
                <a:rPr sz="1600" b="0" i="0" lang="en-GB">
                  <a:solidFill>
                    <a:srgbClr val="F2F2F2"/>
                  </a:solidFill>
                  <a:latin typeface="Arial"/>
                </a:rPr>
                <a:t>Arm flat: stop</a:t>
              </a:r>
            </a:p>
          </p:txBody>
        </p:sp>
        <p:grpSp>
          <p:nvGrpSpPr>
            <p:cNvPr id="120" name="Signal clear" descr="Semaphore stop signal, arm raised: CLEAR."/>
            <p:cNvGrpSpPr/>
            <p:nvPr/>
          </p:nvGrpSpPr>
          <p:grpSpPr>
            <a:xfrm>
              <a:off x="2823042" y="4545772"/>
              <a:ext cx="471541" cy="776036"/>
              <a:chOff x="2823042" y="4545772"/>
              <a:chExt cx="471541" cy="776036"/>
            </a:xfrm>
          </p:grpSpPr>
          <p:sp>
            <p:nvSpPr>
              <p:cNvPr id="121" name="Rectangle 120"/>
              <p:cNvSpPr/>
              <p:nvPr/>
            </p:nvSpPr>
            <p:spPr>
              <a:xfrm>
                <a:off x="3061411" y="5283403"/>
                <a:ext cx="186538" cy="38405"/>
              </a:xfrm>
              <a:prstGeom prst="rect">
                <a:avLst/>
              </a:prstGeom>
              <a:solidFill>
                <a:srgbClr val="9AA0A6"/>
              </a:solidFill>
              <a:ln>
                <a:noFill/>
              </a:ln>
            </p:spPr>
            <p:txBody>
              <a:bodyPr rtlCol="0" anchor="ctr"/>
              <a:lstStyle/>
              <a:p>
                <a:pPr algn="ctr"/>
              </a:p>
            </p:txBody>
          </p:sp>
          <p:sp>
            <p:nvSpPr>
              <p:cNvPr id="122" name="Rectangle 121"/>
              <p:cNvSpPr/>
              <p:nvPr/>
            </p:nvSpPr>
            <p:spPr>
              <a:xfrm>
                <a:off x="3121762" y="4718304"/>
                <a:ext cx="65837" cy="603504"/>
              </a:xfrm>
              <a:prstGeom prst="rect">
                <a:avLst/>
              </a:prstGeom>
              <a:solidFill>
                <a:srgbClr val="E8E8E8"/>
              </a:solidFill>
              <a:ln>
                <a:noFill/>
              </a:ln>
            </p:spPr>
            <p:txBody>
              <a:bodyPr rtlCol="0" anchor="ctr"/>
              <a:lstStyle/>
              <a:p>
                <a:pPr algn="ctr"/>
              </a:p>
            </p:txBody>
          </p:sp>
          <p:sp>
            <p:nvSpPr>
              <p:cNvPr id="123" name="Oval 122"/>
              <p:cNvSpPr/>
              <p:nvPr/>
            </p:nvSpPr>
            <p:spPr>
              <a:xfrm>
                <a:off x="3116275" y="4657954"/>
                <a:ext cx="76810" cy="76810"/>
              </a:xfrm>
              <a:prstGeom prst="ellipse">
                <a:avLst/>
              </a:prstGeom>
              <a:solidFill>
                <a:srgbClr val="E8E8E8"/>
              </a:solidFill>
              <a:ln>
                <a:noFill/>
              </a:ln>
            </p:spPr>
            <p:txBody>
              <a:bodyPr rtlCol="0" anchor="ctr"/>
              <a:lstStyle/>
              <a:p>
                <a:pPr algn="ctr"/>
              </a:p>
            </p:txBody>
          </p:sp>
          <p:sp>
            <p:nvSpPr>
              <p:cNvPr id="124" name="Freeform 123"/>
              <p:cNvSpPr/>
              <p:nvPr/>
            </p:nvSpPr>
            <p:spPr>
              <a:xfrm>
                <a:off x="2823042" y="4545772"/>
                <a:ext cx="325876" cy="325875"/>
              </a:xfrm>
              <a:custGeom>
                <a:avLst/>
                <a:gdLst/>
                <a:ahLst/>
                <a:cxnLst/>
                <a:rect l="l" t="t" r="r" b="b"/>
                <a:pathLst>
                  <a:path w="325876" h="325875">
                    <a:moveTo>
                      <a:pt x="325876" y="271563"/>
                    </a:moveTo>
                    <a:lnTo>
                      <a:pt x="54313" y="0"/>
                    </a:lnTo>
                    <a:lnTo>
                      <a:pt x="0" y="54313"/>
                    </a:lnTo>
                    <a:lnTo>
                      <a:pt x="271563" y="325875"/>
                    </a:lnTo>
                    <a:close/>
                  </a:path>
                </a:pathLst>
              </a:custGeom>
              <a:solidFill>
                <a:srgbClr val="E5484D"/>
              </a:solidFill>
              <a:ln w="9525">
                <a:solidFill>
                  <a:srgbClr val="101418"/>
                </a:solidFill>
              </a:ln>
            </p:spPr>
            <p:txBody>
              <a:bodyPr rtlCol="0" anchor="ctr"/>
              <a:lstStyle/>
              <a:p>
                <a:pPr algn="ctr"/>
              </a:p>
            </p:txBody>
          </p:sp>
          <p:sp>
            <p:nvSpPr>
              <p:cNvPr id="125" name="Freeform 124"/>
              <p:cNvSpPr/>
              <p:nvPr/>
            </p:nvSpPr>
            <p:spPr>
              <a:xfrm>
                <a:off x="2893649" y="4616378"/>
                <a:ext cx="86900" cy="86900"/>
              </a:xfrm>
              <a:custGeom>
                <a:avLst/>
                <a:gdLst/>
                <a:ahLst/>
                <a:cxnLst/>
                <a:rect l="l" t="t" r="r" b="b"/>
                <a:pathLst>
                  <a:path w="86900" h="86900">
                    <a:moveTo>
                      <a:pt x="86900" y="32588"/>
                    </a:moveTo>
                    <a:lnTo>
                      <a:pt x="54312" y="0"/>
                    </a:lnTo>
                    <a:lnTo>
                      <a:pt x="0" y="54313"/>
                    </a:lnTo>
                    <a:lnTo>
                      <a:pt x="32587" y="86900"/>
                    </a:lnTo>
                    <a:close/>
                  </a:path>
                </a:pathLst>
              </a:custGeom>
              <a:solidFill>
                <a:srgbClr val="FFFFFF"/>
              </a:solidFill>
              <a:ln>
                <a:noFill/>
              </a:ln>
            </p:spPr>
            <p:txBody>
              <a:bodyPr rtlCol="0" anchor="ctr"/>
              <a:lstStyle/>
              <a:p>
                <a:pPr algn="ctr"/>
              </a:p>
            </p:txBody>
          </p:sp>
          <p:sp>
            <p:nvSpPr>
              <p:cNvPr id="126" name="Oval 125"/>
              <p:cNvSpPr/>
              <p:nvPr/>
            </p:nvSpPr>
            <p:spPr>
              <a:xfrm>
                <a:off x="3201314" y="4797857"/>
                <a:ext cx="93269" cy="93269"/>
              </a:xfrm>
              <a:prstGeom prst="ellipse">
                <a:avLst/>
              </a:prstGeom>
              <a:solidFill>
                <a:srgbClr val="3FB950"/>
              </a:solidFill>
              <a:ln w="9525">
                <a:solidFill>
                  <a:srgbClr val="101418"/>
                </a:solidFill>
              </a:ln>
            </p:spPr>
            <p:txBody>
              <a:bodyPr rtlCol="0" anchor="ctr"/>
              <a:lstStyle/>
              <a:p>
                <a:pPr algn="ctr"/>
              </a:p>
            </p:txBody>
          </p:sp>
        </p:grpSp>
        <p:sp>
          <p:nvSpPr>
            <p:cNvPr id="127" name="TextBox 126"/>
            <p:cNvSpPr txBox="1"/>
            <p:nvPr/>
          </p:nvSpPr>
          <p:spPr>
            <a:xfrm>
              <a:off x="3657600" y="4617720"/>
              <a:ext cx="1463040" cy="685800"/>
            </a:xfrm>
            <a:prstGeom prst="rect">
              <a:avLst/>
            </a:prstGeom>
            <a:noFill/>
          </p:spPr>
          <p:txBody>
            <a:bodyPr wrap="square" lIns="0" tIns="0" rIns="0" bIns="0" anchor="ctr">
              <a:noAutofit/>
            </a:bodyPr>
            <a:lstStyle/>
            <a:p>
              <a:pPr algn="l"/>
              <a:r>
                <a:rPr sz="1600" b="0" i="0" lang="en-GB">
                  <a:solidFill>
                    <a:srgbClr val="F2F2F2"/>
                  </a:solidFill>
                  <a:latin typeface="Arial"/>
                </a:rPr>
                <a:t>Arm raised: go</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Signals split the track into blocks. Only one train may be in a block. The next train waits.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28</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6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nodeType="withEffect">
                                  <p:stCondLst>
                                    <p:cond delay="9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Semaphore signals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Inline chip Undecided"/>
          <p:cNvSpPr/>
          <p:nvPr/>
        </p:nvSpPr>
        <p:spPr>
          <a:xfrm>
            <a:off x="9096070" y="896112"/>
            <a:ext cx="2546985"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ARM STYLE: UNDECIDED</a:t>
            </a:r>
          </a:p>
        </p:txBody>
      </p:sp>
      <p:pic>
        <p:nvPicPr>
          <p:cNvPr id="9" name="Picture R03" descr="The mod's semaphore stop signal model with its arm flat (stop)."/>
          <p:cNvPicPr>
            <a:picLocks noChangeAspect="1"/>
          </p:cNvPicPr>
          <p:nvPr/>
        </p:nvPicPr>
        <p:blipFill>
          <a:blip r:embed="rId2"/>
          <a:srcRect l="0" r="0"/>
          <a:stretch>
            <a:fillRect/>
          </a:stretch>
        </p:blipFill>
        <p:spPr>
          <a:xfrm>
            <a:off x="548640" y="1325880"/>
            <a:ext cx="3749040" cy="2811780"/>
          </a:xfrm>
          <a:prstGeom prst="roundRect">
            <a:avLst>
              <a:gd name="adj" fmla="val 2602"/>
            </a:avLst>
          </a:prstGeom>
        </p:spPr>
      </p:pic>
      <p:sp>
        <p:nvSpPr>
          <p:cNvPr id="10" name="Credit"/>
          <p:cNvSpPr txBox="1"/>
          <p:nvPr/>
        </p:nvSpPr>
        <p:spPr>
          <a:xfrm>
            <a:off x="548640" y="4165092"/>
            <a:ext cx="374904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a:p>
            <a:pPr algn="l"/>
            <a:r>
              <a:rPr sz="1000" b="0" i="0" lang="en-GB">
                <a:solidFill>
                  <a:srgbClr val="A9B0B8"/>
                </a:solidFill>
                <a:latin typeface="Arial"/>
              </a:rPr>
              <a:t>Blender model, not yet in the game.</a:t>
            </a:r>
          </a:p>
        </p:txBody>
      </p:sp>
      <p:grpSp>
        <p:nvGrpSpPr>
          <p:cNvPr id="11" name="Label STOP: arm flat" descr="Label: STOP: arm flat"/>
          <p:cNvGrpSpPr/>
          <p:nvPr/>
        </p:nvGrpSpPr>
        <p:grpSpPr>
          <a:xfrm>
            <a:off x="685800" y="1463040"/>
            <a:ext cx="2514600" cy="449085"/>
            <a:chOff x="685800" y="1463040"/>
            <a:chExt cx="2514600" cy="449085"/>
          </a:xfrm>
        </p:grpSpPr>
        <p:sp>
          <p:nvSpPr>
            <p:cNvPr id="12" name="Rounded Rectangle 11"/>
            <p:cNvSpPr/>
            <p:nvPr/>
          </p:nvSpPr>
          <p:spPr>
            <a:xfrm>
              <a:off x="685800" y="1463040"/>
              <a:ext cx="2514600" cy="411480"/>
            </a:xfrm>
            <a:prstGeom prst="roundRect">
              <a:avLst>
                <a:gd name="adj" fmla="val 17777"/>
              </a:avLst>
            </a:prstGeom>
            <a:solidFill>
              <a:srgbClr val="1E2126"/>
            </a:solidFill>
            <a:ln w="19050">
              <a:solidFill>
                <a:srgbClr val="F28C28"/>
              </a:solidFill>
            </a:ln>
          </p:spPr>
          <p:txBody>
            <a:bodyPr rtlCol="0" anchor="ctr" wrap="square" lIns="73152" tIns="36576" rIns="73152" bIns="36576">
              <a:noAutofit/>
            </a:bodyPr>
            <a:lstStyle/>
            <a:p>
              <a:pPr algn="ctr"/>
              <a:r>
                <a:rPr sz="1800" b="1" i="0" lang="en-GB">
                  <a:solidFill>
                    <a:srgbClr val="F2F2F2"/>
                  </a:solidFill>
                  <a:latin typeface="Arial"/>
                </a:rPr>
                <a:t>STOP: arm flat</a:t>
              </a:r>
            </a:p>
          </p:txBody>
        </p:sp>
        <p:cxnSp>
          <p:nvCxnSpPr>
            <p:cNvPr id="13" name="Connector 12"/>
            <p:cNvCxnSpPr/>
            <p:nvPr/>
          </p:nvCxnSpPr>
          <p:spPr>
            <a:xfrm flipH="1">
              <a:off x="2466594" y="1668780"/>
              <a:ext cx="733806" cy="243345"/>
            </a:xfrm>
            <a:prstGeom prst="line">
              <a:avLst/>
            </a:prstGeom>
            <a:ln w="25400">
              <a:solidFill>
                <a:srgbClr val="F28C28"/>
              </a:solidFill>
              <a:tailEnd type="triangle" w="lg" len="lg"/>
            </a:ln>
          </p:spPr>
        </p:cxnSp>
      </p:grpSp>
      <p:pic>
        <p:nvPicPr>
          <p:cNvPr id="14" name="Picture R04" descr="The same signal model with its arm raised (clear)."/>
          <p:cNvPicPr>
            <a:picLocks noChangeAspect="1"/>
          </p:cNvPicPr>
          <p:nvPr/>
        </p:nvPicPr>
        <p:blipFill>
          <a:blip r:embed="rId3"/>
          <a:srcRect l="0" r="0"/>
          <a:stretch>
            <a:fillRect/>
          </a:stretch>
        </p:blipFill>
        <p:spPr>
          <a:xfrm>
            <a:off x="4526280" y="1325880"/>
            <a:ext cx="3749040" cy="2811780"/>
          </a:xfrm>
          <a:prstGeom prst="roundRect">
            <a:avLst>
              <a:gd name="adj" fmla="val 2602"/>
            </a:avLst>
          </a:prstGeom>
        </p:spPr>
      </p:pic>
      <p:sp>
        <p:nvSpPr>
          <p:cNvPr id="15" name="Credit"/>
          <p:cNvSpPr txBox="1"/>
          <p:nvPr/>
        </p:nvSpPr>
        <p:spPr>
          <a:xfrm>
            <a:off x="4526280" y="4165092"/>
            <a:ext cx="374904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a:p>
            <a:pPr algn="l"/>
            <a:r>
              <a:rPr sz="1000" b="0" i="0" lang="en-GB">
                <a:solidFill>
                  <a:srgbClr val="A9B0B8"/>
                </a:solidFill>
                <a:latin typeface="Arial"/>
              </a:rPr>
              <a:t>Blender model, not yet in the game.</a:t>
            </a:r>
          </a:p>
        </p:txBody>
      </p:sp>
      <p:grpSp>
        <p:nvGrpSpPr>
          <p:cNvPr id="16" name="Label CLEAR: arm raised" descr="Label: CLEAR: arm raised"/>
          <p:cNvGrpSpPr/>
          <p:nvPr/>
        </p:nvGrpSpPr>
        <p:grpSpPr>
          <a:xfrm>
            <a:off x="4663440" y="1463040"/>
            <a:ext cx="1986991" cy="777240"/>
            <a:chOff x="4663440" y="1463040"/>
            <a:chExt cx="1986991" cy="777240"/>
          </a:xfrm>
        </p:grpSpPr>
        <p:sp>
          <p:nvSpPr>
            <p:cNvPr id="17" name="Rounded Rectangle 16"/>
            <p:cNvSpPr/>
            <p:nvPr/>
          </p:nvSpPr>
          <p:spPr>
            <a:xfrm>
              <a:off x="4663440" y="1463040"/>
              <a:ext cx="1554480" cy="777240"/>
            </a:xfrm>
            <a:prstGeom prst="roundRect">
              <a:avLst>
                <a:gd name="adj" fmla="val 9411"/>
              </a:avLst>
            </a:prstGeom>
            <a:solidFill>
              <a:srgbClr val="1E2126"/>
            </a:solidFill>
            <a:ln w="19050">
              <a:solidFill>
                <a:srgbClr val="F28C28"/>
              </a:solidFill>
            </a:ln>
          </p:spPr>
          <p:txBody>
            <a:bodyPr rtlCol="0" anchor="ctr" wrap="square" lIns="73152" tIns="36576" rIns="73152" bIns="36576">
              <a:noAutofit/>
            </a:bodyPr>
            <a:lstStyle/>
            <a:p>
              <a:pPr algn="ctr"/>
              <a:r>
                <a:rPr sz="1800" b="1" i="0" lang="en-GB">
                  <a:solidFill>
                    <a:srgbClr val="F2F2F2"/>
                  </a:solidFill>
                  <a:latin typeface="Arial"/>
                </a:rPr>
                <a:t>CLEAR:</a:t>
              </a:r>
            </a:p>
            <a:p>
              <a:pPr algn="ctr"/>
              <a:r>
                <a:rPr sz="1800" b="1" i="0" lang="en-GB">
                  <a:solidFill>
                    <a:srgbClr val="F2F2F2"/>
                  </a:solidFill>
                  <a:latin typeface="Arial"/>
                </a:rPr>
                <a:t>arm raised</a:t>
              </a:r>
            </a:p>
          </p:txBody>
        </p:sp>
        <p:cxnSp>
          <p:nvCxnSpPr>
            <p:cNvPr id="18" name="Connector 17"/>
            <p:cNvCxnSpPr/>
            <p:nvPr/>
          </p:nvCxnSpPr>
          <p:spPr>
            <a:xfrm flipV="1">
              <a:off x="6217920" y="1757477"/>
              <a:ext cx="432511" cy="94183"/>
            </a:xfrm>
            <a:prstGeom prst="line">
              <a:avLst/>
            </a:prstGeom>
            <a:ln w="25400">
              <a:solidFill>
                <a:srgbClr val="F28C28"/>
              </a:solidFill>
              <a:tailEnd type="triangle" w="lg" len="lg"/>
            </a:ln>
          </p:spPr>
        </p:cxnSp>
      </p:grpSp>
      <p:sp>
        <p:nvSpPr>
          <p:cNvPr id="19" name="TextBox 18"/>
          <p:cNvSpPr txBox="1"/>
          <p:nvPr/>
        </p:nvSpPr>
        <p:spPr>
          <a:xfrm>
            <a:off x="8549640" y="1298448"/>
            <a:ext cx="3108960" cy="384048"/>
          </a:xfrm>
          <a:prstGeom prst="rect">
            <a:avLst/>
          </a:prstGeom>
          <a:noFill/>
        </p:spPr>
        <p:txBody>
          <a:bodyPr wrap="square" lIns="0" tIns="0" rIns="0" bIns="0" anchor="t">
            <a:noAutofit/>
          </a:bodyPr>
          <a:lstStyle/>
          <a:p>
            <a:pPr algn="l"/>
            <a:r>
              <a:rPr sz="2000" b="1" i="0" lang="en-GB">
                <a:solidFill>
                  <a:srgbClr val="F28C28"/>
                </a:solidFill>
                <a:latin typeface="Arial"/>
              </a:rPr>
              <a:t>Distant signal</a:t>
            </a:r>
          </a:p>
        </p:txBody>
      </p:sp>
      <p:grpSp>
        <p:nvGrpSpPr>
          <p:cNvPr id="20" name="Distant signal" descr="Distant signal with a yellow fishtail arm. Arm flat: be ready to stop at the next signal. Arm raised: next signal is clear."/>
          <p:cNvGrpSpPr/>
          <p:nvPr/>
        </p:nvGrpSpPr>
        <p:grpSpPr>
          <a:xfrm>
            <a:off x="8553298" y="1802740"/>
            <a:ext cx="3105302" cy="2129180"/>
            <a:chOff x="8553298" y="1802740"/>
            <a:chExt cx="3105302" cy="2129180"/>
          </a:xfrm>
        </p:grpSpPr>
        <p:grpSp>
          <p:nvGrpSpPr>
            <p:cNvPr id="21" name="Signal stop" descr="Distant signal, arm flat: be ready to stop."/>
            <p:cNvGrpSpPr/>
            <p:nvPr/>
          </p:nvGrpSpPr>
          <p:grpSpPr>
            <a:xfrm>
              <a:off x="8553298" y="1802740"/>
              <a:ext cx="788898" cy="940460"/>
              <a:chOff x="8553298" y="1802740"/>
              <a:chExt cx="788898" cy="940460"/>
            </a:xfrm>
          </p:grpSpPr>
          <p:sp>
            <p:nvSpPr>
              <p:cNvPr id="22" name="Rectangle 21"/>
              <p:cNvSpPr/>
              <p:nvPr/>
            </p:nvSpPr>
            <p:spPr>
              <a:xfrm>
                <a:off x="9011869" y="2688793"/>
                <a:ext cx="264262" cy="54407"/>
              </a:xfrm>
              <a:prstGeom prst="rect">
                <a:avLst/>
              </a:prstGeom>
              <a:solidFill>
                <a:srgbClr val="9AA0A6"/>
              </a:solidFill>
              <a:ln>
                <a:noFill/>
              </a:ln>
            </p:spPr>
            <p:txBody>
              <a:bodyPr rtlCol="0" anchor="ctr"/>
              <a:lstStyle/>
              <a:p>
                <a:pPr algn="ctr"/>
              </a:p>
            </p:txBody>
          </p:sp>
          <p:sp>
            <p:nvSpPr>
              <p:cNvPr id="23" name="Rectangle 22"/>
              <p:cNvSpPr/>
              <p:nvPr/>
            </p:nvSpPr>
            <p:spPr>
              <a:xfrm>
                <a:off x="9097366" y="1888236"/>
                <a:ext cx="93269" cy="854964"/>
              </a:xfrm>
              <a:prstGeom prst="rect">
                <a:avLst/>
              </a:prstGeom>
              <a:solidFill>
                <a:srgbClr val="E8E8E8"/>
              </a:solidFill>
              <a:ln>
                <a:noFill/>
              </a:ln>
            </p:spPr>
            <p:txBody>
              <a:bodyPr rtlCol="0" anchor="ctr"/>
              <a:lstStyle/>
              <a:p>
                <a:pPr algn="ctr"/>
              </a:p>
            </p:txBody>
          </p:sp>
          <p:sp>
            <p:nvSpPr>
              <p:cNvPr id="24" name="Oval 23"/>
              <p:cNvSpPr/>
              <p:nvPr/>
            </p:nvSpPr>
            <p:spPr>
              <a:xfrm>
                <a:off x="9089593" y="1802740"/>
                <a:ext cx="108814" cy="108814"/>
              </a:xfrm>
              <a:prstGeom prst="ellipse">
                <a:avLst/>
              </a:prstGeom>
              <a:solidFill>
                <a:srgbClr val="E8E8E8"/>
              </a:solidFill>
              <a:ln>
                <a:noFill/>
              </a:ln>
            </p:spPr>
            <p:txBody>
              <a:bodyPr rtlCol="0" anchor="ctr"/>
              <a:lstStyle/>
              <a:p>
                <a:pPr algn="ctr"/>
              </a:p>
            </p:txBody>
          </p:sp>
          <p:sp>
            <p:nvSpPr>
              <p:cNvPr id="25" name="Freeform 24"/>
              <p:cNvSpPr/>
              <p:nvPr/>
            </p:nvSpPr>
            <p:spPr>
              <a:xfrm>
                <a:off x="8553298" y="2003450"/>
                <a:ext cx="544068" cy="127102"/>
              </a:xfrm>
              <a:custGeom>
                <a:avLst/>
                <a:gdLst/>
                <a:ahLst/>
                <a:cxnLst/>
                <a:rect l="l" t="t" r="r" b="b"/>
                <a:pathLst>
                  <a:path w="544068" h="127102">
                    <a:moveTo>
                      <a:pt x="544068" y="0"/>
                    </a:moveTo>
                    <a:lnTo>
                      <a:pt x="0" y="0"/>
                    </a:lnTo>
                    <a:lnTo>
                      <a:pt x="146304" y="63551"/>
                    </a:lnTo>
                    <a:lnTo>
                      <a:pt x="0" y="127102"/>
                    </a:lnTo>
                    <a:lnTo>
                      <a:pt x="544068" y="127102"/>
                    </a:lnTo>
                    <a:close/>
                  </a:path>
                </a:pathLst>
              </a:custGeom>
              <a:solidFill>
                <a:srgbClr val="F2C14E"/>
              </a:solidFill>
              <a:ln w="9525">
                <a:solidFill>
                  <a:srgbClr val="101418"/>
                </a:solidFill>
              </a:ln>
            </p:spPr>
            <p:txBody>
              <a:bodyPr rtlCol="0" anchor="ctr"/>
              <a:lstStyle/>
              <a:p>
                <a:pPr algn="ctr"/>
              </a:p>
            </p:txBody>
          </p:sp>
          <p:sp>
            <p:nvSpPr>
              <p:cNvPr id="26" name="Freeform 25"/>
              <p:cNvSpPr/>
              <p:nvPr/>
            </p:nvSpPr>
            <p:spPr>
              <a:xfrm>
                <a:off x="8798128" y="2003450"/>
                <a:ext cx="54407" cy="127102"/>
              </a:xfrm>
              <a:custGeom>
                <a:avLst/>
                <a:gdLst/>
                <a:ahLst/>
                <a:cxnLst/>
                <a:rect l="l" t="t" r="r" b="b"/>
                <a:pathLst>
                  <a:path w="54407" h="127102">
                    <a:moveTo>
                      <a:pt x="54407" y="0"/>
                    </a:moveTo>
                    <a:lnTo>
                      <a:pt x="0" y="0"/>
                    </a:lnTo>
                    <a:lnTo>
                      <a:pt x="0" y="127102"/>
                    </a:lnTo>
                    <a:lnTo>
                      <a:pt x="54407" y="127102"/>
                    </a:lnTo>
                    <a:close/>
                  </a:path>
                </a:pathLst>
              </a:custGeom>
              <a:solidFill>
                <a:srgbClr val="101418"/>
              </a:solidFill>
              <a:ln>
                <a:noFill/>
              </a:ln>
            </p:spPr>
            <p:txBody>
              <a:bodyPr rtlCol="0" anchor="ctr"/>
              <a:lstStyle/>
              <a:p>
                <a:pPr algn="ctr"/>
              </a:p>
            </p:txBody>
          </p:sp>
          <p:sp>
            <p:nvSpPr>
              <p:cNvPr id="27" name="Oval 26"/>
              <p:cNvSpPr/>
              <p:nvPr/>
            </p:nvSpPr>
            <p:spPr>
              <a:xfrm>
                <a:off x="9210065" y="2000936"/>
                <a:ext cx="132131" cy="132131"/>
              </a:xfrm>
              <a:prstGeom prst="ellipse">
                <a:avLst/>
              </a:prstGeom>
              <a:solidFill>
                <a:srgbClr val="F2C14E"/>
              </a:solidFill>
              <a:ln w="9525">
                <a:solidFill>
                  <a:srgbClr val="101418"/>
                </a:solidFill>
              </a:ln>
            </p:spPr>
            <p:txBody>
              <a:bodyPr rtlCol="0" anchor="ctr"/>
              <a:lstStyle/>
              <a:p>
                <a:pPr algn="ctr"/>
              </a:p>
            </p:txBody>
          </p:sp>
        </p:grpSp>
        <p:sp>
          <p:nvSpPr>
            <p:cNvPr id="28" name="TextBox 27"/>
            <p:cNvSpPr txBox="1"/>
            <p:nvPr/>
          </p:nvSpPr>
          <p:spPr>
            <a:xfrm>
              <a:off x="9464040" y="1874520"/>
              <a:ext cx="2194560" cy="822960"/>
            </a:xfrm>
            <a:prstGeom prst="rect">
              <a:avLst/>
            </a:prstGeom>
            <a:noFill/>
          </p:spPr>
          <p:txBody>
            <a:bodyPr wrap="square" lIns="0" tIns="0" rIns="0" bIns="0" anchor="ctr">
              <a:noAutofit/>
            </a:bodyPr>
            <a:lstStyle/>
            <a:p>
              <a:pPr algn="l"/>
              <a:r>
                <a:rPr sz="1600" b="0" i="0" lang="en-GB">
                  <a:solidFill>
                    <a:srgbClr val="F2F2F2"/>
                  </a:solidFill>
                  <a:latin typeface="Arial"/>
                </a:rPr>
                <a:t>Be ready to stop at the next signal</a:t>
              </a:r>
            </a:p>
          </p:txBody>
        </p:sp>
        <p:grpSp>
          <p:nvGrpSpPr>
            <p:cNvPr id="29" name="Signal clear" descr="Distant signal, arm raised: next signal clear."/>
            <p:cNvGrpSpPr/>
            <p:nvPr/>
          </p:nvGrpSpPr>
          <p:grpSpPr>
            <a:xfrm>
              <a:off x="8667714" y="2826070"/>
              <a:ext cx="674482" cy="1105850"/>
              <a:chOff x="8667714" y="2826070"/>
              <a:chExt cx="674482" cy="1105850"/>
            </a:xfrm>
          </p:grpSpPr>
          <p:sp>
            <p:nvSpPr>
              <p:cNvPr id="30" name="Rectangle 29"/>
              <p:cNvSpPr/>
              <p:nvPr/>
            </p:nvSpPr>
            <p:spPr>
              <a:xfrm>
                <a:off x="9011869" y="3877513"/>
                <a:ext cx="264262" cy="54407"/>
              </a:xfrm>
              <a:prstGeom prst="rect">
                <a:avLst/>
              </a:prstGeom>
              <a:solidFill>
                <a:srgbClr val="9AA0A6"/>
              </a:solidFill>
              <a:ln>
                <a:noFill/>
              </a:ln>
            </p:spPr>
            <p:txBody>
              <a:bodyPr rtlCol="0" anchor="ctr"/>
              <a:lstStyle/>
              <a:p>
                <a:pPr algn="ctr"/>
              </a:p>
            </p:txBody>
          </p:sp>
          <p:sp>
            <p:nvSpPr>
              <p:cNvPr id="31" name="Rectangle 30"/>
              <p:cNvSpPr/>
              <p:nvPr/>
            </p:nvSpPr>
            <p:spPr>
              <a:xfrm>
                <a:off x="9097366" y="3076956"/>
                <a:ext cx="93269" cy="854964"/>
              </a:xfrm>
              <a:prstGeom prst="rect">
                <a:avLst/>
              </a:prstGeom>
              <a:solidFill>
                <a:srgbClr val="E8E8E8"/>
              </a:solidFill>
              <a:ln>
                <a:noFill/>
              </a:ln>
            </p:spPr>
            <p:txBody>
              <a:bodyPr rtlCol="0" anchor="ctr"/>
              <a:lstStyle/>
              <a:p>
                <a:pPr algn="ctr"/>
              </a:p>
            </p:txBody>
          </p:sp>
          <p:sp>
            <p:nvSpPr>
              <p:cNvPr id="32" name="Oval 31"/>
              <p:cNvSpPr/>
              <p:nvPr/>
            </p:nvSpPr>
            <p:spPr>
              <a:xfrm>
                <a:off x="9089593" y="2991460"/>
                <a:ext cx="108814" cy="108814"/>
              </a:xfrm>
              <a:prstGeom prst="ellipse">
                <a:avLst/>
              </a:prstGeom>
              <a:solidFill>
                <a:srgbClr val="E8E8E8"/>
              </a:solidFill>
              <a:ln>
                <a:noFill/>
              </a:ln>
            </p:spPr>
            <p:txBody>
              <a:bodyPr rtlCol="0" anchor="ctr"/>
              <a:lstStyle/>
              <a:p>
                <a:pPr algn="ctr"/>
              </a:p>
            </p:txBody>
          </p:sp>
          <p:sp>
            <p:nvSpPr>
              <p:cNvPr id="33" name="Freeform 32"/>
              <p:cNvSpPr/>
              <p:nvPr/>
            </p:nvSpPr>
            <p:spPr>
              <a:xfrm>
                <a:off x="8667714" y="2826070"/>
                <a:ext cx="474589" cy="474588"/>
              </a:xfrm>
              <a:custGeom>
                <a:avLst/>
                <a:gdLst/>
                <a:ahLst/>
                <a:cxnLst/>
                <a:rect l="l" t="t" r="r" b="b"/>
                <a:pathLst>
                  <a:path w="474589" h="474588">
                    <a:moveTo>
                      <a:pt x="474589" y="384714"/>
                    </a:moveTo>
                    <a:lnTo>
                      <a:pt x="89875" y="0"/>
                    </a:lnTo>
                    <a:lnTo>
                      <a:pt x="148390" y="148390"/>
                    </a:lnTo>
                    <a:lnTo>
                      <a:pt x="0" y="89874"/>
                    </a:lnTo>
                    <a:lnTo>
                      <a:pt x="384714" y="474588"/>
                    </a:lnTo>
                    <a:close/>
                  </a:path>
                </a:pathLst>
              </a:custGeom>
              <a:solidFill>
                <a:srgbClr val="F2C14E"/>
              </a:solidFill>
              <a:ln w="9525">
                <a:solidFill>
                  <a:srgbClr val="101418"/>
                </a:solidFill>
              </a:ln>
            </p:spPr>
            <p:txBody>
              <a:bodyPr rtlCol="0" anchor="ctr"/>
              <a:lstStyle/>
              <a:p>
                <a:pPr algn="ctr"/>
              </a:p>
            </p:txBody>
          </p:sp>
          <p:sp>
            <p:nvSpPr>
              <p:cNvPr id="34" name="Freeform 33"/>
              <p:cNvSpPr/>
              <p:nvPr/>
            </p:nvSpPr>
            <p:spPr>
              <a:xfrm>
                <a:off x="8840836" y="2999191"/>
                <a:ext cx="128345" cy="128346"/>
              </a:xfrm>
              <a:custGeom>
                <a:avLst/>
                <a:gdLst/>
                <a:ahLst/>
                <a:cxnLst/>
                <a:rect l="l" t="t" r="r" b="b"/>
                <a:pathLst>
                  <a:path w="128345" h="128346">
                    <a:moveTo>
                      <a:pt x="128345" y="38472"/>
                    </a:moveTo>
                    <a:lnTo>
                      <a:pt x="89874" y="0"/>
                    </a:lnTo>
                    <a:lnTo>
                      <a:pt x="0" y="89875"/>
                    </a:lnTo>
                    <a:lnTo>
                      <a:pt x="38471" y="128346"/>
                    </a:lnTo>
                    <a:close/>
                  </a:path>
                </a:pathLst>
              </a:custGeom>
              <a:solidFill>
                <a:srgbClr val="101418"/>
              </a:solidFill>
              <a:ln>
                <a:noFill/>
              </a:ln>
            </p:spPr>
            <p:txBody>
              <a:bodyPr rtlCol="0" anchor="ctr"/>
              <a:lstStyle/>
              <a:p>
                <a:pPr algn="ctr"/>
              </a:p>
            </p:txBody>
          </p:sp>
          <p:sp>
            <p:nvSpPr>
              <p:cNvPr id="35" name="Oval 34"/>
              <p:cNvSpPr/>
              <p:nvPr/>
            </p:nvSpPr>
            <p:spPr>
              <a:xfrm>
                <a:off x="9210065" y="3189656"/>
                <a:ext cx="132131" cy="132131"/>
              </a:xfrm>
              <a:prstGeom prst="ellipse">
                <a:avLst/>
              </a:prstGeom>
              <a:solidFill>
                <a:srgbClr val="3FB950"/>
              </a:solidFill>
              <a:ln w="9525">
                <a:solidFill>
                  <a:srgbClr val="101418"/>
                </a:solidFill>
              </a:ln>
            </p:spPr>
            <p:txBody>
              <a:bodyPr rtlCol="0" anchor="ctr"/>
              <a:lstStyle/>
              <a:p>
                <a:pPr algn="ctr"/>
              </a:p>
            </p:txBody>
          </p:sp>
        </p:grpSp>
        <p:sp>
          <p:nvSpPr>
            <p:cNvPr id="36" name="TextBox 35"/>
            <p:cNvSpPr txBox="1"/>
            <p:nvPr/>
          </p:nvSpPr>
          <p:spPr>
            <a:xfrm>
              <a:off x="9464040" y="3154680"/>
              <a:ext cx="2194560" cy="731520"/>
            </a:xfrm>
            <a:prstGeom prst="rect">
              <a:avLst/>
            </a:prstGeom>
            <a:noFill/>
          </p:spPr>
          <p:txBody>
            <a:bodyPr wrap="square" lIns="0" tIns="0" rIns="0" bIns="0" anchor="ctr">
              <a:noAutofit/>
            </a:bodyPr>
            <a:lstStyle/>
            <a:p>
              <a:pPr algn="l"/>
              <a:r>
                <a:rPr sz="1600" b="0" i="0" lang="en-GB">
                  <a:solidFill>
                    <a:srgbClr val="F2F2F2"/>
                  </a:solidFill>
                  <a:latin typeface="Arial"/>
                </a:rPr>
                <a:t>Next signal is clear</a:t>
              </a:r>
            </a:p>
          </p:txBody>
        </p:sp>
      </p:grpSp>
      <p:pic>
        <p:nvPicPr>
          <p:cNvPr id="37" name="Picture P13" descr="A semaphore distant signal beside the line near Henley-in-Arden, arm raised."/>
          <p:cNvPicPr>
            <a:picLocks noChangeAspect="1"/>
          </p:cNvPicPr>
          <p:nvPr/>
        </p:nvPicPr>
        <p:blipFill>
          <a:blip r:embed="rId4"/>
          <a:srcRect t="11523" b="11523"/>
          <a:stretch>
            <a:fillRect/>
          </a:stretch>
        </p:blipFill>
        <p:spPr>
          <a:xfrm>
            <a:off x="9445752" y="4069080"/>
            <a:ext cx="1828800" cy="1097280"/>
          </a:xfrm>
          <a:prstGeom prst="roundRect">
            <a:avLst>
              <a:gd name="adj" fmla="val 6667"/>
            </a:avLst>
          </a:prstGeom>
        </p:spPr>
      </p:pic>
      <p:sp>
        <p:nvSpPr>
          <p:cNvPr id="38" name="Credit"/>
          <p:cNvSpPr txBox="1"/>
          <p:nvPr/>
        </p:nvSpPr>
        <p:spPr>
          <a:xfrm>
            <a:off x="9445752" y="5193792"/>
            <a:ext cx="1828800" cy="493776"/>
          </a:xfrm>
          <a:prstGeom prst="rect">
            <a:avLst/>
          </a:prstGeom>
          <a:noFill/>
        </p:spPr>
        <p:txBody>
          <a:bodyPr wrap="square" lIns="0" tIns="0" rIns="0" bIns="0" anchor="t">
            <a:noAutofit/>
          </a:bodyPr>
          <a:lstStyle/>
          <a:p>
            <a:pPr algn="l"/>
            <a:r>
              <a:rPr sz="1000" b="0" i="0" lang="en-GB">
                <a:solidFill>
                  <a:srgbClr val="A9B0B8"/>
                </a:solidFill>
                <a:latin typeface="Arial"/>
              </a:rPr>
              <a:t>Photo: Richard Dunn, CC BY-SA 2.0, Wikimedia Commons.</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Arm flat means stop. Arm raised means go. On real railways, a broken wire drops the arm to stop.</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29</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18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36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nodeType="withEffect">
                                  <p:stCondLst>
                                    <p:cond delay="54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childTnLst>
                                </p:cTn>
                              </p:par>
                              <p:par>
                                <p:cTn id="17" presetID="10" presetClass="entr" presetSubtype="0" fill="hold" nodeType="withEffect">
                                  <p:stCondLst>
                                    <p:cond delay="72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500"/>
                                        <p:tgtEl>
                                          <p:spTgt spid="16"/>
                                        </p:tgtEl>
                                      </p:cBhvr>
                                    </p:animEffect>
                                  </p:childTnLst>
                                </p:cTn>
                              </p:par>
                              <p:par>
                                <p:cTn id="20" presetID="10" presetClass="entr" presetSubtype="0" fill="hold" nodeType="withEffect">
                                  <p:stCondLst>
                                    <p:cond delay="90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par>
                                <p:cTn id="23" presetID="10" presetClass="entr" presetSubtype="0" fill="hold" nodeType="withEffect">
                                  <p:stCondLst>
                                    <p:cond delay="1080"/>
                                  </p:stCondLst>
                                  <p:childTnLst>
                                    <p:set>
                                      <p:cBhvr>
                                        <p:cTn id="24" dur="1" fill="hold">
                                          <p:stCondLst>
                                            <p:cond delay="0"/>
                                          </p:stCondLst>
                                        </p:cTn>
                                        <p:tgtEl>
                                          <p:spTgt spid="20"/>
                                        </p:tgtEl>
                                        <p:attrNameLst>
                                          <p:attrName>style.visibility</p:attrName>
                                        </p:attrNameLst>
                                      </p:cBhvr>
                                      <p:to>
                                        <p:strVal val="visible"/>
                                      </p:to>
                                    </p:set>
                                    <p:animEffect transition="in" filter="fade">
                                      <p:cBhvr>
                                        <p:cTn id="25" dur="500"/>
                                        <p:tgtEl>
                                          <p:spTgt spid="20"/>
                                        </p:tgtEl>
                                      </p:cBhvr>
                                    </p:animEffect>
                                  </p:childTnLst>
                                </p:cTn>
                              </p:par>
                              <p:par>
                                <p:cTn id="26" presetID="10" presetClass="entr" presetSubtype="0" fill="hold" nodeType="withEffect">
                                  <p:stCondLst>
                                    <p:cond delay="1260"/>
                                  </p:stCondLst>
                                  <p:childTnLst>
                                    <p:set>
                                      <p:cBhvr>
                                        <p:cTn id="27" dur="1" fill="hold">
                                          <p:stCondLst>
                                            <p:cond delay="0"/>
                                          </p:stCondLst>
                                        </p:cTn>
                                        <p:tgtEl>
                                          <p:spTgt spid="37"/>
                                        </p:tgtEl>
                                        <p:attrNameLst>
                                          <p:attrName>style.visibility</p:attrName>
                                        </p:attrNameLst>
                                      </p:cBhvr>
                                      <p:to>
                                        <p:strVal val="visible"/>
                                      </p:to>
                                    </p:set>
                                    <p:animEffect transition="in" filter="fade">
                                      <p:cBhvr>
                                        <p:cTn id="28" dur="500"/>
                                        <p:tgtEl>
                                          <p:spTgt spid="37"/>
                                        </p:tgtEl>
                                      </p:cBhvr>
                                    </p:animEffect>
                                  </p:childTnLst>
                                </p:cTn>
                              </p:par>
                              <p:par>
                                <p:cTn id="29" presetID="10" presetClass="entr" presetSubtype="0" fill="hold" nodeType="withEffect">
                                  <p:stCondLst>
                                    <p:cond delay="144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par>
                                <p:cTn id="32" presetID="10" presetClass="entr" presetSubtype="0" fill="hold" nodeType="withEffect">
                                  <p:stCondLst>
                                    <p:cond delay="162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The signal box</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4" descr="Williton signal box on the West Somerset Railway."/>
          <p:cNvPicPr>
            <a:picLocks noChangeAspect="1"/>
          </p:cNvPicPr>
          <p:nvPr/>
        </p:nvPicPr>
        <p:blipFill>
          <a:blip r:embed="rId2"/>
          <a:srcRect l="0" r="0"/>
          <a:stretch>
            <a:fillRect/>
          </a:stretch>
        </p:blipFill>
        <p:spPr>
          <a:xfrm>
            <a:off x="548640" y="1325880"/>
            <a:ext cx="3017520" cy="4023360"/>
          </a:xfrm>
          <a:prstGeom prst="roundRect">
            <a:avLst>
              <a:gd name="adj" fmla="val 2424"/>
            </a:avLst>
          </a:prstGeom>
        </p:spPr>
      </p:pic>
      <p:sp>
        <p:nvSpPr>
          <p:cNvPr id="9" name="Credit"/>
          <p:cNvSpPr txBox="1"/>
          <p:nvPr/>
        </p:nvSpPr>
        <p:spPr>
          <a:xfrm>
            <a:off x="548640" y="5376672"/>
            <a:ext cx="3017520" cy="338328"/>
          </a:xfrm>
          <a:prstGeom prst="rect">
            <a:avLst/>
          </a:prstGeom>
          <a:noFill/>
        </p:spPr>
        <p:txBody>
          <a:bodyPr wrap="square" lIns="0" tIns="0" rIns="0" bIns="0" anchor="t">
            <a:noAutofit/>
          </a:bodyPr>
          <a:lstStyle/>
          <a:p>
            <a:pPr algn="l"/>
            <a:r>
              <a:rPr sz="1000" b="0" i="0" lang="en-GB">
                <a:solidFill>
                  <a:srgbClr val="A9B0B8"/>
                </a:solidFill>
                <a:latin typeface="Arial"/>
              </a:rPr>
              <a:t>Photo: Reading Tom, CC BY 2.0, Wikimedia Commons.</a:t>
            </a:r>
          </a:p>
        </p:txBody>
      </p:sp>
      <p:grpSp>
        <p:nvGrpSpPr>
          <p:cNvPr id="10" name="Signal box cutaway" descr="Cutaway of a two-floor signal box. Upstairs, on the operating floor, a signaller stands at a row of eight coloured levers under a track diagram. Downstairs, in the locking room, rods leave the wall and run out to the signals and points."/>
          <p:cNvGrpSpPr/>
          <p:nvPr/>
        </p:nvGrpSpPr>
        <p:grpSpPr>
          <a:xfrm>
            <a:off x="3840480" y="1371600"/>
            <a:ext cx="5715000" cy="3758184"/>
            <a:chOff x="3840480" y="1371600"/>
            <a:chExt cx="5715000" cy="3758184"/>
          </a:xfrm>
        </p:grpSpPr>
        <p:sp>
          <p:nvSpPr>
            <p:cNvPr id="11" name="Rectangle 10"/>
            <p:cNvSpPr/>
            <p:nvPr/>
          </p:nvSpPr>
          <p:spPr>
            <a:xfrm>
              <a:off x="4800600" y="1371600"/>
              <a:ext cx="4754880" cy="3154680"/>
            </a:xfrm>
            <a:prstGeom prst="rect">
              <a:avLst/>
            </a:prstGeom>
            <a:solidFill>
              <a:srgbClr val="2B2F36"/>
            </a:solidFill>
            <a:ln w="19050">
              <a:solidFill>
                <a:srgbClr val="F28C28"/>
              </a:solidFill>
            </a:ln>
          </p:spPr>
          <p:txBody>
            <a:bodyPr rtlCol="0" anchor="ctr"/>
            <a:lstStyle/>
            <a:p>
              <a:pPr algn="ctr"/>
            </a:p>
          </p:txBody>
        </p:sp>
        <p:cxnSp>
          <p:nvCxnSpPr>
            <p:cNvPr id="12" name="Connector 11"/>
            <p:cNvCxnSpPr/>
            <p:nvPr/>
          </p:nvCxnSpPr>
          <p:spPr>
            <a:xfrm>
              <a:off x="4800600" y="3337560"/>
              <a:ext cx="4754880" cy="0"/>
            </a:xfrm>
            <a:prstGeom prst="line">
              <a:avLst/>
            </a:prstGeom>
            <a:ln w="19050">
              <a:solidFill>
                <a:srgbClr val="F28C28"/>
              </a:solidFill>
            </a:ln>
          </p:spPr>
        </p:cxnSp>
        <p:sp>
          <p:nvSpPr>
            <p:cNvPr id="13" name="TextBox 12"/>
            <p:cNvSpPr txBox="1"/>
            <p:nvPr/>
          </p:nvSpPr>
          <p:spPr>
            <a:xfrm>
              <a:off x="4910328" y="1444752"/>
              <a:ext cx="1828800" cy="292608"/>
            </a:xfrm>
            <a:prstGeom prst="rect">
              <a:avLst/>
            </a:prstGeom>
            <a:noFill/>
          </p:spPr>
          <p:txBody>
            <a:bodyPr wrap="square" lIns="0" tIns="0" rIns="0" bIns="0" anchor="t">
              <a:noAutofit/>
            </a:bodyPr>
            <a:lstStyle/>
            <a:p>
              <a:pPr algn="l"/>
              <a:r>
                <a:rPr sz="1400" b="1" i="0" lang="en-GB">
                  <a:solidFill>
                    <a:srgbClr val="F28C28"/>
                  </a:solidFill>
                  <a:latin typeface="Arial"/>
                </a:rPr>
                <a:t>Operating floor</a:t>
              </a:r>
            </a:p>
          </p:txBody>
        </p:sp>
        <p:sp>
          <p:nvSpPr>
            <p:cNvPr id="14" name="Rectangle 13"/>
            <p:cNvSpPr/>
            <p:nvPr/>
          </p:nvSpPr>
          <p:spPr>
            <a:xfrm>
              <a:off x="6400800" y="1481328"/>
              <a:ext cx="3017520" cy="274320"/>
            </a:xfrm>
            <a:prstGeom prst="rect">
              <a:avLst/>
            </a:prstGeom>
            <a:solidFill>
              <a:srgbClr val="37587C"/>
            </a:solidFill>
            <a:ln w="9525">
              <a:solidFill>
                <a:srgbClr val="9AA0A6"/>
              </a:solidFill>
            </a:ln>
          </p:spPr>
          <p:txBody>
            <a:bodyPr rtlCol="0" anchor="ctr"/>
            <a:lstStyle/>
            <a:p>
              <a:pPr algn="ctr"/>
            </a:p>
          </p:txBody>
        </p:sp>
        <p:sp>
          <p:nvSpPr>
            <p:cNvPr id="15" name="Rectangle 14"/>
            <p:cNvSpPr/>
            <p:nvPr/>
          </p:nvSpPr>
          <p:spPr>
            <a:xfrm>
              <a:off x="5715000" y="1874520"/>
              <a:ext cx="2377440" cy="219456"/>
            </a:xfrm>
            <a:prstGeom prst="rect">
              <a:avLst/>
            </a:prstGeom>
            <a:solidFill>
              <a:srgbClr val="F2F2F2"/>
            </a:solidFill>
            <a:ln>
              <a:noFill/>
            </a:ln>
          </p:spPr>
          <p:txBody>
            <a:bodyPr rtlCol="0" anchor="ctr"/>
            <a:lstStyle/>
            <a:p>
              <a:pPr algn="ctr"/>
            </a:p>
          </p:txBody>
        </p:sp>
        <p:sp>
          <p:nvSpPr>
            <p:cNvPr id="16" name="Freeform 15"/>
            <p:cNvSpPr/>
            <p:nvPr/>
          </p:nvSpPr>
          <p:spPr>
            <a:xfrm>
              <a:off x="5806440" y="1920240"/>
              <a:ext cx="2194560" cy="64008"/>
            </a:xfrm>
            <a:custGeom>
              <a:avLst/>
              <a:gdLst/>
              <a:ahLst/>
              <a:cxnLst/>
              <a:rect l="l" t="t" r="r" b="b"/>
              <a:pathLst>
                <a:path w="2194560" h="64008">
                  <a:moveTo>
                    <a:pt x="0" y="64008"/>
                  </a:moveTo>
                  <a:lnTo>
                    <a:pt x="1005840" y="64008"/>
                  </a:lnTo>
                  <a:lnTo>
                    <a:pt x="1280160" y="0"/>
                  </a:lnTo>
                  <a:lnTo>
                    <a:pt x="2194560" y="0"/>
                  </a:lnTo>
                </a:path>
              </a:pathLst>
            </a:custGeom>
            <a:noFill/>
            <a:ln w="19050">
              <a:solidFill>
                <a:srgbClr val="101418"/>
              </a:solidFill>
            </a:ln>
          </p:spPr>
          <p:txBody>
            <a:bodyPr rtlCol="0" anchor="ctr"/>
            <a:lstStyle/>
            <a:p>
              <a:pPr algn="ctr"/>
            </a:p>
          </p:txBody>
        </p:sp>
        <p:grpSp>
          <p:nvGrpSpPr>
            <p:cNvPr id="17" name="Person" descr="A signaller."/>
            <p:cNvGrpSpPr/>
            <p:nvPr/>
          </p:nvGrpSpPr>
          <p:grpSpPr>
            <a:xfrm>
              <a:off x="4943246" y="2250338"/>
              <a:ext cx="482803" cy="995782"/>
              <a:chOff x="4943246" y="2250338"/>
              <a:chExt cx="482803" cy="995782"/>
            </a:xfrm>
          </p:grpSpPr>
          <p:sp>
            <p:nvSpPr>
              <p:cNvPr id="18" name="Oval 17"/>
              <p:cNvSpPr/>
              <p:nvPr/>
            </p:nvSpPr>
            <p:spPr>
              <a:xfrm>
                <a:off x="5033772" y="2250338"/>
                <a:ext cx="301752" cy="301752"/>
              </a:xfrm>
              <a:prstGeom prst="ellipse">
                <a:avLst/>
              </a:prstGeom>
              <a:solidFill>
                <a:srgbClr val="E8E8E8"/>
              </a:solidFill>
              <a:ln>
                <a:noFill/>
              </a:ln>
            </p:spPr>
            <p:txBody>
              <a:bodyPr rtlCol="0" anchor="ctr"/>
              <a:lstStyle/>
              <a:p>
                <a:pPr algn="ctr"/>
              </a:p>
            </p:txBody>
          </p:sp>
          <p:sp>
            <p:nvSpPr>
              <p:cNvPr id="19" name="Rounded Rectangle 18"/>
              <p:cNvSpPr/>
              <p:nvPr/>
            </p:nvSpPr>
            <p:spPr>
              <a:xfrm>
                <a:off x="4943246" y="2602382"/>
                <a:ext cx="482803" cy="643738"/>
              </a:xfrm>
              <a:prstGeom prst="roundRect">
                <a:avLst>
                  <a:gd name="adj" fmla="val 41666"/>
                </a:avLst>
              </a:prstGeom>
              <a:solidFill>
                <a:srgbClr val="E8E8E8"/>
              </a:solidFill>
              <a:ln>
                <a:noFill/>
              </a:ln>
            </p:spPr>
            <p:txBody>
              <a:bodyPr rtlCol="0" anchor="ctr"/>
              <a:lstStyle/>
              <a:p>
                <a:pPr algn="ctr"/>
              </a:p>
            </p:txBody>
          </p:sp>
        </p:grpSp>
        <p:sp>
          <p:nvSpPr>
            <p:cNvPr id="20" name="Rounded Rectangle 19"/>
            <p:cNvSpPr/>
            <p:nvPr/>
          </p:nvSpPr>
          <p:spPr>
            <a:xfrm>
              <a:off x="5715000" y="2240280"/>
              <a:ext cx="109728" cy="77724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1" name="Oval 20"/>
            <p:cNvSpPr/>
            <p:nvPr/>
          </p:nvSpPr>
          <p:spPr>
            <a:xfrm>
              <a:off x="5671109" y="2918765"/>
              <a:ext cx="197510" cy="197510"/>
            </a:xfrm>
            <a:prstGeom prst="ellipse">
              <a:avLst/>
            </a:prstGeom>
            <a:solidFill>
              <a:srgbClr val="9AA0A6"/>
            </a:solidFill>
            <a:ln>
              <a:noFill/>
            </a:ln>
          </p:spPr>
          <p:txBody>
            <a:bodyPr rtlCol="0" anchor="ctr"/>
            <a:lstStyle/>
            <a:p>
              <a:pPr algn="ctr"/>
            </a:p>
          </p:txBody>
        </p:sp>
        <p:sp>
          <p:nvSpPr>
            <p:cNvPr id="22" name="Rounded Rectangle 21"/>
            <p:cNvSpPr/>
            <p:nvPr/>
          </p:nvSpPr>
          <p:spPr>
            <a:xfrm>
              <a:off x="5696712" y="2185416"/>
              <a:ext cx="146304" cy="109728"/>
            </a:xfrm>
            <a:prstGeom prst="roundRect">
              <a:avLst>
                <a:gd name="adj" fmla="val 25000"/>
              </a:avLst>
            </a:prstGeom>
            <a:solidFill>
              <a:srgbClr val="9AA0A6"/>
            </a:solidFill>
            <a:ln>
              <a:noFill/>
            </a:ln>
          </p:spPr>
          <p:txBody>
            <a:bodyPr rtlCol="0" anchor="ctr"/>
            <a:lstStyle/>
            <a:p>
              <a:pPr algn="ctr"/>
            </a:p>
          </p:txBody>
        </p:sp>
        <p:sp>
          <p:nvSpPr>
            <p:cNvPr id="23" name="Rounded Rectangle 22"/>
            <p:cNvSpPr/>
            <p:nvPr/>
          </p:nvSpPr>
          <p:spPr>
            <a:xfrm>
              <a:off x="6117336" y="2240280"/>
              <a:ext cx="109728" cy="77724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4" name="Oval 23"/>
            <p:cNvSpPr/>
            <p:nvPr/>
          </p:nvSpPr>
          <p:spPr>
            <a:xfrm>
              <a:off x="6073445" y="2918765"/>
              <a:ext cx="197510" cy="197510"/>
            </a:xfrm>
            <a:prstGeom prst="ellipse">
              <a:avLst/>
            </a:prstGeom>
            <a:solidFill>
              <a:srgbClr val="9AA0A6"/>
            </a:solidFill>
            <a:ln>
              <a:noFill/>
            </a:ln>
          </p:spPr>
          <p:txBody>
            <a:bodyPr rtlCol="0" anchor="ctr"/>
            <a:lstStyle/>
            <a:p>
              <a:pPr algn="ctr"/>
            </a:p>
          </p:txBody>
        </p:sp>
        <p:sp>
          <p:nvSpPr>
            <p:cNvPr id="25" name="Rounded Rectangle 24"/>
            <p:cNvSpPr/>
            <p:nvPr/>
          </p:nvSpPr>
          <p:spPr>
            <a:xfrm>
              <a:off x="6099048" y="2185416"/>
              <a:ext cx="146304" cy="109728"/>
            </a:xfrm>
            <a:prstGeom prst="roundRect">
              <a:avLst>
                <a:gd name="adj" fmla="val 25000"/>
              </a:avLst>
            </a:prstGeom>
            <a:solidFill>
              <a:srgbClr val="9AA0A6"/>
            </a:solidFill>
            <a:ln>
              <a:noFill/>
            </a:ln>
          </p:spPr>
          <p:txBody>
            <a:bodyPr rtlCol="0" anchor="ctr"/>
            <a:lstStyle/>
            <a:p>
              <a:pPr algn="ctr"/>
            </a:p>
          </p:txBody>
        </p:sp>
        <p:sp>
          <p:nvSpPr>
            <p:cNvPr id="26" name="Rounded Rectangle 25"/>
            <p:cNvSpPr/>
            <p:nvPr/>
          </p:nvSpPr>
          <p:spPr>
            <a:xfrm>
              <a:off x="6519672" y="2240280"/>
              <a:ext cx="109728" cy="77724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7" name="Oval 26"/>
            <p:cNvSpPr/>
            <p:nvPr/>
          </p:nvSpPr>
          <p:spPr>
            <a:xfrm>
              <a:off x="6475781" y="2918765"/>
              <a:ext cx="197510" cy="197510"/>
            </a:xfrm>
            <a:prstGeom prst="ellipse">
              <a:avLst/>
            </a:prstGeom>
            <a:solidFill>
              <a:srgbClr val="9AA0A6"/>
            </a:solidFill>
            <a:ln>
              <a:noFill/>
            </a:ln>
          </p:spPr>
          <p:txBody>
            <a:bodyPr rtlCol="0" anchor="ctr"/>
            <a:lstStyle/>
            <a:p>
              <a:pPr algn="ctr"/>
            </a:p>
          </p:txBody>
        </p:sp>
        <p:sp>
          <p:nvSpPr>
            <p:cNvPr id="28" name="Rounded Rectangle 27"/>
            <p:cNvSpPr/>
            <p:nvPr/>
          </p:nvSpPr>
          <p:spPr>
            <a:xfrm>
              <a:off x="6501384" y="2185416"/>
              <a:ext cx="146304" cy="109728"/>
            </a:xfrm>
            <a:prstGeom prst="roundRect">
              <a:avLst>
                <a:gd name="adj" fmla="val 25000"/>
              </a:avLst>
            </a:prstGeom>
            <a:solidFill>
              <a:srgbClr val="9AA0A6"/>
            </a:solidFill>
            <a:ln>
              <a:noFill/>
            </a:ln>
          </p:spPr>
          <p:txBody>
            <a:bodyPr rtlCol="0" anchor="ctr"/>
            <a:lstStyle/>
            <a:p>
              <a:pPr algn="ctr"/>
            </a:p>
          </p:txBody>
        </p:sp>
        <p:sp>
          <p:nvSpPr>
            <p:cNvPr id="29" name="Rounded Rectangle 28"/>
            <p:cNvSpPr/>
            <p:nvPr/>
          </p:nvSpPr>
          <p:spPr>
            <a:xfrm>
              <a:off x="6922008" y="2240280"/>
              <a:ext cx="109728" cy="777240"/>
            </a:xfrm>
            <a:prstGeom prst="roundRect">
              <a:avLst>
                <a:gd name="adj" fmla="val 25000"/>
              </a:avLst>
            </a:prstGeom>
            <a:solidFill>
              <a:srgbClr val="F2C14E"/>
            </a:solidFill>
            <a:ln w="9525">
              <a:solidFill>
                <a:srgbClr val="101418"/>
              </a:solidFill>
            </a:ln>
          </p:spPr>
          <p:txBody>
            <a:bodyPr rtlCol="0" anchor="ctr"/>
            <a:lstStyle/>
            <a:p>
              <a:pPr algn="ctr"/>
            </a:p>
          </p:txBody>
        </p:sp>
        <p:sp>
          <p:nvSpPr>
            <p:cNvPr id="30" name="Oval 29"/>
            <p:cNvSpPr/>
            <p:nvPr/>
          </p:nvSpPr>
          <p:spPr>
            <a:xfrm>
              <a:off x="6878117" y="2918765"/>
              <a:ext cx="197510" cy="197510"/>
            </a:xfrm>
            <a:prstGeom prst="ellipse">
              <a:avLst/>
            </a:prstGeom>
            <a:solidFill>
              <a:srgbClr val="9AA0A6"/>
            </a:solidFill>
            <a:ln>
              <a:noFill/>
            </a:ln>
          </p:spPr>
          <p:txBody>
            <a:bodyPr rtlCol="0" anchor="ctr"/>
            <a:lstStyle/>
            <a:p>
              <a:pPr algn="ctr"/>
            </a:p>
          </p:txBody>
        </p:sp>
        <p:sp>
          <p:nvSpPr>
            <p:cNvPr id="31" name="Rounded Rectangle 30"/>
            <p:cNvSpPr/>
            <p:nvPr/>
          </p:nvSpPr>
          <p:spPr>
            <a:xfrm>
              <a:off x="6903720" y="2185416"/>
              <a:ext cx="146304" cy="109728"/>
            </a:xfrm>
            <a:prstGeom prst="roundRect">
              <a:avLst>
                <a:gd name="adj" fmla="val 25000"/>
              </a:avLst>
            </a:prstGeom>
            <a:solidFill>
              <a:srgbClr val="9AA0A6"/>
            </a:solidFill>
            <a:ln>
              <a:noFill/>
            </a:ln>
          </p:spPr>
          <p:txBody>
            <a:bodyPr rtlCol="0" anchor="ctr"/>
            <a:lstStyle/>
            <a:p>
              <a:pPr algn="ctr"/>
            </a:p>
          </p:txBody>
        </p:sp>
        <p:sp>
          <p:nvSpPr>
            <p:cNvPr id="32" name="Rounded Rectangle 31"/>
            <p:cNvSpPr/>
            <p:nvPr/>
          </p:nvSpPr>
          <p:spPr>
            <a:xfrm>
              <a:off x="7324344" y="2240280"/>
              <a:ext cx="109728" cy="777240"/>
            </a:xfrm>
            <a:prstGeom prst="roundRect">
              <a:avLst>
                <a:gd name="adj" fmla="val 25000"/>
              </a:avLst>
            </a:prstGeom>
            <a:solidFill>
              <a:srgbClr val="F2C14E"/>
            </a:solidFill>
            <a:ln w="9525">
              <a:solidFill>
                <a:srgbClr val="101418"/>
              </a:solidFill>
            </a:ln>
          </p:spPr>
          <p:txBody>
            <a:bodyPr rtlCol="0" anchor="ctr"/>
            <a:lstStyle/>
            <a:p>
              <a:pPr algn="ctr"/>
            </a:p>
          </p:txBody>
        </p:sp>
        <p:sp>
          <p:nvSpPr>
            <p:cNvPr id="33" name="Oval 32"/>
            <p:cNvSpPr/>
            <p:nvPr/>
          </p:nvSpPr>
          <p:spPr>
            <a:xfrm>
              <a:off x="7280453" y="2918765"/>
              <a:ext cx="197510" cy="197510"/>
            </a:xfrm>
            <a:prstGeom prst="ellipse">
              <a:avLst/>
            </a:prstGeom>
            <a:solidFill>
              <a:srgbClr val="9AA0A6"/>
            </a:solidFill>
            <a:ln>
              <a:noFill/>
            </a:ln>
          </p:spPr>
          <p:txBody>
            <a:bodyPr rtlCol="0" anchor="ctr"/>
            <a:lstStyle/>
            <a:p>
              <a:pPr algn="ctr"/>
            </a:p>
          </p:txBody>
        </p:sp>
        <p:sp>
          <p:nvSpPr>
            <p:cNvPr id="34" name="Rounded Rectangle 33"/>
            <p:cNvSpPr/>
            <p:nvPr/>
          </p:nvSpPr>
          <p:spPr>
            <a:xfrm>
              <a:off x="7306056" y="2185416"/>
              <a:ext cx="146304" cy="109728"/>
            </a:xfrm>
            <a:prstGeom prst="roundRect">
              <a:avLst>
                <a:gd name="adj" fmla="val 25000"/>
              </a:avLst>
            </a:prstGeom>
            <a:solidFill>
              <a:srgbClr val="9AA0A6"/>
            </a:solidFill>
            <a:ln>
              <a:noFill/>
            </a:ln>
          </p:spPr>
          <p:txBody>
            <a:bodyPr rtlCol="0" anchor="ctr"/>
            <a:lstStyle/>
            <a:p>
              <a:pPr algn="ctr"/>
            </a:p>
          </p:txBody>
        </p:sp>
        <p:sp>
          <p:nvSpPr>
            <p:cNvPr id="35" name="Rounded Rectangle 34"/>
            <p:cNvSpPr/>
            <p:nvPr/>
          </p:nvSpPr>
          <p:spPr>
            <a:xfrm>
              <a:off x="7726680" y="2240280"/>
              <a:ext cx="109728" cy="777240"/>
            </a:xfrm>
            <a:prstGeom prst="roundRect">
              <a:avLst>
                <a:gd name="adj" fmla="val 25000"/>
              </a:avLst>
            </a:prstGeom>
            <a:solidFill>
              <a:srgbClr val="5A6068"/>
            </a:solidFill>
            <a:ln w="12700">
              <a:solidFill>
                <a:srgbClr val="101418"/>
              </a:solidFill>
            </a:ln>
          </p:spPr>
          <p:txBody>
            <a:bodyPr rtlCol="0" anchor="ctr"/>
            <a:lstStyle/>
            <a:p>
              <a:pPr algn="ctr"/>
            </a:p>
          </p:txBody>
        </p:sp>
        <p:sp>
          <p:nvSpPr>
            <p:cNvPr id="36" name="Oval 35"/>
            <p:cNvSpPr/>
            <p:nvPr/>
          </p:nvSpPr>
          <p:spPr>
            <a:xfrm>
              <a:off x="7682789" y="2918765"/>
              <a:ext cx="197510" cy="197510"/>
            </a:xfrm>
            <a:prstGeom prst="ellipse">
              <a:avLst/>
            </a:prstGeom>
            <a:solidFill>
              <a:srgbClr val="9AA0A6"/>
            </a:solidFill>
            <a:ln>
              <a:noFill/>
            </a:ln>
          </p:spPr>
          <p:txBody>
            <a:bodyPr rtlCol="0" anchor="ctr"/>
            <a:lstStyle/>
            <a:p>
              <a:pPr algn="ctr"/>
            </a:p>
          </p:txBody>
        </p:sp>
        <p:sp>
          <p:nvSpPr>
            <p:cNvPr id="37" name="Rounded Rectangle 36"/>
            <p:cNvSpPr/>
            <p:nvPr/>
          </p:nvSpPr>
          <p:spPr>
            <a:xfrm>
              <a:off x="7708392" y="2185416"/>
              <a:ext cx="146304" cy="109728"/>
            </a:xfrm>
            <a:prstGeom prst="roundRect">
              <a:avLst>
                <a:gd name="adj" fmla="val 25000"/>
              </a:avLst>
            </a:prstGeom>
            <a:solidFill>
              <a:srgbClr val="9AA0A6"/>
            </a:solidFill>
            <a:ln>
              <a:noFill/>
            </a:ln>
          </p:spPr>
          <p:txBody>
            <a:bodyPr rtlCol="0" anchor="ctr"/>
            <a:lstStyle/>
            <a:p>
              <a:pPr algn="ctr"/>
            </a:p>
          </p:txBody>
        </p:sp>
        <p:sp>
          <p:nvSpPr>
            <p:cNvPr id="38" name="Rounded Rectangle 37"/>
            <p:cNvSpPr/>
            <p:nvPr/>
          </p:nvSpPr>
          <p:spPr>
            <a:xfrm>
              <a:off x="8129016" y="2240280"/>
              <a:ext cx="109728" cy="777240"/>
            </a:xfrm>
            <a:prstGeom prst="roundRect">
              <a:avLst>
                <a:gd name="adj" fmla="val 25000"/>
              </a:avLst>
            </a:prstGeom>
            <a:solidFill>
              <a:srgbClr val="5A6068"/>
            </a:solidFill>
            <a:ln w="12700">
              <a:solidFill>
                <a:srgbClr val="101418"/>
              </a:solidFill>
            </a:ln>
          </p:spPr>
          <p:txBody>
            <a:bodyPr rtlCol="0" anchor="ctr"/>
            <a:lstStyle/>
            <a:p>
              <a:pPr algn="ctr"/>
            </a:p>
          </p:txBody>
        </p:sp>
        <p:sp>
          <p:nvSpPr>
            <p:cNvPr id="39" name="Oval 38"/>
            <p:cNvSpPr/>
            <p:nvPr/>
          </p:nvSpPr>
          <p:spPr>
            <a:xfrm>
              <a:off x="8085125" y="2918765"/>
              <a:ext cx="197510" cy="197510"/>
            </a:xfrm>
            <a:prstGeom prst="ellipse">
              <a:avLst/>
            </a:prstGeom>
            <a:solidFill>
              <a:srgbClr val="9AA0A6"/>
            </a:solidFill>
            <a:ln>
              <a:noFill/>
            </a:ln>
          </p:spPr>
          <p:txBody>
            <a:bodyPr rtlCol="0" anchor="ctr"/>
            <a:lstStyle/>
            <a:p>
              <a:pPr algn="ctr"/>
            </a:p>
          </p:txBody>
        </p:sp>
        <p:sp>
          <p:nvSpPr>
            <p:cNvPr id="40" name="Rounded Rectangle 39"/>
            <p:cNvSpPr/>
            <p:nvPr/>
          </p:nvSpPr>
          <p:spPr>
            <a:xfrm>
              <a:off x="8110728" y="2185416"/>
              <a:ext cx="146304" cy="109728"/>
            </a:xfrm>
            <a:prstGeom prst="roundRect">
              <a:avLst>
                <a:gd name="adj" fmla="val 25000"/>
              </a:avLst>
            </a:prstGeom>
            <a:solidFill>
              <a:srgbClr val="9AA0A6"/>
            </a:solidFill>
            <a:ln>
              <a:noFill/>
            </a:ln>
          </p:spPr>
          <p:txBody>
            <a:bodyPr rtlCol="0" anchor="ctr"/>
            <a:lstStyle/>
            <a:p>
              <a:pPr algn="ctr"/>
            </a:p>
          </p:txBody>
        </p:sp>
        <p:sp>
          <p:nvSpPr>
            <p:cNvPr id="41" name="Rounded Rectangle 40"/>
            <p:cNvSpPr/>
            <p:nvPr/>
          </p:nvSpPr>
          <p:spPr>
            <a:xfrm>
              <a:off x="8531352" y="2240280"/>
              <a:ext cx="109728" cy="777240"/>
            </a:xfrm>
            <a:prstGeom prst="roundRect">
              <a:avLst>
                <a:gd name="adj" fmla="val 25000"/>
              </a:avLst>
            </a:prstGeom>
            <a:solidFill>
              <a:srgbClr val="6CA0DC"/>
            </a:solidFill>
            <a:ln w="9525">
              <a:solidFill>
                <a:srgbClr val="101418"/>
              </a:solidFill>
            </a:ln>
          </p:spPr>
          <p:txBody>
            <a:bodyPr rtlCol="0" anchor="ctr"/>
            <a:lstStyle/>
            <a:p>
              <a:pPr algn="ctr"/>
            </a:p>
          </p:txBody>
        </p:sp>
        <p:sp>
          <p:nvSpPr>
            <p:cNvPr id="42" name="Oval 41"/>
            <p:cNvSpPr/>
            <p:nvPr/>
          </p:nvSpPr>
          <p:spPr>
            <a:xfrm>
              <a:off x="8487461" y="2918765"/>
              <a:ext cx="197510" cy="197510"/>
            </a:xfrm>
            <a:prstGeom prst="ellipse">
              <a:avLst/>
            </a:prstGeom>
            <a:solidFill>
              <a:srgbClr val="9AA0A6"/>
            </a:solidFill>
            <a:ln>
              <a:noFill/>
            </a:ln>
          </p:spPr>
          <p:txBody>
            <a:bodyPr rtlCol="0" anchor="ctr"/>
            <a:lstStyle/>
            <a:p>
              <a:pPr algn="ctr"/>
            </a:p>
          </p:txBody>
        </p:sp>
        <p:sp>
          <p:nvSpPr>
            <p:cNvPr id="43" name="Rounded Rectangle 42"/>
            <p:cNvSpPr/>
            <p:nvPr/>
          </p:nvSpPr>
          <p:spPr>
            <a:xfrm>
              <a:off x="8513064" y="2185416"/>
              <a:ext cx="146304" cy="109728"/>
            </a:xfrm>
            <a:prstGeom prst="roundRect">
              <a:avLst>
                <a:gd name="adj" fmla="val 25000"/>
              </a:avLst>
            </a:prstGeom>
            <a:solidFill>
              <a:srgbClr val="9AA0A6"/>
            </a:solidFill>
            <a:ln>
              <a:noFill/>
            </a:ln>
          </p:spPr>
          <p:txBody>
            <a:bodyPr rtlCol="0" anchor="ctr"/>
            <a:lstStyle/>
            <a:p>
              <a:pPr algn="ctr"/>
            </a:p>
          </p:txBody>
        </p:sp>
        <p:sp>
          <p:nvSpPr>
            <p:cNvPr id="44" name="TextBox 43"/>
            <p:cNvSpPr txBox="1"/>
            <p:nvPr/>
          </p:nvSpPr>
          <p:spPr>
            <a:xfrm>
              <a:off x="5486400" y="3090672"/>
              <a:ext cx="1371600" cy="246888"/>
            </a:xfrm>
            <a:prstGeom prst="rect">
              <a:avLst/>
            </a:prstGeom>
            <a:noFill/>
          </p:spPr>
          <p:txBody>
            <a:bodyPr wrap="square" lIns="0" tIns="0" rIns="0" bIns="0" anchor="t">
              <a:noAutofit/>
            </a:bodyPr>
            <a:lstStyle/>
            <a:p>
              <a:pPr algn="ctr"/>
              <a:r>
                <a:rPr sz="1400" b="0" i="0" lang="en-GB">
                  <a:solidFill>
                    <a:srgbClr val="F2F2F2"/>
                  </a:solidFill>
                  <a:latin typeface="Arial"/>
                </a:rPr>
                <a:t>Stop</a:t>
              </a:r>
            </a:p>
          </p:txBody>
        </p:sp>
        <p:sp>
          <p:nvSpPr>
            <p:cNvPr id="45" name="TextBox 44"/>
            <p:cNvSpPr txBox="1"/>
            <p:nvPr/>
          </p:nvSpPr>
          <p:spPr>
            <a:xfrm>
              <a:off x="6693408" y="3090672"/>
              <a:ext cx="969264" cy="246888"/>
            </a:xfrm>
            <a:prstGeom prst="rect">
              <a:avLst/>
            </a:prstGeom>
            <a:noFill/>
          </p:spPr>
          <p:txBody>
            <a:bodyPr wrap="square" lIns="0" tIns="0" rIns="0" bIns="0" anchor="t">
              <a:noAutofit/>
            </a:bodyPr>
            <a:lstStyle/>
            <a:p>
              <a:pPr algn="ctr"/>
              <a:r>
                <a:rPr sz="1400" b="0" i="0" lang="en-GB">
                  <a:solidFill>
                    <a:srgbClr val="F2F2F2"/>
                  </a:solidFill>
                  <a:latin typeface="Arial"/>
                </a:rPr>
                <a:t>Distant</a:t>
              </a:r>
            </a:p>
          </p:txBody>
        </p:sp>
        <p:sp>
          <p:nvSpPr>
            <p:cNvPr id="46" name="TextBox 45"/>
            <p:cNvSpPr txBox="1"/>
            <p:nvPr/>
          </p:nvSpPr>
          <p:spPr>
            <a:xfrm>
              <a:off x="7498080" y="3090672"/>
              <a:ext cx="969264" cy="246888"/>
            </a:xfrm>
            <a:prstGeom prst="rect">
              <a:avLst/>
            </a:prstGeom>
            <a:noFill/>
          </p:spPr>
          <p:txBody>
            <a:bodyPr wrap="square" lIns="0" tIns="0" rIns="0" bIns="0" anchor="t">
              <a:noAutofit/>
            </a:bodyPr>
            <a:lstStyle/>
            <a:p>
              <a:pPr algn="ctr"/>
              <a:r>
                <a:rPr sz="1400" b="0" i="0" lang="en-GB">
                  <a:solidFill>
                    <a:srgbClr val="F2F2F2"/>
                  </a:solidFill>
                  <a:latin typeface="Arial"/>
                </a:rPr>
                <a:t>Points</a:t>
              </a:r>
            </a:p>
          </p:txBody>
        </p:sp>
        <p:sp>
          <p:nvSpPr>
            <p:cNvPr id="47" name="TextBox 46"/>
            <p:cNvSpPr txBox="1"/>
            <p:nvPr/>
          </p:nvSpPr>
          <p:spPr>
            <a:xfrm>
              <a:off x="8302752" y="3090672"/>
              <a:ext cx="566928" cy="246888"/>
            </a:xfrm>
            <a:prstGeom prst="rect">
              <a:avLst/>
            </a:prstGeom>
            <a:noFill/>
          </p:spPr>
          <p:txBody>
            <a:bodyPr wrap="square" lIns="0" tIns="0" rIns="0" bIns="0" anchor="t">
              <a:noAutofit/>
            </a:bodyPr>
            <a:lstStyle/>
            <a:p>
              <a:pPr algn="ctr"/>
              <a:r>
                <a:rPr sz="1400" b="0" i="0" lang="en-GB">
                  <a:solidFill>
                    <a:srgbClr val="F2F2F2"/>
                  </a:solidFill>
                  <a:latin typeface="Arial"/>
                </a:rPr>
                <a:t>Lock</a:t>
              </a:r>
            </a:p>
          </p:txBody>
        </p:sp>
        <p:sp>
          <p:nvSpPr>
            <p:cNvPr id="48" name="TextBox 47"/>
            <p:cNvSpPr txBox="1"/>
            <p:nvPr/>
          </p:nvSpPr>
          <p:spPr>
            <a:xfrm>
              <a:off x="8229600" y="1719072"/>
              <a:ext cx="1280160" cy="438912"/>
            </a:xfrm>
            <a:prstGeom prst="rect">
              <a:avLst/>
            </a:prstGeom>
            <a:noFill/>
          </p:spPr>
          <p:txBody>
            <a:bodyPr wrap="square" lIns="0" tIns="0" rIns="0" bIns="0" anchor="t">
              <a:noAutofit/>
            </a:bodyPr>
            <a:lstStyle/>
            <a:p>
              <a:pPr algn="l"/>
              <a:r>
                <a:rPr sz="1400" b="0" i="0" lang="en-GB">
                  <a:solidFill>
                    <a:srgbClr val="A9B0B8"/>
                  </a:solidFill>
                  <a:latin typeface="Arial"/>
                </a:rPr>
                <a:t>Example colours only</a:t>
              </a:r>
            </a:p>
          </p:txBody>
        </p:sp>
        <p:sp>
          <p:nvSpPr>
            <p:cNvPr id="49" name="TextBox 48"/>
            <p:cNvSpPr txBox="1"/>
            <p:nvPr/>
          </p:nvSpPr>
          <p:spPr>
            <a:xfrm>
              <a:off x="4910328" y="3392424"/>
              <a:ext cx="1828800" cy="292608"/>
            </a:xfrm>
            <a:prstGeom prst="rect">
              <a:avLst/>
            </a:prstGeom>
            <a:noFill/>
          </p:spPr>
          <p:txBody>
            <a:bodyPr wrap="square" lIns="0" tIns="0" rIns="0" bIns="0" anchor="t">
              <a:noAutofit/>
            </a:bodyPr>
            <a:lstStyle/>
            <a:p>
              <a:pPr algn="l"/>
              <a:r>
                <a:rPr sz="1400" b="1" i="0" lang="en-GB">
                  <a:solidFill>
                    <a:srgbClr val="F28C28"/>
                  </a:solidFill>
                  <a:latin typeface="Arial"/>
                </a:rPr>
                <a:t>Locking room</a:t>
              </a:r>
            </a:p>
          </p:txBody>
        </p:sp>
        <p:sp>
          <p:nvSpPr>
            <p:cNvPr id="50" name="Rectangle 49"/>
            <p:cNvSpPr/>
            <p:nvPr/>
          </p:nvSpPr>
          <p:spPr>
            <a:xfrm>
              <a:off x="6263640" y="3749040"/>
              <a:ext cx="2926080" cy="54864"/>
            </a:xfrm>
            <a:prstGeom prst="rect">
              <a:avLst/>
            </a:prstGeom>
            <a:solidFill>
              <a:srgbClr val="9AA0A6"/>
            </a:solidFill>
            <a:ln>
              <a:noFill/>
            </a:ln>
          </p:spPr>
          <p:txBody>
            <a:bodyPr rtlCol="0" anchor="ctr"/>
            <a:lstStyle/>
            <a:p>
              <a:pPr algn="ctr"/>
            </a:p>
          </p:txBody>
        </p:sp>
        <p:sp>
          <p:nvSpPr>
            <p:cNvPr id="51" name="Rectangle 50"/>
            <p:cNvSpPr/>
            <p:nvPr/>
          </p:nvSpPr>
          <p:spPr>
            <a:xfrm>
              <a:off x="6263640" y="3931920"/>
              <a:ext cx="2926080" cy="54864"/>
            </a:xfrm>
            <a:prstGeom prst="rect">
              <a:avLst/>
            </a:prstGeom>
            <a:solidFill>
              <a:srgbClr val="9AA0A6"/>
            </a:solidFill>
            <a:ln>
              <a:noFill/>
            </a:ln>
          </p:spPr>
          <p:txBody>
            <a:bodyPr rtlCol="0" anchor="ctr"/>
            <a:lstStyle/>
            <a:p>
              <a:pPr algn="ctr"/>
            </a:p>
          </p:txBody>
        </p:sp>
        <p:sp>
          <p:nvSpPr>
            <p:cNvPr id="52" name="Rectangle 51"/>
            <p:cNvSpPr/>
            <p:nvPr/>
          </p:nvSpPr>
          <p:spPr>
            <a:xfrm>
              <a:off x="6263640" y="4114800"/>
              <a:ext cx="2926080" cy="54864"/>
            </a:xfrm>
            <a:prstGeom prst="rect">
              <a:avLst/>
            </a:prstGeom>
            <a:solidFill>
              <a:srgbClr val="9AA0A6"/>
            </a:solidFill>
            <a:ln>
              <a:noFill/>
            </a:ln>
          </p:spPr>
          <p:txBody>
            <a:bodyPr rtlCol="0" anchor="ctr"/>
            <a:lstStyle/>
            <a:p>
              <a:pPr algn="ctr"/>
            </a:p>
          </p:txBody>
        </p:sp>
        <p:sp>
          <p:nvSpPr>
            <p:cNvPr id="53" name="Rectangle 52"/>
            <p:cNvSpPr/>
            <p:nvPr/>
          </p:nvSpPr>
          <p:spPr>
            <a:xfrm>
              <a:off x="6263640" y="4297680"/>
              <a:ext cx="2926080" cy="54864"/>
            </a:xfrm>
            <a:prstGeom prst="rect">
              <a:avLst/>
            </a:prstGeom>
            <a:solidFill>
              <a:srgbClr val="9AA0A6"/>
            </a:solidFill>
            <a:ln>
              <a:noFill/>
            </a:ln>
          </p:spPr>
          <p:txBody>
            <a:bodyPr rtlCol="0" anchor="ctr"/>
            <a:lstStyle/>
            <a:p>
              <a:pPr algn="ctr"/>
            </a:p>
          </p:txBody>
        </p:sp>
        <p:sp>
          <p:nvSpPr>
            <p:cNvPr id="54" name="Rectangle 53"/>
            <p:cNvSpPr/>
            <p:nvPr/>
          </p:nvSpPr>
          <p:spPr>
            <a:xfrm>
              <a:off x="6400800" y="3685032"/>
              <a:ext cx="45720" cy="731520"/>
            </a:xfrm>
            <a:prstGeom prst="rect">
              <a:avLst/>
            </a:prstGeom>
            <a:solidFill>
              <a:srgbClr val="4A515B"/>
            </a:solidFill>
            <a:ln>
              <a:noFill/>
            </a:ln>
          </p:spPr>
          <p:txBody>
            <a:bodyPr rtlCol="0" anchor="ctr"/>
            <a:lstStyle/>
            <a:p>
              <a:pPr algn="ctr"/>
            </a:p>
          </p:txBody>
        </p:sp>
        <p:sp>
          <p:nvSpPr>
            <p:cNvPr id="55" name="Rectangle 54"/>
            <p:cNvSpPr/>
            <p:nvPr/>
          </p:nvSpPr>
          <p:spPr>
            <a:xfrm>
              <a:off x="6748272" y="3685032"/>
              <a:ext cx="45720" cy="731520"/>
            </a:xfrm>
            <a:prstGeom prst="rect">
              <a:avLst/>
            </a:prstGeom>
            <a:solidFill>
              <a:srgbClr val="4A515B"/>
            </a:solidFill>
            <a:ln>
              <a:noFill/>
            </a:ln>
          </p:spPr>
          <p:txBody>
            <a:bodyPr rtlCol="0" anchor="ctr"/>
            <a:lstStyle/>
            <a:p>
              <a:pPr algn="ctr"/>
            </a:p>
          </p:txBody>
        </p:sp>
        <p:sp>
          <p:nvSpPr>
            <p:cNvPr id="56" name="Rectangle 55"/>
            <p:cNvSpPr/>
            <p:nvPr/>
          </p:nvSpPr>
          <p:spPr>
            <a:xfrm>
              <a:off x="7095744" y="3685032"/>
              <a:ext cx="45720" cy="731520"/>
            </a:xfrm>
            <a:prstGeom prst="rect">
              <a:avLst/>
            </a:prstGeom>
            <a:solidFill>
              <a:srgbClr val="4A515B"/>
            </a:solidFill>
            <a:ln>
              <a:noFill/>
            </a:ln>
          </p:spPr>
          <p:txBody>
            <a:bodyPr rtlCol="0" anchor="ctr"/>
            <a:lstStyle/>
            <a:p>
              <a:pPr algn="ctr"/>
            </a:p>
          </p:txBody>
        </p:sp>
        <p:sp>
          <p:nvSpPr>
            <p:cNvPr id="57" name="Rectangle 56"/>
            <p:cNvSpPr/>
            <p:nvPr/>
          </p:nvSpPr>
          <p:spPr>
            <a:xfrm>
              <a:off x="7443216" y="3685032"/>
              <a:ext cx="45720" cy="731520"/>
            </a:xfrm>
            <a:prstGeom prst="rect">
              <a:avLst/>
            </a:prstGeom>
            <a:solidFill>
              <a:srgbClr val="4A515B"/>
            </a:solidFill>
            <a:ln>
              <a:noFill/>
            </a:ln>
          </p:spPr>
          <p:txBody>
            <a:bodyPr rtlCol="0" anchor="ctr"/>
            <a:lstStyle/>
            <a:p>
              <a:pPr algn="ctr"/>
            </a:p>
          </p:txBody>
        </p:sp>
        <p:sp>
          <p:nvSpPr>
            <p:cNvPr id="58" name="Rectangle 57"/>
            <p:cNvSpPr/>
            <p:nvPr/>
          </p:nvSpPr>
          <p:spPr>
            <a:xfrm>
              <a:off x="7790688" y="3685032"/>
              <a:ext cx="45720" cy="731520"/>
            </a:xfrm>
            <a:prstGeom prst="rect">
              <a:avLst/>
            </a:prstGeom>
            <a:solidFill>
              <a:srgbClr val="4A515B"/>
            </a:solidFill>
            <a:ln>
              <a:noFill/>
            </a:ln>
          </p:spPr>
          <p:txBody>
            <a:bodyPr rtlCol="0" anchor="ctr"/>
            <a:lstStyle/>
            <a:p>
              <a:pPr algn="ctr"/>
            </a:p>
          </p:txBody>
        </p:sp>
        <p:sp>
          <p:nvSpPr>
            <p:cNvPr id="59" name="Rectangle 58"/>
            <p:cNvSpPr/>
            <p:nvPr/>
          </p:nvSpPr>
          <p:spPr>
            <a:xfrm>
              <a:off x="8138160" y="3685032"/>
              <a:ext cx="45720" cy="731520"/>
            </a:xfrm>
            <a:prstGeom prst="rect">
              <a:avLst/>
            </a:prstGeom>
            <a:solidFill>
              <a:srgbClr val="4A515B"/>
            </a:solidFill>
            <a:ln>
              <a:noFill/>
            </a:ln>
          </p:spPr>
          <p:txBody>
            <a:bodyPr rtlCol="0" anchor="ctr"/>
            <a:lstStyle/>
            <a:p>
              <a:pPr algn="ctr"/>
            </a:p>
          </p:txBody>
        </p:sp>
        <p:sp>
          <p:nvSpPr>
            <p:cNvPr id="60" name="Rectangle 59"/>
            <p:cNvSpPr/>
            <p:nvPr/>
          </p:nvSpPr>
          <p:spPr>
            <a:xfrm>
              <a:off x="8485632" y="3685032"/>
              <a:ext cx="45720" cy="731520"/>
            </a:xfrm>
            <a:prstGeom prst="rect">
              <a:avLst/>
            </a:prstGeom>
            <a:solidFill>
              <a:srgbClr val="4A515B"/>
            </a:solidFill>
            <a:ln>
              <a:noFill/>
            </a:ln>
          </p:spPr>
          <p:txBody>
            <a:bodyPr rtlCol="0" anchor="ctr"/>
            <a:lstStyle/>
            <a:p>
              <a:pPr algn="ctr"/>
            </a:p>
          </p:txBody>
        </p:sp>
        <p:sp>
          <p:nvSpPr>
            <p:cNvPr id="61" name="Rectangle 60"/>
            <p:cNvSpPr/>
            <p:nvPr/>
          </p:nvSpPr>
          <p:spPr>
            <a:xfrm>
              <a:off x="8833104" y="3685032"/>
              <a:ext cx="45720" cy="731520"/>
            </a:xfrm>
            <a:prstGeom prst="rect">
              <a:avLst/>
            </a:prstGeom>
            <a:solidFill>
              <a:srgbClr val="4A515B"/>
            </a:solidFill>
            <a:ln>
              <a:noFill/>
            </a:ln>
          </p:spPr>
          <p:txBody>
            <a:bodyPr rtlCol="0" anchor="ctr"/>
            <a:lstStyle/>
            <a:p>
              <a:pPr algn="ctr"/>
            </a:p>
          </p:txBody>
        </p:sp>
        <p:sp>
          <p:nvSpPr>
            <p:cNvPr id="62" name="Freeform 61"/>
            <p:cNvSpPr/>
            <p:nvPr/>
          </p:nvSpPr>
          <p:spPr>
            <a:xfrm>
              <a:off x="4572000" y="3721608"/>
              <a:ext cx="1691640" cy="1353312"/>
            </a:xfrm>
            <a:custGeom>
              <a:avLst/>
              <a:gdLst/>
              <a:ahLst/>
              <a:cxnLst/>
              <a:rect l="l" t="t" r="r" b="b"/>
              <a:pathLst>
                <a:path w="1691640" h="1353312">
                  <a:moveTo>
                    <a:pt x="1691640" y="0"/>
                  </a:moveTo>
                  <a:lnTo>
                    <a:pt x="0" y="0"/>
                  </a:lnTo>
                  <a:lnTo>
                    <a:pt x="0" y="1353312"/>
                  </a:lnTo>
                </a:path>
              </a:pathLst>
            </a:custGeom>
            <a:noFill/>
            <a:ln w="15875">
              <a:solidFill>
                <a:srgbClr val="9AA0A6"/>
              </a:solidFill>
            </a:ln>
          </p:spPr>
          <p:txBody>
            <a:bodyPr rtlCol="0" anchor="ctr"/>
            <a:lstStyle/>
            <a:p>
              <a:pPr algn="ctr"/>
            </a:p>
          </p:txBody>
        </p:sp>
        <p:sp>
          <p:nvSpPr>
            <p:cNvPr id="63" name="Freeform 62"/>
            <p:cNvSpPr/>
            <p:nvPr/>
          </p:nvSpPr>
          <p:spPr>
            <a:xfrm>
              <a:off x="4507992" y="3813048"/>
              <a:ext cx="1755648" cy="1261872"/>
            </a:xfrm>
            <a:custGeom>
              <a:avLst/>
              <a:gdLst/>
              <a:ahLst/>
              <a:cxnLst/>
              <a:rect l="l" t="t" r="r" b="b"/>
              <a:pathLst>
                <a:path w="1755648" h="1261872">
                  <a:moveTo>
                    <a:pt x="1755648" y="0"/>
                  </a:moveTo>
                  <a:lnTo>
                    <a:pt x="0" y="0"/>
                  </a:lnTo>
                  <a:lnTo>
                    <a:pt x="0" y="1261872"/>
                  </a:lnTo>
                </a:path>
              </a:pathLst>
            </a:custGeom>
            <a:noFill/>
            <a:ln w="15875">
              <a:solidFill>
                <a:srgbClr val="9AA0A6"/>
              </a:solidFill>
            </a:ln>
          </p:spPr>
          <p:txBody>
            <a:bodyPr rtlCol="0" anchor="ctr"/>
            <a:lstStyle/>
            <a:p>
              <a:pPr algn="ctr"/>
            </a:p>
          </p:txBody>
        </p:sp>
        <p:sp>
          <p:nvSpPr>
            <p:cNvPr id="64" name="Freeform 63"/>
            <p:cNvSpPr/>
            <p:nvPr/>
          </p:nvSpPr>
          <p:spPr>
            <a:xfrm>
              <a:off x="4443984" y="3904488"/>
              <a:ext cx="1819656" cy="1170432"/>
            </a:xfrm>
            <a:custGeom>
              <a:avLst/>
              <a:gdLst/>
              <a:ahLst/>
              <a:cxnLst/>
              <a:rect l="l" t="t" r="r" b="b"/>
              <a:pathLst>
                <a:path w="1819656" h="1170432">
                  <a:moveTo>
                    <a:pt x="1819656" y="0"/>
                  </a:moveTo>
                  <a:lnTo>
                    <a:pt x="0" y="0"/>
                  </a:lnTo>
                  <a:lnTo>
                    <a:pt x="0" y="1170432"/>
                  </a:lnTo>
                </a:path>
              </a:pathLst>
            </a:custGeom>
            <a:noFill/>
            <a:ln w="15875">
              <a:solidFill>
                <a:srgbClr val="9AA0A6"/>
              </a:solidFill>
            </a:ln>
          </p:spPr>
          <p:txBody>
            <a:bodyPr rtlCol="0" anchor="ctr"/>
            <a:lstStyle/>
            <a:p>
              <a:pPr algn="ctr"/>
            </a:p>
          </p:txBody>
        </p:sp>
        <p:sp>
          <p:nvSpPr>
            <p:cNvPr id="65" name="Freeform 64"/>
            <p:cNvSpPr/>
            <p:nvPr/>
          </p:nvSpPr>
          <p:spPr>
            <a:xfrm>
              <a:off x="4379976" y="3995928"/>
              <a:ext cx="1883664" cy="1078992"/>
            </a:xfrm>
            <a:custGeom>
              <a:avLst/>
              <a:gdLst/>
              <a:ahLst/>
              <a:cxnLst/>
              <a:rect l="l" t="t" r="r" b="b"/>
              <a:pathLst>
                <a:path w="1883664" h="1078992">
                  <a:moveTo>
                    <a:pt x="1883664" y="0"/>
                  </a:moveTo>
                  <a:lnTo>
                    <a:pt x="0" y="0"/>
                  </a:lnTo>
                  <a:lnTo>
                    <a:pt x="0" y="1078992"/>
                  </a:lnTo>
                </a:path>
              </a:pathLst>
            </a:custGeom>
            <a:noFill/>
            <a:ln w="15875">
              <a:solidFill>
                <a:srgbClr val="9AA0A6"/>
              </a:solidFill>
            </a:ln>
          </p:spPr>
          <p:txBody>
            <a:bodyPr rtlCol="0" anchor="ctr"/>
            <a:lstStyle/>
            <a:p>
              <a:pPr algn="ctr"/>
            </a:p>
          </p:txBody>
        </p:sp>
        <p:sp>
          <p:nvSpPr>
            <p:cNvPr id="66" name="Freeform 65"/>
            <p:cNvSpPr/>
            <p:nvPr/>
          </p:nvSpPr>
          <p:spPr>
            <a:xfrm>
              <a:off x="4315968" y="4087368"/>
              <a:ext cx="1947672" cy="987552"/>
            </a:xfrm>
            <a:custGeom>
              <a:avLst/>
              <a:gdLst/>
              <a:ahLst/>
              <a:cxnLst/>
              <a:rect l="l" t="t" r="r" b="b"/>
              <a:pathLst>
                <a:path w="1947672" h="987552">
                  <a:moveTo>
                    <a:pt x="1947672" y="0"/>
                  </a:moveTo>
                  <a:lnTo>
                    <a:pt x="0" y="0"/>
                  </a:lnTo>
                  <a:lnTo>
                    <a:pt x="0" y="987552"/>
                  </a:lnTo>
                </a:path>
              </a:pathLst>
            </a:custGeom>
            <a:noFill/>
            <a:ln w="15875">
              <a:solidFill>
                <a:srgbClr val="9AA0A6"/>
              </a:solidFill>
            </a:ln>
          </p:spPr>
          <p:txBody>
            <a:bodyPr rtlCol="0" anchor="ctr"/>
            <a:lstStyle/>
            <a:p>
              <a:pPr algn="ctr"/>
            </a:p>
          </p:txBody>
        </p:sp>
        <p:sp>
          <p:nvSpPr>
            <p:cNvPr id="67" name="Freeform 66"/>
            <p:cNvSpPr/>
            <p:nvPr/>
          </p:nvSpPr>
          <p:spPr>
            <a:xfrm>
              <a:off x="4251960" y="4178808"/>
              <a:ext cx="2011680" cy="896112"/>
            </a:xfrm>
            <a:custGeom>
              <a:avLst/>
              <a:gdLst/>
              <a:ahLst/>
              <a:cxnLst/>
              <a:rect l="l" t="t" r="r" b="b"/>
              <a:pathLst>
                <a:path w="2011680" h="896112">
                  <a:moveTo>
                    <a:pt x="2011680" y="0"/>
                  </a:moveTo>
                  <a:lnTo>
                    <a:pt x="0" y="0"/>
                  </a:lnTo>
                  <a:lnTo>
                    <a:pt x="0" y="896112"/>
                  </a:lnTo>
                </a:path>
              </a:pathLst>
            </a:custGeom>
            <a:noFill/>
            <a:ln w="15875">
              <a:solidFill>
                <a:srgbClr val="9AA0A6"/>
              </a:solidFill>
            </a:ln>
          </p:spPr>
          <p:txBody>
            <a:bodyPr rtlCol="0" anchor="ctr"/>
            <a:lstStyle/>
            <a:p>
              <a:pPr algn="ctr"/>
            </a:p>
          </p:txBody>
        </p:sp>
        <p:sp>
          <p:nvSpPr>
            <p:cNvPr id="68" name="Freeform 67"/>
            <p:cNvSpPr/>
            <p:nvPr/>
          </p:nvSpPr>
          <p:spPr>
            <a:xfrm>
              <a:off x="4187952" y="4270248"/>
              <a:ext cx="2075688" cy="804672"/>
            </a:xfrm>
            <a:custGeom>
              <a:avLst/>
              <a:gdLst/>
              <a:ahLst/>
              <a:cxnLst/>
              <a:rect l="l" t="t" r="r" b="b"/>
              <a:pathLst>
                <a:path w="2075688" h="804672">
                  <a:moveTo>
                    <a:pt x="2075688" y="0"/>
                  </a:moveTo>
                  <a:lnTo>
                    <a:pt x="0" y="0"/>
                  </a:lnTo>
                  <a:lnTo>
                    <a:pt x="0" y="804672"/>
                  </a:lnTo>
                </a:path>
              </a:pathLst>
            </a:custGeom>
            <a:noFill/>
            <a:ln w="15875">
              <a:solidFill>
                <a:srgbClr val="9AA0A6"/>
              </a:solidFill>
            </a:ln>
          </p:spPr>
          <p:txBody>
            <a:bodyPr rtlCol="0" anchor="ctr"/>
            <a:lstStyle/>
            <a:p>
              <a:pPr algn="ctr"/>
            </a:p>
          </p:txBody>
        </p:sp>
        <p:sp>
          <p:nvSpPr>
            <p:cNvPr id="69" name="Freeform 68"/>
            <p:cNvSpPr/>
            <p:nvPr/>
          </p:nvSpPr>
          <p:spPr>
            <a:xfrm>
              <a:off x="4123944" y="4361688"/>
              <a:ext cx="2139696" cy="713232"/>
            </a:xfrm>
            <a:custGeom>
              <a:avLst/>
              <a:gdLst/>
              <a:ahLst/>
              <a:cxnLst/>
              <a:rect l="l" t="t" r="r" b="b"/>
              <a:pathLst>
                <a:path w="2139696" h="713232">
                  <a:moveTo>
                    <a:pt x="2139696" y="0"/>
                  </a:moveTo>
                  <a:lnTo>
                    <a:pt x="0" y="0"/>
                  </a:lnTo>
                  <a:lnTo>
                    <a:pt x="0" y="713232"/>
                  </a:lnTo>
                </a:path>
              </a:pathLst>
            </a:custGeom>
            <a:noFill/>
            <a:ln w="15875">
              <a:solidFill>
                <a:srgbClr val="9AA0A6"/>
              </a:solidFill>
            </a:ln>
          </p:spPr>
          <p:txBody>
            <a:bodyPr rtlCol="0" anchor="ctr"/>
            <a:lstStyle/>
            <a:p>
              <a:pPr algn="ctr"/>
            </a:p>
          </p:txBody>
        </p:sp>
        <p:sp>
          <p:nvSpPr>
            <p:cNvPr id="70" name="Rectangle 69"/>
            <p:cNvSpPr/>
            <p:nvPr/>
          </p:nvSpPr>
          <p:spPr>
            <a:xfrm>
              <a:off x="3840480" y="5074920"/>
              <a:ext cx="5715000" cy="54864"/>
            </a:xfrm>
            <a:prstGeom prst="rect">
              <a:avLst/>
            </a:prstGeom>
            <a:solidFill>
              <a:srgbClr val="9AA0A6"/>
            </a:solidFill>
            <a:ln>
              <a:noFill/>
            </a:ln>
          </p:spPr>
          <p:txBody>
            <a:bodyPr rtlCol="0" anchor="ctr"/>
            <a:lstStyle/>
            <a:p>
              <a:pPr algn="ctr"/>
            </a:p>
          </p:txBody>
        </p:sp>
      </p:grpSp>
      <p:sp>
        <p:nvSpPr>
          <p:cNvPr id="71" name="TextBox 70"/>
          <p:cNvSpPr txBox="1"/>
          <p:nvPr/>
        </p:nvSpPr>
        <p:spPr>
          <a:xfrm>
            <a:off x="4800600" y="4599432"/>
            <a:ext cx="4754880" cy="329184"/>
          </a:xfrm>
          <a:prstGeom prst="rect">
            <a:avLst/>
          </a:prstGeom>
          <a:noFill/>
        </p:spPr>
        <p:txBody>
          <a:bodyPr wrap="square" lIns="0" tIns="0" rIns="0" bIns="0" anchor="t">
            <a:noAutofit/>
          </a:bodyPr>
          <a:lstStyle/>
          <a:p>
            <a:pPr algn="ctr"/>
            <a:r>
              <a:rPr sz="1400" b="0" i="0" lang="en-GB">
                <a:solidFill>
                  <a:srgbClr val="F2F2F2"/>
                </a:solidFill>
                <a:latin typeface="Arial"/>
              </a:rPr>
              <a:t>Rods and wires run out to signals and points</a:t>
            </a:r>
          </a:p>
        </p:txBody>
      </p:sp>
      <p:sp>
        <p:nvSpPr>
          <p:cNvPr id="72" name="Interlocking note"/>
          <p:cNvSpPr/>
          <p:nvPr/>
        </p:nvSpPr>
        <p:spPr>
          <a:xfrm>
            <a:off x="9784080" y="1371600"/>
            <a:ext cx="1856232" cy="1371600"/>
          </a:xfrm>
          <a:prstGeom prst="roundRect">
            <a:avLst>
              <a:gd name="adj" fmla="val 5333"/>
            </a:avLst>
          </a:prstGeom>
          <a:solidFill>
            <a:srgbClr val="1E2126"/>
          </a:solidFill>
          <a:ln w="19050">
            <a:solidFill>
              <a:srgbClr val="F28C28"/>
            </a:solidFill>
          </a:ln>
        </p:spPr>
        <p:txBody>
          <a:bodyPr rtlCol="0" anchor="ctr" wrap="square" lIns="109728" tIns="54864" rIns="73152" bIns="54864">
            <a:noAutofit/>
          </a:bodyPr>
          <a:lstStyle/>
          <a:p>
            <a:pPr algn="l"/>
            <a:r>
              <a:rPr sz="1600" b="0" i="0" lang="en-GB">
                <a:solidFill>
                  <a:srgbClr val="F2F2F2"/>
                </a:solidFill>
                <a:latin typeface="Arial"/>
              </a:rPr>
              <a:t>Levers are locked so two clashing signals cannot both be clear</a:t>
            </a:r>
          </a:p>
        </p:txBody>
      </p:sp>
      <p:pic>
        <p:nvPicPr>
          <p:cNvPr id="73" name="Picture P15" descr="Lever frame and workings inside a signal box at Didcot Railway Centre."/>
          <p:cNvPicPr>
            <a:picLocks noChangeAspect="1"/>
          </p:cNvPicPr>
          <p:nvPr/>
        </p:nvPicPr>
        <p:blipFill>
          <a:blip r:embed="rId3"/>
          <a:srcRect t="4545" b="4545"/>
          <a:stretch>
            <a:fillRect/>
          </a:stretch>
        </p:blipFill>
        <p:spPr>
          <a:xfrm>
            <a:off x="9628632" y="3703320"/>
            <a:ext cx="2011680" cy="1371600"/>
          </a:xfrm>
          <a:prstGeom prst="roundRect">
            <a:avLst>
              <a:gd name="adj" fmla="val 5333"/>
            </a:avLst>
          </a:prstGeom>
        </p:spPr>
      </p:pic>
      <p:sp>
        <p:nvSpPr>
          <p:cNvPr id="74" name="Credit"/>
          <p:cNvSpPr txBox="1"/>
          <p:nvPr/>
        </p:nvSpPr>
        <p:spPr>
          <a:xfrm>
            <a:off x="9628632" y="5102352"/>
            <a:ext cx="2011680" cy="338328"/>
          </a:xfrm>
          <a:prstGeom prst="rect">
            <a:avLst/>
          </a:prstGeom>
          <a:noFill/>
        </p:spPr>
        <p:txBody>
          <a:bodyPr wrap="square" lIns="0" tIns="0" rIns="0" bIns="0" anchor="t">
            <a:noAutofit/>
          </a:bodyPr>
          <a:lstStyle/>
          <a:p>
            <a:pPr algn="l"/>
            <a:r>
              <a:rPr sz="1000" b="0" i="0" lang="en-GB">
                <a:solidFill>
                  <a:srgbClr val="A9B0B8"/>
                </a:solidFill>
                <a:latin typeface="Arial"/>
              </a:rPr>
              <a:t>Photo: Nigel Brown, CC BY-SA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signaller pulls levers. Rods and wires carry the movement out to the signals.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30</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257"/>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nodeType="withEffect">
                                  <p:stCondLst>
                                    <p:cond delay="514"/>
                                  </p:stCondLst>
                                  <p:childTnLst>
                                    <p:set>
                                      <p:cBhvr>
                                        <p:cTn id="12" dur="1" fill="hold">
                                          <p:stCondLst>
                                            <p:cond delay="0"/>
                                          </p:stCondLst>
                                        </p:cTn>
                                        <p:tgtEl>
                                          <p:spTgt spid="71"/>
                                        </p:tgtEl>
                                        <p:attrNameLst>
                                          <p:attrName>style.visibility</p:attrName>
                                        </p:attrNameLst>
                                      </p:cBhvr>
                                      <p:to>
                                        <p:strVal val="visible"/>
                                      </p:to>
                                    </p:set>
                                    <p:animEffect transition="in" filter="fade">
                                      <p:cBhvr>
                                        <p:cTn id="13" dur="500"/>
                                        <p:tgtEl>
                                          <p:spTgt spid="71"/>
                                        </p:tgtEl>
                                      </p:cBhvr>
                                    </p:animEffect>
                                  </p:childTnLst>
                                </p:cTn>
                              </p:par>
                              <p:par>
                                <p:cTn id="14" presetID="10" presetClass="entr" presetSubtype="0" fill="hold" nodeType="withEffect">
                                  <p:stCondLst>
                                    <p:cond delay="771"/>
                                  </p:stCondLst>
                                  <p:childTnLst>
                                    <p:set>
                                      <p:cBhvr>
                                        <p:cTn id="15" dur="1" fill="hold">
                                          <p:stCondLst>
                                            <p:cond delay="0"/>
                                          </p:stCondLst>
                                        </p:cTn>
                                        <p:tgtEl>
                                          <p:spTgt spid="72"/>
                                        </p:tgtEl>
                                        <p:attrNameLst>
                                          <p:attrName>style.visibility</p:attrName>
                                        </p:attrNameLst>
                                      </p:cBhvr>
                                      <p:to>
                                        <p:strVal val="visible"/>
                                      </p:to>
                                    </p:set>
                                    <p:animEffect transition="in" filter="fade">
                                      <p:cBhvr>
                                        <p:cTn id="16" dur="500"/>
                                        <p:tgtEl>
                                          <p:spTgt spid="72"/>
                                        </p:tgtEl>
                                      </p:cBhvr>
                                    </p:animEffect>
                                  </p:childTnLst>
                                </p:cTn>
                              </p:par>
                              <p:par>
                                <p:cTn id="17" presetID="10" presetClass="entr" presetSubtype="0" fill="hold" nodeType="withEffect">
                                  <p:stCondLst>
                                    <p:cond delay="1028"/>
                                  </p:stCondLst>
                                  <p:childTnLst>
                                    <p:set>
                                      <p:cBhvr>
                                        <p:cTn id="18" dur="1" fill="hold">
                                          <p:stCondLst>
                                            <p:cond delay="0"/>
                                          </p:stCondLst>
                                        </p:cTn>
                                        <p:tgtEl>
                                          <p:spTgt spid="73"/>
                                        </p:tgtEl>
                                        <p:attrNameLst>
                                          <p:attrName>style.visibility</p:attrName>
                                        </p:attrNameLst>
                                      </p:cBhvr>
                                      <p:to>
                                        <p:strVal val="visible"/>
                                      </p:to>
                                    </p:set>
                                    <p:animEffect transition="in" filter="fade">
                                      <p:cBhvr>
                                        <p:cTn id="19" dur="500"/>
                                        <p:tgtEl>
                                          <p:spTgt spid="73"/>
                                        </p:tgtEl>
                                      </p:cBhvr>
                                    </p:animEffect>
                                  </p:childTnLst>
                                </p:cTn>
                              </p:par>
                              <p:par>
                                <p:cTn id="20" presetID="10" presetClass="entr" presetSubtype="0" fill="hold" nodeType="withEffect">
                                  <p:stCondLst>
                                    <p:cond delay="1285"/>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par>
                                <p:cTn id="23" presetID="10" presetClass="entr" presetSubtype="0" fill="hold" nodeType="withEffect">
                                  <p:stCondLst>
                                    <p:cond delay="1542"/>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How it works together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Whole signalling system" descr="A signal box controls three signals through rods that run beside the track, each ending at a counterweight that returns the arm to STOP. A train is in block 2, so signal 1 is held at STOP behind it while signals 2 and 3 show CLEAR. A dotted line marks the box territory. A second box further along is linked by bell codes."/>
          <p:cNvGrpSpPr/>
          <p:nvPr/>
        </p:nvGrpSpPr>
        <p:grpSpPr>
          <a:xfrm>
            <a:off x="566928" y="1143000"/>
            <a:ext cx="11064240" cy="3813048"/>
            <a:chOff x="566928" y="1143000"/>
            <a:chExt cx="11064240" cy="3813048"/>
          </a:xfrm>
        </p:grpSpPr>
        <p:sp>
          <p:nvSpPr>
            <p:cNvPr id="9" name="Rounded Rectangle 8"/>
            <p:cNvSpPr/>
            <p:nvPr/>
          </p:nvSpPr>
          <p:spPr>
            <a:xfrm>
              <a:off x="566928" y="1572768"/>
              <a:ext cx="10058400" cy="3383280"/>
            </a:xfrm>
            <a:prstGeom prst="roundRect">
              <a:avLst>
                <a:gd name="adj" fmla="val 4054"/>
              </a:avLst>
            </a:prstGeom>
            <a:noFill/>
            <a:ln w="19050">
              <a:solidFill>
                <a:srgbClr val="F28C28"/>
              </a:solidFill>
              <a:prstDash val="sysDash"/>
            </a:ln>
          </p:spPr>
          <p:txBody>
            <a:bodyPr rtlCol="0" anchor="ctr"/>
            <a:lstStyle/>
            <a:p>
              <a:pPr algn="ctr"/>
            </a:p>
          </p:txBody>
        </p:sp>
        <p:sp>
          <p:nvSpPr>
            <p:cNvPr id="10" name="TextBox 9"/>
            <p:cNvSpPr txBox="1"/>
            <p:nvPr/>
          </p:nvSpPr>
          <p:spPr>
            <a:xfrm>
              <a:off x="7589520" y="1645920"/>
              <a:ext cx="2926080" cy="329184"/>
            </a:xfrm>
            <a:prstGeom prst="rect">
              <a:avLst/>
            </a:prstGeom>
            <a:noFill/>
          </p:spPr>
          <p:txBody>
            <a:bodyPr wrap="square" lIns="0" tIns="0" rIns="0" bIns="0" anchor="t">
              <a:noAutofit/>
            </a:bodyPr>
            <a:lstStyle/>
            <a:p>
              <a:pPr algn="r"/>
              <a:r>
                <a:rPr sz="1600" b="1" i="0" lang="en-GB">
                  <a:solidFill>
                    <a:srgbClr val="F28C28"/>
                  </a:solidFill>
                  <a:latin typeface="Arial"/>
                </a:rPr>
                <a:t>Box territory: limited</a:t>
              </a:r>
            </a:p>
          </p:txBody>
        </p:sp>
        <p:sp>
          <p:nvSpPr>
            <p:cNvPr id="11" name="Freeform 10"/>
            <p:cNvSpPr/>
            <p:nvPr/>
          </p:nvSpPr>
          <p:spPr>
            <a:xfrm>
              <a:off x="1920240" y="1444752"/>
              <a:ext cx="9253728" cy="457200"/>
            </a:xfrm>
            <a:custGeom>
              <a:avLst/>
              <a:gdLst/>
              <a:ahLst/>
              <a:cxnLst/>
              <a:rect l="l" t="t" r="r" b="b"/>
              <a:pathLst>
                <a:path w="9253728" h="457200">
                  <a:moveTo>
                    <a:pt x="0" y="219456"/>
                  </a:moveTo>
                  <a:lnTo>
                    <a:pt x="0" y="0"/>
                  </a:lnTo>
                  <a:lnTo>
                    <a:pt x="9253728" y="0"/>
                  </a:lnTo>
                  <a:lnTo>
                    <a:pt x="9253728" y="457200"/>
                  </a:lnTo>
                </a:path>
              </a:pathLst>
            </a:custGeom>
            <a:noFill/>
            <a:ln w="25400">
              <a:solidFill>
                <a:srgbClr val="9AA0A6"/>
              </a:solidFill>
              <a:prstDash val="dash"/>
              <a:headEnd type="triangle" w="lg" len="lg"/>
              <a:tailEnd type="triangle" w="lg" len="lg"/>
            </a:ln>
          </p:spPr>
          <p:txBody>
            <a:bodyPr rtlCol="0" anchor="ctr"/>
            <a:lstStyle/>
            <a:p>
              <a:pPr algn="ctr"/>
            </a:p>
          </p:txBody>
        </p:sp>
        <p:sp>
          <p:nvSpPr>
            <p:cNvPr id="12" name="TextBox 11"/>
            <p:cNvSpPr txBox="1"/>
            <p:nvPr/>
          </p:nvSpPr>
          <p:spPr>
            <a:xfrm>
              <a:off x="5486400" y="1143000"/>
              <a:ext cx="3291840" cy="274320"/>
            </a:xfrm>
            <a:prstGeom prst="rect">
              <a:avLst/>
            </a:prstGeom>
            <a:noFill/>
          </p:spPr>
          <p:txBody>
            <a:bodyPr wrap="square" lIns="0" tIns="0" rIns="0" bIns="0" anchor="ctr">
              <a:noAutofit/>
            </a:bodyPr>
            <a:lstStyle/>
            <a:p>
              <a:pPr algn="ctr"/>
              <a:r>
                <a:rPr sz="1600" b="0" i="0" lang="en-GB">
                  <a:solidFill>
                    <a:srgbClr val="F2F2F2"/>
                  </a:solidFill>
                  <a:latin typeface="Arial"/>
                </a:rPr>
                <a:t>Bell codes</a:t>
              </a:r>
            </a:p>
          </p:txBody>
        </p:sp>
        <p:sp>
          <p:nvSpPr>
            <p:cNvPr id="13" name="Freeform 12"/>
            <p:cNvSpPr/>
            <p:nvPr/>
          </p:nvSpPr>
          <p:spPr>
            <a:xfrm>
              <a:off x="685800" y="1659636"/>
              <a:ext cx="2468880" cy="397764"/>
            </a:xfrm>
            <a:custGeom>
              <a:avLst/>
              <a:gdLst/>
              <a:ahLst/>
              <a:cxnLst/>
              <a:rect l="l" t="t" r="r" b="b"/>
              <a:pathLst>
                <a:path w="2468880" h="397764">
                  <a:moveTo>
                    <a:pt x="0" y="397764"/>
                  </a:moveTo>
                  <a:lnTo>
                    <a:pt x="1234440" y="0"/>
                  </a:lnTo>
                  <a:lnTo>
                    <a:pt x="2468880" y="397764"/>
                  </a:lnTo>
                  <a:close/>
                </a:path>
              </a:pathLst>
            </a:custGeom>
            <a:solidFill>
              <a:srgbClr val="4A515B"/>
            </a:solidFill>
            <a:ln w="19050">
              <a:solidFill>
                <a:srgbClr val="F28C28"/>
              </a:solidFill>
            </a:ln>
          </p:spPr>
          <p:txBody>
            <a:bodyPr rtlCol="0" anchor="ctr"/>
            <a:lstStyle/>
            <a:p>
              <a:pPr algn="ctr"/>
            </a:p>
          </p:txBody>
        </p:sp>
        <p:sp>
          <p:nvSpPr>
            <p:cNvPr id="14" name="Rectangle 13"/>
            <p:cNvSpPr/>
            <p:nvPr/>
          </p:nvSpPr>
          <p:spPr>
            <a:xfrm>
              <a:off x="777240" y="2057400"/>
              <a:ext cx="2286000" cy="1325880"/>
            </a:xfrm>
            <a:prstGeom prst="rect">
              <a:avLst/>
            </a:prstGeom>
            <a:solidFill>
              <a:srgbClr val="2B2F36"/>
            </a:solidFill>
            <a:ln w="19050">
              <a:solidFill>
                <a:srgbClr val="F28C28"/>
              </a:solidFill>
            </a:ln>
          </p:spPr>
          <p:txBody>
            <a:bodyPr rtlCol="0" anchor="ctr"/>
            <a:lstStyle/>
            <a:p>
              <a:pPr algn="ctr"/>
            </a:p>
          </p:txBody>
        </p:sp>
        <p:sp>
          <p:nvSpPr>
            <p:cNvPr id="15" name="Rectangle 14"/>
            <p:cNvSpPr/>
            <p:nvPr/>
          </p:nvSpPr>
          <p:spPr>
            <a:xfrm>
              <a:off x="868680" y="2167128"/>
              <a:ext cx="2103120" cy="371246"/>
            </a:xfrm>
            <a:prstGeom prst="rect">
              <a:avLst/>
            </a:prstGeom>
            <a:solidFill>
              <a:srgbClr val="37587C"/>
            </a:solidFill>
            <a:ln w="9525">
              <a:solidFill>
                <a:srgbClr val="9AA0A6"/>
              </a:solidFill>
            </a:ln>
          </p:spPr>
          <p:txBody>
            <a:bodyPr rtlCol="0" anchor="ctr"/>
            <a:lstStyle/>
            <a:p>
              <a:pPr algn="ctr"/>
            </a:p>
          </p:txBody>
        </p:sp>
        <p:grpSp>
          <p:nvGrpSpPr>
            <p:cNvPr id="16" name="Person" descr="A signaller."/>
            <p:cNvGrpSpPr/>
            <p:nvPr/>
          </p:nvGrpSpPr>
          <p:grpSpPr>
            <a:xfrm>
              <a:off x="956462" y="2522372"/>
              <a:ext cx="373075" cy="769468"/>
              <a:chOff x="956462" y="2522372"/>
              <a:chExt cx="373075" cy="769468"/>
            </a:xfrm>
          </p:grpSpPr>
          <p:sp>
            <p:nvSpPr>
              <p:cNvPr id="17" name="Oval 16"/>
              <p:cNvSpPr/>
              <p:nvPr/>
            </p:nvSpPr>
            <p:spPr>
              <a:xfrm>
                <a:off x="1026414" y="2522372"/>
                <a:ext cx="233172" cy="233172"/>
              </a:xfrm>
              <a:prstGeom prst="ellipse">
                <a:avLst/>
              </a:prstGeom>
              <a:solidFill>
                <a:srgbClr val="E8E8E8"/>
              </a:solidFill>
              <a:ln>
                <a:noFill/>
              </a:ln>
            </p:spPr>
            <p:txBody>
              <a:bodyPr rtlCol="0" anchor="ctr"/>
              <a:lstStyle/>
              <a:p>
                <a:pPr algn="ctr"/>
              </a:p>
            </p:txBody>
          </p:sp>
          <p:sp>
            <p:nvSpPr>
              <p:cNvPr id="18" name="Rounded Rectangle 17"/>
              <p:cNvSpPr/>
              <p:nvPr/>
            </p:nvSpPr>
            <p:spPr>
              <a:xfrm>
                <a:off x="956462" y="2794406"/>
                <a:ext cx="373075" cy="497434"/>
              </a:xfrm>
              <a:prstGeom prst="roundRect">
                <a:avLst>
                  <a:gd name="adj" fmla="val 41666"/>
                </a:avLst>
              </a:prstGeom>
              <a:solidFill>
                <a:srgbClr val="E8E8E8"/>
              </a:solidFill>
              <a:ln>
                <a:noFill/>
              </a:ln>
            </p:spPr>
            <p:txBody>
              <a:bodyPr rtlCol="0" anchor="ctr"/>
              <a:lstStyle/>
              <a:p>
                <a:pPr algn="ctr"/>
              </a:p>
            </p:txBody>
          </p:sp>
        </p:grpSp>
        <p:sp>
          <p:nvSpPr>
            <p:cNvPr id="19" name="Rounded Rectangle 18"/>
            <p:cNvSpPr/>
            <p:nvPr/>
          </p:nvSpPr>
          <p:spPr>
            <a:xfrm>
              <a:off x="1828800" y="2542032"/>
              <a:ext cx="109728" cy="64008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0" name="Oval 19"/>
            <p:cNvSpPr/>
            <p:nvPr/>
          </p:nvSpPr>
          <p:spPr>
            <a:xfrm>
              <a:off x="1784909" y="3083357"/>
              <a:ext cx="197510" cy="197510"/>
            </a:xfrm>
            <a:prstGeom prst="ellipse">
              <a:avLst/>
            </a:prstGeom>
            <a:solidFill>
              <a:srgbClr val="9AA0A6"/>
            </a:solidFill>
            <a:ln>
              <a:noFill/>
            </a:ln>
          </p:spPr>
          <p:txBody>
            <a:bodyPr rtlCol="0" anchor="ctr"/>
            <a:lstStyle/>
            <a:p>
              <a:pPr algn="ctr"/>
            </a:p>
          </p:txBody>
        </p:sp>
        <p:sp>
          <p:nvSpPr>
            <p:cNvPr id="21" name="Rounded Rectangle 20"/>
            <p:cNvSpPr/>
            <p:nvPr/>
          </p:nvSpPr>
          <p:spPr>
            <a:xfrm>
              <a:off x="1810512" y="2487168"/>
              <a:ext cx="146304" cy="109728"/>
            </a:xfrm>
            <a:prstGeom prst="roundRect">
              <a:avLst>
                <a:gd name="adj" fmla="val 25000"/>
              </a:avLst>
            </a:prstGeom>
            <a:solidFill>
              <a:srgbClr val="9AA0A6"/>
            </a:solidFill>
            <a:ln>
              <a:noFill/>
            </a:ln>
          </p:spPr>
          <p:txBody>
            <a:bodyPr rtlCol="0" anchor="ctr"/>
            <a:lstStyle/>
            <a:p>
              <a:pPr algn="ctr"/>
            </a:p>
          </p:txBody>
        </p:sp>
        <p:sp>
          <p:nvSpPr>
            <p:cNvPr id="22" name="Rounded Rectangle 21"/>
            <p:cNvSpPr/>
            <p:nvPr/>
          </p:nvSpPr>
          <p:spPr>
            <a:xfrm>
              <a:off x="2139696" y="2542032"/>
              <a:ext cx="109728" cy="64008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3" name="Oval 22"/>
            <p:cNvSpPr/>
            <p:nvPr/>
          </p:nvSpPr>
          <p:spPr>
            <a:xfrm>
              <a:off x="2095805" y="3083357"/>
              <a:ext cx="197510" cy="197510"/>
            </a:xfrm>
            <a:prstGeom prst="ellipse">
              <a:avLst/>
            </a:prstGeom>
            <a:solidFill>
              <a:srgbClr val="9AA0A6"/>
            </a:solidFill>
            <a:ln>
              <a:noFill/>
            </a:ln>
          </p:spPr>
          <p:txBody>
            <a:bodyPr rtlCol="0" anchor="ctr"/>
            <a:lstStyle/>
            <a:p>
              <a:pPr algn="ctr"/>
            </a:p>
          </p:txBody>
        </p:sp>
        <p:sp>
          <p:nvSpPr>
            <p:cNvPr id="24" name="Rounded Rectangle 23"/>
            <p:cNvSpPr/>
            <p:nvPr/>
          </p:nvSpPr>
          <p:spPr>
            <a:xfrm>
              <a:off x="2121408" y="2487168"/>
              <a:ext cx="146304" cy="109728"/>
            </a:xfrm>
            <a:prstGeom prst="roundRect">
              <a:avLst>
                <a:gd name="adj" fmla="val 25000"/>
              </a:avLst>
            </a:prstGeom>
            <a:solidFill>
              <a:srgbClr val="9AA0A6"/>
            </a:solidFill>
            <a:ln>
              <a:noFill/>
            </a:ln>
          </p:spPr>
          <p:txBody>
            <a:bodyPr rtlCol="0" anchor="ctr"/>
            <a:lstStyle/>
            <a:p>
              <a:pPr algn="ctr"/>
            </a:p>
          </p:txBody>
        </p:sp>
        <p:sp>
          <p:nvSpPr>
            <p:cNvPr id="25" name="Rounded Rectangle 24"/>
            <p:cNvSpPr/>
            <p:nvPr/>
          </p:nvSpPr>
          <p:spPr>
            <a:xfrm>
              <a:off x="2450592" y="2542032"/>
              <a:ext cx="109728" cy="640080"/>
            </a:xfrm>
            <a:prstGeom prst="roundRect">
              <a:avLst>
                <a:gd name="adj" fmla="val 25000"/>
              </a:avLst>
            </a:prstGeom>
            <a:solidFill>
              <a:srgbClr val="F2C14E"/>
            </a:solidFill>
            <a:ln w="9525">
              <a:solidFill>
                <a:srgbClr val="101418"/>
              </a:solidFill>
            </a:ln>
          </p:spPr>
          <p:txBody>
            <a:bodyPr rtlCol="0" anchor="ctr"/>
            <a:lstStyle/>
            <a:p>
              <a:pPr algn="ctr"/>
            </a:p>
          </p:txBody>
        </p:sp>
        <p:sp>
          <p:nvSpPr>
            <p:cNvPr id="26" name="Oval 25"/>
            <p:cNvSpPr/>
            <p:nvPr/>
          </p:nvSpPr>
          <p:spPr>
            <a:xfrm>
              <a:off x="2406701" y="3083357"/>
              <a:ext cx="197510" cy="197510"/>
            </a:xfrm>
            <a:prstGeom prst="ellipse">
              <a:avLst/>
            </a:prstGeom>
            <a:solidFill>
              <a:srgbClr val="9AA0A6"/>
            </a:solidFill>
            <a:ln>
              <a:noFill/>
            </a:ln>
          </p:spPr>
          <p:txBody>
            <a:bodyPr rtlCol="0" anchor="ctr"/>
            <a:lstStyle/>
            <a:p>
              <a:pPr algn="ctr"/>
            </a:p>
          </p:txBody>
        </p:sp>
        <p:sp>
          <p:nvSpPr>
            <p:cNvPr id="27" name="Rounded Rectangle 26"/>
            <p:cNvSpPr/>
            <p:nvPr/>
          </p:nvSpPr>
          <p:spPr>
            <a:xfrm>
              <a:off x="2432304" y="2487168"/>
              <a:ext cx="146304" cy="109728"/>
            </a:xfrm>
            <a:prstGeom prst="roundRect">
              <a:avLst>
                <a:gd name="adj" fmla="val 25000"/>
              </a:avLst>
            </a:prstGeom>
            <a:solidFill>
              <a:srgbClr val="9AA0A6"/>
            </a:solidFill>
            <a:ln>
              <a:noFill/>
            </a:ln>
          </p:spPr>
          <p:txBody>
            <a:bodyPr rtlCol="0" anchor="ctr"/>
            <a:lstStyle/>
            <a:p>
              <a:pPr algn="ctr"/>
            </a:p>
          </p:txBody>
        </p:sp>
        <p:sp>
          <p:nvSpPr>
            <p:cNvPr id="28" name="Freeform 27"/>
            <p:cNvSpPr/>
            <p:nvPr/>
          </p:nvSpPr>
          <p:spPr>
            <a:xfrm>
              <a:off x="10716768" y="1911096"/>
              <a:ext cx="914400" cy="192024"/>
            </a:xfrm>
            <a:custGeom>
              <a:avLst/>
              <a:gdLst/>
              <a:ahLst/>
              <a:cxnLst/>
              <a:rect l="l" t="t" r="r" b="b"/>
              <a:pathLst>
                <a:path w="914400" h="192024">
                  <a:moveTo>
                    <a:pt x="0" y="192024"/>
                  </a:moveTo>
                  <a:lnTo>
                    <a:pt x="457200" y="0"/>
                  </a:lnTo>
                  <a:lnTo>
                    <a:pt x="914400" y="192024"/>
                  </a:lnTo>
                  <a:close/>
                </a:path>
              </a:pathLst>
            </a:custGeom>
            <a:solidFill>
              <a:srgbClr val="4A515B"/>
            </a:solidFill>
            <a:ln w="19050">
              <a:solidFill>
                <a:srgbClr val="9AA0A6"/>
              </a:solidFill>
            </a:ln>
          </p:spPr>
          <p:txBody>
            <a:bodyPr rtlCol="0" anchor="ctr"/>
            <a:lstStyle/>
            <a:p>
              <a:pPr algn="ctr"/>
            </a:p>
          </p:txBody>
        </p:sp>
        <p:sp>
          <p:nvSpPr>
            <p:cNvPr id="29" name="Rectangle 28"/>
            <p:cNvSpPr/>
            <p:nvPr/>
          </p:nvSpPr>
          <p:spPr>
            <a:xfrm>
              <a:off x="10808208" y="2103120"/>
              <a:ext cx="731520" cy="640080"/>
            </a:xfrm>
            <a:prstGeom prst="rect">
              <a:avLst/>
            </a:prstGeom>
            <a:solidFill>
              <a:srgbClr val="2B2F36"/>
            </a:solidFill>
            <a:ln w="19050">
              <a:solidFill>
                <a:srgbClr val="9AA0A6"/>
              </a:solidFill>
            </a:ln>
          </p:spPr>
          <p:txBody>
            <a:bodyPr rtlCol="0" anchor="ctr"/>
            <a:lstStyle/>
            <a:p>
              <a:pPr algn="ctr"/>
            </a:p>
          </p:txBody>
        </p:sp>
        <p:sp>
          <p:nvSpPr>
            <p:cNvPr id="30" name="Rectangle 29"/>
            <p:cNvSpPr/>
            <p:nvPr/>
          </p:nvSpPr>
          <p:spPr>
            <a:xfrm>
              <a:off x="10899648" y="2212848"/>
              <a:ext cx="548640" cy="179222"/>
            </a:xfrm>
            <a:prstGeom prst="rect">
              <a:avLst/>
            </a:prstGeom>
            <a:solidFill>
              <a:srgbClr val="37587C"/>
            </a:solidFill>
            <a:ln w="9525">
              <a:solidFill>
                <a:srgbClr val="9AA0A6"/>
              </a:solidFill>
            </a:ln>
          </p:spPr>
          <p:txBody>
            <a:bodyPr rtlCol="0" anchor="ctr"/>
            <a:lstStyle/>
            <a:p>
              <a:pPr algn="ctr"/>
            </a:p>
          </p:txBody>
        </p:sp>
        <p:sp>
          <p:nvSpPr>
            <p:cNvPr id="31" name="Rectangle 30"/>
            <p:cNvSpPr/>
            <p:nvPr/>
          </p:nvSpPr>
          <p:spPr>
            <a:xfrm>
              <a:off x="932688" y="3831336"/>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1252728" y="3831336"/>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1572768" y="3831336"/>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1892808" y="3831336"/>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2212848" y="3831336"/>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2532888" y="3831336"/>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2852928" y="3831336"/>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3172968" y="3831336"/>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3493008" y="3831336"/>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3813048" y="3831336"/>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4133088" y="3831336"/>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4453128" y="3831336"/>
              <a:ext cx="54864" cy="365760"/>
            </a:xfrm>
            <a:prstGeom prst="rect">
              <a:avLst/>
            </a:prstGeom>
            <a:solidFill>
              <a:srgbClr val="6B5B4B"/>
            </a:solidFill>
            <a:ln>
              <a:noFill/>
            </a:ln>
          </p:spPr>
          <p:txBody>
            <a:bodyPr rtlCol="0" anchor="ctr"/>
            <a:lstStyle/>
            <a:p>
              <a:pPr algn="ctr"/>
            </a:p>
          </p:txBody>
        </p:sp>
        <p:sp>
          <p:nvSpPr>
            <p:cNvPr id="43" name="Rectangle 42"/>
            <p:cNvSpPr/>
            <p:nvPr/>
          </p:nvSpPr>
          <p:spPr>
            <a:xfrm>
              <a:off x="4773168" y="3831336"/>
              <a:ext cx="54864" cy="365760"/>
            </a:xfrm>
            <a:prstGeom prst="rect">
              <a:avLst/>
            </a:prstGeom>
            <a:solidFill>
              <a:srgbClr val="6B5B4B"/>
            </a:solidFill>
            <a:ln>
              <a:noFill/>
            </a:ln>
          </p:spPr>
          <p:txBody>
            <a:bodyPr rtlCol="0" anchor="ctr"/>
            <a:lstStyle/>
            <a:p>
              <a:pPr algn="ctr"/>
            </a:p>
          </p:txBody>
        </p:sp>
        <p:sp>
          <p:nvSpPr>
            <p:cNvPr id="44" name="Rectangle 43"/>
            <p:cNvSpPr/>
            <p:nvPr/>
          </p:nvSpPr>
          <p:spPr>
            <a:xfrm>
              <a:off x="5093208" y="3831336"/>
              <a:ext cx="54864" cy="365760"/>
            </a:xfrm>
            <a:prstGeom prst="rect">
              <a:avLst/>
            </a:prstGeom>
            <a:solidFill>
              <a:srgbClr val="6B5B4B"/>
            </a:solidFill>
            <a:ln>
              <a:noFill/>
            </a:ln>
          </p:spPr>
          <p:txBody>
            <a:bodyPr rtlCol="0" anchor="ctr"/>
            <a:lstStyle/>
            <a:p>
              <a:pPr algn="ctr"/>
            </a:p>
          </p:txBody>
        </p:sp>
        <p:sp>
          <p:nvSpPr>
            <p:cNvPr id="45" name="Rectangle 44"/>
            <p:cNvSpPr/>
            <p:nvPr/>
          </p:nvSpPr>
          <p:spPr>
            <a:xfrm>
              <a:off x="5413248" y="3831336"/>
              <a:ext cx="54864" cy="365760"/>
            </a:xfrm>
            <a:prstGeom prst="rect">
              <a:avLst/>
            </a:prstGeom>
            <a:solidFill>
              <a:srgbClr val="6B5B4B"/>
            </a:solidFill>
            <a:ln>
              <a:noFill/>
            </a:ln>
          </p:spPr>
          <p:txBody>
            <a:bodyPr rtlCol="0" anchor="ctr"/>
            <a:lstStyle/>
            <a:p>
              <a:pPr algn="ctr"/>
            </a:p>
          </p:txBody>
        </p:sp>
        <p:sp>
          <p:nvSpPr>
            <p:cNvPr id="46" name="Rectangle 45"/>
            <p:cNvSpPr/>
            <p:nvPr/>
          </p:nvSpPr>
          <p:spPr>
            <a:xfrm>
              <a:off x="5733288" y="3831336"/>
              <a:ext cx="54864" cy="365760"/>
            </a:xfrm>
            <a:prstGeom prst="rect">
              <a:avLst/>
            </a:prstGeom>
            <a:solidFill>
              <a:srgbClr val="6B5B4B"/>
            </a:solidFill>
            <a:ln>
              <a:noFill/>
            </a:ln>
          </p:spPr>
          <p:txBody>
            <a:bodyPr rtlCol="0" anchor="ctr"/>
            <a:lstStyle/>
            <a:p>
              <a:pPr algn="ctr"/>
            </a:p>
          </p:txBody>
        </p:sp>
        <p:sp>
          <p:nvSpPr>
            <p:cNvPr id="47" name="Rectangle 46"/>
            <p:cNvSpPr/>
            <p:nvPr/>
          </p:nvSpPr>
          <p:spPr>
            <a:xfrm>
              <a:off x="6053328" y="3831336"/>
              <a:ext cx="54864" cy="365760"/>
            </a:xfrm>
            <a:prstGeom prst="rect">
              <a:avLst/>
            </a:prstGeom>
            <a:solidFill>
              <a:srgbClr val="6B5B4B"/>
            </a:solidFill>
            <a:ln>
              <a:noFill/>
            </a:ln>
          </p:spPr>
          <p:txBody>
            <a:bodyPr rtlCol="0" anchor="ctr"/>
            <a:lstStyle/>
            <a:p>
              <a:pPr algn="ctr"/>
            </a:p>
          </p:txBody>
        </p:sp>
        <p:sp>
          <p:nvSpPr>
            <p:cNvPr id="48" name="Rectangle 47"/>
            <p:cNvSpPr/>
            <p:nvPr/>
          </p:nvSpPr>
          <p:spPr>
            <a:xfrm>
              <a:off x="6373368" y="3831336"/>
              <a:ext cx="54864" cy="365760"/>
            </a:xfrm>
            <a:prstGeom prst="rect">
              <a:avLst/>
            </a:prstGeom>
            <a:solidFill>
              <a:srgbClr val="6B5B4B"/>
            </a:solidFill>
            <a:ln>
              <a:noFill/>
            </a:ln>
          </p:spPr>
          <p:txBody>
            <a:bodyPr rtlCol="0" anchor="ctr"/>
            <a:lstStyle/>
            <a:p>
              <a:pPr algn="ctr"/>
            </a:p>
          </p:txBody>
        </p:sp>
        <p:sp>
          <p:nvSpPr>
            <p:cNvPr id="49" name="Rectangle 48"/>
            <p:cNvSpPr/>
            <p:nvPr/>
          </p:nvSpPr>
          <p:spPr>
            <a:xfrm>
              <a:off x="6693408" y="3831336"/>
              <a:ext cx="54864" cy="365760"/>
            </a:xfrm>
            <a:prstGeom prst="rect">
              <a:avLst/>
            </a:prstGeom>
            <a:solidFill>
              <a:srgbClr val="6B5B4B"/>
            </a:solidFill>
            <a:ln>
              <a:noFill/>
            </a:ln>
          </p:spPr>
          <p:txBody>
            <a:bodyPr rtlCol="0" anchor="ctr"/>
            <a:lstStyle/>
            <a:p>
              <a:pPr algn="ctr"/>
            </a:p>
          </p:txBody>
        </p:sp>
        <p:sp>
          <p:nvSpPr>
            <p:cNvPr id="50" name="Rectangle 49"/>
            <p:cNvSpPr/>
            <p:nvPr/>
          </p:nvSpPr>
          <p:spPr>
            <a:xfrm>
              <a:off x="7013448" y="3831336"/>
              <a:ext cx="54864" cy="365760"/>
            </a:xfrm>
            <a:prstGeom prst="rect">
              <a:avLst/>
            </a:prstGeom>
            <a:solidFill>
              <a:srgbClr val="6B5B4B"/>
            </a:solidFill>
            <a:ln>
              <a:noFill/>
            </a:ln>
          </p:spPr>
          <p:txBody>
            <a:bodyPr rtlCol="0" anchor="ctr"/>
            <a:lstStyle/>
            <a:p>
              <a:pPr algn="ctr"/>
            </a:p>
          </p:txBody>
        </p:sp>
        <p:sp>
          <p:nvSpPr>
            <p:cNvPr id="51" name="Rectangle 50"/>
            <p:cNvSpPr/>
            <p:nvPr/>
          </p:nvSpPr>
          <p:spPr>
            <a:xfrm>
              <a:off x="7333488" y="3831336"/>
              <a:ext cx="54864" cy="365760"/>
            </a:xfrm>
            <a:prstGeom prst="rect">
              <a:avLst/>
            </a:prstGeom>
            <a:solidFill>
              <a:srgbClr val="6B5B4B"/>
            </a:solidFill>
            <a:ln>
              <a:noFill/>
            </a:ln>
          </p:spPr>
          <p:txBody>
            <a:bodyPr rtlCol="0" anchor="ctr"/>
            <a:lstStyle/>
            <a:p>
              <a:pPr algn="ctr"/>
            </a:p>
          </p:txBody>
        </p:sp>
        <p:sp>
          <p:nvSpPr>
            <p:cNvPr id="52" name="Rectangle 51"/>
            <p:cNvSpPr/>
            <p:nvPr/>
          </p:nvSpPr>
          <p:spPr>
            <a:xfrm>
              <a:off x="7653528" y="3831336"/>
              <a:ext cx="54864" cy="365760"/>
            </a:xfrm>
            <a:prstGeom prst="rect">
              <a:avLst/>
            </a:prstGeom>
            <a:solidFill>
              <a:srgbClr val="6B5B4B"/>
            </a:solidFill>
            <a:ln>
              <a:noFill/>
            </a:ln>
          </p:spPr>
          <p:txBody>
            <a:bodyPr rtlCol="0" anchor="ctr"/>
            <a:lstStyle/>
            <a:p>
              <a:pPr algn="ctr"/>
            </a:p>
          </p:txBody>
        </p:sp>
        <p:sp>
          <p:nvSpPr>
            <p:cNvPr id="53" name="Rectangle 52"/>
            <p:cNvSpPr/>
            <p:nvPr/>
          </p:nvSpPr>
          <p:spPr>
            <a:xfrm>
              <a:off x="7973568" y="3831336"/>
              <a:ext cx="54864" cy="365760"/>
            </a:xfrm>
            <a:prstGeom prst="rect">
              <a:avLst/>
            </a:prstGeom>
            <a:solidFill>
              <a:srgbClr val="6B5B4B"/>
            </a:solidFill>
            <a:ln>
              <a:noFill/>
            </a:ln>
          </p:spPr>
          <p:txBody>
            <a:bodyPr rtlCol="0" anchor="ctr"/>
            <a:lstStyle/>
            <a:p>
              <a:pPr algn="ctr"/>
            </a:p>
          </p:txBody>
        </p:sp>
        <p:sp>
          <p:nvSpPr>
            <p:cNvPr id="54" name="Rectangle 53"/>
            <p:cNvSpPr/>
            <p:nvPr/>
          </p:nvSpPr>
          <p:spPr>
            <a:xfrm>
              <a:off x="8293608" y="3831336"/>
              <a:ext cx="54864" cy="365760"/>
            </a:xfrm>
            <a:prstGeom prst="rect">
              <a:avLst/>
            </a:prstGeom>
            <a:solidFill>
              <a:srgbClr val="6B5B4B"/>
            </a:solidFill>
            <a:ln>
              <a:noFill/>
            </a:ln>
          </p:spPr>
          <p:txBody>
            <a:bodyPr rtlCol="0" anchor="ctr"/>
            <a:lstStyle/>
            <a:p>
              <a:pPr algn="ctr"/>
            </a:p>
          </p:txBody>
        </p:sp>
        <p:sp>
          <p:nvSpPr>
            <p:cNvPr id="55" name="Rectangle 54"/>
            <p:cNvSpPr/>
            <p:nvPr/>
          </p:nvSpPr>
          <p:spPr>
            <a:xfrm>
              <a:off x="8613648" y="3831336"/>
              <a:ext cx="54864" cy="365760"/>
            </a:xfrm>
            <a:prstGeom prst="rect">
              <a:avLst/>
            </a:prstGeom>
            <a:solidFill>
              <a:srgbClr val="6B5B4B"/>
            </a:solidFill>
            <a:ln>
              <a:noFill/>
            </a:ln>
          </p:spPr>
          <p:txBody>
            <a:bodyPr rtlCol="0" anchor="ctr"/>
            <a:lstStyle/>
            <a:p>
              <a:pPr algn="ctr"/>
            </a:p>
          </p:txBody>
        </p:sp>
        <p:sp>
          <p:nvSpPr>
            <p:cNvPr id="56" name="Rectangle 55"/>
            <p:cNvSpPr/>
            <p:nvPr/>
          </p:nvSpPr>
          <p:spPr>
            <a:xfrm>
              <a:off x="8933688" y="3831336"/>
              <a:ext cx="54864" cy="365760"/>
            </a:xfrm>
            <a:prstGeom prst="rect">
              <a:avLst/>
            </a:prstGeom>
            <a:solidFill>
              <a:srgbClr val="6B5B4B"/>
            </a:solidFill>
            <a:ln>
              <a:noFill/>
            </a:ln>
          </p:spPr>
          <p:txBody>
            <a:bodyPr rtlCol="0" anchor="ctr"/>
            <a:lstStyle/>
            <a:p>
              <a:pPr algn="ctr"/>
            </a:p>
          </p:txBody>
        </p:sp>
        <p:sp>
          <p:nvSpPr>
            <p:cNvPr id="57" name="Rectangle 56"/>
            <p:cNvSpPr/>
            <p:nvPr/>
          </p:nvSpPr>
          <p:spPr>
            <a:xfrm>
              <a:off x="9253728" y="3831336"/>
              <a:ext cx="54864" cy="365760"/>
            </a:xfrm>
            <a:prstGeom prst="rect">
              <a:avLst/>
            </a:prstGeom>
            <a:solidFill>
              <a:srgbClr val="6B5B4B"/>
            </a:solidFill>
            <a:ln>
              <a:noFill/>
            </a:ln>
          </p:spPr>
          <p:txBody>
            <a:bodyPr rtlCol="0" anchor="ctr"/>
            <a:lstStyle/>
            <a:p>
              <a:pPr algn="ctr"/>
            </a:p>
          </p:txBody>
        </p:sp>
        <p:sp>
          <p:nvSpPr>
            <p:cNvPr id="58" name="Rectangle 57"/>
            <p:cNvSpPr/>
            <p:nvPr/>
          </p:nvSpPr>
          <p:spPr>
            <a:xfrm>
              <a:off x="9573768" y="3831336"/>
              <a:ext cx="54864" cy="365760"/>
            </a:xfrm>
            <a:prstGeom prst="rect">
              <a:avLst/>
            </a:prstGeom>
            <a:solidFill>
              <a:srgbClr val="6B5B4B"/>
            </a:solidFill>
            <a:ln>
              <a:noFill/>
            </a:ln>
          </p:spPr>
          <p:txBody>
            <a:bodyPr rtlCol="0" anchor="ctr"/>
            <a:lstStyle/>
            <a:p>
              <a:pPr algn="ctr"/>
            </a:p>
          </p:txBody>
        </p:sp>
        <p:sp>
          <p:nvSpPr>
            <p:cNvPr id="59" name="Rectangle 58"/>
            <p:cNvSpPr/>
            <p:nvPr/>
          </p:nvSpPr>
          <p:spPr>
            <a:xfrm>
              <a:off x="9893808" y="3831336"/>
              <a:ext cx="54864" cy="365760"/>
            </a:xfrm>
            <a:prstGeom prst="rect">
              <a:avLst/>
            </a:prstGeom>
            <a:solidFill>
              <a:srgbClr val="6B5B4B"/>
            </a:solidFill>
            <a:ln>
              <a:noFill/>
            </a:ln>
          </p:spPr>
          <p:txBody>
            <a:bodyPr rtlCol="0" anchor="ctr"/>
            <a:lstStyle/>
            <a:p>
              <a:pPr algn="ctr"/>
            </a:p>
          </p:txBody>
        </p:sp>
        <p:sp>
          <p:nvSpPr>
            <p:cNvPr id="60" name="Rectangle 59"/>
            <p:cNvSpPr/>
            <p:nvPr/>
          </p:nvSpPr>
          <p:spPr>
            <a:xfrm>
              <a:off x="10213848" y="3831336"/>
              <a:ext cx="54864" cy="365760"/>
            </a:xfrm>
            <a:prstGeom prst="rect">
              <a:avLst/>
            </a:prstGeom>
            <a:solidFill>
              <a:srgbClr val="6B5B4B"/>
            </a:solidFill>
            <a:ln>
              <a:noFill/>
            </a:ln>
          </p:spPr>
          <p:txBody>
            <a:bodyPr rtlCol="0" anchor="ctr"/>
            <a:lstStyle/>
            <a:p>
              <a:pPr algn="ctr"/>
            </a:p>
          </p:txBody>
        </p:sp>
        <p:sp>
          <p:nvSpPr>
            <p:cNvPr id="61" name="Rectangle 60"/>
            <p:cNvSpPr/>
            <p:nvPr/>
          </p:nvSpPr>
          <p:spPr>
            <a:xfrm>
              <a:off x="10533888" y="3831336"/>
              <a:ext cx="54864" cy="365760"/>
            </a:xfrm>
            <a:prstGeom prst="rect">
              <a:avLst/>
            </a:prstGeom>
            <a:solidFill>
              <a:srgbClr val="6B5B4B"/>
            </a:solidFill>
            <a:ln>
              <a:noFill/>
            </a:ln>
          </p:spPr>
          <p:txBody>
            <a:bodyPr rtlCol="0" anchor="ctr"/>
            <a:lstStyle/>
            <a:p>
              <a:pPr algn="ctr"/>
            </a:p>
          </p:txBody>
        </p:sp>
        <p:sp>
          <p:nvSpPr>
            <p:cNvPr id="62" name="Rectangle 61"/>
            <p:cNvSpPr/>
            <p:nvPr/>
          </p:nvSpPr>
          <p:spPr>
            <a:xfrm>
              <a:off x="10853928" y="3831336"/>
              <a:ext cx="54864" cy="365760"/>
            </a:xfrm>
            <a:prstGeom prst="rect">
              <a:avLst/>
            </a:prstGeom>
            <a:solidFill>
              <a:srgbClr val="6B5B4B"/>
            </a:solidFill>
            <a:ln>
              <a:noFill/>
            </a:ln>
          </p:spPr>
          <p:txBody>
            <a:bodyPr rtlCol="0" anchor="ctr"/>
            <a:lstStyle/>
            <a:p>
              <a:pPr algn="ctr"/>
            </a:p>
          </p:txBody>
        </p:sp>
        <p:sp>
          <p:nvSpPr>
            <p:cNvPr id="63" name="Rectangle 62"/>
            <p:cNvSpPr/>
            <p:nvPr/>
          </p:nvSpPr>
          <p:spPr>
            <a:xfrm>
              <a:off x="11173968" y="3831336"/>
              <a:ext cx="54864" cy="365760"/>
            </a:xfrm>
            <a:prstGeom prst="rect">
              <a:avLst/>
            </a:prstGeom>
            <a:solidFill>
              <a:srgbClr val="6B5B4B"/>
            </a:solidFill>
            <a:ln>
              <a:noFill/>
            </a:ln>
          </p:spPr>
          <p:txBody>
            <a:bodyPr rtlCol="0" anchor="ctr"/>
            <a:lstStyle/>
            <a:p>
              <a:pPr algn="ctr"/>
            </a:p>
          </p:txBody>
        </p:sp>
        <p:sp>
          <p:nvSpPr>
            <p:cNvPr id="64" name="Rectangle 63"/>
            <p:cNvSpPr/>
            <p:nvPr/>
          </p:nvSpPr>
          <p:spPr>
            <a:xfrm>
              <a:off x="731520" y="3858768"/>
              <a:ext cx="10698480" cy="54864"/>
            </a:xfrm>
            <a:prstGeom prst="rect">
              <a:avLst/>
            </a:prstGeom>
            <a:solidFill>
              <a:srgbClr val="9AA0A6"/>
            </a:solidFill>
            <a:ln>
              <a:noFill/>
            </a:ln>
          </p:spPr>
          <p:txBody>
            <a:bodyPr rtlCol="0" anchor="ctr"/>
            <a:lstStyle/>
            <a:p>
              <a:pPr algn="ctr"/>
            </a:p>
          </p:txBody>
        </p:sp>
        <p:sp>
          <p:nvSpPr>
            <p:cNvPr id="65" name="Rectangle 64"/>
            <p:cNvSpPr/>
            <p:nvPr/>
          </p:nvSpPr>
          <p:spPr>
            <a:xfrm>
              <a:off x="731520" y="4114800"/>
              <a:ext cx="10698480" cy="54864"/>
            </a:xfrm>
            <a:prstGeom prst="rect">
              <a:avLst/>
            </a:prstGeom>
            <a:solidFill>
              <a:srgbClr val="9AA0A6"/>
            </a:solidFill>
            <a:ln>
              <a:noFill/>
            </a:ln>
          </p:spPr>
          <p:txBody>
            <a:bodyPr rtlCol="0" anchor="ctr"/>
            <a:lstStyle/>
            <a:p>
              <a:pPr algn="ctr"/>
            </a:p>
          </p:txBody>
        </p:sp>
        <p:sp>
          <p:nvSpPr>
            <p:cNvPr id="66" name="Rectangle 65"/>
            <p:cNvSpPr/>
            <p:nvPr/>
          </p:nvSpPr>
          <p:spPr>
            <a:xfrm>
              <a:off x="768096" y="4553712"/>
              <a:ext cx="340156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1</a:t>
              </a:r>
            </a:p>
          </p:txBody>
        </p:sp>
        <p:sp>
          <p:nvSpPr>
            <p:cNvPr id="67" name="Rectangle 66"/>
            <p:cNvSpPr/>
            <p:nvPr/>
          </p:nvSpPr>
          <p:spPr>
            <a:xfrm>
              <a:off x="4242816" y="4553712"/>
              <a:ext cx="267004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2</a:t>
              </a:r>
            </a:p>
          </p:txBody>
        </p:sp>
        <p:sp>
          <p:nvSpPr>
            <p:cNvPr id="68" name="Rectangle 67"/>
            <p:cNvSpPr/>
            <p:nvPr/>
          </p:nvSpPr>
          <p:spPr>
            <a:xfrm>
              <a:off x="6986016" y="4553712"/>
              <a:ext cx="248716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3</a:t>
              </a:r>
            </a:p>
          </p:txBody>
        </p:sp>
        <p:grpSp>
          <p:nvGrpSpPr>
            <p:cNvPr id="69" name="Train in block 2" descr="A steam train: an engine pulling wagons."/>
            <p:cNvGrpSpPr/>
            <p:nvPr/>
          </p:nvGrpSpPr>
          <p:grpSpPr>
            <a:xfrm>
              <a:off x="4389120" y="3223757"/>
              <a:ext cx="1965960" cy="662443"/>
              <a:chOff x="4389120" y="3223757"/>
              <a:chExt cx="1965960" cy="662443"/>
            </a:xfrm>
          </p:grpSpPr>
          <p:sp>
            <p:nvSpPr>
              <p:cNvPr id="70" name="Rectangle 69"/>
              <p:cNvSpPr/>
              <p:nvPr/>
            </p:nvSpPr>
            <p:spPr>
              <a:xfrm>
                <a:off x="4389120" y="3480187"/>
                <a:ext cx="569843" cy="320537"/>
              </a:xfrm>
              <a:prstGeom prst="rect">
                <a:avLst/>
              </a:prstGeom>
              <a:solidFill>
                <a:srgbClr val="6C7480"/>
              </a:solidFill>
              <a:ln w="9525">
                <a:solidFill>
                  <a:srgbClr val="101418"/>
                </a:solidFill>
              </a:ln>
            </p:spPr>
            <p:txBody>
              <a:bodyPr rtlCol="0" anchor="ctr"/>
              <a:lstStyle/>
              <a:p>
                <a:pPr algn="ctr"/>
              </a:p>
            </p:txBody>
          </p:sp>
          <p:sp>
            <p:nvSpPr>
              <p:cNvPr id="71" name="Oval 70"/>
              <p:cNvSpPr/>
              <p:nvPr/>
            </p:nvSpPr>
            <p:spPr>
              <a:xfrm>
                <a:off x="4460350" y="3743739"/>
                <a:ext cx="142461" cy="142461"/>
              </a:xfrm>
              <a:prstGeom prst="ellipse">
                <a:avLst/>
              </a:prstGeom>
              <a:solidFill>
                <a:srgbClr val="1B1D21"/>
              </a:solidFill>
              <a:ln w="12700">
                <a:solidFill>
                  <a:srgbClr val="9AA0A6"/>
                </a:solidFill>
              </a:ln>
            </p:spPr>
            <p:txBody>
              <a:bodyPr rtlCol="0" anchor="ctr"/>
              <a:lstStyle/>
              <a:p>
                <a:pPr algn="ctr"/>
              </a:p>
            </p:txBody>
          </p:sp>
          <p:sp>
            <p:nvSpPr>
              <p:cNvPr id="72" name="Oval 71"/>
              <p:cNvSpPr/>
              <p:nvPr/>
            </p:nvSpPr>
            <p:spPr>
              <a:xfrm>
                <a:off x="4745272" y="3743739"/>
                <a:ext cx="142461" cy="142461"/>
              </a:xfrm>
              <a:prstGeom prst="ellipse">
                <a:avLst/>
              </a:prstGeom>
              <a:solidFill>
                <a:srgbClr val="1B1D21"/>
              </a:solidFill>
              <a:ln w="12700">
                <a:solidFill>
                  <a:srgbClr val="9AA0A6"/>
                </a:solidFill>
              </a:ln>
            </p:spPr>
            <p:txBody>
              <a:bodyPr rtlCol="0" anchor="ctr"/>
              <a:lstStyle/>
              <a:p>
                <a:pPr algn="ctr"/>
              </a:p>
            </p:txBody>
          </p:sp>
          <p:sp>
            <p:nvSpPr>
              <p:cNvPr id="73" name="Rectangle 72"/>
              <p:cNvSpPr/>
              <p:nvPr/>
            </p:nvSpPr>
            <p:spPr>
              <a:xfrm>
                <a:off x="4958963" y="3708124"/>
                <a:ext cx="56984" cy="35615"/>
              </a:xfrm>
              <a:prstGeom prst="rect">
                <a:avLst/>
              </a:prstGeom>
              <a:solidFill>
                <a:srgbClr val="9AA0A6"/>
              </a:solidFill>
              <a:ln>
                <a:noFill/>
              </a:ln>
            </p:spPr>
            <p:txBody>
              <a:bodyPr rtlCol="0" anchor="ctr"/>
              <a:lstStyle/>
              <a:p>
                <a:pPr algn="ctr"/>
              </a:p>
            </p:txBody>
          </p:sp>
          <p:sp>
            <p:nvSpPr>
              <p:cNvPr id="74" name="Rectangle 73"/>
              <p:cNvSpPr/>
              <p:nvPr/>
            </p:nvSpPr>
            <p:spPr>
              <a:xfrm>
                <a:off x="5015948" y="3480187"/>
                <a:ext cx="569843" cy="320537"/>
              </a:xfrm>
              <a:prstGeom prst="rect">
                <a:avLst/>
              </a:prstGeom>
              <a:solidFill>
                <a:srgbClr val="6C7480"/>
              </a:solidFill>
              <a:ln w="9525">
                <a:solidFill>
                  <a:srgbClr val="101418"/>
                </a:solidFill>
              </a:ln>
            </p:spPr>
            <p:txBody>
              <a:bodyPr rtlCol="0" anchor="ctr"/>
              <a:lstStyle/>
              <a:p>
                <a:pPr algn="ctr"/>
              </a:p>
            </p:txBody>
          </p:sp>
          <p:sp>
            <p:nvSpPr>
              <p:cNvPr id="75" name="Oval 74"/>
              <p:cNvSpPr/>
              <p:nvPr/>
            </p:nvSpPr>
            <p:spPr>
              <a:xfrm>
                <a:off x="5087178" y="3743739"/>
                <a:ext cx="142461" cy="142461"/>
              </a:xfrm>
              <a:prstGeom prst="ellipse">
                <a:avLst/>
              </a:prstGeom>
              <a:solidFill>
                <a:srgbClr val="1B1D21"/>
              </a:solidFill>
              <a:ln w="12700">
                <a:solidFill>
                  <a:srgbClr val="9AA0A6"/>
                </a:solidFill>
              </a:ln>
            </p:spPr>
            <p:txBody>
              <a:bodyPr rtlCol="0" anchor="ctr"/>
              <a:lstStyle/>
              <a:p>
                <a:pPr algn="ctr"/>
              </a:p>
            </p:txBody>
          </p:sp>
          <p:sp>
            <p:nvSpPr>
              <p:cNvPr id="76" name="Oval 75"/>
              <p:cNvSpPr/>
              <p:nvPr/>
            </p:nvSpPr>
            <p:spPr>
              <a:xfrm>
                <a:off x="5372100" y="3743739"/>
                <a:ext cx="142461" cy="142461"/>
              </a:xfrm>
              <a:prstGeom prst="ellipse">
                <a:avLst/>
              </a:prstGeom>
              <a:solidFill>
                <a:srgbClr val="1B1D21"/>
              </a:solidFill>
              <a:ln w="12700">
                <a:solidFill>
                  <a:srgbClr val="9AA0A6"/>
                </a:solidFill>
              </a:ln>
            </p:spPr>
            <p:txBody>
              <a:bodyPr rtlCol="0" anchor="ctr"/>
              <a:lstStyle/>
              <a:p>
                <a:pPr algn="ctr"/>
              </a:p>
            </p:txBody>
          </p:sp>
          <p:sp>
            <p:nvSpPr>
              <p:cNvPr id="77" name="Rectangle 76"/>
              <p:cNvSpPr/>
              <p:nvPr/>
            </p:nvSpPr>
            <p:spPr>
              <a:xfrm>
                <a:off x="5585791" y="3708124"/>
                <a:ext cx="56984" cy="35615"/>
              </a:xfrm>
              <a:prstGeom prst="rect">
                <a:avLst/>
              </a:prstGeom>
              <a:solidFill>
                <a:srgbClr val="9AA0A6"/>
              </a:solidFill>
              <a:ln>
                <a:noFill/>
              </a:ln>
            </p:spPr>
            <p:txBody>
              <a:bodyPr rtlCol="0" anchor="ctr"/>
              <a:lstStyle/>
              <a:p>
                <a:pPr algn="ctr"/>
              </a:p>
            </p:txBody>
          </p:sp>
          <p:sp>
            <p:nvSpPr>
              <p:cNvPr id="78" name="Rectangle 77"/>
              <p:cNvSpPr/>
              <p:nvPr/>
            </p:nvSpPr>
            <p:spPr>
              <a:xfrm>
                <a:off x="5642776" y="3423202"/>
                <a:ext cx="712304" cy="391767"/>
              </a:xfrm>
              <a:prstGeom prst="rect">
                <a:avLst/>
              </a:prstGeom>
              <a:solidFill>
                <a:srgbClr val="F28C28"/>
              </a:solidFill>
              <a:ln w="9525">
                <a:solidFill>
                  <a:srgbClr val="101418"/>
                </a:solidFill>
              </a:ln>
            </p:spPr>
            <p:txBody>
              <a:bodyPr rtlCol="0" anchor="ctr"/>
              <a:lstStyle/>
              <a:p>
                <a:pPr algn="ctr"/>
              </a:p>
            </p:txBody>
          </p:sp>
          <p:sp>
            <p:nvSpPr>
              <p:cNvPr id="79" name="Bunker"/>
              <p:cNvSpPr/>
              <p:nvPr/>
            </p:nvSpPr>
            <p:spPr>
              <a:xfrm>
                <a:off x="5664145" y="3444571"/>
                <a:ext cx="185199" cy="142461"/>
              </a:xfrm>
              <a:prstGeom prst="rect">
                <a:avLst/>
              </a:prstGeom>
              <a:solidFill>
                <a:srgbClr val="1B1D21"/>
              </a:solidFill>
              <a:ln>
                <a:noFill/>
              </a:ln>
            </p:spPr>
            <p:txBody>
              <a:bodyPr rtlCol="0" anchor="ctr"/>
              <a:lstStyle/>
              <a:p>
                <a:pPr algn="ctr"/>
              </a:p>
            </p:txBody>
          </p:sp>
          <p:sp>
            <p:nvSpPr>
              <p:cNvPr id="80" name="Rectangle 79"/>
              <p:cNvSpPr/>
              <p:nvPr/>
            </p:nvSpPr>
            <p:spPr>
              <a:xfrm>
                <a:off x="5884959" y="3473063"/>
                <a:ext cx="99723" cy="99723"/>
              </a:xfrm>
              <a:prstGeom prst="rect">
                <a:avLst/>
              </a:prstGeom>
              <a:solidFill>
                <a:srgbClr val="2B2F36"/>
              </a:solidFill>
              <a:ln>
                <a:noFill/>
              </a:ln>
            </p:spPr>
            <p:txBody>
              <a:bodyPr rtlCol="0" anchor="ctr"/>
              <a:lstStyle/>
              <a:p>
                <a:pPr algn="ctr"/>
              </a:p>
            </p:txBody>
          </p:sp>
          <p:sp>
            <p:nvSpPr>
              <p:cNvPr id="81" name="Chimney"/>
              <p:cNvSpPr/>
              <p:nvPr/>
            </p:nvSpPr>
            <p:spPr>
              <a:xfrm>
                <a:off x="6198373" y="3223757"/>
                <a:ext cx="106846" cy="213691"/>
              </a:xfrm>
              <a:prstGeom prst="rect">
                <a:avLst/>
              </a:prstGeom>
              <a:solidFill>
                <a:srgbClr val="1B1D21"/>
              </a:solidFill>
              <a:ln>
                <a:noFill/>
              </a:ln>
            </p:spPr>
            <p:txBody>
              <a:bodyPr rtlCol="0" anchor="ctr"/>
              <a:lstStyle/>
              <a:p>
                <a:pPr algn="ctr"/>
              </a:p>
            </p:txBody>
          </p:sp>
          <p:sp>
            <p:nvSpPr>
              <p:cNvPr id="82" name="Oval 81"/>
              <p:cNvSpPr/>
              <p:nvPr/>
            </p:nvSpPr>
            <p:spPr>
              <a:xfrm>
                <a:off x="5714006" y="3743739"/>
                <a:ext cx="142461" cy="142461"/>
              </a:xfrm>
              <a:prstGeom prst="ellipse">
                <a:avLst/>
              </a:prstGeom>
              <a:solidFill>
                <a:srgbClr val="1B1D21"/>
              </a:solidFill>
              <a:ln w="12700">
                <a:solidFill>
                  <a:srgbClr val="9AA0A6"/>
                </a:solidFill>
              </a:ln>
            </p:spPr>
            <p:txBody>
              <a:bodyPr rtlCol="0" anchor="ctr"/>
              <a:lstStyle/>
              <a:p>
                <a:pPr algn="ctr"/>
              </a:p>
            </p:txBody>
          </p:sp>
          <p:sp>
            <p:nvSpPr>
              <p:cNvPr id="83" name="Oval 82"/>
              <p:cNvSpPr/>
              <p:nvPr/>
            </p:nvSpPr>
            <p:spPr>
              <a:xfrm>
                <a:off x="5927697" y="3743739"/>
                <a:ext cx="142461" cy="142461"/>
              </a:xfrm>
              <a:prstGeom prst="ellipse">
                <a:avLst/>
              </a:prstGeom>
              <a:solidFill>
                <a:srgbClr val="1B1D21"/>
              </a:solidFill>
              <a:ln w="12700">
                <a:solidFill>
                  <a:srgbClr val="9AA0A6"/>
                </a:solidFill>
              </a:ln>
            </p:spPr>
            <p:txBody>
              <a:bodyPr rtlCol="0" anchor="ctr"/>
              <a:lstStyle/>
              <a:p>
                <a:pPr algn="ctr"/>
              </a:p>
            </p:txBody>
          </p:sp>
          <p:sp>
            <p:nvSpPr>
              <p:cNvPr id="84" name="Oval 83"/>
              <p:cNvSpPr/>
              <p:nvPr/>
            </p:nvSpPr>
            <p:spPr>
              <a:xfrm>
                <a:off x="6141389" y="3743739"/>
                <a:ext cx="142461" cy="142461"/>
              </a:xfrm>
              <a:prstGeom prst="ellipse">
                <a:avLst/>
              </a:prstGeom>
              <a:solidFill>
                <a:srgbClr val="1B1D21"/>
              </a:solidFill>
              <a:ln w="12700">
                <a:solidFill>
                  <a:srgbClr val="9AA0A6"/>
                </a:solidFill>
              </a:ln>
            </p:spPr>
            <p:txBody>
              <a:bodyPr rtlCol="0" anchor="ctr"/>
              <a:lstStyle/>
              <a:p>
                <a:pPr algn="ctr"/>
              </a:p>
            </p:txBody>
          </p:sp>
        </p:grpSp>
        <p:sp>
          <p:nvSpPr>
            <p:cNvPr id="85" name="Freeform 84"/>
            <p:cNvSpPr/>
            <p:nvPr/>
          </p:nvSpPr>
          <p:spPr>
            <a:xfrm>
              <a:off x="3063240" y="2697480"/>
              <a:ext cx="1033272" cy="1563624"/>
            </a:xfrm>
            <a:custGeom>
              <a:avLst/>
              <a:gdLst/>
              <a:ahLst/>
              <a:cxnLst/>
              <a:rect l="l" t="t" r="r" b="b"/>
              <a:pathLst>
                <a:path w="1033272" h="1563624">
                  <a:moveTo>
                    <a:pt x="0" y="0"/>
                  </a:moveTo>
                  <a:lnTo>
                    <a:pt x="228600" y="0"/>
                  </a:lnTo>
                  <a:lnTo>
                    <a:pt x="228600" y="1563624"/>
                  </a:lnTo>
                  <a:lnTo>
                    <a:pt x="1033272" y="1563624"/>
                  </a:lnTo>
                </a:path>
              </a:pathLst>
            </a:custGeom>
            <a:noFill/>
            <a:ln w="28575">
              <a:solidFill>
                <a:srgbClr val="F28C28"/>
              </a:solidFill>
              <a:prstDash val="dash"/>
            </a:ln>
          </p:spPr>
          <p:txBody>
            <a:bodyPr rtlCol="0" anchor="ctr"/>
            <a:lstStyle/>
            <a:p>
              <a:pPr algn="ctr"/>
            </a:p>
          </p:txBody>
        </p:sp>
        <p:sp>
          <p:nvSpPr>
            <p:cNvPr id="86" name="Rectangle 85"/>
            <p:cNvSpPr/>
            <p:nvPr/>
          </p:nvSpPr>
          <p:spPr>
            <a:xfrm>
              <a:off x="3968496" y="4197096"/>
              <a:ext cx="128016" cy="128016"/>
            </a:xfrm>
            <a:prstGeom prst="rect">
              <a:avLst/>
            </a:prstGeom>
            <a:solidFill>
              <a:srgbClr val="9AA0A6"/>
            </a:solidFill>
            <a:ln w="9525">
              <a:solidFill>
                <a:srgbClr val="101418"/>
              </a:solidFill>
            </a:ln>
          </p:spPr>
          <p:txBody>
            <a:bodyPr rtlCol="0" anchor="ctr"/>
            <a:lstStyle/>
            <a:p>
              <a:pPr algn="ctr"/>
            </a:p>
          </p:txBody>
        </p:sp>
        <p:grpSp>
          <p:nvGrpSpPr>
            <p:cNvPr id="87" name="Signal stop" descr="Semaphore stop signal, arm flat: STOP."/>
            <p:cNvGrpSpPr/>
            <p:nvPr/>
          </p:nvGrpSpPr>
          <p:grpSpPr>
            <a:xfrm>
              <a:off x="3511296" y="2926080"/>
              <a:ext cx="1764792" cy="1389888"/>
              <a:chOff x="3511296" y="2926080"/>
              <a:chExt cx="1764792" cy="1389888"/>
            </a:xfrm>
          </p:grpSpPr>
          <p:sp>
            <p:nvSpPr>
              <p:cNvPr id="88" name="Rectangle 87"/>
              <p:cNvSpPr/>
              <p:nvPr/>
            </p:nvSpPr>
            <p:spPr>
              <a:xfrm>
                <a:off x="4050792" y="4251960"/>
                <a:ext cx="310896" cy="64008"/>
              </a:xfrm>
              <a:prstGeom prst="rect">
                <a:avLst/>
              </a:prstGeom>
              <a:solidFill>
                <a:srgbClr val="9AA0A6"/>
              </a:solidFill>
              <a:ln>
                <a:noFill/>
              </a:ln>
            </p:spPr>
            <p:txBody>
              <a:bodyPr rtlCol="0" anchor="ctr"/>
              <a:lstStyle/>
              <a:p>
                <a:pPr algn="ctr"/>
              </a:p>
            </p:txBody>
          </p:sp>
          <p:sp>
            <p:nvSpPr>
              <p:cNvPr id="89" name="Rectangle 88"/>
              <p:cNvSpPr/>
              <p:nvPr/>
            </p:nvSpPr>
            <p:spPr>
              <a:xfrm>
                <a:off x="4151376" y="3310128"/>
                <a:ext cx="109728" cy="1005840"/>
              </a:xfrm>
              <a:prstGeom prst="rect">
                <a:avLst/>
              </a:prstGeom>
              <a:solidFill>
                <a:srgbClr val="E8E8E8"/>
              </a:solidFill>
              <a:ln>
                <a:noFill/>
              </a:ln>
            </p:spPr>
            <p:txBody>
              <a:bodyPr rtlCol="0" anchor="ctr"/>
              <a:lstStyle/>
              <a:p>
                <a:pPr algn="ctr"/>
              </a:p>
            </p:txBody>
          </p:sp>
          <p:sp>
            <p:nvSpPr>
              <p:cNvPr id="90" name="Oval 89"/>
              <p:cNvSpPr/>
              <p:nvPr/>
            </p:nvSpPr>
            <p:spPr>
              <a:xfrm>
                <a:off x="4142232" y="3209544"/>
                <a:ext cx="128016" cy="128016"/>
              </a:xfrm>
              <a:prstGeom prst="ellipse">
                <a:avLst/>
              </a:prstGeom>
              <a:solidFill>
                <a:srgbClr val="E8E8E8"/>
              </a:solidFill>
              <a:ln>
                <a:noFill/>
              </a:ln>
            </p:spPr>
            <p:txBody>
              <a:bodyPr rtlCol="0" anchor="ctr"/>
              <a:lstStyle/>
              <a:p>
                <a:pPr algn="ctr"/>
              </a:p>
            </p:txBody>
          </p:sp>
          <p:sp>
            <p:nvSpPr>
              <p:cNvPr id="91" name="Freeform 90"/>
              <p:cNvSpPr/>
              <p:nvPr/>
            </p:nvSpPr>
            <p:spPr>
              <a:xfrm>
                <a:off x="3511296" y="3456432"/>
                <a:ext cx="640080" cy="128016"/>
              </a:xfrm>
              <a:custGeom>
                <a:avLst/>
                <a:gdLst/>
                <a:ahLst/>
                <a:cxnLst/>
                <a:rect l="l" t="t" r="r" b="b"/>
                <a:pathLst>
                  <a:path w="640080" h="128016">
                    <a:moveTo>
                      <a:pt x="640080" y="0"/>
                    </a:moveTo>
                    <a:lnTo>
                      <a:pt x="0" y="0"/>
                    </a:lnTo>
                    <a:lnTo>
                      <a:pt x="0" y="128016"/>
                    </a:lnTo>
                    <a:lnTo>
                      <a:pt x="640080" y="128016"/>
                    </a:lnTo>
                    <a:close/>
                  </a:path>
                </a:pathLst>
              </a:custGeom>
              <a:solidFill>
                <a:srgbClr val="E5484D"/>
              </a:solidFill>
              <a:ln w="9525">
                <a:solidFill>
                  <a:srgbClr val="101418"/>
                </a:solidFill>
              </a:ln>
            </p:spPr>
            <p:txBody>
              <a:bodyPr rtlCol="0" anchor="ctr"/>
              <a:lstStyle/>
              <a:p>
                <a:pPr algn="ctr"/>
              </a:p>
            </p:txBody>
          </p:sp>
          <p:sp>
            <p:nvSpPr>
              <p:cNvPr id="92" name="Freeform 91"/>
              <p:cNvSpPr/>
              <p:nvPr/>
            </p:nvSpPr>
            <p:spPr>
              <a:xfrm>
                <a:off x="3677717" y="3456432"/>
                <a:ext cx="76809" cy="128016"/>
              </a:xfrm>
              <a:custGeom>
                <a:avLst/>
                <a:gdLst/>
                <a:ahLst/>
                <a:cxnLst/>
                <a:rect l="l" t="t" r="r" b="b"/>
                <a:pathLst>
                  <a:path w="76809" h="128016">
                    <a:moveTo>
                      <a:pt x="76809" y="0"/>
                    </a:moveTo>
                    <a:lnTo>
                      <a:pt x="0" y="0"/>
                    </a:lnTo>
                    <a:lnTo>
                      <a:pt x="0" y="128016"/>
                    </a:lnTo>
                    <a:lnTo>
                      <a:pt x="76809" y="128016"/>
                    </a:lnTo>
                    <a:close/>
                  </a:path>
                </a:pathLst>
              </a:custGeom>
              <a:solidFill>
                <a:srgbClr val="FFFFFF"/>
              </a:solidFill>
              <a:ln>
                <a:noFill/>
              </a:ln>
            </p:spPr>
            <p:txBody>
              <a:bodyPr rtlCol="0" anchor="ctr"/>
              <a:lstStyle/>
              <a:p>
                <a:pPr algn="ctr"/>
              </a:p>
            </p:txBody>
          </p:sp>
          <p:sp>
            <p:nvSpPr>
              <p:cNvPr id="93" name="Oval 92"/>
              <p:cNvSpPr/>
              <p:nvPr/>
            </p:nvSpPr>
            <p:spPr>
              <a:xfrm>
                <a:off x="4283964" y="3442716"/>
                <a:ext cx="155448" cy="155448"/>
              </a:xfrm>
              <a:prstGeom prst="ellipse">
                <a:avLst/>
              </a:prstGeom>
              <a:solidFill>
                <a:srgbClr val="E5484D"/>
              </a:solidFill>
              <a:ln w="9525">
                <a:solidFill>
                  <a:srgbClr val="101418"/>
                </a:solidFill>
              </a:ln>
            </p:spPr>
            <p:txBody>
              <a:bodyPr rtlCol="0" anchor="ctr"/>
              <a:lstStyle/>
              <a:p>
                <a:pPr algn="ctr"/>
              </a:p>
            </p:txBody>
          </p:sp>
          <p:sp>
            <p:nvSpPr>
              <p:cNvPr id="94" name="Rounded Rectangle 93"/>
              <p:cNvSpPr/>
              <p:nvPr/>
            </p:nvSpPr>
            <p:spPr>
              <a:xfrm>
                <a:off x="4407408" y="2926080"/>
                <a:ext cx="86868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STOP</a:t>
                </a:r>
              </a:p>
            </p:txBody>
          </p:sp>
        </p:grpSp>
        <p:sp>
          <p:nvSpPr>
            <p:cNvPr id="95" name="Freeform 94"/>
            <p:cNvSpPr/>
            <p:nvPr/>
          </p:nvSpPr>
          <p:spPr>
            <a:xfrm>
              <a:off x="3063240" y="2926080"/>
              <a:ext cx="3776472" cy="1412748"/>
            </a:xfrm>
            <a:custGeom>
              <a:avLst/>
              <a:gdLst/>
              <a:ahLst/>
              <a:cxnLst/>
              <a:rect l="l" t="t" r="r" b="b"/>
              <a:pathLst>
                <a:path w="3776472" h="1412748">
                  <a:moveTo>
                    <a:pt x="0" y="0"/>
                  </a:moveTo>
                  <a:lnTo>
                    <a:pt x="338328" y="0"/>
                  </a:lnTo>
                  <a:lnTo>
                    <a:pt x="338328" y="1412748"/>
                  </a:lnTo>
                  <a:lnTo>
                    <a:pt x="3776472" y="1412748"/>
                  </a:lnTo>
                </a:path>
              </a:pathLst>
            </a:custGeom>
            <a:noFill/>
            <a:ln w="28575">
              <a:solidFill>
                <a:srgbClr val="F28C28"/>
              </a:solidFill>
              <a:prstDash val="dash"/>
            </a:ln>
          </p:spPr>
          <p:txBody>
            <a:bodyPr rtlCol="0" anchor="ctr"/>
            <a:lstStyle/>
            <a:p>
              <a:pPr algn="ctr"/>
            </a:p>
          </p:txBody>
        </p:sp>
        <p:sp>
          <p:nvSpPr>
            <p:cNvPr id="96" name="Rectangle 95"/>
            <p:cNvSpPr/>
            <p:nvPr/>
          </p:nvSpPr>
          <p:spPr>
            <a:xfrm>
              <a:off x="6711696" y="4274820"/>
              <a:ext cx="128016" cy="128016"/>
            </a:xfrm>
            <a:prstGeom prst="rect">
              <a:avLst/>
            </a:prstGeom>
            <a:solidFill>
              <a:srgbClr val="9AA0A6"/>
            </a:solidFill>
            <a:ln w="9525">
              <a:solidFill>
                <a:srgbClr val="101418"/>
              </a:solidFill>
            </a:ln>
          </p:spPr>
          <p:txBody>
            <a:bodyPr rtlCol="0" anchor="ctr"/>
            <a:lstStyle/>
            <a:p>
              <a:pPr algn="ctr"/>
            </a:p>
          </p:txBody>
        </p:sp>
        <p:grpSp>
          <p:nvGrpSpPr>
            <p:cNvPr id="97" name="Signal clear" descr="Semaphore stop signal, arm raised: CLEAR."/>
            <p:cNvGrpSpPr/>
            <p:nvPr/>
          </p:nvGrpSpPr>
          <p:grpSpPr>
            <a:xfrm>
              <a:off x="6396711" y="2926080"/>
              <a:ext cx="1622577" cy="1389888"/>
              <a:chOff x="6396711" y="2926080"/>
              <a:chExt cx="1622577" cy="1389888"/>
            </a:xfrm>
          </p:grpSpPr>
          <p:sp>
            <p:nvSpPr>
              <p:cNvPr id="98" name="Rectangle 97"/>
              <p:cNvSpPr/>
              <p:nvPr/>
            </p:nvSpPr>
            <p:spPr>
              <a:xfrm>
                <a:off x="6793992" y="4251960"/>
                <a:ext cx="310896" cy="64008"/>
              </a:xfrm>
              <a:prstGeom prst="rect">
                <a:avLst/>
              </a:prstGeom>
              <a:solidFill>
                <a:srgbClr val="9AA0A6"/>
              </a:solidFill>
              <a:ln>
                <a:noFill/>
              </a:ln>
            </p:spPr>
            <p:txBody>
              <a:bodyPr rtlCol="0" anchor="ctr"/>
              <a:lstStyle/>
              <a:p>
                <a:pPr algn="ctr"/>
              </a:p>
            </p:txBody>
          </p:sp>
          <p:sp>
            <p:nvSpPr>
              <p:cNvPr id="99" name="Rectangle 98"/>
              <p:cNvSpPr/>
              <p:nvPr/>
            </p:nvSpPr>
            <p:spPr>
              <a:xfrm>
                <a:off x="6894576" y="3310128"/>
                <a:ext cx="109728" cy="1005840"/>
              </a:xfrm>
              <a:prstGeom prst="rect">
                <a:avLst/>
              </a:prstGeom>
              <a:solidFill>
                <a:srgbClr val="E8E8E8"/>
              </a:solidFill>
              <a:ln>
                <a:noFill/>
              </a:ln>
            </p:spPr>
            <p:txBody>
              <a:bodyPr rtlCol="0" anchor="ctr"/>
              <a:lstStyle/>
              <a:p>
                <a:pPr algn="ctr"/>
              </a:p>
            </p:txBody>
          </p:sp>
          <p:sp>
            <p:nvSpPr>
              <p:cNvPr id="100" name="Oval 99"/>
              <p:cNvSpPr/>
              <p:nvPr/>
            </p:nvSpPr>
            <p:spPr>
              <a:xfrm>
                <a:off x="6885432" y="3209544"/>
                <a:ext cx="128016" cy="128016"/>
              </a:xfrm>
              <a:prstGeom prst="ellipse">
                <a:avLst/>
              </a:prstGeom>
              <a:solidFill>
                <a:srgbClr val="E8E8E8"/>
              </a:solidFill>
              <a:ln>
                <a:noFill/>
              </a:ln>
            </p:spPr>
            <p:txBody>
              <a:bodyPr rtlCol="0" anchor="ctr"/>
              <a:lstStyle/>
              <a:p>
                <a:pPr algn="ctr"/>
              </a:p>
            </p:txBody>
          </p:sp>
          <p:sp>
            <p:nvSpPr>
              <p:cNvPr id="101" name="Freeform 100"/>
              <p:cNvSpPr/>
              <p:nvPr/>
            </p:nvSpPr>
            <p:spPr>
              <a:xfrm>
                <a:off x="6396711" y="3022575"/>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02" name="Freeform 101"/>
              <p:cNvSpPr/>
              <p:nvPr/>
            </p:nvSpPr>
            <p:spPr>
              <a:xfrm>
                <a:off x="6514388" y="3140252"/>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03" name="Oval 102"/>
              <p:cNvSpPr/>
              <p:nvPr/>
            </p:nvSpPr>
            <p:spPr>
              <a:xfrm>
                <a:off x="7027164" y="3442716"/>
                <a:ext cx="155448" cy="155448"/>
              </a:xfrm>
              <a:prstGeom prst="ellipse">
                <a:avLst/>
              </a:prstGeom>
              <a:solidFill>
                <a:srgbClr val="3FB950"/>
              </a:solidFill>
              <a:ln w="9525">
                <a:solidFill>
                  <a:srgbClr val="101418"/>
                </a:solidFill>
              </a:ln>
            </p:spPr>
            <p:txBody>
              <a:bodyPr rtlCol="0" anchor="ctr"/>
              <a:lstStyle/>
              <a:p>
                <a:pPr algn="ctr"/>
              </a:p>
            </p:txBody>
          </p:sp>
          <p:sp>
            <p:nvSpPr>
              <p:cNvPr id="104" name="Rounded Rectangle 103"/>
              <p:cNvSpPr/>
              <p:nvPr/>
            </p:nvSpPr>
            <p:spPr>
              <a:xfrm>
                <a:off x="7150608" y="2926080"/>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sp>
          <p:nvSpPr>
            <p:cNvPr id="105" name="Freeform 104"/>
            <p:cNvSpPr/>
            <p:nvPr/>
          </p:nvSpPr>
          <p:spPr>
            <a:xfrm>
              <a:off x="3063240" y="3154680"/>
              <a:ext cx="6336792" cy="1261872"/>
            </a:xfrm>
            <a:custGeom>
              <a:avLst/>
              <a:gdLst/>
              <a:ahLst/>
              <a:cxnLst/>
              <a:rect l="l" t="t" r="r" b="b"/>
              <a:pathLst>
                <a:path w="6336792" h="1261872">
                  <a:moveTo>
                    <a:pt x="0" y="0"/>
                  </a:moveTo>
                  <a:lnTo>
                    <a:pt x="448056" y="0"/>
                  </a:lnTo>
                  <a:lnTo>
                    <a:pt x="448056" y="1261872"/>
                  </a:lnTo>
                  <a:lnTo>
                    <a:pt x="6336792" y="1261872"/>
                  </a:lnTo>
                </a:path>
              </a:pathLst>
            </a:custGeom>
            <a:noFill/>
            <a:ln w="28575">
              <a:solidFill>
                <a:srgbClr val="F28C28"/>
              </a:solidFill>
              <a:prstDash val="dash"/>
            </a:ln>
          </p:spPr>
          <p:txBody>
            <a:bodyPr rtlCol="0" anchor="ctr"/>
            <a:lstStyle/>
            <a:p>
              <a:pPr algn="ctr"/>
            </a:p>
          </p:txBody>
        </p:sp>
        <p:sp>
          <p:nvSpPr>
            <p:cNvPr id="106" name="Rectangle 105"/>
            <p:cNvSpPr/>
            <p:nvPr/>
          </p:nvSpPr>
          <p:spPr>
            <a:xfrm>
              <a:off x="9272016" y="4352544"/>
              <a:ext cx="128016" cy="128016"/>
            </a:xfrm>
            <a:prstGeom prst="rect">
              <a:avLst/>
            </a:prstGeom>
            <a:solidFill>
              <a:srgbClr val="9AA0A6"/>
            </a:solidFill>
            <a:ln w="9525">
              <a:solidFill>
                <a:srgbClr val="101418"/>
              </a:solidFill>
            </a:ln>
          </p:spPr>
          <p:txBody>
            <a:bodyPr rtlCol="0" anchor="ctr"/>
            <a:lstStyle/>
            <a:p>
              <a:pPr algn="ctr"/>
            </a:p>
          </p:txBody>
        </p:sp>
        <p:grpSp>
          <p:nvGrpSpPr>
            <p:cNvPr id="107" name="Signal clear" descr="Semaphore stop signal, arm raised: CLEAR."/>
            <p:cNvGrpSpPr/>
            <p:nvPr/>
          </p:nvGrpSpPr>
          <p:grpSpPr>
            <a:xfrm>
              <a:off x="8957031" y="2926080"/>
              <a:ext cx="1622577" cy="1389888"/>
              <a:chOff x="8957031" y="2926080"/>
              <a:chExt cx="1622577" cy="1389888"/>
            </a:xfrm>
          </p:grpSpPr>
          <p:sp>
            <p:nvSpPr>
              <p:cNvPr id="108" name="Rectangle 107"/>
              <p:cNvSpPr/>
              <p:nvPr/>
            </p:nvSpPr>
            <p:spPr>
              <a:xfrm>
                <a:off x="9354312" y="4251960"/>
                <a:ext cx="310896" cy="64008"/>
              </a:xfrm>
              <a:prstGeom prst="rect">
                <a:avLst/>
              </a:prstGeom>
              <a:solidFill>
                <a:srgbClr val="9AA0A6"/>
              </a:solidFill>
              <a:ln>
                <a:noFill/>
              </a:ln>
            </p:spPr>
            <p:txBody>
              <a:bodyPr rtlCol="0" anchor="ctr"/>
              <a:lstStyle/>
              <a:p>
                <a:pPr algn="ctr"/>
              </a:p>
            </p:txBody>
          </p:sp>
          <p:sp>
            <p:nvSpPr>
              <p:cNvPr id="109" name="Rectangle 108"/>
              <p:cNvSpPr/>
              <p:nvPr/>
            </p:nvSpPr>
            <p:spPr>
              <a:xfrm>
                <a:off x="9454896" y="3310128"/>
                <a:ext cx="109728" cy="1005840"/>
              </a:xfrm>
              <a:prstGeom prst="rect">
                <a:avLst/>
              </a:prstGeom>
              <a:solidFill>
                <a:srgbClr val="E8E8E8"/>
              </a:solidFill>
              <a:ln>
                <a:noFill/>
              </a:ln>
            </p:spPr>
            <p:txBody>
              <a:bodyPr rtlCol="0" anchor="ctr"/>
              <a:lstStyle/>
              <a:p>
                <a:pPr algn="ctr"/>
              </a:p>
            </p:txBody>
          </p:sp>
          <p:sp>
            <p:nvSpPr>
              <p:cNvPr id="110" name="Oval 109"/>
              <p:cNvSpPr/>
              <p:nvPr/>
            </p:nvSpPr>
            <p:spPr>
              <a:xfrm>
                <a:off x="9445752" y="3209544"/>
                <a:ext cx="128016" cy="128016"/>
              </a:xfrm>
              <a:prstGeom prst="ellipse">
                <a:avLst/>
              </a:prstGeom>
              <a:solidFill>
                <a:srgbClr val="E8E8E8"/>
              </a:solidFill>
              <a:ln>
                <a:noFill/>
              </a:ln>
            </p:spPr>
            <p:txBody>
              <a:bodyPr rtlCol="0" anchor="ctr"/>
              <a:lstStyle/>
              <a:p>
                <a:pPr algn="ctr"/>
              </a:p>
            </p:txBody>
          </p:sp>
          <p:sp>
            <p:nvSpPr>
              <p:cNvPr id="111" name="Freeform 110"/>
              <p:cNvSpPr/>
              <p:nvPr/>
            </p:nvSpPr>
            <p:spPr>
              <a:xfrm>
                <a:off x="8957031" y="3022575"/>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12" name="Freeform 111"/>
              <p:cNvSpPr/>
              <p:nvPr/>
            </p:nvSpPr>
            <p:spPr>
              <a:xfrm>
                <a:off x="9074708" y="3140252"/>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13" name="Oval 112"/>
              <p:cNvSpPr/>
              <p:nvPr/>
            </p:nvSpPr>
            <p:spPr>
              <a:xfrm>
                <a:off x="9587484" y="3442716"/>
                <a:ext cx="155448" cy="155448"/>
              </a:xfrm>
              <a:prstGeom prst="ellipse">
                <a:avLst/>
              </a:prstGeom>
              <a:solidFill>
                <a:srgbClr val="3FB950"/>
              </a:solidFill>
              <a:ln w="9525">
                <a:solidFill>
                  <a:srgbClr val="101418"/>
                </a:solidFill>
              </a:ln>
            </p:spPr>
            <p:txBody>
              <a:bodyPr rtlCol="0" anchor="ctr"/>
              <a:lstStyle/>
              <a:p>
                <a:pPr algn="ctr"/>
              </a:p>
            </p:txBody>
          </p:sp>
          <p:sp>
            <p:nvSpPr>
              <p:cNvPr id="114" name="Rounded Rectangle 113"/>
              <p:cNvSpPr/>
              <p:nvPr/>
            </p:nvSpPr>
            <p:spPr>
              <a:xfrm>
                <a:off x="9710928" y="2926080"/>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grpSp>
      <p:grpSp>
        <p:nvGrpSpPr>
          <p:cNvPr id="115" name="Steps" descr="Four steps: 1, the train is in the block. 2, the signaller keeps the signal behind it at stop. 3, the train leaves and the block is free. 4, the signaller pulls the lever and the arm lifts."/>
          <p:cNvGrpSpPr/>
          <p:nvPr/>
        </p:nvGrpSpPr>
        <p:grpSpPr>
          <a:xfrm>
            <a:off x="566928" y="4983480"/>
            <a:ext cx="11091672" cy="365760"/>
            <a:chOff x="566928" y="4983480"/>
            <a:chExt cx="11091672" cy="365760"/>
          </a:xfrm>
        </p:grpSpPr>
        <p:sp>
          <p:nvSpPr>
            <p:cNvPr id="116" name="Badge 1"/>
            <p:cNvSpPr/>
            <p:nvPr/>
          </p:nvSpPr>
          <p:spPr>
            <a:xfrm>
              <a:off x="56692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1</a:t>
              </a:r>
            </a:p>
          </p:txBody>
        </p:sp>
        <p:sp>
          <p:nvSpPr>
            <p:cNvPr id="117" name="TextBox 116"/>
            <p:cNvSpPr txBox="1"/>
            <p:nvPr/>
          </p:nvSpPr>
          <p:spPr>
            <a:xfrm>
              <a:off x="100584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Train in block</a:t>
              </a:r>
            </a:p>
          </p:txBody>
        </p:sp>
        <p:sp>
          <p:nvSpPr>
            <p:cNvPr id="118" name="Badge 2"/>
            <p:cNvSpPr/>
            <p:nvPr/>
          </p:nvSpPr>
          <p:spPr>
            <a:xfrm>
              <a:off x="335584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2</a:t>
              </a:r>
            </a:p>
          </p:txBody>
        </p:sp>
        <p:sp>
          <p:nvSpPr>
            <p:cNvPr id="119" name="TextBox 118"/>
            <p:cNvSpPr txBox="1"/>
            <p:nvPr/>
          </p:nvSpPr>
          <p:spPr>
            <a:xfrm>
              <a:off x="379476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Signal at STOP</a:t>
              </a:r>
            </a:p>
          </p:txBody>
        </p:sp>
        <p:sp>
          <p:nvSpPr>
            <p:cNvPr id="120" name="Badge 3"/>
            <p:cNvSpPr/>
            <p:nvPr/>
          </p:nvSpPr>
          <p:spPr>
            <a:xfrm>
              <a:off x="614476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3</a:t>
              </a:r>
            </a:p>
          </p:txBody>
        </p:sp>
        <p:sp>
          <p:nvSpPr>
            <p:cNvPr id="121" name="TextBox 120"/>
            <p:cNvSpPr txBox="1"/>
            <p:nvPr/>
          </p:nvSpPr>
          <p:spPr>
            <a:xfrm>
              <a:off x="658368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Train leaves</a:t>
              </a:r>
            </a:p>
          </p:txBody>
        </p:sp>
        <p:sp>
          <p:nvSpPr>
            <p:cNvPr id="122" name="Badge 4"/>
            <p:cNvSpPr/>
            <p:nvPr/>
          </p:nvSpPr>
          <p:spPr>
            <a:xfrm>
              <a:off x="893368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4</a:t>
              </a:r>
            </a:p>
          </p:txBody>
        </p:sp>
        <p:sp>
          <p:nvSpPr>
            <p:cNvPr id="123" name="TextBox 122"/>
            <p:cNvSpPr txBox="1"/>
            <p:nvPr/>
          </p:nvSpPr>
          <p:spPr>
            <a:xfrm>
              <a:off x="937260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Lever pulled: arm lifts</a:t>
              </a:r>
            </a:p>
          </p:txBody>
        </p:sp>
      </p:grpSp>
      <p:sp>
        <p:nvSpPr>
          <p:cNvPr id="124" name="In the mod"/>
          <p:cNvSpPr/>
          <p:nvPr/>
        </p:nvSpPr>
        <p:spPr>
          <a:xfrm>
            <a:off x="548640" y="5413248"/>
            <a:ext cx="11091672" cy="310896"/>
          </a:xfrm>
          <a:prstGeom prst="roundRect">
            <a:avLst>
              <a:gd name="adj" fmla="val 17647"/>
            </a:avLst>
          </a:prstGeom>
          <a:solidFill>
            <a:srgbClr val="F2C14E"/>
          </a:solidFill>
          <a:ln>
            <a:noFill/>
          </a:ln>
        </p:spPr>
        <p:txBody>
          <a:bodyPr rtlCol="0" anchor="ctr" wrap="square" lIns="182880" tIns="0" bIns="0">
            <a:noAutofit/>
          </a:bodyPr>
          <a:lstStyle/>
          <a:p>
            <a:pPr algn="l"/>
            <a:r>
              <a:rPr sz="1600" b="1" i="0" lang="en-GB">
                <a:solidFill>
                  <a:srgbClr val="101418"/>
                </a:solidFill>
                <a:latin typeface="Arial"/>
              </a:rPr>
              <a:t>In the mod: no player wiring.</a:t>
            </a:r>
          </a:p>
        </p:txBody>
      </p:sp>
      <p:sp>
        <p:nvSpPr>
          <p:cNvPr id="125" name="Inline chip Agreed"/>
          <p:cNvSpPr/>
          <p:nvPr/>
        </p:nvSpPr>
        <p:spPr>
          <a:xfrm>
            <a:off x="3780790" y="5413248"/>
            <a:ext cx="1121410" cy="310896"/>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The signaller watches the blocks, sets the signals and keeps trains apart.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31</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115"/>
                                        </p:tgtEl>
                                        <p:attrNameLst>
                                          <p:attrName>style.visibility</p:attrName>
                                        </p:attrNameLst>
                                      </p:cBhvr>
                                      <p:to>
                                        <p:strVal val="visible"/>
                                      </p:to>
                                    </p:set>
                                    <p:animEffect transition="in" filter="fade">
                                      <p:cBhvr>
                                        <p:cTn id="10" dur="500"/>
                                        <p:tgtEl>
                                          <p:spTgt spid="115"/>
                                        </p:tgtEl>
                                      </p:cBhvr>
                                    </p:animEffect>
                                  </p:childTnLst>
                                </p:cTn>
                              </p:par>
                              <p:par>
                                <p:cTn id="11" presetID="10" presetClass="entr" presetSubtype="0" fill="hold" nodeType="withEffect">
                                  <p:stCondLst>
                                    <p:cond delay="600"/>
                                  </p:stCondLst>
                                  <p:childTnLst>
                                    <p:set>
                                      <p:cBhvr>
                                        <p:cTn id="12" dur="1" fill="hold">
                                          <p:stCondLst>
                                            <p:cond delay="0"/>
                                          </p:stCondLst>
                                        </p:cTn>
                                        <p:tgtEl>
                                          <p:spTgt spid="124"/>
                                        </p:tgtEl>
                                        <p:attrNameLst>
                                          <p:attrName>style.visibility</p:attrName>
                                        </p:attrNameLst>
                                      </p:cBhvr>
                                      <p:to>
                                        <p:strVal val="visible"/>
                                      </p:to>
                                    </p:set>
                                    <p:animEffect transition="in" filter="fade">
                                      <p:cBhvr>
                                        <p:cTn id="13" dur="500"/>
                                        <p:tgtEl>
                                          <p:spTgt spid="124"/>
                                        </p:tgtEl>
                                      </p:cBhvr>
                                    </p:animEffect>
                                  </p:childTnLst>
                                </p:cTn>
                              </p:par>
                              <p:par>
                                <p:cTn id="14" presetID="10" presetClass="entr" presetSubtype="0" fill="hold" nodeType="withEffect">
                                  <p:stCondLst>
                                    <p:cond delay="900"/>
                                  </p:stCondLst>
                                  <p:childTnLst>
                                    <p:set>
                                      <p:cBhvr>
                                        <p:cTn id="15" dur="1" fill="hold">
                                          <p:stCondLst>
                                            <p:cond delay="0"/>
                                          </p:stCondLst>
                                        </p:cTn>
                                        <p:tgtEl>
                                          <p:spTgt spid="125"/>
                                        </p:tgtEl>
                                        <p:attrNameLst>
                                          <p:attrName>style.visibility</p:attrName>
                                        </p:attrNameLst>
                                      </p:cBhvr>
                                      <p:to>
                                        <p:strVal val="visible"/>
                                      </p:to>
                                    </p:set>
                                    <p:animEffect transition="in" filter="fade">
                                      <p:cBhvr>
                                        <p:cTn id="16" dur="500"/>
                                        <p:tgtEl>
                                          <p:spTgt spid="125"/>
                                        </p:tgtEl>
                                      </p:cBhvr>
                                    </p:animEffect>
                                  </p:childTnLst>
                                </p:cTn>
                              </p:par>
                              <p:par>
                                <p:cTn id="17" presetID="10" presetClass="entr" presetSubtype="0" fill="hold" nodeType="withEffect">
                                  <p:stCondLst>
                                    <p:cond delay="120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childTnLst>
                                </p:cTn>
                              </p:par>
                              <p:par>
                                <p:cTn id="20" presetID="10" presetClass="entr" presetSubtype="0" fill="hold" nodeType="withEffect">
                                  <p:stCondLst>
                                    <p:cond delay="15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Early limits</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nvGrpSpPr>
          <p:cNvPr id="8" name="Early limits tiles" descr="Four provisional limits: block length about 400 to 500 m; speed cap about 60 km/h; 6 to 8 signals for a station box and 12 to 16 for a dedicated box; box reach about 1 to 1.5 km of track."/>
          <p:cNvGrpSpPr/>
          <p:nvPr/>
        </p:nvGrpSpPr>
        <p:grpSpPr>
          <a:xfrm>
            <a:off x="548640" y="1371600"/>
            <a:ext cx="11091672" cy="2011680"/>
            <a:chOff x="548640" y="1371600"/>
            <a:chExt cx="11091672" cy="2011680"/>
          </a:xfrm>
        </p:grpSpPr>
        <p:sp>
          <p:nvSpPr>
            <p:cNvPr id="9" name="Rounded Rectangle 8"/>
            <p:cNvSpPr/>
            <p:nvPr/>
          </p:nvSpPr>
          <p:spPr>
            <a:xfrm>
              <a:off x="548640" y="1371600"/>
              <a:ext cx="2560320" cy="2011680"/>
            </a:xfrm>
            <a:prstGeom prst="roundRect">
              <a:avLst>
                <a:gd name="adj" fmla="val 4545"/>
              </a:avLst>
            </a:prstGeom>
            <a:solidFill>
              <a:srgbClr val="2B2F36"/>
            </a:solidFill>
            <a:ln>
              <a:noFill/>
            </a:ln>
          </p:spPr>
          <p:txBody>
            <a:bodyPr rtlCol="0" anchor="ctr"/>
            <a:lstStyle/>
            <a:p>
              <a:pPr algn="ctr"/>
            </a:p>
          </p:txBody>
        </p:sp>
        <p:sp>
          <p:nvSpPr>
            <p:cNvPr id="10" name="TextBox 9"/>
            <p:cNvSpPr txBox="1"/>
            <p:nvPr/>
          </p:nvSpPr>
          <p:spPr>
            <a:xfrm>
              <a:off x="713232" y="1481328"/>
              <a:ext cx="2286000" cy="329184"/>
            </a:xfrm>
            <a:prstGeom prst="rect">
              <a:avLst/>
            </a:prstGeom>
            <a:noFill/>
          </p:spPr>
          <p:txBody>
            <a:bodyPr wrap="square" lIns="0" tIns="0" rIns="0" bIns="0" anchor="t">
              <a:noAutofit/>
            </a:bodyPr>
            <a:lstStyle/>
            <a:p>
              <a:pPr algn="l"/>
              <a:r>
                <a:rPr sz="1800" b="1" i="0" lang="en-GB">
                  <a:solidFill>
                    <a:srgbClr val="F28C28"/>
                  </a:solidFill>
                  <a:latin typeface="Arial"/>
                </a:rPr>
                <a:t>Block length</a:t>
              </a:r>
            </a:p>
          </p:txBody>
        </p:sp>
        <p:sp>
          <p:nvSpPr>
            <p:cNvPr id="11" name="TextBox 10"/>
            <p:cNvSpPr txBox="1"/>
            <p:nvPr/>
          </p:nvSpPr>
          <p:spPr>
            <a:xfrm>
              <a:off x="713232" y="1828800"/>
              <a:ext cx="2286000" cy="1005840"/>
            </a:xfrm>
            <a:prstGeom prst="rect">
              <a:avLst/>
            </a:prstGeom>
            <a:noFill/>
          </p:spPr>
          <p:txBody>
            <a:bodyPr wrap="square" lIns="0" tIns="0" rIns="0" bIns="0" anchor="t">
              <a:noAutofit/>
            </a:bodyPr>
            <a:lstStyle/>
            <a:p>
              <a:pPr algn="l"/>
              <a:r>
                <a:rPr sz="1800" b="1" i="0" lang="en-GB">
                  <a:solidFill>
                    <a:srgbClr val="F2F2F2"/>
                  </a:solidFill>
                  <a:latin typeface="Arial"/>
                </a:rPr>
                <a:t>about 400 to 500 m</a:t>
              </a:r>
            </a:p>
          </p:txBody>
        </p:sp>
        <p:sp>
          <p:nvSpPr>
            <p:cNvPr id="12" name="Inline chip Provisional"/>
            <p:cNvSpPr/>
            <p:nvPr/>
          </p:nvSpPr>
          <p:spPr>
            <a:xfrm>
              <a:off x="713232" y="2907792"/>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13" name="Rounded Rectangle 12"/>
            <p:cNvSpPr/>
            <p:nvPr/>
          </p:nvSpPr>
          <p:spPr>
            <a:xfrm>
              <a:off x="3392424" y="1371600"/>
              <a:ext cx="2560320" cy="2011680"/>
            </a:xfrm>
            <a:prstGeom prst="roundRect">
              <a:avLst>
                <a:gd name="adj" fmla="val 4545"/>
              </a:avLst>
            </a:prstGeom>
            <a:solidFill>
              <a:srgbClr val="2B2F36"/>
            </a:solidFill>
            <a:ln>
              <a:noFill/>
            </a:ln>
          </p:spPr>
          <p:txBody>
            <a:bodyPr rtlCol="0" anchor="ctr"/>
            <a:lstStyle/>
            <a:p>
              <a:pPr algn="ctr"/>
            </a:p>
          </p:txBody>
        </p:sp>
        <p:sp>
          <p:nvSpPr>
            <p:cNvPr id="14" name="TextBox 13"/>
            <p:cNvSpPr txBox="1"/>
            <p:nvPr/>
          </p:nvSpPr>
          <p:spPr>
            <a:xfrm>
              <a:off x="3557016" y="1481328"/>
              <a:ext cx="2286000" cy="329184"/>
            </a:xfrm>
            <a:prstGeom prst="rect">
              <a:avLst/>
            </a:prstGeom>
            <a:noFill/>
          </p:spPr>
          <p:txBody>
            <a:bodyPr wrap="square" lIns="0" tIns="0" rIns="0" bIns="0" anchor="t">
              <a:noAutofit/>
            </a:bodyPr>
            <a:lstStyle/>
            <a:p>
              <a:pPr algn="l"/>
              <a:r>
                <a:rPr sz="1800" b="1" i="0" lang="en-GB">
                  <a:solidFill>
                    <a:srgbClr val="F28C28"/>
                  </a:solidFill>
                  <a:latin typeface="Arial"/>
                </a:rPr>
                <a:t>Speed cap</a:t>
              </a:r>
            </a:p>
          </p:txBody>
        </p:sp>
        <p:sp>
          <p:nvSpPr>
            <p:cNvPr id="15" name="TextBox 14"/>
            <p:cNvSpPr txBox="1"/>
            <p:nvPr/>
          </p:nvSpPr>
          <p:spPr>
            <a:xfrm>
              <a:off x="3557016" y="1828800"/>
              <a:ext cx="2286000" cy="1005840"/>
            </a:xfrm>
            <a:prstGeom prst="rect">
              <a:avLst/>
            </a:prstGeom>
            <a:noFill/>
          </p:spPr>
          <p:txBody>
            <a:bodyPr wrap="square" lIns="0" tIns="0" rIns="0" bIns="0" anchor="t">
              <a:noAutofit/>
            </a:bodyPr>
            <a:lstStyle/>
            <a:p>
              <a:pPr algn="l"/>
              <a:r>
                <a:rPr sz="1800" b="1" i="0" lang="en-GB">
                  <a:solidFill>
                    <a:srgbClr val="F2F2F2"/>
                  </a:solidFill>
                  <a:latin typeface="Arial"/>
                </a:rPr>
                <a:t>about 60 km/h</a:t>
              </a:r>
            </a:p>
          </p:txBody>
        </p:sp>
        <p:sp>
          <p:nvSpPr>
            <p:cNvPr id="16" name="Inline chip Provisional"/>
            <p:cNvSpPr/>
            <p:nvPr/>
          </p:nvSpPr>
          <p:spPr>
            <a:xfrm>
              <a:off x="3557016" y="2907792"/>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17" name="Rounded Rectangle 16"/>
            <p:cNvSpPr/>
            <p:nvPr/>
          </p:nvSpPr>
          <p:spPr>
            <a:xfrm>
              <a:off x="6236208" y="1371600"/>
              <a:ext cx="2560320" cy="2011680"/>
            </a:xfrm>
            <a:prstGeom prst="roundRect">
              <a:avLst>
                <a:gd name="adj" fmla="val 4545"/>
              </a:avLst>
            </a:prstGeom>
            <a:solidFill>
              <a:srgbClr val="2B2F36"/>
            </a:solidFill>
            <a:ln>
              <a:noFill/>
            </a:ln>
          </p:spPr>
          <p:txBody>
            <a:bodyPr rtlCol="0" anchor="ctr"/>
            <a:lstStyle/>
            <a:p>
              <a:pPr algn="ctr"/>
            </a:p>
          </p:txBody>
        </p:sp>
        <p:sp>
          <p:nvSpPr>
            <p:cNvPr id="18" name="TextBox 17"/>
            <p:cNvSpPr txBox="1"/>
            <p:nvPr/>
          </p:nvSpPr>
          <p:spPr>
            <a:xfrm>
              <a:off x="6400800" y="1481328"/>
              <a:ext cx="2286000" cy="329184"/>
            </a:xfrm>
            <a:prstGeom prst="rect">
              <a:avLst/>
            </a:prstGeom>
            <a:noFill/>
          </p:spPr>
          <p:txBody>
            <a:bodyPr wrap="square" lIns="0" tIns="0" rIns="0" bIns="0" anchor="t">
              <a:noAutofit/>
            </a:bodyPr>
            <a:lstStyle/>
            <a:p>
              <a:pPr algn="l"/>
              <a:r>
                <a:rPr sz="1800" b="1" i="0" lang="en-GB">
                  <a:solidFill>
                    <a:srgbClr val="F28C28"/>
                  </a:solidFill>
                  <a:latin typeface="Arial"/>
                </a:rPr>
                <a:t>Signals per box</a:t>
              </a:r>
            </a:p>
          </p:txBody>
        </p:sp>
        <p:sp>
          <p:nvSpPr>
            <p:cNvPr id="19" name="TextBox 18"/>
            <p:cNvSpPr txBox="1"/>
            <p:nvPr/>
          </p:nvSpPr>
          <p:spPr>
            <a:xfrm>
              <a:off x="6400800" y="1828800"/>
              <a:ext cx="2286000" cy="1005840"/>
            </a:xfrm>
            <a:prstGeom prst="rect">
              <a:avLst/>
            </a:prstGeom>
            <a:noFill/>
          </p:spPr>
          <p:txBody>
            <a:bodyPr wrap="square" lIns="0" tIns="0" rIns="0" bIns="0" anchor="t">
              <a:noAutofit/>
            </a:bodyPr>
            <a:lstStyle/>
            <a:p>
              <a:pPr algn="l"/>
              <a:r>
                <a:rPr sz="1800" b="1" i="0" lang="en-GB">
                  <a:solidFill>
                    <a:srgbClr val="F2F2F2"/>
                  </a:solidFill>
                  <a:latin typeface="Arial"/>
                </a:rPr>
                <a:t>6 to 8 (station box), 12 to 16 (dedicated box)</a:t>
              </a:r>
            </a:p>
          </p:txBody>
        </p:sp>
        <p:sp>
          <p:nvSpPr>
            <p:cNvPr id="20" name="Inline chip Provisional"/>
            <p:cNvSpPr/>
            <p:nvPr/>
          </p:nvSpPr>
          <p:spPr>
            <a:xfrm>
              <a:off x="6400800" y="2907792"/>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21" name="Rounded Rectangle 20"/>
            <p:cNvSpPr/>
            <p:nvPr/>
          </p:nvSpPr>
          <p:spPr>
            <a:xfrm>
              <a:off x="9079992" y="1371600"/>
              <a:ext cx="2560320" cy="2011680"/>
            </a:xfrm>
            <a:prstGeom prst="roundRect">
              <a:avLst>
                <a:gd name="adj" fmla="val 4545"/>
              </a:avLst>
            </a:prstGeom>
            <a:solidFill>
              <a:srgbClr val="2B2F36"/>
            </a:solidFill>
            <a:ln>
              <a:noFill/>
            </a:ln>
          </p:spPr>
          <p:txBody>
            <a:bodyPr rtlCol="0" anchor="ctr"/>
            <a:lstStyle/>
            <a:p>
              <a:pPr algn="ctr"/>
            </a:p>
          </p:txBody>
        </p:sp>
        <p:sp>
          <p:nvSpPr>
            <p:cNvPr id="22" name="TextBox 21"/>
            <p:cNvSpPr txBox="1"/>
            <p:nvPr/>
          </p:nvSpPr>
          <p:spPr>
            <a:xfrm>
              <a:off x="9244584" y="1481328"/>
              <a:ext cx="2286000" cy="329184"/>
            </a:xfrm>
            <a:prstGeom prst="rect">
              <a:avLst/>
            </a:prstGeom>
            <a:noFill/>
          </p:spPr>
          <p:txBody>
            <a:bodyPr wrap="square" lIns="0" tIns="0" rIns="0" bIns="0" anchor="t">
              <a:noAutofit/>
            </a:bodyPr>
            <a:lstStyle/>
            <a:p>
              <a:pPr algn="l"/>
              <a:r>
                <a:rPr sz="1800" b="1" i="0" lang="en-GB">
                  <a:solidFill>
                    <a:srgbClr val="F28C28"/>
                  </a:solidFill>
                  <a:latin typeface="Arial"/>
                </a:rPr>
                <a:t>Box reach</a:t>
              </a:r>
            </a:p>
          </p:txBody>
        </p:sp>
        <p:sp>
          <p:nvSpPr>
            <p:cNvPr id="23" name="TextBox 22"/>
            <p:cNvSpPr txBox="1"/>
            <p:nvPr/>
          </p:nvSpPr>
          <p:spPr>
            <a:xfrm>
              <a:off x="9244584" y="1828800"/>
              <a:ext cx="2286000" cy="1005840"/>
            </a:xfrm>
            <a:prstGeom prst="rect">
              <a:avLst/>
            </a:prstGeom>
            <a:noFill/>
          </p:spPr>
          <p:txBody>
            <a:bodyPr wrap="square" lIns="0" tIns="0" rIns="0" bIns="0" anchor="t">
              <a:noAutofit/>
            </a:bodyPr>
            <a:lstStyle/>
            <a:p>
              <a:pPr algn="l"/>
              <a:r>
                <a:rPr sz="1800" b="1" i="0" lang="en-GB">
                  <a:solidFill>
                    <a:srgbClr val="F2F2F2"/>
                  </a:solidFill>
                  <a:latin typeface="Arial"/>
                </a:rPr>
                <a:t>about 1 to 1.5 km of track</a:t>
              </a:r>
            </a:p>
          </p:txBody>
        </p:sp>
        <p:sp>
          <p:nvSpPr>
            <p:cNvPr id="24" name="Inline chip Provisional"/>
            <p:cNvSpPr/>
            <p:nvPr/>
          </p:nvSpPr>
          <p:spPr>
            <a:xfrm>
              <a:off x="9244584" y="2907792"/>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grpSp>
        <p:nvGrpSpPr>
          <p:cNvPr id="25" name="Ruler" descr="A ruler under the track with a signal about every 450 metres, for illustration."/>
          <p:cNvGrpSpPr/>
          <p:nvPr/>
        </p:nvGrpSpPr>
        <p:grpSpPr>
          <a:xfrm>
            <a:off x="457200" y="3770986"/>
            <a:ext cx="10972800" cy="1121054"/>
            <a:chOff x="457200" y="3770986"/>
            <a:chExt cx="10972800" cy="1121054"/>
          </a:xfrm>
        </p:grpSpPr>
        <p:sp>
          <p:nvSpPr>
            <p:cNvPr id="26" name="Rectangle 25"/>
            <p:cNvSpPr/>
            <p:nvPr/>
          </p:nvSpPr>
          <p:spPr>
            <a:xfrm>
              <a:off x="1092708" y="4014216"/>
              <a:ext cx="54864" cy="365760"/>
            </a:xfrm>
            <a:prstGeom prst="rect">
              <a:avLst/>
            </a:prstGeom>
            <a:solidFill>
              <a:srgbClr val="6B5B4B"/>
            </a:solidFill>
            <a:ln>
              <a:noFill/>
            </a:ln>
          </p:spPr>
          <p:txBody>
            <a:bodyPr rtlCol="0" anchor="ctr"/>
            <a:lstStyle/>
            <a:p>
              <a:pPr algn="ctr"/>
            </a:p>
          </p:txBody>
        </p:sp>
        <p:sp>
          <p:nvSpPr>
            <p:cNvPr id="27" name="Rectangle 26"/>
            <p:cNvSpPr/>
            <p:nvPr/>
          </p:nvSpPr>
          <p:spPr>
            <a:xfrm>
              <a:off x="1412748" y="4014216"/>
              <a:ext cx="54864" cy="365760"/>
            </a:xfrm>
            <a:prstGeom prst="rect">
              <a:avLst/>
            </a:prstGeom>
            <a:solidFill>
              <a:srgbClr val="6B5B4B"/>
            </a:solidFill>
            <a:ln>
              <a:noFill/>
            </a:ln>
          </p:spPr>
          <p:txBody>
            <a:bodyPr rtlCol="0" anchor="ctr"/>
            <a:lstStyle/>
            <a:p>
              <a:pPr algn="ctr"/>
            </a:p>
          </p:txBody>
        </p:sp>
        <p:sp>
          <p:nvSpPr>
            <p:cNvPr id="28" name="Rectangle 27"/>
            <p:cNvSpPr/>
            <p:nvPr/>
          </p:nvSpPr>
          <p:spPr>
            <a:xfrm>
              <a:off x="1732788" y="4014216"/>
              <a:ext cx="54864" cy="365760"/>
            </a:xfrm>
            <a:prstGeom prst="rect">
              <a:avLst/>
            </a:prstGeom>
            <a:solidFill>
              <a:srgbClr val="6B5B4B"/>
            </a:solidFill>
            <a:ln>
              <a:noFill/>
            </a:ln>
          </p:spPr>
          <p:txBody>
            <a:bodyPr rtlCol="0" anchor="ctr"/>
            <a:lstStyle/>
            <a:p>
              <a:pPr algn="ctr"/>
            </a:p>
          </p:txBody>
        </p:sp>
        <p:sp>
          <p:nvSpPr>
            <p:cNvPr id="29" name="Rectangle 28"/>
            <p:cNvSpPr/>
            <p:nvPr/>
          </p:nvSpPr>
          <p:spPr>
            <a:xfrm>
              <a:off x="2052828" y="4014216"/>
              <a:ext cx="54864" cy="365760"/>
            </a:xfrm>
            <a:prstGeom prst="rect">
              <a:avLst/>
            </a:prstGeom>
            <a:solidFill>
              <a:srgbClr val="6B5B4B"/>
            </a:solidFill>
            <a:ln>
              <a:noFill/>
            </a:ln>
          </p:spPr>
          <p:txBody>
            <a:bodyPr rtlCol="0" anchor="ctr"/>
            <a:lstStyle/>
            <a:p>
              <a:pPr algn="ctr"/>
            </a:p>
          </p:txBody>
        </p:sp>
        <p:sp>
          <p:nvSpPr>
            <p:cNvPr id="30" name="Rectangle 29"/>
            <p:cNvSpPr/>
            <p:nvPr/>
          </p:nvSpPr>
          <p:spPr>
            <a:xfrm>
              <a:off x="2372868" y="4014216"/>
              <a:ext cx="54864" cy="365760"/>
            </a:xfrm>
            <a:prstGeom prst="rect">
              <a:avLst/>
            </a:prstGeom>
            <a:solidFill>
              <a:srgbClr val="6B5B4B"/>
            </a:solidFill>
            <a:ln>
              <a:noFill/>
            </a:ln>
          </p:spPr>
          <p:txBody>
            <a:bodyPr rtlCol="0" anchor="ctr"/>
            <a:lstStyle/>
            <a:p>
              <a:pPr algn="ctr"/>
            </a:p>
          </p:txBody>
        </p:sp>
        <p:sp>
          <p:nvSpPr>
            <p:cNvPr id="31" name="Rectangle 30"/>
            <p:cNvSpPr/>
            <p:nvPr/>
          </p:nvSpPr>
          <p:spPr>
            <a:xfrm>
              <a:off x="2692908" y="4014216"/>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3012948" y="4014216"/>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3332988" y="4014216"/>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3653028" y="4014216"/>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3973068" y="4014216"/>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4293108" y="4014216"/>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4613148" y="4014216"/>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4933188" y="4014216"/>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5253228" y="4014216"/>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5573268" y="4014216"/>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5893308" y="4014216"/>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6213348" y="4014216"/>
              <a:ext cx="54864" cy="365760"/>
            </a:xfrm>
            <a:prstGeom prst="rect">
              <a:avLst/>
            </a:prstGeom>
            <a:solidFill>
              <a:srgbClr val="6B5B4B"/>
            </a:solidFill>
            <a:ln>
              <a:noFill/>
            </a:ln>
          </p:spPr>
          <p:txBody>
            <a:bodyPr rtlCol="0" anchor="ctr"/>
            <a:lstStyle/>
            <a:p>
              <a:pPr algn="ctr"/>
            </a:p>
          </p:txBody>
        </p:sp>
        <p:sp>
          <p:nvSpPr>
            <p:cNvPr id="43" name="Rectangle 42"/>
            <p:cNvSpPr/>
            <p:nvPr/>
          </p:nvSpPr>
          <p:spPr>
            <a:xfrm>
              <a:off x="6533388" y="4014216"/>
              <a:ext cx="54864" cy="365760"/>
            </a:xfrm>
            <a:prstGeom prst="rect">
              <a:avLst/>
            </a:prstGeom>
            <a:solidFill>
              <a:srgbClr val="6B5B4B"/>
            </a:solidFill>
            <a:ln>
              <a:noFill/>
            </a:ln>
          </p:spPr>
          <p:txBody>
            <a:bodyPr rtlCol="0" anchor="ctr"/>
            <a:lstStyle/>
            <a:p>
              <a:pPr algn="ctr"/>
            </a:p>
          </p:txBody>
        </p:sp>
        <p:sp>
          <p:nvSpPr>
            <p:cNvPr id="44" name="Rectangle 43"/>
            <p:cNvSpPr/>
            <p:nvPr/>
          </p:nvSpPr>
          <p:spPr>
            <a:xfrm>
              <a:off x="6853428" y="4014216"/>
              <a:ext cx="54864" cy="365760"/>
            </a:xfrm>
            <a:prstGeom prst="rect">
              <a:avLst/>
            </a:prstGeom>
            <a:solidFill>
              <a:srgbClr val="6B5B4B"/>
            </a:solidFill>
            <a:ln>
              <a:noFill/>
            </a:ln>
          </p:spPr>
          <p:txBody>
            <a:bodyPr rtlCol="0" anchor="ctr"/>
            <a:lstStyle/>
            <a:p>
              <a:pPr algn="ctr"/>
            </a:p>
          </p:txBody>
        </p:sp>
        <p:sp>
          <p:nvSpPr>
            <p:cNvPr id="45" name="Rectangle 44"/>
            <p:cNvSpPr/>
            <p:nvPr/>
          </p:nvSpPr>
          <p:spPr>
            <a:xfrm>
              <a:off x="7173468" y="4014216"/>
              <a:ext cx="54864" cy="365760"/>
            </a:xfrm>
            <a:prstGeom prst="rect">
              <a:avLst/>
            </a:prstGeom>
            <a:solidFill>
              <a:srgbClr val="6B5B4B"/>
            </a:solidFill>
            <a:ln>
              <a:noFill/>
            </a:ln>
          </p:spPr>
          <p:txBody>
            <a:bodyPr rtlCol="0" anchor="ctr"/>
            <a:lstStyle/>
            <a:p>
              <a:pPr algn="ctr"/>
            </a:p>
          </p:txBody>
        </p:sp>
        <p:sp>
          <p:nvSpPr>
            <p:cNvPr id="46" name="Rectangle 45"/>
            <p:cNvSpPr/>
            <p:nvPr/>
          </p:nvSpPr>
          <p:spPr>
            <a:xfrm>
              <a:off x="7493508" y="4014216"/>
              <a:ext cx="54864" cy="365760"/>
            </a:xfrm>
            <a:prstGeom prst="rect">
              <a:avLst/>
            </a:prstGeom>
            <a:solidFill>
              <a:srgbClr val="6B5B4B"/>
            </a:solidFill>
            <a:ln>
              <a:noFill/>
            </a:ln>
          </p:spPr>
          <p:txBody>
            <a:bodyPr rtlCol="0" anchor="ctr"/>
            <a:lstStyle/>
            <a:p>
              <a:pPr algn="ctr"/>
            </a:p>
          </p:txBody>
        </p:sp>
        <p:sp>
          <p:nvSpPr>
            <p:cNvPr id="47" name="Rectangle 46"/>
            <p:cNvSpPr/>
            <p:nvPr/>
          </p:nvSpPr>
          <p:spPr>
            <a:xfrm>
              <a:off x="7813548" y="4014216"/>
              <a:ext cx="54864" cy="365760"/>
            </a:xfrm>
            <a:prstGeom prst="rect">
              <a:avLst/>
            </a:prstGeom>
            <a:solidFill>
              <a:srgbClr val="6B5B4B"/>
            </a:solidFill>
            <a:ln>
              <a:noFill/>
            </a:ln>
          </p:spPr>
          <p:txBody>
            <a:bodyPr rtlCol="0" anchor="ctr"/>
            <a:lstStyle/>
            <a:p>
              <a:pPr algn="ctr"/>
            </a:p>
          </p:txBody>
        </p:sp>
        <p:sp>
          <p:nvSpPr>
            <p:cNvPr id="48" name="Rectangle 47"/>
            <p:cNvSpPr/>
            <p:nvPr/>
          </p:nvSpPr>
          <p:spPr>
            <a:xfrm>
              <a:off x="8133588" y="4014216"/>
              <a:ext cx="54864" cy="365760"/>
            </a:xfrm>
            <a:prstGeom prst="rect">
              <a:avLst/>
            </a:prstGeom>
            <a:solidFill>
              <a:srgbClr val="6B5B4B"/>
            </a:solidFill>
            <a:ln>
              <a:noFill/>
            </a:ln>
          </p:spPr>
          <p:txBody>
            <a:bodyPr rtlCol="0" anchor="ctr"/>
            <a:lstStyle/>
            <a:p>
              <a:pPr algn="ctr"/>
            </a:p>
          </p:txBody>
        </p:sp>
        <p:sp>
          <p:nvSpPr>
            <p:cNvPr id="49" name="Rectangle 48"/>
            <p:cNvSpPr/>
            <p:nvPr/>
          </p:nvSpPr>
          <p:spPr>
            <a:xfrm>
              <a:off x="8453628" y="4014216"/>
              <a:ext cx="54864" cy="365760"/>
            </a:xfrm>
            <a:prstGeom prst="rect">
              <a:avLst/>
            </a:prstGeom>
            <a:solidFill>
              <a:srgbClr val="6B5B4B"/>
            </a:solidFill>
            <a:ln>
              <a:noFill/>
            </a:ln>
          </p:spPr>
          <p:txBody>
            <a:bodyPr rtlCol="0" anchor="ctr"/>
            <a:lstStyle/>
            <a:p>
              <a:pPr algn="ctr"/>
            </a:p>
          </p:txBody>
        </p:sp>
        <p:sp>
          <p:nvSpPr>
            <p:cNvPr id="50" name="Rectangle 49"/>
            <p:cNvSpPr/>
            <p:nvPr/>
          </p:nvSpPr>
          <p:spPr>
            <a:xfrm>
              <a:off x="8773668" y="4014216"/>
              <a:ext cx="54864" cy="365760"/>
            </a:xfrm>
            <a:prstGeom prst="rect">
              <a:avLst/>
            </a:prstGeom>
            <a:solidFill>
              <a:srgbClr val="6B5B4B"/>
            </a:solidFill>
            <a:ln>
              <a:noFill/>
            </a:ln>
          </p:spPr>
          <p:txBody>
            <a:bodyPr rtlCol="0" anchor="ctr"/>
            <a:lstStyle/>
            <a:p>
              <a:pPr algn="ctr"/>
            </a:p>
          </p:txBody>
        </p:sp>
        <p:sp>
          <p:nvSpPr>
            <p:cNvPr id="51" name="Rectangle 50"/>
            <p:cNvSpPr/>
            <p:nvPr/>
          </p:nvSpPr>
          <p:spPr>
            <a:xfrm>
              <a:off x="9093708" y="4014216"/>
              <a:ext cx="54864" cy="365760"/>
            </a:xfrm>
            <a:prstGeom prst="rect">
              <a:avLst/>
            </a:prstGeom>
            <a:solidFill>
              <a:srgbClr val="6B5B4B"/>
            </a:solidFill>
            <a:ln>
              <a:noFill/>
            </a:ln>
          </p:spPr>
          <p:txBody>
            <a:bodyPr rtlCol="0" anchor="ctr"/>
            <a:lstStyle/>
            <a:p>
              <a:pPr algn="ctr"/>
            </a:p>
          </p:txBody>
        </p:sp>
        <p:sp>
          <p:nvSpPr>
            <p:cNvPr id="52" name="Rectangle 51"/>
            <p:cNvSpPr/>
            <p:nvPr/>
          </p:nvSpPr>
          <p:spPr>
            <a:xfrm>
              <a:off x="9413748" y="4014216"/>
              <a:ext cx="54864" cy="365760"/>
            </a:xfrm>
            <a:prstGeom prst="rect">
              <a:avLst/>
            </a:prstGeom>
            <a:solidFill>
              <a:srgbClr val="6B5B4B"/>
            </a:solidFill>
            <a:ln>
              <a:noFill/>
            </a:ln>
          </p:spPr>
          <p:txBody>
            <a:bodyPr rtlCol="0" anchor="ctr"/>
            <a:lstStyle/>
            <a:p>
              <a:pPr algn="ctr"/>
            </a:p>
          </p:txBody>
        </p:sp>
        <p:sp>
          <p:nvSpPr>
            <p:cNvPr id="53" name="Rectangle 52"/>
            <p:cNvSpPr/>
            <p:nvPr/>
          </p:nvSpPr>
          <p:spPr>
            <a:xfrm>
              <a:off x="9733788" y="4014216"/>
              <a:ext cx="54864" cy="365760"/>
            </a:xfrm>
            <a:prstGeom prst="rect">
              <a:avLst/>
            </a:prstGeom>
            <a:solidFill>
              <a:srgbClr val="6B5B4B"/>
            </a:solidFill>
            <a:ln>
              <a:noFill/>
            </a:ln>
          </p:spPr>
          <p:txBody>
            <a:bodyPr rtlCol="0" anchor="ctr"/>
            <a:lstStyle/>
            <a:p>
              <a:pPr algn="ctr"/>
            </a:p>
          </p:txBody>
        </p:sp>
        <p:sp>
          <p:nvSpPr>
            <p:cNvPr id="54" name="Rectangle 53"/>
            <p:cNvSpPr/>
            <p:nvPr/>
          </p:nvSpPr>
          <p:spPr>
            <a:xfrm>
              <a:off x="10053828" y="4014216"/>
              <a:ext cx="54864" cy="365760"/>
            </a:xfrm>
            <a:prstGeom prst="rect">
              <a:avLst/>
            </a:prstGeom>
            <a:solidFill>
              <a:srgbClr val="6B5B4B"/>
            </a:solidFill>
            <a:ln>
              <a:noFill/>
            </a:ln>
          </p:spPr>
          <p:txBody>
            <a:bodyPr rtlCol="0" anchor="ctr"/>
            <a:lstStyle/>
            <a:p>
              <a:pPr algn="ctr"/>
            </a:p>
          </p:txBody>
        </p:sp>
        <p:sp>
          <p:nvSpPr>
            <p:cNvPr id="55" name="Rectangle 54"/>
            <p:cNvSpPr/>
            <p:nvPr/>
          </p:nvSpPr>
          <p:spPr>
            <a:xfrm>
              <a:off x="10373868" y="4014216"/>
              <a:ext cx="54864" cy="365760"/>
            </a:xfrm>
            <a:prstGeom prst="rect">
              <a:avLst/>
            </a:prstGeom>
            <a:solidFill>
              <a:srgbClr val="6B5B4B"/>
            </a:solidFill>
            <a:ln>
              <a:noFill/>
            </a:ln>
          </p:spPr>
          <p:txBody>
            <a:bodyPr rtlCol="0" anchor="ctr"/>
            <a:lstStyle/>
            <a:p>
              <a:pPr algn="ctr"/>
            </a:p>
          </p:txBody>
        </p:sp>
        <p:sp>
          <p:nvSpPr>
            <p:cNvPr id="56" name="Rectangle 55"/>
            <p:cNvSpPr/>
            <p:nvPr/>
          </p:nvSpPr>
          <p:spPr>
            <a:xfrm>
              <a:off x="10693908" y="4014216"/>
              <a:ext cx="54864" cy="365760"/>
            </a:xfrm>
            <a:prstGeom prst="rect">
              <a:avLst/>
            </a:prstGeom>
            <a:solidFill>
              <a:srgbClr val="6B5B4B"/>
            </a:solidFill>
            <a:ln>
              <a:noFill/>
            </a:ln>
          </p:spPr>
          <p:txBody>
            <a:bodyPr rtlCol="0" anchor="ctr"/>
            <a:lstStyle/>
            <a:p>
              <a:pPr algn="ctr"/>
            </a:p>
          </p:txBody>
        </p:sp>
        <p:sp>
          <p:nvSpPr>
            <p:cNvPr id="57" name="Rectangle 56"/>
            <p:cNvSpPr/>
            <p:nvPr/>
          </p:nvSpPr>
          <p:spPr>
            <a:xfrm>
              <a:off x="11013948" y="4014216"/>
              <a:ext cx="54864" cy="365760"/>
            </a:xfrm>
            <a:prstGeom prst="rect">
              <a:avLst/>
            </a:prstGeom>
            <a:solidFill>
              <a:srgbClr val="6B5B4B"/>
            </a:solidFill>
            <a:ln>
              <a:noFill/>
            </a:ln>
          </p:spPr>
          <p:txBody>
            <a:bodyPr rtlCol="0" anchor="ctr"/>
            <a:lstStyle/>
            <a:p>
              <a:pPr algn="ctr"/>
            </a:p>
          </p:txBody>
        </p:sp>
        <p:sp>
          <p:nvSpPr>
            <p:cNvPr id="58" name="Rectangle 57"/>
            <p:cNvSpPr/>
            <p:nvPr/>
          </p:nvSpPr>
          <p:spPr>
            <a:xfrm>
              <a:off x="822960" y="4041648"/>
              <a:ext cx="10515600" cy="54864"/>
            </a:xfrm>
            <a:prstGeom prst="rect">
              <a:avLst/>
            </a:prstGeom>
            <a:solidFill>
              <a:srgbClr val="9AA0A6"/>
            </a:solidFill>
            <a:ln>
              <a:noFill/>
            </a:ln>
          </p:spPr>
          <p:txBody>
            <a:bodyPr rtlCol="0" anchor="ctr"/>
            <a:lstStyle/>
            <a:p>
              <a:pPr algn="ctr"/>
            </a:p>
          </p:txBody>
        </p:sp>
        <p:sp>
          <p:nvSpPr>
            <p:cNvPr id="59" name="Rectangle 58"/>
            <p:cNvSpPr/>
            <p:nvPr/>
          </p:nvSpPr>
          <p:spPr>
            <a:xfrm>
              <a:off x="822960" y="4297680"/>
              <a:ext cx="10515600" cy="54864"/>
            </a:xfrm>
            <a:prstGeom prst="rect">
              <a:avLst/>
            </a:prstGeom>
            <a:solidFill>
              <a:srgbClr val="9AA0A6"/>
            </a:solidFill>
            <a:ln>
              <a:noFill/>
            </a:ln>
          </p:spPr>
          <p:txBody>
            <a:bodyPr rtlCol="0" anchor="ctr"/>
            <a:lstStyle/>
            <a:p>
              <a:pPr algn="ctr"/>
            </a:p>
          </p:txBody>
        </p:sp>
        <p:grpSp>
          <p:nvGrpSpPr>
            <p:cNvPr id="60" name="Signal stop" descr="Semaphore stop signal, arm flat: STOP."/>
            <p:cNvGrpSpPr/>
            <p:nvPr/>
          </p:nvGrpSpPr>
          <p:grpSpPr>
            <a:xfrm>
              <a:off x="588874" y="3770986"/>
              <a:ext cx="556869" cy="663854"/>
              <a:chOff x="588874" y="3770986"/>
              <a:chExt cx="556869" cy="663854"/>
            </a:xfrm>
          </p:grpSpPr>
          <p:sp>
            <p:nvSpPr>
              <p:cNvPr id="61" name="Rectangle 60"/>
              <p:cNvSpPr/>
              <p:nvPr/>
            </p:nvSpPr>
            <p:spPr>
              <a:xfrm>
                <a:off x="912571" y="4396435"/>
                <a:ext cx="186538" cy="38405"/>
              </a:xfrm>
              <a:prstGeom prst="rect">
                <a:avLst/>
              </a:prstGeom>
              <a:solidFill>
                <a:srgbClr val="9AA0A6"/>
              </a:solidFill>
              <a:ln>
                <a:noFill/>
              </a:ln>
            </p:spPr>
            <p:txBody>
              <a:bodyPr rtlCol="0" anchor="ctr"/>
              <a:lstStyle/>
              <a:p>
                <a:pPr algn="ctr"/>
              </a:p>
            </p:txBody>
          </p:sp>
          <p:sp>
            <p:nvSpPr>
              <p:cNvPr id="62" name="Rectangle 61"/>
              <p:cNvSpPr/>
              <p:nvPr/>
            </p:nvSpPr>
            <p:spPr>
              <a:xfrm>
                <a:off x="972922" y="3831336"/>
                <a:ext cx="65837" cy="603504"/>
              </a:xfrm>
              <a:prstGeom prst="rect">
                <a:avLst/>
              </a:prstGeom>
              <a:solidFill>
                <a:srgbClr val="E8E8E8"/>
              </a:solidFill>
              <a:ln>
                <a:noFill/>
              </a:ln>
            </p:spPr>
            <p:txBody>
              <a:bodyPr rtlCol="0" anchor="ctr"/>
              <a:lstStyle/>
              <a:p>
                <a:pPr algn="ctr"/>
              </a:p>
            </p:txBody>
          </p:sp>
          <p:sp>
            <p:nvSpPr>
              <p:cNvPr id="63" name="Oval 62"/>
              <p:cNvSpPr/>
              <p:nvPr/>
            </p:nvSpPr>
            <p:spPr>
              <a:xfrm>
                <a:off x="967435" y="3770986"/>
                <a:ext cx="76810" cy="76810"/>
              </a:xfrm>
              <a:prstGeom prst="ellipse">
                <a:avLst/>
              </a:prstGeom>
              <a:solidFill>
                <a:srgbClr val="E8E8E8"/>
              </a:solidFill>
              <a:ln>
                <a:noFill/>
              </a:ln>
            </p:spPr>
            <p:txBody>
              <a:bodyPr rtlCol="0" anchor="ctr"/>
              <a:lstStyle/>
              <a:p>
                <a:pPr algn="ctr"/>
              </a:p>
            </p:txBody>
          </p:sp>
          <p:sp>
            <p:nvSpPr>
              <p:cNvPr id="64" name="Freeform 63"/>
              <p:cNvSpPr/>
              <p:nvPr/>
            </p:nvSpPr>
            <p:spPr>
              <a:xfrm>
                <a:off x="588874"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65" name="Freeform 64"/>
              <p:cNvSpPr/>
              <p:nvPr/>
            </p:nvSpPr>
            <p:spPr>
              <a:xfrm>
                <a:off x="688726"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66" name="Oval 65"/>
              <p:cNvSpPr/>
              <p:nvPr/>
            </p:nvSpPr>
            <p:spPr>
              <a:xfrm>
                <a:off x="1052474"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67" name="Connector 66"/>
            <p:cNvCxnSpPr/>
            <p:nvPr/>
          </p:nvCxnSpPr>
          <p:spPr>
            <a:xfrm>
              <a:off x="1005840" y="4480560"/>
              <a:ext cx="0" cy="137160"/>
            </a:xfrm>
            <a:prstGeom prst="line">
              <a:avLst/>
            </a:prstGeom>
            <a:ln w="19050">
              <a:solidFill>
                <a:srgbClr val="A9B0B8"/>
              </a:solidFill>
            </a:ln>
          </p:spPr>
        </p:cxnSp>
        <p:sp>
          <p:nvSpPr>
            <p:cNvPr id="68" name="TextBox 67"/>
            <p:cNvSpPr txBox="1"/>
            <p:nvPr/>
          </p:nvSpPr>
          <p:spPr>
            <a:xfrm>
              <a:off x="457200"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0 m</a:t>
              </a:r>
            </a:p>
          </p:txBody>
        </p:sp>
        <p:grpSp>
          <p:nvGrpSpPr>
            <p:cNvPr id="69" name="Signal stop" descr="Semaphore stop signal, arm flat: STOP."/>
            <p:cNvGrpSpPr/>
            <p:nvPr/>
          </p:nvGrpSpPr>
          <p:grpSpPr>
            <a:xfrm>
              <a:off x="2563978" y="3770986"/>
              <a:ext cx="556869" cy="663854"/>
              <a:chOff x="2563978" y="3770986"/>
              <a:chExt cx="556869" cy="663854"/>
            </a:xfrm>
          </p:grpSpPr>
          <p:sp>
            <p:nvSpPr>
              <p:cNvPr id="70" name="Rectangle 69"/>
              <p:cNvSpPr/>
              <p:nvPr/>
            </p:nvSpPr>
            <p:spPr>
              <a:xfrm>
                <a:off x="2887675" y="4396435"/>
                <a:ext cx="186538" cy="38405"/>
              </a:xfrm>
              <a:prstGeom prst="rect">
                <a:avLst/>
              </a:prstGeom>
              <a:solidFill>
                <a:srgbClr val="9AA0A6"/>
              </a:solidFill>
              <a:ln>
                <a:noFill/>
              </a:ln>
            </p:spPr>
            <p:txBody>
              <a:bodyPr rtlCol="0" anchor="ctr"/>
              <a:lstStyle/>
              <a:p>
                <a:pPr algn="ctr"/>
              </a:p>
            </p:txBody>
          </p:sp>
          <p:sp>
            <p:nvSpPr>
              <p:cNvPr id="71" name="Rectangle 70"/>
              <p:cNvSpPr/>
              <p:nvPr/>
            </p:nvSpPr>
            <p:spPr>
              <a:xfrm>
                <a:off x="2948026" y="3831336"/>
                <a:ext cx="65837" cy="603504"/>
              </a:xfrm>
              <a:prstGeom prst="rect">
                <a:avLst/>
              </a:prstGeom>
              <a:solidFill>
                <a:srgbClr val="E8E8E8"/>
              </a:solidFill>
              <a:ln>
                <a:noFill/>
              </a:ln>
            </p:spPr>
            <p:txBody>
              <a:bodyPr rtlCol="0" anchor="ctr"/>
              <a:lstStyle/>
              <a:p>
                <a:pPr algn="ctr"/>
              </a:p>
            </p:txBody>
          </p:sp>
          <p:sp>
            <p:nvSpPr>
              <p:cNvPr id="72" name="Oval 71"/>
              <p:cNvSpPr/>
              <p:nvPr/>
            </p:nvSpPr>
            <p:spPr>
              <a:xfrm>
                <a:off x="2942539" y="3770986"/>
                <a:ext cx="76810" cy="76810"/>
              </a:xfrm>
              <a:prstGeom prst="ellipse">
                <a:avLst/>
              </a:prstGeom>
              <a:solidFill>
                <a:srgbClr val="E8E8E8"/>
              </a:solidFill>
              <a:ln>
                <a:noFill/>
              </a:ln>
            </p:spPr>
            <p:txBody>
              <a:bodyPr rtlCol="0" anchor="ctr"/>
              <a:lstStyle/>
              <a:p>
                <a:pPr algn="ctr"/>
              </a:p>
            </p:txBody>
          </p:sp>
          <p:sp>
            <p:nvSpPr>
              <p:cNvPr id="73" name="Freeform 72"/>
              <p:cNvSpPr/>
              <p:nvPr/>
            </p:nvSpPr>
            <p:spPr>
              <a:xfrm>
                <a:off x="2563978"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74" name="Freeform 73"/>
              <p:cNvSpPr/>
              <p:nvPr/>
            </p:nvSpPr>
            <p:spPr>
              <a:xfrm>
                <a:off x="2663830"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75" name="Oval 74"/>
              <p:cNvSpPr/>
              <p:nvPr/>
            </p:nvSpPr>
            <p:spPr>
              <a:xfrm>
                <a:off x="3027578"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76" name="Connector 75"/>
            <p:cNvCxnSpPr/>
            <p:nvPr/>
          </p:nvCxnSpPr>
          <p:spPr>
            <a:xfrm>
              <a:off x="2980944" y="4480560"/>
              <a:ext cx="0" cy="137160"/>
            </a:xfrm>
            <a:prstGeom prst="line">
              <a:avLst/>
            </a:prstGeom>
            <a:ln w="19050">
              <a:solidFill>
                <a:srgbClr val="A9B0B8"/>
              </a:solidFill>
            </a:ln>
          </p:spPr>
        </p:cxnSp>
        <p:sp>
          <p:nvSpPr>
            <p:cNvPr id="77" name="TextBox 76"/>
            <p:cNvSpPr txBox="1"/>
            <p:nvPr/>
          </p:nvSpPr>
          <p:spPr>
            <a:xfrm>
              <a:off x="2432304"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450 m</a:t>
              </a:r>
            </a:p>
          </p:txBody>
        </p:sp>
        <p:grpSp>
          <p:nvGrpSpPr>
            <p:cNvPr id="78" name="Signal stop" descr="Semaphore stop signal, arm flat: STOP."/>
            <p:cNvGrpSpPr/>
            <p:nvPr/>
          </p:nvGrpSpPr>
          <p:grpSpPr>
            <a:xfrm>
              <a:off x="4539082" y="3770986"/>
              <a:ext cx="556869" cy="663854"/>
              <a:chOff x="4539082" y="3770986"/>
              <a:chExt cx="556869" cy="663854"/>
            </a:xfrm>
          </p:grpSpPr>
          <p:sp>
            <p:nvSpPr>
              <p:cNvPr id="79" name="Rectangle 78"/>
              <p:cNvSpPr/>
              <p:nvPr/>
            </p:nvSpPr>
            <p:spPr>
              <a:xfrm>
                <a:off x="4862779" y="4396435"/>
                <a:ext cx="186538" cy="38405"/>
              </a:xfrm>
              <a:prstGeom prst="rect">
                <a:avLst/>
              </a:prstGeom>
              <a:solidFill>
                <a:srgbClr val="9AA0A6"/>
              </a:solidFill>
              <a:ln>
                <a:noFill/>
              </a:ln>
            </p:spPr>
            <p:txBody>
              <a:bodyPr rtlCol="0" anchor="ctr"/>
              <a:lstStyle/>
              <a:p>
                <a:pPr algn="ctr"/>
              </a:p>
            </p:txBody>
          </p:sp>
          <p:sp>
            <p:nvSpPr>
              <p:cNvPr id="80" name="Rectangle 79"/>
              <p:cNvSpPr/>
              <p:nvPr/>
            </p:nvSpPr>
            <p:spPr>
              <a:xfrm>
                <a:off x="4923130" y="3831336"/>
                <a:ext cx="65837" cy="603504"/>
              </a:xfrm>
              <a:prstGeom prst="rect">
                <a:avLst/>
              </a:prstGeom>
              <a:solidFill>
                <a:srgbClr val="E8E8E8"/>
              </a:solidFill>
              <a:ln>
                <a:noFill/>
              </a:ln>
            </p:spPr>
            <p:txBody>
              <a:bodyPr rtlCol="0" anchor="ctr"/>
              <a:lstStyle/>
              <a:p>
                <a:pPr algn="ctr"/>
              </a:p>
            </p:txBody>
          </p:sp>
          <p:sp>
            <p:nvSpPr>
              <p:cNvPr id="81" name="Oval 80"/>
              <p:cNvSpPr/>
              <p:nvPr/>
            </p:nvSpPr>
            <p:spPr>
              <a:xfrm>
                <a:off x="4917643" y="3770986"/>
                <a:ext cx="76810" cy="76810"/>
              </a:xfrm>
              <a:prstGeom prst="ellipse">
                <a:avLst/>
              </a:prstGeom>
              <a:solidFill>
                <a:srgbClr val="E8E8E8"/>
              </a:solidFill>
              <a:ln>
                <a:noFill/>
              </a:ln>
            </p:spPr>
            <p:txBody>
              <a:bodyPr rtlCol="0" anchor="ctr"/>
              <a:lstStyle/>
              <a:p>
                <a:pPr algn="ctr"/>
              </a:p>
            </p:txBody>
          </p:sp>
          <p:sp>
            <p:nvSpPr>
              <p:cNvPr id="82" name="Freeform 81"/>
              <p:cNvSpPr/>
              <p:nvPr/>
            </p:nvSpPr>
            <p:spPr>
              <a:xfrm>
                <a:off x="4539082"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83" name="Freeform 82"/>
              <p:cNvSpPr/>
              <p:nvPr/>
            </p:nvSpPr>
            <p:spPr>
              <a:xfrm>
                <a:off x="4638934"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84" name="Oval 83"/>
              <p:cNvSpPr/>
              <p:nvPr/>
            </p:nvSpPr>
            <p:spPr>
              <a:xfrm>
                <a:off x="5002682"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85" name="Connector 84"/>
            <p:cNvCxnSpPr/>
            <p:nvPr/>
          </p:nvCxnSpPr>
          <p:spPr>
            <a:xfrm>
              <a:off x="4956048" y="4480560"/>
              <a:ext cx="0" cy="137160"/>
            </a:xfrm>
            <a:prstGeom prst="line">
              <a:avLst/>
            </a:prstGeom>
            <a:ln w="19050">
              <a:solidFill>
                <a:srgbClr val="A9B0B8"/>
              </a:solidFill>
            </a:ln>
          </p:spPr>
        </p:cxnSp>
        <p:sp>
          <p:nvSpPr>
            <p:cNvPr id="86" name="TextBox 85"/>
            <p:cNvSpPr txBox="1"/>
            <p:nvPr/>
          </p:nvSpPr>
          <p:spPr>
            <a:xfrm>
              <a:off x="4407408"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900 m</a:t>
              </a:r>
            </a:p>
          </p:txBody>
        </p:sp>
        <p:grpSp>
          <p:nvGrpSpPr>
            <p:cNvPr id="87" name="Signal stop" descr="Semaphore stop signal, arm flat: STOP."/>
            <p:cNvGrpSpPr/>
            <p:nvPr/>
          </p:nvGrpSpPr>
          <p:grpSpPr>
            <a:xfrm>
              <a:off x="6514186" y="3770986"/>
              <a:ext cx="556869" cy="663854"/>
              <a:chOff x="6514186" y="3770986"/>
              <a:chExt cx="556869" cy="663854"/>
            </a:xfrm>
          </p:grpSpPr>
          <p:sp>
            <p:nvSpPr>
              <p:cNvPr id="88" name="Rectangle 87"/>
              <p:cNvSpPr/>
              <p:nvPr/>
            </p:nvSpPr>
            <p:spPr>
              <a:xfrm>
                <a:off x="6837883" y="4396435"/>
                <a:ext cx="186538" cy="38405"/>
              </a:xfrm>
              <a:prstGeom prst="rect">
                <a:avLst/>
              </a:prstGeom>
              <a:solidFill>
                <a:srgbClr val="9AA0A6"/>
              </a:solidFill>
              <a:ln>
                <a:noFill/>
              </a:ln>
            </p:spPr>
            <p:txBody>
              <a:bodyPr rtlCol="0" anchor="ctr"/>
              <a:lstStyle/>
              <a:p>
                <a:pPr algn="ctr"/>
              </a:p>
            </p:txBody>
          </p:sp>
          <p:sp>
            <p:nvSpPr>
              <p:cNvPr id="89" name="Rectangle 88"/>
              <p:cNvSpPr/>
              <p:nvPr/>
            </p:nvSpPr>
            <p:spPr>
              <a:xfrm>
                <a:off x="6898234" y="3831336"/>
                <a:ext cx="65837" cy="603504"/>
              </a:xfrm>
              <a:prstGeom prst="rect">
                <a:avLst/>
              </a:prstGeom>
              <a:solidFill>
                <a:srgbClr val="E8E8E8"/>
              </a:solidFill>
              <a:ln>
                <a:noFill/>
              </a:ln>
            </p:spPr>
            <p:txBody>
              <a:bodyPr rtlCol="0" anchor="ctr"/>
              <a:lstStyle/>
              <a:p>
                <a:pPr algn="ctr"/>
              </a:p>
            </p:txBody>
          </p:sp>
          <p:sp>
            <p:nvSpPr>
              <p:cNvPr id="90" name="Oval 89"/>
              <p:cNvSpPr/>
              <p:nvPr/>
            </p:nvSpPr>
            <p:spPr>
              <a:xfrm>
                <a:off x="6892747" y="3770986"/>
                <a:ext cx="76810" cy="76810"/>
              </a:xfrm>
              <a:prstGeom prst="ellipse">
                <a:avLst/>
              </a:prstGeom>
              <a:solidFill>
                <a:srgbClr val="E8E8E8"/>
              </a:solidFill>
              <a:ln>
                <a:noFill/>
              </a:ln>
            </p:spPr>
            <p:txBody>
              <a:bodyPr rtlCol="0" anchor="ctr"/>
              <a:lstStyle/>
              <a:p>
                <a:pPr algn="ctr"/>
              </a:p>
            </p:txBody>
          </p:sp>
          <p:sp>
            <p:nvSpPr>
              <p:cNvPr id="91" name="Freeform 90"/>
              <p:cNvSpPr/>
              <p:nvPr/>
            </p:nvSpPr>
            <p:spPr>
              <a:xfrm>
                <a:off x="6514186"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92" name="Freeform 91"/>
              <p:cNvSpPr/>
              <p:nvPr/>
            </p:nvSpPr>
            <p:spPr>
              <a:xfrm>
                <a:off x="6614038"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93" name="Oval 92"/>
              <p:cNvSpPr/>
              <p:nvPr/>
            </p:nvSpPr>
            <p:spPr>
              <a:xfrm>
                <a:off x="6977786"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94" name="Connector 93"/>
            <p:cNvCxnSpPr/>
            <p:nvPr/>
          </p:nvCxnSpPr>
          <p:spPr>
            <a:xfrm>
              <a:off x="6931152" y="4480560"/>
              <a:ext cx="0" cy="137160"/>
            </a:xfrm>
            <a:prstGeom prst="line">
              <a:avLst/>
            </a:prstGeom>
            <a:ln w="19050">
              <a:solidFill>
                <a:srgbClr val="A9B0B8"/>
              </a:solidFill>
            </a:ln>
          </p:spPr>
        </p:cxnSp>
        <p:sp>
          <p:nvSpPr>
            <p:cNvPr id="95" name="TextBox 94"/>
            <p:cNvSpPr txBox="1"/>
            <p:nvPr/>
          </p:nvSpPr>
          <p:spPr>
            <a:xfrm>
              <a:off x="6382512"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1,350 m</a:t>
              </a:r>
            </a:p>
          </p:txBody>
        </p:sp>
        <p:grpSp>
          <p:nvGrpSpPr>
            <p:cNvPr id="96" name="Signal stop" descr="Semaphore stop signal, arm flat: STOP."/>
            <p:cNvGrpSpPr/>
            <p:nvPr/>
          </p:nvGrpSpPr>
          <p:grpSpPr>
            <a:xfrm>
              <a:off x="8489290" y="3770986"/>
              <a:ext cx="556869" cy="663854"/>
              <a:chOff x="8489290" y="3770986"/>
              <a:chExt cx="556869" cy="663854"/>
            </a:xfrm>
          </p:grpSpPr>
          <p:sp>
            <p:nvSpPr>
              <p:cNvPr id="97" name="Rectangle 96"/>
              <p:cNvSpPr/>
              <p:nvPr/>
            </p:nvSpPr>
            <p:spPr>
              <a:xfrm>
                <a:off x="8812987" y="4396435"/>
                <a:ext cx="186538" cy="38405"/>
              </a:xfrm>
              <a:prstGeom prst="rect">
                <a:avLst/>
              </a:prstGeom>
              <a:solidFill>
                <a:srgbClr val="9AA0A6"/>
              </a:solidFill>
              <a:ln>
                <a:noFill/>
              </a:ln>
            </p:spPr>
            <p:txBody>
              <a:bodyPr rtlCol="0" anchor="ctr"/>
              <a:lstStyle/>
              <a:p>
                <a:pPr algn="ctr"/>
              </a:p>
            </p:txBody>
          </p:sp>
          <p:sp>
            <p:nvSpPr>
              <p:cNvPr id="98" name="Rectangle 97"/>
              <p:cNvSpPr/>
              <p:nvPr/>
            </p:nvSpPr>
            <p:spPr>
              <a:xfrm>
                <a:off x="8873338" y="3831336"/>
                <a:ext cx="65837" cy="603504"/>
              </a:xfrm>
              <a:prstGeom prst="rect">
                <a:avLst/>
              </a:prstGeom>
              <a:solidFill>
                <a:srgbClr val="E8E8E8"/>
              </a:solidFill>
              <a:ln>
                <a:noFill/>
              </a:ln>
            </p:spPr>
            <p:txBody>
              <a:bodyPr rtlCol="0" anchor="ctr"/>
              <a:lstStyle/>
              <a:p>
                <a:pPr algn="ctr"/>
              </a:p>
            </p:txBody>
          </p:sp>
          <p:sp>
            <p:nvSpPr>
              <p:cNvPr id="99" name="Oval 98"/>
              <p:cNvSpPr/>
              <p:nvPr/>
            </p:nvSpPr>
            <p:spPr>
              <a:xfrm>
                <a:off x="8867851" y="3770986"/>
                <a:ext cx="76810" cy="76810"/>
              </a:xfrm>
              <a:prstGeom prst="ellipse">
                <a:avLst/>
              </a:prstGeom>
              <a:solidFill>
                <a:srgbClr val="E8E8E8"/>
              </a:solidFill>
              <a:ln>
                <a:noFill/>
              </a:ln>
            </p:spPr>
            <p:txBody>
              <a:bodyPr rtlCol="0" anchor="ctr"/>
              <a:lstStyle/>
              <a:p>
                <a:pPr algn="ctr"/>
              </a:p>
            </p:txBody>
          </p:sp>
          <p:sp>
            <p:nvSpPr>
              <p:cNvPr id="100" name="Freeform 99"/>
              <p:cNvSpPr/>
              <p:nvPr/>
            </p:nvSpPr>
            <p:spPr>
              <a:xfrm>
                <a:off x="8489290"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101" name="Freeform 100"/>
              <p:cNvSpPr/>
              <p:nvPr/>
            </p:nvSpPr>
            <p:spPr>
              <a:xfrm>
                <a:off x="8589142"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102" name="Oval 101"/>
              <p:cNvSpPr/>
              <p:nvPr/>
            </p:nvSpPr>
            <p:spPr>
              <a:xfrm>
                <a:off x="8952890"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103" name="Connector 102"/>
            <p:cNvCxnSpPr/>
            <p:nvPr/>
          </p:nvCxnSpPr>
          <p:spPr>
            <a:xfrm>
              <a:off x="8906256" y="4480560"/>
              <a:ext cx="0" cy="137160"/>
            </a:xfrm>
            <a:prstGeom prst="line">
              <a:avLst/>
            </a:prstGeom>
            <a:ln w="19050">
              <a:solidFill>
                <a:srgbClr val="A9B0B8"/>
              </a:solidFill>
            </a:ln>
          </p:spPr>
        </p:cxnSp>
        <p:sp>
          <p:nvSpPr>
            <p:cNvPr id="104" name="TextBox 103"/>
            <p:cNvSpPr txBox="1"/>
            <p:nvPr/>
          </p:nvSpPr>
          <p:spPr>
            <a:xfrm>
              <a:off x="8357616"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1,800 m</a:t>
              </a:r>
            </a:p>
          </p:txBody>
        </p:sp>
        <p:grpSp>
          <p:nvGrpSpPr>
            <p:cNvPr id="105" name="Signal stop" descr="Semaphore stop signal, arm flat: STOP."/>
            <p:cNvGrpSpPr/>
            <p:nvPr/>
          </p:nvGrpSpPr>
          <p:grpSpPr>
            <a:xfrm>
              <a:off x="10464394" y="3770986"/>
              <a:ext cx="556869" cy="663854"/>
              <a:chOff x="10464394" y="3770986"/>
              <a:chExt cx="556869" cy="663854"/>
            </a:xfrm>
          </p:grpSpPr>
          <p:sp>
            <p:nvSpPr>
              <p:cNvPr id="106" name="Rectangle 105"/>
              <p:cNvSpPr/>
              <p:nvPr/>
            </p:nvSpPr>
            <p:spPr>
              <a:xfrm>
                <a:off x="10788091" y="4396435"/>
                <a:ext cx="186538" cy="38405"/>
              </a:xfrm>
              <a:prstGeom prst="rect">
                <a:avLst/>
              </a:prstGeom>
              <a:solidFill>
                <a:srgbClr val="9AA0A6"/>
              </a:solidFill>
              <a:ln>
                <a:noFill/>
              </a:ln>
            </p:spPr>
            <p:txBody>
              <a:bodyPr rtlCol="0" anchor="ctr"/>
              <a:lstStyle/>
              <a:p>
                <a:pPr algn="ctr"/>
              </a:p>
            </p:txBody>
          </p:sp>
          <p:sp>
            <p:nvSpPr>
              <p:cNvPr id="107" name="Rectangle 106"/>
              <p:cNvSpPr/>
              <p:nvPr/>
            </p:nvSpPr>
            <p:spPr>
              <a:xfrm>
                <a:off x="10848442" y="3831336"/>
                <a:ext cx="65837" cy="603504"/>
              </a:xfrm>
              <a:prstGeom prst="rect">
                <a:avLst/>
              </a:prstGeom>
              <a:solidFill>
                <a:srgbClr val="E8E8E8"/>
              </a:solidFill>
              <a:ln>
                <a:noFill/>
              </a:ln>
            </p:spPr>
            <p:txBody>
              <a:bodyPr rtlCol="0" anchor="ctr"/>
              <a:lstStyle/>
              <a:p>
                <a:pPr algn="ctr"/>
              </a:p>
            </p:txBody>
          </p:sp>
          <p:sp>
            <p:nvSpPr>
              <p:cNvPr id="108" name="Oval 107"/>
              <p:cNvSpPr/>
              <p:nvPr/>
            </p:nvSpPr>
            <p:spPr>
              <a:xfrm>
                <a:off x="10842955" y="3770986"/>
                <a:ext cx="76810" cy="76810"/>
              </a:xfrm>
              <a:prstGeom prst="ellipse">
                <a:avLst/>
              </a:prstGeom>
              <a:solidFill>
                <a:srgbClr val="E8E8E8"/>
              </a:solidFill>
              <a:ln>
                <a:noFill/>
              </a:ln>
            </p:spPr>
            <p:txBody>
              <a:bodyPr rtlCol="0" anchor="ctr"/>
              <a:lstStyle/>
              <a:p>
                <a:pPr algn="ctr"/>
              </a:p>
            </p:txBody>
          </p:sp>
          <p:sp>
            <p:nvSpPr>
              <p:cNvPr id="109" name="Freeform 108"/>
              <p:cNvSpPr/>
              <p:nvPr/>
            </p:nvSpPr>
            <p:spPr>
              <a:xfrm>
                <a:off x="10464394"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110" name="Freeform 109"/>
              <p:cNvSpPr/>
              <p:nvPr/>
            </p:nvSpPr>
            <p:spPr>
              <a:xfrm>
                <a:off x="10564246"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111" name="Oval 110"/>
              <p:cNvSpPr/>
              <p:nvPr/>
            </p:nvSpPr>
            <p:spPr>
              <a:xfrm>
                <a:off x="10927994"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112" name="Connector 111"/>
            <p:cNvCxnSpPr/>
            <p:nvPr/>
          </p:nvCxnSpPr>
          <p:spPr>
            <a:xfrm>
              <a:off x="10881360" y="4480560"/>
              <a:ext cx="0" cy="137160"/>
            </a:xfrm>
            <a:prstGeom prst="line">
              <a:avLst/>
            </a:prstGeom>
            <a:ln w="19050">
              <a:solidFill>
                <a:srgbClr val="A9B0B8"/>
              </a:solidFill>
            </a:ln>
          </p:spPr>
        </p:cxnSp>
        <p:sp>
          <p:nvSpPr>
            <p:cNvPr id="113" name="TextBox 112"/>
            <p:cNvSpPr txBox="1"/>
            <p:nvPr/>
          </p:nvSpPr>
          <p:spPr>
            <a:xfrm>
              <a:off x="10332720"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2,250 m</a:t>
              </a:r>
            </a:p>
          </p:txBody>
        </p:sp>
      </p:grpSp>
      <p:sp>
        <p:nvSpPr>
          <p:cNvPr id="114" name="TextBox 113"/>
          <p:cNvSpPr txBox="1"/>
          <p:nvPr/>
        </p:nvSpPr>
        <p:spPr>
          <a:xfrm>
            <a:off x="548640" y="5074920"/>
            <a:ext cx="3657600" cy="329184"/>
          </a:xfrm>
          <a:prstGeom prst="rect">
            <a:avLst/>
          </a:prstGeom>
          <a:noFill/>
        </p:spPr>
        <p:txBody>
          <a:bodyPr wrap="square" lIns="0" tIns="0" rIns="0" bIns="0" anchor="ctr">
            <a:noAutofit/>
          </a:bodyPr>
          <a:lstStyle/>
          <a:p>
            <a:pPr algn="l"/>
            <a:r>
              <a:rPr sz="1600" b="0" i="0" lang="en-GB">
                <a:solidFill>
                  <a:srgbClr val="F2F2F2"/>
                </a:solidFill>
                <a:latin typeface="Arial"/>
              </a:rPr>
              <a:t>Block lengths and speed caps:</a:t>
            </a:r>
          </a:p>
        </p:txBody>
      </p:sp>
      <p:sp>
        <p:nvSpPr>
          <p:cNvPr id="115" name="Inline chip Undecided"/>
          <p:cNvSpPr/>
          <p:nvPr/>
        </p:nvSpPr>
        <p:spPr>
          <a:xfrm>
            <a:off x="3463925" y="5074920"/>
            <a:ext cx="20612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(OQ03)</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Early signals have limits: short blocks, a speed cap and a limited number per box. Numbers are provisional.</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32</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600"/>
                                  </p:stCondLst>
                                  <p:childTnLst>
                                    <p:set>
                                      <p:cBhvr>
                                        <p:cTn id="12" dur="1" fill="hold">
                                          <p:stCondLst>
                                            <p:cond delay="0"/>
                                          </p:stCondLst>
                                        </p:cTn>
                                        <p:tgtEl>
                                          <p:spTgt spid="114"/>
                                        </p:tgtEl>
                                        <p:attrNameLst>
                                          <p:attrName>style.visibility</p:attrName>
                                        </p:attrNameLst>
                                      </p:cBhvr>
                                      <p:to>
                                        <p:strVal val="visible"/>
                                      </p:to>
                                    </p:set>
                                    <p:animEffect transition="in" filter="fade">
                                      <p:cBhvr>
                                        <p:cTn id="13" dur="500"/>
                                        <p:tgtEl>
                                          <p:spTgt spid="114"/>
                                        </p:tgtEl>
                                      </p:cBhvr>
                                    </p:animEffect>
                                  </p:childTnLst>
                                </p:cTn>
                              </p:par>
                              <p:par>
                                <p:cTn id="14" presetID="10" presetClass="entr" presetSubtype="0" fill="hold" nodeType="withEffect">
                                  <p:stCondLst>
                                    <p:cond delay="900"/>
                                  </p:stCondLst>
                                  <p:childTnLst>
                                    <p:set>
                                      <p:cBhvr>
                                        <p:cTn id="15" dur="1" fill="hold">
                                          <p:stCondLst>
                                            <p:cond delay="0"/>
                                          </p:stCondLst>
                                        </p:cTn>
                                        <p:tgtEl>
                                          <p:spTgt spid="115"/>
                                        </p:tgtEl>
                                        <p:attrNameLst>
                                          <p:attrName>style.visibility</p:attrName>
                                        </p:attrNameLst>
                                      </p:cBhvr>
                                      <p:to>
                                        <p:strVal val="visible"/>
                                      </p:to>
                                    </p:set>
                                    <p:animEffect transition="in" filter="fade">
                                      <p:cBhvr>
                                        <p:cTn id="16" dur="500"/>
                                        <p:tgtEl>
                                          <p:spTgt spid="115"/>
                                        </p:tgtEl>
                                      </p:cBhvr>
                                    </p:animEffect>
                                  </p:childTnLst>
                                </p:cTn>
                              </p:par>
                              <p:par>
                                <p:cTn id="17" presetID="10" presetClass="entr" presetSubtype="0" fill="hold" nodeType="withEffect">
                                  <p:stCondLst>
                                    <p:cond delay="120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childTnLst>
                                </p:cTn>
                              </p:par>
                              <p:par>
                                <p:cTn id="20" presetID="10" presetClass="entr" presetSubtype="0" fill="hold" nodeType="withEffect">
                                  <p:stCondLst>
                                    <p:cond delay="15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No wiring for you</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Inline chip Undecided"/>
          <p:cNvSpPr/>
          <p:nvPr/>
        </p:nvSpPr>
        <p:spPr>
          <a:xfrm>
            <a:off x="7680020" y="896112"/>
            <a:ext cx="3963035"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ROD OR WIRE LOOK: UNDECIDED (OQ04)</a:t>
            </a:r>
          </a:p>
        </p:txBody>
      </p:sp>
      <p:pic>
        <p:nvPicPr>
          <p:cNvPr id="9" name="Picture P16" descr="Pulleys, rods and wires of mechanical signal linkage beside the track at Williton station."/>
          <p:cNvPicPr>
            <a:picLocks noChangeAspect="1"/>
          </p:cNvPicPr>
          <p:nvPr/>
        </p:nvPicPr>
        <p:blipFill>
          <a:blip r:embed="rId2"/>
          <a:srcRect l="68" r="68"/>
          <a:stretch>
            <a:fillRect/>
          </a:stretch>
        </p:blipFill>
        <p:spPr>
          <a:xfrm>
            <a:off x="548640" y="1371600"/>
            <a:ext cx="4754880" cy="3172968"/>
          </a:xfrm>
          <a:prstGeom prst="roundRect">
            <a:avLst>
              <a:gd name="adj" fmla="val 2305"/>
            </a:avLst>
          </a:prstGeom>
        </p:spPr>
      </p:pic>
      <p:sp>
        <p:nvSpPr>
          <p:cNvPr id="10" name="Credit"/>
          <p:cNvSpPr txBox="1"/>
          <p:nvPr/>
        </p:nvSpPr>
        <p:spPr>
          <a:xfrm>
            <a:off x="548640" y="4572000"/>
            <a:ext cx="4754880" cy="182880"/>
          </a:xfrm>
          <a:prstGeom prst="rect">
            <a:avLst/>
          </a:prstGeom>
          <a:noFill/>
        </p:spPr>
        <p:txBody>
          <a:bodyPr wrap="square" lIns="0" tIns="0" rIns="0" bIns="0" anchor="t">
            <a:noAutofit/>
          </a:bodyPr>
          <a:lstStyle/>
          <a:p>
            <a:pPr algn="l"/>
            <a:r>
              <a:rPr sz="1000" b="0" i="0" lang="en-GB">
                <a:solidFill>
                  <a:srgbClr val="A9B0B8"/>
                </a:solidFill>
                <a:latin typeface="Arial"/>
              </a:rPr>
              <a:t>Photo: mattbuck (category), CC BY-SA 3.0, Wikimedia Commons.</a:t>
            </a:r>
          </a:p>
        </p:txBody>
      </p:sp>
      <p:grpSp>
        <p:nvGrpSpPr>
          <p:cNvPr id="11" name="Steps" descr="Three steps: place a signal on connected track; a box with room takes control; rods and wires draw themselves and update."/>
          <p:cNvGrpSpPr/>
          <p:nvPr/>
        </p:nvGrpSpPr>
        <p:grpSpPr>
          <a:xfrm>
            <a:off x="5669280" y="1417320"/>
            <a:ext cx="5971032" cy="2468880"/>
            <a:chOff x="5669280" y="1417320"/>
            <a:chExt cx="5971032" cy="2468880"/>
          </a:xfrm>
        </p:grpSpPr>
        <p:sp>
          <p:nvSpPr>
            <p:cNvPr id="12" name="Rounded Rectangle 11"/>
            <p:cNvSpPr/>
            <p:nvPr/>
          </p:nvSpPr>
          <p:spPr>
            <a:xfrm>
              <a:off x="5669280" y="1417320"/>
              <a:ext cx="5971032" cy="731520"/>
            </a:xfrm>
            <a:prstGeom prst="roundRect">
              <a:avLst>
                <a:gd name="adj" fmla="val 10000"/>
              </a:avLst>
            </a:prstGeom>
            <a:solidFill>
              <a:srgbClr val="2B2F36"/>
            </a:solidFill>
            <a:ln>
              <a:noFill/>
            </a:ln>
          </p:spPr>
          <p:txBody>
            <a:bodyPr rtlCol="0" anchor="ctr"/>
            <a:lstStyle/>
            <a:p>
              <a:pPr algn="ctr"/>
            </a:p>
          </p:txBody>
        </p:sp>
        <p:sp>
          <p:nvSpPr>
            <p:cNvPr id="13" name="Badge 1"/>
            <p:cNvSpPr/>
            <p:nvPr/>
          </p:nvSpPr>
          <p:spPr>
            <a:xfrm>
              <a:off x="5824728" y="1572768"/>
              <a:ext cx="420624" cy="420624"/>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1</a:t>
              </a:r>
            </a:p>
          </p:txBody>
        </p:sp>
        <p:sp>
          <p:nvSpPr>
            <p:cNvPr id="14" name="TextBox 13"/>
            <p:cNvSpPr txBox="1"/>
            <p:nvPr/>
          </p:nvSpPr>
          <p:spPr>
            <a:xfrm>
              <a:off x="6446520" y="1417320"/>
              <a:ext cx="5120640" cy="731520"/>
            </a:xfrm>
            <a:prstGeom prst="rect">
              <a:avLst/>
            </a:prstGeom>
            <a:noFill/>
          </p:spPr>
          <p:txBody>
            <a:bodyPr wrap="square" lIns="0" tIns="0" rIns="0" bIns="0" anchor="ctr">
              <a:noAutofit/>
            </a:bodyPr>
            <a:lstStyle/>
            <a:p>
              <a:pPr algn="l"/>
              <a:r>
                <a:rPr sz="2000" b="0" i="0" lang="en-GB">
                  <a:solidFill>
                    <a:srgbClr val="F2F2F2"/>
                  </a:solidFill>
                  <a:latin typeface="Arial"/>
                </a:rPr>
                <a:t>Place signals on connected track</a:t>
              </a:r>
            </a:p>
          </p:txBody>
        </p:sp>
        <p:sp>
          <p:nvSpPr>
            <p:cNvPr id="15" name="Rounded Rectangle 14"/>
            <p:cNvSpPr/>
            <p:nvPr/>
          </p:nvSpPr>
          <p:spPr>
            <a:xfrm>
              <a:off x="5669280" y="2286000"/>
              <a:ext cx="5971032" cy="731520"/>
            </a:xfrm>
            <a:prstGeom prst="roundRect">
              <a:avLst>
                <a:gd name="adj" fmla="val 10000"/>
              </a:avLst>
            </a:prstGeom>
            <a:solidFill>
              <a:srgbClr val="2B2F36"/>
            </a:solidFill>
            <a:ln>
              <a:noFill/>
            </a:ln>
          </p:spPr>
          <p:txBody>
            <a:bodyPr rtlCol="0" anchor="ctr"/>
            <a:lstStyle/>
            <a:p>
              <a:pPr algn="ctr"/>
            </a:p>
          </p:txBody>
        </p:sp>
        <p:sp>
          <p:nvSpPr>
            <p:cNvPr id="16" name="Badge 2"/>
            <p:cNvSpPr/>
            <p:nvPr/>
          </p:nvSpPr>
          <p:spPr>
            <a:xfrm>
              <a:off x="5824728" y="2441448"/>
              <a:ext cx="420624" cy="420624"/>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2</a:t>
              </a:r>
            </a:p>
          </p:txBody>
        </p:sp>
        <p:sp>
          <p:nvSpPr>
            <p:cNvPr id="17" name="TextBox 16"/>
            <p:cNvSpPr txBox="1"/>
            <p:nvPr/>
          </p:nvSpPr>
          <p:spPr>
            <a:xfrm>
              <a:off x="6446520" y="2286000"/>
              <a:ext cx="5120640" cy="731520"/>
            </a:xfrm>
            <a:prstGeom prst="rect">
              <a:avLst/>
            </a:prstGeom>
            <a:noFill/>
          </p:spPr>
          <p:txBody>
            <a:bodyPr wrap="square" lIns="0" tIns="0" rIns="0" bIns="0" anchor="ctr">
              <a:noAutofit/>
            </a:bodyPr>
            <a:lstStyle/>
            <a:p>
              <a:pPr algn="l"/>
              <a:r>
                <a:rPr sz="2000" b="0" i="0" lang="en-GB">
                  <a:solidFill>
                    <a:srgbClr val="F2F2F2"/>
                  </a:solidFill>
                  <a:latin typeface="Arial"/>
                </a:rPr>
                <a:t>A box with room takes control</a:t>
              </a:r>
            </a:p>
          </p:txBody>
        </p:sp>
        <p:sp>
          <p:nvSpPr>
            <p:cNvPr id="18" name="Rounded Rectangle 17"/>
            <p:cNvSpPr/>
            <p:nvPr/>
          </p:nvSpPr>
          <p:spPr>
            <a:xfrm>
              <a:off x="5669280" y="3154680"/>
              <a:ext cx="5971032" cy="731520"/>
            </a:xfrm>
            <a:prstGeom prst="roundRect">
              <a:avLst>
                <a:gd name="adj" fmla="val 10000"/>
              </a:avLst>
            </a:prstGeom>
            <a:solidFill>
              <a:srgbClr val="2B2F36"/>
            </a:solidFill>
            <a:ln>
              <a:noFill/>
            </a:ln>
          </p:spPr>
          <p:txBody>
            <a:bodyPr rtlCol="0" anchor="ctr"/>
            <a:lstStyle/>
            <a:p>
              <a:pPr algn="ctr"/>
            </a:p>
          </p:txBody>
        </p:sp>
        <p:sp>
          <p:nvSpPr>
            <p:cNvPr id="19" name="Badge 3"/>
            <p:cNvSpPr/>
            <p:nvPr/>
          </p:nvSpPr>
          <p:spPr>
            <a:xfrm>
              <a:off x="5824728" y="3310128"/>
              <a:ext cx="420624" cy="420624"/>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3</a:t>
              </a:r>
            </a:p>
          </p:txBody>
        </p:sp>
        <p:sp>
          <p:nvSpPr>
            <p:cNvPr id="20" name="TextBox 19"/>
            <p:cNvSpPr txBox="1"/>
            <p:nvPr/>
          </p:nvSpPr>
          <p:spPr>
            <a:xfrm>
              <a:off x="6446520" y="3154680"/>
              <a:ext cx="5120640" cy="731520"/>
            </a:xfrm>
            <a:prstGeom prst="rect">
              <a:avLst/>
            </a:prstGeom>
            <a:noFill/>
          </p:spPr>
          <p:txBody>
            <a:bodyPr wrap="square" lIns="0" tIns="0" rIns="0" bIns="0" anchor="ctr">
              <a:noAutofit/>
            </a:bodyPr>
            <a:lstStyle/>
            <a:p>
              <a:pPr algn="l"/>
              <a:r>
                <a:rPr sz="2000" b="0" i="0" lang="en-GB">
                  <a:solidFill>
                    <a:srgbClr val="F2F2F2"/>
                  </a:solidFill>
                  <a:latin typeface="Arial"/>
                </a:rPr>
                <a:t>Rods and wires draw themselves</a:t>
              </a:r>
            </a:p>
          </p:txBody>
        </p:sp>
      </p:grpSp>
      <p:grpSp>
        <p:nvGrpSpPr>
          <p:cNvPr id="21" name="Box screen" descr="The box screen lists its signals, their state, capacity and reach."/>
          <p:cNvGrpSpPr/>
          <p:nvPr/>
        </p:nvGrpSpPr>
        <p:grpSpPr>
          <a:xfrm>
            <a:off x="5760720" y="4069080"/>
            <a:ext cx="5806440" cy="612648"/>
            <a:chOff x="5760720" y="4069080"/>
            <a:chExt cx="5806440" cy="612648"/>
          </a:xfrm>
        </p:grpSpPr>
        <p:sp>
          <p:nvSpPr>
            <p:cNvPr id="22" name="Rounded Rectangle 21"/>
            <p:cNvSpPr/>
            <p:nvPr/>
          </p:nvSpPr>
          <p:spPr>
            <a:xfrm>
              <a:off x="5760720" y="4114800"/>
              <a:ext cx="685800" cy="475488"/>
            </a:xfrm>
            <a:prstGeom prst="roundRect">
              <a:avLst>
                <a:gd name="adj" fmla="val 7692"/>
              </a:avLst>
            </a:prstGeom>
            <a:solidFill>
              <a:srgbClr val="343A43"/>
            </a:solidFill>
            <a:ln w="19050">
              <a:solidFill>
                <a:srgbClr val="9AA0A6"/>
              </a:solidFill>
            </a:ln>
          </p:spPr>
          <p:txBody>
            <a:bodyPr rtlCol="0" anchor="ctr"/>
            <a:lstStyle/>
            <a:p>
              <a:pPr algn="ctr"/>
            </a:p>
          </p:txBody>
        </p:sp>
        <p:sp>
          <p:nvSpPr>
            <p:cNvPr id="23" name="Rectangle 22"/>
            <p:cNvSpPr/>
            <p:nvPr/>
          </p:nvSpPr>
          <p:spPr>
            <a:xfrm>
              <a:off x="5852160" y="4187952"/>
              <a:ext cx="502920" cy="54864"/>
            </a:xfrm>
            <a:prstGeom prst="rect">
              <a:avLst/>
            </a:prstGeom>
            <a:solidFill>
              <a:srgbClr val="F28C28"/>
            </a:solidFill>
            <a:ln>
              <a:noFill/>
            </a:ln>
          </p:spPr>
          <p:txBody>
            <a:bodyPr rtlCol="0" anchor="ctr"/>
            <a:lstStyle/>
            <a:p>
              <a:pPr algn="ctr"/>
            </a:p>
          </p:txBody>
        </p:sp>
        <p:sp>
          <p:nvSpPr>
            <p:cNvPr id="24" name="Rectangle 23"/>
            <p:cNvSpPr/>
            <p:nvPr/>
          </p:nvSpPr>
          <p:spPr>
            <a:xfrm>
              <a:off x="5852160" y="4306824"/>
              <a:ext cx="502920" cy="54864"/>
            </a:xfrm>
            <a:prstGeom prst="rect">
              <a:avLst/>
            </a:prstGeom>
            <a:solidFill>
              <a:srgbClr val="9AA0A6"/>
            </a:solidFill>
            <a:ln>
              <a:noFill/>
            </a:ln>
          </p:spPr>
          <p:txBody>
            <a:bodyPr rtlCol="0" anchor="ctr"/>
            <a:lstStyle/>
            <a:p>
              <a:pPr algn="ctr"/>
            </a:p>
          </p:txBody>
        </p:sp>
        <p:sp>
          <p:nvSpPr>
            <p:cNvPr id="25" name="Rectangle 24"/>
            <p:cNvSpPr/>
            <p:nvPr/>
          </p:nvSpPr>
          <p:spPr>
            <a:xfrm>
              <a:off x="5852160" y="4425696"/>
              <a:ext cx="502920" cy="54864"/>
            </a:xfrm>
            <a:prstGeom prst="rect">
              <a:avLst/>
            </a:prstGeom>
            <a:solidFill>
              <a:srgbClr val="9AA0A6"/>
            </a:solidFill>
            <a:ln>
              <a:noFill/>
            </a:ln>
          </p:spPr>
          <p:txBody>
            <a:bodyPr rtlCol="0" anchor="ctr"/>
            <a:lstStyle/>
            <a:p>
              <a:pPr algn="ctr"/>
            </a:p>
          </p:txBody>
        </p:sp>
        <p:sp>
          <p:nvSpPr>
            <p:cNvPr id="26" name="Rectangle 25"/>
            <p:cNvSpPr/>
            <p:nvPr/>
          </p:nvSpPr>
          <p:spPr>
            <a:xfrm>
              <a:off x="6035040" y="4590288"/>
              <a:ext cx="137160" cy="91440"/>
            </a:xfrm>
            <a:prstGeom prst="rect">
              <a:avLst/>
            </a:prstGeom>
            <a:solidFill>
              <a:srgbClr val="9AA0A6"/>
            </a:solidFill>
            <a:ln>
              <a:noFill/>
            </a:ln>
          </p:spPr>
          <p:txBody>
            <a:bodyPr rtlCol="0" anchor="ctr"/>
            <a:lstStyle/>
            <a:p>
              <a:pPr algn="ctr"/>
            </a:p>
          </p:txBody>
        </p:sp>
        <p:sp>
          <p:nvSpPr>
            <p:cNvPr id="27" name="TextBox 26"/>
            <p:cNvSpPr txBox="1"/>
            <p:nvPr/>
          </p:nvSpPr>
          <p:spPr>
            <a:xfrm>
              <a:off x="6629400" y="4069080"/>
              <a:ext cx="4937760" cy="566928"/>
            </a:xfrm>
            <a:prstGeom prst="rect">
              <a:avLst/>
            </a:prstGeom>
            <a:noFill/>
          </p:spPr>
          <p:txBody>
            <a:bodyPr wrap="square" lIns="0" tIns="0" rIns="0" bIns="0" anchor="ctr">
              <a:noAutofit/>
            </a:bodyPr>
            <a:lstStyle/>
            <a:p>
              <a:pPr algn="l"/>
              <a:r>
                <a:rPr sz="1800" b="0" i="0" lang="en-GB">
                  <a:solidFill>
                    <a:srgbClr val="F2F2F2"/>
                  </a:solidFill>
                  <a:latin typeface="Arial"/>
                </a:rPr>
                <a:t>Box screen: signals, state, capacity, reach.</a:t>
              </a:r>
            </a:p>
          </p:txBody>
        </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Boxes take control of connected signals automatically. Rods and wires are drawn for you, as a visual layer.</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33</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60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nodeType="withEffect">
                                  <p:stCondLst>
                                    <p:cond delay="90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par>
                                <p:cTn id="17" presetID="10" presetClass="entr" presetSubtype="0" fill="hold" nodeType="withEffect">
                                  <p:stCondLst>
                                    <p:cond delay="120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childTnLst>
                                </p:cTn>
                              </p:par>
                              <p:par>
                                <p:cTn id="20" presetID="10" presetClass="entr" presetSubtype="0" fill="hold" nodeType="withEffect">
                                  <p:stCondLst>
                                    <p:cond delay="15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Later signals and manual control</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ignal timeline" descr="Timeline: start with semaphore blocks (agreed); later, better semaphores or interlocking (proposed); mature, electronic signals like vanilla (proposed)."/>
          <p:cNvGrpSpPr/>
          <p:nvPr/>
        </p:nvGrpSpPr>
        <p:grpSpPr>
          <a:xfrm>
            <a:off x="768096" y="1554480"/>
            <a:ext cx="5907024" cy="3346704"/>
            <a:chOff x="768096" y="1554480"/>
            <a:chExt cx="5907024" cy="3346704"/>
          </a:xfrm>
        </p:grpSpPr>
        <p:cxnSp>
          <p:nvCxnSpPr>
            <p:cNvPr id="9" name="Connector 8"/>
            <p:cNvCxnSpPr/>
            <p:nvPr/>
          </p:nvCxnSpPr>
          <p:spPr>
            <a:xfrm>
              <a:off x="960120" y="1783080"/>
              <a:ext cx="0" cy="2560320"/>
            </a:xfrm>
            <a:prstGeom prst="line">
              <a:avLst/>
            </a:prstGeom>
            <a:ln w="38100">
              <a:solidFill>
                <a:srgbClr val="9AA0A6"/>
              </a:solidFill>
            </a:ln>
          </p:spPr>
        </p:cxnSp>
        <p:sp>
          <p:nvSpPr>
            <p:cNvPr id="10" name="Oval 9"/>
            <p:cNvSpPr/>
            <p:nvPr/>
          </p:nvSpPr>
          <p:spPr>
            <a:xfrm>
              <a:off x="768096" y="1591056"/>
              <a:ext cx="384048" cy="384048"/>
            </a:xfrm>
            <a:prstGeom prst="ellipse">
              <a:avLst/>
            </a:prstGeom>
            <a:solidFill>
              <a:srgbClr val="F28C28"/>
            </a:solidFill>
            <a:ln w="38100">
              <a:solidFill>
                <a:srgbClr val="F28C28"/>
              </a:solidFill>
            </a:ln>
          </p:spPr>
          <p:txBody>
            <a:bodyPr rtlCol="0" anchor="ctr"/>
            <a:lstStyle/>
            <a:p>
              <a:pPr algn="ctr"/>
            </a:p>
          </p:txBody>
        </p:sp>
        <p:sp>
          <p:nvSpPr>
            <p:cNvPr id="11" name="TextBox 10"/>
            <p:cNvSpPr txBox="1"/>
            <p:nvPr/>
          </p:nvSpPr>
          <p:spPr>
            <a:xfrm>
              <a:off x="1371600" y="1554480"/>
              <a:ext cx="5303520" cy="411480"/>
            </a:xfrm>
            <a:prstGeom prst="rect">
              <a:avLst/>
            </a:prstGeom>
            <a:noFill/>
          </p:spPr>
          <p:txBody>
            <a:bodyPr wrap="square" lIns="0" tIns="0" rIns="0" bIns="0" anchor="ctr">
              <a:noAutofit/>
            </a:bodyPr>
            <a:lstStyle/>
            <a:p>
              <a:pPr algn="l"/>
              <a:r>
                <a:rPr sz="2000" b="0" i="0" lang="en-GB">
                  <a:solidFill>
                    <a:srgbClr val="F2F2F2"/>
                  </a:solidFill>
                  <a:latin typeface="Arial"/>
                </a:rPr>
                <a:t>Start: semaphore blocks</a:t>
              </a:r>
            </a:p>
          </p:txBody>
        </p:sp>
        <p:sp>
          <p:nvSpPr>
            <p:cNvPr id="12" name="Inline chip Agreed"/>
            <p:cNvSpPr/>
            <p:nvPr/>
          </p:nvSpPr>
          <p:spPr>
            <a:xfrm>
              <a:off x="1371600" y="2011680"/>
              <a:ext cx="112141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13" name="Oval 12"/>
            <p:cNvSpPr/>
            <p:nvPr/>
          </p:nvSpPr>
          <p:spPr>
            <a:xfrm>
              <a:off x="768096" y="2871216"/>
              <a:ext cx="384048" cy="384048"/>
            </a:xfrm>
            <a:prstGeom prst="ellipse">
              <a:avLst/>
            </a:prstGeom>
            <a:solidFill>
              <a:srgbClr val="1E2126"/>
            </a:solidFill>
            <a:ln w="38100">
              <a:solidFill>
                <a:srgbClr val="F28C28"/>
              </a:solidFill>
            </a:ln>
          </p:spPr>
          <p:txBody>
            <a:bodyPr rtlCol="0" anchor="ctr"/>
            <a:lstStyle/>
            <a:p>
              <a:pPr algn="ctr"/>
            </a:p>
          </p:txBody>
        </p:sp>
        <p:sp>
          <p:nvSpPr>
            <p:cNvPr id="14" name="TextBox 13"/>
            <p:cNvSpPr txBox="1"/>
            <p:nvPr/>
          </p:nvSpPr>
          <p:spPr>
            <a:xfrm>
              <a:off x="1371600" y="2834640"/>
              <a:ext cx="5303520" cy="411480"/>
            </a:xfrm>
            <a:prstGeom prst="rect">
              <a:avLst/>
            </a:prstGeom>
            <a:noFill/>
          </p:spPr>
          <p:txBody>
            <a:bodyPr wrap="square" lIns="0" tIns="0" rIns="0" bIns="0" anchor="ctr">
              <a:noAutofit/>
            </a:bodyPr>
            <a:lstStyle/>
            <a:p>
              <a:pPr algn="l"/>
              <a:r>
                <a:rPr sz="2000" b="0" i="0" lang="en-GB">
                  <a:solidFill>
                    <a:srgbClr val="F2F2F2"/>
                  </a:solidFill>
                  <a:latin typeface="Arial"/>
                </a:rPr>
                <a:t>Later: better semaphore or interlocking</a:t>
              </a:r>
            </a:p>
          </p:txBody>
        </p:sp>
        <p:sp>
          <p:nvSpPr>
            <p:cNvPr id="15" name="Inline chip Proposed"/>
            <p:cNvSpPr/>
            <p:nvPr/>
          </p:nvSpPr>
          <p:spPr>
            <a:xfrm>
              <a:off x="1371600" y="329184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6" name="Oval 15"/>
            <p:cNvSpPr/>
            <p:nvPr/>
          </p:nvSpPr>
          <p:spPr>
            <a:xfrm>
              <a:off x="768096" y="4151376"/>
              <a:ext cx="384048" cy="384048"/>
            </a:xfrm>
            <a:prstGeom prst="ellipse">
              <a:avLst/>
            </a:prstGeom>
            <a:solidFill>
              <a:srgbClr val="1E2126"/>
            </a:solidFill>
            <a:ln w="38100">
              <a:solidFill>
                <a:srgbClr val="F28C28"/>
              </a:solidFill>
            </a:ln>
          </p:spPr>
          <p:txBody>
            <a:bodyPr rtlCol="0" anchor="ctr"/>
            <a:lstStyle/>
            <a:p>
              <a:pPr algn="ctr"/>
            </a:p>
          </p:txBody>
        </p:sp>
        <p:sp>
          <p:nvSpPr>
            <p:cNvPr id="17" name="TextBox 16"/>
            <p:cNvSpPr txBox="1"/>
            <p:nvPr/>
          </p:nvSpPr>
          <p:spPr>
            <a:xfrm>
              <a:off x="1371600" y="4114800"/>
              <a:ext cx="5303520" cy="411480"/>
            </a:xfrm>
            <a:prstGeom prst="rect">
              <a:avLst/>
            </a:prstGeom>
            <a:noFill/>
          </p:spPr>
          <p:txBody>
            <a:bodyPr wrap="square" lIns="0" tIns="0" rIns="0" bIns="0" anchor="ctr">
              <a:noAutofit/>
            </a:bodyPr>
            <a:lstStyle/>
            <a:p>
              <a:pPr algn="l"/>
              <a:r>
                <a:rPr sz="2000" b="0" i="0" lang="en-GB">
                  <a:solidFill>
                    <a:srgbClr val="F2F2F2"/>
                  </a:solidFill>
                  <a:latin typeface="Arial"/>
                </a:rPr>
                <a:t>Mature: electronic signals like vanilla</a:t>
              </a:r>
            </a:p>
          </p:txBody>
        </p:sp>
        <p:sp>
          <p:nvSpPr>
            <p:cNvPr id="18" name="Inline chip Proposed"/>
            <p:cNvSpPr/>
            <p:nvPr/>
          </p:nvSpPr>
          <p:spPr>
            <a:xfrm>
              <a:off x="1371600" y="457200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grpSp>
        <p:nvGrpSpPr>
          <p:cNvPr id="19" name="Track diagram panel" descr="A dark track-diagram panel with mode buttons AUTO, YARD and MAINLINE. Lines and nodes show the network; the chosen route is bright orange and the other routes are grey."/>
          <p:cNvGrpSpPr/>
          <p:nvPr/>
        </p:nvGrpSpPr>
        <p:grpSpPr>
          <a:xfrm>
            <a:off x="7616952" y="1325880"/>
            <a:ext cx="4023360" cy="3017520"/>
            <a:chOff x="7616952" y="1325880"/>
            <a:chExt cx="4023360" cy="3017520"/>
          </a:xfrm>
        </p:grpSpPr>
        <p:sp>
          <p:nvSpPr>
            <p:cNvPr id="20" name="Rounded Rectangle 19"/>
            <p:cNvSpPr/>
            <p:nvPr/>
          </p:nvSpPr>
          <p:spPr>
            <a:xfrm>
              <a:off x="7616952" y="1325880"/>
              <a:ext cx="4023360" cy="3017520"/>
            </a:xfrm>
            <a:prstGeom prst="roundRect">
              <a:avLst>
                <a:gd name="adj" fmla="val 3636"/>
              </a:avLst>
            </a:prstGeom>
            <a:solidFill>
              <a:srgbClr val="1B1D21"/>
            </a:solidFill>
            <a:ln w="19050">
              <a:solidFill>
                <a:srgbClr val="9AA0A6"/>
              </a:solidFill>
            </a:ln>
          </p:spPr>
          <p:txBody>
            <a:bodyPr rtlCol="0" anchor="ctr"/>
            <a:lstStyle/>
            <a:p>
              <a:pPr algn="ctr"/>
            </a:p>
          </p:txBody>
        </p:sp>
        <p:sp>
          <p:nvSpPr>
            <p:cNvPr id="21" name="Rounded Rectangle 20"/>
            <p:cNvSpPr/>
            <p:nvPr/>
          </p:nvSpPr>
          <p:spPr>
            <a:xfrm>
              <a:off x="7845552" y="1508760"/>
              <a:ext cx="867360" cy="329184"/>
            </a:xfrm>
            <a:prstGeom prst="roundRect">
              <a:avLst>
                <a:gd name="adj" fmla="val 50000"/>
              </a:avLst>
            </a:prstGeom>
            <a:solidFill>
              <a:srgbClr val="343A43"/>
            </a:solidFill>
            <a:ln w="19050">
              <a:solidFill>
                <a:srgbClr val="9AA0A6"/>
              </a:solidFill>
            </a:ln>
          </p:spPr>
          <p:txBody>
            <a:bodyPr rtlCol="0" anchor="ctr" wrap="square" lIns="54864" tIns="18288" rIns="54864" bIns="18288">
              <a:noAutofit/>
            </a:bodyPr>
            <a:lstStyle/>
            <a:p>
              <a:pPr algn="ctr"/>
              <a:r>
                <a:rPr sz="1400" b="1" i="0" lang="en-GB">
                  <a:solidFill>
                    <a:srgbClr val="F2F2F2"/>
                  </a:solidFill>
                  <a:latin typeface="Arial"/>
                </a:rPr>
                <a:t>AUTO</a:t>
              </a:r>
            </a:p>
          </p:txBody>
        </p:sp>
        <p:sp>
          <p:nvSpPr>
            <p:cNvPr id="22" name="Rounded Rectangle 21"/>
            <p:cNvSpPr/>
            <p:nvPr/>
          </p:nvSpPr>
          <p:spPr>
            <a:xfrm>
              <a:off x="8822640" y="1508760"/>
              <a:ext cx="863987" cy="329184"/>
            </a:xfrm>
            <a:prstGeom prst="roundRect">
              <a:avLst>
                <a:gd name="adj" fmla="val 50000"/>
              </a:avLst>
            </a:prstGeom>
            <a:solidFill>
              <a:srgbClr val="343A43"/>
            </a:solidFill>
            <a:ln w="19050">
              <a:solidFill>
                <a:srgbClr val="9AA0A6"/>
              </a:solidFill>
            </a:ln>
          </p:spPr>
          <p:txBody>
            <a:bodyPr rtlCol="0" anchor="ctr" wrap="square" lIns="54864" tIns="18288" rIns="54864" bIns="18288">
              <a:noAutofit/>
            </a:bodyPr>
            <a:lstStyle/>
            <a:p>
              <a:pPr algn="ctr"/>
              <a:r>
                <a:rPr sz="1400" b="1" i="0" lang="en-GB">
                  <a:solidFill>
                    <a:srgbClr val="F2F2F2"/>
                  </a:solidFill>
                  <a:latin typeface="Arial"/>
                </a:rPr>
                <a:t>YARD</a:t>
              </a:r>
            </a:p>
          </p:txBody>
        </p:sp>
        <p:sp>
          <p:nvSpPr>
            <p:cNvPr id="23" name="Rounded Rectangle 22"/>
            <p:cNvSpPr/>
            <p:nvPr/>
          </p:nvSpPr>
          <p:spPr>
            <a:xfrm>
              <a:off x="9796355" y="1508760"/>
              <a:ext cx="1223010" cy="329184"/>
            </a:xfrm>
            <a:prstGeom prst="roundRect">
              <a:avLst>
                <a:gd name="adj" fmla="val 50000"/>
              </a:avLst>
            </a:prstGeom>
            <a:solidFill>
              <a:srgbClr val="343A43"/>
            </a:solidFill>
            <a:ln w="19050">
              <a:solidFill>
                <a:srgbClr val="9AA0A6"/>
              </a:solidFill>
            </a:ln>
          </p:spPr>
          <p:txBody>
            <a:bodyPr rtlCol="0" anchor="ctr" wrap="square" lIns="54864" tIns="18288" rIns="54864" bIns="18288">
              <a:noAutofit/>
            </a:bodyPr>
            <a:lstStyle/>
            <a:p>
              <a:pPr algn="ctr"/>
              <a:r>
                <a:rPr sz="1400" b="1" i="0" lang="en-GB">
                  <a:solidFill>
                    <a:srgbClr val="F2F2F2"/>
                  </a:solidFill>
                  <a:latin typeface="Arial"/>
                </a:rPr>
                <a:t>MAINLINE</a:t>
              </a:r>
            </a:p>
          </p:txBody>
        </p:sp>
        <p:cxnSp>
          <p:nvCxnSpPr>
            <p:cNvPr id="24" name="Connector 23"/>
            <p:cNvCxnSpPr/>
            <p:nvPr/>
          </p:nvCxnSpPr>
          <p:spPr>
            <a:xfrm>
              <a:off x="9034272" y="3154680"/>
              <a:ext cx="1097280" cy="0"/>
            </a:xfrm>
            <a:prstGeom prst="line">
              <a:avLst/>
            </a:prstGeom>
            <a:ln w="63500">
              <a:solidFill>
                <a:srgbClr val="4A515B"/>
              </a:solidFill>
            </a:ln>
          </p:spPr>
        </p:cxnSp>
        <p:cxnSp>
          <p:nvCxnSpPr>
            <p:cNvPr id="25" name="Connector 24"/>
            <p:cNvCxnSpPr/>
            <p:nvPr/>
          </p:nvCxnSpPr>
          <p:spPr>
            <a:xfrm>
              <a:off x="10131552" y="3154680"/>
              <a:ext cx="1097280" cy="0"/>
            </a:xfrm>
            <a:prstGeom prst="line">
              <a:avLst/>
            </a:prstGeom>
            <a:ln w="63500">
              <a:solidFill>
                <a:srgbClr val="4A515B"/>
              </a:solidFill>
            </a:ln>
          </p:spPr>
        </p:cxnSp>
        <p:cxnSp>
          <p:nvCxnSpPr>
            <p:cNvPr id="26" name="Connector 25"/>
            <p:cNvCxnSpPr/>
            <p:nvPr/>
          </p:nvCxnSpPr>
          <p:spPr>
            <a:xfrm>
              <a:off x="10131552" y="3154680"/>
              <a:ext cx="1097280" cy="731520"/>
            </a:xfrm>
            <a:prstGeom prst="line">
              <a:avLst/>
            </a:prstGeom>
            <a:ln w="63500">
              <a:solidFill>
                <a:srgbClr val="4A515B"/>
              </a:solidFill>
            </a:ln>
          </p:spPr>
        </p:cxnSp>
        <p:cxnSp>
          <p:nvCxnSpPr>
            <p:cNvPr id="27" name="Connector 26"/>
            <p:cNvCxnSpPr/>
            <p:nvPr/>
          </p:nvCxnSpPr>
          <p:spPr>
            <a:xfrm>
              <a:off x="8028432" y="3154680"/>
              <a:ext cx="1005840" cy="0"/>
            </a:xfrm>
            <a:prstGeom prst="line">
              <a:avLst/>
            </a:prstGeom>
            <a:ln w="76200">
              <a:solidFill>
                <a:srgbClr val="F28C28"/>
              </a:solidFill>
            </a:ln>
          </p:spPr>
        </p:cxnSp>
        <p:cxnSp>
          <p:nvCxnSpPr>
            <p:cNvPr id="28" name="Connector 27"/>
            <p:cNvCxnSpPr/>
            <p:nvPr/>
          </p:nvCxnSpPr>
          <p:spPr>
            <a:xfrm flipV="1">
              <a:off x="9034272" y="2423160"/>
              <a:ext cx="1097280" cy="731520"/>
            </a:xfrm>
            <a:prstGeom prst="line">
              <a:avLst/>
            </a:prstGeom>
            <a:ln w="76200">
              <a:solidFill>
                <a:srgbClr val="F28C28"/>
              </a:solidFill>
            </a:ln>
          </p:spPr>
        </p:cxnSp>
        <p:cxnSp>
          <p:nvCxnSpPr>
            <p:cNvPr id="29" name="Connector 28"/>
            <p:cNvCxnSpPr/>
            <p:nvPr/>
          </p:nvCxnSpPr>
          <p:spPr>
            <a:xfrm>
              <a:off x="10131552" y="2423160"/>
              <a:ext cx="1097280" cy="0"/>
            </a:xfrm>
            <a:prstGeom prst="line">
              <a:avLst/>
            </a:prstGeom>
            <a:ln w="76200">
              <a:solidFill>
                <a:srgbClr val="F28C28"/>
              </a:solidFill>
            </a:ln>
          </p:spPr>
        </p:cxnSp>
        <p:sp>
          <p:nvSpPr>
            <p:cNvPr id="30" name="Oval 29"/>
            <p:cNvSpPr/>
            <p:nvPr/>
          </p:nvSpPr>
          <p:spPr>
            <a:xfrm>
              <a:off x="7918704" y="3044952"/>
              <a:ext cx="219456" cy="219456"/>
            </a:xfrm>
            <a:prstGeom prst="ellipse">
              <a:avLst/>
            </a:prstGeom>
            <a:solidFill>
              <a:srgbClr val="F2F2F2"/>
            </a:solidFill>
            <a:ln w="12700">
              <a:solidFill>
                <a:srgbClr val="1B1D21"/>
              </a:solidFill>
            </a:ln>
          </p:spPr>
          <p:txBody>
            <a:bodyPr rtlCol="0" anchor="ctr"/>
            <a:lstStyle/>
            <a:p>
              <a:pPr algn="ctr"/>
            </a:p>
          </p:txBody>
        </p:sp>
        <p:sp>
          <p:nvSpPr>
            <p:cNvPr id="31" name="Oval 30"/>
            <p:cNvSpPr/>
            <p:nvPr/>
          </p:nvSpPr>
          <p:spPr>
            <a:xfrm>
              <a:off x="8924544" y="3044952"/>
              <a:ext cx="219456" cy="219456"/>
            </a:xfrm>
            <a:prstGeom prst="ellipse">
              <a:avLst/>
            </a:prstGeom>
            <a:solidFill>
              <a:srgbClr val="F2F2F2"/>
            </a:solidFill>
            <a:ln w="12700">
              <a:solidFill>
                <a:srgbClr val="1B1D21"/>
              </a:solidFill>
            </a:ln>
          </p:spPr>
          <p:txBody>
            <a:bodyPr rtlCol="0" anchor="ctr"/>
            <a:lstStyle/>
            <a:p>
              <a:pPr algn="ctr"/>
            </a:p>
          </p:txBody>
        </p:sp>
        <p:sp>
          <p:nvSpPr>
            <p:cNvPr id="32" name="Oval 31"/>
            <p:cNvSpPr/>
            <p:nvPr/>
          </p:nvSpPr>
          <p:spPr>
            <a:xfrm>
              <a:off x="10021824" y="2313432"/>
              <a:ext cx="219456" cy="219456"/>
            </a:xfrm>
            <a:prstGeom prst="ellipse">
              <a:avLst/>
            </a:prstGeom>
            <a:solidFill>
              <a:srgbClr val="F2F2F2"/>
            </a:solidFill>
            <a:ln w="12700">
              <a:solidFill>
                <a:srgbClr val="1B1D21"/>
              </a:solidFill>
            </a:ln>
          </p:spPr>
          <p:txBody>
            <a:bodyPr rtlCol="0" anchor="ctr"/>
            <a:lstStyle/>
            <a:p>
              <a:pPr algn="ctr"/>
            </a:p>
          </p:txBody>
        </p:sp>
        <p:sp>
          <p:nvSpPr>
            <p:cNvPr id="33" name="Oval 32"/>
            <p:cNvSpPr/>
            <p:nvPr/>
          </p:nvSpPr>
          <p:spPr>
            <a:xfrm>
              <a:off x="11119104" y="2313432"/>
              <a:ext cx="219456" cy="219456"/>
            </a:xfrm>
            <a:prstGeom prst="ellipse">
              <a:avLst/>
            </a:prstGeom>
            <a:solidFill>
              <a:srgbClr val="F2F2F2"/>
            </a:solidFill>
            <a:ln w="12700">
              <a:solidFill>
                <a:srgbClr val="1B1D21"/>
              </a:solidFill>
            </a:ln>
          </p:spPr>
          <p:txBody>
            <a:bodyPr rtlCol="0" anchor="ctr"/>
            <a:lstStyle/>
            <a:p>
              <a:pPr algn="ctr"/>
            </a:p>
          </p:txBody>
        </p:sp>
        <p:sp>
          <p:nvSpPr>
            <p:cNvPr id="34" name="Oval 33"/>
            <p:cNvSpPr/>
            <p:nvPr/>
          </p:nvSpPr>
          <p:spPr>
            <a:xfrm>
              <a:off x="10021824" y="3044952"/>
              <a:ext cx="219456" cy="219456"/>
            </a:xfrm>
            <a:prstGeom prst="ellipse">
              <a:avLst/>
            </a:prstGeom>
            <a:solidFill>
              <a:srgbClr val="F2F2F2"/>
            </a:solidFill>
            <a:ln w="12700">
              <a:solidFill>
                <a:srgbClr val="1B1D21"/>
              </a:solidFill>
            </a:ln>
          </p:spPr>
          <p:txBody>
            <a:bodyPr rtlCol="0" anchor="ctr"/>
            <a:lstStyle/>
            <a:p>
              <a:pPr algn="ctr"/>
            </a:p>
          </p:txBody>
        </p:sp>
        <p:sp>
          <p:nvSpPr>
            <p:cNvPr id="35" name="Oval 34"/>
            <p:cNvSpPr/>
            <p:nvPr/>
          </p:nvSpPr>
          <p:spPr>
            <a:xfrm>
              <a:off x="11119104" y="3044952"/>
              <a:ext cx="219456" cy="219456"/>
            </a:xfrm>
            <a:prstGeom prst="ellipse">
              <a:avLst/>
            </a:prstGeom>
            <a:solidFill>
              <a:srgbClr val="F2F2F2"/>
            </a:solidFill>
            <a:ln w="12700">
              <a:solidFill>
                <a:srgbClr val="1B1D21"/>
              </a:solidFill>
            </a:ln>
          </p:spPr>
          <p:txBody>
            <a:bodyPr rtlCol="0" anchor="ctr"/>
            <a:lstStyle/>
            <a:p>
              <a:pPr algn="ctr"/>
            </a:p>
          </p:txBody>
        </p:sp>
        <p:sp>
          <p:nvSpPr>
            <p:cNvPr id="36" name="Oval 35"/>
            <p:cNvSpPr/>
            <p:nvPr/>
          </p:nvSpPr>
          <p:spPr>
            <a:xfrm>
              <a:off x="11119104" y="3776472"/>
              <a:ext cx="219456" cy="219456"/>
            </a:xfrm>
            <a:prstGeom prst="ellipse">
              <a:avLst/>
            </a:prstGeom>
            <a:solidFill>
              <a:srgbClr val="F2F2F2"/>
            </a:solidFill>
            <a:ln w="12700">
              <a:solidFill>
                <a:srgbClr val="1B1D21"/>
              </a:solidFill>
            </a:ln>
          </p:spPr>
          <p:txBody>
            <a:bodyPr rtlCol="0" anchor="ctr"/>
            <a:lstStyle/>
            <a:p>
              <a:pPr algn="ctr"/>
            </a:p>
          </p:txBody>
        </p:sp>
        <p:sp>
          <p:nvSpPr>
            <p:cNvPr id="37" name="Freeform 36"/>
            <p:cNvSpPr/>
            <p:nvPr/>
          </p:nvSpPr>
          <p:spPr>
            <a:xfrm>
              <a:off x="7918704" y="2862072"/>
              <a:ext cx="219456" cy="146304"/>
            </a:xfrm>
            <a:custGeom>
              <a:avLst/>
              <a:gdLst/>
              <a:ahLst/>
              <a:cxnLst/>
              <a:rect l="l" t="t" r="r" b="b"/>
              <a:pathLst>
                <a:path w="219456" h="146304">
                  <a:moveTo>
                    <a:pt x="0" y="0"/>
                  </a:moveTo>
                  <a:lnTo>
                    <a:pt x="219456" y="0"/>
                  </a:lnTo>
                  <a:lnTo>
                    <a:pt x="109728" y="146304"/>
                  </a:lnTo>
                  <a:close/>
                </a:path>
              </a:pathLst>
            </a:custGeom>
            <a:solidFill>
              <a:srgbClr val="F28C28"/>
            </a:solidFill>
            <a:ln>
              <a:noFill/>
            </a:ln>
          </p:spPr>
          <p:txBody>
            <a:bodyPr rtlCol="0" anchor="ctr"/>
            <a:lstStyle/>
            <a:p>
              <a:pPr algn="ctr"/>
            </a:p>
          </p:txBody>
        </p:sp>
      </p:grpSp>
      <p:sp>
        <p:nvSpPr>
          <p:cNvPr id="38" name="TextBox 37"/>
          <p:cNvSpPr txBox="1"/>
          <p:nvPr/>
        </p:nvSpPr>
        <p:spPr>
          <a:xfrm>
            <a:off x="7616952" y="4434840"/>
            <a:ext cx="4023360" cy="566928"/>
          </a:xfrm>
          <a:prstGeom prst="rect">
            <a:avLst/>
          </a:prstGeom>
          <a:noFill/>
        </p:spPr>
        <p:txBody>
          <a:bodyPr wrap="square" lIns="0" tIns="0" rIns="0" bIns="0" anchor="t">
            <a:noAutofit/>
          </a:bodyPr>
          <a:lstStyle/>
          <a:p>
            <a:pPr algn="l"/>
            <a:r>
              <a:rPr sz="1800" b="0" i="0" lang="en-GB">
                <a:solidFill>
                  <a:srgbClr val="F2F2F2"/>
                </a:solidFill>
                <a:latin typeface="Arial"/>
              </a:rPr>
              <a:t>Pick a destination and let the game set points:</a:t>
            </a:r>
          </a:p>
        </p:txBody>
      </p:sp>
      <p:sp>
        <p:nvSpPr>
          <p:cNvPr id="39" name="Inline chip Proposed"/>
          <p:cNvSpPr/>
          <p:nvPr/>
        </p:nvSpPr>
        <p:spPr>
          <a:xfrm>
            <a:off x="7616952" y="502920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Better signals come later. Drivers can also set points from a simple track diagram.</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34</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par>
                                <p:cTn id="11" presetID="10" presetClass="entr" presetSubtype="0" fill="hold" nodeType="withEffect">
                                  <p:stCondLst>
                                    <p:cond delay="60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500"/>
                                        <p:tgtEl>
                                          <p:spTgt spid="38"/>
                                        </p:tgtEl>
                                      </p:cBhvr>
                                    </p:animEffect>
                                  </p:childTnLst>
                                </p:cTn>
                              </p:par>
                              <p:par>
                                <p:cTn id="14" presetID="10" presetClass="entr" presetSubtype="0" fill="hold" nodeType="withEffect">
                                  <p:stCondLst>
                                    <p:cond delay="90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500"/>
                                        <p:tgtEl>
                                          <p:spTgt spid="39"/>
                                        </p:tgtEl>
                                      </p:cBhvr>
                                    </p:animEffect>
                                  </p:childTnLst>
                                </p:cTn>
                              </p:par>
                              <p:par>
                                <p:cTn id="17" presetID="10" presetClass="entr" presetSubtype="0" fill="hold" nodeType="withEffect">
                                  <p:stCondLst>
                                    <p:cond delay="120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childTnLst>
                                </p:cTn>
                              </p:par>
                              <p:par>
                                <p:cTn id="20" presetID="10" presetClass="entr" presetSubtype="0" fill="hold" nodeType="withEffect">
                                  <p:stCondLst>
                                    <p:cond delay="15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Upgrading to the monorail</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Right Arrow 7">
            <a:extLst>
              <a:ext uri="{C183D7F6-B498-43B3-948B-1728B52AA6E4}">
                <adec:decorative xmlns:adec="http://schemas.microsoft.com/office/drawing/2017/decorative" val="1"/>
              </a:ext>
            </a:extLst>
          </p:cNvPr>
          <p:cNvSpPr/>
          <p:nvPr/>
        </p:nvSpPr>
        <p:spPr>
          <a:xfrm>
            <a:off x="4041648" y="2743200"/>
            <a:ext cx="274320" cy="365760"/>
          </a:xfrm>
          <a:prstGeom prst="rightArrow">
            <a:avLst/>
          </a:prstGeom>
          <a:solidFill>
            <a:srgbClr val="F28C28"/>
          </a:solidFill>
          <a:ln>
            <a:noFill/>
          </a:ln>
        </p:spPr>
        <p:txBody>
          <a:bodyPr rtlCol="0" anchor="ctr"/>
          <a:lstStyle/>
          <a:p>
            <a:pPr algn="ctr"/>
          </a:p>
        </p:txBody>
      </p:sp>
      <p:sp>
        <p:nvSpPr>
          <p:cNvPr id="9" name="Right Arrow 8">
            <a:extLst>
              <a:ext uri="{C183D7F6-B498-43B3-948B-1728B52AA6E4}">
                <adec:decorative xmlns:adec="http://schemas.microsoft.com/office/drawing/2017/decorative" val="1"/>
              </a:ext>
            </a:extLst>
          </p:cNvPr>
          <p:cNvSpPr/>
          <p:nvPr/>
        </p:nvSpPr>
        <p:spPr>
          <a:xfrm>
            <a:off x="7872984" y="2743200"/>
            <a:ext cx="274320" cy="365760"/>
          </a:xfrm>
          <a:prstGeom prst="rightArrow">
            <a:avLst/>
          </a:prstGeom>
          <a:solidFill>
            <a:srgbClr val="F28C28"/>
          </a:solidFill>
          <a:ln>
            <a:noFill/>
          </a:ln>
        </p:spPr>
        <p:txBody>
          <a:bodyPr rtlCol="0" anchor="ctr"/>
          <a:lstStyle/>
          <a:p>
            <a:pPr algn="ctr"/>
          </a:p>
        </p:txBody>
      </p:sp>
      <p:grpSp>
        <p:nvGrpSpPr>
          <p:cNvPr id="10" name="Before" descr="Before: a steam route with a branch, all two-rail steam track, stations as circles."/>
          <p:cNvGrpSpPr/>
          <p:nvPr/>
        </p:nvGrpSpPr>
        <p:grpSpPr>
          <a:xfrm>
            <a:off x="548640" y="1371600"/>
            <a:ext cx="3429000" cy="3520440"/>
            <a:chOff x="548640" y="1371600"/>
            <a:chExt cx="3429000" cy="3520440"/>
          </a:xfrm>
        </p:grpSpPr>
        <p:sp>
          <p:nvSpPr>
            <p:cNvPr id="11" name="Rounded Rectangle 10"/>
            <p:cNvSpPr/>
            <p:nvPr/>
          </p:nvSpPr>
          <p:spPr>
            <a:xfrm>
              <a:off x="548640" y="1371600"/>
              <a:ext cx="3429000" cy="3520440"/>
            </a:xfrm>
            <a:prstGeom prst="roundRect">
              <a:avLst>
                <a:gd name="adj" fmla="val 2666"/>
              </a:avLst>
            </a:prstGeom>
            <a:solidFill>
              <a:srgbClr val="2B2F36"/>
            </a:solidFill>
            <a:ln>
              <a:noFill/>
            </a:ln>
          </p:spPr>
          <p:txBody>
            <a:bodyPr rtlCol="0" anchor="ctr"/>
            <a:lstStyle/>
            <a:p>
              <a:pPr algn="ctr"/>
            </a:p>
          </p:txBody>
        </p:sp>
        <p:sp>
          <p:nvSpPr>
            <p:cNvPr id="12" name="TextBox 11"/>
            <p:cNvSpPr txBox="1"/>
            <p:nvPr/>
          </p:nvSpPr>
          <p:spPr>
            <a:xfrm>
              <a:off x="731520" y="1481328"/>
              <a:ext cx="2286000" cy="384048"/>
            </a:xfrm>
            <a:prstGeom prst="rect">
              <a:avLst/>
            </a:prstGeom>
            <a:noFill/>
          </p:spPr>
          <p:txBody>
            <a:bodyPr wrap="square" lIns="0" tIns="0" rIns="0" bIns="0" anchor="t">
              <a:noAutofit/>
            </a:bodyPr>
            <a:lstStyle/>
            <a:p>
              <a:pPr algn="l"/>
              <a:r>
                <a:rPr sz="2000" b="1" i="0" lang="en-GB">
                  <a:solidFill>
                    <a:srgbClr val="F2F2F2"/>
                  </a:solidFill>
                  <a:latin typeface="Arial"/>
                </a:rPr>
                <a:t>Before</a:t>
              </a:r>
            </a:p>
          </p:txBody>
        </p:sp>
        <p:cxnSp>
          <p:nvCxnSpPr>
            <p:cNvPr id="13" name="Connector 12"/>
            <p:cNvCxnSpPr/>
            <p:nvPr/>
          </p:nvCxnSpPr>
          <p:spPr>
            <a:xfrm>
              <a:off x="960120" y="2980944"/>
              <a:ext cx="1188720" cy="0"/>
            </a:xfrm>
            <a:prstGeom prst="line">
              <a:avLst/>
            </a:prstGeom>
            <a:ln w="28575">
              <a:solidFill>
                <a:srgbClr val="F28C28"/>
              </a:solidFill>
            </a:ln>
          </p:spPr>
        </p:cxnSp>
        <p:cxnSp>
          <p:nvCxnSpPr>
            <p:cNvPr id="14" name="Connector 13"/>
            <p:cNvCxnSpPr/>
            <p:nvPr/>
          </p:nvCxnSpPr>
          <p:spPr>
            <a:xfrm>
              <a:off x="960120" y="2871216"/>
              <a:ext cx="1188720" cy="0"/>
            </a:xfrm>
            <a:prstGeom prst="line">
              <a:avLst/>
            </a:prstGeom>
            <a:ln w="28575">
              <a:solidFill>
                <a:srgbClr val="F28C28"/>
              </a:solidFill>
            </a:ln>
          </p:spPr>
        </p:cxnSp>
        <p:cxnSp>
          <p:nvCxnSpPr>
            <p:cNvPr id="15" name="Connector 14"/>
            <p:cNvCxnSpPr/>
            <p:nvPr/>
          </p:nvCxnSpPr>
          <p:spPr>
            <a:xfrm>
              <a:off x="2148840" y="2980944"/>
              <a:ext cx="1417320" cy="0"/>
            </a:xfrm>
            <a:prstGeom prst="line">
              <a:avLst/>
            </a:prstGeom>
            <a:ln w="28575">
              <a:solidFill>
                <a:srgbClr val="F28C28"/>
              </a:solidFill>
            </a:ln>
          </p:spPr>
        </p:cxnSp>
        <p:cxnSp>
          <p:nvCxnSpPr>
            <p:cNvPr id="16" name="Connector 15"/>
            <p:cNvCxnSpPr/>
            <p:nvPr/>
          </p:nvCxnSpPr>
          <p:spPr>
            <a:xfrm>
              <a:off x="2148840" y="2871216"/>
              <a:ext cx="1417320" cy="0"/>
            </a:xfrm>
            <a:prstGeom prst="line">
              <a:avLst/>
            </a:prstGeom>
            <a:ln w="28575">
              <a:solidFill>
                <a:srgbClr val="F28C28"/>
              </a:solidFill>
            </a:ln>
          </p:spPr>
        </p:cxnSp>
        <p:cxnSp>
          <p:nvCxnSpPr>
            <p:cNvPr id="17" name="Connector 16"/>
            <p:cNvCxnSpPr/>
            <p:nvPr/>
          </p:nvCxnSpPr>
          <p:spPr>
            <a:xfrm>
              <a:off x="2116571" y="2970450"/>
              <a:ext cx="1005840" cy="731520"/>
            </a:xfrm>
            <a:prstGeom prst="line">
              <a:avLst/>
            </a:prstGeom>
            <a:ln w="28575">
              <a:solidFill>
                <a:srgbClr val="F28C28"/>
              </a:solidFill>
            </a:ln>
          </p:spPr>
        </p:cxnSp>
        <p:cxnSp>
          <p:nvCxnSpPr>
            <p:cNvPr id="18" name="Connector 17"/>
            <p:cNvCxnSpPr/>
            <p:nvPr/>
          </p:nvCxnSpPr>
          <p:spPr>
            <a:xfrm>
              <a:off x="2181109" y="2881710"/>
              <a:ext cx="1005840" cy="731520"/>
            </a:xfrm>
            <a:prstGeom prst="line">
              <a:avLst/>
            </a:prstGeom>
            <a:ln w="28575">
              <a:solidFill>
                <a:srgbClr val="F28C28"/>
              </a:solidFill>
            </a:ln>
          </p:spPr>
        </p:cxnSp>
        <p:sp>
          <p:nvSpPr>
            <p:cNvPr id="19" name="Oval 18"/>
            <p:cNvSpPr/>
            <p:nvPr/>
          </p:nvSpPr>
          <p:spPr>
            <a:xfrm>
              <a:off x="822960" y="2788920"/>
              <a:ext cx="274320" cy="274320"/>
            </a:xfrm>
            <a:prstGeom prst="ellipse">
              <a:avLst/>
            </a:prstGeom>
            <a:solidFill>
              <a:srgbClr val="1E2126"/>
            </a:solidFill>
            <a:ln w="25400">
              <a:solidFill>
                <a:srgbClr val="F2F2F2"/>
              </a:solidFill>
            </a:ln>
          </p:spPr>
          <p:txBody>
            <a:bodyPr rtlCol="0" anchor="ctr"/>
            <a:lstStyle/>
            <a:p>
              <a:pPr algn="ctr"/>
            </a:p>
          </p:txBody>
        </p:sp>
        <p:sp>
          <p:nvSpPr>
            <p:cNvPr id="20" name="Oval 19"/>
            <p:cNvSpPr/>
            <p:nvPr/>
          </p:nvSpPr>
          <p:spPr>
            <a:xfrm>
              <a:off x="2011680" y="2788920"/>
              <a:ext cx="274320" cy="274320"/>
            </a:xfrm>
            <a:prstGeom prst="ellipse">
              <a:avLst/>
            </a:prstGeom>
            <a:solidFill>
              <a:srgbClr val="1E2126"/>
            </a:solidFill>
            <a:ln w="25400">
              <a:solidFill>
                <a:srgbClr val="F2F2F2"/>
              </a:solidFill>
            </a:ln>
          </p:spPr>
          <p:txBody>
            <a:bodyPr rtlCol="0" anchor="ctr"/>
            <a:lstStyle/>
            <a:p>
              <a:pPr algn="ctr"/>
            </a:p>
          </p:txBody>
        </p:sp>
        <p:sp>
          <p:nvSpPr>
            <p:cNvPr id="21" name="Oval 20"/>
            <p:cNvSpPr/>
            <p:nvPr/>
          </p:nvSpPr>
          <p:spPr>
            <a:xfrm>
              <a:off x="3429000" y="2788920"/>
              <a:ext cx="274320" cy="274320"/>
            </a:xfrm>
            <a:prstGeom prst="ellipse">
              <a:avLst/>
            </a:prstGeom>
            <a:solidFill>
              <a:srgbClr val="1E2126"/>
            </a:solidFill>
            <a:ln w="25400">
              <a:solidFill>
                <a:srgbClr val="F2F2F2"/>
              </a:solidFill>
            </a:ln>
          </p:spPr>
          <p:txBody>
            <a:bodyPr rtlCol="0" anchor="ctr"/>
            <a:lstStyle/>
            <a:p>
              <a:pPr algn="ctr"/>
            </a:p>
          </p:txBody>
        </p:sp>
        <p:sp>
          <p:nvSpPr>
            <p:cNvPr id="22" name="Oval 21"/>
            <p:cNvSpPr/>
            <p:nvPr/>
          </p:nvSpPr>
          <p:spPr>
            <a:xfrm>
              <a:off x="3017520" y="3520440"/>
              <a:ext cx="274320" cy="274320"/>
            </a:xfrm>
            <a:prstGeom prst="ellipse">
              <a:avLst/>
            </a:prstGeom>
            <a:solidFill>
              <a:srgbClr val="1E2126"/>
            </a:solidFill>
            <a:ln w="25400">
              <a:solidFill>
                <a:srgbClr val="F2F2F2"/>
              </a:solidFill>
            </a:ln>
          </p:spPr>
          <p:txBody>
            <a:bodyPr rtlCol="0" anchor="ctr"/>
            <a:lstStyle/>
            <a:p>
              <a:pPr algn="ctr"/>
            </a:p>
          </p:txBody>
        </p:sp>
      </p:grpSp>
      <p:grpSp>
        <p:nvGrpSpPr>
          <p:cNvPr id="23" name="Upgrade" descr="Upgrade: one section shows a translucent blue hologram of monorail with small pylons, and an amber warning that steam trains cannot use this section (proposed)."/>
          <p:cNvGrpSpPr/>
          <p:nvPr/>
        </p:nvGrpSpPr>
        <p:grpSpPr>
          <a:xfrm>
            <a:off x="4379976" y="1371600"/>
            <a:ext cx="3429000" cy="3520440"/>
            <a:chOff x="4379976" y="1371600"/>
            <a:chExt cx="3429000" cy="3520440"/>
          </a:xfrm>
        </p:grpSpPr>
        <p:sp>
          <p:nvSpPr>
            <p:cNvPr id="24" name="Rounded Rectangle 23"/>
            <p:cNvSpPr/>
            <p:nvPr/>
          </p:nvSpPr>
          <p:spPr>
            <a:xfrm>
              <a:off x="4379976" y="1371600"/>
              <a:ext cx="3429000" cy="3520440"/>
            </a:xfrm>
            <a:prstGeom prst="roundRect">
              <a:avLst>
                <a:gd name="adj" fmla="val 2666"/>
              </a:avLst>
            </a:prstGeom>
            <a:solidFill>
              <a:srgbClr val="2B2F36"/>
            </a:solidFill>
            <a:ln>
              <a:noFill/>
            </a:ln>
          </p:spPr>
          <p:txBody>
            <a:bodyPr rtlCol="0" anchor="ctr"/>
            <a:lstStyle/>
            <a:p>
              <a:pPr algn="ctr"/>
            </a:p>
          </p:txBody>
        </p:sp>
        <p:sp>
          <p:nvSpPr>
            <p:cNvPr id="25" name="TextBox 24"/>
            <p:cNvSpPr txBox="1"/>
            <p:nvPr/>
          </p:nvSpPr>
          <p:spPr>
            <a:xfrm>
              <a:off x="4562856" y="1481328"/>
              <a:ext cx="2286000" cy="384048"/>
            </a:xfrm>
            <a:prstGeom prst="rect">
              <a:avLst/>
            </a:prstGeom>
            <a:noFill/>
          </p:spPr>
          <p:txBody>
            <a:bodyPr wrap="square" lIns="0" tIns="0" rIns="0" bIns="0" anchor="t">
              <a:noAutofit/>
            </a:bodyPr>
            <a:lstStyle/>
            <a:p>
              <a:pPr algn="l"/>
              <a:r>
                <a:rPr sz="2000" b="1" i="0" lang="en-GB">
                  <a:solidFill>
                    <a:srgbClr val="F2F2F2"/>
                  </a:solidFill>
                  <a:latin typeface="Arial"/>
                </a:rPr>
                <a:t>Upgrade</a:t>
              </a:r>
            </a:p>
          </p:txBody>
        </p:sp>
        <p:cxnSp>
          <p:nvCxnSpPr>
            <p:cNvPr id="26" name="Connector 25"/>
            <p:cNvCxnSpPr/>
            <p:nvPr/>
          </p:nvCxnSpPr>
          <p:spPr>
            <a:xfrm>
              <a:off x="4791456" y="2980944"/>
              <a:ext cx="1188720" cy="0"/>
            </a:xfrm>
            <a:prstGeom prst="line">
              <a:avLst/>
            </a:prstGeom>
            <a:ln w="28575">
              <a:solidFill>
                <a:srgbClr val="F28C28"/>
              </a:solidFill>
            </a:ln>
          </p:spPr>
        </p:cxnSp>
        <p:cxnSp>
          <p:nvCxnSpPr>
            <p:cNvPr id="27" name="Connector 26"/>
            <p:cNvCxnSpPr/>
            <p:nvPr/>
          </p:nvCxnSpPr>
          <p:spPr>
            <a:xfrm>
              <a:off x="4791456" y="2871216"/>
              <a:ext cx="1188720" cy="0"/>
            </a:xfrm>
            <a:prstGeom prst="line">
              <a:avLst/>
            </a:prstGeom>
            <a:ln w="28575">
              <a:solidFill>
                <a:srgbClr val="F28C28"/>
              </a:solidFill>
            </a:ln>
          </p:spPr>
        </p:cxnSp>
        <p:cxnSp>
          <p:nvCxnSpPr>
            <p:cNvPr id="28" name="Connector 27"/>
            <p:cNvCxnSpPr/>
            <p:nvPr/>
          </p:nvCxnSpPr>
          <p:spPr>
            <a:xfrm>
              <a:off x="5980176" y="2980944"/>
              <a:ext cx="1417320" cy="0"/>
            </a:xfrm>
            <a:prstGeom prst="line">
              <a:avLst/>
            </a:prstGeom>
            <a:ln w="28575">
              <a:solidFill>
                <a:srgbClr val="F28C28"/>
              </a:solidFill>
            </a:ln>
          </p:spPr>
        </p:cxnSp>
        <p:cxnSp>
          <p:nvCxnSpPr>
            <p:cNvPr id="29" name="Connector 28"/>
            <p:cNvCxnSpPr/>
            <p:nvPr/>
          </p:nvCxnSpPr>
          <p:spPr>
            <a:xfrm>
              <a:off x="5980176" y="2871216"/>
              <a:ext cx="1417320" cy="0"/>
            </a:xfrm>
            <a:prstGeom prst="line">
              <a:avLst/>
            </a:prstGeom>
            <a:ln w="28575">
              <a:solidFill>
                <a:srgbClr val="F28C28"/>
              </a:solidFill>
            </a:ln>
          </p:spPr>
        </p:cxnSp>
        <p:cxnSp>
          <p:nvCxnSpPr>
            <p:cNvPr id="30" name="Connector 29"/>
            <p:cNvCxnSpPr/>
            <p:nvPr/>
          </p:nvCxnSpPr>
          <p:spPr>
            <a:xfrm>
              <a:off x="5947907" y="2970450"/>
              <a:ext cx="1005840" cy="731520"/>
            </a:xfrm>
            <a:prstGeom prst="line">
              <a:avLst/>
            </a:prstGeom>
            <a:ln w="28575">
              <a:solidFill>
                <a:srgbClr val="F28C28"/>
              </a:solidFill>
            </a:ln>
          </p:spPr>
        </p:cxnSp>
        <p:cxnSp>
          <p:nvCxnSpPr>
            <p:cNvPr id="31" name="Connector 30"/>
            <p:cNvCxnSpPr/>
            <p:nvPr/>
          </p:nvCxnSpPr>
          <p:spPr>
            <a:xfrm>
              <a:off x="6012445" y="2881710"/>
              <a:ext cx="1005840" cy="731520"/>
            </a:xfrm>
            <a:prstGeom prst="line">
              <a:avLst/>
            </a:prstGeom>
            <a:ln w="28575">
              <a:solidFill>
                <a:srgbClr val="F28C28"/>
              </a:solidFill>
            </a:ln>
          </p:spPr>
        </p:cxnSp>
        <p:sp>
          <p:nvSpPr>
            <p:cNvPr id="32" name="Rounded Rectangle 31"/>
            <p:cNvSpPr/>
            <p:nvPr/>
          </p:nvSpPr>
          <p:spPr>
            <a:xfrm>
              <a:off x="4700016" y="2770632"/>
              <a:ext cx="1371600" cy="310896"/>
            </a:xfrm>
            <a:prstGeom prst="roundRect">
              <a:avLst>
                <a:gd name="adj" fmla="val 23529"/>
              </a:avLst>
            </a:prstGeom>
            <a:solidFill>
              <a:srgbClr val="455C78"/>
            </a:solidFill>
            <a:ln w="12700">
              <a:solidFill>
                <a:srgbClr val="6CA0DC"/>
              </a:solidFill>
            </a:ln>
          </p:spPr>
          <p:txBody>
            <a:bodyPr rtlCol="0" anchor="ctr"/>
            <a:lstStyle/>
            <a:p>
              <a:pPr algn="ctr"/>
            </a:p>
          </p:txBody>
        </p:sp>
        <p:cxnSp>
          <p:nvCxnSpPr>
            <p:cNvPr id="33" name="Connector 32"/>
            <p:cNvCxnSpPr/>
            <p:nvPr/>
          </p:nvCxnSpPr>
          <p:spPr>
            <a:xfrm flipV="1">
              <a:off x="5065776" y="2514600"/>
              <a:ext cx="0" cy="256032"/>
            </a:xfrm>
            <a:prstGeom prst="line">
              <a:avLst/>
            </a:prstGeom>
            <a:ln w="25400">
              <a:solidFill>
                <a:srgbClr val="6CA0DC"/>
              </a:solidFill>
            </a:ln>
          </p:spPr>
        </p:cxnSp>
        <p:cxnSp>
          <p:nvCxnSpPr>
            <p:cNvPr id="34" name="Connector 33"/>
            <p:cNvCxnSpPr/>
            <p:nvPr/>
          </p:nvCxnSpPr>
          <p:spPr>
            <a:xfrm>
              <a:off x="4974336" y="2514600"/>
              <a:ext cx="182880" cy="0"/>
            </a:xfrm>
            <a:prstGeom prst="line">
              <a:avLst/>
            </a:prstGeom>
            <a:ln w="25400">
              <a:solidFill>
                <a:srgbClr val="6CA0DC"/>
              </a:solidFill>
            </a:ln>
          </p:spPr>
        </p:cxnSp>
        <p:cxnSp>
          <p:nvCxnSpPr>
            <p:cNvPr id="35" name="Connector 34"/>
            <p:cNvCxnSpPr/>
            <p:nvPr/>
          </p:nvCxnSpPr>
          <p:spPr>
            <a:xfrm flipV="1">
              <a:off x="5413248" y="2514600"/>
              <a:ext cx="0" cy="256032"/>
            </a:xfrm>
            <a:prstGeom prst="line">
              <a:avLst/>
            </a:prstGeom>
            <a:ln w="25400">
              <a:solidFill>
                <a:srgbClr val="6CA0DC"/>
              </a:solidFill>
            </a:ln>
          </p:spPr>
        </p:cxnSp>
        <p:cxnSp>
          <p:nvCxnSpPr>
            <p:cNvPr id="36" name="Connector 35"/>
            <p:cNvCxnSpPr/>
            <p:nvPr/>
          </p:nvCxnSpPr>
          <p:spPr>
            <a:xfrm>
              <a:off x="5321808" y="2514600"/>
              <a:ext cx="182880" cy="0"/>
            </a:xfrm>
            <a:prstGeom prst="line">
              <a:avLst/>
            </a:prstGeom>
            <a:ln w="25400">
              <a:solidFill>
                <a:srgbClr val="6CA0DC"/>
              </a:solidFill>
            </a:ln>
          </p:spPr>
        </p:cxnSp>
        <p:cxnSp>
          <p:nvCxnSpPr>
            <p:cNvPr id="37" name="Connector 36"/>
            <p:cNvCxnSpPr/>
            <p:nvPr/>
          </p:nvCxnSpPr>
          <p:spPr>
            <a:xfrm flipV="1">
              <a:off x="5760720" y="2514600"/>
              <a:ext cx="0" cy="256032"/>
            </a:xfrm>
            <a:prstGeom prst="line">
              <a:avLst/>
            </a:prstGeom>
            <a:ln w="25400">
              <a:solidFill>
                <a:srgbClr val="6CA0DC"/>
              </a:solidFill>
            </a:ln>
          </p:spPr>
        </p:cxnSp>
        <p:cxnSp>
          <p:nvCxnSpPr>
            <p:cNvPr id="38" name="Connector 37"/>
            <p:cNvCxnSpPr/>
            <p:nvPr/>
          </p:nvCxnSpPr>
          <p:spPr>
            <a:xfrm>
              <a:off x="5669280" y="2514600"/>
              <a:ext cx="182880" cy="0"/>
            </a:xfrm>
            <a:prstGeom prst="line">
              <a:avLst/>
            </a:prstGeom>
            <a:ln w="25400">
              <a:solidFill>
                <a:srgbClr val="6CA0DC"/>
              </a:solidFill>
            </a:ln>
          </p:spPr>
        </p:cxnSp>
        <p:sp>
          <p:nvSpPr>
            <p:cNvPr id="39" name="Oval 38"/>
            <p:cNvSpPr/>
            <p:nvPr/>
          </p:nvSpPr>
          <p:spPr>
            <a:xfrm>
              <a:off x="4654296" y="2788920"/>
              <a:ext cx="274320" cy="274320"/>
            </a:xfrm>
            <a:prstGeom prst="ellipse">
              <a:avLst/>
            </a:prstGeom>
            <a:solidFill>
              <a:srgbClr val="1E2126"/>
            </a:solidFill>
            <a:ln w="25400">
              <a:solidFill>
                <a:srgbClr val="F2F2F2"/>
              </a:solidFill>
            </a:ln>
          </p:spPr>
          <p:txBody>
            <a:bodyPr rtlCol="0" anchor="ctr"/>
            <a:lstStyle/>
            <a:p>
              <a:pPr algn="ctr"/>
            </a:p>
          </p:txBody>
        </p:sp>
        <p:sp>
          <p:nvSpPr>
            <p:cNvPr id="40" name="Oval 39"/>
            <p:cNvSpPr/>
            <p:nvPr/>
          </p:nvSpPr>
          <p:spPr>
            <a:xfrm>
              <a:off x="5843016" y="2788920"/>
              <a:ext cx="274320" cy="274320"/>
            </a:xfrm>
            <a:prstGeom prst="ellipse">
              <a:avLst/>
            </a:prstGeom>
            <a:solidFill>
              <a:srgbClr val="1E2126"/>
            </a:solidFill>
            <a:ln w="25400">
              <a:solidFill>
                <a:srgbClr val="F2F2F2"/>
              </a:solidFill>
            </a:ln>
          </p:spPr>
          <p:txBody>
            <a:bodyPr rtlCol="0" anchor="ctr"/>
            <a:lstStyle/>
            <a:p>
              <a:pPr algn="ctr"/>
            </a:p>
          </p:txBody>
        </p:sp>
        <p:sp>
          <p:nvSpPr>
            <p:cNvPr id="41" name="Oval 40"/>
            <p:cNvSpPr/>
            <p:nvPr/>
          </p:nvSpPr>
          <p:spPr>
            <a:xfrm>
              <a:off x="7260336" y="2788920"/>
              <a:ext cx="274320" cy="274320"/>
            </a:xfrm>
            <a:prstGeom prst="ellipse">
              <a:avLst/>
            </a:prstGeom>
            <a:solidFill>
              <a:srgbClr val="1E2126"/>
            </a:solidFill>
            <a:ln w="25400">
              <a:solidFill>
                <a:srgbClr val="F2F2F2"/>
              </a:solidFill>
            </a:ln>
          </p:spPr>
          <p:txBody>
            <a:bodyPr rtlCol="0" anchor="ctr"/>
            <a:lstStyle/>
            <a:p>
              <a:pPr algn="ctr"/>
            </a:p>
          </p:txBody>
        </p:sp>
        <p:sp>
          <p:nvSpPr>
            <p:cNvPr id="42" name="Oval 41"/>
            <p:cNvSpPr/>
            <p:nvPr/>
          </p:nvSpPr>
          <p:spPr>
            <a:xfrm>
              <a:off x="6848856" y="3520440"/>
              <a:ext cx="274320" cy="274320"/>
            </a:xfrm>
            <a:prstGeom prst="ellipse">
              <a:avLst/>
            </a:prstGeom>
            <a:solidFill>
              <a:srgbClr val="1E2126"/>
            </a:solidFill>
            <a:ln w="25400">
              <a:solidFill>
                <a:srgbClr val="F2F2F2"/>
              </a:solidFill>
            </a:ln>
          </p:spPr>
          <p:txBody>
            <a:bodyPr rtlCol="0" anchor="ctr"/>
            <a:lstStyle/>
            <a:p>
              <a:pPr algn="ctr"/>
            </a:p>
          </p:txBody>
        </p:sp>
        <p:sp>
          <p:nvSpPr>
            <p:cNvPr id="43" name="Freeform 42"/>
            <p:cNvSpPr/>
            <p:nvPr/>
          </p:nvSpPr>
          <p:spPr>
            <a:xfrm>
              <a:off x="4608576" y="4251960"/>
              <a:ext cx="457200" cy="429768"/>
            </a:xfrm>
            <a:custGeom>
              <a:avLst/>
              <a:gdLst/>
              <a:ahLst/>
              <a:cxnLst/>
              <a:rect l="l" t="t" r="r" b="b"/>
              <a:pathLst>
                <a:path w="457200" h="429768">
                  <a:moveTo>
                    <a:pt x="0" y="429768"/>
                  </a:moveTo>
                  <a:lnTo>
                    <a:pt x="457200" y="429768"/>
                  </a:lnTo>
                  <a:lnTo>
                    <a:pt x="228600" y="0"/>
                  </a:lnTo>
                  <a:close/>
                </a:path>
              </a:pathLst>
            </a:custGeom>
            <a:solidFill>
              <a:srgbClr val="F2C14E"/>
            </a:solidFill>
            <a:ln w="12700">
              <a:solidFill>
                <a:srgbClr val="101418"/>
              </a:solidFill>
            </a:ln>
          </p:spPr>
          <p:txBody>
            <a:bodyPr rtlCol="0" anchor="ctr"/>
            <a:lstStyle/>
            <a:p>
              <a:pPr algn="ctr"/>
            </a:p>
          </p:txBody>
        </p:sp>
        <p:sp>
          <p:nvSpPr>
            <p:cNvPr id="44" name="Rectangle 43"/>
            <p:cNvSpPr/>
            <p:nvPr/>
          </p:nvSpPr>
          <p:spPr>
            <a:xfrm>
              <a:off x="4809744" y="4389120"/>
              <a:ext cx="54864" cy="164592"/>
            </a:xfrm>
            <a:prstGeom prst="rect">
              <a:avLst/>
            </a:prstGeom>
            <a:solidFill>
              <a:srgbClr val="101418"/>
            </a:solidFill>
            <a:ln>
              <a:noFill/>
            </a:ln>
          </p:spPr>
          <p:txBody>
            <a:bodyPr rtlCol="0" anchor="ctr"/>
            <a:lstStyle/>
            <a:p>
              <a:pPr algn="ctr"/>
            </a:p>
          </p:txBody>
        </p:sp>
        <p:sp>
          <p:nvSpPr>
            <p:cNvPr id="45" name="Oval 44"/>
            <p:cNvSpPr/>
            <p:nvPr/>
          </p:nvSpPr>
          <p:spPr>
            <a:xfrm>
              <a:off x="4809744" y="4581144"/>
              <a:ext cx="54864" cy="54864"/>
            </a:xfrm>
            <a:prstGeom prst="ellipse">
              <a:avLst/>
            </a:prstGeom>
            <a:solidFill>
              <a:srgbClr val="101418"/>
            </a:solidFill>
            <a:ln>
              <a:noFill/>
            </a:ln>
          </p:spPr>
          <p:txBody>
            <a:bodyPr rtlCol="0" anchor="ctr"/>
            <a:lstStyle/>
            <a:p>
              <a:pPr algn="ctr"/>
            </a:p>
          </p:txBody>
        </p:sp>
        <p:sp>
          <p:nvSpPr>
            <p:cNvPr id="46" name="TextBox 45"/>
            <p:cNvSpPr txBox="1"/>
            <p:nvPr/>
          </p:nvSpPr>
          <p:spPr>
            <a:xfrm>
              <a:off x="5157216" y="4069080"/>
              <a:ext cx="2560320" cy="640080"/>
            </a:xfrm>
            <a:prstGeom prst="rect">
              <a:avLst/>
            </a:prstGeom>
            <a:noFill/>
          </p:spPr>
          <p:txBody>
            <a:bodyPr wrap="square" lIns="0" tIns="0" rIns="0" bIns="0" anchor="ctr">
              <a:noAutofit/>
            </a:bodyPr>
            <a:lstStyle/>
            <a:p>
              <a:pPr algn="l"/>
              <a:r>
                <a:rPr sz="1600" b="0" i="0" lang="en-GB">
                  <a:solidFill>
                    <a:srgbClr val="F2F2F2"/>
                  </a:solidFill>
                  <a:latin typeface="Arial"/>
                </a:rPr>
                <a:t>Steam trains cannot use this section</a:t>
              </a:r>
            </a:p>
          </p:txBody>
        </p:sp>
        <p:sp>
          <p:nvSpPr>
            <p:cNvPr id="47" name="Inline chip Proposed"/>
            <p:cNvSpPr/>
            <p:nvPr/>
          </p:nvSpPr>
          <p:spPr>
            <a:xfrm>
              <a:off x="6330188" y="150876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grpSp>
        <p:nvGrpSpPr>
          <p:cNvPr id="48" name="Mixed network" descr="Mixed network (proposed): an electric monorail trunk with steam branches; at the junction an interchange where cargo moves between the two. A Transfer Station is possible but undecided."/>
          <p:cNvGrpSpPr/>
          <p:nvPr/>
        </p:nvGrpSpPr>
        <p:grpSpPr>
          <a:xfrm>
            <a:off x="8211312" y="1371600"/>
            <a:ext cx="3429000" cy="3520440"/>
            <a:chOff x="8211312" y="1371600"/>
            <a:chExt cx="3429000" cy="3520440"/>
          </a:xfrm>
        </p:grpSpPr>
        <p:sp>
          <p:nvSpPr>
            <p:cNvPr id="49" name="Rounded Rectangle 48"/>
            <p:cNvSpPr/>
            <p:nvPr/>
          </p:nvSpPr>
          <p:spPr>
            <a:xfrm>
              <a:off x="8211312" y="1371600"/>
              <a:ext cx="3429000" cy="3520440"/>
            </a:xfrm>
            <a:prstGeom prst="roundRect">
              <a:avLst>
                <a:gd name="adj" fmla="val 2666"/>
              </a:avLst>
            </a:prstGeom>
            <a:solidFill>
              <a:srgbClr val="2B2F36"/>
            </a:solidFill>
            <a:ln>
              <a:noFill/>
            </a:ln>
          </p:spPr>
          <p:txBody>
            <a:bodyPr rtlCol="0" anchor="ctr"/>
            <a:lstStyle/>
            <a:p>
              <a:pPr algn="ctr"/>
            </a:p>
          </p:txBody>
        </p:sp>
        <p:sp>
          <p:nvSpPr>
            <p:cNvPr id="50" name="TextBox 49"/>
            <p:cNvSpPr txBox="1"/>
            <p:nvPr/>
          </p:nvSpPr>
          <p:spPr>
            <a:xfrm>
              <a:off x="8394192" y="1481328"/>
              <a:ext cx="2377440" cy="384048"/>
            </a:xfrm>
            <a:prstGeom prst="rect">
              <a:avLst/>
            </a:prstGeom>
            <a:noFill/>
          </p:spPr>
          <p:txBody>
            <a:bodyPr wrap="square" lIns="0" tIns="0" rIns="0" bIns="0" anchor="t">
              <a:noAutofit/>
            </a:bodyPr>
            <a:lstStyle/>
            <a:p>
              <a:pPr algn="l"/>
              <a:r>
                <a:rPr sz="2000" b="1" i="0" lang="en-GB">
                  <a:solidFill>
                    <a:srgbClr val="F2F2F2"/>
                  </a:solidFill>
                  <a:latin typeface="Arial"/>
                </a:rPr>
                <a:t>Mixed network</a:t>
              </a:r>
            </a:p>
          </p:txBody>
        </p:sp>
        <p:sp>
          <p:nvSpPr>
            <p:cNvPr id="51" name="Inline chip Proposed"/>
            <p:cNvSpPr/>
            <p:nvPr/>
          </p:nvSpPr>
          <p:spPr>
            <a:xfrm>
              <a:off x="8394192" y="192024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cxnSp>
          <p:nvCxnSpPr>
            <p:cNvPr id="52" name="Connector 51"/>
            <p:cNvCxnSpPr/>
            <p:nvPr/>
          </p:nvCxnSpPr>
          <p:spPr>
            <a:xfrm>
              <a:off x="8622792" y="2926080"/>
              <a:ext cx="1188720" cy="0"/>
            </a:xfrm>
            <a:prstGeom prst="line">
              <a:avLst/>
            </a:prstGeom>
            <a:ln w="88900">
              <a:solidFill>
                <a:srgbClr val="6CA0DC"/>
              </a:solidFill>
            </a:ln>
          </p:spPr>
        </p:cxnSp>
        <p:cxnSp>
          <p:nvCxnSpPr>
            <p:cNvPr id="53" name="Connector 52"/>
            <p:cNvCxnSpPr/>
            <p:nvPr/>
          </p:nvCxnSpPr>
          <p:spPr>
            <a:xfrm>
              <a:off x="9811512" y="2980944"/>
              <a:ext cx="1417320" cy="0"/>
            </a:xfrm>
            <a:prstGeom prst="line">
              <a:avLst/>
            </a:prstGeom>
            <a:ln w="28575">
              <a:solidFill>
                <a:srgbClr val="F28C28"/>
              </a:solidFill>
            </a:ln>
          </p:spPr>
        </p:cxnSp>
        <p:cxnSp>
          <p:nvCxnSpPr>
            <p:cNvPr id="54" name="Connector 53"/>
            <p:cNvCxnSpPr/>
            <p:nvPr/>
          </p:nvCxnSpPr>
          <p:spPr>
            <a:xfrm>
              <a:off x="9811512" y="2871216"/>
              <a:ext cx="1417320" cy="0"/>
            </a:xfrm>
            <a:prstGeom prst="line">
              <a:avLst/>
            </a:prstGeom>
            <a:ln w="28575">
              <a:solidFill>
                <a:srgbClr val="F28C28"/>
              </a:solidFill>
            </a:ln>
          </p:spPr>
        </p:cxnSp>
        <p:cxnSp>
          <p:nvCxnSpPr>
            <p:cNvPr id="55" name="Connector 54"/>
            <p:cNvCxnSpPr/>
            <p:nvPr/>
          </p:nvCxnSpPr>
          <p:spPr>
            <a:xfrm>
              <a:off x="9779243" y="2970450"/>
              <a:ext cx="1005840" cy="731520"/>
            </a:xfrm>
            <a:prstGeom prst="line">
              <a:avLst/>
            </a:prstGeom>
            <a:ln w="28575">
              <a:solidFill>
                <a:srgbClr val="F28C28"/>
              </a:solidFill>
            </a:ln>
          </p:spPr>
        </p:cxnSp>
        <p:cxnSp>
          <p:nvCxnSpPr>
            <p:cNvPr id="56" name="Connector 55"/>
            <p:cNvCxnSpPr/>
            <p:nvPr/>
          </p:nvCxnSpPr>
          <p:spPr>
            <a:xfrm>
              <a:off x="9843781" y="2881710"/>
              <a:ext cx="1005840" cy="731520"/>
            </a:xfrm>
            <a:prstGeom prst="line">
              <a:avLst/>
            </a:prstGeom>
            <a:ln w="28575">
              <a:solidFill>
                <a:srgbClr val="F28C28"/>
              </a:solidFill>
            </a:ln>
          </p:spPr>
        </p:cxnSp>
        <p:sp>
          <p:nvSpPr>
            <p:cNvPr id="57" name="Oval 56"/>
            <p:cNvSpPr/>
            <p:nvPr/>
          </p:nvSpPr>
          <p:spPr>
            <a:xfrm>
              <a:off x="8485632" y="2788920"/>
              <a:ext cx="274320" cy="274320"/>
            </a:xfrm>
            <a:prstGeom prst="ellipse">
              <a:avLst/>
            </a:prstGeom>
            <a:solidFill>
              <a:srgbClr val="1E2126"/>
            </a:solidFill>
            <a:ln w="25400">
              <a:solidFill>
                <a:srgbClr val="F2F2F2"/>
              </a:solidFill>
            </a:ln>
          </p:spPr>
          <p:txBody>
            <a:bodyPr rtlCol="0" anchor="ctr"/>
            <a:lstStyle/>
            <a:p>
              <a:pPr algn="ctr"/>
            </a:p>
          </p:txBody>
        </p:sp>
        <p:sp>
          <p:nvSpPr>
            <p:cNvPr id="58" name="Oval 57"/>
            <p:cNvSpPr/>
            <p:nvPr/>
          </p:nvSpPr>
          <p:spPr>
            <a:xfrm>
              <a:off x="11091672" y="2788920"/>
              <a:ext cx="274320" cy="274320"/>
            </a:xfrm>
            <a:prstGeom prst="ellipse">
              <a:avLst/>
            </a:prstGeom>
            <a:solidFill>
              <a:srgbClr val="1E2126"/>
            </a:solidFill>
            <a:ln w="25400">
              <a:solidFill>
                <a:srgbClr val="F2F2F2"/>
              </a:solidFill>
            </a:ln>
          </p:spPr>
          <p:txBody>
            <a:bodyPr rtlCol="0" anchor="ctr"/>
            <a:lstStyle/>
            <a:p>
              <a:pPr algn="ctr"/>
            </a:p>
          </p:txBody>
        </p:sp>
        <p:sp>
          <p:nvSpPr>
            <p:cNvPr id="59" name="Oval 58"/>
            <p:cNvSpPr/>
            <p:nvPr/>
          </p:nvSpPr>
          <p:spPr>
            <a:xfrm>
              <a:off x="10680192" y="3520440"/>
              <a:ext cx="274320" cy="274320"/>
            </a:xfrm>
            <a:prstGeom prst="ellipse">
              <a:avLst/>
            </a:prstGeom>
            <a:solidFill>
              <a:srgbClr val="1E2126"/>
            </a:solidFill>
            <a:ln w="25400">
              <a:solidFill>
                <a:srgbClr val="F2F2F2"/>
              </a:solidFill>
            </a:ln>
          </p:spPr>
          <p:txBody>
            <a:bodyPr rtlCol="0" anchor="ctr"/>
            <a:lstStyle/>
            <a:p>
              <a:pPr algn="ctr"/>
            </a:p>
          </p:txBody>
        </p:sp>
        <p:sp>
          <p:nvSpPr>
            <p:cNvPr id="60" name="Rectangle 59"/>
            <p:cNvSpPr/>
            <p:nvPr/>
          </p:nvSpPr>
          <p:spPr>
            <a:xfrm>
              <a:off x="9610344" y="2724912"/>
              <a:ext cx="402336" cy="402336"/>
            </a:xfrm>
            <a:prstGeom prst="rect">
              <a:avLst/>
            </a:prstGeom>
            <a:solidFill>
              <a:srgbClr val="343A43"/>
            </a:solidFill>
            <a:ln w="31750">
              <a:solidFill>
                <a:srgbClr val="F2C14E"/>
              </a:solidFill>
            </a:ln>
          </p:spPr>
          <p:txBody>
            <a:bodyPr rtlCol="0" anchor="ctr"/>
            <a:lstStyle/>
            <a:p>
              <a:pPr algn="ctr"/>
            </a:p>
          </p:txBody>
        </p:sp>
        <p:sp>
          <p:nvSpPr>
            <p:cNvPr id="61" name="Rectangle 60"/>
            <p:cNvSpPr/>
            <p:nvPr/>
          </p:nvSpPr>
          <p:spPr>
            <a:xfrm>
              <a:off x="9509760" y="2240280"/>
              <a:ext cx="201168" cy="182880"/>
            </a:xfrm>
            <a:prstGeom prst="rect">
              <a:avLst/>
            </a:prstGeom>
            <a:solidFill>
              <a:srgbClr val="6B5B4B"/>
            </a:solidFill>
            <a:ln w="12700">
              <a:solidFill>
                <a:srgbClr val="F2C14E"/>
              </a:solidFill>
            </a:ln>
          </p:spPr>
          <p:txBody>
            <a:bodyPr rtlCol="0" anchor="ctr"/>
            <a:lstStyle/>
            <a:p>
              <a:pPr algn="ctr"/>
            </a:p>
          </p:txBody>
        </p:sp>
        <p:cxnSp>
          <p:nvCxnSpPr>
            <p:cNvPr id="62" name="Connector 61"/>
            <p:cNvCxnSpPr/>
            <p:nvPr/>
          </p:nvCxnSpPr>
          <p:spPr>
            <a:xfrm>
              <a:off x="9738360" y="2331720"/>
              <a:ext cx="393192" cy="0"/>
            </a:xfrm>
            <a:prstGeom prst="line">
              <a:avLst/>
            </a:prstGeom>
            <a:ln w="25400">
              <a:solidFill>
                <a:srgbClr val="F2C14E"/>
              </a:solidFill>
              <a:tailEnd type="triangle" w="lg" len="lg"/>
            </a:ln>
          </p:spPr>
        </p:cxnSp>
        <p:sp>
          <p:nvSpPr>
            <p:cNvPr id="63" name="TextBox 62"/>
            <p:cNvSpPr txBox="1"/>
            <p:nvPr/>
          </p:nvSpPr>
          <p:spPr>
            <a:xfrm>
              <a:off x="8394192" y="3977640"/>
              <a:ext cx="3063240" cy="329184"/>
            </a:xfrm>
            <a:prstGeom prst="rect">
              <a:avLst/>
            </a:prstGeom>
            <a:noFill/>
          </p:spPr>
          <p:txBody>
            <a:bodyPr wrap="square" lIns="0" tIns="0" rIns="0" bIns="0" anchor="t">
              <a:noAutofit/>
            </a:bodyPr>
            <a:lstStyle/>
            <a:p>
              <a:pPr algn="l"/>
              <a:r>
                <a:rPr sz="1600" b="1" i="0" lang="en-GB">
                  <a:solidFill>
                    <a:srgbClr val="F2F2F2"/>
                  </a:solidFill>
                  <a:latin typeface="Arial"/>
                </a:rPr>
                <a:t>Interchange</a:t>
              </a:r>
            </a:p>
          </p:txBody>
        </p:sp>
        <p:sp>
          <p:nvSpPr>
            <p:cNvPr id="64" name="TextBox 63"/>
            <p:cNvSpPr txBox="1"/>
            <p:nvPr/>
          </p:nvSpPr>
          <p:spPr>
            <a:xfrm>
              <a:off x="8394192" y="4297680"/>
              <a:ext cx="3063240" cy="502920"/>
            </a:xfrm>
            <a:prstGeom prst="rect">
              <a:avLst/>
            </a:prstGeom>
            <a:noFill/>
          </p:spPr>
          <p:txBody>
            <a:bodyPr wrap="square" lIns="0" tIns="0" rIns="0" bIns="0" anchor="t">
              <a:noAutofit/>
            </a:bodyPr>
            <a:lstStyle/>
            <a:p>
              <a:pPr algn="l"/>
              <a:r>
                <a:rPr sz="1400" b="0" i="0" lang="en-GB">
                  <a:solidFill>
                    <a:srgbClr val="F2F2F2"/>
                  </a:solidFill>
                  <a:latin typeface="Arial"/>
                </a:rPr>
                <a:t>(possible Transfer Station: undecided)</a:t>
              </a:r>
            </a:p>
          </p:txBody>
        </p:sp>
      </p:grpSp>
      <p:sp>
        <p:nvSpPr>
          <p:cNvPr id="65" name="TextBox 64"/>
          <p:cNvSpPr txBox="1"/>
          <p:nvPr/>
        </p:nvSpPr>
        <p:spPr>
          <a:xfrm>
            <a:off x="548640" y="5029200"/>
            <a:ext cx="8686800" cy="329184"/>
          </a:xfrm>
          <a:prstGeom prst="rect">
            <a:avLst/>
          </a:prstGeom>
          <a:noFill/>
        </p:spPr>
        <p:txBody>
          <a:bodyPr wrap="square" lIns="0" tIns="0" rIns="0" bIns="0" anchor="ctr">
            <a:noAutofit/>
          </a:bodyPr>
          <a:lstStyle/>
          <a:p>
            <a:pPr algn="l"/>
            <a:r>
              <a:rPr sz="1800" b="0" i="0" lang="en-GB">
                <a:solidFill>
                  <a:srgbClr val="F2F2F2"/>
                </a:solidFill>
                <a:latin typeface="Arial"/>
              </a:rPr>
              <a:t>Steam trains cannot move directly between the two track types.</a:t>
            </a:r>
          </a:p>
        </p:txBody>
      </p:sp>
      <p:sp>
        <p:nvSpPr>
          <p:cNvPr id="66" name="Inline chip Agreed"/>
          <p:cNvSpPr/>
          <p:nvPr/>
        </p:nvSpPr>
        <p:spPr>
          <a:xfrm>
            <a:off x="7132320" y="5029200"/>
            <a:ext cx="112141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Upgrade steam track in place. The route stays. Steam trains cannot use the converted part.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LATER</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35</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20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nodeType="withEffect">
                                  <p:stCondLst>
                                    <p:cond delay="4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60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500"/>
                                        <p:tgtEl>
                                          <p:spTgt spid="23"/>
                                        </p:tgtEl>
                                      </p:cBhvr>
                                    </p:animEffect>
                                  </p:childTnLst>
                                </p:cTn>
                              </p:par>
                              <p:par>
                                <p:cTn id="17" presetID="10" presetClass="entr" presetSubtype="0" fill="hold" nodeType="withEffect">
                                  <p:stCondLst>
                                    <p:cond delay="800"/>
                                  </p:stCondLst>
                                  <p:childTnLst>
                                    <p:set>
                                      <p:cBhvr>
                                        <p:cTn id="18" dur="1" fill="hold">
                                          <p:stCondLst>
                                            <p:cond delay="0"/>
                                          </p:stCondLst>
                                        </p:cTn>
                                        <p:tgtEl>
                                          <p:spTgt spid="48"/>
                                        </p:tgtEl>
                                        <p:attrNameLst>
                                          <p:attrName>style.visibility</p:attrName>
                                        </p:attrNameLst>
                                      </p:cBhvr>
                                      <p:to>
                                        <p:strVal val="visible"/>
                                      </p:to>
                                    </p:set>
                                    <p:animEffect transition="in" filter="fade">
                                      <p:cBhvr>
                                        <p:cTn id="19" dur="500"/>
                                        <p:tgtEl>
                                          <p:spTgt spid="48"/>
                                        </p:tgtEl>
                                      </p:cBhvr>
                                    </p:animEffect>
                                  </p:childTnLst>
                                </p:cTn>
                              </p:par>
                              <p:par>
                                <p:cTn id="20" presetID="10" presetClass="entr" presetSubtype="0" fill="hold" nodeType="withEffect">
                                  <p:stCondLst>
                                    <p:cond delay="1000"/>
                                  </p:stCondLst>
                                  <p:childTnLst>
                                    <p:set>
                                      <p:cBhvr>
                                        <p:cTn id="21" dur="1" fill="hold">
                                          <p:stCondLst>
                                            <p:cond delay="0"/>
                                          </p:stCondLst>
                                        </p:cTn>
                                        <p:tgtEl>
                                          <p:spTgt spid="65"/>
                                        </p:tgtEl>
                                        <p:attrNameLst>
                                          <p:attrName>style.visibility</p:attrName>
                                        </p:attrNameLst>
                                      </p:cBhvr>
                                      <p:to>
                                        <p:strVal val="visible"/>
                                      </p:to>
                                    </p:set>
                                    <p:animEffect transition="in" filter="fade">
                                      <p:cBhvr>
                                        <p:cTn id="22" dur="500"/>
                                        <p:tgtEl>
                                          <p:spTgt spid="65"/>
                                        </p:tgtEl>
                                      </p:cBhvr>
                                    </p:animEffect>
                                  </p:childTnLst>
                                </p:cTn>
                              </p:par>
                              <p:par>
                                <p:cTn id="23" presetID="10" presetClass="entr" presetSubtype="0" fill="hold" nodeType="withEffect">
                                  <p:stCondLst>
                                    <p:cond delay="120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500"/>
                                        <p:tgtEl>
                                          <p:spTgt spid="66"/>
                                        </p:tgtEl>
                                      </p:cBhvr>
                                    </p:animEffect>
                                  </p:childTnLst>
                                </p:cTn>
                              </p:par>
                              <p:par>
                                <p:cTn id="26" presetID="10" presetClass="entr" presetSubtype="0" fill="hold" nodeType="withEffect">
                                  <p:stCondLst>
                                    <p:cond delay="1400"/>
                                  </p:stCondLst>
                                  <p:childTnLst>
                                    <p:set>
                                      <p:cBhvr>
                                        <p:cTn id="27" dur="1" fill="hold">
                                          <p:stCondLst>
                                            <p:cond delay="0"/>
                                          </p:stCondLst>
                                        </p:cTn>
                                        <p:tgtEl>
                                          <p:spTgt spid="4"/>
                                        </p:tgtEl>
                                        <p:attrNameLst>
                                          <p:attrName>style.visibility</p:attrName>
                                        </p:attrNameLst>
                                      </p:cBhvr>
                                      <p:to>
                                        <p:strVal val="visible"/>
                                      </p:to>
                                    </p:set>
                                    <p:animEffect transition="in" filter="fade">
                                      <p:cBhvr>
                                        <p:cTn id="28" dur="500"/>
                                        <p:tgtEl>
                                          <p:spTgt spid="4"/>
                                        </p:tgtEl>
                                      </p:cBhvr>
                                    </p:animEffect>
                                  </p:childTnLst>
                                </p:cTn>
                              </p:par>
                              <p:par>
                                <p:cTn id="29" presetID="10" presetClass="entr" presetSubtype="0" fill="hold" nodeType="withEffect">
                                  <p:stCondLst>
                                    <p:cond delay="160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After launch</a:t>
            </a:r>
          </a:p>
        </p:txBody>
      </p:sp>
      <p:sp>
        <p:nvSpPr>
          <p:cNvPr id="3" name="Status chip"/>
          <p:cNvSpPr/>
          <p:nvPr/>
        </p:nvSpPr>
        <p:spPr>
          <a:xfrm>
            <a:off x="10088575" y="457200"/>
            <a:ext cx="1554480" cy="365760"/>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nvGrpSpPr>
          <p:cNvPr id="8" name="Pack stack" descr="A stack of blocks: a solid base, Core 1.0, a complete game (agreed); above it four dashed proposed blocks: regional packs, more locomotives, late-steam infrastructure and advanced manual driving (optional)."/>
          <p:cNvGrpSpPr/>
          <p:nvPr/>
        </p:nvGrpSpPr>
        <p:grpSpPr>
          <a:xfrm>
            <a:off x="548640" y="1353312"/>
            <a:ext cx="6766560" cy="3081528"/>
            <a:chOff x="548640" y="1353312"/>
            <a:chExt cx="6766560" cy="3081528"/>
          </a:xfrm>
        </p:grpSpPr>
        <p:sp>
          <p:nvSpPr>
            <p:cNvPr id="9" name="Rounded Rectangle 8"/>
            <p:cNvSpPr/>
            <p:nvPr/>
          </p:nvSpPr>
          <p:spPr>
            <a:xfrm>
              <a:off x="548640" y="3657600"/>
              <a:ext cx="6766560" cy="777240"/>
            </a:xfrm>
            <a:prstGeom prst="roundRect">
              <a:avLst>
                <a:gd name="adj" fmla="val 9411"/>
              </a:avLst>
            </a:prstGeom>
            <a:solidFill>
              <a:srgbClr val="F28C28"/>
            </a:solidFill>
            <a:ln>
              <a:noFill/>
            </a:ln>
          </p:spPr>
          <p:txBody>
            <a:bodyPr rtlCol="0" anchor="ctr" wrap="square" lIns="228600" tIns="18288" bIns="18288">
              <a:noAutofit/>
            </a:bodyPr>
            <a:lstStyle/>
            <a:p>
              <a:pPr algn="l"/>
              <a:r>
                <a:rPr sz="2200" b="1" i="0" lang="en-GB">
                  <a:solidFill>
                    <a:srgbClr val="101418"/>
                  </a:solidFill>
                  <a:latin typeface="Arial"/>
                </a:rPr>
                <a:t>Core 1.0: a complete game</a:t>
              </a:r>
            </a:p>
          </p:txBody>
        </p:sp>
        <p:sp>
          <p:nvSpPr>
            <p:cNvPr id="10" name="Inline chip Agreed"/>
            <p:cNvSpPr/>
            <p:nvPr/>
          </p:nvSpPr>
          <p:spPr>
            <a:xfrm>
              <a:off x="6010910" y="3881628"/>
              <a:ext cx="112141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11" name="Rounded Rectangle 10"/>
            <p:cNvSpPr/>
            <p:nvPr/>
          </p:nvSpPr>
          <p:spPr>
            <a:xfrm>
              <a:off x="548640" y="2487168"/>
              <a:ext cx="3337560" cy="1042416"/>
            </a:xfrm>
            <a:prstGeom prst="roundRect">
              <a:avLst>
                <a:gd name="adj" fmla="val 7017"/>
              </a:avLst>
            </a:prstGeom>
            <a:solidFill>
              <a:srgbClr val="2B2F36"/>
            </a:solidFill>
            <a:ln w="25400">
              <a:solidFill>
                <a:srgbClr val="B084F5"/>
              </a:solidFill>
              <a:prstDash val="dash"/>
            </a:ln>
          </p:spPr>
          <p:txBody>
            <a:bodyPr rtlCol="0" anchor="ctr"/>
            <a:lstStyle/>
            <a:p>
              <a:pPr algn="ctr"/>
            </a:p>
          </p:txBody>
        </p:sp>
        <p:sp>
          <p:nvSpPr>
            <p:cNvPr id="12" name="TextBox 11"/>
            <p:cNvSpPr txBox="1"/>
            <p:nvPr/>
          </p:nvSpPr>
          <p:spPr>
            <a:xfrm>
              <a:off x="731520" y="2944368"/>
              <a:ext cx="3017520" cy="548640"/>
            </a:xfrm>
            <a:prstGeom prst="rect">
              <a:avLst/>
            </a:prstGeom>
            <a:noFill/>
          </p:spPr>
          <p:txBody>
            <a:bodyPr wrap="square" lIns="0" tIns="0" rIns="0" bIns="0" anchor="ctr">
              <a:noAutofit/>
            </a:bodyPr>
            <a:lstStyle/>
            <a:p>
              <a:pPr algn="l"/>
              <a:r>
                <a:rPr sz="1800" b="0" i="0" lang="en-GB">
                  <a:solidFill>
                    <a:srgbClr val="F2F2F2"/>
                  </a:solidFill>
                  <a:latin typeface="Arial"/>
                </a:rPr>
                <a:t>Regional packs</a:t>
              </a:r>
            </a:p>
          </p:txBody>
        </p:sp>
        <p:sp>
          <p:nvSpPr>
            <p:cNvPr id="13" name="Inline chip Proposed"/>
            <p:cNvSpPr/>
            <p:nvPr/>
          </p:nvSpPr>
          <p:spPr>
            <a:xfrm>
              <a:off x="731520" y="2578608"/>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4" name="Rounded Rectangle 13"/>
            <p:cNvSpPr/>
            <p:nvPr/>
          </p:nvSpPr>
          <p:spPr>
            <a:xfrm>
              <a:off x="3977640" y="2487168"/>
              <a:ext cx="3337560" cy="1042416"/>
            </a:xfrm>
            <a:prstGeom prst="roundRect">
              <a:avLst>
                <a:gd name="adj" fmla="val 7017"/>
              </a:avLst>
            </a:prstGeom>
            <a:solidFill>
              <a:srgbClr val="2B2F36"/>
            </a:solidFill>
            <a:ln w="25400">
              <a:solidFill>
                <a:srgbClr val="B084F5"/>
              </a:solidFill>
              <a:prstDash val="dash"/>
            </a:ln>
          </p:spPr>
          <p:txBody>
            <a:bodyPr rtlCol="0" anchor="ctr"/>
            <a:lstStyle/>
            <a:p>
              <a:pPr algn="ctr"/>
            </a:p>
          </p:txBody>
        </p:sp>
        <p:sp>
          <p:nvSpPr>
            <p:cNvPr id="15" name="TextBox 14"/>
            <p:cNvSpPr txBox="1"/>
            <p:nvPr/>
          </p:nvSpPr>
          <p:spPr>
            <a:xfrm>
              <a:off x="4160520" y="2944368"/>
              <a:ext cx="3017520" cy="548640"/>
            </a:xfrm>
            <a:prstGeom prst="rect">
              <a:avLst/>
            </a:prstGeom>
            <a:noFill/>
          </p:spPr>
          <p:txBody>
            <a:bodyPr wrap="square" lIns="0" tIns="0" rIns="0" bIns="0" anchor="ctr">
              <a:noAutofit/>
            </a:bodyPr>
            <a:lstStyle/>
            <a:p>
              <a:pPr algn="l"/>
              <a:r>
                <a:rPr sz="1800" b="0" i="0" lang="en-GB">
                  <a:solidFill>
                    <a:srgbClr val="F2F2F2"/>
                  </a:solidFill>
                  <a:latin typeface="Arial"/>
                </a:rPr>
                <a:t>More locomotives</a:t>
              </a:r>
            </a:p>
          </p:txBody>
        </p:sp>
        <p:sp>
          <p:nvSpPr>
            <p:cNvPr id="16" name="Inline chip Proposed"/>
            <p:cNvSpPr/>
            <p:nvPr/>
          </p:nvSpPr>
          <p:spPr>
            <a:xfrm>
              <a:off x="4160520" y="2578608"/>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7" name="Rounded Rectangle 16"/>
            <p:cNvSpPr/>
            <p:nvPr/>
          </p:nvSpPr>
          <p:spPr>
            <a:xfrm>
              <a:off x="548640" y="1353312"/>
              <a:ext cx="3337560" cy="1042416"/>
            </a:xfrm>
            <a:prstGeom prst="roundRect">
              <a:avLst>
                <a:gd name="adj" fmla="val 7017"/>
              </a:avLst>
            </a:prstGeom>
            <a:solidFill>
              <a:srgbClr val="2B2F36"/>
            </a:solidFill>
            <a:ln w="25400">
              <a:solidFill>
                <a:srgbClr val="B084F5"/>
              </a:solidFill>
              <a:prstDash val="dash"/>
            </a:ln>
          </p:spPr>
          <p:txBody>
            <a:bodyPr rtlCol="0" anchor="ctr"/>
            <a:lstStyle/>
            <a:p>
              <a:pPr algn="ctr"/>
            </a:p>
          </p:txBody>
        </p:sp>
        <p:sp>
          <p:nvSpPr>
            <p:cNvPr id="18" name="TextBox 17"/>
            <p:cNvSpPr txBox="1"/>
            <p:nvPr/>
          </p:nvSpPr>
          <p:spPr>
            <a:xfrm>
              <a:off x="731520" y="1810512"/>
              <a:ext cx="3017520" cy="548640"/>
            </a:xfrm>
            <a:prstGeom prst="rect">
              <a:avLst/>
            </a:prstGeom>
            <a:noFill/>
          </p:spPr>
          <p:txBody>
            <a:bodyPr wrap="square" lIns="0" tIns="0" rIns="0" bIns="0" anchor="ctr">
              <a:noAutofit/>
            </a:bodyPr>
            <a:lstStyle/>
            <a:p>
              <a:pPr algn="l"/>
              <a:r>
                <a:rPr sz="1800" b="0" i="0" lang="en-GB">
                  <a:solidFill>
                    <a:srgbClr val="F2F2F2"/>
                  </a:solidFill>
                  <a:latin typeface="Arial"/>
                </a:rPr>
                <a:t>Late-steam infrastructure</a:t>
              </a:r>
            </a:p>
          </p:txBody>
        </p:sp>
        <p:sp>
          <p:nvSpPr>
            <p:cNvPr id="19" name="Inline chip Proposed"/>
            <p:cNvSpPr/>
            <p:nvPr/>
          </p:nvSpPr>
          <p:spPr>
            <a:xfrm>
              <a:off x="731520" y="1444752"/>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20" name="Rounded Rectangle 19"/>
            <p:cNvSpPr/>
            <p:nvPr/>
          </p:nvSpPr>
          <p:spPr>
            <a:xfrm>
              <a:off x="3977640" y="1353312"/>
              <a:ext cx="3337560" cy="1042416"/>
            </a:xfrm>
            <a:prstGeom prst="roundRect">
              <a:avLst>
                <a:gd name="adj" fmla="val 7017"/>
              </a:avLst>
            </a:prstGeom>
            <a:solidFill>
              <a:srgbClr val="2B2F36"/>
            </a:solidFill>
            <a:ln w="25400">
              <a:solidFill>
                <a:srgbClr val="B084F5"/>
              </a:solidFill>
              <a:prstDash val="dash"/>
            </a:ln>
          </p:spPr>
          <p:txBody>
            <a:bodyPr rtlCol="0" anchor="ctr"/>
            <a:lstStyle/>
            <a:p>
              <a:pPr algn="ctr"/>
            </a:p>
          </p:txBody>
        </p:sp>
        <p:sp>
          <p:nvSpPr>
            <p:cNvPr id="21" name="TextBox 20"/>
            <p:cNvSpPr txBox="1"/>
            <p:nvPr/>
          </p:nvSpPr>
          <p:spPr>
            <a:xfrm>
              <a:off x="4160520" y="1810512"/>
              <a:ext cx="3017520" cy="548640"/>
            </a:xfrm>
            <a:prstGeom prst="rect">
              <a:avLst/>
            </a:prstGeom>
            <a:noFill/>
          </p:spPr>
          <p:txBody>
            <a:bodyPr wrap="square" lIns="0" tIns="0" rIns="0" bIns="0" anchor="ctr">
              <a:noAutofit/>
            </a:bodyPr>
            <a:lstStyle/>
            <a:p>
              <a:pPr algn="l"/>
              <a:r>
                <a:rPr sz="1800" b="0" i="0" lang="en-GB">
                  <a:solidFill>
                    <a:srgbClr val="F2F2F2"/>
                  </a:solidFill>
                  <a:latin typeface="Arial"/>
                </a:rPr>
                <a:t>Advanced manual driving (optional)</a:t>
              </a:r>
            </a:p>
          </p:txBody>
        </p:sp>
        <p:sp>
          <p:nvSpPr>
            <p:cNvPr id="22" name="Inline chip Proposed"/>
            <p:cNvSpPr/>
            <p:nvPr/>
          </p:nvSpPr>
          <p:spPr>
            <a:xfrm>
              <a:off x="4160520" y="1444752"/>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pic>
        <p:nvPicPr>
          <p:cNvPr id="23" name="Picture P19" descr="Southern Railway West Country class No. 34007, side three-quarter view."/>
          <p:cNvPicPr>
            <a:picLocks noChangeAspect="1"/>
          </p:cNvPicPr>
          <p:nvPr/>
        </p:nvPicPr>
        <p:blipFill>
          <a:blip r:embed="rId2"/>
          <a:srcRect t="35" b="35"/>
          <a:stretch>
            <a:fillRect/>
          </a:stretch>
        </p:blipFill>
        <p:spPr>
          <a:xfrm>
            <a:off x="8165592" y="1417320"/>
            <a:ext cx="3474720" cy="2313432"/>
          </a:xfrm>
          <a:prstGeom prst="roundRect">
            <a:avLst>
              <a:gd name="adj" fmla="val 3162"/>
            </a:avLst>
          </a:prstGeom>
        </p:spPr>
      </p:pic>
      <p:sp>
        <p:nvSpPr>
          <p:cNvPr id="24" name="Credit"/>
          <p:cNvSpPr txBox="1"/>
          <p:nvPr/>
        </p:nvSpPr>
        <p:spPr>
          <a:xfrm>
            <a:off x="8165592" y="3758184"/>
            <a:ext cx="3474720" cy="182880"/>
          </a:xfrm>
          <a:prstGeom prst="rect">
            <a:avLst/>
          </a:prstGeom>
          <a:noFill/>
        </p:spPr>
        <p:txBody>
          <a:bodyPr wrap="square" lIns="0" tIns="0" rIns="0" bIns="0" anchor="t">
            <a:noAutofit/>
          </a:bodyPr>
          <a:lstStyle/>
          <a:p>
            <a:pPr algn="l"/>
            <a:r>
              <a:rPr sz="1000" b="0" i="0" lang="en-GB">
                <a:solidFill>
                  <a:srgbClr val="A9B0B8"/>
                </a:solidFill>
                <a:latin typeface="Arial"/>
              </a:rPr>
              <a:t>Photo: Ben Salter, CC BY 2.0, Wikimedia Commons.</a:t>
            </a:r>
          </a:p>
        </p:txBody>
      </p:sp>
      <p:sp>
        <p:nvSpPr>
          <p:cNvPr id="25" name="TextBox 24"/>
          <p:cNvSpPr txBox="1"/>
          <p:nvPr/>
        </p:nvSpPr>
        <p:spPr>
          <a:xfrm>
            <a:off x="8165592" y="4096512"/>
            <a:ext cx="3474720" cy="566928"/>
          </a:xfrm>
          <a:prstGeom prst="rect">
            <a:avLst/>
          </a:prstGeom>
          <a:noFill/>
        </p:spPr>
        <p:txBody>
          <a:bodyPr wrap="square" lIns="0" tIns="0" rIns="0" bIns="0" anchor="t">
            <a:noAutofit/>
          </a:bodyPr>
          <a:lstStyle/>
          <a:p>
            <a:pPr algn="l"/>
            <a:r>
              <a:rPr sz="1600" b="0" i="0" lang="en-GB">
                <a:solidFill>
                  <a:srgbClr val="F2F2F2"/>
                </a:solidFill>
                <a:latin typeface="Arial"/>
              </a:rPr>
              <a:t>Real British locomotives like this could appear.</a:t>
            </a:r>
          </a:p>
        </p:txBody>
      </p:sp>
      <p:sp>
        <p:nvSpPr>
          <p:cNvPr id="26" name="TextBox 25"/>
          <p:cNvSpPr txBox="1"/>
          <p:nvPr/>
        </p:nvSpPr>
        <p:spPr>
          <a:xfrm>
            <a:off x="548640" y="4754880"/>
            <a:ext cx="2743200" cy="329184"/>
          </a:xfrm>
          <a:prstGeom prst="rect">
            <a:avLst/>
          </a:prstGeom>
          <a:noFill/>
        </p:spPr>
        <p:txBody>
          <a:bodyPr wrap="square" lIns="0" tIns="0" rIns="0" bIns="0" anchor="ctr">
            <a:noAutofit/>
          </a:bodyPr>
          <a:lstStyle/>
          <a:p>
            <a:pPr algn="l"/>
            <a:r>
              <a:rPr sz="1800" b="0" i="0" lang="en-GB">
                <a:solidFill>
                  <a:srgbClr val="F2F2F2"/>
                </a:solidFill>
                <a:latin typeface="Arial"/>
              </a:rPr>
              <a:t>Which locomotives:</a:t>
            </a:r>
          </a:p>
        </p:txBody>
      </p:sp>
      <p:sp>
        <p:nvSpPr>
          <p:cNvPr id="27" name="Inline chip Undecided"/>
          <p:cNvSpPr/>
          <p:nvPr/>
        </p:nvSpPr>
        <p:spPr>
          <a:xfrm>
            <a:off x="2654300" y="4754880"/>
            <a:ext cx="20612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(OQ20)</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After launch, optional packs could add locomotives, regional looks and deeper driving. The core game stays complete.</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LATER</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36</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257"/>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par>
                                <p:cTn id="11" presetID="10" presetClass="entr" presetSubtype="0" fill="hold" nodeType="withEffect">
                                  <p:stCondLst>
                                    <p:cond delay="514"/>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500"/>
                                        <p:tgtEl>
                                          <p:spTgt spid="25"/>
                                        </p:tgtEl>
                                      </p:cBhvr>
                                    </p:animEffect>
                                  </p:childTnLst>
                                </p:cTn>
                              </p:par>
                              <p:par>
                                <p:cTn id="14" presetID="10" presetClass="entr" presetSubtype="0" fill="hold" nodeType="withEffect">
                                  <p:stCondLst>
                                    <p:cond delay="771"/>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500"/>
                                        <p:tgtEl>
                                          <p:spTgt spid="26"/>
                                        </p:tgtEl>
                                      </p:cBhvr>
                                    </p:animEffect>
                                  </p:childTnLst>
                                </p:cTn>
                              </p:par>
                              <p:par>
                                <p:cTn id="17" presetID="10" presetClass="entr" presetSubtype="0" fill="hold" nodeType="withEffect">
                                  <p:stCondLst>
                                    <p:cond delay="1028"/>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500"/>
                                        <p:tgtEl>
                                          <p:spTgt spid="27"/>
                                        </p:tgtEl>
                                      </p:cBhvr>
                                    </p:animEffect>
                                  </p:childTnLst>
                                </p:cTn>
                              </p:par>
                              <p:par>
                                <p:cTn id="20" presetID="10" presetClass="entr" presetSubtype="0" fill="hold" nodeType="withEffect">
                                  <p:stCondLst>
                                    <p:cond delay="1285"/>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par>
                                <p:cTn id="23" presetID="10" presetClass="entr" presetSubtype="0" fill="hold" nodeType="withEffect">
                                  <p:stCondLst>
                                    <p:cond delay="1542"/>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Regions and running numbers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Regional styles" descr="Three example regional styles: British, North American and Continental European. Examples only; launch regions are undecided."/>
          <p:cNvGrpSpPr/>
          <p:nvPr/>
        </p:nvGrpSpPr>
        <p:grpSpPr>
          <a:xfrm>
            <a:off x="548640" y="1463040"/>
            <a:ext cx="4206240" cy="1975104"/>
            <a:chOff x="548640" y="1463040"/>
            <a:chExt cx="4206240" cy="1975104"/>
          </a:xfrm>
        </p:grpSpPr>
        <p:sp>
          <p:nvSpPr>
            <p:cNvPr id="9" name="Rounded Rectangle 8"/>
            <p:cNvSpPr/>
            <p:nvPr/>
          </p:nvSpPr>
          <p:spPr>
            <a:xfrm>
              <a:off x="548640" y="1463040"/>
              <a:ext cx="4206240" cy="548640"/>
            </a:xfrm>
            <a:prstGeom prst="roundRect">
              <a:avLst>
                <a:gd name="adj" fmla="val 50000"/>
              </a:avLst>
            </a:prstGeom>
            <a:solidFill>
              <a:srgbClr val="2B2F36"/>
            </a:solidFill>
            <a:ln w="25400">
              <a:solidFill>
                <a:srgbClr val="F28C28"/>
              </a:solidFill>
            </a:ln>
          </p:spPr>
          <p:txBody>
            <a:bodyPr rtlCol="0" anchor="ctr" wrap="square" lIns="54864" tIns="18288" rIns="54864" bIns="18288">
              <a:noAutofit/>
            </a:bodyPr>
            <a:lstStyle/>
            <a:p>
              <a:pPr algn="ctr"/>
              <a:r>
                <a:rPr sz="2000" b="1" i="0" lang="en-GB">
                  <a:solidFill>
                    <a:srgbClr val="F2F2F2"/>
                  </a:solidFill>
                  <a:latin typeface="Arial"/>
                </a:rPr>
                <a:t>British</a:t>
              </a:r>
            </a:p>
          </p:txBody>
        </p:sp>
        <p:sp>
          <p:nvSpPr>
            <p:cNvPr id="10" name="Rounded Rectangle 9"/>
            <p:cNvSpPr/>
            <p:nvPr/>
          </p:nvSpPr>
          <p:spPr>
            <a:xfrm>
              <a:off x="548640" y="2176272"/>
              <a:ext cx="4206240" cy="548640"/>
            </a:xfrm>
            <a:prstGeom prst="roundRect">
              <a:avLst>
                <a:gd name="adj" fmla="val 50000"/>
              </a:avLst>
            </a:prstGeom>
            <a:solidFill>
              <a:srgbClr val="2B2F36"/>
            </a:solidFill>
            <a:ln w="25400">
              <a:solidFill>
                <a:srgbClr val="F28C28"/>
              </a:solidFill>
            </a:ln>
          </p:spPr>
          <p:txBody>
            <a:bodyPr rtlCol="0" anchor="ctr" wrap="square" lIns="54864" tIns="18288" rIns="54864" bIns="18288">
              <a:noAutofit/>
            </a:bodyPr>
            <a:lstStyle/>
            <a:p>
              <a:pPr algn="ctr"/>
              <a:r>
                <a:rPr sz="2000" b="1" i="0" lang="en-GB">
                  <a:solidFill>
                    <a:srgbClr val="F2F2F2"/>
                  </a:solidFill>
                  <a:latin typeface="Arial"/>
                </a:rPr>
                <a:t>North American</a:t>
              </a:r>
            </a:p>
          </p:txBody>
        </p:sp>
        <p:sp>
          <p:nvSpPr>
            <p:cNvPr id="11" name="Rounded Rectangle 10"/>
            <p:cNvSpPr/>
            <p:nvPr/>
          </p:nvSpPr>
          <p:spPr>
            <a:xfrm>
              <a:off x="548640" y="2889504"/>
              <a:ext cx="4206240" cy="548640"/>
            </a:xfrm>
            <a:prstGeom prst="roundRect">
              <a:avLst>
                <a:gd name="adj" fmla="val 50000"/>
              </a:avLst>
            </a:prstGeom>
            <a:solidFill>
              <a:srgbClr val="2B2F36"/>
            </a:solidFill>
            <a:ln w="25400">
              <a:solidFill>
                <a:srgbClr val="F28C28"/>
              </a:solidFill>
            </a:ln>
          </p:spPr>
          <p:txBody>
            <a:bodyPr rtlCol="0" anchor="ctr" wrap="square" lIns="54864" tIns="18288" rIns="54864" bIns="18288">
              <a:noAutofit/>
            </a:bodyPr>
            <a:lstStyle/>
            <a:p>
              <a:pPr algn="ctr"/>
              <a:r>
                <a:rPr sz="2000" b="1" i="0" lang="en-GB">
                  <a:solidFill>
                    <a:srgbClr val="F2F2F2"/>
                  </a:solidFill>
                  <a:latin typeface="Arial"/>
                </a:rPr>
                <a:t>Continental European</a:t>
              </a:r>
            </a:p>
          </p:txBody>
        </p:sp>
      </p:grpSp>
      <p:sp>
        <p:nvSpPr>
          <p:cNvPr id="12" name="TextBox 11"/>
          <p:cNvSpPr txBox="1"/>
          <p:nvPr/>
        </p:nvSpPr>
        <p:spPr>
          <a:xfrm>
            <a:off x="548640" y="3657600"/>
            <a:ext cx="3657600" cy="365760"/>
          </a:xfrm>
          <a:prstGeom prst="rect">
            <a:avLst/>
          </a:prstGeom>
          <a:noFill/>
        </p:spPr>
        <p:txBody>
          <a:bodyPr wrap="square" lIns="0" tIns="0" rIns="0" bIns="0" anchor="ctr">
            <a:noAutofit/>
          </a:bodyPr>
          <a:lstStyle/>
          <a:p>
            <a:pPr algn="l"/>
            <a:r>
              <a:rPr sz="1800" b="0" i="0" lang="en-GB">
                <a:solidFill>
                  <a:srgbClr val="F2F2F2"/>
                </a:solidFill>
                <a:latin typeface="Arial"/>
              </a:rPr>
              <a:t>Examples only. Launch regions:</a:t>
            </a:r>
          </a:p>
        </p:txBody>
      </p:sp>
      <p:sp>
        <p:nvSpPr>
          <p:cNvPr id="13" name="Inline chip Undecided"/>
          <p:cNvSpPr/>
          <p:nvPr/>
        </p:nvSpPr>
        <p:spPr>
          <a:xfrm>
            <a:off x="548640" y="4069080"/>
            <a:ext cx="20612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(OQ06)</a:t>
            </a:r>
          </a:p>
        </p:txBody>
      </p:sp>
      <p:grpSp>
        <p:nvGrpSpPr>
          <p:cNvPr id="14" name="Number plate" descr="A locomotive number plate reading No. 1234: the visible running number, which you can change. Under it, a small hidden Fleet ID that never changes."/>
          <p:cNvGrpSpPr/>
          <p:nvPr/>
        </p:nvGrpSpPr>
        <p:grpSpPr>
          <a:xfrm>
            <a:off x="5760720" y="1417320"/>
            <a:ext cx="5879592" cy="3108960"/>
            <a:chOff x="5760720" y="1417320"/>
            <a:chExt cx="5879592" cy="3108960"/>
          </a:xfrm>
        </p:grpSpPr>
        <p:sp>
          <p:nvSpPr>
            <p:cNvPr id="15" name="Rounded Rectangle 14"/>
            <p:cNvSpPr/>
            <p:nvPr/>
          </p:nvSpPr>
          <p:spPr>
            <a:xfrm>
              <a:off x="5760720" y="1417320"/>
              <a:ext cx="5879592" cy="3108960"/>
            </a:xfrm>
            <a:prstGeom prst="roundRect">
              <a:avLst>
                <a:gd name="adj" fmla="val 3529"/>
              </a:avLst>
            </a:prstGeom>
            <a:solidFill>
              <a:srgbClr val="2B2F36"/>
            </a:solidFill>
            <a:ln>
              <a:noFill/>
            </a:ln>
          </p:spPr>
          <p:txBody>
            <a:bodyPr rtlCol="0" anchor="ctr"/>
            <a:lstStyle/>
            <a:p>
              <a:pPr algn="ctr"/>
            </a:p>
          </p:txBody>
        </p:sp>
        <p:sp>
          <p:nvSpPr>
            <p:cNvPr id="16" name="Rounded Rectangle 15"/>
            <p:cNvSpPr/>
            <p:nvPr/>
          </p:nvSpPr>
          <p:spPr>
            <a:xfrm>
              <a:off x="6583680" y="1691640"/>
              <a:ext cx="4206240" cy="1325880"/>
            </a:xfrm>
            <a:prstGeom prst="roundRect">
              <a:avLst>
                <a:gd name="adj" fmla="val 13793"/>
              </a:avLst>
            </a:prstGeom>
            <a:solidFill>
              <a:srgbClr val="1B1D21"/>
            </a:solidFill>
            <a:ln w="50800">
              <a:solidFill>
                <a:srgbClr val="F28C28"/>
              </a:solidFill>
            </a:ln>
          </p:spPr>
          <p:txBody>
            <a:bodyPr rtlCol="0" anchor="ctr" wrap="square" lIns="73152" tIns="36576" rIns="73152" bIns="36576">
              <a:noAutofit/>
            </a:bodyPr>
            <a:lstStyle/>
            <a:p>
              <a:pPr algn="ctr"/>
              <a:r>
                <a:rPr sz="5400" b="1" i="0" lang="en-GB">
                  <a:solidFill>
                    <a:srgbClr val="F28C28"/>
                  </a:solidFill>
                  <a:latin typeface="Arial"/>
                </a:rPr>
                <a:t>No. 1234</a:t>
              </a:r>
            </a:p>
          </p:txBody>
        </p:sp>
        <p:sp>
          <p:nvSpPr>
            <p:cNvPr id="17" name="TextBox 16"/>
            <p:cNvSpPr txBox="1"/>
            <p:nvPr/>
          </p:nvSpPr>
          <p:spPr>
            <a:xfrm>
              <a:off x="6583680" y="3072384"/>
              <a:ext cx="4206240" cy="384048"/>
            </a:xfrm>
            <a:prstGeom prst="rect">
              <a:avLst/>
            </a:prstGeom>
            <a:noFill/>
          </p:spPr>
          <p:txBody>
            <a:bodyPr wrap="square" lIns="0" tIns="0" rIns="0" bIns="0" anchor="t">
              <a:noAutofit/>
            </a:bodyPr>
            <a:lstStyle/>
            <a:p>
              <a:pPr algn="ctr"/>
              <a:r>
                <a:rPr sz="1800" b="1" i="0" lang="en-GB">
                  <a:solidFill>
                    <a:srgbClr val="F2F2F2"/>
                  </a:solidFill>
                  <a:latin typeface="Arial"/>
                </a:rPr>
                <a:t>Visible number</a:t>
              </a:r>
            </a:p>
          </p:txBody>
        </p:sp>
        <p:sp>
          <p:nvSpPr>
            <p:cNvPr id="18" name="Rounded Rectangle 17"/>
            <p:cNvSpPr/>
            <p:nvPr/>
          </p:nvSpPr>
          <p:spPr>
            <a:xfrm>
              <a:off x="6583680" y="3657600"/>
              <a:ext cx="4206240" cy="502920"/>
            </a:xfrm>
            <a:prstGeom prst="roundRect">
              <a:avLst>
                <a:gd name="adj" fmla="val 14545"/>
              </a:avLst>
            </a:prstGeom>
            <a:solidFill>
              <a:srgbClr val="343A43"/>
            </a:solidFill>
            <a:ln w="12700">
              <a:solidFill>
                <a:srgbClr val="4A515B"/>
              </a:solidFill>
              <a:prstDash val="dash"/>
            </a:ln>
          </p:spPr>
          <p:txBody>
            <a:bodyPr rtlCol="0" anchor="ctr" wrap="square" lIns="73152" tIns="36576" rIns="73152" bIns="36576">
              <a:noAutofit/>
            </a:bodyPr>
            <a:lstStyle/>
            <a:p>
              <a:pPr algn="ctr"/>
              <a:r>
                <a:rPr sz="1600" b="0" i="0" lang="en-GB">
                  <a:solidFill>
                    <a:srgbClr val="F2F2F2"/>
                  </a:solidFill>
                  <a:latin typeface="Arial"/>
                </a:rPr>
                <a:t>Fleet ID: hidden, never changes</a:t>
              </a:r>
            </a:p>
          </p:txBody>
        </p:sp>
      </p:grpSp>
      <p:sp>
        <p:nvSpPr>
          <p:cNvPr id="19" name="TextBox 18"/>
          <p:cNvSpPr txBox="1"/>
          <p:nvPr/>
        </p:nvSpPr>
        <p:spPr>
          <a:xfrm>
            <a:off x="548640" y="4800600"/>
            <a:ext cx="6400800" cy="365760"/>
          </a:xfrm>
          <a:prstGeom prst="rect">
            <a:avLst/>
          </a:prstGeom>
          <a:noFill/>
        </p:spPr>
        <p:txBody>
          <a:bodyPr wrap="square" lIns="0" tIns="0" rIns="0" bIns="0" anchor="ctr">
            <a:noAutofit/>
          </a:bodyPr>
          <a:lstStyle/>
          <a:p>
            <a:pPr algn="l"/>
            <a:r>
              <a:rPr sz="1800" b="0" i="0" lang="en-GB">
                <a:solidFill>
                  <a:srgbClr val="F2F2F2"/>
                </a:solidFill>
                <a:latin typeface="Arial"/>
              </a:rPr>
              <a:t>Changing region restyles Core stock. Migration:</a:t>
            </a:r>
          </a:p>
        </p:txBody>
      </p:sp>
      <p:sp>
        <p:nvSpPr>
          <p:cNvPr id="20" name="Inline chip Undecided"/>
          <p:cNvSpPr/>
          <p:nvPr/>
        </p:nvSpPr>
        <p:spPr>
          <a:xfrm>
            <a:off x="5499100" y="4818888"/>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The world picks a regional style. Each engine has a hidden permanent ID and a number you can change.</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EXTRAS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37</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225"/>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par>
                                <p:cTn id="11" presetID="10" presetClass="entr" presetSubtype="0" fill="hold" nodeType="withEffect">
                                  <p:stCondLst>
                                    <p:cond delay="45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par>
                                <p:cTn id="14" presetID="10" presetClass="entr" presetSubtype="0" fill="hold" nodeType="withEffect">
                                  <p:stCondLst>
                                    <p:cond delay="675"/>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childTnLst>
                                </p:cTn>
                              </p:par>
                              <p:par>
                                <p:cTn id="17" presetID="10" presetClass="entr" presetSubtype="0" fill="hold" nodeType="withEffect">
                                  <p:stCondLst>
                                    <p:cond delay="90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par>
                                <p:cTn id="20" presetID="10" presetClass="entr" presetSubtype="0" fill="hold" nodeType="withEffect">
                                  <p:stCondLst>
                                    <p:cond delay="1125"/>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par>
                                <p:cTn id="23" presetID="10" presetClass="entr" presetSubtype="0" fill="hold" nodeType="withEffect">
                                  <p:stCondLst>
                                    <p:cond delay="1350"/>
                                  </p:stCondLst>
                                  <p:childTnLst>
                                    <p:set>
                                      <p:cBhvr>
                                        <p:cTn id="24" dur="1" fill="hold">
                                          <p:stCondLst>
                                            <p:cond delay="0"/>
                                          </p:stCondLst>
                                        </p:cTn>
                                        <p:tgtEl>
                                          <p:spTgt spid="4"/>
                                        </p:tgtEl>
                                        <p:attrNameLst>
                                          <p:attrName>style.visibility</p:attrName>
                                        </p:attrNameLst>
                                      </p:cBhvr>
                                      <p:to>
                                        <p:strVal val="visible"/>
                                      </p:to>
                                    </p:set>
                                    <p:animEffect transition="in" filter="fade">
                                      <p:cBhvr>
                                        <p:cTn id="25" dur="500"/>
                                        <p:tgtEl>
                                          <p:spTgt spid="4"/>
                                        </p:tgtEl>
                                      </p:cBhvr>
                                    </p:animEffect>
                                  </p:childTnLst>
                                </p:cTn>
                              </p:par>
                              <p:par>
                                <p:cTn id="26" presetID="10" presetClass="entr" presetSubtype="0" fill="hold" nodeType="withEffect">
                                  <p:stCondLst>
                                    <p:cond delay="1575"/>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Your railway guide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Lesson table" descr="A miniature lesson scene on a clean white model-railway table: an oval of track, a tiny train, a semaphore and a signal box, with a caption bubble and playback controls (pause, replay, back, next)."/>
          <p:cNvGrpSpPr/>
          <p:nvPr/>
        </p:nvGrpSpPr>
        <p:grpSpPr>
          <a:xfrm>
            <a:off x="548640" y="1371600"/>
            <a:ext cx="6949440" cy="3931920"/>
            <a:chOff x="548640" y="1371600"/>
            <a:chExt cx="6949440" cy="3931920"/>
          </a:xfrm>
        </p:grpSpPr>
        <p:sp>
          <p:nvSpPr>
            <p:cNvPr id="9" name="Rounded Rectangle 8"/>
            <p:cNvSpPr/>
            <p:nvPr/>
          </p:nvSpPr>
          <p:spPr>
            <a:xfrm>
              <a:off x="548640" y="1371600"/>
              <a:ext cx="6949440" cy="3200400"/>
            </a:xfrm>
            <a:prstGeom prst="roundRect">
              <a:avLst>
                <a:gd name="adj" fmla="val 4285"/>
              </a:avLst>
            </a:prstGeom>
            <a:solidFill>
              <a:srgbClr val="F2F2F2"/>
            </a:solidFill>
            <a:ln>
              <a:noFill/>
            </a:ln>
          </p:spPr>
          <p:txBody>
            <a:bodyPr rtlCol="0" anchor="ctr"/>
            <a:lstStyle/>
            <a:p>
              <a:pPr algn="ctr"/>
            </a:p>
          </p:txBody>
        </p:sp>
        <p:sp>
          <p:nvSpPr>
            <p:cNvPr id="10" name="Oval 9"/>
            <p:cNvSpPr/>
            <p:nvPr/>
          </p:nvSpPr>
          <p:spPr>
            <a:xfrm>
              <a:off x="1600200" y="2034540"/>
              <a:ext cx="4846320" cy="2240280"/>
            </a:xfrm>
            <a:prstGeom prst="ellipse">
              <a:avLst/>
            </a:prstGeom>
            <a:noFill/>
            <a:ln w="38100">
              <a:solidFill>
                <a:srgbClr val="5A6068"/>
              </a:solidFill>
            </a:ln>
          </p:spPr>
          <p:txBody>
            <a:bodyPr rtlCol="0" anchor="ctr"/>
            <a:lstStyle/>
            <a:p>
              <a:pPr algn="ctr"/>
            </a:p>
          </p:txBody>
        </p:sp>
        <p:sp>
          <p:nvSpPr>
            <p:cNvPr id="11" name="Oval 10"/>
            <p:cNvSpPr/>
            <p:nvPr/>
          </p:nvSpPr>
          <p:spPr>
            <a:xfrm>
              <a:off x="1828800" y="2263140"/>
              <a:ext cx="4389120" cy="1783080"/>
            </a:xfrm>
            <a:prstGeom prst="ellipse">
              <a:avLst/>
            </a:prstGeom>
            <a:noFill/>
            <a:ln w="38100">
              <a:solidFill>
                <a:srgbClr val="5A6068"/>
              </a:solidFill>
            </a:ln>
          </p:spPr>
          <p:txBody>
            <a:bodyPr rtlCol="0" anchor="ctr"/>
            <a:lstStyle/>
            <a:p>
              <a:pPr algn="ctr"/>
            </a:p>
          </p:txBody>
        </p:sp>
        <p:grpSp>
          <p:nvGrpSpPr>
            <p:cNvPr id="12" name="Tiny train" descr="A steam train: an engine pulling wagons."/>
            <p:cNvGrpSpPr/>
            <p:nvPr/>
          </p:nvGrpSpPr>
          <p:grpSpPr>
            <a:xfrm>
              <a:off x="3246120" y="3756812"/>
              <a:ext cx="945490" cy="467716"/>
              <a:chOff x="3246120" y="3756812"/>
              <a:chExt cx="945490" cy="467716"/>
            </a:xfrm>
          </p:grpSpPr>
          <p:sp>
            <p:nvSpPr>
              <p:cNvPr id="13" name="Rectangle 12"/>
              <p:cNvSpPr/>
              <p:nvPr/>
            </p:nvSpPr>
            <p:spPr>
              <a:xfrm>
                <a:off x="3246120" y="3937864"/>
                <a:ext cx="402336" cy="226314"/>
              </a:xfrm>
              <a:prstGeom prst="rect">
                <a:avLst/>
              </a:prstGeom>
              <a:solidFill>
                <a:srgbClr val="6C7480"/>
              </a:solidFill>
              <a:ln w="9525">
                <a:solidFill>
                  <a:srgbClr val="101418"/>
                </a:solidFill>
              </a:ln>
            </p:spPr>
            <p:txBody>
              <a:bodyPr rtlCol="0" anchor="ctr"/>
              <a:lstStyle/>
              <a:p>
                <a:pPr algn="ctr"/>
              </a:p>
            </p:txBody>
          </p:sp>
          <p:sp>
            <p:nvSpPr>
              <p:cNvPr id="14" name="Oval 13"/>
              <p:cNvSpPr/>
              <p:nvPr/>
            </p:nvSpPr>
            <p:spPr>
              <a:xfrm>
                <a:off x="3296412" y="4123944"/>
                <a:ext cx="100584" cy="100584"/>
              </a:xfrm>
              <a:prstGeom prst="ellipse">
                <a:avLst/>
              </a:prstGeom>
              <a:solidFill>
                <a:srgbClr val="1B1D21"/>
              </a:solidFill>
              <a:ln w="12700">
                <a:solidFill>
                  <a:srgbClr val="9AA0A6"/>
                </a:solidFill>
              </a:ln>
            </p:spPr>
            <p:txBody>
              <a:bodyPr rtlCol="0" anchor="ctr"/>
              <a:lstStyle/>
              <a:p>
                <a:pPr algn="ctr"/>
              </a:p>
            </p:txBody>
          </p:sp>
          <p:sp>
            <p:nvSpPr>
              <p:cNvPr id="15" name="Oval 14"/>
              <p:cNvSpPr/>
              <p:nvPr/>
            </p:nvSpPr>
            <p:spPr>
              <a:xfrm>
                <a:off x="3497580" y="4123944"/>
                <a:ext cx="100584" cy="100584"/>
              </a:xfrm>
              <a:prstGeom prst="ellipse">
                <a:avLst/>
              </a:prstGeom>
              <a:solidFill>
                <a:srgbClr val="1B1D21"/>
              </a:solidFill>
              <a:ln w="12700">
                <a:solidFill>
                  <a:srgbClr val="9AA0A6"/>
                </a:solidFill>
              </a:ln>
            </p:spPr>
            <p:txBody>
              <a:bodyPr rtlCol="0" anchor="ctr"/>
              <a:lstStyle/>
              <a:p>
                <a:pPr algn="ctr"/>
              </a:p>
            </p:txBody>
          </p:sp>
          <p:sp>
            <p:nvSpPr>
              <p:cNvPr id="16" name="Rectangle 15"/>
              <p:cNvSpPr/>
              <p:nvPr/>
            </p:nvSpPr>
            <p:spPr>
              <a:xfrm>
                <a:off x="3648456" y="4098798"/>
                <a:ext cx="40234" cy="25146"/>
              </a:xfrm>
              <a:prstGeom prst="rect">
                <a:avLst/>
              </a:prstGeom>
              <a:solidFill>
                <a:srgbClr val="9AA0A6"/>
              </a:solidFill>
              <a:ln>
                <a:noFill/>
              </a:ln>
            </p:spPr>
            <p:txBody>
              <a:bodyPr rtlCol="0" anchor="ctr"/>
              <a:lstStyle/>
              <a:p>
                <a:pPr algn="ctr"/>
              </a:p>
            </p:txBody>
          </p:sp>
          <p:sp>
            <p:nvSpPr>
              <p:cNvPr id="17" name="Rectangle 16"/>
              <p:cNvSpPr/>
              <p:nvPr/>
            </p:nvSpPr>
            <p:spPr>
              <a:xfrm>
                <a:off x="3688690" y="3897630"/>
                <a:ext cx="502920" cy="276606"/>
              </a:xfrm>
              <a:prstGeom prst="rect">
                <a:avLst/>
              </a:prstGeom>
              <a:solidFill>
                <a:srgbClr val="F28C28"/>
              </a:solidFill>
              <a:ln w="9525">
                <a:solidFill>
                  <a:srgbClr val="101418"/>
                </a:solidFill>
              </a:ln>
            </p:spPr>
            <p:txBody>
              <a:bodyPr rtlCol="0" anchor="ctr"/>
              <a:lstStyle/>
              <a:p>
                <a:pPr algn="ctr"/>
              </a:p>
            </p:txBody>
          </p:sp>
          <p:sp>
            <p:nvSpPr>
              <p:cNvPr id="18" name="Bunker"/>
              <p:cNvSpPr/>
              <p:nvPr/>
            </p:nvSpPr>
            <p:spPr>
              <a:xfrm>
                <a:off x="3703777" y="3912718"/>
                <a:ext cx="130759" cy="100584"/>
              </a:xfrm>
              <a:prstGeom prst="rect">
                <a:avLst/>
              </a:prstGeom>
              <a:solidFill>
                <a:srgbClr val="1B1D21"/>
              </a:solidFill>
              <a:ln>
                <a:noFill/>
              </a:ln>
            </p:spPr>
            <p:txBody>
              <a:bodyPr rtlCol="0" anchor="ctr"/>
              <a:lstStyle/>
              <a:p>
                <a:pPr algn="ctr"/>
              </a:p>
            </p:txBody>
          </p:sp>
          <p:sp>
            <p:nvSpPr>
              <p:cNvPr id="19" name="Rectangle 18"/>
              <p:cNvSpPr/>
              <p:nvPr/>
            </p:nvSpPr>
            <p:spPr>
              <a:xfrm>
                <a:off x="3859682" y="3932834"/>
                <a:ext cx="70409" cy="70409"/>
              </a:xfrm>
              <a:prstGeom prst="rect">
                <a:avLst/>
              </a:prstGeom>
              <a:solidFill>
                <a:srgbClr val="2B2F36"/>
              </a:solidFill>
              <a:ln>
                <a:noFill/>
              </a:ln>
            </p:spPr>
            <p:txBody>
              <a:bodyPr rtlCol="0" anchor="ctr"/>
              <a:lstStyle/>
              <a:p>
                <a:pPr algn="ctr"/>
              </a:p>
            </p:txBody>
          </p:sp>
          <p:sp>
            <p:nvSpPr>
              <p:cNvPr id="20" name="Chimney"/>
              <p:cNvSpPr/>
              <p:nvPr/>
            </p:nvSpPr>
            <p:spPr>
              <a:xfrm>
                <a:off x="4080967" y="3756812"/>
                <a:ext cx="75438" cy="150876"/>
              </a:xfrm>
              <a:prstGeom prst="rect">
                <a:avLst/>
              </a:prstGeom>
              <a:solidFill>
                <a:srgbClr val="1B1D21"/>
              </a:solidFill>
              <a:ln>
                <a:noFill/>
              </a:ln>
            </p:spPr>
            <p:txBody>
              <a:bodyPr rtlCol="0" anchor="ctr"/>
              <a:lstStyle/>
              <a:p>
                <a:pPr algn="ctr"/>
              </a:p>
            </p:txBody>
          </p:sp>
          <p:sp>
            <p:nvSpPr>
              <p:cNvPr id="21" name="Oval 20"/>
              <p:cNvSpPr/>
              <p:nvPr/>
            </p:nvSpPr>
            <p:spPr>
              <a:xfrm>
                <a:off x="3738982" y="4123944"/>
                <a:ext cx="100584" cy="100584"/>
              </a:xfrm>
              <a:prstGeom prst="ellipse">
                <a:avLst/>
              </a:prstGeom>
              <a:solidFill>
                <a:srgbClr val="1B1D21"/>
              </a:solidFill>
              <a:ln w="12700">
                <a:solidFill>
                  <a:srgbClr val="9AA0A6"/>
                </a:solidFill>
              </a:ln>
            </p:spPr>
            <p:txBody>
              <a:bodyPr rtlCol="0" anchor="ctr"/>
              <a:lstStyle/>
              <a:p>
                <a:pPr algn="ctr"/>
              </a:p>
            </p:txBody>
          </p:sp>
          <p:sp>
            <p:nvSpPr>
              <p:cNvPr id="22" name="Oval 21"/>
              <p:cNvSpPr/>
              <p:nvPr/>
            </p:nvSpPr>
            <p:spPr>
              <a:xfrm>
                <a:off x="3889858" y="4123944"/>
                <a:ext cx="100584" cy="100584"/>
              </a:xfrm>
              <a:prstGeom prst="ellipse">
                <a:avLst/>
              </a:prstGeom>
              <a:solidFill>
                <a:srgbClr val="1B1D21"/>
              </a:solidFill>
              <a:ln w="12700">
                <a:solidFill>
                  <a:srgbClr val="9AA0A6"/>
                </a:solidFill>
              </a:ln>
            </p:spPr>
            <p:txBody>
              <a:bodyPr rtlCol="0" anchor="ctr"/>
              <a:lstStyle/>
              <a:p>
                <a:pPr algn="ctr"/>
              </a:p>
            </p:txBody>
          </p:sp>
          <p:sp>
            <p:nvSpPr>
              <p:cNvPr id="23" name="Oval 22"/>
              <p:cNvSpPr/>
              <p:nvPr/>
            </p:nvSpPr>
            <p:spPr>
              <a:xfrm>
                <a:off x="4040734" y="4123944"/>
                <a:ext cx="100584" cy="100584"/>
              </a:xfrm>
              <a:prstGeom prst="ellipse">
                <a:avLst/>
              </a:prstGeom>
              <a:solidFill>
                <a:srgbClr val="1B1D21"/>
              </a:solidFill>
              <a:ln w="12700">
                <a:solidFill>
                  <a:srgbClr val="9AA0A6"/>
                </a:solidFill>
              </a:ln>
            </p:spPr>
            <p:txBody>
              <a:bodyPr rtlCol="0" anchor="ctr"/>
              <a:lstStyle/>
              <a:p>
                <a:pPr algn="ctr"/>
              </a:p>
            </p:txBody>
          </p:sp>
        </p:grpSp>
        <p:grpSp>
          <p:nvGrpSpPr>
            <p:cNvPr id="24" name="Signal clear" descr="Semaphore stop signal, arm raised: CLEAR."/>
            <p:cNvGrpSpPr/>
            <p:nvPr/>
          </p:nvGrpSpPr>
          <p:grpSpPr>
            <a:xfrm>
              <a:off x="6534893" y="2550395"/>
              <a:ext cx="589426" cy="970045"/>
              <a:chOff x="6534893" y="2550395"/>
              <a:chExt cx="589426" cy="970045"/>
            </a:xfrm>
          </p:grpSpPr>
          <p:sp>
            <p:nvSpPr>
              <p:cNvPr id="25" name="Rectangle 24"/>
              <p:cNvSpPr/>
              <p:nvPr/>
            </p:nvSpPr>
            <p:spPr>
              <a:xfrm>
                <a:off x="6832854" y="3472434"/>
                <a:ext cx="233172" cy="48006"/>
              </a:xfrm>
              <a:prstGeom prst="rect">
                <a:avLst/>
              </a:prstGeom>
              <a:solidFill>
                <a:srgbClr val="9AA0A6"/>
              </a:solidFill>
              <a:ln>
                <a:noFill/>
              </a:ln>
            </p:spPr>
            <p:txBody>
              <a:bodyPr rtlCol="0" anchor="ctr"/>
              <a:lstStyle/>
              <a:p>
                <a:pPr algn="ctr"/>
              </a:p>
            </p:txBody>
          </p:sp>
          <p:sp>
            <p:nvSpPr>
              <p:cNvPr id="26" name="Rectangle 25"/>
              <p:cNvSpPr/>
              <p:nvPr/>
            </p:nvSpPr>
            <p:spPr>
              <a:xfrm>
                <a:off x="6908292" y="2766060"/>
                <a:ext cx="82296" cy="754380"/>
              </a:xfrm>
              <a:prstGeom prst="rect">
                <a:avLst/>
              </a:prstGeom>
              <a:solidFill>
                <a:srgbClr val="5A6068"/>
              </a:solidFill>
              <a:ln>
                <a:noFill/>
              </a:ln>
            </p:spPr>
            <p:txBody>
              <a:bodyPr rtlCol="0" anchor="ctr"/>
              <a:lstStyle/>
              <a:p>
                <a:pPr algn="ctr"/>
              </a:p>
            </p:txBody>
          </p:sp>
          <p:sp>
            <p:nvSpPr>
              <p:cNvPr id="27" name="Oval 26"/>
              <p:cNvSpPr/>
              <p:nvPr/>
            </p:nvSpPr>
            <p:spPr>
              <a:xfrm>
                <a:off x="6901434" y="2690622"/>
                <a:ext cx="96012" cy="96012"/>
              </a:xfrm>
              <a:prstGeom prst="ellipse">
                <a:avLst/>
              </a:prstGeom>
              <a:solidFill>
                <a:srgbClr val="5A6068"/>
              </a:solidFill>
              <a:ln>
                <a:noFill/>
              </a:ln>
            </p:spPr>
            <p:txBody>
              <a:bodyPr rtlCol="0" anchor="ctr"/>
              <a:lstStyle/>
              <a:p>
                <a:pPr algn="ctr"/>
              </a:p>
            </p:txBody>
          </p:sp>
          <p:sp>
            <p:nvSpPr>
              <p:cNvPr id="28" name="Freeform 27"/>
              <p:cNvSpPr/>
              <p:nvPr/>
            </p:nvSpPr>
            <p:spPr>
              <a:xfrm>
                <a:off x="6534893" y="2550395"/>
                <a:ext cx="407344" cy="407344"/>
              </a:xfrm>
              <a:custGeom>
                <a:avLst/>
                <a:gdLst/>
                <a:ahLst/>
                <a:cxnLst/>
                <a:rect l="l" t="t" r="r" b="b"/>
                <a:pathLst>
                  <a:path w="407344" h="407344">
                    <a:moveTo>
                      <a:pt x="407344" y="339454"/>
                    </a:moveTo>
                    <a:lnTo>
                      <a:pt x="67891" y="0"/>
                    </a:lnTo>
                    <a:lnTo>
                      <a:pt x="0" y="67891"/>
                    </a:lnTo>
                    <a:lnTo>
                      <a:pt x="339454" y="407344"/>
                    </a:lnTo>
                    <a:close/>
                  </a:path>
                </a:pathLst>
              </a:custGeom>
              <a:solidFill>
                <a:srgbClr val="E5484D"/>
              </a:solidFill>
              <a:ln w="9525">
                <a:solidFill>
                  <a:srgbClr val="101418"/>
                </a:solidFill>
              </a:ln>
            </p:spPr>
            <p:txBody>
              <a:bodyPr rtlCol="0" anchor="ctr"/>
              <a:lstStyle/>
              <a:p>
                <a:pPr algn="ctr"/>
              </a:p>
            </p:txBody>
          </p:sp>
          <p:sp>
            <p:nvSpPr>
              <p:cNvPr id="29" name="Freeform 28"/>
              <p:cNvSpPr/>
              <p:nvPr/>
            </p:nvSpPr>
            <p:spPr>
              <a:xfrm>
                <a:off x="6623151" y="2638653"/>
                <a:ext cx="108625" cy="108625"/>
              </a:xfrm>
              <a:custGeom>
                <a:avLst/>
                <a:gdLst/>
                <a:ahLst/>
                <a:cxnLst/>
                <a:rect l="l" t="t" r="r" b="b"/>
                <a:pathLst>
                  <a:path w="108625" h="108625">
                    <a:moveTo>
                      <a:pt x="108625" y="40734"/>
                    </a:moveTo>
                    <a:lnTo>
                      <a:pt x="67891" y="0"/>
                    </a:lnTo>
                    <a:lnTo>
                      <a:pt x="0" y="67891"/>
                    </a:lnTo>
                    <a:lnTo>
                      <a:pt x="40734" y="108625"/>
                    </a:lnTo>
                    <a:close/>
                  </a:path>
                </a:pathLst>
              </a:custGeom>
              <a:solidFill>
                <a:srgbClr val="FFFFFF"/>
              </a:solidFill>
              <a:ln>
                <a:noFill/>
              </a:ln>
            </p:spPr>
            <p:txBody>
              <a:bodyPr rtlCol="0" anchor="ctr"/>
              <a:lstStyle/>
              <a:p>
                <a:pPr algn="ctr"/>
              </a:p>
            </p:txBody>
          </p:sp>
          <p:sp>
            <p:nvSpPr>
              <p:cNvPr id="30" name="Oval 29"/>
              <p:cNvSpPr/>
              <p:nvPr/>
            </p:nvSpPr>
            <p:spPr>
              <a:xfrm>
                <a:off x="7007733" y="2865501"/>
                <a:ext cx="116586" cy="116586"/>
              </a:xfrm>
              <a:prstGeom prst="ellipse">
                <a:avLst/>
              </a:prstGeom>
              <a:solidFill>
                <a:srgbClr val="3FB950"/>
              </a:solidFill>
              <a:ln w="9525">
                <a:solidFill>
                  <a:srgbClr val="101418"/>
                </a:solidFill>
              </a:ln>
            </p:spPr>
            <p:txBody>
              <a:bodyPr rtlCol="0" anchor="ctr"/>
              <a:lstStyle/>
              <a:p>
                <a:pPr algn="ctr"/>
              </a:p>
            </p:txBody>
          </p:sp>
        </p:grpSp>
        <p:sp>
          <p:nvSpPr>
            <p:cNvPr id="31" name="Freeform 30"/>
            <p:cNvSpPr/>
            <p:nvPr/>
          </p:nvSpPr>
          <p:spPr>
            <a:xfrm>
              <a:off x="960120" y="1997964"/>
              <a:ext cx="914400" cy="150876"/>
            </a:xfrm>
            <a:custGeom>
              <a:avLst/>
              <a:gdLst/>
              <a:ahLst/>
              <a:cxnLst/>
              <a:rect l="l" t="t" r="r" b="b"/>
              <a:pathLst>
                <a:path w="914400" h="150876">
                  <a:moveTo>
                    <a:pt x="0" y="150876"/>
                  </a:moveTo>
                  <a:lnTo>
                    <a:pt x="457200" y="0"/>
                  </a:lnTo>
                  <a:lnTo>
                    <a:pt x="914400" y="150876"/>
                  </a:lnTo>
                  <a:close/>
                </a:path>
              </a:pathLst>
            </a:custGeom>
            <a:solidFill>
              <a:srgbClr val="4A515B"/>
            </a:solidFill>
            <a:ln w="19050">
              <a:solidFill>
                <a:srgbClr val="F28C28"/>
              </a:solidFill>
            </a:ln>
          </p:spPr>
          <p:txBody>
            <a:bodyPr rtlCol="0" anchor="ctr"/>
            <a:lstStyle/>
            <a:p>
              <a:pPr algn="ctr"/>
            </a:p>
          </p:txBody>
        </p:sp>
        <p:sp>
          <p:nvSpPr>
            <p:cNvPr id="32" name="Rectangle 31"/>
            <p:cNvSpPr/>
            <p:nvPr/>
          </p:nvSpPr>
          <p:spPr>
            <a:xfrm>
              <a:off x="1051560" y="2148840"/>
              <a:ext cx="731520" cy="502920"/>
            </a:xfrm>
            <a:prstGeom prst="rect">
              <a:avLst/>
            </a:prstGeom>
            <a:solidFill>
              <a:srgbClr val="2B2F36"/>
            </a:solidFill>
            <a:ln w="19050">
              <a:solidFill>
                <a:srgbClr val="F28C28"/>
              </a:solidFill>
            </a:ln>
          </p:spPr>
          <p:txBody>
            <a:bodyPr rtlCol="0" anchor="ctr"/>
            <a:lstStyle/>
            <a:p>
              <a:pPr algn="ctr"/>
            </a:p>
          </p:txBody>
        </p:sp>
        <p:sp>
          <p:nvSpPr>
            <p:cNvPr id="33" name="Rectangle 32"/>
            <p:cNvSpPr/>
            <p:nvPr/>
          </p:nvSpPr>
          <p:spPr>
            <a:xfrm>
              <a:off x="1143000" y="2258568"/>
              <a:ext cx="548640" cy="140818"/>
            </a:xfrm>
            <a:prstGeom prst="rect">
              <a:avLst/>
            </a:prstGeom>
            <a:solidFill>
              <a:srgbClr val="37587C"/>
            </a:solidFill>
            <a:ln w="9525">
              <a:solidFill>
                <a:srgbClr val="9AA0A6"/>
              </a:solidFill>
            </a:ln>
          </p:spPr>
          <p:txBody>
            <a:bodyPr rtlCol="0" anchor="ctr"/>
            <a:lstStyle/>
            <a:p>
              <a:pPr algn="ctr"/>
            </a:p>
          </p:txBody>
        </p:sp>
        <p:sp>
          <p:nvSpPr>
            <p:cNvPr id="34" name="Rounded Rectangular Callout 33"/>
            <p:cNvSpPr/>
            <p:nvPr/>
          </p:nvSpPr>
          <p:spPr>
            <a:xfrm>
              <a:off x="2377440" y="1572768"/>
              <a:ext cx="3291840" cy="502920"/>
            </a:xfrm>
            <a:prstGeom prst="wedgeRoundRectCallout">
              <a:avLst/>
            </a:prstGeom>
            <a:solidFill>
              <a:srgbClr val="2B2F36"/>
            </a:solidFill>
            <a:ln w="19050">
              <a:solidFill>
                <a:srgbClr val="F28C28"/>
              </a:solidFill>
            </a:ln>
          </p:spPr>
          <p:txBody>
            <a:bodyPr rtlCol="0" anchor="ctr" wrap="square" lIns="73152" tIns="36576" rIns="73152" bIns="36576">
              <a:noAutofit/>
            </a:bodyPr>
            <a:lstStyle/>
            <a:p>
              <a:pPr algn="ctr"/>
              <a:r>
                <a:rPr sz="1600" b="0" i="0" lang="en-GB">
                  <a:solidFill>
                    <a:srgbClr val="F2F2F2"/>
                  </a:solidFill>
                  <a:latin typeface="Arial"/>
                </a:rPr>
                <a:t>Short caption here</a:t>
              </a:r>
            </a:p>
          </p:txBody>
        </p:sp>
        <p:sp>
          <p:nvSpPr>
            <p:cNvPr id="35" name="Rounded Rectangle 34"/>
            <p:cNvSpPr/>
            <p:nvPr/>
          </p:nvSpPr>
          <p:spPr>
            <a:xfrm>
              <a:off x="548640" y="4681728"/>
              <a:ext cx="6949440" cy="621792"/>
            </a:xfrm>
            <a:prstGeom prst="roundRect">
              <a:avLst>
                <a:gd name="adj" fmla="val 14705"/>
              </a:avLst>
            </a:prstGeom>
            <a:solidFill>
              <a:srgbClr val="2B2F36"/>
            </a:solidFill>
            <a:ln>
              <a:noFill/>
            </a:ln>
          </p:spPr>
          <p:txBody>
            <a:bodyPr rtlCol="0" anchor="ctr"/>
            <a:lstStyle/>
            <a:p>
              <a:pPr algn="ctr"/>
            </a:p>
          </p:txBody>
        </p:sp>
        <p:sp>
          <p:nvSpPr>
            <p:cNvPr id="36" name="Oval 35"/>
            <p:cNvSpPr/>
            <p:nvPr/>
          </p:nvSpPr>
          <p:spPr>
            <a:xfrm>
              <a:off x="1965960" y="4764024"/>
              <a:ext cx="457200" cy="457200"/>
            </a:xfrm>
            <a:prstGeom prst="ellipse">
              <a:avLst/>
            </a:prstGeom>
            <a:solidFill>
              <a:srgbClr val="343A43"/>
            </a:solidFill>
            <a:ln w="19050">
              <a:solidFill>
                <a:srgbClr val="9AA0A6"/>
              </a:solidFill>
            </a:ln>
          </p:spPr>
          <p:txBody>
            <a:bodyPr rtlCol="0" anchor="ctr"/>
            <a:lstStyle/>
            <a:p>
              <a:pPr algn="ctr"/>
            </a:p>
          </p:txBody>
        </p:sp>
        <p:sp>
          <p:nvSpPr>
            <p:cNvPr id="37" name="Rectangle 36"/>
            <p:cNvSpPr/>
            <p:nvPr/>
          </p:nvSpPr>
          <p:spPr>
            <a:xfrm>
              <a:off x="2103120" y="4882896"/>
              <a:ext cx="64008" cy="219456"/>
            </a:xfrm>
            <a:prstGeom prst="rect">
              <a:avLst/>
            </a:prstGeom>
            <a:solidFill>
              <a:srgbClr val="F2F2F2"/>
            </a:solidFill>
            <a:ln>
              <a:noFill/>
            </a:ln>
          </p:spPr>
          <p:txBody>
            <a:bodyPr rtlCol="0" anchor="ctr"/>
            <a:lstStyle/>
            <a:p>
              <a:pPr algn="ctr"/>
            </a:p>
          </p:txBody>
        </p:sp>
        <p:sp>
          <p:nvSpPr>
            <p:cNvPr id="38" name="Rectangle 37"/>
            <p:cNvSpPr/>
            <p:nvPr/>
          </p:nvSpPr>
          <p:spPr>
            <a:xfrm>
              <a:off x="2221992" y="4882896"/>
              <a:ext cx="64008" cy="219456"/>
            </a:xfrm>
            <a:prstGeom prst="rect">
              <a:avLst/>
            </a:prstGeom>
            <a:solidFill>
              <a:srgbClr val="F2F2F2"/>
            </a:solidFill>
            <a:ln>
              <a:noFill/>
            </a:ln>
          </p:spPr>
          <p:txBody>
            <a:bodyPr rtlCol="0" anchor="ctr"/>
            <a:lstStyle/>
            <a:p>
              <a:pPr algn="ctr"/>
            </a:p>
          </p:txBody>
        </p:sp>
        <p:sp>
          <p:nvSpPr>
            <p:cNvPr id="39" name="Oval 38"/>
            <p:cNvSpPr/>
            <p:nvPr/>
          </p:nvSpPr>
          <p:spPr>
            <a:xfrm>
              <a:off x="3154680" y="4764024"/>
              <a:ext cx="457200" cy="457200"/>
            </a:xfrm>
            <a:prstGeom prst="ellipse">
              <a:avLst/>
            </a:prstGeom>
            <a:solidFill>
              <a:srgbClr val="343A43"/>
            </a:solidFill>
            <a:ln w="19050">
              <a:solidFill>
                <a:srgbClr val="9AA0A6"/>
              </a:solidFill>
            </a:ln>
          </p:spPr>
          <p:txBody>
            <a:bodyPr rtlCol="0" anchor="ctr"/>
            <a:lstStyle/>
            <a:p>
              <a:pPr algn="ctr"/>
            </a:p>
          </p:txBody>
        </p:sp>
        <p:sp>
          <p:nvSpPr>
            <p:cNvPr id="40" name="Freeform 39"/>
            <p:cNvSpPr/>
            <p:nvPr/>
          </p:nvSpPr>
          <p:spPr>
            <a:xfrm>
              <a:off x="3273787" y="4897597"/>
              <a:ext cx="218986" cy="204755"/>
            </a:xfrm>
            <a:custGeom>
              <a:avLst/>
              <a:gdLst/>
              <a:ahLst/>
              <a:cxnLst/>
              <a:rect l="l" t="t" r="r" b="b"/>
              <a:pathLst>
                <a:path w="218986" h="204755">
                  <a:moveTo>
                    <a:pt x="54629" y="0"/>
                  </a:moveTo>
                  <a:lnTo>
                    <a:pt x="26995" y="22678"/>
                  </a:lnTo>
                  <a:lnTo>
                    <a:pt x="8118" y="53036"/>
                  </a:lnTo>
                  <a:lnTo>
                    <a:pt x="0" y="87850"/>
                  </a:lnTo>
                  <a:lnTo>
                    <a:pt x="3504" y="123427"/>
                  </a:lnTo>
                  <a:lnTo>
                    <a:pt x="18258" y="155989"/>
                  </a:lnTo>
                  <a:lnTo>
                    <a:pt x="42695" y="182080"/>
                  </a:lnTo>
                  <a:lnTo>
                    <a:pt x="74222" y="198932"/>
                  </a:lnTo>
                  <a:lnTo>
                    <a:pt x="109493" y="204755"/>
                  </a:lnTo>
                  <a:lnTo>
                    <a:pt x="144764" y="198932"/>
                  </a:lnTo>
                  <a:lnTo>
                    <a:pt x="176291" y="182080"/>
                  </a:lnTo>
                  <a:lnTo>
                    <a:pt x="200728" y="155989"/>
                  </a:lnTo>
                  <a:lnTo>
                    <a:pt x="215482" y="123427"/>
                  </a:lnTo>
                  <a:lnTo>
                    <a:pt x="218986" y="87850"/>
                  </a:lnTo>
                  <a:lnTo>
                    <a:pt x="210868" y="53036"/>
                  </a:lnTo>
                  <a:lnTo>
                    <a:pt x="191991" y="22678"/>
                  </a:lnTo>
                  <a:lnTo>
                    <a:pt x="164357" y="0"/>
                  </a:lnTo>
                </a:path>
              </a:pathLst>
            </a:custGeom>
            <a:noFill/>
            <a:ln w="25400">
              <a:solidFill>
                <a:srgbClr val="F2F2F2"/>
              </a:solidFill>
              <a:tailEnd type="triangle" w="med" len="med"/>
            </a:ln>
          </p:spPr>
          <p:txBody>
            <a:bodyPr rtlCol="0" anchor="ctr"/>
            <a:lstStyle/>
            <a:p>
              <a:pPr algn="ctr"/>
            </a:p>
          </p:txBody>
        </p:sp>
        <p:sp>
          <p:nvSpPr>
            <p:cNvPr id="41" name="Oval 40"/>
            <p:cNvSpPr/>
            <p:nvPr/>
          </p:nvSpPr>
          <p:spPr>
            <a:xfrm>
              <a:off x="4343400" y="4764024"/>
              <a:ext cx="457200" cy="457200"/>
            </a:xfrm>
            <a:prstGeom prst="ellipse">
              <a:avLst/>
            </a:prstGeom>
            <a:solidFill>
              <a:srgbClr val="343A43"/>
            </a:solidFill>
            <a:ln w="19050">
              <a:solidFill>
                <a:srgbClr val="9AA0A6"/>
              </a:solidFill>
            </a:ln>
          </p:spPr>
          <p:txBody>
            <a:bodyPr rtlCol="0" anchor="ctr"/>
            <a:lstStyle/>
            <a:p>
              <a:pPr algn="ctr"/>
            </a:p>
          </p:txBody>
        </p:sp>
        <p:sp>
          <p:nvSpPr>
            <p:cNvPr id="42" name="Rectangle 41"/>
            <p:cNvSpPr/>
            <p:nvPr/>
          </p:nvSpPr>
          <p:spPr>
            <a:xfrm>
              <a:off x="4462272" y="4892040"/>
              <a:ext cx="36576" cy="201168"/>
            </a:xfrm>
            <a:prstGeom prst="rect">
              <a:avLst/>
            </a:prstGeom>
            <a:solidFill>
              <a:srgbClr val="F2F2F2"/>
            </a:solidFill>
            <a:ln>
              <a:noFill/>
            </a:ln>
          </p:spPr>
          <p:txBody>
            <a:bodyPr rtlCol="0" anchor="ctr"/>
            <a:lstStyle/>
            <a:p>
              <a:pPr algn="ctr"/>
            </a:p>
          </p:txBody>
        </p:sp>
        <p:sp>
          <p:nvSpPr>
            <p:cNvPr id="43" name="Freeform 42"/>
            <p:cNvSpPr/>
            <p:nvPr/>
          </p:nvSpPr>
          <p:spPr>
            <a:xfrm>
              <a:off x="4517136" y="4892040"/>
              <a:ext cx="155448" cy="201168"/>
            </a:xfrm>
            <a:custGeom>
              <a:avLst/>
              <a:gdLst/>
              <a:ahLst/>
              <a:cxnLst/>
              <a:rect l="l" t="t" r="r" b="b"/>
              <a:pathLst>
                <a:path w="155448" h="201168">
                  <a:moveTo>
                    <a:pt x="155448" y="0"/>
                  </a:moveTo>
                  <a:lnTo>
                    <a:pt x="155448" y="201168"/>
                  </a:lnTo>
                  <a:lnTo>
                    <a:pt x="0" y="100584"/>
                  </a:lnTo>
                  <a:close/>
                </a:path>
              </a:pathLst>
            </a:custGeom>
            <a:solidFill>
              <a:srgbClr val="F2F2F2"/>
            </a:solidFill>
            <a:ln>
              <a:noFill/>
            </a:ln>
          </p:spPr>
          <p:txBody>
            <a:bodyPr rtlCol="0" anchor="ctr"/>
            <a:lstStyle/>
            <a:p>
              <a:pPr algn="ctr"/>
            </a:p>
          </p:txBody>
        </p:sp>
        <p:sp>
          <p:nvSpPr>
            <p:cNvPr id="44" name="Oval 43"/>
            <p:cNvSpPr/>
            <p:nvPr/>
          </p:nvSpPr>
          <p:spPr>
            <a:xfrm>
              <a:off x="5532120" y="4764024"/>
              <a:ext cx="457200" cy="457200"/>
            </a:xfrm>
            <a:prstGeom prst="ellipse">
              <a:avLst/>
            </a:prstGeom>
            <a:solidFill>
              <a:srgbClr val="343A43"/>
            </a:solidFill>
            <a:ln w="19050">
              <a:solidFill>
                <a:srgbClr val="9AA0A6"/>
              </a:solidFill>
            </a:ln>
          </p:spPr>
          <p:txBody>
            <a:bodyPr rtlCol="0" anchor="ctr"/>
            <a:lstStyle/>
            <a:p>
              <a:pPr algn="ctr"/>
            </a:p>
          </p:txBody>
        </p:sp>
        <p:sp>
          <p:nvSpPr>
            <p:cNvPr id="45" name="Rectangle 44"/>
            <p:cNvSpPr/>
            <p:nvPr/>
          </p:nvSpPr>
          <p:spPr>
            <a:xfrm>
              <a:off x="5833872" y="4892040"/>
              <a:ext cx="36576" cy="201168"/>
            </a:xfrm>
            <a:prstGeom prst="rect">
              <a:avLst/>
            </a:prstGeom>
            <a:solidFill>
              <a:srgbClr val="F2F2F2"/>
            </a:solidFill>
            <a:ln>
              <a:noFill/>
            </a:ln>
          </p:spPr>
          <p:txBody>
            <a:bodyPr rtlCol="0" anchor="ctr"/>
            <a:lstStyle/>
            <a:p>
              <a:pPr algn="ctr"/>
            </a:p>
          </p:txBody>
        </p:sp>
        <p:sp>
          <p:nvSpPr>
            <p:cNvPr id="46" name="Freeform 45"/>
            <p:cNvSpPr/>
            <p:nvPr/>
          </p:nvSpPr>
          <p:spPr>
            <a:xfrm>
              <a:off x="5660136" y="4892040"/>
              <a:ext cx="155448" cy="201168"/>
            </a:xfrm>
            <a:custGeom>
              <a:avLst/>
              <a:gdLst/>
              <a:ahLst/>
              <a:cxnLst/>
              <a:rect l="l" t="t" r="r" b="b"/>
              <a:pathLst>
                <a:path w="155448" h="201168">
                  <a:moveTo>
                    <a:pt x="0" y="0"/>
                  </a:moveTo>
                  <a:lnTo>
                    <a:pt x="0" y="201168"/>
                  </a:lnTo>
                  <a:lnTo>
                    <a:pt x="155448" y="100584"/>
                  </a:lnTo>
                  <a:close/>
                </a:path>
              </a:pathLst>
            </a:custGeom>
            <a:solidFill>
              <a:srgbClr val="F2F2F2"/>
            </a:solidFill>
            <a:ln>
              <a:noFill/>
            </a:ln>
          </p:spPr>
          <p:txBody>
            <a:bodyPr rtlCol="0" anchor="ctr"/>
            <a:lstStyle/>
            <a:p>
              <a:pPr algn="ctr"/>
            </a:p>
          </p:txBody>
        </p:sp>
      </p:grpSp>
      <p:sp>
        <p:nvSpPr>
          <p:cNvPr id="47" name="Inline chip Proposed"/>
          <p:cNvSpPr/>
          <p:nvPr/>
        </p:nvSpPr>
        <p:spPr>
          <a:xfrm>
            <a:off x="7955280" y="146304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48" name="TextBox 47"/>
          <p:cNvSpPr txBox="1"/>
          <p:nvPr/>
        </p:nvSpPr>
        <p:spPr>
          <a:xfrm>
            <a:off x="7955280" y="1874520"/>
            <a:ext cx="3657600" cy="822960"/>
          </a:xfrm>
          <a:prstGeom prst="rect">
            <a:avLst/>
          </a:prstGeom>
          <a:noFill/>
        </p:spPr>
        <p:txBody>
          <a:bodyPr wrap="square" lIns="0" tIns="0" rIns="0" bIns="0" anchor="t">
            <a:noAutofit/>
          </a:bodyPr>
          <a:lstStyle/>
          <a:p>
            <a:pPr algn="l"/>
            <a:r>
              <a:rPr sz="2000" b="0" i="0" lang="en-GB">
                <a:solidFill>
                  <a:srgbClr val="F2F2F2"/>
                </a:solidFill>
                <a:latin typeface="Arial"/>
              </a:rPr>
              <a:t>A playful takeover when you first unlock rail</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friendly railway guide teaches with short animated lessons. Lessons are optional and can be replayed.</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EXTRAS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38</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47"/>
                                        </p:tgtEl>
                                        <p:attrNameLst>
                                          <p:attrName>style.visibility</p:attrName>
                                        </p:attrNameLst>
                                      </p:cBhvr>
                                      <p:to>
                                        <p:strVal val="visible"/>
                                      </p:to>
                                    </p:set>
                                    <p:animEffect transition="in" filter="fade">
                                      <p:cBhvr>
                                        <p:cTn id="10" dur="500"/>
                                        <p:tgtEl>
                                          <p:spTgt spid="47"/>
                                        </p:tgtEl>
                                      </p:cBhvr>
                                    </p:animEffect>
                                  </p:childTnLst>
                                </p:cTn>
                              </p:par>
                              <p:par>
                                <p:cTn id="11" presetID="10" presetClass="entr" presetSubtype="0" fill="hold" nodeType="withEffect">
                                  <p:stCondLst>
                                    <p:cond delay="600"/>
                                  </p:stCondLst>
                                  <p:childTnLst>
                                    <p:set>
                                      <p:cBhvr>
                                        <p:cTn id="12" dur="1" fill="hold">
                                          <p:stCondLst>
                                            <p:cond delay="0"/>
                                          </p:stCondLst>
                                        </p:cTn>
                                        <p:tgtEl>
                                          <p:spTgt spid="48"/>
                                        </p:tgtEl>
                                        <p:attrNameLst>
                                          <p:attrName>style.visibility</p:attrName>
                                        </p:attrNameLst>
                                      </p:cBhvr>
                                      <p:to>
                                        <p:strVal val="visible"/>
                                      </p:to>
                                    </p:set>
                                    <p:animEffect transition="in" filter="fade">
                                      <p:cBhvr>
                                        <p:cTn id="13" dur="500"/>
                                        <p:tgtEl>
                                          <p:spTgt spid="48"/>
                                        </p:tgtEl>
                                      </p:cBhvr>
                                    </p:animEffect>
                                  </p:childTnLst>
                                </p:cTn>
                              </p:par>
                              <p:par>
                                <p:cTn id="14" presetID="10" presetClass="entr" presetSubtype="0" fill="hold" nodeType="withEffect">
                                  <p:stCondLst>
                                    <p:cond delay="90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par>
                                <p:cTn id="17" presetID="10" presetClass="entr" presetSubtype="0" fill="hold" nodeType="withEffect">
                                  <p:stCondLst>
                                    <p:cond delay="12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Where we are</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pic>
        <p:nvPicPr>
          <p:cNvPr id="8" name="Picture R01" descr="Early test model of a tank engine (a yellow 'visual probe') on a short length of track. Not final art."/>
          <p:cNvPicPr>
            <a:picLocks noChangeAspect="1"/>
          </p:cNvPicPr>
          <p:nvPr/>
        </p:nvPicPr>
        <p:blipFill>
          <a:blip r:embed="rId2"/>
          <a:srcRect l="4272" r="10272"/>
          <a:stretch>
            <a:fillRect/>
          </a:stretch>
        </p:blipFill>
        <p:spPr>
          <a:xfrm>
            <a:off x="548640" y="1371600"/>
            <a:ext cx="1828800" cy="1188720"/>
          </a:xfrm>
          <a:prstGeom prst="roundRect">
            <a:avLst>
              <a:gd name="adj" fmla="val 6154"/>
            </a:avLst>
          </a:prstGeom>
        </p:spPr>
      </p:pic>
      <p:sp>
        <p:nvSpPr>
          <p:cNvPr id="9" name="Credit"/>
          <p:cNvSpPr txBox="1"/>
          <p:nvPr/>
        </p:nvSpPr>
        <p:spPr>
          <a:xfrm>
            <a:off x="548640" y="2587752"/>
            <a:ext cx="182880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pic>
        <p:nvPicPr>
          <p:cNvPr id="10" name="Picture R02" descr="High-detail render of the mod's two-rail track. Visual development only: not Unreal-tested, not production-ready."/>
          <p:cNvPicPr>
            <a:picLocks noChangeAspect="1"/>
          </p:cNvPicPr>
          <p:nvPr/>
        </p:nvPicPr>
        <p:blipFill>
          <a:blip r:embed="rId3"/>
          <a:srcRect l="6731" r="6731"/>
          <a:stretch>
            <a:fillRect/>
          </a:stretch>
        </p:blipFill>
        <p:spPr>
          <a:xfrm>
            <a:off x="2642616" y="1371600"/>
            <a:ext cx="1828800" cy="1188720"/>
          </a:xfrm>
          <a:prstGeom prst="roundRect">
            <a:avLst>
              <a:gd name="adj" fmla="val 6154"/>
            </a:avLst>
          </a:prstGeom>
        </p:spPr>
      </p:pic>
      <p:sp>
        <p:nvSpPr>
          <p:cNvPr id="11" name="Credit"/>
          <p:cNvSpPr txBox="1"/>
          <p:nvPr/>
        </p:nvSpPr>
        <p:spPr>
          <a:xfrm>
            <a:off x="2642616" y="2587752"/>
            <a:ext cx="182880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grpSp>
        <p:nvGrpSpPr>
          <p:cNvPr id="12" name="Roadmap" descr="Roadmap: engine and track are under way; rolling stock, stations, signals, unlocks, tutorials and Release 1.0 for singleplayer are planned; multiplayer comes later."/>
          <p:cNvGrpSpPr/>
          <p:nvPr/>
        </p:nvGrpSpPr>
        <p:grpSpPr>
          <a:xfrm>
            <a:off x="448056" y="2944368"/>
            <a:ext cx="11192256" cy="1965960"/>
            <a:chOff x="448056" y="2944368"/>
            <a:chExt cx="11192256" cy="1965960"/>
          </a:xfrm>
        </p:grpSpPr>
        <p:cxnSp>
          <p:nvCxnSpPr>
            <p:cNvPr id="13" name="Connector 12"/>
            <p:cNvCxnSpPr/>
            <p:nvPr/>
          </p:nvCxnSpPr>
          <p:spPr>
            <a:xfrm>
              <a:off x="1051560" y="3794760"/>
              <a:ext cx="8769096" cy="0"/>
            </a:xfrm>
            <a:prstGeom prst="line">
              <a:avLst/>
            </a:prstGeom>
            <a:ln w="50800">
              <a:solidFill>
                <a:srgbClr val="9AA0A6"/>
              </a:solidFill>
            </a:ln>
          </p:spPr>
        </p:cxnSp>
        <p:cxnSp>
          <p:nvCxnSpPr>
            <p:cNvPr id="14" name="Connector 13"/>
            <p:cNvCxnSpPr/>
            <p:nvPr/>
          </p:nvCxnSpPr>
          <p:spPr>
            <a:xfrm>
              <a:off x="9820656" y="3794760"/>
              <a:ext cx="1335024" cy="0"/>
            </a:xfrm>
            <a:prstGeom prst="line">
              <a:avLst/>
            </a:prstGeom>
            <a:ln w="38100">
              <a:solidFill>
                <a:srgbClr val="9AA0A6"/>
              </a:solidFill>
              <a:prstDash val="dash"/>
            </a:ln>
          </p:spPr>
        </p:cxnSp>
        <p:cxnSp>
          <p:nvCxnSpPr>
            <p:cNvPr id="15" name="Connector 14"/>
            <p:cNvCxnSpPr/>
            <p:nvPr/>
          </p:nvCxnSpPr>
          <p:spPr>
            <a:xfrm flipH="1">
              <a:off x="1051560" y="2944368"/>
              <a:ext cx="411480" cy="621792"/>
            </a:xfrm>
            <a:prstGeom prst="line">
              <a:avLst/>
            </a:prstGeom>
            <a:ln w="19050">
              <a:solidFill>
                <a:srgbClr val="F28C28"/>
              </a:solidFill>
            </a:ln>
          </p:spPr>
        </p:cxnSp>
        <p:cxnSp>
          <p:nvCxnSpPr>
            <p:cNvPr id="16" name="Connector 15"/>
            <p:cNvCxnSpPr/>
            <p:nvPr/>
          </p:nvCxnSpPr>
          <p:spPr>
            <a:xfrm>
              <a:off x="3557016" y="2944368"/>
              <a:ext cx="0" cy="621792"/>
            </a:xfrm>
            <a:prstGeom prst="line">
              <a:avLst/>
            </a:prstGeom>
            <a:ln w="19050">
              <a:solidFill>
                <a:srgbClr val="F28C28"/>
              </a:solidFill>
            </a:ln>
          </p:spPr>
        </p:cxnSp>
        <p:sp>
          <p:nvSpPr>
            <p:cNvPr id="17" name="Oval 16"/>
            <p:cNvSpPr/>
            <p:nvPr/>
          </p:nvSpPr>
          <p:spPr>
            <a:xfrm>
              <a:off x="850392" y="3593592"/>
              <a:ext cx="402336" cy="402336"/>
            </a:xfrm>
            <a:prstGeom prst="ellipse">
              <a:avLst/>
            </a:prstGeom>
            <a:solidFill>
              <a:srgbClr val="F28C28"/>
            </a:solidFill>
            <a:ln w="31750">
              <a:solidFill>
                <a:srgbClr val="F28C28"/>
              </a:solidFill>
            </a:ln>
          </p:spPr>
          <p:txBody>
            <a:bodyPr rtlCol="0" anchor="ctr"/>
            <a:lstStyle/>
            <a:p>
              <a:pPr algn="ctr"/>
            </a:p>
          </p:txBody>
        </p:sp>
        <p:sp>
          <p:nvSpPr>
            <p:cNvPr id="18" name="TextBox 17"/>
            <p:cNvSpPr txBox="1"/>
            <p:nvPr/>
          </p:nvSpPr>
          <p:spPr>
            <a:xfrm>
              <a:off x="448056" y="4087368"/>
              <a:ext cx="1207008" cy="822960"/>
            </a:xfrm>
            <a:prstGeom prst="rect">
              <a:avLst/>
            </a:prstGeom>
            <a:noFill/>
          </p:spPr>
          <p:txBody>
            <a:bodyPr wrap="square" lIns="0" tIns="0" rIns="0" bIns="0" anchor="t">
              <a:noAutofit/>
            </a:bodyPr>
            <a:lstStyle/>
            <a:p>
              <a:pPr algn="ctr"/>
              <a:r>
                <a:rPr sz="1600" b="1" i="0" lang="en-GB">
                  <a:solidFill>
                    <a:srgbClr val="F2F2F2"/>
                  </a:solidFill>
                  <a:latin typeface="Arial"/>
                </a:rPr>
                <a:t>Engine</a:t>
              </a:r>
            </a:p>
          </p:txBody>
        </p:sp>
        <p:sp>
          <p:nvSpPr>
            <p:cNvPr id="19" name="Oval 18"/>
            <p:cNvSpPr/>
            <p:nvPr/>
          </p:nvSpPr>
          <p:spPr>
            <a:xfrm>
              <a:off x="2103120" y="3593592"/>
              <a:ext cx="402336" cy="402336"/>
            </a:xfrm>
            <a:prstGeom prst="ellipse">
              <a:avLst/>
            </a:prstGeom>
            <a:solidFill>
              <a:srgbClr val="1E2126"/>
            </a:solidFill>
            <a:ln w="31750">
              <a:solidFill>
                <a:srgbClr val="9AA0A6"/>
              </a:solidFill>
            </a:ln>
          </p:spPr>
          <p:txBody>
            <a:bodyPr rtlCol="0" anchor="ctr"/>
            <a:lstStyle/>
            <a:p>
              <a:pPr algn="ctr"/>
            </a:p>
          </p:txBody>
        </p:sp>
        <p:sp>
          <p:nvSpPr>
            <p:cNvPr id="20" name="TextBox 19"/>
            <p:cNvSpPr txBox="1"/>
            <p:nvPr/>
          </p:nvSpPr>
          <p:spPr>
            <a:xfrm>
              <a:off x="1700784"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Rolling stock</a:t>
              </a:r>
            </a:p>
          </p:txBody>
        </p:sp>
        <p:sp>
          <p:nvSpPr>
            <p:cNvPr id="21" name="Oval 20"/>
            <p:cNvSpPr/>
            <p:nvPr/>
          </p:nvSpPr>
          <p:spPr>
            <a:xfrm>
              <a:off x="3355848" y="3593592"/>
              <a:ext cx="402336" cy="402336"/>
            </a:xfrm>
            <a:prstGeom prst="ellipse">
              <a:avLst/>
            </a:prstGeom>
            <a:solidFill>
              <a:srgbClr val="F28C28"/>
            </a:solidFill>
            <a:ln w="31750">
              <a:solidFill>
                <a:srgbClr val="F28C28"/>
              </a:solidFill>
            </a:ln>
          </p:spPr>
          <p:txBody>
            <a:bodyPr rtlCol="0" anchor="ctr"/>
            <a:lstStyle/>
            <a:p>
              <a:pPr algn="ctr"/>
            </a:p>
          </p:txBody>
        </p:sp>
        <p:sp>
          <p:nvSpPr>
            <p:cNvPr id="22" name="TextBox 21"/>
            <p:cNvSpPr txBox="1"/>
            <p:nvPr/>
          </p:nvSpPr>
          <p:spPr>
            <a:xfrm>
              <a:off x="2953512" y="4087368"/>
              <a:ext cx="1207008" cy="822960"/>
            </a:xfrm>
            <a:prstGeom prst="rect">
              <a:avLst/>
            </a:prstGeom>
            <a:noFill/>
          </p:spPr>
          <p:txBody>
            <a:bodyPr wrap="square" lIns="0" tIns="0" rIns="0" bIns="0" anchor="t">
              <a:noAutofit/>
            </a:bodyPr>
            <a:lstStyle/>
            <a:p>
              <a:pPr algn="ctr"/>
              <a:r>
                <a:rPr sz="1600" b="1" i="0" lang="en-GB">
                  <a:solidFill>
                    <a:srgbClr val="F2F2F2"/>
                  </a:solidFill>
                  <a:latin typeface="Arial"/>
                </a:rPr>
                <a:t>Track</a:t>
              </a:r>
            </a:p>
          </p:txBody>
        </p:sp>
        <p:sp>
          <p:nvSpPr>
            <p:cNvPr id="23" name="Oval 22"/>
            <p:cNvSpPr/>
            <p:nvPr/>
          </p:nvSpPr>
          <p:spPr>
            <a:xfrm>
              <a:off x="4608576" y="3593592"/>
              <a:ext cx="402336" cy="402336"/>
            </a:xfrm>
            <a:prstGeom prst="ellipse">
              <a:avLst/>
            </a:prstGeom>
            <a:solidFill>
              <a:srgbClr val="1E2126"/>
            </a:solidFill>
            <a:ln w="31750">
              <a:solidFill>
                <a:srgbClr val="9AA0A6"/>
              </a:solidFill>
            </a:ln>
          </p:spPr>
          <p:txBody>
            <a:bodyPr rtlCol="0" anchor="ctr"/>
            <a:lstStyle/>
            <a:p>
              <a:pPr algn="ctr"/>
            </a:p>
          </p:txBody>
        </p:sp>
        <p:sp>
          <p:nvSpPr>
            <p:cNvPr id="24" name="TextBox 23"/>
            <p:cNvSpPr txBox="1"/>
            <p:nvPr/>
          </p:nvSpPr>
          <p:spPr>
            <a:xfrm>
              <a:off x="4206240"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Stations</a:t>
              </a:r>
            </a:p>
          </p:txBody>
        </p:sp>
        <p:sp>
          <p:nvSpPr>
            <p:cNvPr id="25" name="Oval 24"/>
            <p:cNvSpPr/>
            <p:nvPr/>
          </p:nvSpPr>
          <p:spPr>
            <a:xfrm>
              <a:off x="5861304" y="3593592"/>
              <a:ext cx="402336" cy="402336"/>
            </a:xfrm>
            <a:prstGeom prst="ellipse">
              <a:avLst/>
            </a:prstGeom>
            <a:solidFill>
              <a:srgbClr val="1E2126"/>
            </a:solidFill>
            <a:ln w="31750">
              <a:solidFill>
                <a:srgbClr val="9AA0A6"/>
              </a:solidFill>
            </a:ln>
          </p:spPr>
          <p:txBody>
            <a:bodyPr rtlCol="0" anchor="ctr"/>
            <a:lstStyle/>
            <a:p>
              <a:pPr algn="ctr"/>
            </a:p>
          </p:txBody>
        </p:sp>
        <p:sp>
          <p:nvSpPr>
            <p:cNvPr id="26" name="TextBox 25"/>
            <p:cNvSpPr txBox="1"/>
            <p:nvPr/>
          </p:nvSpPr>
          <p:spPr>
            <a:xfrm>
              <a:off x="5458968"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Signals</a:t>
              </a:r>
            </a:p>
          </p:txBody>
        </p:sp>
        <p:sp>
          <p:nvSpPr>
            <p:cNvPr id="27" name="Oval 26"/>
            <p:cNvSpPr/>
            <p:nvPr/>
          </p:nvSpPr>
          <p:spPr>
            <a:xfrm>
              <a:off x="7114032" y="3593592"/>
              <a:ext cx="402336" cy="402336"/>
            </a:xfrm>
            <a:prstGeom prst="ellipse">
              <a:avLst/>
            </a:prstGeom>
            <a:solidFill>
              <a:srgbClr val="1E2126"/>
            </a:solidFill>
            <a:ln w="31750">
              <a:solidFill>
                <a:srgbClr val="9AA0A6"/>
              </a:solidFill>
            </a:ln>
          </p:spPr>
          <p:txBody>
            <a:bodyPr rtlCol="0" anchor="ctr"/>
            <a:lstStyle/>
            <a:p>
              <a:pPr algn="ctr"/>
            </a:p>
          </p:txBody>
        </p:sp>
        <p:sp>
          <p:nvSpPr>
            <p:cNvPr id="28" name="TextBox 27"/>
            <p:cNvSpPr txBox="1"/>
            <p:nvPr/>
          </p:nvSpPr>
          <p:spPr>
            <a:xfrm>
              <a:off x="6711696"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Unlocks</a:t>
              </a:r>
            </a:p>
          </p:txBody>
        </p:sp>
        <p:sp>
          <p:nvSpPr>
            <p:cNvPr id="29" name="Oval 28"/>
            <p:cNvSpPr/>
            <p:nvPr/>
          </p:nvSpPr>
          <p:spPr>
            <a:xfrm>
              <a:off x="8366760" y="3593592"/>
              <a:ext cx="402336" cy="402336"/>
            </a:xfrm>
            <a:prstGeom prst="ellipse">
              <a:avLst/>
            </a:prstGeom>
            <a:solidFill>
              <a:srgbClr val="1E2126"/>
            </a:solidFill>
            <a:ln w="31750">
              <a:solidFill>
                <a:srgbClr val="9AA0A6"/>
              </a:solidFill>
            </a:ln>
          </p:spPr>
          <p:txBody>
            <a:bodyPr rtlCol="0" anchor="ctr"/>
            <a:lstStyle/>
            <a:p>
              <a:pPr algn="ctr"/>
            </a:p>
          </p:txBody>
        </p:sp>
        <p:sp>
          <p:nvSpPr>
            <p:cNvPr id="30" name="TextBox 29"/>
            <p:cNvSpPr txBox="1"/>
            <p:nvPr/>
          </p:nvSpPr>
          <p:spPr>
            <a:xfrm>
              <a:off x="7964424"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Tutorials</a:t>
              </a:r>
            </a:p>
          </p:txBody>
        </p:sp>
        <p:sp>
          <p:nvSpPr>
            <p:cNvPr id="31" name="Oval 30"/>
            <p:cNvSpPr/>
            <p:nvPr/>
          </p:nvSpPr>
          <p:spPr>
            <a:xfrm>
              <a:off x="9619488" y="3593592"/>
              <a:ext cx="402336" cy="402336"/>
            </a:xfrm>
            <a:prstGeom prst="ellipse">
              <a:avLst/>
            </a:prstGeom>
            <a:solidFill>
              <a:srgbClr val="1E2126"/>
            </a:solidFill>
            <a:ln w="31750">
              <a:solidFill>
                <a:srgbClr val="9AA0A6"/>
              </a:solidFill>
            </a:ln>
          </p:spPr>
          <p:txBody>
            <a:bodyPr rtlCol="0" anchor="ctr"/>
            <a:lstStyle/>
            <a:p>
              <a:pPr algn="ctr"/>
            </a:p>
          </p:txBody>
        </p:sp>
        <p:sp>
          <p:nvSpPr>
            <p:cNvPr id="32" name="TextBox 31"/>
            <p:cNvSpPr txBox="1"/>
            <p:nvPr/>
          </p:nvSpPr>
          <p:spPr>
            <a:xfrm>
              <a:off x="9217152"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Release 1.0: singleplayer</a:t>
              </a:r>
            </a:p>
          </p:txBody>
        </p:sp>
        <p:sp>
          <p:nvSpPr>
            <p:cNvPr id="33" name="Oval 32"/>
            <p:cNvSpPr/>
            <p:nvPr/>
          </p:nvSpPr>
          <p:spPr>
            <a:xfrm>
              <a:off x="10954512" y="3593592"/>
              <a:ext cx="402336" cy="402336"/>
            </a:xfrm>
            <a:prstGeom prst="ellipse">
              <a:avLst/>
            </a:prstGeom>
            <a:solidFill>
              <a:srgbClr val="1E2126"/>
            </a:solidFill>
            <a:ln w="31750">
              <a:solidFill>
                <a:srgbClr val="9AA0A6"/>
              </a:solidFill>
              <a:prstDash val="dash"/>
            </a:ln>
          </p:spPr>
          <p:txBody>
            <a:bodyPr rtlCol="0" anchor="ctr"/>
            <a:lstStyle/>
            <a:p>
              <a:pPr algn="ctr"/>
            </a:p>
          </p:txBody>
        </p:sp>
        <p:sp>
          <p:nvSpPr>
            <p:cNvPr id="34" name="TextBox 33"/>
            <p:cNvSpPr txBox="1"/>
            <p:nvPr/>
          </p:nvSpPr>
          <p:spPr>
            <a:xfrm>
              <a:off x="10607040" y="4087368"/>
              <a:ext cx="1033272" cy="822960"/>
            </a:xfrm>
            <a:prstGeom prst="rect">
              <a:avLst/>
            </a:prstGeom>
            <a:noFill/>
          </p:spPr>
          <p:txBody>
            <a:bodyPr wrap="square" lIns="0" tIns="0" rIns="0" bIns="0" anchor="t">
              <a:noAutofit/>
            </a:bodyPr>
            <a:lstStyle/>
            <a:p>
              <a:pPr algn="ctr"/>
              <a:r>
                <a:rPr sz="1600" b="0" i="0" lang="en-GB">
                  <a:solidFill>
                    <a:srgbClr val="F2F2F2"/>
                  </a:solidFill>
                  <a:latin typeface="Arial"/>
                </a:rPr>
                <a:t>Later: multiplayer</a:t>
              </a:r>
            </a:p>
          </p:txBody>
        </p:sp>
      </p:grpSp>
      <p:grpSp>
        <p:nvGrpSpPr>
          <p:cNvPr id="35" name="Legend" descr="Legend: a filled orange circle means under way; an empty grey circle means planned."/>
          <p:cNvGrpSpPr/>
          <p:nvPr/>
        </p:nvGrpSpPr>
        <p:grpSpPr>
          <a:xfrm>
            <a:off x="7927848" y="2029968"/>
            <a:ext cx="2724912" cy="822960"/>
            <a:chOff x="7927848" y="2029968"/>
            <a:chExt cx="2724912" cy="822960"/>
          </a:xfrm>
        </p:grpSpPr>
        <p:sp>
          <p:nvSpPr>
            <p:cNvPr id="36" name="Oval 35"/>
            <p:cNvSpPr/>
            <p:nvPr/>
          </p:nvSpPr>
          <p:spPr>
            <a:xfrm>
              <a:off x="7927848" y="2048256"/>
              <a:ext cx="329184" cy="329184"/>
            </a:xfrm>
            <a:prstGeom prst="ellipse">
              <a:avLst/>
            </a:prstGeom>
            <a:solidFill>
              <a:srgbClr val="F28C28"/>
            </a:solidFill>
            <a:ln w="31750">
              <a:solidFill>
                <a:srgbClr val="F28C28"/>
              </a:solidFill>
            </a:ln>
          </p:spPr>
          <p:txBody>
            <a:bodyPr rtlCol="0" anchor="ctr"/>
            <a:lstStyle/>
            <a:p>
              <a:pPr algn="ctr"/>
            </a:p>
          </p:txBody>
        </p:sp>
        <p:sp>
          <p:nvSpPr>
            <p:cNvPr id="37" name="TextBox 36"/>
            <p:cNvSpPr txBox="1"/>
            <p:nvPr/>
          </p:nvSpPr>
          <p:spPr>
            <a:xfrm>
              <a:off x="8366760" y="2029968"/>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Under way</a:t>
              </a:r>
            </a:p>
          </p:txBody>
        </p:sp>
        <p:sp>
          <p:nvSpPr>
            <p:cNvPr id="38" name="Oval 37"/>
            <p:cNvSpPr/>
            <p:nvPr/>
          </p:nvSpPr>
          <p:spPr>
            <a:xfrm>
              <a:off x="7927848" y="2505456"/>
              <a:ext cx="329184" cy="329184"/>
            </a:xfrm>
            <a:prstGeom prst="ellipse">
              <a:avLst/>
            </a:prstGeom>
            <a:solidFill>
              <a:srgbClr val="1E2126"/>
            </a:solidFill>
            <a:ln w="31750">
              <a:solidFill>
                <a:srgbClr val="9AA0A6"/>
              </a:solidFill>
            </a:ln>
          </p:spPr>
          <p:txBody>
            <a:bodyPr rtlCol="0" anchor="ctr"/>
            <a:lstStyle/>
            <a:p>
              <a:pPr algn="ctr"/>
            </a:p>
          </p:txBody>
        </p:sp>
        <p:sp>
          <p:nvSpPr>
            <p:cNvPr id="39" name="TextBox 38"/>
            <p:cNvSpPr txBox="1"/>
            <p:nvPr/>
          </p:nvSpPr>
          <p:spPr>
            <a:xfrm>
              <a:off x="8366760" y="2487168"/>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Planned</a:t>
              </a:r>
            </a:p>
          </p:txBody>
        </p:sp>
      </p:grpSp>
      <p:sp>
        <p:nvSpPr>
          <p:cNvPr id="40" name="TextBox 39"/>
          <p:cNvSpPr txBox="1"/>
          <p:nvPr/>
        </p:nvSpPr>
        <p:spPr>
          <a:xfrm>
            <a:off x="7909560" y="1371600"/>
            <a:ext cx="2377440" cy="365760"/>
          </a:xfrm>
          <a:prstGeom prst="rect">
            <a:avLst/>
          </a:prstGeom>
          <a:noFill/>
        </p:spPr>
        <p:txBody>
          <a:bodyPr wrap="square" lIns="0" tIns="0" rIns="0" bIns="0" anchor="ctr">
            <a:noAutofit/>
          </a:bodyPr>
          <a:lstStyle/>
          <a:p>
            <a:pPr algn="l"/>
            <a:r>
              <a:rPr sz="1800" b="0" i="0" lang="en-GB">
                <a:solidFill>
                  <a:srgbClr val="F2F2F2"/>
                </a:solidFill>
                <a:latin typeface="Arial"/>
              </a:rPr>
              <a:t>Plans can change.</a:t>
            </a:r>
          </a:p>
        </p:txBody>
      </p:sp>
      <p:sp>
        <p:nvSpPr>
          <p:cNvPr id="41" name="Inline chip Provisional"/>
          <p:cNvSpPr/>
          <p:nvPr/>
        </p:nvSpPr>
        <p:spPr>
          <a:xfrm>
            <a:off x="9926320" y="1389888"/>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test engine runs on the game's real rails. Next come the other railway pieces. Singleplayer first. Multiplayer after release.</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STATUS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39</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225"/>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nodeType="withEffect">
                                  <p:stCondLst>
                                    <p:cond delay="45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675"/>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500"/>
                                        <p:tgtEl>
                                          <p:spTgt spid="35"/>
                                        </p:tgtEl>
                                      </p:cBhvr>
                                    </p:animEffect>
                                  </p:childTnLst>
                                </p:cTn>
                              </p:par>
                              <p:par>
                                <p:cTn id="17" presetID="10" presetClass="entr" presetSubtype="0" fill="hold" nodeType="withEffect">
                                  <p:stCondLst>
                                    <p:cond delay="900"/>
                                  </p:stCondLst>
                                  <p:childTnLst>
                                    <p:set>
                                      <p:cBhvr>
                                        <p:cTn id="18" dur="1" fill="hold">
                                          <p:stCondLst>
                                            <p:cond delay="0"/>
                                          </p:stCondLst>
                                        </p:cTn>
                                        <p:tgtEl>
                                          <p:spTgt spid="40"/>
                                        </p:tgtEl>
                                        <p:attrNameLst>
                                          <p:attrName>style.visibility</p:attrName>
                                        </p:attrNameLst>
                                      </p:cBhvr>
                                      <p:to>
                                        <p:strVal val="visible"/>
                                      </p:to>
                                    </p:set>
                                    <p:animEffect transition="in" filter="fade">
                                      <p:cBhvr>
                                        <p:cTn id="19" dur="500"/>
                                        <p:tgtEl>
                                          <p:spTgt spid="40"/>
                                        </p:tgtEl>
                                      </p:cBhvr>
                                    </p:animEffect>
                                  </p:childTnLst>
                                </p:cTn>
                              </p:par>
                              <p:par>
                                <p:cTn id="20" presetID="10" presetClass="entr" presetSubtype="0" fill="hold" nodeType="withEffect">
                                  <p:stCondLst>
                                    <p:cond delay="1125"/>
                                  </p:stCondLst>
                                  <p:childTnLst>
                                    <p:set>
                                      <p:cBhvr>
                                        <p:cTn id="21" dur="1" fill="hold">
                                          <p:stCondLst>
                                            <p:cond delay="0"/>
                                          </p:stCondLst>
                                        </p:cTn>
                                        <p:tgtEl>
                                          <p:spTgt spid="41"/>
                                        </p:tgtEl>
                                        <p:attrNameLst>
                                          <p:attrName>style.visibility</p:attrName>
                                        </p:attrNameLst>
                                      </p:cBhvr>
                                      <p:to>
                                        <p:strVal val="visible"/>
                                      </p:to>
                                    </p:set>
                                    <p:animEffect transition="in" filter="fade">
                                      <p:cBhvr>
                                        <p:cTn id="22" dur="500"/>
                                        <p:tgtEl>
                                          <p:spTgt spid="41"/>
                                        </p:tgtEl>
                                      </p:cBhvr>
                                    </p:animEffect>
                                  </p:childTnLst>
                                </p:cTn>
                              </p:par>
                              <p:par>
                                <p:cTn id="23" presetID="10" presetClass="entr" presetSubtype="0" fill="hold" nodeType="withEffect">
                                  <p:stCondLst>
                                    <p:cond delay="1350"/>
                                  </p:stCondLst>
                                  <p:childTnLst>
                                    <p:set>
                                      <p:cBhvr>
                                        <p:cTn id="24" dur="1" fill="hold">
                                          <p:stCondLst>
                                            <p:cond delay="0"/>
                                          </p:stCondLst>
                                        </p:cTn>
                                        <p:tgtEl>
                                          <p:spTgt spid="4"/>
                                        </p:tgtEl>
                                        <p:attrNameLst>
                                          <p:attrName>style.visibility</p:attrName>
                                        </p:attrNameLst>
                                      </p:cBhvr>
                                      <p:to>
                                        <p:strVal val="visible"/>
                                      </p:to>
                                    </p:set>
                                    <p:animEffect transition="in" filter="fade">
                                      <p:cBhvr>
                                        <p:cTn id="25" dur="500"/>
                                        <p:tgtEl>
                                          <p:spTgt spid="4"/>
                                        </p:tgtEl>
                                      </p:cBhvr>
                                    </p:animEffect>
                                  </p:childTnLst>
                                </p:cTn>
                              </p:par>
                              <p:par>
                                <p:cTn id="26" presetID="10" presetClass="entr" presetSubtype="0" fill="hold" nodeType="withEffect">
                                  <p:stCondLst>
                                    <p:cond delay="1575"/>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Still undecided</a:t>
            </a:r>
          </a:p>
        </p:txBody>
      </p:sp>
      <p:sp>
        <p:nvSpPr>
          <p:cNvPr id="3" name="Status chip"/>
          <p:cNvSpPr/>
          <p:nvPr/>
        </p:nvSpPr>
        <p:spPr>
          <a:xfrm>
            <a:off x="10088575" y="457200"/>
            <a:ext cx="1554480" cy="365760"/>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grpSp>
        <p:nvGrpSpPr>
          <p:cNvPr id="8" name="Open questions" descr="Eight open questions, none decided: Exact unlock tiers (OQ01); Longest track piece (OQ02); Block lengths and speed caps (OQ03); How boxes measure their reach (OQ04); Is Medium the fastest? (OQ05); Which regions at launch? (OQ06); Which extra locomotives? (OQ20); Pricing and release of packs (OQ26)."/>
          <p:cNvGrpSpPr/>
          <p:nvPr/>
        </p:nvGrpSpPr>
        <p:grpSpPr>
          <a:xfrm>
            <a:off x="548640" y="1463040"/>
            <a:ext cx="11092586" cy="3383280"/>
            <a:chOff x="548640" y="1463040"/>
            <a:chExt cx="11092586" cy="3383280"/>
          </a:xfrm>
        </p:grpSpPr>
        <p:sp>
          <p:nvSpPr>
            <p:cNvPr id="9" name="Rounded Rectangle 8"/>
            <p:cNvSpPr/>
            <p:nvPr/>
          </p:nvSpPr>
          <p:spPr>
            <a:xfrm>
              <a:off x="548640" y="1463040"/>
              <a:ext cx="2651760" cy="1600200"/>
            </a:xfrm>
            <a:prstGeom prst="roundRect">
              <a:avLst>
                <a:gd name="adj" fmla="val 5714"/>
              </a:avLst>
            </a:prstGeom>
            <a:solidFill>
              <a:srgbClr val="2B2F36"/>
            </a:solidFill>
            <a:ln>
              <a:noFill/>
            </a:ln>
          </p:spPr>
          <p:txBody>
            <a:bodyPr rtlCol="0" anchor="ctr"/>
            <a:lstStyle/>
            <a:p>
              <a:pPr algn="ctr"/>
            </a:p>
          </p:txBody>
        </p:sp>
        <p:sp>
          <p:nvSpPr>
            <p:cNvPr id="10" name="Inline chip Undecided"/>
            <p:cNvSpPr/>
            <p:nvPr/>
          </p:nvSpPr>
          <p:spPr>
            <a:xfrm>
              <a:off x="713232" y="162763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11" name="TextBox 10"/>
            <p:cNvSpPr txBox="1"/>
            <p:nvPr/>
          </p:nvSpPr>
          <p:spPr>
            <a:xfrm>
              <a:off x="713232" y="205740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Exact unlock tiers (OQ01)</a:t>
              </a:r>
            </a:p>
          </p:txBody>
        </p:sp>
        <p:sp>
          <p:nvSpPr>
            <p:cNvPr id="12" name="Rounded Rectangle 11"/>
            <p:cNvSpPr/>
            <p:nvPr/>
          </p:nvSpPr>
          <p:spPr>
            <a:xfrm>
              <a:off x="3362249" y="1463040"/>
              <a:ext cx="2651760" cy="1600200"/>
            </a:xfrm>
            <a:prstGeom prst="roundRect">
              <a:avLst>
                <a:gd name="adj" fmla="val 5714"/>
              </a:avLst>
            </a:prstGeom>
            <a:solidFill>
              <a:srgbClr val="2B2F36"/>
            </a:solidFill>
            <a:ln>
              <a:noFill/>
            </a:ln>
          </p:spPr>
          <p:txBody>
            <a:bodyPr rtlCol="0" anchor="ctr"/>
            <a:lstStyle/>
            <a:p>
              <a:pPr algn="ctr"/>
            </a:p>
          </p:txBody>
        </p:sp>
        <p:sp>
          <p:nvSpPr>
            <p:cNvPr id="13" name="Inline chip Undecided"/>
            <p:cNvSpPr/>
            <p:nvPr/>
          </p:nvSpPr>
          <p:spPr>
            <a:xfrm>
              <a:off x="3526841" y="162763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14" name="TextBox 13"/>
            <p:cNvSpPr txBox="1"/>
            <p:nvPr/>
          </p:nvSpPr>
          <p:spPr>
            <a:xfrm>
              <a:off x="3526841" y="205740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Longest track piece (OQ02)</a:t>
              </a:r>
            </a:p>
          </p:txBody>
        </p:sp>
        <p:sp>
          <p:nvSpPr>
            <p:cNvPr id="15" name="Rounded Rectangle 14"/>
            <p:cNvSpPr/>
            <p:nvPr/>
          </p:nvSpPr>
          <p:spPr>
            <a:xfrm>
              <a:off x="6175858" y="1463040"/>
              <a:ext cx="2651760" cy="1600200"/>
            </a:xfrm>
            <a:prstGeom prst="roundRect">
              <a:avLst>
                <a:gd name="adj" fmla="val 5714"/>
              </a:avLst>
            </a:prstGeom>
            <a:solidFill>
              <a:srgbClr val="2B2F36"/>
            </a:solidFill>
            <a:ln>
              <a:noFill/>
            </a:ln>
          </p:spPr>
          <p:txBody>
            <a:bodyPr rtlCol="0" anchor="ctr"/>
            <a:lstStyle/>
            <a:p>
              <a:pPr algn="ctr"/>
            </a:p>
          </p:txBody>
        </p:sp>
        <p:sp>
          <p:nvSpPr>
            <p:cNvPr id="16" name="Inline chip Undecided"/>
            <p:cNvSpPr/>
            <p:nvPr/>
          </p:nvSpPr>
          <p:spPr>
            <a:xfrm>
              <a:off x="6340450" y="162763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17" name="TextBox 16"/>
            <p:cNvSpPr txBox="1"/>
            <p:nvPr/>
          </p:nvSpPr>
          <p:spPr>
            <a:xfrm>
              <a:off x="6340450" y="205740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Block lengths and speed caps (OQ03)</a:t>
              </a:r>
            </a:p>
          </p:txBody>
        </p:sp>
        <p:sp>
          <p:nvSpPr>
            <p:cNvPr id="18" name="Rounded Rectangle 17"/>
            <p:cNvSpPr/>
            <p:nvPr/>
          </p:nvSpPr>
          <p:spPr>
            <a:xfrm>
              <a:off x="8989466" y="1463040"/>
              <a:ext cx="2651760" cy="1600200"/>
            </a:xfrm>
            <a:prstGeom prst="roundRect">
              <a:avLst>
                <a:gd name="adj" fmla="val 5714"/>
              </a:avLst>
            </a:prstGeom>
            <a:solidFill>
              <a:srgbClr val="2B2F36"/>
            </a:solidFill>
            <a:ln>
              <a:noFill/>
            </a:ln>
          </p:spPr>
          <p:txBody>
            <a:bodyPr rtlCol="0" anchor="ctr"/>
            <a:lstStyle/>
            <a:p>
              <a:pPr algn="ctr"/>
            </a:p>
          </p:txBody>
        </p:sp>
        <p:sp>
          <p:nvSpPr>
            <p:cNvPr id="19" name="Inline chip Undecided"/>
            <p:cNvSpPr/>
            <p:nvPr/>
          </p:nvSpPr>
          <p:spPr>
            <a:xfrm>
              <a:off x="9154058" y="162763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20" name="TextBox 19"/>
            <p:cNvSpPr txBox="1"/>
            <p:nvPr/>
          </p:nvSpPr>
          <p:spPr>
            <a:xfrm>
              <a:off x="9154058" y="205740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How boxes measure their reach (OQ04)</a:t>
              </a:r>
            </a:p>
          </p:txBody>
        </p:sp>
        <p:sp>
          <p:nvSpPr>
            <p:cNvPr id="21" name="Rounded Rectangle 20"/>
            <p:cNvSpPr/>
            <p:nvPr/>
          </p:nvSpPr>
          <p:spPr>
            <a:xfrm>
              <a:off x="548640" y="3246120"/>
              <a:ext cx="2651760" cy="1600200"/>
            </a:xfrm>
            <a:prstGeom prst="roundRect">
              <a:avLst>
                <a:gd name="adj" fmla="val 5714"/>
              </a:avLst>
            </a:prstGeom>
            <a:solidFill>
              <a:srgbClr val="2B2F36"/>
            </a:solidFill>
            <a:ln>
              <a:noFill/>
            </a:ln>
          </p:spPr>
          <p:txBody>
            <a:bodyPr rtlCol="0" anchor="ctr"/>
            <a:lstStyle/>
            <a:p>
              <a:pPr algn="ctr"/>
            </a:p>
          </p:txBody>
        </p:sp>
        <p:sp>
          <p:nvSpPr>
            <p:cNvPr id="22" name="Inline chip Undecided"/>
            <p:cNvSpPr/>
            <p:nvPr/>
          </p:nvSpPr>
          <p:spPr>
            <a:xfrm>
              <a:off x="713232" y="341071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23" name="TextBox 22"/>
            <p:cNvSpPr txBox="1"/>
            <p:nvPr/>
          </p:nvSpPr>
          <p:spPr>
            <a:xfrm>
              <a:off x="713232" y="384048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Is Medium the fastest? (OQ05)</a:t>
              </a:r>
            </a:p>
          </p:txBody>
        </p:sp>
        <p:sp>
          <p:nvSpPr>
            <p:cNvPr id="24" name="Rounded Rectangle 23"/>
            <p:cNvSpPr/>
            <p:nvPr/>
          </p:nvSpPr>
          <p:spPr>
            <a:xfrm>
              <a:off x="3362249" y="3246120"/>
              <a:ext cx="2651760" cy="1600200"/>
            </a:xfrm>
            <a:prstGeom prst="roundRect">
              <a:avLst>
                <a:gd name="adj" fmla="val 5714"/>
              </a:avLst>
            </a:prstGeom>
            <a:solidFill>
              <a:srgbClr val="2B2F36"/>
            </a:solidFill>
            <a:ln>
              <a:noFill/>
            </a:ln>
          </p:spPr>
          <p:txBody>
            <a:bodyPr rtlCol="0" anchor="ctr"/>
            <a:lstStyle/>
            <a:p>
              <a:pPr algn="ctr"/>
            </a:p>
          </p:txBody>
        </p:sp>
        <p:sp>
          <p:nvSpPr>
            <p:cNvPr id="25" name="Inline chip Undecided"/>
            <p:cNvSpPr/>
            <p:nvPr/>
          </p:nvSpPr>
          <p:spPr>
            <a:xfrm>
              <a:off x="3526841" y="341071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26" name="TextBox 25"/>
            <p:cNvSpPr txBox="1"/>
            <p:nvPr/>
          </p:nvSpPr>
          <p:spPr>
            <a:xfrm>
              <a:off x="3526841" y="384048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Which regions at launch? (OQ06)</a:t>
              </a:r>
            </a:p>
          </p:txBody>
        </p:sp>
        <p:sp>
          <p:nvSpPr>
            <p:cNvPr id="27" name="Rounded Rectangle 26"/>
            <p:cNvSpPr/>
            <p:nvPr/>
          </p:nvSpPr>
          <p:spPr>
            <a:xfrm>
              <a:off x="6175858" y="3246120"/>
              <a:ext cx="2651760" cy="1600200"/>
            </a:xfrm>
            <a:prstGeom prst="roundRect">
              <a:avLst>
                <a:gd name="adj" fmla="val 5714"/>
              </a:avLst>
            </a:prstGeom>
            <a:solidFill>
              <a:srgbClr val="2B2F36"/>
            </a:solidFill>
            <a:ln>
              <a:noFill/>
            </a:ln>
          </p:spPr>
          <p:txBody>
            <a:bodyPr rtlCol="0" anchor="ctr"/>
            <a:lstStyle/>
            <a:p>
              <a:pPr algn="ctr"/>
            </a:p>
          </p:txBody>
        </p:sp>
        <p:sp>
          <p:nvSpPr>
            <p:cNvPr id="28" name="Inline chip Undecided"/>
            <p:cNvSpPr/>
            <p:nvPr/>
          </p:nvSpPr>
          <p:spPr>
            <a:xfrm>
              <a:off x="6340450" y="341071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29" name="TextBox 28"/>
            <p:cNvSpPr txBox="1"/>
            <p:nvPr/>
          </p:nvSpPr>
          <p:spPr>
            <a:xfrm>
              <a:off x="6340450" y="384048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Which extra locomotives? (OQ20)</a:t>
              </a:r>
            </a:p>
          </p:txBody>
        </p:sp>
        <p:sp>
          <p:nvSpPr>
            <p:cNvPr id="30" name="Rounded Rectangle 29"/>
            <p:cNvSpPr/>
            <p:nvPr/>
          </p:nvSpPr>
          <p:spPr>
            <a:xfrm>
              <a:off x="8989466" y="3246120"/>
              <a:ext cx="2651760" cy="1600200"/>
            </a:xfrm>
            <a:prstGeom prst="roundRect">
              <a:avLst>
                <a:gd name="adj" fmla="val 5714"/>
              </a:avLst>
            </a:prstGeom>
            <a:solidFill>
              <a:srgbClr val="2B2F36"/>
            </a:solidFill>
            <a:ln>
              <a:noFill/>
            </a:ln>
          </p:spPr>
          <p:txBody>
            <a:bodyPr rtlCol="0" anchor="ctr"/>
            <a:lstStyle/>
            <a:p>
              <a:pPr algn="ctr"/>
            </a:p>
          </p:txBody>
        </p:sp>
        <p:sp>
          <p:nvSpPr>
            <p:cNvPr id="31" name="Inline chip Undecided"/>
            <p:cNvSpPr/>
            <p:nvPr/>
          </p:nvSpPr>
          <p:spPr>
            <a:xfrm>
              <a:off x="9154058" y="341071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32" name="TextBox 31"/>
            <p:cNvSpPr txBox="1"/>
            <p:nvPr/>
          </p:nvSpPr>
          <p:spPr>
            <a:xfrm>
              <a:off x="9154058" y="384048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Pricing and release of packs (OQ26)</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These questions are open. Nothing here has been chosen yet.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STATUS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40</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6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11094415" cy="731520"/>
          </a:xfrm>
        </p:spPr>
        <p:txBody>
          <a:bodyPr wrap="square" lIns="0" tIns="0" rIns="0" bIns="0" anchor="ctr">
            <a:noAutofit/>
          </a:bodyPr>
          <a:lstStyle/>
          <a:p>
            <a:pPr algn="l"/>
            <a:r>
              <a:rPr sz="3600" b="1" i="0" lang="en-GB">
                <a:solidFill>
                  <a:srgbClr val="F2F2F2"/>
                </a:solidFill>
                <a:latin typeface="Arial"/>
              </a:rPr>
              <a:t>Image credits (1 of 2)</a:t>
            </a:r>
          </a:p>
        </p:txBody>
      </p:sp>
      <p:graphicFrame>
        <p:nvGraphicFramePr>
          <p:cNvPr id="7" name="Credit table" descr="Credit table for photographs P01 to P12: slot, slide, author, licence and a link to the source page on Wikimedia Commons."/>
          <p:cNvGraphicFramePr>
            <a:graphicFrameLocks noGrp="1"/>
          </p:cNvGraphicFramePr>
          <p:nvPr/>
        </p:nvGraphicFramePr>
        <p:xfrm>
          <a:off x="548640" y="1325880"/>
          <a:ext cx="11091672" cy="3625596"/>
        </p:xfrm>
        <a:graphic>
          <a:graphicData uri="http://schemas.openxmlformats.org/drawingml/2006/table">
            <a:tbl>
              <a:tblPr firstRow="1">
                <a:tableStyleId>{2D5ABB26-0587-4C30-8999-92F81FD0307C}</a:tableStyleId>
              </a:tblPr>
              <a:tblGrid>
                <a:gridCol w="685800"/>
                <a:gridCol w="960120"/>
                <a:gridCol w="4937760"/>
                <a:gridCol w="2194560"/>
                <a:gridCol w="2313432"/>
              </a:tblGrid>
              <a:tr h="278892">
                <a:tc>
                  <a:txBody>
                    <a:bodyPr wrap="square"/>
                    <a:lstStyle/>
                    <a:p>
                      <a:pPr algn="l"/>
                      <a:r>
                        <a:rPr sz="1100" b="1" lang="en-GB">
                          <a:solidFill>
                            <a:srgbClr val="F28C28"/>
                          </a:solidFill>
                          <a:latin typeface="Arial"/>
                        </a:rPr>
                        <a:t>Slot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Slide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Author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Source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r>
              <a:tr h="278892">
                <a:tc>
                  <a:txBody>
                    <a:bodyPr wrap="square"/>
                    <a:lstStyle/>
                    <a:p>
                      <a:pPr algn="l"/>
                      <a:r>
                        <a:rPr sz="1100" b="0" lang="en-GB">
                          <a:solidFill>
                            <a:srgbClr val="F2F2F2"/>
                          </a:solidFill>
                          <a:latin typeface="Arial"/>
                        </a:rPr>
                        <a:t>P01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6</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Stephen Craven</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2"/>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P02</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James E. Petts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4.0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3"/>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Ben Salter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4"/>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P04</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www.mgaylard.co.uk</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5"/>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www.mgaylard.co.uk</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6"/>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P06</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Barry Skeates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7"/>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David Merrett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8"/>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P08</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Gillett's Crossing</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9"/>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kitmasterbloke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4.0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10"/>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Duncan Harris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11"/>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kitmasterbloke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12"/>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P12</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Tony Hisgett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13"/>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bl>
          </a:graphicData>
        </a:graphic>
      </p:graphicFrame>
      <p:sp>
        <p:nvSpPr>
          <p:cNvPr id="8" name="TextBox 7"/>
          <p:cNvSpPr txBox="1"/>
          <p:nvPr/>
        </p:nvSpPr>
        <p:spPr>
          <a:xfrm>
            <a:off x="548640" y="5061204"/>
            <a:ext cx="8229600" cy="292608"/>
          </a:xfrm>
          <a:prstGeom prst="rect">
            <a:avLst/>
          </a:prstGeom>
          <a:noFill/>
        </p:spPr>
        <p:txBody>
          <a:bodyPr wrap="square" lIns="0" tIns="0" rIns="0" bIns="0" anchor="t">
            <a:noAutofit/>
          </a:bodyPr>
          <a:lstStyle/>
          <a:p>
            <a:pPr algn="l"/>
            <a:r>
              <a:rPr sz="1400" b="0" i="0" lang="en-GB">
                <a:solidFill>
                  <a:srgbClr val="F2F2F2"/>
                </a:solidFill>
                <a:latin typeface="Arial"/>
              </a:rPr>
              <a:t>CC BY-SA photos are shown unmodified except for resizing.</a:t>
            </a:r>
          </a:p>
        </p:txBody>
      </p:sp>
      <p:sp>
        <p:nvSpPr>
          <p:cNvPr id="3"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Photographs come from Wikimedia Commons under Creative Commons licences.</a:t>
            </a:r>
          </a:p>
        </p:txBody>
      </p:sp>
      <p:sp>
        <p:nvSpPr>
          <p:cNvPr id="4"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5"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CREDITS</a:t>
            </a:r>
          </a:p>
        </p:txBody>
      </p:sp>
      <p:sp>
        <p:nvSpPr>
          <p:cNvPr id="6"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41</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nodeType="withEffect">
                                  <p:stCondLst>
                                    <p:cond delay="6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11094415" cy="731520"/>
          </a:xfrm>
        </p:spPr>
        <p:txBody>
          <a:bodyPr wrap="square" lIns="0" tIns="0" rIns="0" bIns="0" anchor="ctr">
            <a:noAutofit/>
          </a:bodyPr>
          <a:lstStyle/>
          <a:p>
            <a:pPr algn="l"/>
            <a:r>
              <a:rPr sz="3600" b="1" i="0" lang="en-GB">
                <a:solidFill>
                  <a:srgbClr val="F2F2F2"/>
                </a:solidFill>
                <a:latin typeface="Arial"/>
              </a:rPr>
              <a:t>Image credits (2 of 2)</a:t>
            </a:r>
          </a:p>
        </p:txBody>
      </p:sp>
      <p:graphicFrame>
        <p:nvGraphicFramePr>
          <p:cNvPr id="7" name="Credit table" descr="Credit table for photographs P13 to P19 and project renders R01 to R05: slot, slide, author, licence and source."/>
          <p:cNvGraphicFramePr>
            <a:graphicFrameLocks noGrp="1"/>
          </p:cNvGraphicFramePr>
          <p:nvPr/>
        </p:nvGraphicFramePr>
        <p:xfrm>
          <a:off x="548640" y="1325880"/>
          <a:ext cx="11091672" cy="3625596"/>
        </p:xfrm>
        <a:graphic>
          <a:graphicData uri="http://schemas.openxmlformats.org/drawingml/2006/table">
            <a:tbl>
              <a:tblPr firstRow="1">
                <a:tableStyleId>{2D5ABB26-0587-4C30-8999-92F81FD0307C}</a:tableStyleId>
              </a:tblPr>
              <a:tblGrid>
                <a:gridCol w="685800"/>
                <a:gridCol w="960120"/>
                <a:gridCol w="4937760"/>
                <a:gridCol w="2194560"/>
                <a:gridCol w="2313432"/>
              </a:tblGrid>
              <a:tr h="278892">
                <a:tc>
                  <a:txBody>
                    <a:bodyPr wrap="square"/>
                    <a:lstStyle/>
                    <a:p>
                      <a:pPr algn="l"/>
                      <a:r>
                        <a:rPr sz="1100" b="1" lang="en-GB">
                          <a:solidFill>
                            <a:srgbClr val="F28C28"/>
                          </a:solidFill>
                          <a:latin typeface="Arial"/>
                        </a:rPr>
                        <a:t>Slot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Slide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Author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Source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r>
              <a:tr h="278892">
                <a:tc>
                  <a:txBody>
                    <a:bodyPr wrap="square"/>
                    <a:lstStyle/>
                    <a:p>
                      <a:pPr algn="l"/>
                      <a:r>
                        <a:rPr sz="1100" b="0" lang="en-GB">
                          <a:solidFill>
                            <a:srgbClr val="F2F2F2"/>
                          </a:solidFill>
                          <a:latin typeface="Arial"/>
                        </a:rPr>
                        <a:t>P13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Richard Dunn</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2"/>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P14</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30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Reading Tom</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3"/>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30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Nigel Brown</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4"/>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P16</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33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mattbuck (category)</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3.0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5"/>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Rosser1954</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4.0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6"/>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P18</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24</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Geof Sheppard</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4.0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7"/>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36</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Ben Salter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8"/>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R01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1, 3, 39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Early Locomotion project (test model, not final art)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No third-party 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Project render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R02</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17, 39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Early Locomotion project (test model, not final art)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No third-party 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Project render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R03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Early Locomotion project (test model, not final art)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No third-party 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Project render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R04</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Early Locomotion project (test model, not final art)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No third-party 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Project render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R05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Early Locomotion project (test model, not final art)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No third-party 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Project render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bl>
          </a:graphicData>
        </a:graphic>
      </p:graphicFrame>
      <p:sp>
        <p:nvSpPr>
          <p:cNvPr id="8" name="TextBox 7"/>
          <p:cNvSpPr txBox="1"/>
          <p:nvPr/>
        </p:nvSpPr>
        <p:spPr>
          <a:xfrm>
            <a:off x="548640" y="5061204"/>
            <a:ext cx="8229600" cy="292608"/>
          </a:xfrm>
          <a:prstGeom prst="rect">
            <a:avLst/>
          </a:prstGeom>
          <a:noFill/>
        </p:spPr>
        <p:txBody>
          <a:bodyPr wrap="square" lIns="0" tIns="0" rIns="0" bIns="0" anchor="t">
            <a:noAutofit/>
          </a:bodyPr>
          <a:lstStyle/>
          <a:p>
            <a:pPr algn="l"/>
            <a:r>
              <a:rPr sz="1400" b="0" i="0" lang="en-GB">
                <a:solidFill>
                  <a:srgbClr val="F2F2F2"/>
                </a:solidFill>
                <a:latin typeface="Arial"/>
              </a:rPr>
              <a:t>CC BY-SA photos are shown unmodified except for resizing.</a:t>
            </a:r>
          </a:p>
        </p:txBody>
      </p:sp>
      <p:sp>
        <p:nvSpPr>
          <p:cNvPr id="3"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Mod renders belong to the project. They show early test models.</a:t>
            </a:r>
          </a:p>
        </p:txBody>
      </p:sp>
      <p:sp>
        <p:nvSpPr>
          <p:cNvPr id="4"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5"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CREDITS</a:t>
            </a:r>
          </a:p>
        </p:txBody>
      </p:sp>
      <p:sp>
        <p:nvSpPr>
          <p:cNvPr id="6"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42</a:t>
            </a:fld>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3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nodeType="withEffect">
                                  <p:stCondLst>
                                    <p:cond delay="6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7DB8FF"/>
      </a:hlink>
      <a:folHlink>
        <a:srgbClr val="C9A7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 Locomotion, Explained</dc:title>
  <dc:subject>A read-alone explainer of the Early Locomotion steam railway mod for Satisfactory</dc:subject>
  <dc:creator>Early Locomotion project</dc:creator>
  <cp:keywords>Satisfactory; Early Locomotion; steam railway; explainer</cp:keywords>
  <dc:description>Plans, not a finished mod. Status tags follow Design/GAME_DESIGN.md.</dc:description>
  <cp:lastModifiedBy>Early Locomotion project</cp:lastModifiedBy>
  <cp:revision>1</cp:revision>
  <dcterms:created xsi:type="dcterms:W3CDTF">2013-01-27T09:14:16Z</dcterms:created>
  <dcterms:modified xsi:type="dcterms:W3CDTF">2013-01-27T09:15:58Z</dcterms:modified>
  <cp:category/>
  <dc:language>en-GB</dc:language>
</cp:coreProperties>
</file>