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21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jpg"/><Relationship Id="rId3"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1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mmons.wikimedia.org/wiki/File:Old_style_rail_clips_at_Oxenhope_-_geograph.org.uk_-_5380435.jpg" TargetMode="External"/><Relationship Id="rId3" Type="http://schemas.openxmlformats.org/officeDocument/2006/relationships/hyperlink" Target="https://commons.wikimedia.org/wiki/File:Track_at_Sheffield_Park.jpg" TargetMode="External"/><Relationship Id="rId4" Type="http://schemas.openxmlformats.org/officeDocument/2006/relationships/hyperlink" Target="https://commons.wikimedia.org/wiki/File:Valve_gear_(530245247).jpg" TargetMode="External"/><Relationship Id="rId5" Type="http://schemas.openxmlformats.org/officeDocument/2006/relationships/hyperlink" Target="https://commons.wikimedia.org/wiki/File:73082_Camelot_British_Railways_Standard_Class_5_4-6-0_-_54304789041.jpg" TargetMode="External"/><Relationship Id="rId6" Type="http://schemas.openxmlformats.org/officeDocument/2006/relationships/hyperlink" Target="https://commons.wikimedia.org/wiki/File:British_Railways_Standard_Class_4MT_2-6-4_Tank_Locomotive_No._80151_-_54303345950.jpg" TargetMode="External"/><Relationship Id="rId7" Type="http://schemas.openxmlformats.org/officeDocument/2006/relationships/hyperlink" Target="https://commons.wikimedia.org/wiki/File:Didcot_Railway_Centre_Water_(4714616590).jpg" TargetMode="External"/><Relationship Id="rId8" Type="http://schemas.openxmlformats.org/officeDocument/2006/relationships/hyperlink" Target="https://commons.wikimedia.org/wiki/File:Signal_and_Water_Tower_(3715807921).jpg" TargetMode="External"/><Relationship Id="rId9" Type="http://schemas.openxmlformats.org/officeDocument/2006/relationships/hyperlink" Target="https://commons.wikimedia.org/wiki/File:Coaling_stage,_GWS_Didcot-9940117084.jpg" TargetMode="External"/><Relationship Id="rId10" Type="http://schemas.openxmlformats.org/officeDocument/2006/relationships/hyperlink" Target="https://commons.wikimedia.org/wiki/File:Carnforth_Ash_plant,_water_tower_and_Cenotaph_coaling_tower.jpg" TargetMode="External"/><Relationship Id="rId11" Type="http://schemas.openxmlformats.org/officeDocument/2006/relationships/hyperlink" Target="https://commons.wikimedia.org/wiki/File:47406_Great_Central_Railway_(2).jpg" TargetMode="External"/><Relationship Id="rId12" Type="http://schemas.openxmlformats.org/officeDocument/2006/relationships/hyperlink" Target="https://commons.wikimedia.org/wiki/File:35005_Canadian_Pacific_at_Loughborough_1993.jpg" TargetMode="External"/><Relationship Id="rId13" Type="http://schemas.openxmlformats.org/officeDocument/2006/relationships/hyperlink" Target="https://commons.wikimedia.org/wiki/File:92203_at_Toddington_on_the_Gloucestershire_and_Warwickshire_Railway_(3).jp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mmons.wikimedia.org/wiki/File:Semaphore_distant_signal_on_the_approach_to_Henley_in_Arden._-_geograph.org.uk_-_11867.jpg" TargetMode="External"/><Relationship Id="rId3" Type="http://schemas.openxmlformats.org/officeDocument/2006/relationships/hyperlink" Target="https://commons.wikimedia.org/wiki/File:Williton_Signal_Box_-_November_2014.jpg" TargetMode="External"/><Relationship Id="rId4" Type="http://schemas.openxmlformats.org/officeDocument/2006/relationships/hyperlink" Target="https://commons.wikimedia.org/wiki/File:Signalbox_workings,_Didcot_Railway_Centre_-_geograph.org.uk_-_658545.jpg" TargetMode="External"/><Relationship Id="rId5" Type="http://schemas.openxmlformats.org/officeDocument/2006/relationships/hyperlink" Target="https://commons.wikimedia.org/wiki/File:Williton_railway_station_MMB_10.jpg" TargetMode="External"/><Relationship Id="rId6" Type="http://schemas.openxmlformats.org/officeDocument/2006/relationships/hyperlink" Target="https://commons.wikimedia.org/wiki/File:Coal_stage_and_water_tank,_Didcot_Railway_Centre,_England.jpg" TargetMode="External"/><Relationship Id="rId7" Type="http://schemas.openxmlformats.org/officeDocument/2006/relationships/hyperlink" Target="https://commons.wikimedia.org/wiki/File:Norton_Fitzwarren_-_LMS_tender.JPG" TargetMode="External"/><Relationship Id="rId8" Type="http://schemas.openxmlformats.org/officeDocument/2006/relationships/hyperlink" Target="https://commons.wikimedia.org/wiki/File:Out_in_the_open_(530236847)_(2).jp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234440"/>
            <a:ext cx="5760720" cy="1920240"/>
          </a:xfrm>
        </p:spPr>
        <p:txBody>
          <a:bodyPr wrap="square" lIns="0" tIns="0" rIns="0" bIns="0" anchor="b">
            <a:noAutofit/>
          </a:bodyPr>
          <a:lstStyle/>
          <a:p>
            <a:pPr algn="l">
              <a:lnSpc>
                <a:spcPct val="90000"/>
              </a:lnSpc>
            </a:pPr>
            <a:r>
              <a:rPr sz="5400" b="1" i="0" lang="en-GB">
                <a:solidFill>
                  <a:srgbClr val="F2F2F2"/>
                </a:solidFill>
                <a:latin typeface="Arial"/>
              </a:rPr>
              <a:t>Early Locomotion</a:t>
            </a:r>
          </a:p>
        </p:txBody>
      </p:sp>
      <p:sp>
        <p:nvSpPr>
          <p:cNvPr id="3" name="Title rule">
            <a:extLst>
              <a:ext uri="{C183D7F6-B498-43B3-948B-1728B52AA6E4}">
                <adec:decorative xmlns:adec="http://schemas.microsoft.com/office/drawing/2017/decorative" val="1"/>
              </a:ext>
            </a:extLst>
          </p:cNvPr>
          <p:cNvSpPr/>
          <p:nvPr/>
        </p:nvSpPr>
        <p:spPr>
          <a:xfrm>
            <a:off x="548640" y="3337560"/>
            <a:ext cx="2377440" cy="91440"/>
          </a:xfrm>
          <a:prstGeom prst="rect">
            <a:avLst/>
          </a:prstGeom>
          <a:solidFill>
            <a:srgbClr val="F28C28"/>
          </a:solidFill>
          <a:ln>
            <a:noFill/>
          </a:ln>
        </p:spPr>
        <p:txBody>
          <a:bodyPr rtlCol="0" anchor="ctr"/>
          <a:lstStyle/>
          <a:p>
            <a:pPr algn="ctr"/>
          </a:p>
        </p:txBody>
      </p:sp>
      <p:sp>
        <p:nvSpPr>
          <p:cNvPr id="4" name="Caption"/>
          <p:cNvSpPr txBox="1"/>
          <p:nvPr/>
        </p:nvSpPr>
        <p:spPr>
          <a:xfrm>
            <a:off x="548640" y="3611880"/>
            <a:ext cx="5669280" cy="1645920"/>
          </a:xfrm>
          <a:prstGeom prst="rect">
            <a:avLst/>
          </a:prstGeom>
          <a:noFill/>
        </p:spPr>
        <p:txBody>
          <a:bodyPr wrap="square" lIns="0" tIns="0" rIns="0" bIns="0" anchor="t">
            <a:noAutofit/>
          </a:bodyPr>
          <a:lstStyle/>
          <a:p>
            <a:pPr algn="l">
              <a:lnSpc>
                <a:spcPct val="105000"/>
              </a:lnSpc>
            </a:pPr>
            <a:r>
              <a:rPr sz="2400" b="0" i="0" lang="en-GB">
                <a:solidFill>
                  <a:srgbClr val="F2F2F2"/>
                </a:solidFill>
                <a:latin typeface="Arial"/>
              </a:rPr>
              <a:t>A steam railway mod for Satisfactory, explained for newcomers. Everything here is a plan, not a finished mod.</a:t>
            </a:r>
          </a:p>
        </p:txBody>
      </p:sp>
      <p:pic>
        <p:nvPicPr>
          <p:cNvPr id="5" name="Picture R01" descr="Early test model of a tank engine (a yellow 'visual probe') on a short length of track. Not final art."/>
          <p:cNvPicPr>
            <a:picLocks noChangeAspect="1"/>
          </p:cNvPicPr>
          <p:nvPr/>
        </p:nvPicPr>
        <p:blipFill>
          <a:blip r:embed="rId2"/>
          <a:srcRect l="20413" r="26413"/>
          <a:stretch>
            <a:fillRect/>
          </a:stretch>
        </p:blipFill>
        <p:spPr>
          <a:xfrm>
            <a:off x="6519672" y="548640"/>
            <a:ext cx="5120640" cy="5349240"/>
          </a:xfrm>
          <a:prstGeom prst="roundRect">
            <a:avLst>
              <a:gd name="adj" fmla="val 1429"/>
            </a:avLst>
          </a:prstGeom>
        </p:spPr>
      </p:pic>
      <p:sp>
        <p:nvSpPr>
          <p:cNvPr id="6" name="Credit"/>
          <p:cNvSpPr txBox="1"/>
          <p:nvPr/>
        </p:nvSpPr>
        <p:spPr>
          <a:xfrm>
            <a:off x="6519672" y="5925312"/>
            <a:ext cx="5120640" cy="182880"/>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p:txBody>
      </p:sp>
      <p:sp>
        <p:nvSpPr>
          <p:cNvPr id="7"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WELCOME</a:t>
            </a:r>
          </a:p>
        </p:txBody>
      </p:sp>
      <p:sp>
        <p:nvSpPr>
          <p:cNvPr id="8" name="Slide number"/>
          <p:cNvSpPr txBox="1"/>
          <p:nvPr/>
        </p:nvSpPr>
        <p:spPr>
          <a:xfrm>
            <a:off x="10728655" y="6455664"/>
            <a:ext cx="914400" cy="274320"/>
          </a:xfrm>
          <a:prstGeom prst="rect">
            <a:avLst/>
          </a:prstGeom>
          <a:noFill/>
        </p:spPr>
        <p:txBody>
          <a:bodyPr wrap="square" lIns="0" tIns="0" rIns="0" bIns="0" anchor="t">
            <a:noAutofit/>
          </a:bodyPr>
          <a:lstStyle/>
          <a:p>
            <a:pPr algn="r"/>
            <a:r>
              <a:rPr sz="1400" b="0" i="0" lang="en-GB">
                <a:solidFill>
                  <a:srgbClr val="A9B0B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94415" cy="731520"/>
          </a:xfrm>
        </p:spPr>
        <p:txBody>
          <a:bodyPr wrap="square" lIns="0" tIns="0" rIns="0" bIns="0" anchor="ctr">
            <a:noAutofit/>
          </a:bodyPr>
          <a:lstStyle/>
          <a:p>
            <a:pPr algn="l"/>
            <a:r>
              <a:rPr sz="3600" b="1" i="0" lang="en-GB">
                <a:solidFill>
                  <a:srgbClr val="F2F2F2"/>
                </a:solidFill>
                <a:latin typeface="Arial"/>
              </a:rPr>
              <a:t>How to read this guide</a:t>
            </a:r>
          </a:p>
        </p:txBody>
      </p:sp>
      <p:grpSp>
        <p:nvGrpSpPr>
          <p:cNvPr id="7" name="Tag legend" descr="Legend of the five tags used in this guide and what each means."/>
          <p:cNvGrpSpPr/>
          <p:nvPr/>
        </p:nvGrpSpPr>
        <p:grpSpPr>
          <a:xfrm>
            <a:off x="1280160" y="1463040"/>
            <a:ext cx="9628632" cy="3877056"/>
            <a:chOff x="1280160" y="1463040"/>
            <a:chExt cx="9628632" cy="3877056"/>
          </a:xfrm>
        </p:grpSpPr>
        <p:sp>
          <p:nvSpPr>
            <p:cNvPr id="8" name="Rounded Rectangle 7"/>
            <p:cNvSpPr/>
            <p:nvPr/>
          </p:nvSpPr>
          <p:spPr>
            <a:xfrm>
              <a:off x="1280160" y="1463040"/>
              <a:ext cx="9628632" cy="658368"/>
            </a:xfrm>
            <a:prstGeom prst="roundRect">
              <a:avLst>
                <a:gd name="adj" fmla="val 11111"/>
              </a:avLst>
            </a:prstGeom>
            <a:solidFill>
              <a:srgbClr val="2B2F36"/>
            </a:solidFill>
            <a:ln>
              <a:noFill/>
            </a:ln>
          </p:spPr>
          <p:txBody>
            <a:bodyPr rtlCol="0" anchor="ctr"/>
            <a:lstStyle/>
            <a:p>
              <a:pPr algn="ctr"/>
            </a:p>
          </p:txBody>
        </p:sp>
        <p:sp>
          <p:nvSpPr>
            <p:cNvPr id="9" name="Chip Agreed"/>
            <p:cNvSpPr/>
            <p:nvPr/>
          </p:nvSpPr>
          <p:spPr>
            <a:xfrm>
              <a:off x="1508760" y="1572768"/>
              <a:ext cx="2103120" cy="438912"/>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600" b="1" i="0" lang="en-GB">
                  <a:solidFill>
                    <a:srgbClr val="101418"/>
                  </a:solidFill>
                  <a:latin typeface="Arial"/>
                </a:rPr>
                <a:t>AGREED</a:t>
              </a:r>
            </a:p>
          </p:txBody>
        </p:sp>
        <p:sp>
          <p:nvSpPr>
            <p:cNvPr id="10" name="TextBox 9"/>
            <p:cNvSpPr txBox="1"/>
            <p:nvPr/>
          </p:nvSpPr>
          <p:spPr>
            <a:xfrm>
              <a:off x="3977640" y="1463040"/>
              <a:ext cx="6766560" cy="658368"/>
            </a:xfrm>
            <a:prstGeom prst="rect">
              <a:avLst/>
            </a:prstGeom>
            <a:noFill/>
          </p:spPr>
          <p:txBody>
            <a:bodyPr wrap="square" lIns="0" tIns="0" rIns="0" bIns="0" anchor="ctr">
              <a:noAutofit/>
            </a:bodyPr>
            <a:lstStyle/>
            <a:p>
              <a:pPr algn="l"/>
              <a:r>
                <a:rPr sz="2200" b="0" i="0" lang="en-GB">
                  <a:solidFill>
                    <a:srgbClr val="F2F2F2"/>
                  </a:solidFill>
                  <a:latin typeface="Arial"/>
                </a:rPr>
                <a:t>Decided.</a:t>
              </a:r>
            </a:p>
          </p:txBody>
        </p:sp>
        <p:sp>
          <p:nvSpPr>
            <p:cNvPr id="11" name="Rounded Rectangle 10"/>
            <p:cNvSpPr/>
            <p:nvPr/>
          </p:nvSpPr>
          <p:spPr>
            <a:xfrm>
              <a:off x="1280160" y="2267712"/>
              <a:ext cx="9628632" cy="658368"/>
            </a:xfrm>
            <a:prstGeom prst="roundRect">
              <a:avLst>
                <a:gd name="adj" fmla="val 11111"/>
              </a:avLst>
            </a:prstGeom>
            <a:solidFill>
              <a:srgbClr val="2B2F36"/>
            </a:solidFill>
            <a:ln>
              <a:noFill/>
            </a:ln>
          </p:spPr>
          <p:txBody>
            <a:bodyPr rtlCol="0" anchor="ctr"/>
            <a:lstStyle/>
            <a:p>
              <a:pPr algn="ctr"/>
            </a:p>
          </p:txBody>
        </p:sp>
        <p:sp>
          <p:nvSpPr>
            <p:cNvPr id="12" name="Chip Proposed"/>
            <p:cNvSpPr/>
            <p:nvPr/>
          </p:nvSpPr>
          <p:spPr>
            <a:xfrm>
              <a:off x="1508760" y="2377440"/>
              <a:ext cx="2103120" cy="438912"/>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600" b="1" i="0" lang="en-GB">
                  <a:solidFill>
                    <a:srgbClr val="101418"/>
                  </a:solidFill>
                  <a:latin typeface="Arial"/>
                </a:rPr>
                <a:t>PROPOSED</a:t>
              </a:r>
            </a:p>
          </p:txBody>
        </p:sp>
        <p:sp>
          <p:nvSpPr>
            <p:cNvPr id="13" name="TextBox 12"/>
            <p:cNvSpPr txBox="1"/>
            <p:nvPr/>
          </p:nvSpPr>
          <p:spPr>
            <a:xfrm>
              <a:off x="3977640" y="2267712"/>
              <a:ext cx="6766560" cy="658368"/>
            </a:xfrm>
            <a:prstGeom prst="rect">
              <a:avLst/>
            </a:prstGeom>
            <a:noFill/>
          </p:spPr>
          <p:txBody>
            <a:bodyPr wrap="square" lIns="0" tIns="0" rIns="0" bIns="0" anchor="ctr">
              <a:noAutofit/>
            </a:bodyPr>
            <a:lstStyle/>
            <a:p>
              <a:pPr algn="l"/>
              <a:r>
                <a:rPr sz="2200" b="0" i="0" lang="en-GB">
                  <a:solidFill>
                    <a:srgbClr val="F2F2F2"/>
                  </a:solidFill>
                  <a:latin typeface="Arial"/>
                </a:rPr>
                <a:t>Suggested, not confirmed.</a:t>
              </a:r>
            </a:p>
          </p:txBody>
        </p:sp>
        <p:sp>
          <p:nvSpPr>
            <p:cNvPr id="14" name="Rounded Rectangle 13"/>
            <p:cNvSpPr/>
            <p:nvPr/>
          </p:nvSpPr>
          <p:spPr>
            <a:xfrm>
              <a:off x="1280160" y="3072384"/>
              <a:ext cx="9628632" cy="658368"/>
            </a:xfrm>
            <a:prstGeom prst="roundRect">
              <a:avLst>
                <a:gd name="adj" fmla="val 11111"/>
              </a:avLst>
            </a:prstGeom>
            <a:solidFill>
              <a:srgbClr val="2B2F36"/>
            </a:solidFill>
            <a:ln>
              <a:noFill/>
            </a:ln>
          </p:spPr>
          <p:txBody>
            <a:bodyPr rtlCol="0" anchor="ctr"/>
            <a:lstStyle/>
            <a:p>
              <a:pPr algn="ctr"/>
            </a:p>
          </p:txBody>
        </p:sp>
        <p:sp>
          <p:nvSpPr>
            <p:cNvPr id="15" name="Chip Provisional"/>
            <p:cNvSpPr/>
            <p:nvPr/>
          </p:nvSpPr>
          <p:spPr>
            <a:xfrm>
              <a:off x="1508760" y="3182112"/>
              <a:ext cx="2103120" cy="438912"/>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600" b="1" i="0" lang="en-GB">
                  <a:solidFill>
                    <a:srgbClr val="101418"/>
                  </a:solidFill>
                  <a:latin typeface="Arial"/>
                </a:rPr>
                <a:t>PROVISIONAL</a:t>
              </a:r>
            </a:p>
          </p:txBody>
        </p:sp>
        <p:sp>
          <p:nvSpPr>
            <p:cNvPr id="16" name="TextBox 15"/>
            <p:cNvSpPr txBox="1"/>
            <p:nvPr/>
          </p:nvSpPr>
          <p:spPr>
            <a:xfrm>
              <a:off x="3977640" y="3072384"/>
              <a:ext cx="6766560" cy="658368"/>
            </a:xfrm>
            <a:prstGeom prst="rect">
              <a:avLst/>
            </a:prstGeom>
            <a:noFill/>
          </p:spPr>
          <p:txBody>
            <a:bodyPr wrap="square" lIns="0" tIns="0" rIns="0" bIns="0" anchor="ctr">
              <a:noAutofit/>
            </a:bodyPr>
            <a:lstStyle/>
            <a:p>
              <a:pPr algn="l"/>
              <a:r>
                <a:rPr sz="2200" b="0" i="0" lang="en-GB">
                  <a:solidFill>
                    <a:srgbClr val="F2F2F2"/>
                  </a:solidFill>
                  <a:latin typeface="Arial"/>
                </a:rPr>
                <a:t>A test number that may change.</a:t>
              </a:r>
            </a:p>
          </p:txBody>
        </p:sp>
        <p:sp>
          <p:nvSpPr>
            <p:cNvPr id="17" name="Rounded Rectangle 16"/>
            <p:cNvSpPr/>
            <p:nvPr/>
          </p:nvSpPr>
          <p:spPr>
            <a:xfrm>
              <a:off x="1280160" y="3877056"/>
              <a:ext cx="9628632" cy="658368"/>
            </a:xfrm>
            <a:prstGeom prst="roundRect">
              <a:avLst>
                <a:gd name="adj" fmla="val 11111"/>
              </a:avLst>
            </a:prstGeom>
            <a:solidFill>
              <a:srgbClr val="2B2F36"/>
            </a:solidFill>
            <a:ln>
              <a:noFill/>
            </a:ln>
          </p:spPr>
          <p:txBody>
            <a:bodyPr rtlCol="0" anchor="ctr"/>
            <a:lstStyle/>
            <a:p>
              <a:pPr algn="ctr"/>
            </a:p>
          </p:txBody>
        </p:sp>
        <p:sp>
          <p:nvSpPr>
            <p:cNvPr id="18" name="Chip Undecided"/>
            <p:cNvSpPr/>
            <p:nvPr/>
          </p:nvSpPr>
          <p:spPr>
            <a:xfrm>
              <a:off x="1508760" y="3986784"/>
              <a:ext cx="2103120" cy="438912"/>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600" b="1" i="0" lang="en-GB">
                  <a:solidFill>
                    <a:srgbClr val="F2F2F2"/>
                  </a:solidFill>
                  <a:latin typeface="Arial"/>
                </a:rPr>
                <a:t>UNDECIDED</a:t>
              </a:r>
            </a:p>
          </p:txBody>
        </p:sp>
        <p:sp>
          <p:nvSpPr>
            <p:cNvPr id="19" name="TextBox 18"/>
            <p:cNvSpPr txBox="1"/>
            <p:nvPr/>
          </p:nvSpPr>
          <p:spPr>
            <a:xfrm>
              <a:off x="3977640" y="3877056"/>
              <a:ext cx="6766560" cy="658368"/>
            </a:xfrm>
            <a:prstGeom prst="rect">
              <a:avLst/>
            </a:prstGeom>
            <a:noFill/>
          </p:spPr>
          <p:txBody>
            <a:bodyPr wrap="square" lIns="0" tIns="0" rIns="0" bIns="0" anchor="ctr">
              <a:noAutofit/>
            </a:bodyPr>
            <a:lstStyle/>
            <a:p>
              <a:pPr algn="l"/>
              <a:r>
                <a:rPr sz="2200" b="0" i="0" lang="en-GB">
                  <a:solidFill>
                    <a:srgbClr val="F2F2F2"/>
                  </a:solidFill>
                  <a:latin typeface="Arial"/>
                </a:rPr>
                <a:t>Still an open question.</a:t>
              </a:r>
            </a:p>
          </p:txBody>
        </p:sp>
        <p:sp>
          <p:nvSpPr>
            <p:cNvPr id="20" name="Rounded Rectangle 19"/>
            <p:cNvSpPr/>
            <p:nvPr/>
          </p:nvSpPr>
          <p:spPr>
            <a:xfrm>
              <a:off x="1280160" y="4681728"/>
              <a:ext cx="9628632" cy="658368"/>
            </a:xfrm>
            <a:prstGeom prst="roundRect">
              <a:avLst>
                <a:gd name="adj" fmla="val 11111"/>
              </a:avLst>
            </a:prstGeom>
            <a:solidFill>
              <a:srgbClr val="2B2F36"/>
            </a:solidFill>
            <a:ln>
              <a:noFill/>
            </a:ln>
          </p:spPr>
          <p:txBody>
            <a:bodyPr rtlCol="0" anchor="ctr"/>
            <a:lstStyle/>
            <a:p>
              <a:pPr algn="ctr"/>
            </a:p>
          </p:txBody>
        </p:sp>
        <p:sp>
          <p:nvSpPr>
            <p:cNvPr id="21" name="Chip Background"/>
            <p:cNvSpPr/>
            <p:nvPr/>
          </p:nvSpPr>
          <p:spPr>
            <a:xfrm>
              <a:off x="1508760" y="4791456"/>
              <a:ext cx="2103120" cy="438912"/>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600" b="1" i="0" lang="en-GB">
                  <a:solidFill>
                    <a:srgbClr val="F2F2F2"/>
                  </a:solidFill>
                  <a:latin typeface="Arial"/>
                </a:rPr>
                <a:t>BACKGROUND</a:t>
              </a:r>
            </a:p>
          </p:txBody>
        </p:sp>
        <p:sp>
          <p:nvSpPr>
            <p:cNvPr id="22" name="TextBox 21"/>
            <p:cNvSpPr txBox="1"/>
            <p:nvPr/>
          </p:nvSpPr>
          <p:spPr>
            <a:xfrm>
              <a:off x="3977640" y="4681728"/>
              <a:ext cx="6766560" cy="658368"/>
            </a:xfrm>
            <a:prstGeom prst="rect">
              <a:avLst/>
            </a:prstGeom>
            <a:noFill/>
          </p:spPr>
          <p:txBody>
            <a:bodyPr wrap="square" lIns="0" tIns="0" rIns="0" bIns="0" anchor="ctr">
              <a:noAutofit/>
            </a:bodyPr>
            <a:lstStyle/>
            <a:p>
              <a:pPr algn="l"/>
              <a:r>
                <a:rPr sz="2200" b="0" i="0" lang="en-GB">
                  <a:solidFill>
                    <a:srgbClr val="F2F2F2"/>
                  </a:solidFill>
                  <a:latin typeface="Arial"/>
                </a:rPr>
                <a:t>A real-world fact.</a:t>
              </a:r>
            </a:p>
          </p:txBody>
        </p:sp>
      </p:grpSp>
      <p:sp>
        <p:nvSpPr>
          <p:cNvPr id="3"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Every idea carries a tag in the top-right corner.</a:t>
            </a:r>
          </a:p>
        </p:txBody>
      </p:sp>
      <p:sp>
        <p:nvSpPr>
          <p:cNvPr id="4"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5"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WELCOME</a:t>
            </a:r>
          </a:p>
        </p:txBody>
      </p:sp>
      <p:sp>
        <p:nvSpPr>
          <p:cNvPr id="6"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The idea in one picture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Idea flow" descr="Four steps: cheap to build, real limits, your answers, and later the electric monorail."/>
          <p:cNvGrpSpPr/>
          <p:nvPr/>
        </p:nvGrpSpPr>
        <p:grpSpPr>
          <a:xfrm>
            <a:off x="548640" y="1783080"/>
            <a:ext cx="11091672" cy="1463040"/>
            <a:chOff x="548640" y="1783080"/>
            <a:chExt cx="11091672" cy="1463040"/>
          </a:xfrm>
        </p:grpSpPr>
        <p:sp>
          <p:nvSpPr>
            <p:cNvPr id="9" name="Rounded Rectangle 8"/>
            <p:cNvSpPr/>
            <p:nvPr/>
          </p:nvSpPr>
          <p:spPr>
            <a:xfrm>
              <a:off x="548640" y="1783080"/>
              <a:ext cx="2377440" cy="1463040"/>
            </a:xfrm>
            <a:prstGeom prst="roundRect">
              <a:avLst>
                <a:gd name="adj" fmla="val 5000"/>
              </a:avLst>
            </a:prstGeom>
            <a:solidFill>
              <a:srgbClr val="2B2F36"/>
            </a:solidFill>
            <a:ln w="25400">
              <a:solidFill>
                <a:srgbClr val="F28C28"/>
              </a:solidFill>
            </a:ln>
          </p:spPr>
          <p:txBody>
            <a:bodyPr rtlCol="0" anchor="ctr" wrap="square" lIns="137160" tIns="73152" rIns="137160" bIns="73152">
              <a:noAutofit/>
            </a:bodyPr>
            <a:lstStyle/>
            <a:p>
              <a:pPr algn="ctr"/>
              <a:r>
                <a:rPr sz="1800" b="1" i="0" lang="en-GB">
                  <a:solidFill>
                    <a:srgbClr val="F2F2F2"/>
                  </a:solidFill>
                  <a:latin typeface="Arial"/>
                </a:rPr>
                <a:t>Cheap to build</a:t>
              </a:r>
            </a:p>
          </p:txBody>
        </p:sp>
        <p:cxnSp>
          <p:nvCxnSpPr>
            <p:cNvPr id="10" name="Connector 9"/>
            <p:cNvCxnSpPr/>
            <p:nvPr/>
          </p:nvCxnSpPr>
          <p:spPr>
            <a:xfrm>
              <a:off x="2980944" y="2514600"/>
              <a:ext cx="399593" cy="0"/>
            </a:xfrm>
            <a:prstGeom prst="line">
              <a:avLst/>
            </a:prstGeom>
            <a:ln w="38100">
              <a:solidFill>
                <a:srgbClr val="F28C28"/>
              </a:solidFill>
              <a:tailEnd type="triangle" w="med" len="med"/>
            </a:ln>
          </p:spPr>
        </p:cxnSp>
        <p:sp>
          <p:nvSpPr>
            <p:cNvPr id="11" name="Rounded Rectangle 10"/>
            <p:cNvSpPr/>
            <p:nvPr/>
          </p:nvSpPr>
          <p:spPr>
            <a:xfrm>
              <a:off x="3453689" y="1783080"/>
              <a:ext cx="2377440" cy="1463040"/>
            </a:xfrm>
            <a:prstGeom prst="roundRect">
              <a:avLst>
                <a:gd name="adj" fmla="val 5000"/>
              </a:avLst>
            </a:prstGeom>
            <a:solidFill>
              <a:srgbClr val="2B2F36"/>
            </a:solidFill>
            <a:ln w="25400">
              <a:solidFill>
                <a:srgbClr val="F28C28"/>
              </a:solidFill>
            </a:ln>
          </p:spPr>
          <p:txBody>
            <a:bodyPr rtlCol="0" anchor="ctr" wrap="square" lIns="137160" tIns="73152" rIns="137160" bIns="73152">
              <a:noAutofit/>
            </a:bodyPr>
            <a:lstStyle/>
            <a:p>
              <a:pPr algn="ctr"/>
              <a:r>
                <a:rPr sz="1800" b="1" i="0" lang="en-GB">
                  <a:solidFill>
                    <a:srgbClr val="F2F2F2"/>
                  </a:solidFill>
                  <a:latin typeface="Arial"/>
                </a:rPr>
                <a:t>Real limits:</a:t>
              </a:r>
            </a:p>
            <a:p>
              <a:pPr algn="ctr"/>
              <a:r>
                <a:rPr sz="1800" b="0" i="0" lang="en-GB">
                  <a:solidFill>
                    <a:srgbClr val="F2F2F2"/>
                  </a:solidFill>
                  <a:latin typeface="Arial"/>
                </a:rPr>
                <a:t>speed, range, signals, stations</a:t>
              </a:r>
            </a:p>
          </p:txBody>
        </p:sp>
        <p:cxnSp>
          <p:nvCxnSpPr>
            <p:cNvPr id="12" name="Connector 11"/>
            <p:cNvCxnSpPr/>
            <p:nvPr/>
          </p:nvCxnSpPr>
          <p:spPr>
            <a:xfrm>
              <a:off x="5885993" y="2514600"/>
              <a:ext cx="398678" cy="0"/>
            </a:xfrm>
            <a:prstGeom prst="line">
              <a:avLst/>
            </a:prstGeom>
            <a:ln w="38100">
              <a:solidFill>
                <a:srgbClr val="F28C28"/>
              </a:solidFill>
              <a:tailEnd type="triangle" w="med" len="med"/>
            </a:ln>
          </p:spPr>
        </p:cxnSp>
        <p:sp>
          <p:nvSpPr>
            <p:cNvPr id="13" name="Rounded Rectangle 12"/>
            <p:cNvSpPr/>
            <p:nvPr/>
          </p:nvSpPr>
          <p:spPr>
            <a:xfrm>
              <a:off x="6357823" y="1783080"/>
              <a:ext cx="2377440" cy="1463040"/>
            </a:xfrm>
            <a:prstGeom prst="roundRect">
              <a:avLst>
                <a:gd name="adj" fmla="val 5000"/>
              </a:avLst>
            </a:prstGeom>
            <a:solidFill>
              <a:srgbClr val="2B2F36"/>
            </a:solidFill>
            <a:ln w="25400">
              <a:solidFill>
                <a:srgbClr val="F28C28"/>
              </a:solidFill>
            </a:ln>
          </p:spPr>
          <p:txBody>
            <a:bodyPr rtlCol="0" anchor="ctr" wrap="square" lIns="137160" tIns="73152" rIns="137160" bIns="73152">
              <a:noAutofit/>
            </a:bodyPr>
            <a:lstStyle/>
            <a:p>
              <a:pPr algn="ctr"/>
              <a:r>
                <a:rPr sz="1800" b="1" i="0" lang="en-GB">
                  <a:solidFill>
                    <a:srgbClr val="F2F2F2"/>
                  </a:solidFill>
                  <a:latin typeface="Arial"/>
                </a:rPr>
                <a:t>Your answers:</a:t>
              </a:r>
            </a:p>
            <a:p>
              <a:pPr algn="ctr"/>
              <a:r>
                <a:rPr sz="1800" b="0" i="0" lang="en-GB">
                  <a:solidFill>
                    <a:srgbClr val="F2F2F2"/>
                  </a:solidFill>
                  <a:latin typeface="Arial"/>
                </a:rPr>
                <a:t>tenders, service stops, signal boxes</a:t>
              </a:r>
            </a:p>
          </p:txBody>
        </p:sp>
        <p:cxnSp>
          <p:nvCxnSpPr>
            <p:cNvPr id="14" name="Connector 13"/>
            <p:cNvCxnSpPr/>
            <p:nvPr/>
          </p:nvCxnSpPr>
          <p:spPr>
            <a:xfrm>
              <a:off x="8790127" y="2514600"/>
              <a:ext cx="399593" cy="0"/>
            </a:xfrm>
            <a:prstGeom prst="line">
              <a:avLst/>
            </a:prstGeom>
            <a:ln w="38100">
              <a:solidFill>
                <a:srgbClr val="F28C28"/>
              </a:solidFill>
              <a:tailEnd type="triangle" w="med" len="med"/>
            </a:ln>
          </p:spPr>
        </p:cxnSp>
        <p:sp>
          <p:nvSpPr>
            <p:cNvPr id="15" name="Rounded Rectangle 14"/>
            <p:cNvSpPr/>
            <p:nvPr/>
          </p:nvSpPr>
          <p:spPr>
            <a:xfrm>
              <a:off x="9262872" y="1783080"/>
              <a:ext cx="2377440" cy="1463040"/>
            </a:xfrm>
            <a:prstGeom prst="roundRect">
              <a:avLst>
                <a:gd name="adj" fmla="val 5000"/>
              </a:avLst>
            </a:prstGeom>
            <a:solidFill>
              <a:srgbClr val="2B2F36"/>
            </a:solidFill>
            <a:ln w="25400">
              <a:solidFill>
                <a:srgbClr val="6CA0DC"/>
              </a:solidFill>
            </a:ln>
          </p:spPr>
          <p:txBody>
            <a:bodyPr rtlCol="0" anchor="ctr" wrap="square" lIns="137160" tIns="73152" rIns="137160" bIns="73152">
              <a:noAutofit/>
            </a:bodyPr>
            <a:lstStyle/>
            <a:p>
              <a:pPr algn="ctr"/>
              <a:r>
                <a:rPr sz="1800" b="1" i="0" lang="en-GB">
                  <a:solidFill>
                    <a:srgbClr val="F2F2F2"/>
                  </a:solidFill>
                  <a:latin typeface="Arial"/>
                </a:rPr>
                <a:t>Later:</a:t>
              </a:r>
            </a:p>
            <a:p>
              <a:pPr algn="ctr"/>
              <a:r>
                <a:rPr sz="1800" b="0" i="0" lang="en-GB">
                  <a:solidFill>
                    <a:srgbClr val="F2F2F2"/>
                  </a:solidFill>
                  <a:latin typeface="Arial"/>
                </a:rPr>
                <a:t>electric monorail</a:t>
              </a:r>
            </a:p>
          </p:txBody>
        </p:sp>
      </p:grpSp>
      <p:pic>
        <p:nvPicPr>
          <p:cNvPr id="16" name="Picture R01" descr="Early test model of a tank engine (a yellow 'visual probe') on a short length of track. Not final art."/>
          <p:cNvPicPr>
            <a:picLocks noChangeAspect="1"/>
          </p:cNvPicPr>
          <p:nvPr/>
        </p:nvPicPr>
        <p:blipFill>
          <a:blip r:embed="rId2"/>
          <a:srcRect r="3719"/>
          <a:stretch>
            <a:fillRect/>
          </a:stretch>
        </p:blipFill>
        <p:spPr>
          <a:xfrm>
            <a:off x="9262872" y="3977640"/>
            <a:ext cx="2377440" cy="1371600"/>
          </a:xfrm>
          <a:prstGeom prst="roundRect">
            <a:avLst>
              <a:gd name="adj" fmla="val 5333"/>
            </a:avLst>
          </a:prstGeom>
        </p:spPr>
      </p:pic>
      <p:sp>
        <p:nvSpPr>
          <p:cNvPr id="17" name="Credit"/>
          <p:cNvSpPr txBox="1"/>
          <p:nvPr/>
        </p:nvSpPr>
        <p:spPr>
          <a:xfrm>
            <a:off x="9262872" y="5376672"/>
            <a:ext cx="2377440" cy="338328"/>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Cheap track and trains. Real limits. You solve them with coal, water, signals and planning.</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WELCOME</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What is Satisfactory?</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sp>
        <p:nvSpPr>
          <p:cNvPr id="8" name="Definition"/>
          <p:cNvSpPr/>
          <p:nvPr/>
        </p:nvSpPr>
        <p:spPr>
          <a:xfrm>
            <a:off x="548640" y="1417320"/>
            <a:ext cx="4846320" cy="566928"/>
          </a:xfrm>
          <a:prstGeom prst="roundRect">
            <a:avLst>
              <a:gd name="adj" fmla="val 12903"/>
            </a:avLst>
          </a:prstGeom>
          <a:solidFill>
            <a:srgbClr val="2B2F36"/>
          </a:solidFill>
          <a:ln w="19050">
            <a:solidFill>
              <a:srgbClr val="F28C28"/>
            </a:solidFill>
          </a:ln>
        </p:spPr>
        <p:txBody>
          <a:bodyPr rtlCol="0" anchor="ctr" wrap="square" lIns="182880" tIns="27432" bIns="27432">
            <a:noAutofit/>
          </a:bodyPr>
          <a:lstStyle/>
          <a:p>
            <a:pPr algn="l"/>
            <a:r>
              <a:rPr sz="1800" b="1" i="0" lang="en-GB">
                <a:solidFill>
                  <a:srgbClr val="F28C28"/>
                </a:solidFill>
                <a:latin typeface="Arial"/>
              </a:rPr>
              <a:t>Vanilla</a:t>
            </a:r>
            <a:r>
              <a:rPr sz="1800" b="0" i="0" lang="en-GB">
                <a:solidFill>
                  <a:srgbClr val="F2F2F2"/>
                </a:solidFill>
                <a:latin typeface="Arial"/>
              </a:rPr>
              <a:t> = the game without mods.</a:t>
            </a:r>
          </a:p>
        </p:txBody>
      </p:sp>
      <p:grpSp>
        <p:nvGrpSpPr>
          <p:cNvPr id="9" name="Factory strip" descr="A simple factory line from shapes: a miner, conveyor belts, a smelter, a constructor and a storage crate, with the player standing beside it."/>
          <p:cNvGrpSpPr/>
          <p:nvPr/>
        </p:nvGrpSpPr>
        <p:grpSpPr>
          <a:xfrm>
            <a:off x="548640" y="2560320"/>
            <a:ext cx="11091672" cy="2103120"/>
            <a:chOff x="548640" y="2560320"/>
            <a:chExt cx="11091672" cy="2103120"/>
          </a:xfrm>
        </p:grpSpPr>
        <p:sp>
          <p:nvSpPr>
            <p:cNvPr id="10" name="Freeform 9"/>
            <p:cNvSpPr/>
            <p:nvPr/>
          </p:nvSpPr>
          <p:spPr>
            <a:xfrm>
              <a:off x="822960" y="4160520"/>
              <a:ext cx="1280160" cy="502920"/>
            </a:xfrm>
            <a:custGeom>
              <a:avLst/>
              <a:gdLst/>
              <a:ahLst/>
              <a:cxnLst/>
              <a:rect l="l" t="t" r="r" b="b"/>
              <a:pathLst>
                <a:path w="1280160" h="502920">
                  <a:moveTo>
                    <a:pt x="0" y="0"/>
                  </a:moveTo>
                  <a:lnTo>
                    <a:pt x="1280160" y="0"/>
                  </a:lnTo>
                  <a:lnTo>
                    <a:pt x="1097280" y="502920"/>
                  </a:lnTo>
                  <a:lnTo>
                    <a:pt x="182880" y="502920"/>
                  </a:lnTo>
                  <a:close/>
                </a:path>
              </a:pathLst>
            </a:custGeom>
            <a:solidFill>
              <a:srgbClr val="5C4A3A"/>
            </a:solidFill>
            <a:ln>
              <a:noFill/>
            </a:ln>
          </p:spPr>
          <p:txBody>
            <a:bodyPr rtlCol="0" anchor="ctr"/>
            <a:lstStyle/>
            <a:p>
              <a:pPr algn="ctr"/>
            </a:p>
          </p:txBody>
        </p:sp>
        <p:sp>
          <p:nvSpPr>
            <p:cNvPr id="11" name="Rectangle 10"/>
            <p:cNvSpPr/>
            <p:nvPr/>
          </p:nvSpPr>
          <p:spPr>
            <a:xfrm>
              <a:off x="548640" y="4160520"/>
              <a:ext cx="11091672" cy="45720"/>
            </a:xfrm>
            <a:prstGeom prst="rect">
              <a:avLst/>
            </a:prstGeom>
            <a:solidFill>
              <a:srgbClr val="9AA0A6"/>
            </a:solidFill>
            <a:ln>
              <a:noFill/>
            </a:ln>
          </p:spPr>
          <p:txBody>
            <a:bodyPr rtlCol="0" anchor="ctr"/>
            <a:lstStyle/>
            <a:p>
              <a:pPr algn="ctr"/>
            </a:p>
          </p:txBody>
        </p:sp>
        <p:sp>
          <p:nvSpPr>
            <p:cNvPr id="12" name="Rounded Rectangle 11"/>
            <p:cNvSpPr/>
            <p:nvPr/>
          </p:nvSpPr>
          <p:spPr>
            <a:xfrm>
              <a:off x="914400" y="3063240"/>
              <a:ext cx="1097280" cy="1097280"/>
            </a:xfrm>
            <a:prstGeom prst="roundRect">
              <a:avLst>
                <a:gd name="adj" fmla="val 5000"/>
              </a:avLst>
            </a:prstGeom>
            <a:solidFill>
              <a:srgbClr val="343A43"/>
            </a:solidFill>
            <a:ln w="19050">
              <a:solidFill>
                <a:srgbClr val="9AA0A6"/>
              </a:solidFill>
            </a:ln>
          </p:spPr>
          <p:txBody>
            <a:bodyPr rtlCol="0" anchor="ctr"/>
            <a:lstStyle/>
            <a:p>
              <a:pPr algn="ctr"/>
            </a:p>
          </p:txBody>
        </p:sp>
        <p:sp>
          <p:nvSpPr>
            <p:cNvPr id="13" name="Freeform 12"/>
            <p:cNvSpPr/>
            <p:nvPr/>
          </p:nvSpPr>
          <p:spPr>
            <a:xfrm>
              <a:off x="1243584" y="4160520"/>
              <a:ext cx="438912" cy="411480"/>
            </a:xfrm>
            <a:custGeom>
              <a:avLst/>
              <a:gdLst/>
              <a:ahLst/>
              <a:cxnLst/>
              <a:rect l="l" t="t" r="r" b="b"/>
              <a:pathLst>
                <a:path w="438912" h="411480">
                  <a:moveTo>
                    <a:pt x="0" y="0"/>
                  </a:moveTo>
                  <a:lnTo>
                    <a:pt x="438912" y="0"/>
                  </a:lnTo>
                  <a:lnTo>
                    <a:pt x="219456" y="411480"/>
                  </a:lnTo>
                  <a:close/>
                </a:path>
              </a:pathLst>
            </a:custGeom>
            <a:solidFill>
              <a:srgbClr val="9AA0A6"/>
            </a:solidFill>
            <a:ln w="9525">
              <a:solidFill>
                <a:srgbClr val="101418"/>
              </a:solidFill>
            </a:ln>
          </p:spPr>
          <p:txBody>
            <a:bodyPr rtlCol="0" anchor="ctr"/>
            <a:lstStyle/>
            <a:p>
              <a:pPr algn="ctr"/>
            </a:p>
          </p:txBody>
        </p:sp>
        <p:sp>
          <p:nvSpPr>
            <p:cNvPr id="14" name="Rectangle 13"/>
            <p:cNvSpPr/>
            <p:nvPr/>
          </p:nvSpPr>
          <p:spPr>
            <a:xfrm>
              <a:off x="1133856" y="3227832"/>
              <a:ext cx="658368" cy="164592"/>
            </a:xfrm>
            <a:prstGeom prst="rect">
              <a:avLst/>
            </a:prstGeom>
            <a:solidFill>
              <a:srgbClr val="F28C28"/>
            </a:solidFill>
            <a:ln>
              <a:noFill/>
            </a:ln>
          </p:spPr>
          <p:txBody>
            <a:bodyPr rtlCol="0" anchor="ctr"/>
            <a:lstStyle/>
            <a:p>
              <a:pPr algn="ctr"/>
            </a:p>
          </p:txBody>
        </p:sp>
        <p:sp>
          <p:nvSpPr>
            <p:cNvPr id="15" name="Rectangle 14"/>
            <p:cNvSpPr/>
            <p:nvPr/>
          </p:nvSpPr>
          <p:spPr>
            <a:xfrm>
              <a:off x="2011680" y="3566160"/>
              <a:ext cx="1234440" cy="219456"/>
            </a:xfrm>
            <a:prstGeom prst="rect">
              <a:avLst/>
            </a:prstGeom>
            <a:solidFill>
              <a:srgbClr val="1B1D21"/>
            </a:solidFill>
            <a:ln w="12700">
              <a:solidFill>
                <a:srgbClr val="9AA0A6"/>
              </a:solidFill>
            </a:ln>
          </p:spPr>
          <p:txBody>
            <a:bodyPr rtlCol="0" anchor="ctr"/>
            <a:lstStyle/>
            <a:p>
              <a:pPr algn="ctr"/>
            </a:p>
          </p:txBody>
        </p:sp>
        <p:sp>
          <p:nvSpPr>
            <p:cNvPr id="16" name="Chevron 15"/>
            <p:cNvSpPr/>
            <p:nvPr/>
          </p:nvSpPr>
          <p:spPr>
            <a:xfrm>
              <a:off x="2194560" y="3602736"/>
              <a:ext cx="128016" cy="146304"/>
            </a:xfrm>
            <a:prstGeom prst="chevron">
              <a:avLst/>
            </a:prstGeom>
            <a:solidFill>
              <a:srgbClr val="F28C28"/>
            </a:solidFill>
            <a:ln>
              <a:noFill/>
            </a:ln>
          </p:spPr>
          <p:txBody>
            <a:bodyPr rtlCol="0" anchor="ctr"/>
            <a:lstStyle/>
            <a:p>
              <a:pPr algn="ctr"/>
            </a:p>
          </p:txBody>
        </p:sp>
        <p:sp>
          <p:nvSpPr>
            <p:cNvPr id="17" name="Chevron 16"/>
            <p:cNvSpPr/>
            <p:nvPr/>
          </p:nvSpPr>
          <p:spPr>
            <a:xfrm>
              <a:off x="2523744" y="3602736"/>
              <a:ext cx="128016" cy="146304"/>
            </a:xfrm>
            <a:prstGeom prst="chevron">
              <a:avLst/>
            </a:prstGeom>
            <a:solidFill>
              <a:srgbClr val="F28C28"/>
            </a:solidFill>
            <a:ln>
              <a:noFill/>
            </a:ln>
          </p:spPr>
          <p:txBody>
            <a:bodyPr rtlCol="0" anchor="ctr"/>
            <a:lstStyle/>
            <a:p>
              <a:pPr algn="ctr"/>
            </a:p>
          </p:txBody>
        </p:sp>
        <p:sp>
          <p:nvSpPr>
            <p:cNvPr id="18" name="Chevron 17"/>
            <p:cNvSpPr/>
            <p:nvPr/>
          </p:nvSpPr>
          <p:spPr>
            <a:xfrm>
              <a:off x="2852928" y="3602736"/>
              <a:ext cx="128016" cy="146304"/>
            </a:xfrm>
            <a:prstGeom prst="chevron">
              <a:avLst/>
            </a:prstGeom>
            <a:solidFill>
              <a:srgbClr val="F28C28"/>
            </a:solidFill>
            <a:ln>
              <a:noFill/>
            </a:ln>
          </p:spPr>
          <p:txBody>
            <a:bodyPr rtlCol="0" anchor="ctr"/>
            <a:lstStyle/>
            <a:p>
              <a:pPr algn="ctr"/>
            </a:p>
          </p:txBody>
        </p:sp>
        <p:sp>
          <p:nvSpPr>
            <p:cNvPr id="19" name="Rounded Rectangle 18"/>
            <p:cNvSpPr/>
            <p:nvPr/>
          </p:nvSpPr>
          <p:spPr>
            <a:xfrm>
              <a:off x="3246120" y="3063240"/>
              <a:ext cx="1325880" cy="1097280"/>
            </a:xfrm>
            <a:prstGeom prst="roundRect">
              <a:avLst>
                <a:gd name="adj" fmla="val 5000"/>
              </a:avLst>
            </a:prstGeom>
            <a:solidFill>
              <a:srgbClr val="343A43"/>
            </a:solidFill>
            <a:ln w="19050">
              <a:solidFill>
                <a:srgbClr val="9AA0A6"/>
              </a:solidFill>
            </a:ln>
          </p:spPr>
          <p:txBody>
            <a:bodyPr rtlCol="0" anchor="ctr"/>
            <a:lstStyle/>
            <a:p>
              <a:pPr algn="ctr"/>
            </a:p>
          </p:txBody>
        </p:sp>
        <p:sp>
          <p:nvSpPr>
            <p:cNvPr id="20" name="Rectangle 19"/>
            <p:cNvSpPr/>
            <p:nvPr/>
          </p:nvSpPr>
          <p:spPr>
            <a:xfrm>
              <a:off x="4068166" y="2560320"/>
              <a:ext cx="256032" cy="502920"/>
            </a:xfrm>
            <a:prstGeom prst="rect">
              <a:avLst/>
            </a:prstGeom>
            <a:solidFill>
              <a:srgbClr val="9AA0A6"/>
            </a:solidFill>
            <a:ln>
              <a:noFill/>
            </a:ln>
          </p:spPr>
          <p:txBody>
            <a:bodyPr rtlCol="0" anchor="ctr"/>
            <a:lstStyle/>
            <a:p>
              <a:pPr algn="ctr"/>
            </a:p>
          </p:txBody>
        </p:sp>
        <p:sp>
          <p:nvSpPr>
            <p:cNvPr id="21" name="Rounded Rectangle 20"/>
            <p:cNvSpPr/>
            <p:nvPr/>
          </p:nvSpPr>
          <p:spPr>
            <a:xfrm>
              <a:off x="3577590" y="3557016"/>
              <a:ext cx="662940" cy="329184"/>
            </a:xfrm>
            <a:prstGeom prst="roundRect">
              <a:avLst>
                <a:gd name="adj" fmla="val 13888"/>
              </a:avLst>
            </a:prstGeom>
            <a:solidFill>
              <a:srgbClr val="F28C28"/>
            </a:solidFill>
            <a:ln>
              <a:noFill/>
            </a:ln>
          </p:spPr>
          <p:txBody>
            <a:bodyPr rtlCol="0" anchor="ctr"/>
            <a:lstStyle/>
            <a:p>
              <a:pPr algn="ctr"/>
            </a:p>
          </p:txBody>
        </p:sp>
        <p:sp>
          <p:nvSpPr>
            <p:cNvPr id="22" name="Rectangle 21"/>
            <p:cNvSpPr/>
            <p:nvPr/>
          </p:nvSpPr>
          <p:spPr>
            <a:xfrm>
              <a:off x="4572000" y="3566160"/>
              <a:ext cx="1234440" cy="219456"/>
            </a:xfrm>
            <a:prstGeom prst="rect">
              <a:avLst/>
            </a:prstGeom>
            <a:solidFill>
              <a:srgbClr val="1B1D21"/>
            </a:solidFill>
            <a:ln w="12700">
              <a:solidFill>
                <a:srgbClr val="9AA0A6"/>
              </a:solidFill>
            </a:ln>
          </p:spPr>
          <p:txBody>
            <a:bodyPr rtlCol="0" anchor="ctr"/>
            <a:lstStyle/>
            <a:p>
              <a:pPr algn="ctr"/>
            </a:p>
          </p:txBody>
        </p:sp>
        <p:sp>
          <p:nvSpPr>
            <p:cNvPr id="23" name="Chevron 22"/>
            <p:cNvSpPr/>
            <p:nvPr/>
          </p:nvSpPr>
          <p:spPr>
            <a:xfrm>
              <a:off x="4754880" y="3602736"/>
              <a:ext cx="128016" cy="146304"/>
            </a:xfrm>
            <a:prstGeom prst="chevron">
              <a:avLst/>
            </a:prstGeom>
            <a:solidFill>
              <a:srgbClr val="F28C28"/>
            </a:solidFill>
            <a:ln>
              <a:noFill/>
            </a:ln>
          </p:spPr>
          <p:txBody>
            <a:bodyPr rtlCol="0" anchor="ctr"/>
            <a:lstStyle/>
            <a:p>
              <a:pPr algn="ctr"/>
            </a:p>
          </p:txBody>
        </p:sp>
        <p:sp>
          <p:nvSpPr>
            <p:cNvPr id="24" name="Chevron 23"/>
            <p:cNvSpPr/>
            <p:nvPr/>
          </p:nvSpPr>
          <p:spPr>
            <a:xfrm>
              <a:off x="5084064" y="3602736"/>
              <a:ext cx="128016" cy="146304"/>
            </a:xfrm>
            <a:prstGeom prst="chevron">
              <a:avLst/>
            </a:prstGeom>
            <a:solidFill>
              <a:srgbClr val="F28C28"/>
            </a:solidFill>
            <a:ln>
              <a:noFill/>
            </a:ln>
          </p:spPr>
          <p:txBody>
            <a:bodyPr rtlCol="0" anchor="ctr"/>
            <a:lstStyle/>
            <a:p>
              <a:pPr algn="ctr"/>
            </a:p>
          </p:txBody>
        </p:sp>
        <p:sp>
          <p:nvSpPr>
            <p:cNvPr id="25" name="Chevron 24"/>
            <p:cNvSpPr/>
            <p:nvPr/>
          </p:nvSpPr>
          <p:spPr>
            <a:xfrm>
              <a:off x="5413248" y="3602736"/>
              <a:ext cx="128016" cy="146304"/>
            </a:xfrm>
            <a:prstGeom prst="chevron">
              <a:avLst/>
            </a:prstGeom>
            <a:solidFill>
              <a:srgbClr val="F28C28"/>
            </a:solidFill>
            <a:ln>
              <a:noFill/>
            </a:ln>
          </p:spPr>
          <p:txBody>
            <a:bodyPr rtlCol="0" anchor="ctr"/>
            <a:lstStyle/>
            <a:p>
              <a:pPr algn="ctr"/>
            </a:p>
          </p:txBody>
        </p:sp>
        <p:sp>
          <p:nvSpPr>
            <p:cNvPr id="26" name="Rounded Rectangle 25"/>
            <p:cNvSpPr/>
            <p:nvPr/>
          </p:nvSpPr>
          <p:spPr>
            <a:xfrm>
              <a:off x="5806440" y="3063240"/>
              <a:ext cx="1325880" cy="1097280"/>
            </a:xfrm>
            <a:prstGeom prst="roundRect">
              <a:avLst>
                <a:gd name="adj" fmla="val 5000"/>
              </a:avLst>
            </a:prstGeom>
            <a:solidFill>
              <a:srgbClr val="343A43"/>
            </a:solidFill>
            <a:ln w="19050">
              <a:solidFill>
                <a:srgbClr val="9AA0A6"/>
              </a:solidFill>
            </a:ln>
          </p:spPr>
          <p:txBody>
            <a:bodyPr rtlCol="0" anchor="ctr"/>
            <a:lstStyle/>
            <a:p>
              <a:pPr algn="ctr"/>
            </a:p>
          </p:txBody>
        </p:sp>
        <p:sp>
          <p:nvSpPr>
            <p:cNvPr id="27" name="Oval 26"/>
            <p:cNvSpPr/>
            <p:nvPr/>
          </p:nvSpPr>
          <p:spPr>
            <a:xfrm>
              <a:off x="6195060" y="3337560"/>
              <a:ext cx="548640" cy="548640"/>
            </a:xfrm>
            <a:prstGeom prst="ellipse">
              <a:avLst/>
            </a:prstGeom>
            <a:noFill/>
            <a:ln w="38100">
              <a:solidFill>
                <a:srgbClr val="F28C28"/>
              </a:solidFill>
            </a:ln>
          </p:spPr>
          <p:txBody>
            <a:bodyPr rtlCol="0" anchor="ctr"/>
            <a:lstStyle/>
            <a:p>
              <a:pPr algn="ctr"/>
            </a:p>
          </p:txBody>
        </p:sp>
        <p:sp>
          <p:nvSpPr>
            <p:cNvPr id="28" name="Oval 27"/>
            <p:cNvSpPr/>
            <p:nvPr/>
          </p:nvSpPr>
          <p:spPr>
            <a:xfrm>
              <a:off x="6381598" y="3524098"/>
              <a:ext cx="175565" cy="175565"/>
            </a:xfrm>
            <a:prstGeom prst="ellipse">
              <a:avLst/>
            </a:prstGeom>
            <a:solidFill>
              <a:srgbClr val="F28C28"/>
            </a:solidFill>
            <a:ln>
              <a:noFill/>
            </a:ln>
          </p:spPr>
          <p:txBody>
            <a:bodyPr rtlCol="0" anchor="ctr"/>
            <a:lstStyle/>
            <a:p>
              <a:pPr algn="ctr"/>
            </a:p>
          </p:txBody>
        </p:sp>
        <p:sp>
          <p:nvSpPr>
            <p:cNvPr id="29" name="Rectangle 28"/>
            <p:cNvSpPr/>
            <p:nvPr/>
          </p:nvSpPr>
          <p:spPr>
            <a:xfrm>
              <a:off x="7132320" y="3566160"/>
              <a:ext cx="1234440" cy="219456"/>
            </a:xfrm>
            <a:prstGeom prst="rect">
              <a:avLst/>
            </a:prstGeom>
            <a:solidFill>
              <a:srgbClr val="1B1D21"/>
            </a:solidFill>
            <a:ln w="12700">
              <a:solidFill>
                <a:srgbClr val="9AA0A6"/>
              </a:solidFill>
            </a:ln>
          </p:spPr>
          <p:txBody>
            <a:bodyPr rtlCol="0" anchor="ctr"/>
            <a:lstStyle/>
            <a:p>
              <a:pPr algn="ctr"/>
            </a:p>
          </p:txBody>
        </p:sp>
        <p:sp>
          <p:nvSpPr>
            <p:cNvPr id="30" name="Chevron 29"/>
            <p:cNvSpPr/>
            <p:nvPr/>
          </p:nvSpPr>
          <p:spPr>
            <a:xfrm>
              <a:off x="7315200" y="3602736"/>
              <a:ext cx="128016" cy="146304"/>
            </a:xfrm>
            <a:prstGeom prst="chevron">
              <a:avLst/>
            </a:prstGeom>
            <a:solidFill>
              <a:srgbClr val="F28C28"/>
            </a:solidFill>
            <a:ln>
              <a:noFill/>
            </a:ln>
          </p:spPr>
          <p:txBody>
            <a:bodyPr rtlCol="0" anchor="ctr"/>
            <a:lstStyle/>
            <a:p>
              <a:pPr algn="ctr"/>
            </a:p>
          </p:txBody>
        </p:sp>
        <p:sp>
          <p:nvSpPr>
            <p:cNvPr id="31" name="Chevron 30"/>
            <p:cNvSpPr/>
            <p:nvPr/>
          </p:nvSpPr>
          <p:spPr>
            <a:xfrm>
              <a:off x="7644384" y="3602736"/>
              <a:ext cx="128016" cy="146304"/>
            </a:xfrm>
            <a:prstGeom prst="chevron">
              <a:avLst/>
            </a:prstGeom>
            <a:solidFill>
              <a:srgbClr val="F28C28"/>
            </a:solidFill>
            <a:ln>
              <a:noFill/>
            </a:ln>
          </p:spPr>
          <p:txBody>
            <a:bodyPr rtlCol="0" anchor="ctr"/>
            <a:lstStyle/>
            <a:p>
              <a:pPr algn="ctr"/>
            </a:p>
          </p:txBody>
        </p:sp>
        <p:sp>
          <p:nvSpPr>
            <p:cNvPr id="32" name="Chevron 31"/>
            <p:cNvSpPr/>
            <p:nvPr/>
          </p:nvSpPr>
          <p:spPr>
            <a:xfrm>
              <a:off x="7973568" y="3602736"/>
              <a:ext cx="128016" cy="146304"/>
            </a:xfrm>
            <a:prstGeom prst="chevron">
              <a:avLst/>
            </a:prstGeom>
            <a:solidFill>
              <a:srgbClr val="F28C28"/>
            </a:solidFill>
            <a:ln>
              <a:noFill/>
            </a:ln>
          </p:spPr>
          <p:txBody>
            <a:bodyPr rtlCol="0" anchor="ctr"/>
            <a:lstStyle/>
            <a:p>
              <a:pPr algn="ctr"/>
            </a:p>
          </p:txBody>
        </p:sp>
        <p:sp>
          <p:nvSpPr>
            <p:cNvPr id="33" name="Rounded Rectangle 32"/>
            <p:cNvSpPr/>
            <p:nvPr/>
          </p:nvSpPr>
          <p:spPr>
            <a:xfrm>
              <a:off x="8366760" y="3154680"/>
              <a:ext cx="1005840" cy="1005840"/>
            </a:xfrm>
            <a:prstGeom prst="roundRect">
              <a:avLst>
                <a:gd name="adj" fmla="val 5454"/>
              </a:avLst>
            </a:prstGeom>
            <a:solidFill>
              <a:srgbClr val="343A43"/>
            </a:solidFill>
            <a:ln w="19050">
              <a:solidFill>
                <a:srgbClr val="9AA0A6"/>
              </a:solidFill>
            </a:ln>
          </p:spPr>
          <p:txBody>
            <a:bodyPr rtlCol="0" anchor="ctr"/>
            <a:lstStyle/>
            <a:p>
              <a:pPr algn="ctr"/>
            </a:p>
          </p:txBody>
        </p:sp>
        <p:cxnSp>
          <p:nvCxnSpPr>
            <p:cNvPr id="34" name="Connector 33"/>
            <p:cNvCxnSpPr/>
            <p:nvPr/>
          </p:nvCxnSpPr>
          <p:spPr>
            <a:xfrm>
              <a:off x="8458200" y="3246120"/>
              <a:ext cx="822960" cy="822960"/>
            </a:xfrm>
            <a:prstGeom prst="line">
              <a:avLst/>
            </a:prstGeom>
            <a:ln w="25400">
              <a:solidFill>
                <a:srgbClr val="9AA0A6"/>
              </a:solidFill>
            </a:ln>
          </p:spPr>
        </p:cxnSp>
        <p:cxnSp>
          <p:nvCxnSpPr>
            <p:cNvPr id="35" name="Connector 34"/>
            <p:cNvCxnSpPr/>
            <p:nvPr/>
          </p:nvCxnSpPr>
          <p:spPr>
            <a:xfrm flipH="1">
              <a:off x="8458200" y="3246120"/>
              <a:ext cx="822960" cy="822960"/>
            </a:xfrm>
            <a:prstGeom prst="line">
              <a:avLst/>
            </a:prstGeom>
            <a:ln w="25400">
              <a:solidFill>
                <a:srgbClr val="9AA0A6"/>
              </a:solidFill>
            </a:ln>
          </p:spPr>
        </p:cxnSp>
        <p:sp>
          <p:nvSpPr>
            <p:cNvPr id="36" name="Rectangle 35"/>
            <p:cNvSpPr/>
            <p:nvPr/>
          </p:nvSpPr>
          <p:spPr>
            <a:xfrm>
              <a:off x="9921240" y="3840480"/>
              <a:ext cx="1463040" cy="320040"/>
            </a:xfrm>
            <a:prstGeom prst="rect">
              <a:avLst/>
            </a:prstGeom>
            <a:solidFill>
              <a:srgbClr val="343A43"/>
            </a:solidFill>
            <a:ln w="12700">
              <a:solidFill>
                <a:srgbClr val="9AA0A6"/>
              </a:solidFill>
            </a:ln>
          </p:spPr>
          <p:txBody>
            <a:bodyPr rtlCol="0" anchor="ctr"/>
            <a:lstStyle/>
            <a:p>
              <a:pPr algn="ctr"/>
            </a:p>
          </p:txBody>
        </p:sp>
        <p:sp>
          <p:nvSpPr>
            <p:cNvPr id="37" name="Oval 36"/>
            <p:cNvSpPr/>
            <p:nvPr/>
          </p:nvSpPr>
          <p:spPr>
            <a:xfrm>
              <a:off x="10506456" y="2596896"/>
              <a:ext cx="292608" cy="292608"/>
            </a:xfrm>
            <a:prstGeom prst="ellipse">
              <a:avLst/>
            </a:prstGeom>
            <a:solidFill>
              <a:srgbClr val="F28C28"/>
            </a:solidFill>
            <a:ln>
              <a:noFill/>
            </a:ln>
          </p:spPr>
          <p:txBody>
            <a:bodyPr rtlCol="0" anchor="ctr"/>
            <a:lstStyle/>
            <a:p>
              <a:pPr algn="ctr"/>
            </a:p>
          </p:txBody>
        </p:sp>
        <p:sp>
          <p:nvSpPr>
            <p:cNvPr id="38" name="Rounded Rectangle 37"/>
            <p:cNvSpPr/>
            <p:nvPr/>
          </p:nvSpPr>
          <p:spPr>
            <a:xfrm>
              <a:off x="10469880" y="2907792"/>
              <a:ext cx="365760" cy="685800"/>
            </a:xfrm>
            <a:prstGeom prst="roundRect">
              <a:avLst>
                <a:gd name="adj" fmla="val 30000"/>
              </a:avLst>
            </a:prstGeom>
            <a:solidFill>
              <a:srgbClr val="F28C28"/>
            </a:solidFill>
            <a:ln>
              <a:noFill/>
            </a:ln>
          </p:spPr>
          <p:txBody>
            <a:bodyPr rtlCol="0" anchor="ctr"/>
            <a:lstStyle/>
            <a:p>
              <a:pPr algn="ctr"/>
            </a:p>
          </p:txBody>
        </p:sp>
      </p:grpSp>
      <p:sp>
        <p:nvSpPr>
          <p:cNvPr id="39" name="TextBox 38"/>
          <p:cNvSpPr txBox="1"/>
          <p:nvPr/>
        </p:nvSpPr>
        <p:spPr>
          <a:xfrm>
            <a:off x="640080" y="4727448"/>
            <a:ext cx="1645920" cy="320040"/>
          </a:xfrm>
          <a:prstGeom prst="rect">
            <a:avLst/>
          </a:prstGeom>
          <a:noFill/>
        </p:spPr>
        <p:txBody>
          <a:bodyPr wrap="square" lIns="0" tIns="0" rIns="0" bIns="0" anchor="t">
            <a:noAutofit/>
          </a:bodyPr>
          <a:lstStyle/>
          <a:p>
            <a:pPr algn="ctr"/>
            <a:r>
              <a:rPr sz="1600" b="0" i="0" lang="en-GB">
                <a:solidFill>
                  <a:srgbClr val="F2F2F2"/>
                </a:solidFill>
                <a:latin typeface="Arial"/>
              </a:rPr>
              <a:t>Miner</a:t>
            </a:r>
          </a:p>
        </p:txBody>
      </p:sp>
      <p:sp>
        <p:nvSpPr>
          <p:cNvPr id="40" name="TextBox 39"/>
          <p:cNvSpPr txBox="1"/>
          <p:nvPr/>
        </p:nvSpPr>
        <p:spPr>
          <a:xfrm>
            <a:off x="2971800" y="4727448"/>
            <a:ext cx="1874520" cy="320040"/>
          </a:xfrm>
          <a:prstGeom prst="rect">
            <a:avLst/>
          </a:prstGeom>
          <a:noFill/>
        </p:spPr>
        <p:txBody>
          <a:bodyPr wrap="square" lIns="0" tIns="0" rIns="0" bIns="0" anchor="t">
            <a:noAutofit/>
          </a:bodyPr>
          <a:lstStyle/>
          <a:p>
            <a:pPr algn="ctr"/>
            <a:r>
              <a:rPr sz="1600" b="0" i="0" lang="en-GB">
                <a:solidFill>
                  <a:srgbClr val="F2F2F2"/>
                </a:solidFill>
                <a:latin typeface="Arial"/>
              </a:rPr>
              <a:t>Smelter</a:t>
            </a:r>
          </a:p>
        </p:txBody>
      </p:sp>
      <p:sp>
        <p:nvSpPr>
          <p:cNvPr id="41" name="TextBox 40"/>
          <p:cNvSpPr txBox="1"/>
          <p:nvPr/>
        </p:nvSpPr>
        <p:spPr>
          <a:xfrm>
            <a:off x="5532120" y="4727448"/>
            <a:ext cx="1874520" cy="320040"/>
          </a:xfrm>
          <a:prstGeom prst="rect">
            <a:avLst/>
          </a:prstGeom>
          <a:noFill/>
        </p:spPr>
        <p:txBody>
          <a:bodyPr wrap="square" lIns="0" tIns="0" rIns="0" bIns="0" anchor="t">
            <a:noAutofit/>
          </a:bodyPr>
          <a:lstStyle/>
          <a:p>
            <a:pPr algn="ctr"/>
            <a:r>
              <a:rPr sz="1600" b="0" i="0" lang="en-GB">
                <a:solidFill>
                  <a:srgbClr val="F2F2F2"/>
                </a:solidFill>
                <a:latin typeface="Arial"/>
              </a:rPr>
              <a:t>Constructor</a:t>
            </a:r>
          </a:p>
        </p:txBody>
      </p:sp>
      <p:sp>
        <p:nvSpPr>
          <p:cNvPr id="42" name="TextBox 41"/>
          <p:cNvSpPr txBox="1"/>
          <p:nvPr/>
        </p:nvSpPr>
        <p:spPr>
          <a:xfrm>
            <a:off x="8092440" y="4727448"/>
            <a:ext cx="1554480" cy="320040"/>
          </a:xfrm>
          <a:prstGeom prst="rect">
            <a:avLst/>
          </a:prstGeom>
          <a:noFill/>
        </p:spPr>
        <p:txBody>
          <a:bodyPr wrap="square" lIns="0" tIns="0" rIns="0" bIns="0" anchor="t">
            <a:noAutofit/>
          </a:bodyPr>
          <a:lstStyle/>
          <a:p>
            <a:pPr algn="ctr"/>
            <a:r>
              <a:rPr sz="1600" b="0" i="0" lang="en-GB">
                <a:solidFill>
                  <a:srgbClr val="F2F2F2"/>
                </a:solidFill>
                <a:latin typeface="Arial"/>
              </a:rPr>
              <a:t>Storage</a:t>
            </a:r>
          </a:p>
        </p:txBody>
      </p:sp>
      <p:sp>
        <p:nvSpPr>
          <p:cNvPr id="43" name="TextBox 42"/>
          <p:cNvSpPr txBox="1"/>
          <p:nvPr/>
        </p:nvSpPr>
        <p:spPr>
          <a:xfrm>
            <a:off x="9646920" y="4727448"/>
            <a:ext cx="2011680" cy="320040"/>
          </a:xfrm>
          <a:prstGeom prst="rect">
            <a:avLst/>
          </a:prstGeom>
          <a:noFill/>
        </p:spPr>
        <p:txBody>
          <a:bodyPr wrap="square" lIns="0" tIns="0" rIns="0" bIns="0" anchor="t">
            <a:noAutofit/>
          </a:bodyPr>
          <a:lstStyle/>
          <a:p>
            <a:pPr algn="ctr"/>
            <a:r>
              <a:rPr sz="1600" b="0" i="0" lang="en-GB">
                <a:solidFill>
                  <a:srgbClr val="F2F2F2"/>
                </a:solidFill>
                <a:latin typeface="Arial"/>
              </a:rPr>
              <a:t>You</a:t>
            </a:r>
          </a:p>
        </p:txBody>
      </p:sp>
      <p:sp>
        <p:nvSpPr>
          <p:cNvPr id="44" name="TextBox 43"/>
          <p:cNvSpPr txBox="1"/>
          <p:nvPr/>
        </p:nvSpPr>
        <p:spPr>
          <a:xfrm>
            <a:off x="2011680" y="3200400"/>
            <a:ext cx="1234440" cy="292608"/>
          </a:xfrm>
          <a:prstGeom prst="rect">
            <a:avLst/>
          </a:prstGeom>
          <a:noFill/>
        </p:spPr>
        <p:txBody>
          <a:bodyPr wrap="square" lIns="0" tIns="0" rIns="0" bIns="0" anchor="t">
            <a:noAutofit/>
          </a:bodyPr>
          <a:lstStyle/>
          <a:p>
            <a:pPr algn="ctr"/>
            <a:r>
              <a:rPr sz="1400" b="0" i="0" lang="en-GB">
                <a:solidFill>
                  <a:srgbClr val="A9B0B8"/>
                </a:solidFill>
                <a:latin typeface="Arial"/>
              </a:rPr>
              <a:t>Belt</a:t>
            </a:r>
          </a:p>
        </p:txBody>
      </p:sp>
      <p:sp>
        <p:nvSpPr>
          <p:cNvPr id="45" name="TextBox 44"/>
          <p:cNvSpPr txBox="1"/>
          <p:nvPr/>
        </p:nvSpPr>
        <p:spPr>
          <a:xfrm>
            <a:off x="548640" y="5257800"/>
            <a:ext cx="7315200" cy="292608"/>
          </a:xfrm>
          <a:prstGeom prst="rect">
            <a:avLst/>
          </a:prstGeom>
          <a:noFill/>
        </p:spPr>
        <p:txBody>
          <a:bodyPr wrap="square" lIns="0" tIns="0" rIns="0" bIns="0" anchor="t">
            <a:noAutofit/>
          </a:bodyPr>
          <a:lstStyle/>
          <a:p>
            <a:pPr algn="l"/>
            <a:r>
              <a:rPr sz="1400" b="0" i="0" lang="en-GB">
                <a:solidFill>
                  <a:srgbClr val="A9B0B8"/>
                </a:solidFill>
                <a:latin typeface="Arial"/>
              </a:rPr>
              <a:t>By Coffee Stain Studios. Full release 2024.</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first-person game about building factories. You mine, make and move materials until it all runs itself.</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THE GAME</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Where the mod fits</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grpSp>
        <p:nvGrpSpPr>
          <p:cNvPr id="8" name="Tier staircase" descr="A four-step staircase: Tier 3 early steam railways with a small engine, Tier 3 to 4 railway expansion with a medium engine, Tier 4 to 5 heavy steam with a large engine, and Tier 6 the electric monorail."/>
          <p:cNvGrpSpPr/>
          <p:nvPr/>
        </p:nvGrpSpPr>
        <p:grpSpPr>
          <a:xfrm>
            <a:off x="548640" y="1325880"/>
            <a:ext cx="11091672" cy="3429000"/>
            <a:chOff x="548640" y="1325880"/>
            <a:chExt cx="11091672" cy="3429000"/>
          </a:xfrm>
        </p:grpSpPr>
        <p:sp>
          <p:nvSpPr>
            <p:cNvPr id="9" name="Rounded Rectangle 8"/>
            <p:cNvSpPr/>
            <p:nvPr/>
          </p:nvSpPr>
          <p:spPr>
            <a:xfrm>
              <a:off x="548640" y="3886200"/>
              <a:ext cx="2697480" cy="868680"/>
            </a:xfrm>
            <a:prstGeom prst="roundRect">
              <a:avLst>
                <a:gd name="adj" fmla="val 6315"/>
              </a:avLst>
            </a:prstGeom>
            <a:solidFill>
              <a:srgbClr val="443426"/>
            </a:solidFill>
            <a:ln w="25400">
              <a:solidFill>
                <a:srgbClr val="F28C28"/>
              </a:solidFill>
            </a:ln>
          </p:spPr>
          <p:txBody>
            <a:bodyPr rtlCol="0" anchor="ctr"/>
            <a:lstStyle/>
            <a:p>
              <a:pPr algn="ctr"/>
            </a:p>
          </p:txBody>
        </p:sp>
        <p:sp>
          <p:nvSpPr>
            <p:cNvPr id="10" name="TextBox 9"/>
            <p:cNvSpPr txBox="1"/>
            <p:nvPr/>
          </p:nvSpPr>
          <p:spPr>
            <a:xfrm>
              <a:off x="685800" y="3959352"/>
              <a:ext cx="2423160" cy="777240"/>
            </a:xfrm>
            <a:prstGeom prst="rect">
              <a:avLst/>
            </a:prstGeom>
            <a:noFill/>
          </p:spPr>
          <p:txBody>
            <a:bodyPr wrap="square" lIns="0" tIns="0" rIns="0" bIns="0" anchor="t">
              <a:noAutofit/>
            </a:bodyPr>
            <a:lstStyle/>
            <a:p>
              <a:pPr algn="l"/>
              <a:r>
                <a:rPr sz="2000" b="1" i="0" lang="en-GB">
                  <a:solidFill>
                    <a:srgbClr val="F28C28"/>
                  </a:solidFill>
                  <a:latin typeface="Arial"/>
                </a:rPr>
                <a:t>Tier 3</a:t>
              </a:r>
            </a:p>
            <a:p>
              <a:pPr algn="l"/>
              <a:r>
                <a:rPr sz="1600" b="0" i="0" lang="en-GB">
                  <a:solidFill>
                    <a:srgbClr val="F2F2F2"/>
                  </a:solidFill>
                  <a:latin typeface="Arial"/>
                </a:rPr>
                <a:t>Early Steam Railways</a:t>
              </a:r>
            </a:p>
          </p:txBody>
        </p:sp>
        <p:grpSp>
          <p:nvGrpSpPr>
            <p:cNvPr id="11" name="Small engine" descr="A steam train: an engine pulling wagons."/>
            <p:cNvGrpSpPr/>
            <p:nvPr/>
          </p:nvGrpSpPr>
          <p:grpSpPr>
            <a:xfrm>
              <a:off x="1051560" y="3126791"/>
              <a:ext cx="1461211" cy="722833"/>
              <a:chOff x="1051560" y="3126791"/>
              <a:chExt cx="1461211" cy="722833"/>
            </a:xfrm>
          </p:grpSpPr>
          <p:sp>
            <p:nvSpPr>
              <p:cNvPr id="12" name="Rectangle 11"/>
              <p:cNvSpPr/>
              <p:nvPr/>
            </p:nvSpPr>
            <p:spPr>
              <a:xfrm>
                <a:off x="1051560" y="3406597"/>
                <a:ext cx="621792" cy="349758"/>
              </a:xfrm>
              <a:prstGeom prst="rect">
                <a:avLst/>
              </a:prstGeom>
              <a:solidFill>
                <a:srgbClr val="6C7480"/>
              </a:solidFill>
              <a:ln w="9525">
                <a:solidFill>
                  <a:srgbClr val="101418"/>
                </a:solidFill>
              </a:ln>
            </p:spPr>
            <p:txBody>
              <a:bodyPr rtlCol="0" anchor="ctr"/>
              <a:lstStyle/>
              <a:p>
                <a:pPr algn="ctr"/>
              </a:p>
            </p:txBody>
          </p:sp>
          <p:sp>
            <p:nvSpPr>
              <p:cNvPr id="13" name="Oval 12"/>
              <p:cNvSpPr/>
              <p:nvPr/>
            </p:nvSpPr>
            <p:spPr>
              <a:xfrm>
                <a:off x="1129284" y="3694176"/>
                <a:ext cx="155448" cy="155448"/>
              </a:xfrm>
              <a:prstGeom prst="ellipse">
                <a:avLst/>
              </a:prstGeom>
              <a:solidFill>
                <a:srgbClr val="1B1D21"/>
              </a:solidFill>
              <a:ln w="12700">
                <a:solidFill>
                  <a:srgbClr val="9AA0A6"/>
                </a:solidFill>
              </a:ln>
            </p:spPr>
            <p:txBody>
              <a:bodyPr rtlCol="0" anchor="ctr"/>
              <a:lstStyle/>
              <a:p>
                <a:pPr algn="ctr"/>
              </a:p>
            </p:txBody>
          </p:sp>
          <p:sp>
            <p:nvSpPr>
              <p:cNvPr id="14" name="Oval 13"/>
              <p:cNvSpPr/>
              <p:nvPr/>
            </p:nvSpPr>
            <p:spPr>
              <a:xfrm>
                <a:off x="1440180" y="3694176"/>
                <a:ext cx="155448" cy="155448"/>
              </a:xfrm>
              <a:prstGeom prst="ellipse">
                <a:avLst/>
              </a:prstGeom>
              <a:solidFill>
                <a:srgbClr val="1B1D21"/>
              </a:solidFill>
              <a:ln w="12700">
                <a:solidFill>
                  <a:srgbClr val="9AA0A6"/>
                </a:solidFill>
              </a:ln>
            </p:spPr>
            <p:txBody>
              <a:bodyPr rtlCol="0" anchor="ctr"/>
              <a:lstStyle/>
              <a:p>
                <a:pPr algn="ctr"/>
              </a:p>
            </p:txBody>
          </p:sp>
          <p:sp>
            <p:nvSpPr>
              <p:cNvPr id="15" name="Rectangle 14"/>
              <p:cNvSpPr/>
              <p:nvPr/>
            </p:nvSpPr>
            <p:spPr>
              <a:xfrm>
                <a:off x="1673352" y="3655314"/>
                <a:ext cx="62179" cy="38862"/>
              </a:xfrm>
              <a:prstGeom prst="rect">
                <a:avLst/>
              </a:prstGeom>
              <a:solidFill>
                <a:srgbClr val="9AA0A6"/>
              </a:solidFill>
              <a:ln>
                <a:noFill/>
              </a:ln>
            </p:spPr>
            <p:txBody>
              <a:bodyPr rtlCol="0" anchor="ctr"/>
              <a:lstStyle/>
              <a:p>
                <a:pPr algn="ctr"/>
              </a:p>
            </p:txBody>
          </p:sp>
          <p:sp>
            <p:nvSpPr>
              <p:cNvPr id="16" name="Rectangle 15"/>
              <p:cNvSpPr/>
              <p:nvPr/>
            </p:nvSpPr>
            <p:spPr>
              <a:xfrm>
                <a:off x="1735531" y="3344418"/>
                <a:ext cx="777240" cy="427482"/>
              </a:xfrm>
              <a:prstGeom prst="rect">
                <a:avLst/>
              </a:prstGeom>
              <a:solidFill>
                <a:srgbClr val="F28C28"/>
              </a:solidFill>
              <a:ln w="9525">
                <a:solidFill>
                  <a:srgbClr val="101418"/>
                </a:solidFill>
              </a:ln>
            </p:spPr>
            <p:txBody>
              <a:bodyPr rtlCol="0" anchor="ctr"/>
              <a:lstStyle/>
              <a:p>
                <a:pPr algn="ctr"/>
              </a:p>
            </p:txBody>
          </p:sp>
          <p:sp>
            <p:nvSpPr>
              <p:cNvPr id="17" name="Bunker"/>
              <p:cNvSpPr/>
              <p:nvPr/>
            </p:nvSpPr>
            <p:spPr>
              <a:xfrm>
                <a:off x="1758848" y="3367735"/>
                <a:ext cx="202082" cy="155448"/>
              </a:xfrm>
              <a:prstGeom prst="rect">
                <a:avLst/>
              </a:prstGeom>
              <a:solidFill>
                <a:srgbClr val="1B1D21"/>
              </a:solidFill>
              <a:ln>
                <a:noFill/>
              </a:ln>
            </p:spPr>
            <p:txBody>
              <a:bodyPr rtlCol="0" anchor="ctr"/>
              <a:lstStyle/>
              <a:p>
                <a:pPr algn="ctr"/>
              </a:p>
            </p:txBody>
          </p:sp>
          <p:sp>
            <p:nvSpPr>
              <p:cNvPr id="18" name="Rectangle 17"/>
              <p:cNvSpPr/>
              <p:nvPr/>
            </p:nvSpPr>
            <p:spPr>
              <a:xfrm>
                <a:off x="1999793" y="3398825"/>
                <a:ext cx="108814" cy="108814"/>
              </a:xfrm>
              <a:prstGeom prst="rect">
                <a:avLst/>
              </a:prstGeom>
              <a:solidFill>
                <a:srgbClr val="2B2F36"/>
              </a:solidFill>
              <a:ln>
                <a:noFill/>
              </a:ln>
            </p:spPr>
            <p:txBody>
              <a:bodyPr rtlCol="0" anchor="ctr"/>
              <a:lstStyle/>
              <a:p>
                <a:pPr algn="ctr"/>
              </a:p>
            </p:txBody>
          </p:sp>
          <p:sp>
            <p:nvSpPr>
              <p:cNvPr id="19" name="Chimney"/>
              <p:cNvSpPr/>
              <p:nvPr/>
            </p:nvSpPr>
            <p:spPr>
              <a:xfrm>
                <a:off x="2341778" y="3126791"/>
                <a:ext cx="116586" cy="233172"/>
              </a:xfrm>
              <a:prstGeom prst="rect">
                <a:avLst/>
              </a:prstGeom>
              <a:solidFill>
                <a:srgbClr val="1B1D21"/>
              </a:solidFill>
              <a:ln>
                <a:noFill/>
              </a:ln>
            </p:spPr>
            <p:txBody>
              <a:bodyPr rtlCol="0" anchor="ctr"/>
              <a:lstStyle/>
              <a:p>
                <a:pPr algn="ctr"/>
              </a:p>
            </p:txBody>
          </p:sp>
          <p:sp>
            <p:nvSpPr>
              <p:cNvPr id="20" name="Oval 19"/>
              <p:cNvSpPr/>
              <p:nvPr/>
            </p:nvSpPr>
            <p:spPr>
              <a:xfrm>
                <a:off x="1813255" y="3694176"/>
                <a:ext cx="155448" cy="155448"/>
              </a:xfrm>
              <a:prstGeom prst="ellipse">
                <a:avLst/>
              </a:prstGeom>
              <a:solidFill>
                <a:srgbClr val="1B1D21"/>
              </a:solidFill>
              <a:ln w="12700">
                <a:solidFill>
                  <a:srgbClr val="9AA0A6"/>
                </a:solidFill>
              </a:ln>
            </p:spPr>
            <p:txBody>
              <a:bodyPr rtlCol="0" anchor="ctr"/>
              <a:lstStyle/>
              <a:p>
                <a:pPr algn="ctr"/>
              </a:p>
            </p:txBody>
          </p:sp>
          <p:sp>
            <p:nvSpPr>
              <p:cNvPr id="21" name="Oval 20"/>
              <p:cNvSpPr/>
              <p:nvPr/>
            </p:nvSpPr>
            <p:spPr>
              <a:xfrm>
                <a:off x="2046427" y="3694176"/>
                <a:ext cx="155448" cy="155448"/>
              </a:xfrm>
              <a:prstGeom prst="ellipse">
                <a:avLst/>
              </a:prstGeom>
              <a:solidFill>
                <a:srgbClr val="1B1D21"/>
              </a:solidFill>
              <a:ln w="12700">
                <a:solidFill>
                  <a:srgbClr val="9AA0A6"/>
                </a:solidFill>
              </a:ln>
            </p:spPr>
            <p:txBody>
              <a:bodyPr rtlCol="0" anchor="ctr"/>
              <a:lstStyle/>
              <a:p>
                <a:pPr algn="ctr"/>
              </a:p>
            </p:txBody>
          </p:sp>
          <p:sp>
            <p:nvSpPr>
              <p:cNvPr id="22" name="Oval 21"/>
              <p:cNvSpPr/>
              <p:nvPr/>
            </p:nvSpPr>
            <p:spPr>
              <a:xfrm>
                <a:off x="2279599" y="3694176"/>
                <a:ext cx="155448" cy="155448"/>
              </a:xfrm>
              <a:prstGeom prst="ellipse">
                <a:avLst/>
              </a:prstGeom>
              <a:solidFill>
                <a:srgbClr val="1B1D21"/>
              </a:solidFill>
              <a:ln w="12700">
                <a:solidFill>
                  <a:srgbClr val="9AA0A6"/>
                </a:solidFill>
              </a:ln>
            </p:spPr>
            <p:txBody>
              <a:bodyPr rtlCol="0" anchor="ctr"/>
              <a:lstStyle/>
              <a:p>
                <a:pPr algn="ctr"/>
              </a:p>
            </p:txBody>
          </p:sp>
        </p:grpSp>
        <p:sp>
          <p:nvSpPr>
            <p:cNvPr id="23" name="Rounded Rectangle 22"/>
            <p:cNvSpPr/>
            <p:nvPr/>
          </p:nvSpPr>
          <p:spPr>
            <a:xfrm>
              <a:off x="3346704" y="3227832"/>
              <a:ext cx="2697480" cy="1527048"/>
            </a:xfrm>
            <a:prstGeom prst="roundRect">
              <a:avLst>
                <a:gd name="adj" fmla="val 3592"/>
              </a:avLst>
            </a:prstGeom>
            <a:solidFill>
              <a:srgbClr val="443426"/>
            </a:solidFill>
            <a:ln w="25400">
              <a:solidFill>
                <a:srgbClr val="F28C28"/>
              </a:solidFill>
            </a:ln>
          </p:spPr>
          <p:txBody>
            <a:bodyPr rtlCol="0" anchor="ctr"/>
            <a:lstStyle/>
            <a:p>
              <a:pPr algn="ctr"/>
            </a:p>
          </p:txBody>
        </p:sp>
        <p:sp>
          <p:nvSpPr>
            <p:cNvPr id="24" name="TextBox 23"/>
            <p:cNvSpPr txBox="1"/>
            <p:nvPr/>
          </p:nvSpPr>
          <p:spPr>
            <a:xfrm>
              <a:off x="3483864" y="3300984"/>
              <a:ext cx="2423160" cy="777240"/>
            </a:xfrm>
            <a:prstGeom prst="rect">
              <a:avLst/>
            </a:prstGeom>
            <a:noFill/>
          </p:spPr>
          <p:txBody>
            <a:bodyPr wrap="square" lIns="0" tIns="0" rIns="0" bIns="0" anchor="t">
              <a:noAutofit/>
            </a:bodyPr>
            <a:lstStyle/>
            <a:p>
              <a:pPr algn="l"/>
              <a:r>
                <a:rPr sz="2000" b="1" i="0" lang="en-GB">
                  <a:solidFill>
                    <a:srgbClr val="F28C28"/>
                  </a:solidFill>
                  <a:latin typeface="Arial"/>
                </a:rPr>
                <a:t>Tier 3 to 4</a:t>
              </a:r>
            </a:p>
            <a:p>
              <a:pPr algn="l"/>
              <a:r>
                <a:rPr sz="1600" b="0" i="0" lang="en-GB">
                  <a:solidFill>
                    <a:srgbClr val="F2F2F2"/>
                  </a:solidFill>
                  <a:latin typeface="Arial"/>
                </a:rPr>
                <a:t>Railway Expansion</a:t>
              </a:r>
            </a:p>
          </p:txBody>
        </p:sp>
        <p:grpSp>
          <p:nvGrpSpPr>
            <p:cNvPr id="25" name="Medium engine" descr="A steam train: an engine pulling wagons."/>
            <p:cNvGrpSpPr/>
            <p:nvPr/>
          </p:nvGrpSpPr>
          <p:grpSpPr>
            <a:xfrm>
              <a:off x="3529584" y="2510942"/>
              <a:ext cx="1872691" cy="680314"/>
              <a:chOff x="3529584" y="2510942"/>
              <a:chExt cx="1872691" cy="680314"/>
            </a:xfrm>
          </p:grpSpPr>
          <p:sp>
            <p:nvSpPr>
              <p:cNvPr id="26" name="Rectangle 25"/>
              <p:cNvSpPr/>
              <p:nvPr/>
            </p:nvSpPr>
            <p:spPr>
              <a:xfrm>
                <a:off x="3529584" y="2774290"/>
                <a:ext cx="585216" cy="329184"/>
              </a:xfrm>
              <a:prstGeom prst="rect">
                <a:avLst/>
              </a:prstGeom>
              <a:solidFill>
                <a:srgbClr val="6C7480"/>
              </a:solidFill>
              <a:ln w="9525">
                <a:solidFill>
                  <a:srgbClr val="101418"/>
                </a:solidFill>
              </a:ln>
            </p:spPr>
            <p:txBody>
              <a:bodyPr rtlCol="0" anchor="ctr"/>
              <a:lstStyle/>
              <a:p>
                <a:pPr algn="ctr"/>
              </a:p>
            </p:txBody>
          </p:sp>
          <p:sp>
            <p:nvSpPr>
              <p:cNvPr id="27" name="Oval 26"/>
              <p:cNvSpPr/>
              <p:nvPr/>
            </p:nvSpPr>
            <p:spPr>
              <a:xfrm>
                <a:off x="3602736" y="3044952"/>
                <a:ext cx="146304" cy="146304"/>
              </a:xfrm>
              <a:prstGeom prst="ellipse">
                <a:avLst/>
              </a:prstGeom>
              <a:solidFill>
                <a:srgbClr val="1B1D21"/>
              </a:solidFill>
              <a:ln w="12700">
                <a:solidFill>
                  <a:srgbClr val="9AA0A6"/>
                </a:solidFill>
              </a:ln>
            </p:spPr>
            <p:txBody>
              <a:bodyPr rtlCol="0" anchor="ctr"/>
              <a:lstStyle/>
              <a:p>
                <a:pPr algn="ctr"/>
              </a:p>
            </p:txBody>
          </p:sp>
          <p:sp>
            <p:nvSpPr>
              <p:cNvPr id="28" name="Oval 27"/>
              <p:cNvSpPr/>
              <p:nvPr/>
            </p:nvSpPr>
            <p:spPr>
              <a:xfrm>
                <a:off x="3895344" y="3044952"/>
                <a:ext cx="146304" cy="146304"/>
              </a:xfrm>
              <a:prstGeom prst="ellipse">
                <a:avLst/>
              </a:prstGeom>
              <a:solidFill>
                <a:srgbClr val="1B1D21"/>
              </a:solidFill>
              <a:ln w="12700">
                <a:solidFill>
                  <a:srgbClr val="9AA0A6"/>
                </a:solidFill>
              </a:ln>
            </p:spPr>
            <p:txBody>
              <a:bodyPr rtlCol="0" anchor="ctr"/>
              <a:lstStyle/>
              <a:p>
                <a:pPr algn="ctr"/>
              </a:p>
            </p:txBody>
          </p:sp>
          <p:sp>
            <p:nvSpPr>
              <p:cNvPr id="29" name="Rectangle 28"/>
              <p:cNvSpPr/>
              <p:nvPr/>
            </p:nvSpPr>
            <p:spPr>
              <a:xfrm>
                <a:off x="4114800" y="3008376"/>
                <a:ext cx="58522" cy="36576"/>
              </a:xfrm>
              <a:prstGeom prst="rect">
                <a:avLst/>
              </a:prstGeom>
              <a:solidFill>
                <a:srgbClr val="9AA0A6"/>
              </a:solidFill>
              <a:ln>
                <a:noFill/>
              </a:ln>
            </p:spPr>
            <p:txBody>
              <a:bodyPr rtlCol="0" anchor="ctr"/>
              <a:lstStyle/>
              <a:p>
                <a:pPr algn="ctr"/>
              </a:p>
            </p:txBody>
          </p:sp>
          <p:sp>
            <p:nvSpPr>
              <p:cNvPr id="30" name="Rectangle 29"/>
              <p:cNvSpPr/>
              <p:nvPr/>
            </p:nvSpPr>
            <p:spPr>
              <a:xfrm>
                <a:off x="4173322" y="2752344"/>
                <a:ext cx="438912" cy="351130"/>
              </a:xfrm>
              <a:prstGeom prst="rect">
                <a:avLst/>
              </a:prstGeom>
              <a:solidFill>
                <a:srgbClr val="F28C28"/>
              </a:solidFill>
              <a:ln w="9525">
                <a:solidFill>
                  <a:srgbClr val="101418"/>
                </a:solidFill>
              </a:ln>
            </p:spPr>
            <p:txBody>
              <a:bodyPr rtlCol="0" anchor="ctr"/>
              <a:lstStyle/>
              <a:p>
                <a:pPr algn="ctr"/>
              </a:p>
            </p:txBody>
          </p:sp>
          <p:sp>
            <p:nvSpPr>
              <p:cNvPr id="31" name="Rectangle 30"/>
              <p:cNvSpPr/>
              <p:nvPr/>
            </p:nvSpPr>
            <p:spPr>
              <a:xfrm>
                <a:off x="4209898" y="2693822"/>
                <a:ext cx="365760" cy="87782"/>
              </a:xfrm>
              <a:prstGeom prst="rect">
                <a:avLst/>
              </a:prstGeom>
              <a:solidFill>
                <a:srgbClr val="1B1D21"/>
              </a:solidFill>
              <a:ln>
                <a:noFill/>
              </a:ln>
            </p:spPr>
            <p:txBody>
              <a:bodyPr rtlCol="0" anchor="ctr"/>
              <a:lstStyle/>
              <a:p>
                <a:pPr algn="ctr"/>
              </a:p>
            </p:txBody>
          </p:sp>
          <p:sp>
            <p:nvSpPr>
              <p:cNvPr id="32" name="Oval 31"/>
              <p:cNvSpPr/>
              <p:nvPr/>
            </p:nvSpPr>
            <p:spPr>
              <a:xfrm>
                <a:off x="4209898" y="3044952"/>
                <a:ext cx="146304" cy="146304"/>
              </a:xfrm>
              <a:prstGeom prst="ellipse">
                <a:avLst/>
              </a:prstGeom>
              <a:solidFill>
                <a:srgbClr val="1B1D21"/>
              </a:solidFill>
              <a:ln w="12700">
                <a:solidFill>
                  <a:srgbClr val="9AA0A6"/>
                </a:solidFill>
              </a:ln>
            </p:spPr>
            <p:txBody>
              <a:bodyPr rtlCol="0" anchor="ctr"/>
              <a:lstStyle/>
              <a:p>
                <a:pPr algn="ctr"/>
              </a:p>
            </p:txBody>
          </p:sp>
          <p:sp>
            <p:nvSpPr>
              <p:cNvPr id="33" name="Oval 32"/>
              <p:cNvSpPr/>
              <p:nvPr/>
            </p:nvSpPr>
            <p:spPr>
              <a:xfrm>
                <a:off x="4429354" y="3044952"/>
                <a:ext cx="146304" cy="146304"/>
              </a:xfrm>
              <a:prstGeom prst="ellipse">
                <a:avLst/>
              </a:prstGeom>
              <a:solidFill>
                <a:srgbClr val="1B1D21"/>
              </a:solidFill>
              <a:ln w="12700">
                <a:solidFill>
                  <a:srgbClr val="9AA0A6"/>
                </a:solidFill>
              </a:ln>
            </p:spPr>
            <p:txBody>
              <a:bodyPr rtlCol="0" anchor="ctr"/>
              <a:lstStyle/>
              <a:p>
                <a:pPr algn="ctr"/>
              </a:p>
            </p:txBody>
          </p:sp>
          <p:sp>
            <p:nvSpPr>
              <p:cNvPr id="34" name="Rectangle 33"/>
              <p:cNvSpPr/>
              <p:nvPr/>
            </p:nvSpPr>
            <p:spPr>
              <a:xfrm>
                <a:off x="4612234" y="3008376"/>
                <a:ext cx="58522" cy="36576"/>
              </a:xfrm>
              <a:prstGeom prst="rect">
                <a:avLst/>
              </a:prstGeom>
              <a:solidFill>
                <a:srgbClr val="9AA0A6"/>
              </a:solidFill>
              <a:ln>
                <a:noFill/>
              </a:ln>
            </p:spPr>
            <p:txBody>
              <a:bodyPr rtlCol="0" anchor="ctr"/>
              <a:lstStyle/>
              <a:p>
                <a:pPr algn="ctr"/>
              </a:p>
            </p:txBody>
          </p:sp>
          <p:sp>
            <p:nvSpPr>
              <p:cNvPr id="35" name="Rectangle 34"/>
              <p:cNvSpPr/>
              <p:nvPr/>
            </p:nvSpPr>
            <p:spPr>
              <a:xfrm>
                <a:off x="4670755" y="2715768"/>
                <a:ext cx="731520" cy="402336"/>
              </a:xfrm>
              <a:prstGeom prst="rect">
                <a:avLst/>
              </a:prstGeom>
              <a:solidFill>
                <a:srgbClr val="F28C28"/>
              </a:solidFill>
              <a:ln w="9525">
                <a:solidFill>
                  <a:srgbClr val="101418"/>
                </a:solidFill>
              </a:ln>
            </p:spPr>
            <p:txBody>
              <a:bodyPr rtlCol="0" anchor="ctr"/>
              <a:lstStyle/>
              <a:p>
                <a:pPr algn="ctr"/>
              </a:p>
            </p:txBody>
          </p:sp>
          <p:sp>
            <p:nvSpPr>
              <p:cNvPr id="36" name="Bunker"/>
              <p:cNvSpPr/>
              <p:nvPr/>
            </p:nvSpPr>
            <p:spPr>
              <a:xfrm>
                <a:off x="4692701" y="2737714"/>
                <a:ext cx="190195" cy="146304"/>
              </a:xfrm>
              <a:prstGeom prst="rect">
                <a:avLst/>
              </a:prstGeom>
              <a:solidFill>
                <a:srgbClr val="1B1D21"/>
              </a:solidFill>
              <a:ln>
                <a:noFill/>
              </a:ln>
            </p:spPr>
            <p:txBody>
              <a:bodyPr rtlCol="0" anchor="ctr"/>
              <a:lstStyle/>
              <a:p>
                <a:pPr algn="ctr"/>
              </a:p>
            </p:txBody>
          </p:sp>
          <p:sp>
            <p:nvSpPr>
              <p:cNvPr id="37" name="Rectangle 36"/>
              <p:cNvSpPr/>
              <p:nvPr/>
            </p:nvSpPr>
            <p:spPr>
              <a:xfrm>
                <a:off x="4919472" y="2766974"/>
                <a:ext cx="102413" cy="102413"/>
              </a:xfrm>
              <a:prstGeom prst="rect">
                <a:avLst/>
              </a:prstGeom>
              <a:solidFill>
                <a:srgbClr val="2B2F36"/>
              </a:solidFill>
              <a:ln>
                <a:noFill/>
              </a:ln>
            </p:spPr>
            <p:txBody>
              <a:bodyPr rtlCol="0" anchor="ctr"/>
              <a:lstStyle/>
              <a:p>
                <a:pPr algn="ctr"/>
              </a:p>
            </p:txBody>
          </p:sp>
          <p:sp>
            <p:nvSpPr>
              <p:cNvPr id="38" name="Chimney"/>
              <p:cNvSpPr/>
              <p:nvPr/>
            </p:nvSpPr>
            <p:spPr>
              <a:xfrm>
                <a:off x="5241341" y="2510942"/>
                <a:ext cx="109728" cy="219456"/>
              </a:xfrm>
              <a:prstGeom prst="rect">
                <a:avLst/>
              </a:prstGeom>
              <a:solidFill>
                <a:srgbClr val="1B1D21"/>
              </a:solidFill>
              <a:ln>
                <a:noFill/>
              </a:ln>
            </p:spPr>
            <p:txBody>
              <a:bodyPr rtlCol="0" anchor="ctr"/>
              <a:lstStyle/>
              <a:p>
                <a:pPr algn="ctr"/>
              </a:p>
            </p:txBody>
          </p:sp>
          <p:sp>
            <p:nvSpPr>
              <p:cNvPr id="39" name="Oval 38"/>
              <p:cNvSpPr/>
              <p:nvPr/>
            </p:nvSpPr>
            <p:spPr>
              <a:xfrm>
                <a:off x="4743907" y="3044952"/>
                <a:ext cx="146304" cy="146304"/>
              </a:xfrm>
              <a:prstGeom prst="ellipse">
                <a:avLst/>
              </a:prstGeom>
              <a:solidFill>
                <a:srgbClr val="1B1D21"/>
              </a:solidFill>
              <a:ln w="12700">
                <a:solidFill>
                  <a:srgbClr val="9AA0A6"/>
                </a:solidFill>
              </a:ln>
            </p:spPr>
            <p:txBody>
              <a:bodyPr rtlCol="0" anchor="ctr"/>
              <a:lstStyle/>
              <a:p>
                <a:pPr algn="ctr"/>
              </a:p>
            </p:txBody>
          </p:sp>
          <p:sp>
            <p:nvSpPr>
              <p:cNvPr id="40" name="Oval 39"/>
              <p:cNvSpPr/>
              <p:nvPr/>
            </p:nvSpPr>
            <p:spPr>
              <a:xfrm>
                <a:off x="4963363" y="3044952"/>
                <a:ext cx="146304" cy="146304"/>
              </a:xfrm>
              <a:prstGeom prst="ellipse">
                <a:avLst/>
              </a:prstGeom>
              <a:solidFill>
                <a:srgbClr val="1B1D21"/>
              </a:solidFill>
              <a:ln w="12700">
                <a:solidFill>
                  <a:srgbClr val="9AA0A6"/>
                </a:solidFill>
              </a:ln>
            </p:spPr>
            <p:txBody>
              <a:bodyPr rtlCol="0" anchor="ctr"/>
              <a:lstStyle/>
              <a:p>
                <a:pPr algn="ctr"/>
              </a:p>
            </p:txBody>
          </p:sp>
          <p:sp>
            <p:nvSpPr>
              <p:cNvPr id="41" name="Oval 40"/>
              <p:cNvSpPr/>
              <p:nvPr/>
            </p:nvSpPr>
            <p:spPr>
              <a:xfrm>
                <a:off x="5182819" y="3044952"/>
                <a:ext cx="146304" cy="146304"/>
              </a:xfrm>
              <a:prstGeom prst="ellipse">
                <a:avLst/>
              </a:prstGeom>
              <a:solidFill>
                <a:srgbClr val="1B1D21"/>
              </a:solidFill>
              <a:ln w="12700">
                <a:solidFill>
                  <a:srgbClr val="9AA0A6"/>
                </a:solidFill>
              </a:ln>
            </p:spPr>
            <p:txBody>
              <a:bodyPr rtlCol="0" anchor="ctr"/>
              <a:lstStyle/>
              <a:p>
                <a:pPr algn="ctr"/>
              </a:p>
            </p:txBody>
          </p:sp>
        </p:grpSp>
        <p:sp>
          <p:nvSpPr>
            <p:cNvPr id="42" name="Rounded Rectangle 41"/>
            <p:cNvSpPr/>
            <p:nvPr/>
          </p:nvSpPr>
          <p:spPr>
            <a:xfrm>
              <a:off x="6144768" y="2569464"/>
              <a:ext cx="2697480" cy="2185416"/>
            </a:xfrm>
            <a:prstGeom prst="roundRect">
              <a:avLst>
                <a:gd name="adj" fmla="val 2510"/>
              </a:avLst>
            </a:prstGeom>
            <a:solidFill>
              <a:srgbClr val="443426"/>
            </a:solidFill>
            <a:ln w="25400">
              <a:solidFill>
                <a:srgbClr val="F28C28"/>
              </a:solidFill>
            </a:ln>
          </p:spPr>
          <p:txBody>
            <a:bodyPr rtlCol="0" anchor="ctr"/>
            <a:lstStyle/>
            <a:p>
              <a:pPr algn="ctr"/>
            </a:p>
          </p:txBody>
        </p:sp>
        <p:sp>
          <p:nvSpPr>
            <p:cNvPr id="43" name="TextBox 42"/>
            <p:cNvSpPr txBox="1"/>
            <p:nvPr/>
          </p:nvSpPr>
          <p:spPr>
            <a:xfrm>
              <a:off x="6281928" y="2642616"/>
              <a:ext cx="2423160" cy="777240"/>
            </a:xfrm>
            <a:prstGeom prst="rect">
              <a:avLst/>
            </a:prstGeom>
            <a:noFill/>
          </p:spPr>
          <p:txBody>
            <a:bodyPr wrap="square" lIns="0" tIns="0" rIns="0" bIns="0" anchor="t">
              <a:noAutofit/>
            </a:bodyPr>
            <a:lstStyle/>
            <a:p>
              <a:pPr algn="l"/>
              <a:r>
                <a:rPr sz="2000" b="1" i="0" lang="en-GB">
                  <a:solidFill>
                    <a:srgbClr val="F28C28"/>
                  </a:solidFill>
                  <a:latin typeface="Arial"/>
                </a:rPr>
                <a:t>Tier 4 to 5</a:t>
              </a:r>
            </a:p>
            <a:p>
              <a:pPr algn="l"/>
              <a:r>
                <a:rPr sz="1600" b="0" i="0" lang="en-GB">
                  <a:solidFill>
                    <a:srgbClr val="F2F2F2"/>
                  </a:solidFill>
                  <a:latin typeface="Arial"/>
                </a:rPr>
                <a:t>Heavy Steam</a:t>
              </a:r>
            </a:p>
          </p:txBody>
        </p:sp>
        <p:grpSp>
          <p:nvGrpSpPr>
            <p:cNvPr id="44" name="Large engine" descr="A steam train: an engine pulling wagons."/>
            <p:cNvGrpSpPr/>
            <p:nvPr/>
          </p:nvGrpSpPr>
          <p:grpSpPr>
            <a:xfrm>
              <a:off x="6236208" y="1725016"/>
              <a:ext cx="2223821" cy="807872"/>
              <a:chOff x="6236208" y="1725016"/>
              <a:chExt cx="2223821" cy="807872"/>
            </a:xfrm>
          </p:grpSpPr>
          <p:sp>
            <p:nvSpPr>
              <p:cNvPr id="45" name="Rectangle 44"/>
              <p:cNvSpPr/>
              <p:nvPr/>
            </p:nvSpPr>
            <p:spPr>
              <a:xfrm>
                <a:off x="6236208" y="2037740"/>
                <a:ext cx="694944" cy="390906"/>
              </a:xfrm>
              <a:prstGeom prst="rect">
                <a:avLst/>
              </a:prstGeom>
              <a:solidFill>
                <a:srgbClr val="6C7480"/>
              </a:solidFill>
              <a:ln w="9525">
                <a:solidFill>
                  <a:srgbClr val="101418"/>
                </a:solidFill>
              </a:ln>
            </p:spPr>
            <p:txBody>
              <a:bodyPr rtlCol="0" anchor="ctr"/>
              <a:lstStyle/>
              <a:p>
                <a:pPr algn="ctr"/>
              </a:p>
            </p:txBody>
          </p:sp>
          <p:sp>
            <p:nvSpPr>
              <p:cNvPr id="46" name="Oval 45"/>
              <p:cNvSpPr/>
              <p:nvPr/>
            </p:nvSpPr>
            <p:spPr>
              <a:xfrm>
                <a:off x="6323076" y="2359152"/>
                <a:ext cx="173736" cy="173736"/>
              </a:xfrm>
              <a:prstGeom prst="ellipse">
                <a:avLst/>
              </a:prstGeom>
              <a:solidFill>
                <a:srgbClr val="1B1D21"/>
              </a:solidFill>
              <a:ln w="12700">
                <a:solidFill>
                  <a:srgbClr val="9AA0A6"/>
                </a:solidFill>
              </a:ln>
            </p:spPr>
            <p:txBody>
              <a:bodyPr rtlCol="0" anchor="ctr"/>
              <a:lstStyle/>
              <a:p>
                <a:pPr algn="ctr"/>
              </a:p>
            </p:txBody>
          </p:sp>
          <p:sp>
            <p:nvSpPr>
              <p:cNvPr id="47" name="Oval 46"/>
              <p:cNvSpPr/>
              <p:nvPr/>
            </p:nvSpPr>
            <p:spPr>
              <a:xfrm>
                <a:off x="6670548" y="2359152"/>
                <a:ext cx="173736" cy="173736"/>
              </a:xfrm>
              <a:prstGeom prst="ellipse">
                <a:avLst/>
              </a:prstGeom>
              <a:solidFill>
                <a:srgbClr val="1B1D21"/>
              </a:solidFill>
              <a:ln w="12700">
                <a:solidFill>
                  <a:srgbClr val="9AA0A6"/>
                </a:solidFill>
              </a:ln>
            </p:spPr>
            <p:txBody>
              <a:bodyPr rtlCol="0" anchor="ctr"/>
              <a:lstStyle/>
              <a:p>
                <a:pPr algn="ctr"/>
              </a:p>
            </p:txBody>
          </p:sp>
          <p:sp>
            <p:nvSpPr>
              <p:cNvPr id="48" name="Rectangle 47"/>
              <p:cNvSpPr/>
              <p:nvPr/>
            </p:nvSpPr>
            <p:spPr>
              <a:xfrm>
                <a:off x="6931152" y="2315718"/>
                <a:ext cx="69494" cy="43434"/>
              </a:xfrm>
              <a:prstGeom prst="rect">
                <a:avLst/>
              </a:prstGeom>
              <a:solidFill>
                <a:srgbClr val="9AA0A6"/>
              </a:solidFill>
              <a:ln>
                <a:noFill/>
              </a:ln>
            </p:spPr>
            <p:txBody>
              <a:bodyPr rtlCol="0" anchor="ctr"/>
              <a:lstStyle/>
              <a:p>
                <a:pPr algn="ctr"/>
              </a:p>
            </p:txBody>
          </p:sp>
          <p:sp>
            <p:nvSpPr>
              <p:cNvPr id="49" name="Rectangle 48"/>
              <p:cNvSpPr/>
              <p:nvPr/>
            </p:nvSpPr>
            <p:spPr>
              <a:xfrm>
                <a:off x="7000646" y="2011680"/>
                <a:ext cx="521208" cy="416966"/>
              </a:xfrm>
              <a:prstGeom prst="rect">
                <a:avLst/>
              </a:prstGeom>
              <a:solidFill>
                <a:srgbClr val="F28C28"/>
              </a:solidFill>
              <a:ln w="9525">
                <a:solidFill>
                  <a:srgbClr val="101418"/>
                </a:solidFill>
              </a:ln>
            </p:spPr>
            <p:txBody>
              <a:bodyPr rtlCol="0" anchor="ctr"/>
              <a:lstStyle/>
              <a:p>
                <a:pPr algn="ctr"/>
              </a:p>
            </p:txBody>
          </p:sp>
          <p:sp>
            <p:nvSpPr>
              <p:cNvPr id="50" name="Rectangle 49"/>
              <p:cNvSpPr/>
              <p:nvPr/>
            </p:nvSpPr>
            <p:spPr>
              <a:xfrm>
                <a:off x="7044080" y="1942186"/>
                <a:ext cx="434340" cy="104242"/>
              </a:xfrm>
              <a:prstGeom prst="rect">
                <a:avLst/>
              </a:prstGeom>
              <a:solidFill>
                <a:srgbClr val="1B1D21"/>
              </a:solidFill>
              <a:ln>
                <a:noFill/>
              </a:ln>
            </p:spPr>
            <p:txBody>
              <a:bodyPr rtlCol="0" anchor="ctr"/>
              <a:lstStyle/>
              <a:p>
                <a:pPr algn="ctr"/>
              </a:p>
            </p:txBody>
          </p:sp>
          <p:sp>
            <p:nvSpPr>
              <p:cNvPr id="51" name="Oval 50"/>
              <p:cNvSpPr/>
              <p:nvPr/>
            </p:nvSpPr>
            <p:spPr>
              <a:xfrm>
                <a:off x="7044080" y="2359152"/>
                <a:ext cx="173736" cy="173736"/>
              </a:xfrm>
              <a:prstGeom prst="ellipse">
                <a:avLst/>
              </a:prstGeom>
              <a:solidFill>
                <a:srgbClr val="1B1D21"/>
              </a:solidFill>
              <a:ln w="12700">
                <a:solidFill>
                  <a:srgbClr val="9AA0A6"/>
                </a:solidFill>
              </a:ln>
            </p:spPr>
            <p:txBody>
              <a:bodyPr rtlCol="0" anchor="ctr"/>
              <a:lstStyle/>
              <a:p>
                <a:pPr algn="ctr"/>
              </a:p>
            </p:txBody>
          </p:sp>
          <p:sp>
            <p:nvSpPr>
              <p:cNvPr id="52" name="Oval 51"/>
              <p:cNvSpPr/>
              <p:nvPr/>
            </p:nvSpPr>
            <p:spPr>
              <a:xfrm>
                <a:off x="7304684" y="2359152"/>
                <a:ext cx="173736" cy="173736"/>
              </a:xfrm>
              <a:prstGeom prst="ellipse">
                <a:avLst/>
              </a:prstGeom>
              <a:solidFill>
                <a:srgbClr val="1B1D21"/>
              </a:solidFill>
              <a:ln w="12700">
                <a:solidFill>
                  <a:srgbClr val="9AA0A6"/>
                </a:solidFill>
              </a:ln>
            </p:spPr>
            <p:txBody>
              <a:bodyPr rtlCol="0" anchor="ctr"/>
              <a:lstStyle/>
              <a:p>
                <a:pPr algn="ctr"/>
              </a:p>
            </p:txBody>
          </p:sp>
          <p:sp>
            <p:nvSpPr>
              <p:cNvPr id="53" name="Rectangle 52"/>
              <p:cNvSpPr/>
              <p:nvPr/>
            </p:nvSpPr>
            <p:spPr>
              <a:xfrm>
                <a:off x="7521854" y="2315718"/>
                <a:ext cx="69494" cy="43434"/>
              </a:xfrm>
              <a:prstGeom prst="rect">
                <a:avLst/>
              </a:prstGeom>
              <a:solidFill>
                <a:srgbClr val="9AA0A6"/>
              </a:solidFill>
              <a:ln>
                <a:noFill/>
              </a:ln>
            </p:spPr>
            <p:txBody>
              <a:bodyPr rtlCol="0" anchor="ctr"/>
              <a:lstStyle/>
              <a:p>
                <a:pPr algn="ctr"/>
              </a:p>
            </p:txBody>
          </p:sp>
          <p:sp>
            <p:nvSpPr>
              <p:cNvPr id="54" name="Rectangle 53"/>
              <p:cNvSpPr/>
              <p:nvPr/>
            </p:nvSpPr>
            <p:spPr>
              <a:xfrm>
                <a:off x="7591349" y="1968246"/>
                <a:ext cx="868680" cy="477774"/>
              </a:xfrm>
              <a:prstGeom prst="rect">
                <a:avLst/>
              </a:prstGeom>
              <a:solidFill>
                <a:srgbClr val="F28C28"/>
              </a:solidFill>
              <a:ln w="9525">
                <a:solidFill>
                  <a:srgbClr val="101418"/>
                </a:solidFill>
              </a:ln>
            </p:spPr>
            <p:txBody>
              <a:bodyPr rtlCol="0" anchor="ctr"/>
              <a:lstStyle/>
              <a:p>
                <a:pPr algn="ctr"/>
              </a:p>
            </p:txBody>
          </p:sp>
          <p:sp>
            <p:nvSpPr>
              <p:cNvPr id="55" name="Bunker"/>
              <p:cNvSpPr/>
              <p:nvPr/>
            </p:nvSpPr>
            <p:spPr>
              <a:xfrm>
                <a:off x="7617409" y="1994306"/>
                <a:ext cx="225857" cy="173736"/>
              </a:xfrm>
              <a:prstGeom prst="rect">
                <a:avLst/>
              </a:prstGeom>
              <a:solidFill>
                <a:srgbClr val="1B1D21"/>
              </a:solidFill>
              <a:ln>
                <a:noFill/>
              </a:ln>
            </p:spPr>
            <p:txBody>
              <a:bodyPr rtlCol="0" anchor="ctr"/>
              <a:lstStyle/>
              <a:p>
                <a:pPr algn="ctr"/>
              </a:p>
            </p:txBody>
          </p:sp>
          <p:sp>
            <p:nvSpPr>
              <p:cNvPr id="56" name="Rectangle 55"/>
              <p:cNvSpPr/>
              <p:nvPr/>
            </p:nvSpPr>
            <p:spPr>
              <a:xfrm>
                <a:off x="7886700" y="2029054"/>
                <a:ext cx="121615" cy="121615"/>
              </a:xfrm>
              <a:prstGeom prst="rect">
                <a:avLst/>
              </a:prstGeom>
              <a:solidFill>
                <a:srgbClr val="2B2F36"/>
              </a:solidFill>
              <a:ln>
                <a:noFill/>
              </a:ln>
            </p:spPr>
            <p:txBody>
              <a:bodyPr rtlCol="0" anchor="ctr"/>
              <a:lstStyle/>
              <a:p>
                <a:pPr algn="ctr"/>
              </a:p>
            </p:txBody>
          </p:sp>
          <p:sp>
            <p:nvSpPr>
              <p:cNvPr id="57" name="Chimney"/>
              <p:cNvSpPr/>
              <p:nvPr/>
            </p:nvSpPr>
            <p:spPr>
              <a:xfrm>
                <a:off x="8268919" y="1725016"/>
                <a:ext cx="130302" cy="260604"/>
              </a:xfrm>
              <a:prstGeom prst="rect">
                <a:avLst/>
              </a:prstGeom>
              <a:solidFill>
                <a:srgbClr val="1B1D21"/>
              </a:solidFill>
              <a:ln>
                <a:noFill/>
              </a:ln>
            </p:spPr>
            <p:txBody>
              <a:bodyPr rtlCol="0" anchor="ctr"/>
              <a:lstStyle/>
              <a:p>
                <a:pPr algn="ctr"/>
              </a:p>
            </p:txBody>
          </p:sp>
          <p:sp>
            <p:nvSpPr>
              <p:cNvPr id="58" name="Oval 57"/>
              <p:cNvSpPr/>
              <p:nvPr/>
            </p:nvSpPr>
            <p:spPr>
              <a:xfrm>
                <a:off x="7678217" y="2359152"/>
                <a:ext cx="173736" cy="173736"/>
              </a:xfrm>
              <a:prstGeom prst="ellipse">
                <a:avLst/>
              </a:prstGeom>
              <a:solidFill>
                <a:srgbClr val="1B1D21"/>
              </a:solidFill>
              <a:ln w="12700">
                <a:solidFill>
                  <a:srgbClr val="9AA0A6"/>
                </a:solidFill>
              </a:ln>
            </p:spPr>
            <p:txBody>
              <a:bodyPr rtlCol="0" anchor="ctr"/>
              <a:lstStyle/>
              <a:p>
                <a:pPr algn="ctr"/>
              </a:p>
            </p:txBody>
          </p:sp>
          <p:sp>
            <p:nvSpPr>
              <p:cNvPr id="59" name="Oval 58"/>
              <p:cNvSpPr/>
              <p:nvPr/>
            </p:nvSpPr>
            <p:spPr>
              <a:xfrm>
                <a:off x="7938821" y="2359152"/>
                <a:ext cx="173736" cy="173736"/>
              </a:xfrm>
              <a:prstGeom prst="ellipse">
                <a:avLst/>
              </a:prstGeom>
              <a:solidFill>
                <a:srgbClr val="1B1D21"/>
              </a:solidFill>
              <a:ln w="12700">
                <a:solidFill>
                  <a:srgbClr val="9AA0A6"/>
                </a:solidFill>
              </a:ln>
            </p:spPr>
            <p:txBody>
              <a:bodyPr rtlCol="0" anchor="ctr"/>
              <a:lstStyle/>
              <a:p>
                <a:pPr algn="ctr"/>
              </a:p>
            </p:txBody>
          </p:sp>
          <p:sp>
            <p:nvSpPr>
              <p:cNvPr id="60" name="Oval 59"/>
              <p:cNvSpPr/>
              <p:nvPr/>
            </p:nvSpPr>
            <p:spPr>
              <a:xfrm>
                <a:off x="8199425" y="2359152"/>
                <a:ext cx="173736" cy="173736"/>
              </a:xfrm>
              <a:prstGeom prst="ellipse">
                <a:avLst/>
              </a:prstGeom>
              <a:solidFill>
                <a:srgbClr val="1B1D21"/>
              </a:solidFill>
              <a:ln w="12700">
                <a:solidFill>
                  <a:srgbClr val="9AA0A6"/>
                </a:solidFill>
              </a:ln>
            </p:spPr>
            <p:txBody>
              <a:bodyPr rtlCol="0" anchor="ctr"/>
              <a:lstStyle/>
              <a:p>
                <a:pPr algn="ctr"/>
              </a:p>
            </p:txBody>
          </p:sp>
        </p:grpSp>
        <p:sp>
          <p:nvSpPr>
            <p:cNvPr id="61" name="Rounded Rectangle 60"/>
            <p:cNvSpPr/>
            <p:nvPr/>
          </p:nvSpPr>
          <p:spPr>
            <a:xfrm>
              <a:off x="8942832" y="1911096"/>
              <a:ext cx="2697480" cy="2843784"/>
            </a:xfrm>
            <a:prstGeom prst="roundRect">
              <a:avLst>
                <a:gd name="adj" fmla="val 2033"/>
              </a:avLst>
            </a:prstGeom>
            <a:solidFill>
              <a:srgbClr val="2C3847"/>
            </a:solidFill>
            <a:ln w="25400">
              <a:solidFill>
                <a:srgbClr val="6CA0DC"/>
              </a:solidFill>
            </a:ln>
          </p:spPr>
          <p:txBody>
            <a:bodyPr rtlCol="0" anchor="ctr"/>
            <a:lstStyle/>
            <a:p>
              <a:pPr algn="ctr"/>
            </a:p>
          </p:txBody>
        </p:sp>
        <p:sp>
          <p:nvSpPr>
            <p:cNvPr id="62" name="TextBox 61"/>
            <p:cNvSpPr txBox="1"/>
            <p:nvPr/>
          </p:nvSpPr>
          <p:spPr>
            <a:xfrm>
              <a:off x="9079992" y="1984248"/>
              <a:ext cx="2423160" cy="777240"/>
            </a:xfrm>
            <a:prstGeom prst="rect">
              <a:avLst/>
            </a:prstGeom>
            <a:noFill/>
          </p:spPr>
          <p:txBody>
            <a:bodyPr wrap="square" lIns="0" tIns="0" rIns="0" bIns="0" anchor="t">
              <a:noAutofit/>
            </a:bodyPr>
            <a:lstStyle/>
            <a:p>
              <a:pPr algn="l"/>
              <a:r>
                <a:rPr sz="2000" b="1" i="0" lang="en-GB">
                  <a:solidFill>
                    <a:srgbClr val="6CA0DC"/>
                  </a:solidFill>
                  <a:latin typeface="Arial"/>
                </a:rPr>
                <a:t>Tier 6</a:t>
              </a:r>
            </a:p>
            <a:p>
              <a:pPr algn="l"/>
              <a:r>
                <a:rPr sz="1600" b="0" i="0" lang="en-GB">
                  <a:solidFill>
                    <a:srgbClr val="F2F2F2"/>
                  </a:solidFill>
                  <a:latin typeface="Arial"/>
                </a:rPr>
                <a:t>Monorail: the game's electric trains</a:t>
              </a:r>
            </a:p>
          </p:txBody>
        </p:sp>
        <p:sp>
          <p:nvSpPr>
            <p:cNvPr id="63" name="Rounded Rectangle 62"/>
            <p:cNvSpPr/>
            <p:nvPr/>
          </p:nvSpPr>
          <p:spPr>
            <a:xfrm>
              <a:off x="9262872" y="1325880"/>
              <a:ext cx="932688" cy="438912"/>
            </a:xfrm>
            <a:prstGeom prst="roundRect">
              <a:avLst>
                <a:gd name="adj" fmla="val 25000"/>
              </a:avLst>
            </a:prstGeom>
            <a:solidFill>
              <a:srgbClr val="6CA0DC"/>
            </a:solidFill>
            <a:ln w="9525">
              <a:solidFill>
                <a:srgbClr val="101418"/>
              </a:solidFill>
            </a:ln>
          </p:spPr>
          <p:txBody>
            <a:bodyPr rtlCol="0" anchor="ctr"/>
            <a:lstStyle/>
            <a:p>
              <a:pPr algn="ctr"/>
            </a:p>
          </p:txBody>
        </p:sp>
        <p:sp>
          <p:nvSpPr>
            <p:cNvPr id="64" name="Rectangle 63"/>
            <p:cNvSpPr/>
            <p:nvPr/>
          </p:nvSpPr>
          <p:spPr>
            <a:xfrm>
              <a:off x="9354312" y="1417320"/>
              <a:ext cx="749808" cy="128016"/>
            </a:xfrm>
            <a:prstGeom prst="rect">
              <a:avLst/>
            </a:prstGeom>
            <a:solidFill>
              <a:srgbClr val="2B2F36"/>
            </a:solidFill>
            <a:ln>
              <a:noFill/>
            </a:ln>
          </p:spPr>
          <p:txBody>
            <a:bodyPr rtlCol="0" anchor="ctr"/>
            <a:lstStyle/>
            <a:p>
              <a:pPr algn="ctr"/>
            </a:p>
          </p:txBody>
        </p:sp>
        <p:sp>
          <p:nvSpPr>
            <p:cNvPr id="65" name="Rounded Rectangle 64"/>
            <p:cNvSpPr/>
            <p:nvPr/>
          </p:nvSpPr>
          <p:spPr>
            <a:xfrm>
              <a:off x="10268712" y="1325880"/>
              <a:ext cx="932688" cy="438912"/>
            </a:xfrm>
            <a:prstGeom prst="roundRect">
              <a:avLst>
                <a:gd name="adj" fmla="val 25000"/>
              </a:avLst>
            </a:prstGeom>
            <a:solidFill>
              <a:srgbClr val="6CA0DC"/>
            </a:solidFill>
            <a:ln w="9525">
              <a:solidFill>
                <a:srgbClr val="101418"/>
              </a:solidFill>
            </a:ln>
          </p:spPr>
          <p:txBody>
            <a:bodyPr rtlCol="0" anchor="ctr"/>
            <a:lstStyle/>
            <a:p>
              <a:pPr algn="ctr"/>
            </a:p>
          </p:txBody>
        </p:sp>
        <p:sp>
          <p:nvSpPr>
            <p:cNvPr id="66" name="Rectangle 65"/>
            <p:cNvSpPr/>
            <p:nvPr/>
          </p:nvSpPr>
          <p:spPr>
            <a:xfrm>
              <a:off x="10360152" y="1417320"/>
              <a:ext cx="749808" cy="128016"/>
            </a:xfrm>
            <a:prstGeom prst="rect">
              <a:avLst/>
            </a:prstGeom>
            <a:solidFill>
              <a:srgbClr val="2B2F36"/>
            </a:solidFill>
            <a:ln>
              <a:noFill/>
            </a:ln>
          </p:spPr>
          <p:txBody>
            <a:bodyPr rtlCol="0" anchor="ctr"/>
            <a:lstStyle/>
            <a:p>
              <a:pPr algn="ctr"/>
            </a:p>
          </p:txBody>
        </p:sp>
        <p:sp>
          <p:nvSpPr>
            <p:cNvPr id="67" name="Rectangle 66"/>
            <p:cNvSpPr/>
            <p:nvPr/>
          </p:nvSpPr>
          <p:spPr>
            <a:xfrm>
              <a:off x="9217152" y="1783080"/>
              <a:ext cx="2057400" cy="91440"/>
            </a:xfrm>
            <a:prstGeom prst="rect">
              <a:avLst/>
            </a:prstGeom>
            <a:solidFill>
              <a:srgbClr val="9AA0A6"/>
            </a:solidFill>
            <a:ln>
              <a:noFill/>
            </a:ln>
          </p:spPr>
          <p:txBody>
            <a:bodyPr rtlCol="0" anchor="ctr"/>
            <a:lstStyle/>
            <a:p>
              <a:pPr algn="ctr"/>
            </a:p>
          </p:txBody>
        </p:sp>
      </p:grpSp>
      <p:sp>
        <p:nvSpPr>
          <p:cNvPr id="68" name="TextBox 67"/>
          <p:cNvSpPr txBox="1"/>
          <p:nvPr/>
        </p:nvSpPr>
        <p:spPr>
          <a:xfrm>
            <a:off x="548640" y="4919472"/>
            <a:ext cx="2926080" cy="329184"/>
          </a:xfrm>
          <a:prstGeom prst="rect">
            <a:avLst/>
          </a:prstGeom>
          <a:noFill/>
        </p:spPr>
        <p:txBody>
          <a:bodyPr wrap="square" lIns="0" tIns="0" rIns="0" bIns="0" anchor="ctr">
            <a:noAutofit/>
          </a:bodyPr>
          <a:lstStyle/>
          <a:p>
            <a:pPr algn="l"/>
            <a:r>
              <a:rPr sz="1600" b="0" i="0" lang="en-GB">
                <a:solidFill>
                  <a:srgbClr val="F2F2F2"/>
                </a:solidFill>
                <a:latin typeface="Arial"/>
              </a:rPr>
              <a:t>Tiers and prerequisites:</a:t>
            </a:r>
          </a:p>
        </p:txBody>
      </p:sp>
      <p:sp>
        <p:nvSpPr>
          <p:cNvPr id="69" name="Inline chip Provisional"/>
          <p:cNvSpPr/>
          <p:nvPr/>
        </p:nvSpPr>
        <p:spPr>
          <a:xfrm>
            <a:off x="2926080" y="4937760"/>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70" name="Inline chip Undecided"/>
          <p:cNvSpPr/>
          <p:nvPr/>
        </p:nvSpPr>
        <p:spPr>
          <a:xfrm>
            <a:off x="4654054" y="4937760"/>
            <a:ext cx="2064980"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 (OQ01)</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Technology unlocks in tiers. The mod adds steam railways early, before the game's electric trains.</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THE GAME</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Track</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pic>
        <p:nvPicPr>
          <p:cNvPr id="8" name="Picture P01" descr="Old-style chairs and clips holding rail to wooden sleepers on preserved track at Oxenhope."/>
          <p:cNvPicPr>
            <a:picLocks noChangeAspect="1"/>
          </p:cNvPicPr>
          <p:nvPr/>
        </p:nvPicPr>
        <p:blipFill>
          <a:blip r:embed="rId2"/>
          <a:srcRect t="794" b="794"/>
          <a:stretch>
            <a:fillRect/>
          </a:stretch>
        </p:blipFill>
        <p:spPr>
          <a:xfrm>
            <a:off x="548640" y="1463040"/>
            <a:ext cx="3840480" cy="2834640"/>
          </a:xfrm>
          <a:prstGeom prst="roundRect">
            <a:avLst>
              <a:gd name="adj" fmla="val 2581"/>
            </a:avLst>
          </a:prstGeom>
        </p:spPr>
      </p:pic>
      <p:sp>
        <p:nvSpPr>
          <p:cNvPr id="9" name="Credit"/>
          <p:cNvSpPr txBox="1"/>
          <p:nvPr/>
        </p:nvSpPr>
        <p:spPr>
          <a:xfrm>
            <a:off x="548640" y="4325112"/>
            <a:ext cx="3840480" cy="182880"/>
          </a:xfrm>
          <a:prstGeom prst="rect">
            <a:avLst/>
          </a:prstGeom>
          <a:noFill/>
        </p:spPr>
        <p:txBody>
          <a:bodyPr wrap="square" lIns="0" tIns="0" rIns="0" bIns="0" anchor="t">
            <a:noAutofit/>
          </a:bodyPr>
          <a:lstStyle/>
          <a:p>
            <a:pPr algn="l"/>
            <a:r>
              <a:rPr sz="1000" b="0" i="0" lang="en-GB">
                <a:solidFill>
                  <a:srgbClr val="A9B0B8"/>
                </a:solidFill>
                <a:latin typeface="Arial"/>
              </a:rPr>
              <a:t>Photo: Stephen Craven, CC BY-SA 2.0, Wikimedia Commons.</a:t>
            </a:r>
          </a:p>
        </p:txBody>
      </p:sp>
      <p:grpSp>
        <p:nvGrpSpPr>
          <p:cNvPr id="10" name="Track cross-section" descr="End-on cross-section of track: two rails on a sleeper, which sits on a bed of stone ballast. The gauge is the distance between the rails."/>
          <p:cNvGrpSpPr/>
          <p:nvPr/>
        </p:nvGrpSpPr>
        <p:grpSpPr>
          <a:xfrm>
            <a:off x="5486400" y="3017520"/>
            <a:ext cx="5029200" cy="1965960"/>
            <a:chOff x="5486400" y="3017520"/>
            <a:chExt cx="5029200" cy="1965960"/>
          </a:xfrm>
        </p:grpSpPr>
        <p:sp>
          <p:nvSpPr>
            <p:cNvPr id="11" name="Freeform 10"/>
            <p:cNvSpPr/>
            <p:nvPr/>
          </p:nvSpPr>
          <p:spPr>
            <a:xfrm>
              <a:off x="5486400" y="3977640"/>
              <a:ext cx="5029200" cy="1005840"/>
            </a:xfrm>
            <a:custGeom>
              <a:avLst/>
              <a:gdLst/>
              <a:ahLst/>
              <a:cxnLst/>
              <a:rect l="l" t="t" r="r" b="b"/>
              <a:pathLst>
                <a:path w="5029200" h="1005840">
                  <a:moveTo>
                    <a:pt x="0" y="1005840"/>
                  </a:moveTo>
                  <a:lnTo>
                    <a:pt x="5029200" y="1005840"/>
                  </a:lnTo>
                  <a:lnTo>
                    <a:pt x="4480560" y="0"/>
                  </a:lnTo>
                  <a:lnTo>
                    <a:pt x="548640" y="0"/>
                  </a:lnTo>
                  <a:close/>
                </a:path>
              </a:pathLst>
            </a:custGeom>
            <a:solidFill>
              <a:srgbClr val="7A7F86"/>
            </a:solidFill>
            <a:ln w="12700">
              <a:solidFill>
                <a:srgbClr val="9AA0A6"/>
              </a:solidFill>
            </a:ln>
          </p:spPr>
          <p:txBody>
            <a:bodyPr rtlCol="0" anchor="ctr"/>
            <a:lstStyle/>
            <a:p>
              <a:pPr algn="ctr"/>
            </a:p>
          </p:txBody>
        </p:sp>
        <p:sp>
          <p:nvSpPr>
            <p:cNvPr id="12" name="Oval 11"/>
            <p:cNvSpPr/>
            <p:nvPr/>
          </p:nvSpPr>
          <p:spPr>
            <a:xfrm>
              <a:off x="6391490" y="4252636"/>
              <a:ext cx="120412" cy="69676"/>
            </a:xfrm>
            <a:prstGeom prst="ellipse">
              <a:avLst/>
            </a:prstGeom>
            <a:solidFill>
              <a:srgbClr val="5E636A"/>
            </a:solidFill>
            <a:ln>
              <a:noFill/>
            </a:ln>
          </p:spPr>
          <p:txBody>
            <a:bodyPr rtlCol="0" anchor="ctr"/>
            <a:lstStyle/>
            <a:p>
              <a:pPr algn="ctr"/>
            </a:p>
          </p:txBody>
        </p:sp>
        <p:sp>
          <p:nvSpPr>
            <p:cNvPr id="13" name="Oval 12"/>
            <p:cNvSpPr/>
            <p:nvPr/>
          </p:nvSpPr>
          <p:spPr>
            <a:xfrm>
              <a:off x="7550814" y="4116814"/>
              <a:ext cx="158590" cy="93285"/>
            </a:xfrm>
            <a:prstGeom prst="ellipse">
              <a:avLst/>
            </a:prstGeom>
            <a:solidFill>
              <a:srgbClr val="5E636A"/>
            </a:solidFill>
            <a:ln>
              <a:noFill/>
            </a:ln>
          </p:spPr>
          <p:txBody>
            <a:bodyPr rtlCol="0" anchor="ctr"/>
            <a:lstStyle/>
            <a:p>
              <a:pPr algn="ctr"/>
            </a:p>
          </p:txBody>
        </p:sp>
        <p:sp>
          <p:nvSpPr>
            <p:cNvPr id="14" name="Oval 13"/>
            <p:cNvSpPr/>
            <p:nvPr/>
          </p:nvSpPr>
          <p:spPr>
            <a:xfrm>
              <a:off x="6732599" y="4637468"/>
              <a:ext cx="130699" cy="74128"/>
            </a:xfrm>
            <a:prstGeom prst="ellipse">
              <a:avLst/>
            </a:prstGeom>
            <a:solidFill>
              <a:srgbClr val="5E636A"/>
            </a:solidFill>
            <a:ln>
              <a:noFill/>
            </a:ln>
          </p:spPr>
          <p:txBody>
            <a:bodyPr rtlCol="0" anchor="ctr"/>
            <a:lstStyle/>
            <a:p>
              <a:pPr algn="ctr"/>
            </a:p>
          </p:txBody>
        </p:sp>
        <p:sp>
          <p:nvSpPr>
            <p:cNvPr id="15" name="Oval 14"/>
            <p:cNvSpPr/>
            <p:nvPr/>
          </p:nvSpPr>
          <p:spPr>
            <a:xfrm>
              <a:off x="6429834" y="4192142"/>
              <a:ext cx="107124" cy="97931"/>
            </a:xfrm>
            <a:prstGeom prst="ellipse">
              <a:avLst/>
            </a:prstGeom>
            <a:solidFill>
              <a:srgbClr val="5E636A"/>
            </a:solidFill>
            <a:ln>
              <a:noFill/>
            </a:ln>
          </p:spPr>
          <p:txBody>
            <a:bodyPr rtlCol="0" anchor="ctr"/>
            <a:lstStyle/>
            <a:p>
              <a:pPr algn="ctr"/>
            </a:p>
          </p:txBody>
        </p:sp>
        <p:sp>
          <p:nvSpPr>
            <p:cNvPr id="16" name="Oval 15"/>
            <p:cNvSpPr/>
            <p:nvPr/>
          </p:nvSpPr>
          <p:spPr>
            <a:xfrm>
              <a:off x="9268308" y="4685630"/>
              <a:ext cx="149994" cy="71083"/>
            </a:xfrm>
            <a:prstGeom prst="ellipse">
              <a:avLst/>
            </a:prstGeom>
            <a:solidFill>
              <a:srgbClr val="5E636A"/>
            </a:solidFill>
            <a:ln>
              <a:noFill/>
            </a:ln>
          </p:spPr>
          <p:txBody>
            <a:bodyPr rtlCol="0" anchor="ctr"/>
            <a:lstStyle/>
            <a:p>
              <a:pPr algn="ctr"/>
            </a:p>
          </p:txBody>
        </p:sp>
        <p:sp>
          <p:nvSpPr>
            <p:cNvPr id="17" name="Oval 16"/>
            <p:cNvSpPr/>
            <p:nvPr/>
          </p:nvSpPr>
          <p:spPr>
            <a:xfrm>
              <a:off x="8431722" y="4293828"/>
              <a:ext cx="144980" cy="95268"/>
            </a:xfrm>
            <a:prstGeom prst="ellipse">
              <a:avLst/>
            </a:prstGeom>
            <a:solidFill>
              <a:srgbClr val="5E636A"/>
            </a:solidFill>
            <a:ln>
              <a:noFill/>
            </a:ln>
          </p:spPr>
          <p:txBody>
            <a:bodyPr rtlCol="0" anchor="ctr"/>
            <a:lstStyle/>
            <a:p>
              <a:pPr algn="ctr"/>
            </a:p>
          </p:txBody>
        </p:sp>
        <p:sp>
          <p:nvSpPr>
            <p:cNvPr id="18" name="Oval 17"/>
            <p:cNvSpPr/>
            <p:nvPr/>
          </p:nvSpPr>
          <p:spPr>
            <a:xfrm>
              <a:off x="6107205" y="4714287"/>
              <a:ext cx="135759" cy="88576"/>
            </a:xfrm>
            <a:prstGeom prst="ellipse">
              <a:avLst/>
            </a:prstGeom>
            <a:solidFill>
              <a:srgbClr val="5E636A"/>
            </a:solidFill>
            <a:ln>
              <a:noFill/>
            </a:ln>
          </p:spPr>
          <p:txBody>
            <a:bodyPr rtlCol="0" anchor="ctr"/>
            <a:lstStyle/>
            <a:p>
              <a:pPr algn="ctr"/>
            </a:p>
          </p:txBody>
        </p:sp>
        <p:sp>
          <p:nvSpPr>
            <p:cNvPr id="19" name="Oval 18"/>
            <p:cNvSpPr/>
            <p:nvPr/>
          </p:nvSpPr>
          <p:spPr>
            <a:xfrm>
              <a:off x="6610598" y="4451277"/>
              <a:ext cx="126084" cy="67276"/>
            </a:xfrm>
            <a:prstGeom prst="ellipse">
              <a:avLst/>
            </a:prstGeom>
            <a:solidFill>
              <a:srgbClr val="5E636A"/>
            </a:solidFill>
            <a:ln>
              <a:noFill/>
            </a:ln>
          </p:spPr>
          <p:txBody>
            <a:bodyPr rtlCol="0" anchor="ctr"/>
            <a:lstStyle/>
            <a:p>
              <a:pPr algn="ctr"/>
            </a:p>
          </p:txBody>
        </p:sp>
        <p:sp>
          <p:nvSpPr>
            <p:cNvPr id="20" name="Oval 19"/>
            <p:cNvSpPr/>
            <p:nvPr/>
          </p:nvSpPr>
          <p:spPr>
            <a:xfrm>
              <a:off x="9565898" y="4760975"/>
              <a:ext cx="131501" cy="74990"/>
            </a:xfrm>
            <a:prstGeom prst="ellipse">
              <a:avLst/>
            </a:prstGeom>
            <a:solidFill>
              <a:srgbClr val="5E636A"/>
            </a:solidFill>
            <a:ln>
              <a:noFill/>
            </a:ln>
          </p:spPr>
          <p:txBody>
            <a:bodyPr rtlCol="0" anchor="ctr"/>
            <a:lstStyle/>
            <a:p>
              <a:pPr algn="ctr"/>
            </a:p>
          </p:txBody>
        </p:sp>
        <p:sp>
          <p:nvSpPr>
            <p:cNvPr id="21" name="Oval 20"/>
            <p:cNvSpPr/>
            <p:nvPr/>
          </p:nvSpPr>
          <p:spPr>
            <a:xfrm>
              <a:off x="8244396" y="4732144"/>
              <a:ext cx="155983" cy="95026"/>
            </a:xfrm>
            <a:prstGeom prst="ellipse">
              <a:avLst/>
            </a:prstGeom>
            <a:solidFill>
              <a:srgbClr val="5E636A"/>
            </a:solidFill>
            <a:ln>
              <a:noFill/>
            </a:ln>
          </p:spPr>
          <p:txBody>
            <a:bodyPr rtlCol="0" anchor="ctr"/>
            <a:lstStyle/>
            <a:p>
              <a:pPr algn="ctr"/>
            </a:p>
          </p:txBody>
        </p:sp>
        <p:sp>
          <p:nvSpPr>
            <p:cNvPr id="22" name="Oval 21"/>
            <p:cNvSpPr/>
            <p:nvPr/>
          </p:nvSpPr>
          <p:spPr>
            <a:xfrm>
              <a:off x="7578704" y="4446798"/>
              <a:ext cx="135252" cy="79774"/>
            </a:xfrm>
            <a:prstGeom prst="ellipse">
              <a:avLst/>
            </a:prstGeom>
            <a:solidFill>
              <a:srgbClr val="5E636A"/>
            </a:solidFill>
            <a:ln>
              <a:noFill/>
            </a:ln>
          </p:spPr>
          <p:txBody>
            <a:bodyPr rtlCol="0" anchor="ctr"/>
            <a:lstStyle/>
            <a:p>
              <a:pPr algn="ctr"/>
            </a:p>
          </p:txBody>
        </p:sp>
        <p:sp>
          <p:nvSpPr>
            <p:cNvPr id="23" name="Oval 22"/>
            <p:cNvSpPr/>
            <p:nvPr/>
          </p:nvSpPr>
          <p:spPr>
            <a:xfrm>
              <a:off x="7176305" y="4200015"/>
              <a:ext cx="150883" cy="65589"/>
            </a:xfrm>
            <a:prstGeom prst="ellipse">
              <a:avLst/>
            </a:prstGeom>
            <a:solidFill>
              <a:srgbClr val="5E636A"/>
            </a:solidFill>
            <a:ln>
              <a:noFill/>
            </a:ln>
          </p:spPr>
          <p:txBody>
            <a:bodyPr rtlCol="0" anchor="ctr"/>
            <a:lstStyle/>
            <a:p>
              <a:pPr algn="ctr"/>
            </a:p>
          </p:txBody>
        </p:sp>
        <p:sp>
          <p:nvSpPr>
            <p:cNvPr id="24" name="Oval 23"/>
            <p:cNvSpPr/>
            <p:nvPr/>
          </p:nvSpPr>
          <p:spPr>
            <a:xfrm>
              <a:off x="8419186" y="4106904"/>
              <a:ext cx="111954" cy="83562"/>
            </a:xfrm>
            <a:prstGeom prst="ellipse">
              <a:avLst/>
            </a:prstGeom>
            <a:solidFill>
              <a:srgbClr val="5E636A"/>
            </a:solidFill>
            <a:ln>
              <a:noFill/>
            </a:ln>
          </p:spPr>
          <p:txBody>
            <a:bodyPr rtlCol="0" anchor="ctr"/>
            <a:lstStyle/>
            <a:p>
              <a:pPr algn="ctr"/>
            </a:p>
          </p:txBody>
        </p:sp>
        <p:sp>
          <p:nvSpPr>
            <p:cNvPr id="25" name="Oval 24"/>
            <p:cNvSpPr/>
            <p:nvPr/>
          </p:nvSpPr>
          <p:spPr>
            <a:xfrm>
              <a:off x="7275742" y="4423941"/>
              <a:ext cx="164393" cy="71161"/>
            </a:xfrm>
            <a:prstGeom prst="ellipse">
              <a:avLst/>
            </a:prstGeom>
            <a:solidFill>
              <a:srgbClr val="5E636A"/>
            </a:solidFill>
            <a:ln>
              <a:noFill/>
            </a:ln>
          </p:spPr>
          <p:txBody>
            <a:bodyPr rtlCol="0" anchor="ctr"/>
            <a:lstStyle/>
            <a:p>
              <a:pPr algn="ctr"/>
            </a:p>
          </p:txBody>
        </p:sp>
        <p:sp>
          <p:nvSpPr>
            <p:cNvPr id="26" name="Oval 25"/>
            <p:cNvSpPr/>
            <p:nvPr/>
          </p:nvSpPr>
          <p:spPr>
            <a:xfrm>
              <a:off x="6729380" y="4379710"/>
              <a:ext cx="137721" cy="74114"/>
            </a:xfrm>
            <a:prstGeom prst="ellipse">
              <a:avLst/>
            </a:prstGeom>
            <a:solidFill>
              <a:srgbClr val="5E636A"/>
            </a:solidFill>
            <a:ln>
              <a:noFill/>
            </a:ln>
          </p:spPr>
          <p:txBody>
            <a:bodyPr rtlCol="0" anchor="ctr"/>
            <a:lstStyle/>
            <a:p>
              <a:pPr algn="ctr"/>
            </a:p>
          </p:txBody>
        </p:sp>
        <p:sp>
          <p:nvSpPr>
            <p:cNvPr id="27" name="Oval 26"/>
            <p:cNvSpPr/>
            <p:nvPr/>
          </p:nvSpPr>
          <p:spPr>
            <a:xfrm>
              <a:off x="8931260" y="4332879"/>
              <a:ext cx="114898" cy="84437"/>
            </a:xfrm>
            <a:prstGeom prst="ellipse">
              <a:avLst/>
            </a:prstGeom>
            <a:solidFill>
              <a:srgbClr val="5E636A"/>
            </a:solidFill>
            <a:ln>
              <a:noFill/>
            </a:ln>
          </p:spPr>
          <p:txBody>
            <a:bodyPr rtlCol="0" anchor="ctr"/>
            <a:lstStyle/>
            <a:p>
              <a:pPr algn="ctr"/>
            </a:p>
          </p:txBody>
        </p:sp>
        <p:sp>
          <p:nvSpPr>
            <p:cNvPr id="28" name="Oval 27"/>
            <p:cNvSpPr/>
            <p:nvPr/>
          </p:nvSpPr>
          <p:spPr>
            <a:xfrm>
              <a:off x="6182392" y="4740135"/>
              <a:ext cx="95947" cy="72379"/>
            </a:xfrm>
            <a:prstGeom prst="ellipse">
              <a:avLst/>
            </a:prstGeom>
            <a:solidFill>
              <a:srgbClr val="5E636A"/>
            </a:solidFill>
            <a:ln>
              <a:noFill/>
            </a:ln>
          </p:spPr>
          <p:txBody>
            <a:bodyPr rtlCol="0" anchor="ctr"/>
            <a:lstStyle/>
            <a:p>
              <a:pPr algn="ctr"/>
            </a:p>
          </p:txBody>
        </p:sp>
        <p:sp>
          <p:nvSpPr>
            <p:cNvPr id="29" name="Oval 28"/>
            <p:cNvSpPr/>
            <p:nvPr/>
          </p:nvSpPr>
          <p:spPr>
            <a:xfrm>
              <a:off x="8446002" y="4636473"/>
              <a:ext cx="108808" cy="76117"/>
            </a:xfrm>
            <a:prstGeom prst="ellipse">
              <a:avLst/>
            </a:prstGeom>
            <a:solidFill>
              <a:srgbClr val="5E636A"/>
            </a:solidFill>
            <a:ln>
              <a:noFill/>
            </a:ln>
          </p:spPr>
          <p:txBody>
            <a:bodyPr rtlCol="0" anchor="ctr"/>
            <a:lstStyle/>
            <a:p>
              <a:pPr algn="ctr"/>
            </a:p>
          </p:txBody>
        </p:sp>
        <p:sp>
          <p:nvSpPr>
            <p:cNvPr id="30" name="Oval 29"/>
            <p:cNvSpPr/>
            <p:nvPr/>
          </p:nvSpPr>
          <p:spPr>
            <a:xfrm>
              <a:off x="7795630" y="4199918"/>
              <a:ext cx="94572" cy="89512"/>
            </a:xfrm>
            <a:prstGeom prst="ellipse">
              <a:avLst/>
            </a:prstGeom>
            <a:solidFill>
              <a:srgbClr val="5E636A"/>
            </a:solidFill>
            <a:ln>
              <a:noFill/>
            </a:ln>
          </p:spPr>
          <p:txBody>
            <a:bodyPr rtlCol="0" anchor="ctr"/>
            <a:lstStyle/>
            <a:p>
              <a:pPr algn="ctr"/>
            </a:p>
          </p:txBody>
        </p:sp>
        <p:sp>
          <p:nvSpPr>
            <p:cNvPr id="31" name="Oval 30"/>
            <p:cNvSpPr/>
            <p:nvPr/>
          </p:nvSpPr>
          <p:spPr>
            <a:xfrm>
              <a:off x="9943234" y="4720631"/>
              <a:ext cx="145198" cy="99116"/>
            </a:xfrm>
            <a:prstGeom prst="ellipse">
              <a:avLst/>
            </a:prstGeom>
            <a:solidFill>
              <a:srgbClr val="5E636A"/>
            </a:solidFill>
            <a:ln>
              <a:noFill/>
            </a:ln>
          </p:spPr>
          <p:txBody>
            <a:bodyPr rtlCol="0" anchor="ctr"/>
            <a:lstStyle/>
            <a:p>
              <a:pPr algn="ctr"/>
            </a:p>
          </p:txBody>
        </p:sp>
        <p:sp>
          <p:nvSpPr>
            <p:cNvPr id="32" name="Oval 31"/>
            <p:cNvSpPr/>
            <p:nvPr/>
          </p:nvSpPr>
          <p:spPr>
            <a:xfrm>
              <a:off x="7132840" y="4081923"/>
              <a:ext cx="162105" cy="92363"/>
            </a:xfrm>
            <a:prstGeom prst="ellipse">
              <a:avLst/>
            </a:prstGeom>
            <a:solidFill>
              <a:srgbClr val="5E636A"/>
            </a:solidFill>
            <a:ln>
              <a:noFill/>
            </a:ln>
          </p:spPr>
          <p:txBody>
            <a:bodyPr rtlCol="0" anchor="ctr"/>
            <a:lstStyle/>
            <a:p>
              <a:pPr algn="ctr"/>
            </a:p>
          </p:txBody>
        </p:sp>
        <p:sp>
          <p:nvSpPr>
            <p:cNvPr id="33" name="Oval 32"/>
            <p:cNvSpPr/>
            <p:nvPr/>
          </p:nvSpPr>
          <p:spPr>
            <a:xfrm>
              <a:off x="9725022" y="4368074"/>
              <a:ext cx="136832" cy="93925"/>
            </a:xfrm>
            <a:prstGeom prst="ellipse">
              <a:avLst/>
            </a:prstGeom>
            <a:solidFill>
              <a:srgbClr val="5E636A"/>
            </a:solidFill>
            <a:ln>
              <a:noFill/>
            </a:ln>
          </p:spPr>
          <p:txBody>
            <a:bodyPr rtlCol="0" anchor="ctr"/>
            <a:lstStyle/>
            <a:p>
              <a:pPr algn="ctr"/>
            </a:p>
          </p:txBody>
        </p:sp>
        <p:sp>
          <p:nvSpPr>
            <p:cNvPr id="34" name="Oval 33"/>
            <p:cNvSpPr/>
            <p:nvPr/>
          </p:nvSpPr>
          <p:spPr>
            <a:xfrm>
              <a:off x="6720145" y="4294936"/>
              <a:ext cx="123930" cy="68998"/>
            </a:xfrm>
            <a:prstGeom prst="ellipse">
              <a:avLst/>
            </a:prstGeom>
            <a:solidFill>
              <a:srgbClr val="5E636A"/>
            </a:solidFill>
            <a:ln>
              <a:noFill/>
            </a:ln>
          </p:spPr>
          <p:txBody>
            <a:bodyPr rtlCol="0" anchor="ctr"/>
            <a:lstStyle/>
            <a:p>
              <a:pPr algn="ctr"/>
            </a:p>
          </p:txBody>
        </p:sp>
        <p:sp>
          <p:nvSpPr>
            <p:cNvPr id="35" name="Oval 34"/>
            <p:cNvSpPr/>
            <p:nvPr/>
          </p:nvSpPr>
          <p:spPr>
            <a:xfrm>
              <a:off x="9799811" y="4361798"/>
              <a:ext cx="115676" cy="64352"/>
            </a:xfrm>
            <a:prstGeom prst="ellipse">
              <a:avLst/>
            </a:prstGeom>
            <a:solidFill>
              <a:srgbClr val="5E636A"/>
            </a:solidFill>
            <a:ln>
              <a:noFill/>
            </a:ln>
          </p:spPr>
          <p:txBody>
            <a:bodyPr rtlCol="0" anchor="ctr"/>
            <a:lstStyle/>
            <a:p>
              <a:pPr algn="ctr"/>
            </a:p>
          </p:txBody>
        </p:sp>
        <p:sp>
          <p:nvSpPr>
            <p:cNvPr id="36" name="Oval 35"/>
            <p:cNvSpPr/>
            <p:nvPr/>
          </p:nvSpPr>
          <p:spPr>
            <a:xfrm>
              <a:off x="6686982" y="4108933"/>
              <a:ext cx="148773" cy="77275"/>
            </a:xfrm>
            <a:prstGeom prst="ellipse">
              <a:avLst/>
            </a:prstGeom>
            <a:solidFill>
              <a:srgbClr val="5E636A"/>
            </a:solidFill>
            <a:ln>
              <a:noFill/>
            </a:ln>
          </p:spPr>
          <p:txBody>
            <a:bodyPr rtlCol="0" anchor="ctr"/>
            <a:lstStyle/>
            <a:p>
              <a:pPr algn="ctr"/>
            </a:p>
          </p:txBody>
        </p:sp>
        <p:sp>
          <p:nvSpPr>
            <p:cNvPr id="37" name="Oval 36"/>
            <p:cNvSpPr/>
            <p:nvPr/>
          </p:nvSpPr>
          <p:spPr>
            <a:xfrm>
              <a:off x="6328940" y="4287428"/>
              <a:ext cx="163257" cy="79514"/>
            </a:xfrm>
            <a:prstGeom prst="ellipse">
              <a:avLst/>
            </a:prstGeom>
            <a:solidFill>
              <a:srgbClr val="5E636A"/>
            </a:solidFill>
            <a:ln>
              <a:noFill/>
            </a:ln>
          </p:spPr>
          <p:txBody>
            <a:bodyPr rtlCol="0" anchor="ctr"/>
            <a:lstStyle/>
            <a:p>
              <a:pPr algn="ctr"/>
            </a:p>
          </p:txBody>
        </p:sp>
        <p:sp>
          <p:nvSpPr>
            <p:cNvPr id="38" name="Rectangle 37"/>
            <p:cNvSpPr/>
            <p:nvPr/>
          </p:nvSpPr>
          <p:spPr>
            <a:xfrm>
              <a:off x="6172200" y="3675888"/>
              <a:ext cx="3657600" cy="329184"/>
            </a:xfrm>
            <a:prstGeom prst="rect">
              <a:avLst/>
            </a:prstGeom>
            <a:solidFill>
              <a:srgbClr val="6B5B4B"/>
            </a:solidFill>
            <a:ln w="12700">
              <a:solidFill>
                <a:srgbClr val="4E4236"/>
              </a:solidFill>
            </a:ln>
          </p:spPr>
          <p:txBody>
            <a:bodyPr rtlCol="0" anchor="ctr"/>
            <a:lstStyle/>
            <a:p>
              <a:pPr algn="ctr"/>
            </a:p>
          </p:txBody>
        </p:sp>
        <p:sp>
          <p:nvSpPr>
            <p:cNvPr id="39" name="Freeform 38"/>
            <p:cNvSpPr/>
            <p:nvPr/>
          </p:nvSpPr>
          <p:spPr>
            <a:xfrm>
              <a:off x="6702552" y="3218688"/>
              <a:ext cx="493776" cy="457200"/>
            </a:xfrm>
            <a:custGeom>
              <a:avLst/>
              <a:gdLst/>
              <a:ahLst/>
              <a:cxnLst/>
              <a:rect l="l" t="t" r="r" b="b"/>
              <a:pathLst>
                <a:path w="493776" h="457200">
                  <a:moveTo>
                    <a:pt x="64008" y="0"/>
                  </a:moveTo>
                  <a:lnTo>
                    <a:pt x="429768" y="0"/>
                  </a:lnTo>
                  <a:lnTo>
                    <a:pt x="429768" y="146304"/>
                  </a:lnTo>
                  <a:lnTo>
                    <a:pt x="310896" y="146304"/>
                  </a:lnTo>
                  <a:lnTo>
                    <a:pt x="310896" y="384048"/>
                  </a:lnTo>
                  <a:lnTo>
                    <a:pt x="493776" y="384048"/>
                  </a:lnTo>
                  <a:lnTo>
                    <a:pt x="493776" y="457200"/>
                  </a:lnTo>
                  <a:lnTo>
                    <a:pt x="0" y="457200"/>
                  </a:lnTo>
                  <a:lnTo>
                    <a:pt x="0" y="384048"/>
                  </a:lnTo>
                  <a:lnTo>
                    <a:pt x="182880" y="384048"/>
                  </a:lnTo>
                  <a:lnTo>
                    <a:pt x="182880" y="146304"/>
                  </a:lnTo>
                  <a:lnTo>
                    <a:pt x="64008" y="146304"/>
                  </a:lnTo>
                  <a:close/>
                </a:path>
              </a:pathLst>
            </a:custGeom>
            <a:solidFill>
              <a:srgbClr val="9AA0A6"/>
            </a:solidFill>
            <a:ln w="9525">
              <a:solidFill>
                <a:srgbClr val="101418"/>
              </a:solidFill>
            </a:ln>
          </p:spPr>
          <p:txBody>
            <a:bodyPr rtlCol="0" anchor="ctr"/>
            <a:lstStyle/>
            <a:p>
              <a:pPr algn="ctr"/>
            </a:p>
          </p:txBody>
        </p:sp>
        <p:sp>
          <p:nvSpPr>
            <p:cNvPr id="40" name="Freeform 39"/>
            <p:cNvSpPr/>
            <p:nvPr/>
          </p:nvSpPr>
          <p:spPr>
            <a:xfrm>
              <a:off x="8805672" y="3218688"/>
              <a:ext cx="493776" cy="457200"/>
            </a:xfrm>
            <a:custGeom>
              <a:avLst/>
              <a:gdLst/>
              <a:ahLst/>
              <a:cxnLst/>
              <a:rect l="l" t="t" r="r" b="b"/>
              <a:pathLst>
                <a:path w="493776" h="457200">
                  <a:moveTo>
                    <a:pt x="64008" y="0"/>
                  </a:moveTo>
                  <a:lnTo>
                    <a:pt x="429768" y="0"/>
                  </a:lnTo>
                  <a:lnTo>
                    <a:pt x="429768" y="146304"/>
                  </a:lnTo>
                  <a:lnTo>
                    <a:pt x="310896" y="146304"/>
                  </a:lnTo>
                  <a:lnTo>
                    <a:pt x="310896" y="384048"/>
                  </a:lnTo>
                  <a:lnTo>
                    <a:pt x="493776" y="384048"/>
                  </a:lnTo>
                  <a:lnTo>
                    <a:pt x="493776" y="457200"/>
                  </a:lnTo>
                  <a:lnTo>
                    <a:pt x="0" y="457200"/>
                  </a:lnTo>
                  <a:lnTo>
                    <a:pt x="0" y="384048"/>
                  </a:lnTo>
                  <a:lnTo>
                    <a:pt x="182880" y="384048"/>
                  </a:lnTo>
                  <a:lnTo>
                    <a:pt x="182880" y="146304"/>
                  </a:lnTo>
                  <a:lnTo>
                    <a:pt x="64008" y="146304"/>
                  </a:lnTo>
                  <a:close/>
                </a:path>
              </a:pathLst>
            </a:custGeom>
            <a:solidFill>
              <a:srgbClr val="9AA0A6"/>
            </a:solidFill>
            <a:ln w="9525">
              <a:solidFill>
                <a:srgbClr val="101418"/>
              </a:solidFill>
            </a:ln>
          </p:spPr>
          <p:txBody>
            <a:bodyPr rtlCol="0" anchor="ctr"/>
            <a:lstStyle/>
            <a:p>
              <a:pPr algn="ctr"/>
            </a:p>
          </p:txBody>
        </p:sp>
        <p:cxnSp>
          <p:nvCxnSpPr>
            <p:cNvPr id="41" name="Connector 40"/>
            <p:cNvCxnSpPr/>
            <p:nvPr/>
          </p:nvCxnSpPr>
          <p:spPr>
            <a:xfrm>
              <a:off x="7132320" y="3017520"/>
              <a:ext cx="1737360" cy="0"/>
            </a:xfrm>
            <a:prstGeom prst="line">
              <a:avLst/>
            </a:prstGeom>
            <a:ln w="28575">
              <a:solidFill>
                <a:srgbClr val="F28C28"/>
              </a:solidFill>
              <a:headEnd type="triangle" w="med" len="med"/>
              <a:tailEnd type="triangle" w="med" len="med"/>
            </a:ln>
          </p:spPr>
        </p:cxnSp>
      </p:grpSp>
      <p:sp>
        <p:nvSpPr>
          <p:cNvPr id="42" name="TextBox 41"/>
          <p:cNvSpPr txBox="1"/>
          <p:nvPr/>
        </p:nvSpPr>
        <p:spPr>
          <a:xfrm>
            <a:off x="5623560" y="2331720"/>
            <a:ext cx="4754880" cy="548640"/>
          </a:xfrm>
          <a:prstGeom prst="rect">
            <a:avLst/>
          </a:prstGeom>
          <a:noFill/>
        </p:spPr>
        <p:txBody>
          <a:bodyPr wrap="square" lIns="0" tIns="0" rIns="0" bIns="0" anchor="b">
            <a:noAutofit/>
          </a:bodyPr>
          <a:lstStyle/>
          <a:p>
            <a:pPr algn="ctr"/>
            <a:r>
              <a:rPr sz="1800" b="1" i="0" lang="en-GB">
                <a:solidFill>
                  <a:srgbClr val="F2F2F2"/>
                </a:solidFill>
                <a:latin typeface="Arial"/>
              </a:rPr>
              <a:t>Gauge:</a:t>
            </a:r>
            <a:r>
              <a:rPr sz="1800" b="0" i="0" lang="en-GB">
                <a:solidFill>
                  <a:srgbClr val="F2F2F2"/>
                </a:solidFill>
                <a:latin typeface="Arial"/>
              </a:rPr>
              <a:t> 1,435 mm on most railways</a:t>
            </a:r>
          </a:p>
        </p:txBody>
      </p:sp>
      <p:grpSp>
        <p:nvGrpSpPr>
          <p:cNvPr id="43" name="Label Rail" descr="Label: Rail"/>
          <p:cNvGrpSpPr/>
          <p:nvPr/>
        </p:nvGrpSpPr>
        <p:grpSpPr>
          <a:xfrm>
            <a:off x="9326880" y="3108960"/>
            <a:ext cx="2350008" cy="365760"/>
            <a:chOff x="9326880" y="3108960"/>
            <a:chExt cx="2350008" cy="365760"/>
          </a:xfrm>
        </p:grpSpPr>
        <p:cxnSp>
          <p:nvCxnSpPr>
            <p:cNvPr id="44" name="Connector 43"/>
            <p:cNvCxnSpPr/>
            <p:nvPr/>
          </p:nvCxnSpPr>
          <p:spPr>
            <a:xfrm>
              <a:off x="9326880" y="3291840"/>
              <a:ext cx="1417320" cy="0"/>
            </a:xfrm>
            <a:prstGeom prst="line">
              <a:avLst/>
            </a:prstGeom>
            <a:ln w="19050">
              <a:solidFill>
                <a:srgbClr val="F28C28"/>
              </a:solidFill>
            </a:ln>
          </p:spPr>
        </p:cxnSp>
        <p:sp>
          <p:nvSpPr>
            <p:cNvPr id="45" name="TextBox 44"/>
            <p:cNvSpPr txBox="1"/>
            <p:nvPr/>
          </p:nvSpPr>
          <p:spPr>
            <a:xfrm>
              <a:off x="10808208" y="3108960"/>
              <a:ext cx="868680" cy="365760"/>
            </a:xfrm>
            <a:prstGeom prst="rect">
              <a:avLst/>
            </a:prstGeom>
            <a:noFill/>
          </p:spPr>
          <p:txBody>
            <a:bodyPr wrap="square" lIns="0" tIns="0" rIns="0" bIns="0" anchor="ctr">
              <a:noAutofit/>
            </a:bodyPr>
            <a:lstStyle/>
            <a:p>
              <a:pPr algn="l"/>
              <a:r>
                <a:rPr sz="1800" b="0" i="0" lang="en-GB">
                  <a:solidFill>
                    <a:srgbClr val="F2F2F2"/>
                  </a:solidFill>
                  <a:latin typeface="Arial"/>
                </a:rPr>
                <a:t>Rail</a:t>
              </a:r>
            </a:p>
          </p:txBody>
        </p:sp>
      </p:grpSp>
      <p:grpSp>
        <p:nvGrpSpPr>
          <p:cNvPr id="46" name="Label Sleeper" descr="Label: Sleeper"/>
          <p:cNvGrpSpPr/>
          <p:nvPr/>
        </p:nvGrpSpPr>
        <p:grpSpPr>
          <a:xfrm>
            <a:off x="9875520" y="3657600"/>
            <a:ext cx="1801368" cy="365760"/>
            <a:chOff x="9875520" y="3657600"/>
            <a:chExt cx="1801368" cy="365760"/>
          </a:xfrm>
        </p:grpSpPr>
        <p:cxnSp>
          <p:nvCxnSpPr>
            <p:cNvPr id="47" name="Connector 46"/>
            <p:cNvCxnSpPr/>
            <p:nvPr/>
          </p:nvCxnSpPr>
          <p:spPr>
            <a:xfrm>
              <a:off x="9875520" y="3840480"/>
              <a:ext cx="868680" cy="0"/>
            </a:xfrm>
            <a:prstGeom prst="line">
              <a:avLst/>
            </a:prstGeom>
            <a:ln w="19050">
              <a:solidFill>
                <a:srgbClr val="F28C28"/>
              </a:solidFill>
            </a:ln>
          </p:spPr>
        </p:cxnSp>
        <p:sp>
          <p:nvSpPr>
            <p:cNvPr id="48" name="TextBox 47"/>
            <p:cNvSpPr txBox="1"/>
            <p:nvPr/>
          </p:nvSpPr>
          <p:spPr>
            <a:xfrm>
              <a:off x="10808208" y="3657600"/>
              <a:ext cx="868680" cy="365760"/>
            </a:xfrm>
            <a:prstGeom prst="rect">
              <a:avLst/>
            </a:prstGeom>
            <a:noFill/>
          </p:spPr>
          <p:txBody>
            <a:bodyPr wrap="square" lIns="0" tIns="0" rIns="0" bIns="0" anchor="ctr">
              <a:noAutofit/>
            </a:bodyPr>
            <a:lstStyle/>
            <a:p>
              <a:pPr algn="l"/>
              <a:r>
                <a:rPr sz="1800" b="0" i="0" lang="en-GB">
                  <a:solidFill>
                    <a:srgbClr val="F2F2F2"/>
                  </a:solidFill>
                  <a:latin typeface="Arial"/>
                </a:rPr>
                <a:t>Sleeper</a:t>
              </a:r>
            </a:p>
          </p:txBody>
        </p:sp>
      </p:grpSp>
      <p:grpSp>
        <p:nvGrpSpPr>
          <p:cNvPr id="49" name="Label Ballast" descr="Label: Ballast"/>
          <p:cNvGrpSpPr/>
          <p:nvPr/>
        </p:nvGrpSpPr>
        <p:grpSpPr>
          <a:xfrm>
            <a:off x="10287000" y="4343400"/>
            <a:ext cx="1389888" cy="365760"/>
            <a:chOff x="10287000" y="4343400"/>
            <a:chExt cx="1389888" cy="365760"/>
          </a:xfrm>
        </p:grpSpPr>
        <p:cxnSp>
          <p:nvCxnSpPr>
            <p:cNvPr id="50" name="Connector 49"/>
            <p:cNvCxnSpPr/>
            <p:nvPr/>
          </p:nvCxnSpPr>
          <p:spPr>
            <a:xfrm>
              <a:off x="10287000" y="4526280"/>
              <a:ext cx="457200" cy="0"/>
            </a:xfrm>
            <a:prstGeom prst="line">
              <a:avLst/>
            </a:prstGeom>
            <a:ln w="19050">
              <a:solidFill>
                <a:srgbClr val="F28C28"/>
              </a:solidFill>
            </a:ln>
          </p:spPr>
        </p:cxnSp>
        <p:sp>
          <p:nvSpPr>
            <p:cNvPr id="51" name="TextBox 50"/>
            <p:cNvSpPr txBox="1"/>
            <p:nvPr/>
          </p:nvSpPr>
          <p:spPr>
            <a:xfrm>
              <a:off x="10808208" y="4343400"/>
              <a:ext cx="868680" cy="365760"/>
            </a:xfrm>
            <a:prstGeom prst="rect">
              <a:avLst/>
            </a:prstGeom>
            <a:noFill/>
          </p:spPr>
          <p:txBody>
            <a:bodyPr wrap="square" lIns="0" tIns="0" rIns="0" bIns="0" anchor="ctr">
              <a:noAutofit/>
            </a:bodyPr>
            <a:lstStyle/>
            <a:p>
              <a:pPr algn="l"/>
              <a:r>
                <a:rPr sz="1800" b="0" i="0" lang="en-GB">
                  <a:solidFill>
                    <a:srgbClr val="F2F2F2"/>
                  </a:solidFill>
                  <a:latin typeface="Arial"/>
                </a:rPr>
                <a:t>Ballast</a:t>
              </a:r>
            </a:p>
          </p:txBody>
        </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Two steel rails sit on sleepers over stone ballast. The sleepers keep the rails the right distance apart.</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How a steam engine works</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grpSp>
        <p:nvGrpSpPr>
          <p:cNvPr id="8" name="Steam engine cutaway" descr="Side cutaway of a steam engine: a fire in the firebox heats water in the long boiler; steam drives a piston in the cylinder; rods turn the wheels; used steam leaves through the chimney."/>
          <p:cNvGrpSpPr/>
          <p:nvPr/>
        </p:nvGrpSpPr>
        <p:grpSpPr>
          <a:xfrm>
            <a:off x="548640" y="1217981"/>
            <a:ext cx="7406640" cy="3838651"/>
            <a:chOff x="548640" y="1217981"/>
            <a:chExt cx="7406640" cy="3838651"/>
          </a:xfrm>
        </p:grpSpPr>
        <p:sp>
          <p:nvSpPr>
            <p:cNvPr id="9" name="Rectangle 8"/>
            <p:cNvSpPr/>
            <p:nvPr/>
          </p:nvSpPr>
          <p:spPr>
            <a:xfrm>
              <a:off x="548640" y="4983480"/>
              <a:ext cx="7406640" cy="73152"/>
            </a:xfrm>
            <a:prstGeom prst="rect">
              <a:avLst/>
            </a:prstGeom>
            <a:solidFill>
              <a:srgbClr val="9AA0A6"/>
            </a:solidFill>
            <a:ln>
              <a:noFill/>
            </a:ln>
          </p:spPr>
          <p:txBody>
            <a:bodyPr rtlCol="0" anchor="ctr"/>
            <a:lstStyle/>
            <a:p>
              <a:pPr algn="ctr"/>
            </a:p>
          </p:txBody>
        </p:sp>
        <p:sp>
          <p:nvSpPr>
            <p:cNvPr id="10" name="Rectangle 9"/>
            <p:cNvSpPr/>
            <p:nvPr/>
          </p:nvSpPr>
          <p:spPr>
            <a:xfrm>
              <a:off x="685800" y="2011680"/>
              <a:ext cx="1417320" cy="2103120"/>
            </a:xfrm>
            <a:prstGeom prst="rect">
              <a:avLst/>
            </a:prstGeom>
            <a:solidFill>
              <a:srgbClr val="343A43"/>
            </a:solidFill>
            <a:ln w="19050">
              <a:solidFill>
                <a:srgbClr val="9AA0A6"/>
              </a:solidFill>
            </a:ln>
          </p:spPr>
          <p:txBody>
            <a:bodyPr rtlCol="0" anchor="ctr"/>
            <a:lstStyle/>
            <a:p>
              <a:pPr algn="ctr"/>
            </a:p>
          </p:txBody>
        </p:sp>
        <p:sp>
          <p:nvSpPr>
            <p:cNvPr id="11" name="Rectangle 10"/>
            <p:cNvSpPr/>
            <p:nvPr/>
          </p:nvSpPr>
          <p:spPr>
            <a:xfrm>
              <a:off x="594360" y="1920240"/>
              <a:ext cx="1600200" cy="128016"/>
            </a:xfrm>
            <a:prstGeom prst="rect">
              <a:avLst/>
            </a:prstGeom>
            <a:solidFill>
              <a:srgbClr val="9AA0A6"/>
            </a:solidFill>
            <a:ln>
              <a:noFill/>
            </a:ln>
          </p:spPr>
          <p:txBody>
            <a:bodyPr rtlCol="0" anchor="ctr"/>
            <a:lstStyle/>
            <a:p>
              <a:pPr algn="ctr"/>
            </a:p>
          </p:txBody>
        </p:sp>
        <p:sp>
          <p:nvSpPr>
            <p:cNvPr id="12" name="Rectangle 11"/>
            <p:cNvSpPr/>
            <p:nvPr/>
          </p:nvSpPr>
          <p:spPr>
            <a:xfrm>
              <a:off x="868680" y="2240280"/>
              <a:ext cx="548640" cy="457200"/>
            </a:xfrm>
            <a:prstGeom prst="rect">
              <a:avLst/>
            </a:prstGeom>
            <a:solidFill>
              <a:srgbClr val="2B2F36"/>
            </a:solidFill>
            <a:ln w="12700">
              <a:solidFill>
                <a:srgbClr val="9AA0A6"/>
              </a:solidFill>
            </a:ln>
          </p:spPr>
          <p:txBody>
            <a:bodyPr rtlCol="0" anchor="ctr"/>
            <a:lstStyle/>
            <a:p>
              <a:pPr algn="ctr"/>
            </a:p>
          </p:txBody>
        </p:sp>
        <p:sp>
          <p:nvSpPr>
            <p:cNvPr id="13" name="Rounded Rectangle 12"/>
            <p:cNvSpPr/>
            <p:nvPr/>
          </p:nvSpPr>
          <p:spPr>
            <a:xfrm>
              <a:off x="1143000" y="3017520"/>
              <a:ext cx="960120" cy="1051560"/>
            </a:xfrm>
            <a:prstGeom prst="roundRect">
              <a:avLst>
                <a:gd name="adj" fmla="val 7619"/>
              </a:avLst>
            </a:prstGeom>
            <a:solidFill>
              <a:srgbClr val="5A2E12"/>
            </a:solidFill>
            <a:ln w="25400">
              <a:solidFill>
                <a:srgbClr val="F28C28"/>
              </a:solidFill>
            </a:ln>
          </p:spPr>
          <p:txBody>
            <a:bodyPr rtlCol="0" anchor="ctr"/>
            <a:lstStyle/>
            <a:p>
              <a:pPr algn="ctr"/>
            </a:p>
          </p:txBody>
        </p:sp>
        <p:sp>
          <p:nvSpPr>
            <p:cNvPr id="14" name="Freeform 13"/>
            <p:cNvSpPr/>
            <p:nvPr/>
          </p:nvSpPr>
          <p:spPr>
            <a:xfrm>
              <a:off x="1197864" y="3520440"/>
              <a:ext cx="256032" cy="502920"/>
            </a:xfrm>
            <a:custGeom>
              <a:avLst/>
              <a:gdLst/>
              <a:ahLst/>
              <a:cxnLst/>
              <a:rect l="l" t="t" r="r" b="b"/>
              <a:pathLst>
                <a:path w="256032" h="502920">
                  <a:moveTo>
                    <a:pt x="0" y="502920"/>
                  </a:moveTo>
                  <a:lnTo>
                    <a:pt x="256032" y="502920"/>
                  </a:lnTo>
                  <a:lnTo>
                    <a:pt x="128016" y="0"/>
                  </a:lnTo>
                  <a:close/>
                </a:path>
              </a:pathLst>
            </a:custGeom>
            <a:solidFill>
              <a:srgbClr val="F28C28"/>
            </a:solidFill>
            <a:ln>
              <a:noFill/>
            </a:ln>
          </p:spPr>
          <p:txBody>
            <a:bodyPr rtlCol="0" anchor="ctr"/>
            <a:lstStyle/>
            <a:p>
              <a:pPr algn="ctr"/>
            </a:p>
          </p:txBody>
        </p:sp>
        <p:sp>
          <p:nvSpPr>
            <p:cNvPr id="15" name="Freeform 14"/>
            <p:cNvSpPr/>
            <p:nvPr/>
          </p:nvSpPr>
          <p:spPr>
            <a:xfrm>
              <a:off x="1261872" y="3746754"/>
              <a:ext cx="128016" cy="276606"/>
            </a:xfrm>
            <a:custGeom>
              <a:avLst/>
              <a:gdLst/>
              <a:ahLst/>
              <a:cxnLst/>
              <a:rect l="l" t="t" r="r" b="b"/>
              <a:pathLst>
                <a:path w="128016" h="276606">
                  <a:moveTo>
                    <a:pt x="0" y="276606"/>
                  </a:moveTo>
                  <a:lnTo>
                    <a:pt x="128016" y="276606"/>
                  </a:lnTo>
                  <a:lnTo>
                    <a:pt x="64008" y="0"/>
                  </a:lnTo>
                  <a:close/>
                </a:path>
              </a:pathLst>
            </a:custGeom>
            <a:solidFill>
              <a:srgbClr val="F2C14E"/>
            </a:solidFill>
            <a:ln>
              <a:noFill/>
            </a:ln>
          </p:spPr>
          <p:txBody>
            <a:bodyPr rtlCol="0" anchor="ctr"/>
            <a:lstStyle/>
            <a:p>
              <a:pPr algn="ctr"/>
            </a:p>
          </p:txBody>
        </p:sp>
        <p:sp>
          <p:nvSpPr>
            <p:cNvPr id="16" name="Freeform 15"/>
            <p:cNvSpPr/>
            <p:nvPr/>
          </p:nvSpPr>
          <p:spPr>
            <a:xfrm>
              <a:off x="1444752" y="3337560"/>
              <a:ext cx="256032" cy="685800"/>
            </a:xfrm>
            <a:custGeom>
              <a:avLst/>
              <a:gdLst/>
              <a:ahLst/>
              <a:cxnLst/>
              <a:rect l="l" t="t" r="r" b="b"/>
              <a:pathLst>
                <a:path w="256032" h="685800">
                  <a:moveTo>
                    <a:pt x="0" y="685800"/>
                  </a:moveTo>
                  <a:lnTo>
                    <a:pt x="256032" y="685800"/>
                  </a:lnTo>
                  <a:lnTo>
                    <a:pt x="128016" y="0"/>
                  </a:lnTo>
                  <a:close/>
                </a:path>
              </a:pathLst>
            </a:custGeom>
            <a:solidFill>
              <a:srgbClr val="F28C28"/>
            </a:solidFill>
            <a:ln>
              <a:noFill/>
            </a:ln>
          </p:spPr>
          <p:txBody>
            <a:bodyPr rtlCol="0" anchor="ctr"/>
            <a:lstStyle/>
            <a:p>
              <a:pPr algn="ctr"/>
            </a:p>
          </p:txBody>
        </p:sp>
        <p:sp>
          <p:nvSpPr>
            <p:cNvPr id="17" name="Freeform 16"/>
            <p:cNvSpPr/>
            <p:nvPr/>
          </p:nvSpPr>
          <p:spPr>
            <a:xfrm>
              <a:off x="1508760" y="3646170"/>
              <a:ext cx="128016" cy="377190"/>
            </a:xfrm>
            <a:custGeom>
              <a:avLst/>
              <a:gdLst/>
              <a:ahLst/>
              <a:cxnLst/>
              <a:rect l="l" t="t" r="r" b="b"/>
              <a:pathLst>
                <a:path w="128016" h="377190">
                  <a:moveTo>
                    <a:pt x="0" y="377190"/>
                  </a:moveTo>
                  <a:lnTo>
                    <a:pt x="128016" y="377190"/>
                  </a:lnTo>
                  <a:lnTo>
                    <a:pt x="64008" y="0"/>
                  </a:lnTo>
                  <a:close/>
                </a:path>
              </a:pathLst>
            </a:custGeom>
            <a:solidFill>
              <a:srgbClr val="F2C14E"/>
            </a:solidFill>
            <a:ln>
              <a:noFill/>
            </a:ln>
          </p:spPr>
          <p:txBody>
            <a:bodyPr rtlCol="0" anchor="ctr"/>
            <a:lstStyle/>
            <a:p>
              <a:pPr algn="ctr"/>
            </a:p>
          </p:txBody>
        </p:sp>
        <p:sp>
          <p:nvSpPr>
            <p:cNvPr id="18" name="Freeform 17"/>
            <p:cNvSpPr/>
            <p:nvPr/>
          </p:nvSpPr>
          <p:spPr>
            <a:xfrm>
              <a:off x="1700784" y="3566160"/>
              <a:ext cx="256032" cy="457200"/>
            </a:xfrm>
            <a:custGeom>
              <a:avLst/>
              <a:gdLst/>
              <a:ahLst/>
              <a:cxnLst/>
              <a:rect l="l" t="t" r="r" b="b"/>
              <a:pathLst>
                <a:path w="256032" h="457200">
                  <a:moveTo>
                    <a:pt x="0" y="457200"/>
                  </a:moveTo>
                  <a:lnTo>
                    <a:pt x="256032" y="457200"/>
                  </a:lnTo>
                  <a:lnTo>
                    <a:pt x="128016" y="0"/>
                  </a:lnTo>
                  <a:close/>
                </a:path>
              </a:pathLst>
            </a:custGeom>
            <a:solidFill>
              <a:srgbClr val="F28C28"/>
            </a:solidFill>
            <a:ln>
              <a:noFill/>
            </a:ln>
          </p:spPr>
          <p:txBody>
            <a:bodyPr rtlCol="0" anchor="ctr"/>
            <a:lstStyle/>
            <a:p>
              <a:pPr algn="ctr"/>
            </a:p>
          </p:txBody>
        </p:sp>
        <p:sp>
          <p:nvSpPr>
            <p:cNvPr id="19" name="Freeform 18"/>
            <p:cNvSpPr/>
            <p:nvPr/>
          </p:nvSpPr>
          <p:spPr>
            <a:xfrm>
              <a:off x="1764792" y="3771900"/>
              <a:ext cx="128016" cy="251460"/>
            </a:xfrm>
            <a:custGeom>
              <a:avLst/>
              <a:gdLst/>
              <a:ahLst/>
              <a:cxnLst/>
              <a:rect l="l" t="t" r="r" b="b"/>
              <a:pathLst>
                <a:path w="128016" h="251460">
                  <a:moveTo>
                    <a:pt x="0" y="251460"/>
                  </a:moveTo>
                  <a:lnTo>
                    <a:pt x="128016" y="251460"/>
                  </a:lnTo>
                  <a:lnTo>
                    <a:pt x="64008" y="0"/>
                  </a:lnTo>
                  <a:close/>
                </a:path>
              </a:pathLst>
            </a:custGeom>
            <a:solidFill>
              <a:srgbClr val="F2C14E"/>
            </a:solidFill>
            <a:ln>
              <a:noFill/>
            </a:ln>
          </p:spPr>
          <p:txBody>
            <a:bodyPr rtlCol="0" anchor="ctr"/>
            <a:lstStyle/>
            <a:p>
              <a:pPr algn="ctr"/>
            </a:p>
          </p:txBody>
        </p:sp>
        <p:sp>
          <p:nvSpPr>
            <p:cNvPr id="20" name="Rounded Rectangle 19"/>
            <p:cNvSpPr/>
            <p:nvPr/>
          </p:nvSpPr>
          <p:spPr>
            <a:xfrm>
              <a:off x="2103120" y="2514600"/>
              <a:ext cx="4846320" cy="1463040"/>
            </a:xfrm>
            <a:prstGeom prst="roundRect">
              <a:avLst>
                <a:gd name="adj" fmla="val 18749"/>
              </a:avLst>
            </a:prstGeom>
            <a:solidFill>
              <a:srgbClr val="2B2F36"/>
            </a:solidFill>
            <a:ln w="25400">
              <a:solidFill>
                <a:srgbClr val="9AA0A6"/>
              </a:solidFill>
            </a:ln>
          </p:spPr>
          <p:txBody>
            <a:bodyPr rtlCol="0" anchor="ctr"/>
            <a:lstStyle/>
            <a:p>
              <a:pPr algn="ctr"/>
            </a:p>
          </p:txBody>
        </p:sp>
        <p:sp>
          <p:nvSpPr>
            <p:cNvPr id="21" name="Rounded Rectangle 20"/>
            <p:cNvSpPr/>
            <p:nvPr/>
          </p:nvSpPr>
          <p:spPr>
            <a:xfrm>
              <a:off x="2212848" y="3246120"/>
              <a:ext cx="4626864" cy="621792"/>
            </a:xfrm>
            <a:prstGeom prst="roundRect">
              <a:avLst>
                <a:gd name="adj" fmla="val 17647"/>
              </a:avLst>
            </a:prstGeom>
            <a:solidFill>
              <a:srgbClr val="4DA3FF"/>
            </a:solidFill>
            <a:ln>
              <a:noFill/>
            </a:ln>
          </p:spPr>
          <p:txBody>
            <a:bodyPr rtlCol="0" anchor="ctr"/>
            <a:lstStyle/>
            <a:p>
              <a:pPr algn="ctr"/>
            </a:p>
          </p:txBody>
        </p:sp>
        <p:sp>
          <p:nvSpPr>
            <p:cNvPr id="22" name="Oval 21"/>
            <p:cNvSpPr/>
            <p:nvPr/>
          </p:nvSpPr>
          <p:spPr>
            <a:xfrm>
              <a:off x="2606040" y="2807208"/>
              <a:ext cx="457200" cy="237744"/>
            </a:xfrm>
            <a:prstGeom prst="ellipse">
              <a:avLst/>
            </a:prstGeom>
            <a:solidFill>
              <a:srgbClr val="D4D5D6"/>
            </a:solidFill>
            <a:ln>
              <a:noFill/>
            </a:ln>
          </p:spPr>
          <p:txBody>
            <a:bodyPr rtlCol="0" anchor="ctr"/>
            <a:lstStyle/>
            <a:p>
              <a:pPr algn="ctr"/>
            </a:p>
          </p:txBody>
        </p:sp>
        <p:sp>
          <p:nvSpPr>
            <p:cNvPr id="23" name="Oval 22"/>
            <p:cNvSpPr/>
            <p:nvPr/>
          </p:nvSpPr>
          <p:spPr>
            <a:xfrm>
              <a:off x="3429000" y="2734056"/>
              <a:ext cx="457200" cy="237744"/>
            </a:xfrm>
            <a:prstGeom prst="ellipse">
              <a:avLst/>
            </a:prstGeom>
            <a:solidFill>
              <a:srgbClr val="D4D5D6"/>
            </a:solidFill>
            <a:ln>
              <a:noFill/>
            </a:ln>
          </p:spPr>
          <p:txBody>
            <a:bodyPr rtlCol="0" anchor="ctr"/>
            <a:lstStyle/>
            <a:p>
              <a:pPr algn="ctr"/>
            </a:p>
          </p:txBody>
        </p:sp>
        <p:sp>
          <p:nvSpPr>
            <p:cNvPr id="24" name="Oval 23"/>
            <p:cNvSpPr/>
            <p:nvPr/>
          </p:nvSpPr>
          <p:spPr>
            <a:xfrm>
              <a:off x="4251960" y="2825496"/>
              <a:ext cx="457200" cy="237744"/>
            </a:xfrm>
            <a:prstGeom prst="ellipse">
              <a:avLst/>
            </a:prstGeom>
            <a:solidFill>
              <a:srgbClr val="D4D5D6"/>
            </a:solidFill>
            <a:ln>
              <a:noFill/>
            </a:ln>
          </p:spPr>
          <p:txBody>
            <a:bodyPr rtlCol="0" anchor="ctr"/>
            <a:lstStyle/>
            <a:p>
              <a:pPr algn="ctr"/>
            </a:p>
          </p:txBody>
        </p:sp>
        <p:sp>
          <p:nvSpPr>
            <p:cNvPr id="25" name="Oval 24"/>
            <p:cNvSpPr/>
            <p:nvPr/>
          </p:nvSpPr>
          <p:spPr>
            <a:xfrm>
              <a:off x="5074920" y="2734056"/>
              <a:ext cx="457200" cy="237744"/>
            </a:xfrm>
            <a:prstGeom prst="ellipse">
              <a:avLst/>
            </a:prstGeom>
            <a:solidFill>
              <a:srgbClr val="D4D5D6"/>
            </a:solidFill>
            <a:ln>
              <a:noFill/>
            </a:ln>
          </p:spPr>
          <p:txBody>
            <a:bodyPr rtlCol="0" anchor="ctr"/>
            <a:lstStyle/>
            <a:p>
              <a:pPr algn="ctr"/>
            </a:p>
          </p:txBody>
        </p:sp>
        <p:sp>
          <p:nvSpPr>
            <p:cNvPr id="26" name="Oval 25"/>
            <p:cNvSpPr/>
            <p:nvPr/>
          </p:nvSpPr>
          <p:spPr>
            <a:xfrm>
              <a:off x="5897880" y="2807208"/>
              <a:ext cx="457200" cy="237744"/>
            </a:xfrm>
            <a:prstGeom prst="ellipse">
              <a:avLst/>
            </a:prstGeom>
            <a:solidFill>
              <a:srgbClr val="D4D5D6"/>
            </a:solidFill>
            <a:ln>
              <a:noFill/>
            </a:ln>
          </p:spPr>
          <p:txBody>
            <a:bodyPr rtlCol="0" anchor="ctr"/>
            <a:lstStyle/>
            <a:p>
              <a:pPr algn="ctr"/>
            </a:p>
          </p:txBody>
        </p:sp>
        <p:sp>
          <p:nvSpPr>
            <p:cNvPr id="27" name="Rectangle 26"/>
            <p:cNvSpPr/>
            <p:nvPr/>
          </p:nvSpPr>
          <p:spPr>
            <a:xfrm>
              <a:off x="6949440" y="2514600"/>
              <a:ext cx="502920" cy="1463040"/>
            </a:xfrm>
            <a:prstGeom prst="rect">
              <a:avLst/>
            </a:prstGeom>
            <a:solidFill>
              <a:srgbClr val="1B1D21"/>
            </a:solidFill>
            <a:ln w="19050">
              <a:solidFill>
                <a:srgbClr val="9AA0A6"/>
              </a:solidFill>
            </a:ln>
          </p:spPr>
          <p:txBody>
            <a:bodyPr rtlCol="0" anchor="ctr"/>
            <a:lstStyle/>
            <a:p>
              <a:pPr algn="ctr"/>
            </a:p>
          </p:txBody>
        </p:sp>
        <p:sp>
          <p:nvSpPr>
            <p:cNvPr id="28" name="Rectangle 27"/>
            <p:cNvSpPr/>
            <p:nvPr/>
          </p:nvSpPr>
          <p:spPr>
            <a:xfrm>
              <a:off x="6537960" y="1874520"/>
              <a:ext cx="347472" cy="658368"/>
            </a:xfrm>
            <a:prstGeom prst="rect">
              <a:avLst/>
            </a:prstGeom>
            <a:solidFill>
              <a:srgbClr val="1B1D21"/>
            </a:solidFill>
            <a:ln w="19050">
              <a:solidFill>
                <a:srgbClr val="9AA0A6"/>
              </a:solidFill>
            </a:ln>
          </p:spPr>
          <p:txBody>
            <a:bodyPr rtlCol="0" anchor="ctr"/>
            <a:lstStyle/>
            <a:p>
              <a:pPr algn="ctr"/>
            </a:p>
          </p:txBody>
        </p:sp>
        <p:sp>
          <p:nvSpPr>
            <p:cNvPr id="29" name="Oval 28"/>
            <p:cNvSpPr/>
            <p:nvPr/>
          </p:nvSpPr>
          <p:spPr>
            <a:xfrm>
              <a:off x="6620256" y="1565453"/>
              <a:ext cx="329184" cy="197510"/>
            </a:xfrm>
            <a:prstGeom prst="ellipse">
              <a:avLst/>
            </a:prstGeom>
            <a:solidFill>
              <a:srgbClr val="D2D3D3"/>
            </a:solidFill>
            <a:ln>
              <a:noFill/>
            </a:ln>
          </p:spPr>
          <p:txBody>
            <a:bodyPr rtlCol="0" anchor="ctr"/>
            <a:lstStyle/>
            <a:p>
              <a:pPr algn="ctr"/>
            </a:p>
          </p:txBody>
        </p:sp>
        <p:sp>
          <p:nvSpPr>
            <p:cNvPr id="30" name="Oval 29"/>
            <p:cNvSpPr/>
            <p:nvPr/>
          </p:nvSpPr>
          <p:spPr>
            <a:xfrm>
              <a:off x="6848856" y="1355141"/>
              <a:ext cx="420624" cy="252374"/>
            </a:xfrm>
            <a:prstGeom prst="ellipse">
              <a:avLst/>
            </a:prstGeom>
            <a:solidFill>
              <a:srgbClr val="D2D3D3"/>
            </a:solidFill>
            <a:ln>
              <a:noFill/>
            </a:ln>
          </p:spPr>
          <p:txBody>
            <a:bodyPr rtlCol="0" anchor="ctr"/>
            <a:lstStyle/>
            <a:p>
              <a:pPr algn="ctr"/>
            </a:p>
          </p:txBody>
        </p:sp>
        <p:sp>
          <p:nvSpPr>
            <p:cNvPr id="31" name="Oval 30"/>
            <p:cNvSpPr/>
            <p:nvPr/>
          </p:nvSpPr>
          <p:spPr>
            <a:xfrm>
              <a:off x="7168896" y="1217981"/>
              <a:ext cx="512064" cy="307238"/>
            </a:xfrm>
            <a:prstGeom prst="ellipse">
              <a:avLst/>
            </a:prstGeom>
            <a:solidFill>
              <a:srgbClr val="D2D3D3"/>
            </a:solidFill>
            <a:ln>
              <a:noFill/>
            </a:ln>
          </p:spPr>
          <p:txBody>
            <a:bodyPr rtlCol="0" anchor="ctr"/>
            <a:lstStyle/>
            <a:p>
              <a:pPr algn="ctr"/>
            </a:p>
          </p:txBody>
        </p:sp>
        <p:sp>
          <p:nvSpPr>
            <p:cNvPr id="32" name="Rectangle 31"/>
            <p:cNvSpPr/>
            <p:nvPr/>
          </p:nvSpPr>
          <p:spPr>
            <a:xfrm>
              <a:off x="2103120" y="4023360"/>
              <a:ext cx="5349240" cy="109728"/>
            </a:xfrm>
            <a:prstGeom prst="rect">
              <a:avLst/>
            </a:prstGeom>
            <a:solidFill>
              <a:srgbClr val="1B1D21"/>
            </a:solidFill>
            <a:ln>
              <a:noFill/>
            </a:ln>
          </p:spPr>
          <p:txBody>
            <a:bodyPr rtlCol="0" anchor="ctr"/>
            <a:lstStyle/>
            <a:p>
              <a:pPr algn="ctr"/>
            </a:p>
          </p:txBody>
        </p:sp>
        <p:sp>
          <p:nvSpPr>
            <p:cNvPr id="33" name="Rounded Rectangle 32"/>
            <p:cNvSpPr/>
            <p:nvPr/>
          </p:nvSpPr>
          <p:spPr>
            <a:xfrm>
              <a:off x="6355080" y="4206240"/>
              <a:ext cx="1051560" cy="502920"/>
            </a:xfrm>
            <a:prstGeom prst="roundRect">
              <a:avLst>
                <a:gd name="adj" fmla="val 9090"/>
              </a:avLst>
            </a:prstGeom>
            <a:solidFill>
              <a:srgbClr val="9AA0A6"/>
            </a:solidFill>
            <a:ln w="12700">
              <a:solidFill>
                <a:srgbClr val="101418"/>
              </a:solidFill>
            </a:ln>
          </p:spPr>
          <p:txBody>
            <a:bodyPr rtlCol="0" anchor="ctr"/>
            <a:lstStyle/>
            <a:p>
              <a:pPr algn="ctr"/>
            </a:p>
          </p:txBody>
        </p:sp>
        <p:sp>
          <p:nvSpPr>
            <p:cNvPr id="34" name="Rectangle 33"/>
            <p:cNvSpPr/>
            <p:nvPr/>
          </p:nvSpPr>
          <p:spPr>
            <a:xfrm>
              <a:off x="6629400" y="4251960"/>
              <a:ext cx="146304" cy="411480"/>
            </a:xfrm>
            <a:prstGeom prst="rect">
              <a:avLst/>
            </a:prstGeom>
            <a:solidFill>
              <a:srgbClr val="F28C28"/>
            </a:solidFill>
            <a:ln>
              <a:noFill/>
            </a:ln>
          </p:spPr>
          <p:txBody>
            <a:bodyPr rtlCol="0" anchor="ctr"/>
            <a:lstStyle/>
            <a:p>
              <a:pPr algn="ctr"/>
            </a:p>
          </p:txBody>
        </p:sp>
        <p:cxnSp>
          <p:nvCxnSpPr>
            <p:cNvPr id="35" name="Connector 34"/>
            <p:cNvCxnSpPr/>
            <p:nvPr/>
          </p:nvCxnSpPr>
          <p:spPr>
            <a:xfrm>
              <a:off x="5852160" y="4457700"/>
              <a:ext cx="777240" cy="0"/>
            </a:xfrm>
            <a:prstGeom prst="line">
              <a:avLst/>
            </a:prstGeom>
            <a:ln w="50800">
              <a:solidFill>
                <a:srgbClr val="E8E8E8"/>
              </a:solidFill>
            </a:ln>
          </p:spPr>
        </p:cxnSp>
        <p:sp>
          <p:nvSpPr>
            <p:cNvPr id="36" name="Oval 35"/>
            <p:cNvSpPr/>
            <p:nvPr/>
          </p:nvSpPr>
          <p:spPr>
            <a:xfrm>
              <a:off x="2770632" y="4032504"/>
              <a:ext cx="950976" cy="950976"/>
            </a:xfrm>
            <a:prstGeom prst="ellipse">
              <a:avLst/>
            </a:prstGeom>
            <a:solidFill>
              <a:srgbClr val="1B1D21"/>
            </a:solidFill>
            <a:ln w="38100">
              <a:solidFill>
                <a:srgbClr val="9AA0A6"/>
              </a:solidFill>
            </a:ln>
          </p:spPr>
          <p:txBody>
            <a:bodyPr rtlCol="0" anchor="ctr"/>
            <a:lstStyle/>
            <a:p>
              <a:pPr algn="ctr"/>
            </a:p>
          </p:txBody>
        </p:sp>
        <p:sp>
          <p:nvSpPr>
            <p:cNvPr id="37" name="Oval 36"/>
            <p:cNvSpPr/>
            <p:nvPr/>
          </p:nvSpPr>
          <p:spPr>
            <a:xfrm>
              <a:off x="3172968" y="4434840"/>
              <a:ext cx="146304" cy="146304"/>
            </a:xfrm>
            <a:prstGeom prst="ellipse">
              <a:avLst/>
            </a:prstGeom>
            <a:solidFill>
              <a:srgbClr val="9AA0A6"/>
            </a:solidFill>
            <a:ln>
              <a:noFill/>
            </a:ln>
          </p:spPr>
          <p:txBody>
            <a:bodyPr rtlCol="0" anchor="ctr"/>
            <a:lstStyle/>
            <a:p>
              <a:pPr algn="ctr"/>
            </a:p>
          </p:txBody>
        </p:sp>
        <p:sp>
          <p:nvSpPr>
            <p:cNvPr id="38" name="Oval 37"/>
            <p:cNvSpPr/>
            <p:nvPr/>
          </p:nvSpPr>
          <p:spPr>
            <a:xfrm>
              <a:off x="3867912" y="4032504"/>
              <a:ext cx="950976" cy="950976"/>
            </a:xfrm>
            <a:prstGeom prst="ellipse">
              <a:avLst/>
            </a:prstGeom>
            <a:solidFill>
              <a:srgbClr val="1B1D21"/>
            </a:solidFill>
            <a:ln w="38100">
              <a:solidFill>
                <a:srgbClr val="9AA0A6"/>
              </a:solidFill>
            </a:ln>
          </p:spPr>
          <p:txBody>
            <a:bodyPr rtlCol="0" anchor="ctr"/>
            <a:lstStyle/>
            <a:p>
              <a:pPr algn="ctr"/>
            </a:p>
          </p:txBody>
        </p:sp>
        <p:sp>
          <p:nvSpPr>
            <p:cNvPr id="39" name="Oval 38"/>
            <p:cNvSpPr/>
            <p:nvPr/>
          </p:nvSpPr>
          <p:spPr>
            <a:xfrm>
              <a:off x="4270248" y="4434840"/>
              <a:ext cx="146304" cy="146304"/>
            </a:xfrm>
            <a:prstGeom prst="ellipse">
              <a:avLst/>
            </a:prstGeom>
            <a:solidFill>
              <a:srgbClr val="9AA0A6"/>
            </a:solidFill>
            <a:ln>
              <a:noFill/>
            </a:ln>
          </p:spPr>
          <p:txBody>
            <a:bodyPr rtlCol="0" anchor="ctr"/>
            <a:lstStyle/>
            <a:p>
              <a:pPr algn="ctr"/>
            </a:p>
          </p:txBody>
        </p:sp>
        <p:sp>
          <p:nvSpPr>
            <p:cNvPr id="40" name="Oval 39"/>
            <p:cNvSpPr/>
            <p:nvPr/>
          </p:nvSpPr>
          <p:spPr>
            <a:xfrm>
              <a:off x="4965192" y="4032504"/>
              <a:ext cx="950976" cy="950976"/>
            </a:xfrm>
            <a:prstGeom prst="ellipse">
              <a:avLst/>
            </a:prstGeom>
            <a:solidFill>
              <a:srgbClr val="1B1D21"/>
            </a:solidFill>
            <a:ln w="38100">
              <a:solidFill>
                <a:srgbClr val="9AA0A6"/>
              </a:solidFill>
            </a:ln>
          </p:spPr>
          <p:txBody>
            <a:bodyPr rtlCol="0" anchor="ctr"/>
            <a:lstStyle/>
            <a:p>
              <a:pPr algn="ctr"/>
            </a:p>
          </p:txBody>
        </p:sp>
        <p:sp>
          <p:nvSpPr>
            <p:cNvPr id="41" name="Oval 40"/>
            <p:cNvSpPr/>
            <p:nvPr/>
          </p:nvSpPr>
          <p:spPr>
            <a:xfrm>
              <a:off x="5367528" y="4434840"/>
              <a:ext cx="146304" cy="146304"/>
            </a:xfrm>
            <a:prstGeom prst="ellipse">
              <a:avLst/>
            </a:prstGeom>
            <a:solidFill>
              <a:srgbClr val="9AA0A6"/>
            </a:solidFill>
            <a:ln>
              <a:noFill/>
            </a:ln>
          </p:spPr>
          <p:txBody>
            <a:bodyPr rtlCol="0" anchor="ctr"/>
            <a:lstStyle/>
            <a:p>
              <a:pPr algn="ctr"/>
            </a:p>
          </p:txBody>
        </p:sp>
        <p:cxnSp>
          <p:nvCxnSpPr>
            <p:cNvPr id="42" name="Connector 41"/>
            <p:cNvCxnSpPr/>
            <p:nvPr/>
          </p:nvCxnSpPr>
          <p:spPr>
            <a:xfrm>
              <a:off x="3493008" y="4416552"/>
              <a:ext cx="2194560" cy="0"/>
            </a:xfrm>
            <a:prstGeom prst="line">
              <a:avLst/>
            </a:prstGeom>
            <a:ln w="76200">
              <a:solidFill>
                <a:srgbClr val="E8E8E8"/>
              </a:solidFill>
            </a:ln>
          </p:spPr>
        </p:cxnSp>
        <p:cxnSp>
          <p:nvCxnSpPr>
            <p:cNvPr id="43" name="Connector 42"/>
            <p:cNvCxnSpPr/>
            <p:nvPr/>
          </p:nvCxnSpPr>
          <p:spPr>
            <a:xfrm flipH="1" flipV="1">
              <a:off x="4590288" y="4416552"/>
              <a:ext cx="1261872" cy="41148"/>
            </a:xfrm>
            <a:prstGeom prst="line">
              <a:avLst/>
            </a:prstGeom>
            <a:ln w="76200">
              <a:solidFill>
                <a:srgbClr val="F2C14E"/>
              </a:solidFill>
            </a:ln>
          </p:spPr>
        </p:cxnSp>
        <p:sp>
          <p:nvSpPr>
            <p:cNvPr id="44" name="Oval 43"/>
            <p:cNvSpPr/>
            <p:nvPr/>
          </p:nvSpPr>
          <p:spPr>
            <a:xfrm>
              <a:off x="3438144" y="4361688"/>
              <a:ext cx="109728" cy="109728"/>
            </a:xfrm>
            <a:prstGeom prst="ellipse">
              <a:avLst/>
            </a:prstGeom>
            <a:solidFill>
              <a:srgbClr val="101418"/>
            </a:solidFill>
            <a:ln>
              <a:noFill/>
            </a:ln>
          </p:spPr>
          <p:txBody>
            <a:bodyPr rtlCol="0" anchor="ctr"/>
            <a:lstStyle/>
            <a:p>
              <a:pPr algn="ctr"/>
            </a:p>
          </p:txBody>
        </p:sp>
        <p:sp>
          <p:nvSpPr>
            <p:cNvPr id="45" name="Oval 44"/>
            <p:cNvSpPr/>
            <p:nvPr/>
          </p:nvSpPr>
          <p:spPr>
            <a:xfrm>
              <a:off x="4535424" y="4361688"/>
              <a:ext cx="109728" cy="109728"/>
            </a:xfrm>
            <a:prstGeom prst="ellipse">
              <a:avLst/>
            </a:prstGeom>
            <a:solidFill>
              <a:srgbClr val="101418"/>
            </a:solidFill>
            <a:ln>
              <a:noFill/>
            </a:ln>
          </p:spPr>
          <p:txBody>
            <a:bodyPr rtlCol="0" anchor="ctr"/>
            <a:lstStyle/>
            <a:p>
              <a:pPr algn="ctr"/>
            </a:p>
          </p:txBody>
        </p:sp>
        <p:sp>
          <p:nvSpPr>
            <p:cNvPr id="46" name="Oval 45"/>
            <p:cNvSpPr/>
            <p:nvPr/>
          </p:nvSpPr>
          <p:spPr>
            <a:xfrm>
              <a:off x="5632704" y="4361688"/>
              <a:ext cx="109728" cy="109728"/>
            </a:xfrm>
            <a:prstGeom prst="ellipse">
              <a:avLst/>
            </a:prstGeom>
            <a:solidFill>
              <a:srgbClr val="101418"/>
            </a:solidFill>
            <a:ln>
              <a:noFill/>
            </a:ln>
          </p:spPr>
          <p:txBody>
            <a:bodyPr rtlCol="0" anchor="ctr"/>
            <a:lstStyle/>
            <a:p>
              <a:pPr algn="ctr"/>
            </a:p>
          </p:txBody>
        </p:sp>
        <p:sp>
          <p:nvSpPr>
            <p:cNvPr id="47" name="Freeform 46"/>
            <p:cNvSpPr/>
            <p:nvPr/>
          </p:nvSpPr>
          <p:spPr>
            <a:xfrm>
              <a:off x="7264098" y="2142067"/>
              <a:ext cx="508229" cy="2040344"/>
            </a:xfrm>
            <a:custGeom>
              <a:avLst/>
              <a:gdLst/>
              <a:ahLst/>
              <a:cxnLst/>
              <a:rect l="l" t="t" r="r" b="b"/>
              <a:pathLst>
                <a:path w="508229" h="2040344">
                  <a:moveTo>
                    <a:pt x="215861" y="2040344"/>
                  </a:moveTo>
                  <a:lnTo>
                    <a:pt x="267135" y="1974276"/>
                  </a:lnTo>
                  <a:lnTo>
                    <a:pt x="314437" y="1900436"/>
                  </a:lnTo>
                  <a:lnTo>
                    <a:pt x="357347" y="1819484"/>
                  </a:lnTo>
                  <a:lnTo>
                    <a:pt x="395480" y="1732142"/>
                  </a:lnTo>
                  <a:lnTo>
                    <a:pt x="428495" y="1639191"/>
                  </a:lnTo>
                  <a:lnTo>
                    <a:pt x="456099" y="1541460"/>
                  </a:lnTo>
                  <a:lnTo>
                    <a:pt x="478043" y="1439823"/>
                  </a:lnTo>
                  <a:lnTo>
                    <a:pt x="494134" y="1335188"/>
                  </a:lnTo>
                  <a:lnTo>
                    <a:pt x="504226" y="1228488"/>
                  </a:lnTo>
                  <a:lnTo>
                    <a:pt x="508229" y="1120677"/>
                  </a:lnTo>
                  <a:lnTo>
                    <a:pt x="506109" y="1012717"/>
                  </a:lnTo>
                  <a:lnTo>
                    <a:pt x="497883" y="905573"/>
                  </a:lnTo>
                  <a:lnTo>
                    <a:pt x="483626" y="800202"/>
                  </a:lnTo>
                  <a:lnTo>
                    <a:pt x="463464" y="697544"/>
                  </a:lnTo>
                  <a:lnTo>
                    <a:pt x="437577" y="598517"/>
                  </a:lnTo>
                  <a:lnTo>
                    <a:pt x="406198" y="504005"/>
                  </a:lnTo>
                  <a:lnTo>
                    <a:pt x="369605" y="414851"/>
                  </a:lnTo>
                  <a:lnTo>
                    <a:pt x="328127" y="331853"/>
                  </a:lnTo>
                  <a:lnTo>
                    <a:pt x="282133" y="255752"/>
                  </a:lnTo>
                  <a:lnTo>
                    <a:pt x="232033" y="187226"/>
                  </a:lnTo>
                  <a:lnTo>
                    <a:pt x="178277" y="126889"/>
                  </a:lnTo>
                  <a:lnTo>
                    <a:pt x="121343" y="75278"/>
                  </a:lnTo>
                  <a:lnTo>
                    <a:pt x="61740" y="32856"/>
                  </a:lnTo>
                  <a:lnTo>
                    <a:pt x="0" y="0"/>
                  </a:lnTo>
                </a:path>
              </a:pathLst>
            </a:custGeom>
            <a:noFill/>
            <a:ln w="31750">
              <a:solidFill>
                <a:srgbClr val="F28C28"/>
              </a:solidFill>
              <a:tailEnd type="triangle" w="lg" len="lg"/>
            </a:ln>
          </p:spPr>
          <p:txBody>
            <a:bodyPr rtlCol="0" anchor="ctr"/>
            <a:lstStyle/>
            <a:p>
              <a:pPr algn="ctr"/>
            </a:p>
          </p:txBody>
        </p:sp>
      </p:grpSp>
      <p:sp>
        <p:nvSpPr>
          <p:cNvPr id="48" name="Badge 1"/>
          <p:cNvSpPr/>
          <p:nvPr/>
        </p:nvSpPr>
        <p:spPr>
          <a:xfrm>
            <a:off x="676656" y="4242816"/>
            <a:ext cx="384048" cy="384048"/>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1</a:t>
            </a:r>
          </a:p>
        </p:txBody>
      </p:sp>
      <p:sp>
        <p:nvSpPr>
          <p:cNvPr id="49" name="TextBox 48"/>
          <p:cNvSpPr txBox="1"/>
          <p:nvPr/>
        </p:nvSpPr>
        <p:spPr>
          <a:xfrm>
            <a:off x="1124712" y="4251960"/>
            <a:ext cx="1188720" cy="365760"/>
          </a:xfrm>
          <a:prstGeom prst="rect">
            <a:avLst/>
          </a:prstGeom>
          <a:noFill/>
        </p:spPr>
        <p:txBody>
          <a:bodyPr wrap="square" lIns="0" tIns="0" rIns="0" bIns="0" anchor="ctr">
            <a:noAutofit/>
          </a:bodyPr>
          <a:lstStyle/>
          <a:p>
            <a:pPr algn="l"/>
            <a:r>
              <a:rPr sz="1800" b="1" i="0" lang="en-GB">
                <a:solidFill>
                  <a:srgbClr val="F2F2F2"/>
                </a:solidFill>
                <a:latin typeface="Arial"/>
              </a:rPr>
              <a:t>Fire</a:t>
            </a:r>
          </a:p>
        </p:txBody>
      </p:sp>
      <p:sp>
        <p:nvSpPr>
          <p:cNvPr id="50" name="Badge 2"/>
          <p:cNvSpPr/>
          <p:nvPr/>
        </p:nvSpPr>
        <p:spPr>
          <a:xfrm>
            <a:off x="2139696" y="1865376"/>
            <a:ext cx="384048" cy="384048"/>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2</a:t>
            </a:r>
          </a:p>
        </p:txBody>
      </p:sp>
      <p:sp>
        <p:nvSpPr>
          <p:cNvPr id="51" name="TextBox 50"/>
          <p:cNvSpPr txBox="1"/>
          <p:nvPr/>
        </p:nvSpPr>
        <p:spPr>
          <a:xfrm>
            <a:off x="2587752" y="1874520"/>
            <a:ext cx="1188720" cy="365760"/>
          </a:xfrm>
          <a:prstGeom prst="rect">
            <a:avLst/>
          </a:prstGeom>
          <a:noFill/>
        </p:spPr>
        <p:txBody>
          <a:bodyPr wrap="square" lIns="0" tIns="0" rIns="0" bIns="0" anchor="ctr">
            <a:noAutofit/>
          </a:bodyPr>
          <a:lstStyle/>
          <a:p>
            <a:pPr algn="l"/>
            <a:r>
              <a:rPr sz="1800" b="1" i="0" lang="en-GB">
                <a:solidFill>
                  <a:srgbClr val="F2F2F2"/>
                </a:solidFill>
                <a:latin typeface="Arial"/>
              </a:rPr>
              <a:t>Steam</a:t>
            </a:r>
          </a:p>
        </p:txBody>
      </p:sp>
      <p:sp>
        <p:nvSpPr>
          <p:cNvPr id="52" name="Badge 3"/>
          <p:cNvSpPr/>
          <p:nvPr/>
        </p:nvSpPr>
        <p:spPr>
          <a:xfrm>
            <a:off x="6345936" y="5202936"/>
            <a:ext cx="384048" cy="384048"/>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3</a:t>
            </a:r>
          </a:p>
        </p:txBody>
      </p:sp>
      <p:sp>
        <p:nvSpPr>
          <p:cNvPr id="53" name="TextBox 52"/>
          <p:cNvSpPr txBox="1"/>
          <p:nvPr/>
        </p:nvSpPr>
        <p:spPr>
          <a:xfrm>
            <a:off x="6793992" y="5212080"/>
            <a:ext cx="1188720" cy="365760"/>
          </a:xfrm>
          <a:prstGeom prst="rect">
            <a:avLst/>
          </a:prstGeom>
          <a:noFill/>
        </p:spPr>
        <p:txBody>
          <a:bodyPr wrap="square" lIns="0" tIns="0" rIns="0" bIns="0" anchor="ctr">
            <a:noAutofit/>
          </a:bodyPr>
          <a:lstStyle/>
          <a:p>
            <a:pPr algn="l"/>
            <a:r>
              <a:rPr sz="1800" b="1" i="0" lang="en-GB">
                <a:solidFill>
                  <a:srgbClr val="F2F2F2"/>
                </a:solidFill>
                <a:latin typeface="Arial"/>
              </a:rPr>
              <a:t>Piston</a:t>
            </a:r>
          </a:p>
        </p:txBody>
      </p:sp>
      <p:sp>
        <p:nvSpPr>
          <p:cNvPr id="54" name="Badge 4"/>
          <p:cNvSpPr/>
          <p:nvPr/>
        </p:nvSpPr>
        <p:spPr>
          <a:xfrm>
            <a:off x="3877056" y="5202936"/>
            <a:ext cx="384048" cy="384048"/>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4</a:t>
            </a:r>
          </a:p>
        </p:txBody>
      </p:sp>
      <p:sp>
        <p:nvSpPr>
          <p:cNvPr id="55" name="TextBox 54"/>
          <p:cNvSpPr txBox="1"/>
          <p:nvPr/>
        </p:nvSpPr>
        <p:spPr>
          <a:xfrm>
            <a:off x="4325112" y="5212080"/>
            <a:ext cx="1188720" cy="365760"/>
          </a:xfrm>
          <a:prstGeom prst="rect">
            <a:avLst/>
          </a:prstGeom>
          <a:noFill/>
        </p:spPr>
        <p:txBody>
          <a:bodyPr wrap="square" lIns="0" tIns="0" rIns="0" bIns="0" anchor="ctr">
            <a:noAutofit/>
          </a:bodyPr>
          <a:lstStyle/>
          <a:p>
            <a:pPr algn="l"/>
            <a:r>
              <a:rPr sz="1800" b="1" i="0" lang="en-GB">
                <a:solidFill>
                  <a:srgbClr val="F2F2F2"/>
                </a:solidFill>
                <a:latin typeface="Arial"/>
              </a:rPr>
              <a:t>Wheels</a:t>
            </a:r>
          </a:p>
        </p:txBody>
      </p:sp>
      <p:sp>
        <p:nvSpPr>
          <p:cNvPr id="56" name="TextBox 55"/>
          <p:cNvSpPr txBox="1"/>
          <p:nvPr/>
        </p:nvSpPr>
        <p:spPr>
          <a:xfrm>
            <a:off x="7863840" y="2514600"/>
            <a:ext cx="1097280" cy="365760"/>
          </a:xfrm>
          <a:prstGeom prst="rect">
            <a:avLst/>
          </a:prstGeom>
          <a:noFill/>
        </p:spPr>
        <p:txBody>
          <a:bodyPr wrap="square" lIns="0" tIns="0" rIns="0" bIns="0" anchor="ctr">
            <a:noAutofit/>
          </a:bodyPr>
          <a:lstStyle/>
          <a:p>
            <a:pPr algn="l"/>
            <a:r>
              <a:rPr sz="1600" b="0" i="0" lang="en-GB">
                <a:solidFill>
                  <a:srgbClr val="F2F2F2"/>
                </a:solidFill>
                <a:latin typeface="Arial"/>
              </a:rPr>
              <a:t>Exhaust</a:t>
            </a:r>
          </a:p>
        </p:txBody>
      </p:sp>
      <p:pic>
        <p:nvPicPr>
          <p:cNvPr id="57" name="Picture P03" descr="Outside valve gear, rods and crosshead on the side of BR Standard 9F No. 92203."/>
          <p:cNvPicPr>
            <a:picLocks noChangeAspect="1"/>
          </p:cNvPicPr>
          <p:nvPr/>
        </p:nvPicPr>
        <p:blipFill>
          <a:blip r:embed="rId2"/>
          <a:srcRect l="31" r="31"/>
          <a:stretch>
            <a:fillRect/>
          </a:stretch>
        </p:blipFill>
        <p:spPr>
          <a:xfrm>
            <a:off x="8348472" y="3063240"/>
            <a:ext cx="3291840" cy="2194560"/>
          </a:xfrm>
          <a:prstGeom prst="roundRect">
            <a:avLst>
              <a:gd name="adj" fmla="val 3333"/>
            </a:avLst>
          </a:prstGeom>
        </p:spPr>
      </p:pic>
      <p:sp>
        <p:nvSpPr>
          <p:cNvPr id="58" name="Credit"/>
          <p:cNvSpPr txBox="1"/>
          <p:nvPr/>
        </p:nvSpPr>
        <p:spPr>
          <a:xfrm>
            <a:off x="8348472" y="5285232"/>
            <a:ext cx="3291840" cy="182880"/>
          </a:xfrm>
          <a:prstGeom prst="rect">
            <a:avLst/>
          </a:prstGeom>
          <a:noFill/>
        </p:spPr>
        <p:txBody>
          <a:bodyPr wrap="square" lIns="0" tIns="0" rIns="0" bIns="0" anchor="t">
            <a:noAutofit/>
          </a:bodyPr>
          <a:lstStyle/>
          <a:p>
            <a:pPr algn="l"/>
            <a:r>
              <a:rPr sz="1000" b="0" i="0" lang="en-GB">
                <a:solidFill>
                  <a:srgbClr val="A9B0B8"/>
                </a:solidFill>
                <a:latin typeface="Arial"/>
              </a:rPr>
              <a:t>Photo: Ben Salter, CC BY 2.0,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Coal heats water. Steam pushes pistons. Rods turn the wheels.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Coal, water and steam</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8" name="TextBox 7"/>
          <p:cNvSpPr txBox="1"/>
          <p:nvPr/>
        </p:nvSpPr>
        <p:spPr>
          <a:xfrm>
            <a:off x="777240" y="1298448"/>
            <a:ext cx="2743200" cy="384048"/>
          </a:xfrm>
          <a:prstGeom prst="rect">
            <a:avLst/>
          </a:prstGeom>
          <a:noFill/>
        </p:spPr>
        <p:txBody>
          <a:bodyPr wrap="square" lIns="0" tIns="0" rIns="0" bIns="0" anchor="t">
            <a:noAutofit/>
          </a:bodyPr>
          <a:lstStyle/>
          <a:p>
            <a:pPr algn="l"/>
            <a:r>
              <a:rPr sz="2000" b="1" i="0" lang="en-GB">
                <a:solidFill>
                  <a:srgbClr val="F28C28"/>
                </a:solidFill>
                <a:latin typeface="Arial"/>
              </a:rPr>
              <a:t>Before</a:t>
            </a:r>
          </a:p>
        </p:txBody>
      </p:sp>
      <p:sp>
        <p:nvSpPr>
          <p:cNvPr id="9" name="TextBox 8"/>
          <p:cNvSpPr txBox="1"/>
          <p:nvPr/>
        </p:nvSpPr>
        <p:spPr>
          <a:xfrm>
            <a:off x="7178040" y="1298448"/>
            <a:ext cx="2743200" cy="384048"/>
          </a:xfrm>
          <a:prstGeom prst="rect">
            <a:avLst/>
          </a:prstGeom>
          <a:noFill/>
        </p:spPr>
        <p:txBody>
          <a:bodyPr wrap="square" lIns="0" tIns="0" rIns="0" bIns="0" anchor="t">
            <a:noAutofit/>
          </a:bodyPr>
          <a:lstStyle/>
          <a:p>
            <a:pPr algn="l"/>
            <a:r>
              <a:rPr sz="2000" b="1" i="0" lang="en-GB">
                <a:solidFill>
                  <a:srgbClr val="F28C28"/>
                </a:solidFill>
                <a:latin typeface="Arial"/>
              </a:rPr>
              <a:t>After</a:t>
            </a:r>
          </a:p>
        </p:txBody>
      </p:sp>
      <p:grpSp>
        <p:nvGrpSpPr>
          <p:cNvPr id="10" name="Coal and water run down" descr="Before a long trip the coal and water tanks are both nearly full. After it, coal is just under half full but water is almost empty, because steam leaves the chimney and is not used again."/>
          <p:cNvGrpSpPr/>
          <p:nvPr/>
        </p:nvGrpSpPr>
        <p:grpSpPr>
          <a:xfrm>
            <a:off x="548640" y="1689811"/>
            <a:ext cx="11091672" cy="3476549"/>
            <a:chOff x="548640" y="1689811"/>
            <a:chExt cx="11091672" cy="3476549"/>
          </a:xfrm>
        </p:grpSpPr>
        <p:sp>
          <p:nvSpPr>
            <p:cNvPr id="11" name="Rounded Rectangle 10"/>
            <p:cNvSpPr/>
            <p:nvPr/>
          </p:nvSpPr>
          <p:spPr>
            <a:xfrm>
              <a:off x="548640" y="1737360"/>
              <a:ext cx="4206240" cy="3429000"/>
            </a:xfrm>
            <a:prstGeom prst="roundRect">
              <a:avLst>
                <a:gd name="adj" fmla="val 2666"/>
              </a:avLst>
            </a:prstGeom>
            <a:solidFill>
              <a:srgbClr val="2B2F36"/>
            </a:solidFill>
            <a:ln>
              <a:noFill/>
            </a:ln>
          </p:spPr>
          <p:txBody>
            <a:bodyPr rtlCol="0" anchor="ctr"/>
            <a:lstStyle/>
            <a:p>
              <a:pPr algn="ctr"/>
            </a:p>
          </p:txBody>
        </p:sp>
        <p:sp>
          <p:nvSpPr>
            <p:cNvPr id="12" name="Rounded Rectangle 11"/>
            <p:cNvSpPr/>
            <p:nvPr/>
          </p:nvSpPr>
          <p:spPr>
            <a:xfrm>
              <a:off x="6949440" y="1737360"/>
              <a:ext cx="4690872" cy="3429000"/>
            </a:xfrm>
            <a:prstGeom prst="roundRect">
              <a:avLst>
                <a:gd name="adj" fmla="val 2666"/>
              </a:avLst>
            </a:prstGeom>
            <a:solidFill>
              <a:srgbClr val="2B2F36"/>
            </a:solidFill>
            <a:ln>
              <a:noFill/>
            </a:ln>
          </p:spPr>
          <p:txBody>
            <a:bodyPr rtlCol="0" anchor="ctr"/>
            <a:lstStyle/>
            <a:p>
              <a:pPr algn="ctr"/>
            </a:p>
          </p:txBody>
        </p:sp>
        <p:sp>
          <p:nvSpPr>
            <p:cNvPr id="13" name="Rounded Rectangle 12"/>
            <p:cNvSpPr/>
            <p:nvPr/>
          </p:nvSpPr>
          <p:spPr>
            <a:xfrm>
              <a:off x="1097280" y="2514600"/>
              <a:ext cx="1463040" cy="2103120"/>
            </a:xfrm>
            <a:prstGeom prst="roundRect">
              <a:avLst>
                <a:gd name="adj" fmla="val 5000"/>
              </a:avLst>
            </a:prstGeom>
            <a:solidFill>
              <a:srgbClr val="2B2F36"/>
            </a:solidFill>
            <a:ln w="25400">
              <a:solidFill>
                <a:srgbClr val="6B7078"/>
              </a:solidFill>
            </a:ln>
          </p:spPr>
          <p:txBody>
            <a:bodyPr rtlCol="0" anchor="ctr"/>
            <a:lstStyle/>
            <a:p>
              <a:pPr algn="ctr"/>
            </a:p>
          </p:txBody>
        </p:sp>
        <p:sp>
          <p:nvSpPr>
            <p:cNvPr id="14" name="Rounded Rectangle 13"/>
            <p:cNvSpPr/>
            <p:nvPr/>
          </p:nvSpPr>
          <p:spPr>
            <a:xfrm>
              <a:off x="1133856" y="2957170"/>
              <a:ext cx="1389888" cy="1623974"/>
            </a:xfrm>
            <a:prstGeom prst="roundRect">
              <a:avLst>
                <a:gd name="adj" fmla="val 3289"/>
              </a:avLst>
            </a:prstGeom>
            <a:solidFill>
              <a:srgbClr val="1B1D21"/>
            </a:solidFill>
            <a:ln>
              <a:noFill/>
            </a:ln>
          </p:spPr>
          <p:txBody>
            <a:bodyPr rtlCol="0" anchor="ctr"/>
            <a:lstStyle/>
            <a:p>
              <a:pPr algn="ctr"/>
            </a:p>
          </p:txBody>
        </p:sp>
        <p:sp>
          <p:nvSpPr>
            <p:cNvPr id="15" name="Rounded Rectangle 14"/>
            <p:cNvSpPr/>
            <p:nvPr/>
          </p:nvSpPr>
          <p:spPr>
            <a:xfrm>
              <a:off x="2834640" y="2514600"/>
              <a:ext cx="1463040" cy="2103120"/>
            </a:xfrm>
            <a:prstGeom prst="roundRect">
              <a:avLst>
                <a:gd name="adj" fmla="val 5000"/>
              </a:avLst>
            </a:prstGeom>
            <a:solidFill>
              <a:srgbClr val="2B2F36"/>
            </a:solidFill>
            <a:ln w="25400">
              <a:solidFill>
                <a:srgbClr val="F2F2F2"/>
              </a:solidFill>
            </a:ln>
          </p:spPr>
          <p:txBody>
            <a:bodyPr rtlCol="0" anchor="ctr"/>
            <a:lstStyle/>
            <a:p>
              <a:pPr algn="ctr"/>
            </a:p>
          </p:txBody>
        </p:sp>
        <p:sp>
          <p:nvSpPr>
            <p:cNvPr id="16" name="Rounded Rectangle 15"/>
            <p:cNvSpPr/>
            <p:nvPr/>
          </p:nvSpPr>
          <p:spPr>
            <a:xfrm>
              <a:off x="2871216" y="2957170"/>
              <a:ext cx="1389888" cy="1623974"/>
            </a:xfrm>
            <a:prstGeom prst="roundRect">
              <a:avLst>
                <a:gd name="adj" fmla="val 3289"/>
              </a:avLst>
            </a:prstGeom>
            <a:solidFill>
              <a:srgbClr val="4DA3FF"/>
            </a:solidFill>
            <a:ln>
              <a:noFill/>
            </a:ln>
          </p:spPr>
          <p:txBody>
            <a:bodyPr rtlCol="0" anchor="ctr"/>
            <a:lstStyle/>
            <a:p>
              <a:pPr algn="ctr"/>
            </a:p>
          </p:txBody>
        </p:sp>
        <p:sp>
          <p:nvSpPr>
            <p:cNvPr id="17" name="Rounded Rectangle 16"/>
            <p:cNvSpPr/>
            <p:nvPr/>
          </p:nvSpPr>
          <p:spPr>
            <a:xfrm>
              <a:off x="7360920" y="2514600"/>
              <a:ext cx="1463040" cy="2103120"/>
            </a:xfrm>
            <a:prstGeom prst="roundRect">
              <a:avLst>
                <a:gd name="adj" fmla="val 5000"/>
              </a:avLst>
            </a:prstGeom>
            <a:solidFill>
              <a:srgbClr val="2B2F36"/>
            </a:solidFill>
            <a:ln w="25400">
              <a:solidFill>
                <a:srgbClr val="6B7078"/>
              </a:solidFill>
            </a:ln>
          </p:spPr>
          <p:txBody>
            <a:bodyPr rtlCol="0" anchor="ctr"/>
            <a:lstStyle/>
            <a:p>
              <a:pPr algn="ctr"/>
            </a:p>
          </p:txBody>
        </p:sp>
        <p:sp>
          <p:nvSpPr>
            <p:cNvPr id="18" name="Rounded Rectangle 17"/>
            <p:cNvSpPr/>
            <p:nvPr/>
          </p:nvSpPr>
          <p:spPr>
            <a:xfrm>
              <a:off x="7397496" y="3667658"/>
              <a:ext cx="1389888" cy="913486"/>
            </a:xfrm>
            <a:prstGeom prst="roundRect">
              <a:avLst>
                <a:gd name="adj" fmla="val 5005"/>
              </a:avLst>
            </a:prstGeom>
            <a:solidFill>
              <a:srgbClr val="1B1D21"/>
            </a:solidFill>
            <a:ln>
              <a:noFill/>
            </a:ln>
          </p:spPr>
          <p:txBody>
            <a:bodyPr rtlCol="0" anchor="ctr"/>
            <a:lstStyle/>
            <a:p>
              <a:pPr algn="ctr"/>
            </a:p>
          </p:txBody>
        </p:sp>
        <p:sp>
          <p:nvSpPr>
            <p:cNvPr id="19" name="Rounded Rectangle 18"/>
            <p:cNvSpPr/>
            <p:nvPr/>
          </p:nvSpPr>
          <p:spPr>
            <a:xfrm>
              <a:off x="9098280" y="2514600"/>
              <a:ext cx="1463040" cy="2103120"/>
            </a:xfrm>
            <a:prstGeom prst="roundRect">
              <a:avLst>
                <a:gd name="adj" fmla="val 5000"/>
              </a:avLst>
            </a:prstGeom>
            <a:solidFill>
              <a:srgbClr val="2B2F36"/>
            </a:solidFill>
            <a:ln w="25400">
              <a:solidFill>
                <a:srgbClr val="F2F2F2"/>
              </a:solidFill>
            </a:ln>
          </p:spPr>
          <p:txBody>
            <a:bodyPr rtlCol="0" anchor="ctr"/>
            <a:lstStyle/>
            <a:p>
              <a:pPr algn="ctr"/>
            </a:p>
          </p:txBody>
        </p:sp>
        <p:sp>
          <p:nvSpPr>
            <p:cNvPr id="20" name="Rounded Rectangle 19"/>
            <p:cNvSpPr/>
            <p:nvPr/>
          </p:nvSpPr>
          <p:spPr>
            <a:xfrm>
              <a:off x="9134856" y="4276649"/>
              <a:ext cx="1389888" cy="304495"/>
            </a:xfrm>
            <a:prstGeom prst="roundRect">
              <a:avLst>
                <a:gd name="adj" fmla="val 15015"/>
              </a:avLst>
            </a:prstGeom>
            <a:solidFill>
              <a:srgbClr val="4DA3FF"/>
            </a:solidFill>
            <a:ln>
              <a:noFill/>
            </a:ln>
          </p:spPr>
          <p:txBody>
            <a:bodyPr rtlCol="0" anchor="ctr"/>
            <a:lstStyle/>
            <a:p>
              <a:pPr algn="ctr"/>
            </a:p>
          </p:txBody>
        </p:sp>
        <p:sp>
          <p:nvSpPr>
            <p:cNvPr id="21" name="TextBox 20"/>
            <p:cNvSpPr txBox="1"/>
            <p:nvPr/>
          </p:nvSpPr>
          <p:spPr>
            <a:xfrm>
              <a:off x="1097280" y="4654296"/>
              <a:ext cx="1463040" cy="320040"/>
            </a:xfrm>
            <a:prstGeom prst="rect">
              <a:avLst/>
            </a:prstGeom>
            <a:noFill/>
          </p:spPr>
          <p:txBody>
            <a:bodyPr wrap="square" lIns="0" tIns="0" rIns="0" bIns="0" anchor="t">
              <a:noAutofit/>
            </a:bodyPr>
            <a:lstStyle/>
            <a:p>
              <a:pPr algn="ctr"/>
              <a:r>
                <a:rPr sz="1600" b="0" i="0" lang="en-GB">
                  <a:solidFill>
                    <a:srgbClr val="F2F2F2"/>
                  </a:solidFill>
                  <a:latin typeface="Arial"/>
                </a:rPr>
                <a:t>Coal</a:t>
              </a:r>
            </a:p>
          </p:txBody>
        </p:sp>
        <p:sp>
          <p:nvSpPr>
            <p:cNvPr id="22" name="TextBox 21"/>
            <p:cNvSpPr txBox="1"/>
            <p:nvPr/>
          </p:nvSpPr>
          <p:spPr>
            <a:xfrm>
              <a:off x="7360920" y="4654296"/>
              <a:ext cx="1463040" cy="320040"/>
            </a:xfrm>
            <a:prstGeom prst="rect">
              <a:avLst/>
            </a:prstGeom>
            <a:noFill/>
          </p:spPr>
          <p:txBody>
            <a:bodyPr wrap="square" lIns="0" tIns="0" rIns="0" bIns="0" anchor="t">
              <a:noAutofit/>
            </a:bodyPr>
            <a:lstStyle/>
            <a:p>
              <a:pPr algn="ctr"/>
              <a:r>
                <a:rPr sz="1600" b="0" i="0" lang="en-GB">
                  <a:solidFill>
                    <a:srgbClr val="F2F2F2"/>
                  </a:solidFill>
                  <a:latin typeface="Arial"/>
                </a:rPr>
                <a:t>Coal</a:t>
              </a:r>
            </a:p>
          </p:txBody>
        </p:sp>
        <p:sp>
          <p:nvSpPr>
            <p:cNvPr id="23" name="TextBox 22"/>
            <p:cNvSpPr txBox="1"/>
            <p:nvPr/>
          </p:nvSpPr>
          <p:spPr>
            <a:xfrm>
              <a:off x="2834640" y="4654296"/>
              <a:ext cx="1463040" cy="320040"/>
            </a:xfrm>
            <a:prstGeom prst="rect">
              <a:avLst/>
            </a:prstGeom>
            <a:noFill/>
          </p:spPr>
          <p:txBody>
            <a:bodyPr wrap="square" lIns="0" tIns="0" rIns="0" bIns="0" anchor="t">
              <a:noAutofit/>
            </a:bodyPr>
            <a:lstStyle/>
            <a:p>
              <a:pPr algn="ctr"/>
              <a:r>
                <a:rPr sz="1600" b="0" i="0" lang="en-GB">
                  <a:solidFill>
                    <a:srgbClr val="F2F2F2"/>
                  </a:solidFill>
                  <a:latin typeface="Arial"/>
                </a:rPr>
                <a:t>Water</a:t>
              </a:r>
            </a:p>
          </p:txBody>
        </p:sp>
        <p:sp>
          <p:nvSpPr>
            <p:cNvPr id="24" name="TextBox 23"/>
            <p:cNvSpPr txBox="1"/>
            <p:nvPr/>
          </p:nvSpPr>
          <p:spPr>
            <a:xfrm>
              <a:off x="9098280" y="4654296"/>
              <a:ext cx="1463040" cy="320040"/>
            </a:xfrm>
            <a:prstGeom prst="rect">
              <a:avLst/>
            </a:prstGeom>
            <a:noFill/>
          </p:spPr>
          <p:txBody>
            <a:bodyPr wrap="square" lIns="0" tIns="0" rIns="0" bIns="0" anchor="t">
              <a:noAutofit/>
            </a:bodyPr>
            <a:lstStyle/>
            <a:p>
              <a:pPr algn="ctr"/>
              <a:r>
                <a:rPr sz="1600" b="0" i="0" lang="en-GB">
                  <a:solidFill>
                    <a:srgbClr val="F2F2F2"/>
                  </a:solidFill>
                  <a:latin typeface="Arial"/>
                </a:rPr>
                <a:t>Water</a:t>
              </a:r>
            </a:p>
          </p:txBody>
        </p:sp>
        <p:sp>
          <p:nvSpPr>
            <p:cNvPr id="25" name="Rounded Rectangle 24"/>
            <p:cNvSpPr/>
            <p:nvPr/>
          </p:nvSpPr>
          <p:spPr>
            <a:xfrm>
              <a:off x="9098280" y="3749040"/>
              <a:ext cx="1463040" cy="329184"/>
            </a:xfrm>
            <a:prstGeom prst="roundRect">
              <a:avLst>
                <a:gd name="adj" fmla="val 50000"/>
              </a:avLst>
            </a:prstGeom>
            <a:solidFill>
              <a:srgbClr val="B3262B"/>
            </a:solidFill>
            <a:ln>
              <a:noFill/>
            </a:ln>
          </p:spPr>
          <p:txBody>
            <a:bodyPr rtlCol="0" anchor="ctr" wrap="square" lIns="54864" tIns="18288" rIns="54864" bIns="18288">
              <a:noAutofit/>
            </a:bodyPr>
            <a:lstStyle/>
            <a:p>
              <a:pPr algn="ctr"/>
              <a:r>
                <a:rPr sz="1400" b="1" i="0" lang="en-GB">
                  <a:solidFill>
                    <a:srgbClr val="F2F2F2"/>
                  </a:solidFill>
                  <a:latin typeface="Arial"/>
                </a:rPr>
                <a:t>EMPTY FIRST</a:t>
              </a:r>
            </a:p>
          </p:txBody>
        </p:sp>
        <p:sp>
          <p:nvSpPr>
            <p:cNvPr id="26" name="Rectangle 25"/>
            <p:cNvSpPr/>
            <p:nvPr/>
          </p:nvSpPr>
          <p:spPr>
            <a:xfrm>
              <a:off x="7269480" y="2029968"/>
              <a:ext cx="274320" cy="384048"/>
            </a:xfrm>
            <a:prstGeom prst="rect">
              <a:avLst/>
            </a:prstGeom>
            <a:solidFill>
              <a:srgbClr val="1B1D21"/>
            </a:solidFill>
            <a:ln w="19050">
              <a:solidFill>
                <a:srgbClr val="9AA0A6"/>
              </a:solidFill>
            </a:ln>
          </p:spPr>
          <p:txBody>
            <a:bodyPr rtlCol="0" anchor="ctr"/>
            <a:lstStyle/>
            <a:p>
              <a:pPr algn="ctr"/>
            </a:p>
          </p:txBody>
        </p:sp>
        <p:sp>
          <p:nvSpPr>
            <p:cNvPr id="27" name="Oval 26"/>
            <p:cNvSpPr/>
            <p:nvPr/>
          </p:nvSpPr>
          <p:spPr>
            <a:xfrm>
              <a:off x="7562088" y="1856232"/>
              <a:ext cx="274320" cy="164592"/>
            </a:xfrm>
            <a:prstGeom prst="ellipse">
              <a:avLst/>
            </a:prstGeom>
            <a:solidFill>
              <a:srgbClr val="D4D5D6"/>
            </a:solidFill>
            <a:ln>
              <a:noFill/>
            </a:ln>
          </p:spPr>
          <p:txBody>
            <a:bodyPr rtlCol="0" anchor="ctr"/>
            <a:lstStyle/>
            <a:p>
              <a:pPr algn="ctr"/>
            </a:p>
          </p:txBody>
        </p:sp>
        <p:sp>
          <p:nvSpPr>
            <p:cNvPr id="28" name="Oval 27"/>
            <p:cNvSpPr/>
            <p:nvPr/>
          </p:nvSpPr>
          <p:spPr>
            <a:xfrm>
              <a:off x="7872984" y="1742846"/>
              <a:ext cx="347472" cy="208483"/>
            </a:xfrm>
            <a:prstGeom prst="ellipse">
              <a:avLst/>
            </a:prstGeom>
            <a:solidFill>
              <a:srgbClr val="D4D5D6"/>
            </a:solidFill>
            <a:ln>
              <a:noFill/>
            </a:ln>
          </p:spPr>
          <p:txBody>
            <a:bodyPr rtlCol="0" anchor="ctr"/>
            <a:lstStyle/>
            <a:p>
              <a:pPr algn="ctr"/>
            </a:p>
          </p:txBody>
        </p:sp>
        <p:sp>
          <p:nvSpPr>
            <p:cNvPr id="29" name="Oval 28"/>
            <p:cNvSpPr/>
            <p:nvPr/>
          </p:nvSpPr>
          <p:spPr>
            <a:xfrm>
              <a:off x="8257032" y="1689811"/>
              <a:ext cx="402336" cy="241402"/>
            </a:xfrm>
            <a:prstGeom prst="ellipse">
              <a:avLst/>
            </a:prstGeom>
            <a:solidFill>
              <a:srgbClr val="D4D5D6"/>
            </a:solidFill>
            <a:ln>
              <a:noFill/>
            </a:ln>
          </p:spPr>
          <p:txBody>
            <a:bodyPr rtlCol="0" anchor="ctr"/>
            <a:lstStyle/>
            <a:p>
              <a:pPr algn="ctr"/>
            </a:p>
          </p:txBody>
        </p:sp>
        <p:sp>
          <p:nvSpPr>
            <p:cNvPr id="30" name="TextBox 29"/>
            <p:cNvSpPr txBox="1"/>
            <p:nvPr/>
          </p:nvSpPr>
          <p:spPr>
            <a:xfrm>
              <a:off x="8778240" y="1828800"/>
              <a:ext cx="2743200" cy="566928"/>
            </a:xfrm>
            <a:prstGeom prst="rect">
              <a:avLst/>
            </a:prstGeom>
            <a:noFill/>
          </p:spPr>
          <p:txBody>
            <a:bodyPr wrap="square" lIns="0" tIns="0" rIns="0" bIns="0" anchor="ctr">
              <a:noAutofit/>
            </a:bodyPr>
            <a:lstStyle/>
            <a:p>
              <a:pPr algn="l"/>
              <a:r>
                <a:rPr sz="1600" b="0" i="0" lang="en-GB">
                  <a:solidFill>
                    <a:srgbClr val="F2F2F2"/>
                  </a:solidFill>
                  <a:latin typeface="Arial"/>
                </a:rPr>
                <a:t>Steam leaves the chimney. It is not used again.</a:t>
              </a:r>
            </a:p>
          </p:txBody>
        </p:sp>
        <p:sp>
          <p:nvSpPr>
            <p:cNvPr id="31" name="Right Arrow 30"/>
            <p:cNvSpPr/>
            <p:nvPr/>
          </p:nvSpPr>
          <p:spPr>
            <a:xfrm>
              <a:off x="4983480" y="3246120"/>
              <a:ext cx="1783080" cy="594360"/>
            </a:xfrm>
            <a:prstGeom prst="rightArrow">
              <a:avLst/>
            </a:prstGeom>
            <a:solidFill>
              <a:srgbClr val="F28C28"/>
            </a:solidFill>
            <a:ln>
              <a:noFill/>
            </a:ln>
          </p:spPr>
          <p:txBody>
            <a:bodyPr rtlCol="0" anchor="ctr"/>
            <a:lstStyle/>
            <a:p>
              <a:pPr algn="ctr"/>
            </a:p>
          </p:txBody>
        </p:sp>
        <p:sp>
          <p:nvSpPr>
            <p:cNvPr id="32" name="TextBox 31"/>
            <p:cNvSpPr txBox="1"/>
            <p:nvPr/>
          </p:nvSpPr>
          <p:spPr>
            <a:xfrm>
              <a:off x="4754880" y="2697480"/>
              <a:ext cx="2240280" cy="457200"/>
            </a:xfrm>
            <a:prstGeom prst="rect">
              <a:avLst/>
            </a:prstGeom>
            <a:noFill/>
          </p:spPr>
          <p:txBody>
            <a:bodyPr wrap="square" lIns="0" tIns="0" rIns="0" bIns="0" anchor="b">
              <a:noAutofit/>
            </a:bodyPr>
            <a:lstStyle/>
            <a:p>
              <a:pPr algn="ctr"/>
              <a:r>
                <a:rPr sz="1800" b="1" i="0" lang="en-GB">
                  <a:solidFill>
                    <a:srgbClr val="F2F2F2"/>
                  </a:solidFill>
                  <a:latin typeface="Arial"/>
                </a:rPr>
                <a:t>One long trip</a:t>
              </a:r>
            </a:p>
          </p:txBody>
        </p:sp>
      </p:grpSp>
      <p:sp>
        <p:nvSpPr>
          <p:cNvPr id="33" name="TextBox 32"/>
          <p:cNvSpPr txBox="1"/>
          <p:nvPr/>
        </p:nvSpPr>
        <p:spPr>
          <a:xfrm>
            <a:off x="548640" y="5321808"/>
            <a:ext cx="6858000" cy="347472"/>
          </a:xfrm>
          <a:prstGeom prst="rect">
            <a:avLst/>
          </a:prstGeom>
          <a:noFill/>
        </p:spPr>
        <p:txBody>
          <a:bodyPr wrap="square" lIns="0" tIns="0" rIns="0" bIns="0" anchor="ctr">
            <a:noAutofit/>
          </a:bodyPr>
          <a:lstStyle/>
          <a:p>
            <a:pPr algn="l"/>
            <a:r>
              <a:rPr sz="1800" b="0" i="0" lang="en-GB">
                <a:solidFill>
                  <a:srgbClr val="F2F2F2"/>
                </a:solidFill>
                <a:latin typeface="Arial"/>
              </a:rPr>
              <a:t>In the mod, water is usually the tighter limit.</a:t>
            </a:r>
          </a:p>
        </p:txBody>
      </p:sp>
      <p:sp>
        <p:nvSpPr>
          <p:cNvPr id="34" name="Inline chip Agreed"/>
          <p:cNvSpPr/>
          <p:nvPr/>
        </p:nvSpPr>
        <p:spPr>
          <a:xfrm>
            <a:off x="5115054" y="5349240"/>
            <a:ext cx="112647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Steam is used once and lost. So water runs out first. Coal lasts longer.</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Tender or tank?</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sp>
        <p:nvSpPr>
          <p:cNvPr id="8" name="TextBox 7"/>
          <p:cNvSpPr txBox="1"/>
          <p:nvPr/>
        </p:nvSpPr>
        <p:spPr>
          <a:xfrm>
            <a:off x="548640" y="1298448"/>
            <a:ext cx="5303520" cy="411480"/>
          </a:xfrm>
          <a:prstGeom prst="rect">
            <a:avLst/>
          </a:prstGeom>
          <a:noFill/>
        </p:spPr>
        <p:txBody>
          <a:bodyPr wrap="square" lIns="0" tIns="0" rIns="0" bIns="0" anchor="t">
            <a:noAutofit/>
          </a:bodyPr>
          <a:lstStyle/>
          <a:p>
            <a:pPr algn="l"/>
            <a:r>
              <a:rPr sz="2000" b="1" i="0" lang="en-GB">
                <a:solidFill>
                  <a:srgbClr val="F28C28"/>
                </a:solidFill>
                <a:latin typeface="Arial"/>
              </a:rPr>
              <a:t>Tender engine</a:t>
            </a:r>
          </a:p>
        </p:txBody>
      </p:sp>
      <p:sp>
        <p:nvSpPr>
          <p:cNvPr id="9" name="TextBox 8"/>
          <p:cNvSpPr txBox="1"/>
          <p:nvPr/>
        </p:nvSpPr>
        <p:spPr>
          <a:xfrm>
            <a:off x="6336792" y="1298448"/>
            <a:ext cx="5303520" cy="411480"/>
          </a:xfrm>
          <a:prstGeom prst="rect">
            <a:avLst/>
          </a:prstGeom>
          <a:noFill/>
        </p:spPr>
        <p:txBody>
          <a:bodyPr wrap="square" lIns="0" tIns="0" rIns="0" bIns="0" anchor="t">
            <a:noAutofit/>
          </a:bodyPr>
          <a:lstStyle/>
          <a:p>
            <a:pPr algn="l"/>
            <a:r>
              <a:rPr sz="2000" b="1" i="0" lang="en-GB">
                <a:solidFill>
                  <a:srgbClr val="F28C28"/>
                </a:solidFill>
                <a:latin typeface="Arial"/>
              </a:rPr>
              <a:t>Tank engine</a:t>
            </a:r>
          </a:p>
        </p:txBody>
      </p:sp>
      <p:pic>
        <p:nvPicPr>
          <p:cNvPr id="10" name="Picture P04" descr="BR Standard Class 5 No. 73082 'Camelot', a tender engine, seen from the side."/>
          <p:cNvPicPr>
            <a:picLocks noChangeAspect="1"/>
          </p:cNvPicPr>
          <p:nvPr/>
        </p:nvPicPr>
        <p:blipFill>
          <a:blip r:embed="rId2"/>
          <a:srcRect t="2728" b="2728"/>
          <a:stretch>
            <a:fillRect/>
          </a:stretch>
        </p:blipFill>
        <p:spPr>
          <a:xfrm>
            <a:off x="548640" y="1737360"/>
            <a:ext cx="5303520" cy="3337560"/>
          </a:xfrm>
          <a:prstGeom prst="roundRect">
            <a:avLst>
              <a:gd name="adj" fmla="val 2192"/>
            </a:avLst>
          </a:prstGeom>
        </p:spPr>
      </p:pic>
      <p:sp>
        <p:nvSpPr>
          <p:cNvPr id="11" name="Credit"/>
          <p:cNvSpPr txBox="1"/>
          <p:nvPr/>
        </p:nvSpPr>
        <p:spPr>
          <a:xfrm>
            <a:off x="548640" y="5102352"/>
            <a:ext cx="5303520" cy="182880"/>
          </a:xfrm>
          <a:prstGeom prst="rect">
            <a:avLst/>
          </a:prstGeom>
          <a:noFill/>
        </p:spPr>
        <p:txBody>
          <a:bodyPr wrap="square" lIns="0" tIns="0" rIns="0" bIns="0" anchor="t">
            <a:noAutofit/>
          </a:bodyPr>
          <a:lstStyle/>
          <a:p>
            <a:pPr algn="l"/>
            <a:r>
              <a:rPr sz="1000" b="0" i="0" lang="en-GB">
                <a:solidFill>
                  <a:srgbClr val="A9B0B8"/>
                </a:solidFill>
                <a:latin typeface="Arial"/>
              </a:rPr>
              <a:t>Photo: www.mgaylard.co.uk, CC BY 2.0, Wikimedia Commons.</a:t>
            </a:r>
          </a:p>
        </p:txBody>
      </p:sp>
      <p:pic>
        <p:nvPicPr>
          <p:cNvPr id="12" name="Picture P05" descr="BR Standard Class 4 tank engine No. 80151 from the side, showing side tanks and rear bunker."/>
          <p:cNvPicPr>
            <a:picLocks noChangeAspect="1"/>
          </p:cNvPicPr>
          <p:nvPr/>
        </p:nvPicPr>
        <p:blipFill>
          <a:blip r:embed="rId3"/>
          <a:srcRect t="2728" b="2728"/>
          <a:stretch>
            <a:fillRect/>
          </a:stretch>
        </p:blipFill>
        <p:spPr>
          <a:xfrm>
            <a:off x="6336792" y="1737360"/>
            <a:ext cx="5303520" cy="3337560"/>
          </a:xfrm>
          <a:prstGeom prst="roundRect">
            <a:avLst>
              <a:gd name="adj" fmla="val 2192"/>
            </a:avLst>
          </a:prstGeom>
        </p:spPr>
      </p:pic>
      <p:sp>
        <p:nvSpPr>
          <p:cNvPr id="13" name="Credit"/>
          <p:cNvSpPr txBox="1"/>
          <p:nvPr/>
        </p:nvSpPr>
        <p:spPr>
          <a:xfrm>
            <a:off x="6336792" y="5102352"/>
            <a:ext cx="5303520" cy="182880"/>
          </a:xfrm>
          <a:prstGeom prst="rect">
            <a:avLst/>
          </a:prstGeom>
          <a:noFill/>
        </p:spPr>
        <p:txBody>
          <a:bodyPr wrap="square" lIns="0" tIns="0" rIns="0" bIns="0" anchor="t">
            <a:noAutofit/>
          </a:bodyPr>
          <a:lstStyle/>
          <a:p>
            <a:pPr algn="l"/>
            <a:r>
              <a:rPr sz="1000" b="0" i="0" lang="en-GB">
                <a:solidFill>
                  <a:srgbClr val="A9B0B8"/>
                </a:solidFill>
                <a:latin typeface="Arial"/>
              </a:rPr>
              <a:t>Photo: www.mgaylard.co.uk, CC BY 2.0, Wikimedia Commons.</a:t>
            </a:r>
          </a:p>
        </p:txBody>
      </p:sp>
      <p:grpSp>
        <p:nvGrpSpPr>
          <p:cNvPr id="14" name="Callout" descr="Label: Tender: coal and water behind the cab"/>
          <p:cNvGrpSpPr/>
          <p:nvPr/>
        </p:nvGrpSpPr>
        <p:grpSpPr>
          <a:xfrm>
            <a:off x="1380744" y="1874520"/>
            <a:ext cx="3602736" cy="1673352"/>
            <a:chOff x="1380744" y="1874520"/>
            <a:chExt cx="3602736" cy="1673352"/>
          </a:xfrm>
        </p:grpSpPr>
        <p:cxnSp>
          <p:nvCxnSpPr>
            <p:cNvPr id="15" name="Connector 14"/>
            <p:cNvCxnSpPr/>
            <p:nvPr/>
          </p:nvCxnSpPr>
          <p:spPr>
            <a:xfrm flipH="1">
              <a:off x="1453896" y="2514600"/>
              <a:ext cx="1060704" cy="960120"/>
            </a:xfrm>
            <a:prstGeom prst="line">
              <a:avLst/>
            </a:prstGeom>
            <a:ln w="28575">
              <a:solidFill>
                <a:srgbClr val="F28C28"/>
              </a:solidFill>
            </a:ln>
          </p:spPr>
        </p:cxnSp>
        <p:sp>
          <p:nvSpPr>
            <p:cNvPr id="16" name="Oval 15"/>
            <p:cNvSpPr/>
            <p:nvPr/>
          </p:nvSpPr>
          <p:spPr>
            <a:xfrm>
              <a:off x="1380744" y="3401568"/>
              <a:ext cx="146304" cy="146304"/>
            </a:xfrm>
            <a:prstGeom prst="ellipse">
              <a:avLst/>
            </a:prstGeom>
            <a:solidFill>
              <a:srgbClr val="F28C28"/>
            </a:solidFill>
            <a:ln w="12700">
              <a:solidFill>
                <a:srgbClr val="101418"/>
              </a:solidFill>
            </a:ln>
          </p:spPr>
          <p:txBody>
            <a:bodyPr rtlCol="0" anchor="ctr"/>
            <a:lstStyle/>
            <a:p>
              <a:pPr algn="ctr"/>
            </a:p>
          </p:txBody>
        </p:sp>
        <p:sp>
          <p:nvSpPr>
            <p:cNvPr id="17" name="Rounded Rectangle 16"/>
            <p:cNvSpPr/>
            <p:nvPr/>
          </p:nvSpPr>
          <p:spPr>
            <a:xfrm>
              <a:off x="2057400" y="1874520"/>
              <a:ext cx="2926080" cy="640080"/>
            </a:xfrm>
            <a:prstGeom prst="roundRect">
              <a:avLst>
                <a:gd name="adj" fmla="val 8571"/>
              </a:avLst>
            </a:prstGeom>
            <a:solidFill>
              <a:srgbClr val="1E2126"/>
            </a:solidFill>
            <a:ln w="19050">
              <a:solidFill>
                <a:srgbClr val="F28C28"/>
              </a:solidFill>
            </a:ln>
          </p:spPr>
          <p:txBody>
            <a:bodyPr rtlCol="0" anchor="ctr" wrap="square" tIns="27432" rIns="73152" bIns="27432">
              <a:noAutofit/>
            </a:bodyPr>
            <a:lstStyle/>
            <a:p>
              <a:pPr algn="l"/>
              <a:r>
                <a:rPr sz="1600" b="0" i="0" lang="en-GB">
                  <a:solidFill>
                    <a:srgbClr val="F2F2F2"/>
                  </a:solidFill>
                  <a:latin typeface="Arial"/>
                </a:rPr>
                <a:t>Tender: coal and water behind the cab</a:t>
              </a:r>
            </a:p>
          </p:txBody>
        </p:sp>
      </p:grpSp>
      <p:grpSp>
        <p:nvGrpSpPr>
          <p:cNvPr id="18" name="Callout" descr="Label: Side tanks: water."/>
          <p:cNvGrpSpPr/>
          <p:nvPr/>
        </p:nvGrpSpPr>
        <p:grpSpPr>
          <a:xfrm>
            <a:off x="6812280" y="1874520"/>
            <a:ext cx="1965960" cy="1636776"/>
            <a:chOff x="6812280" y="1874520"/>
            <a:chExt cx="1965960" cy="1636776"/>
          </a:xfrm>
        </p:grpSpPr>
        <p:cxnSp>
          <p:nvCxnSpPr>
            <p:cNvPr id="19" name="Connector 18"/>
            <p:cNvCxnSpPr/>
            <p:nvPr/>
          </p:nvCxnSpPr>
          <p:spPr>
            <a:xfrm>
              <a:off x="8138160" y="2240280"/>
              <a:ext cx="320040" cy="1197864"/>
            </a:xfrm>
            <a:prstGeom prst="line">
              <a:avLst/>
            </a:prstGeom>
            <a:ln w="28575">
              <a:solidFill>
                <a:srgbClr val="F28C28"/>
              </a:solidFill>
            </a:ln>
          </p:spPr>
        </p:cxnSp>
        <p:sp>
          <p:nvSpPr>
            <p:cNvPr id="20" name="Oval 19"/>
            <p:cNvSpPr/>
            <p:nvPr/>
          </p:nvSpPr>
          <p:spPr>
            <a:xfrm>
              <a:off x="8385048" y="3364992"/>
              <a:ext cx="146304" cy="146304"/>
            </a:xfrm>
            <a:prstGeom prst="ellipse">
              <a:avLst/>
            </a:prstGeom>
            <a:solidFill>
              <a:srgbClr val="F28C28"/>
            </a:solidFill>
            <a:ln w="12700">
              <a:solidFill>
                <a:srgbClr val="101418"/>
              </a:solidFill>
            </a:ln>
          </p:spPr>
          <p:txBody>
            <a:bodyPr rtlCol="0" anchor="ctr"/>
            <a:lstStyle/>
            <a:p>
              <a:pPr algn="ctr"/>
            </a:p>
          </p:txBody>
        </p:sp>
        <p:sp>
          <p:nvSpPr>
            <p:cNvPr id="21" name="Rounded Rectangle 20"/>
            <p:cNvSpPr/>
            <p:nvPr/>
          </p:nvSpPr>
          <p:spPr>
            <a:xfrm>
              <a:off x="6812280" y="1874520"/>
              <a:ext cx="1965960" cy="365760"/>
            </a:xfrm>
            <a:prstGeom prst="roundRect">
              <a:avLst>
                <a:gd name="adj" fmla="val 15000"/>
              </a:avLst>
            </a:prstGeom>
            <a:solidFill>
              <a:srgbClr val="1E2126"/>
            </a:solidFill>
            <a:ln w="19050">
              <a:solidFill>
                <a:srgbClr val="F28C28"/>
              </a:solidFill>
            </a:ln>
          </p:spPr>
          <p:txBody>
            <a:bodyPr rtlCol="0" anchor="ctr" wrap="square" tIns="27432" rIns="73152" bIns="27432">
              <a:noAutofit/>
            </a:bodyPr>
            <a:lstStyle/>
            <a:p>
              <a:pPr algn="l"/>
              <a:r>
                <a:rPr sz="1600" b="0" i="0" lang="en-GB">
                  <a:solidFill>
                    <a:srgbClr val="F2F2F2"/>
                  </a:solidFill>
                  <a:latin typeface="Arial"/>
                </a:rPr>
                <a:t>Side tanks: water.</a:t>
              </a:r>
            </a:p>
          </p:txBody>
        </p:sp>
      </p:grpSp>
      <p:grpSp>
        <p:nvGrpSpPr>
          <p:cNvPr id="22" name="Callout" descr="Label: Bunker: coal."/>
          <p:cNvGrpSpPr/>
          <p:nvPr/>
        </p:nvGrpSpPr>
        <p:grpSpPr>
          <a:xfrm>
            <a:off x="9646920" y="1874520"/>
            <a:ext cx="1508760" cy="1444752"/>
            <a:chOff x="9646920" y="1874520"/>
            <a:chExt cx="1508760" cy="1444752"/>
          </a:xfrm>
        </p:grpSpPr>
        <p:cxnSp>
          <p:nvCxnSpPr>
            <p:cNvPr id="23" name="Connector 22"/>
            <p:cNvCxnSpPr/>
            <p:nvPr/>
          </p:nvCxnSpPr>
          <p:spPr>
            <a:xfrm flipH="1">
              <a:off x="9966960" y="2240280"/>
              <a:ext cx="91440" cy="1005840"/>
            </a:xfrm>
            <a:prstGeom prst="line">
              <a:avLst/>
            </a:prstGeom>
            <a:ln w="28575">
              <a:solidFill>
                <a:srgbClr val="F28C28"/>
              </a:solidFill>
            </a:ln>
          </p:spPr>
        </p:cxnSp>
        <p:sp>
          <p:nvSpPr>
            <p:cNvPr id="24" name="Oval 23"/>
            <p:cNvSpPr/>
            <p:nvPr/>
          </p:nvSpPr>
          <p:spPr>
            <a:xfrm>
              <a:off x="9893808" y="3172968"/>
              <a:ext cx="146304" cy="146304"/>
            </a:xfrm>
            <a:prstGeom prst="ellipse">
              <a:avLst/>
            </a:prstGeom>
            <a:solidFill>
              <a:srgbClr val="F28C28"/>
            </a:solidFill>
            <a:ln w="12700">
              <a:solidFill>
                <a:srgbClr val="101418"/>
              </a:solidFill>
            </a:ln>
          </p:spPr>
          <p:txBody>
            <a:bodyPr rtlCol="0" anchor="ctr"/>
            <a:lstStyle/>
            <a:p>
              <a:pPr algn="ctr"/>
            </a:p>
          </p:txBody>
        </p:sp>
        <p:sp>
          <p:nvSpPr>
            <p:cNvPr id="25" name="Rounded Rectangle 24"/>
            <p:cNvSpPr/>
            <p:nvPr/>
          </p:nvSpPr>
          <p:spPr>
            <a:xfrm>
              <a:off x="9646920" y="1874520"/>
              <a:ext cx="1508760" cy="365760"/>
            </a:xfrm>
            <a:prstGeom prst="roundRect">
              <a:avLst>
                <a:gd name="adj" fmla="val 15000"/>
              </a:avLst>
            </a:prstGeom>
            <a:solidFill>
              <a:srgbClr val="1E2126"/>
            </a:solidFill>
            <a:ln w="19050">
              <a:solidFill>
                <a:srgbClr val="F28C28"/>
              </a:solidFill>
            </a:ln>
          </p:spPr>
          <p:txBody>
            <a:bodyPr rtlCol="0" anchor="ctr" wrap="square" tIns="27432" rIns="73152" bIns="27432">
              <a:noAutofit/>
            </a:bodyPr>
            <a:lstStyle/>
            <a:p>
              <a:pPr algn="l"/>
              <a:r>
                <a:rPr sz="1600" b="0" i="0" lang="en-GB">
                  <a:solidFill>
                    <a:srgbClr val="F2F2F2"/>
                  </a:solidFill>
                  <a:latin typeface="Arial"/>
                </a:rPr>
                <a:t>Bunker: coal.</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tender engine pulls a coal and water wagon. A tank engine carries both itself.</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Taking on water</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pic>
        <p:nvPicPr>
          <p:cNvPr id="8" name="Picture P06" descr="A water crane at Didcot Railway Centre."/>
          <p:cNvPicPr>
            <a:picLocks noChangeAspect="1"/>
          </p:cNvPicPr>
          <p:nvPr/>
        </p:nvPicPr>
        <p:blipFill>
          <a:blip r:embed="rId2"/>
          <a:srcRect t="1165" b="25165"/>
          <a:stretch>
            <a:fillRect/>
          </a:stretch>
        </p:blipFill>
        <p:spPr>
          <a:xfrm>
            <a:off x="548640" y="1371600"/>
            <a:ext cx="2926080" cy="3886200"/>
          </a:xfrm>
          <a:prstGeom prst="roundRect">
            <a:avLst>
              <a:gd name="adj" fmla="val 2500"/>
            </a:avLst>
          </a:prstGeom>
        </p:spPr>
      </p:pic>
      <p:sp>
        <p:nvSpPr>
          <p:cNvPr id="9" name="Credit"/>
          <p:cNvSpPr txBox="1"/>
          <p:nvPr/>
        </p:nvSpPr>
        <p:spPr>
          <a:xfrm>
            <a:off x="548640" y="5285232"/>
            <a:ext cx="2926080" cy="338328"/>
          </a:xfrm>
          <a:prstGeom prst="rect">
            <a:avLst/>
          </a:prstGeom>
          <a:noFill/>
        </p:spPr>
        <p:txBody>
          <a:bodyPr wrap="square" lIns="0" tIns="0" rIns="0" bIns="0" anchor="t">
            <a:noAutofit/>
          </a:bodyPr>
          <a:lstStyle/>
          <a:p>
            <a:pPr algn="l"/>
            <a:r>
              <a:rPr sz="1000" b="0" i="0" lang="en-GB">
                <a:solidFill>
                  <a:srgbClr val="A9B0B8"/>
                </a:solidFill>
                <a:latin typeface="Arial"/>
              </a:rPr>
              <a:t>Photo: Barry Skeates, CC BY 2.0, Wikimedia Commons.</a:t>
            </a:r>
          </a:p>
        </p:txBody>
      </p:sp>
      <p:grpSp>
        <p:nvGrpSpPr>
          <p:cNvPr id="10" name="Water crane diagram" descr="A water tower on legs feeds a pipe down to a water crane; the crane arm swings over the tender hatch and gravity sends the water down."/>
          <p:cNvGrpSpPr/>
          <p:nvPr/>
        </p:nvGrpSpPr>
        <p:grpSpPr>
          <a:xfrm>
            <a:off x="4206240" y="1874520"/>
            <a:ext cx="5394960" cy="3264408"/>
            <a:chOff x="4206240" y="1874520"/>
            <a:chExt cx="5394960" cy="3264408"/>
          </a:xfrm>
        </p:grpSpPr>
        <p:sp>
          <p:nvSpPr>
            <p:cNvPr id="11" name="Rectangle 10"/>
            <p:cNvSpPr/>
            <p:nvPr/>
          </p:nvSpPr>
          <p:spPr>
            <a:xfrm>
              <a:off x="4343400" y="3063240"/>
              <a:ext cx="91440" cy="2011680"/>
            </a:xfrm>
            <a:prstGeom prst="rect">
              <a:avLst/>
            </a:prstGeom>
            <a:solidFill>
              <a:srgbClr val="9AA0A6"/>
            </a:solidFill>
            <a:ln>
              <a:noFill/>
            </a:ln>
          </p:spPr>
          <p:txBody>
            <a:bodyPr rtlCol="0" anchor="ctr"/>
            <a:lstStyle/>
            <a:p>
              <a:pPr algn="ctr"/>
            </a:p>
          </p:txBody>
        </p:sp>
        <p:sp>
          <p:nvSpPr>
            <p:cNvPr id="12" name="Rectangle 11"/>
            <p:cNvSpPr/>
            <p:nvPr/>
          </p:nvSpPr>
          <p:spPr>
            <a:xfrm>
              <a:off x="4754880" y="3063240"/>
              <a:ext cx="91440" cy="2011680"/>
            </a:xfrm>
            <a:prstGeom prst="rect">
              <a:avLst/>
            </a:prstGeom>
            <a:solidFill>
              <a:srgbClr val="9AA0A6"/>
            </a:solidFill>
            <a:ln>
              <a:noFill/>
            </a:ln>
          </p:spPr>
          <p:txBody>
            <a:bodyPr rtlCol="0" anchor="ctr"/>
            <a:lstStyle/>
            <a:p>
              <a:pPr algn="ctr"/>
            </a:p>
          </p:txBody>
        </p:sp>
        <p:sp>
          <p:nvSpPr>
            <p:cNvPr id="13" name="Rectangle 12"/>
            <p:cNvSpPr/>
            <p:nvPr/>
          </p:nvSpPr>
          <p:spPr>
            <a:xfrm>
              <a:off x="5440680" y="3063240"/>
              <a:ext cx="91440" cy="2011680"/>
            </a:xfrm>
            <a:prstGeom prst="rect">
              <a:avLst/>
            </a:prstGeom>
            <a:solidFill>
              <a:srgbClr val="9AA0A6"/>
            </a:solidFill>
            <a:ln>
              <a:noFill/>
            </a:ln>
          </p:spPr>
          <p:txBody>
            <a:bodyPr rtlCol="0" anchor="ctr"/>
            <a:lstStyle/>
            <a:p>
              <a:pPr algn="ctr"/>
            </a:p>
          </p:txBody>
        </p:sp>
        <p:sp>
          <p:nvSpPr>
            <p:cNvPr id="14" name="Rectangle 13"/>
            <p:cNvSpPr/>
            <p:nvPr/>
          </p:nvSpPr>
          <p:spPr>
            <a:xfrm>
              <a:off x="5852160" y="3063240"/>
              <a:ext cx="91440" cy="2011680"/>
            </a:xfrm>
            <a:prstGeom prst="rect">
              <a:avLst/>
            </a:prstGeom>
            <a:solidFill>
              <a:srgbClr val="9AA0A6"/>
            </a:solidFill>
            <a:ln>
              <a:noFill/>
            </a:ln>
          </p:spPr>
          <p:txBody>
            <a:bodyPr rtlCol="0" anchor="ctr"/>
            <a:lstStyle/>
            <a:p>
              <a:pPr algn="ctr"/>
            </a:p>
          </p:txBody>
        </p:sp>
        <p:sp>
          <p:nvSpPr>
            <p:cNvPr id="15" name="Rounded Rectangle 14"/>
            <p:cNvSpPr/>
            <p:nvPr/>
          </p:nvSpPr>
          <p:spPr>
            <a:xfrm>
              <a:off x="4206240" y="1874520"/>
              <a:ext cx="1783080" cy="1188720"/>
            </a:xfrm>
            <a:prstGeom prst="roundRect">
              <a:avLst>
                <a:gd name="adj" fmla="val 9230"/>
              </a:avLst>
            </a:prstGeom>
            <a:solidFill>
              <a:srgbClr val="4DA3FF"/>
            </a:solidFill>
            <a:ln w="25400">
              <a:solidFill>
                <a:srgbClr val="FFFFFF"/>
              </a:solidFill>
            </a:ln>
          </p:spPr>
          <p:txBody>
            <a:bodyPr rtlCol="0" anchor="ctr"/>
            <a:lstStyle/>
            <a:p>
              <a:pPr algn="ctr"/>
            </a:p>
          </p:txBody>
        </p:sp>
        <p:sp>
          <p:nvSpPr>
            <p:cNvPr id="16" name="Freeform 15"/>
            <p:cNvSpPr/>
            <p:nvPr/>
          </p:nvSpPr>
          <p:spPr>
            <a:xfrm>
              <a:off x="5577840" y="3063240"/>
              <a:ext cx="2880360" cy="1737360"/>
            </a:xfrm>
            <a:custGeom>
              <a:avLst/>
              <a:gdLst/>
              <a:ahLst/>
              <a:cxnLst/>
              <a:rect l="l" t="t" r="r" b="b"/>
              <a:pathLst>
                <a:path w="2880360" h="1737360">
                  <a:moveTo>
                    <a:pt x="0" y="0"/>
                  </a:moveTo>
                  <a:lnTo>
                    <a:pt x="0" y="1737360"/>
                  </a:lnTo>
                  <a:lnTo>
                    <a:pt x="1600200" y="1737360"/>
                  </a:lnTo>
                  <a:lnTo>
                    <a:pt x="1600200" y="365760"/>
                  </a:lnTo>
                  <a:lnTo>
                    <a:pt x="2880360" y="365760"/>
                  </a:lnTo>
                </a:path>
              </a:pathLst>
            </a:custGeom>
            <a:noFill/>
            <a:ln w="114300">
              <a:solidFill>
                <a:srgbClr val="4DA3FF"/>
              </a:solidFill>
            </a:ln>
          </p:spPr>
          <p:txBody>
            <a:bodyPr rtlCol="0" anchor="ctr"/>
            <a:lstStyle/>
            <a:p>
              <a:pPr algn="ctr"/>
            </a:p>
          </p:txBody>
        </p:sp>
        <p:sp>
          <p:nvSpPr>
            <p:cNvPr id="17" name="Rectangle 16"/>
            <p:cNvSpPr/>
            <p:nvPr/>
          </p:nvSpPr>
          <p:spPr>
            <a:xfrm>
              <a:off x="7086600" y="3291840"/>
              <a:ext cx="182880" cy="1600200"/>
            </a:xfrm>
            <a:prstGeom prst="rect">
              <a:avLst/>
            </a:prstGeom>
            <a:solidFill>
              <a:srgbClr val="9AA0A6"/>
            </a:solidFill>
            <a:ln w="9525">
              <a:solidFill>
                <a:srgbClr val="101418"/>
              </a:solidFill>
            </a:ln>
          </p:spPr>
          <p:txBody>
            <a:bodyPr rtlCol="0" anchor="ctr"/>
            <a:lstStyle/>
            <a:p>
              <a:pPr algn="ctr"/>
            </a:p>
          </p:txBody>
        </p:sp>
        <p:sp>
          <p:nvSpPr>
            <p:cNvPr id="18" name="Rectangle 17"/>
            <p:cNvSpPr/>
            <p:nvPr/>
          </p:nvSpPr>
          <p:spPr>
            <a:xfrm>
              <a:off x="7086600" y="3337560"/>
              <a:ext cx="1417320" cy="164592"/>
            </a:xfrm>
            <a:prstGeom prst="rect">
              <a:avLst/>
            </a:prstGeom>
            <a:solidFill>
              <a:srgbClr val="9AA0A6"/>
            </a:solidFill>
            <a:ln w="9525">
              <a:solidFill>
                <a:srgbClr val="101418"/>
              </a:solidFill>
            </a:ln>
          </p:spPr>
          <p:txBody>
            <a:bodyPr rtlCol="0" anchor="ctr"/>
            <a:lstStyle/>
            <a:p>
              <a:pPr algn="ctr"/>
            </a:p>
          </p:txBody>
        </p:sp>
        <p:sp>
          <p:nvSpPr>
            <p:cNvPr id="19" name="Rectangle 18"/>
            <p:cNvSpPr/>
            <p:nvPr/>
          </p:nvSpPr>
          <p:spPr>
            <a:xfrm>
              <a:off x="8385048" y="3429000"/>
              <a:ext cx="146304" cy="411480"/>
            </a:xfrm>
            <a:prstGeom prst="rect">
              <a:avLst/>
            </a:prstGeom>
            <a:solidFill>
              <a:srgbClr val="9AA0A6"/>
            </a:solidFill>
            <a:ln w="9525">
              <a:solidFill>
                <a:srgbClr val="101418"/>
              </a:solidFill>
            </a:ln>
          </p:spPr>
          <p:txBody>
            <a:bodyPr rtlCol="0" anchor="ctr"/>
            <a:lstStyle/>
            <a:p>
              <a:pPr algn="ctr"/>
            </a:p>
          </p:txBody>
        </p:sp>
        <p:sp>
          <p:nvSpPr>
            <p:cNvPr id="20" name="Oval 19"/>
            <p:cNvSpPr/>
            <p:nvPr/>
          </p:nvSpPr>
          <p:spPr>
            <a:xfrm>
              <a:off x="8417052" y="3904488"/>
              <a:ext cx="82296" cy="109728"/>
            </a:xfrm>
            <a:prstGeom prst="ellipse">
              <a:avLst/>
            </a:prstGeom>
            <a:solidFill>
              <a:srgbClr val="4DA3FF"/>
            </a:solidFill>
            <a:ln>
              <a:noFill/>
            </a:ln>
          </p:spPr>
          <p:txBody>
            <a:bodyPr rtlCol="0" anchor="ctr"/>
            <a:lstStyle/>
            <a:p>
              <a:pPr algn="ctr"/>
            </a:p>
          </p:txBody>
        </p:sp>
        <p:sp>
          <p:nvSpPr>
            <p:cNvPr id="21" name="Oval 20"/>
            <p:cNvSpPr/>
            <p:nvPr/>
          </p:nvSpPr>
          <p:spPr>
            <a:xfrm>
              <a:off x="8417052" y="4059936"/>
              <a:ext cx="82296" cy="109728"/>
            </a:xfrm>
            <a:prstGeom prst="ellipse">
              <a:avLst/>
            </a:prstGeom>
            <a:solidFill>
              <a:srgbClr val="4DA3FF"/>
            </a:solidFill>
            <a:ln>
              <a:noFill/>
            </a:ln>
          </p:spPr>
          <p:txBody>
            <a:bodyPr rtlCol="0" anchor="ctr"/>
            <a:lstStyle/>
            <a:p>
              <a:pPr algn="ctr"/>
            </a:p>
          </p:txBody>
        </p:sp>
        <p:sp>
          <p:nvSpPr>
            <p:cNvPr id="22" name="Rectangle 21"/>
            <p:cNvSpPr/>
            <p:nvPr/>
          </p:nvSpPr>
          <p:spPr>
            <a:xfrm>
              <a:off x="7269480" y="5074920"/>
              <a:ext cx="2240280" cy="64008"/>
            </a:xfrm>
            <a:prstGeom prst="rect">
              <a:avLst/>
            </a:prstGeom>
            <a:solidFill>
              <a:srgbClr val="9AA0A6"/>
            </a:solidFill>
            <a:ln>
              <a:noFill/>
            </a:ln>
          </p:spPr>
          <p:txBody>
            <a:bodyPr rtlCol="0" anchor="ctr"/>
            <a:lstStyle/>
            <a:p>
              <a:pPr algn="ctr"/>
            </a:p>
          </p:txBody>
        </p:sp>
        <p:sp>
          <p:nvSpPr>
            <p:cNvPr id="23" name="Rounded Rectangle 22"/>
            <p:cNvSpPr/>
            <p:nvPr/>
          </p:nvSpPr>
          <p:spPr>
            <a:xfrm>
              <a:off x="7315200" y="4206240"/>
              <a:ext cx="2194560" cy="685800"/>
            </a:xfrm>
            <a:prstGeom prst="roundRect">
              <a:avLst>
                <a:gd name="adj" fmla="val 6666"/>
              </a:avLst>
            </a:prstGeom>
            <a:solidFill>
              <a:srgbClr val="6C7480"/>
            </a:solidFill>
            <a:ln w="12700">
              <a:solidFill>
                <a:srgbClr val="101418"/>
              </a:solidFill>
            </a:ln>
          </p:spPr>
          <p:txBody>
            <a:bodyPr rtlCol="0" anchor="ctr"/>
            <a:lstStyle/>
            <a:p>
              <a:pPr algn="ctr"/>
            </a:p>
          </p:txBody>
        </p:sp>
        <p:sp>
          <p:nvSpPr>
            <p:cNvPr id="24" name="Oval 23"/>
            <p:cNvSpPr/>
            <p:nvPr/>
          </p:nvSpPr>
          <p:spPr>
            <a:xfrm>
              <a:off x="8266176" y="4142232"/>
              <a:ext cx="384048" cy="128016"/>
            </a:xfrm>
            <a:prstGeom prst="ellipse">
              <a:avLst/>
            </a:prstGeom>
            <a:solidFill>
              <a:srgbClr val="1B1D21"/>
            </a:solidFill>
            <a:ln w="19050">
              <a:solidFill>
                <a:srgbClr val="9AA0A6"/>
              </a:solidFill>
            </a:ln>
          </p:spPr>
          <p:txBody>
            <a:bodyPr rtlCol="0" anchor="ctr"/>
            <a:lstStyle/>
            <a:p>
              <a:pPr algn="ctr"/>
            </a:p>
          </p:txBody>
        </p:sp>
        <p:sp>
          <p:nvSpPr>
            <p:cNvPr id="25" name="Oval 24"/>
            <p:cNvSpPr/>
            <p:nvPr/>
          </p:nvSpPr>
          <p:spPr>
            <a:xfrm>
              <a:off x="7671816" y="4873752"/>
              <a:ext cx="201168" cy="201168"/>
            </a:xfrm>
            <a:prstGeom prst="ellipse">
              <a:avLst/>
            </a:prstGeom>
            <a:solidFill>
              <a:srgbClr val="1B1D21"/>
            </a:solidFill>
            <a:ln w="12700">
              <a:solidFill>
                <a:srgbClr val="9AA0A6"/>
              </a:solidFill>
            </a:ln>
          </p:spPr>
          <p:txBody>
            <a:bodyPr rtlCol="0" anchor="ctr"/>
            <a:lstStyle/>
            <a:p>
              <a:pPr algn="ctr"/>
            </a:p>
          </p:txBody>
        </p:sp>
        <p:sp>
          <p:nvSpPr>
            <p:cNvPr id="26" name="Oval 25"/>
            <p:cNvSpPr/>
            <p:nvPr/>
          </p:nvSpPr>
          <p:spPr>
            <a:xfrm>
              <a:off x="9134856" y="4873752"/>
              <a:ext cx="201168" cy="201168"/>
            </a:xfrm>
            <a:prstGeom prst="ellipse">
              <a:avLst/>
            </a:prstGeom>
            <a:solidFill>
              <a:srgbClr val="1B1D21"/>
            </a:solidFill>
            <a:ln w="12700">
              <a:solidFill>
                <a:srgbClr val="9AA0A6"/>
              </a:solidFill>
            </a:ln>
          </p:spPr>
          <p:txBody>
            <a:bodyPr rtlCol="0" anchor="ctr"/>
            <a:lstStyle/>
            <a:p>
              <a:pPr algn="ctr"/>
            </a:p>
          </p:txBody>
        </p:sp>
        <p:sp>
          <p:nvSpPr>
            <p:cNvPr id="27" name="Freeform 26"/>
            <p:cNvSpPr/>
            <p:nvPr/>
          </p:nvSpPr>
          <p:spPr>
            <a:xfrm>
              <a:off x="6841880" y="2926080"/>
              <a:ext cx="1678160" cy="284649"/>
            </a:xfrm>
            <a:custGeom>
              <a:avLst/>
              <a:gdLst/>
              <a:ahLst/>
              <a:cxnLst/>
              <a:rect l="l" t="t" r="r" b="b"/>
              <a:pathLst>
                <a:path w="1678160" h="284649">
                  <a:moveTo>
                    <a:pt x="0" y="284649"/>
                  </a:moveTo>
                  <a:lnTo>
                    <a:pt x="29463" y="244854"/>
                  </a:lnTo>
                  <a:lnTo>
                    <a:pt x="68551" y="206714"/>
                  </a:lnTo>
                  <a:lnTo>
                    <a:pt x="116799" y="170682"/>
                  </a:lnTo>
                  <a:lnTo>
                    <a:pt x="173633" y="137187"/>
                  </a:lnTo>
                  <a:lnTo>
                    <a:pt x="238376" y="106626"/>
                  </a:lnTo>
                  <a:lnTo>
                    <a:pt x="310261" y="79362"/>
                  </a:lnTo>
                  <a:lnTo>
                    <a:pt x="388432" y="55721"/>
                  </a:lnTo>
                  <a:lnTo>
                    <a:pt x="471960" y="35982"/>
                  </a:lnTo>
                  <a:lnTo>
                    <a:pt x="559852" y="20381"/>
                  </a:lnTo>
                  <a:lnTo>
                    <a:pt x="651063" y="9103"/>
                  </a:lnTo>
                  <a:lnTo>
                    <a:pt x="744510" y="2283"/>
                  </a:lnTo>
                  <a:lnTo>
                    <a:pt x="839080" y="0"/>
                  </a:lnTo>
                  <a:lnTo>
                    <a:pt x="933650" y="2283"/>
                  </a:lnTo>
                  <a:lnTo>
                    <a:pt x="1027097" y="9103"/>
                  </a:lnTo>
                  <a:lnTo>
                    <a:pt x="1118308" y="20381"/>
                  </a:lnTo>
                  <a:lnTo>
                    <a:pt x="1206200" y="35982"/>
                  </a:lnTo>
                  <a:lnTo>
                    <a:pt x="1289728" y="55721"/>
                  </a:lnTo>
                  <a:lnTo>
                    <a:pt x="1367899" y="79362"/>
                  </a:lnTo>
                  <a:lnTo>
                    <a:pt x="1439784" y="106626"/>
                  </a:lnTo>
                  <a:lnTo>
                    <a:pt x="1504527" y="137187"/>
                  </a:lnTo>
                  <a:lnTo>
                    <a:pt x="1561361" y="170682"/>
                  </a:lnTo>
                  <a:lnTo>
                    <a:pt x="1609609" y="206714"/>
                  </a:lnTo>
                  <a:lnTo>
                    <a:pt x="1648697" y="244854"/>
                  </a:lnTo>
                  <a:lnTo>
                    <a:pt x="1678160" y="284649"/>
                  </a:lnTo>
                </a:path>
              </a:pathLst>
            </a:custGeom>
            <a:noFill/>
            <a:ln w="31750">
              <a:solidFill>
                <a:srgbClr val="F28C28"/>
              </a:solidFill>
              <a:tailEnd type="triangle" w="lg" len="lg"/>
            </a:ln>
          </p:spPr>
          <p:txBody>
            <a:bodyPr rtlCol="0" anchor="ctr"/>
            <a:lstStyle/>
            <a:p>
              <a:pPr algn="ctr"/>
            </a:p>
          </p:txBody>
        </p:sp>
        <p:cxnSp>
          <p:nvCxnSpPr>
            <p:cNvPr id="28" name="Connector 27"/>
            <p:cNvCxnSpPr/>
            <p:nvPr/>
          </p:nvCxnSpPr>
          <p:spPr>
            <a:xfrm>
              <a:off x="5806440" y="3291840"/>
              <a:ext cx="0" cy="548640"/>
            </a:xfrm>
            <a:prstGeom prst="line">
              <a:avLst/>
            </a:prstGeom>
            <a:ln w="28575">
              <a:solidFill>
                <a:srgbClr val="F28C28"/>
              </a:solidFill>
              <a:tailEnd type="triangle" w="lg" len="lg"/>
            </a:ln>
          </p:spPr>
        </p:cxnSp>
        <p:cxnSp>
          <p:nvCxnSpPr>
            <p:cNvPr id="29" name="Connector 28"/>
            <p:cNvCxnSpPr/>
            <p:nvPr/>
          </p:nvCxnSpPr>
          <p:spPr>
            <a:xfrm>
              <a:off x="5806440" y="3977640"/>
              <a:ext cx="0" cy="548640"/>
            </a:xfrm>
            <a:prstGeom prst="line">
              <a:avLst/>
            </a:prstGeom>
            <a:ln w="28575">
              <a:solidFill>
                <a:srgbClr val="F28C28"/>
              </a:solidFill>
              <a:tailEnd type="triangle" w="lg" len="lg"/>
            </a:ln>
          </p:spPr>
        </p:cxnSp>
        <p:sp>
          <p:nvSpPr>
            <p:cNvPr id="30" name="TextBox 29"/>
            <p:cNvSpPr txBox="1"/>
            <p:nvPr/>
          </p:nvSpPr>
          <p:spPr>
            <a:xfrm>
              <a:off x="6492240" y="2395728"/>
              <a:ext cx="3108960" cy="457200"/>
            </a:xfrm>
            <a:prstGeom prst="rect">
              <a:avLst/>
            </a:prstGeom>
            <a:noFill/>
          </p:spPr>
          <p:txBody>
            <a:bodyPr wrap="square" lIns="0" tIns="0" rIns="0" bIns="0" anchor="b">
              <a:noAutofit/>
            </a:bodyPr>
            <a:lstStyle/>
            <a:p>
              <a:pPr algn="ctr"/>
              <a:r>
                <a:rPr sz="1600" b="0" i="0" lang="en-GB">
                  <a:solidFill>
                    <a:srgbClr val="F2F2F2"/>
                  </a:solidFill>
                  <a:latin typeface="Arial"/>
                </a:rPr>
                <a:t>Arm swings over the hatch</a:t>
              </a:r>
            </a:p>
          </p:txBody>
        </p:sp>
        <p:sp>
          <p:nvSpPr>
            <p:cNvPr id="31" name="TextBox 30"/>
            <p:cNvSpPr txBox="1"/>
            <p:nvPr/>
          </p:nvSpPr>
          <p:spPr>
            <a:xfrm>
              <a:off x="5943600" y="3611880"/>
              <a:ext cx="1005840" cy="365760"/>
            </a:xfrm>
            <a:prstGeom prst="rect">
              <a:avLst/>
            </a:prstGeom>
            <a:noFill/>
          </p:spPr>
          <p:txBody>
            <a:bodyPr wrap="square" lIns="0" tIns="0" rIns="0" bIns="0" anchor="ctr">
              <a:noAutofit/>
            </a:bodyPr>
            <a:lstStyle/>
            <a:p>
              <a:pPr algn="l"/>
              <a:r>
                <a:rPr sz="1600" b="0" i="0" lang="en-GB">
                  <a:solidFill>
                    <a:srgbClr val="F2F2F2"/>
                  </a:solidFill>
                  <a:latin typeface="Arial"/>
                </a:rPr>
                <a:t>Gravity</a:t>
              </a:r>
            </a:p>
          </p:txBody>
        </p:sp>
      </p:grpSp>
      <p:pic>
        <p:nvPicPr>
          <p:cNvPr id="32" name="Picture P07" descr="A water tower with a signal beside it."/>
          <p:cNvPicPr>
            <a:picLocks noChangeAspect="1"/>
          </p:cNvPicPr>
          <p:nvPr/>
        </p:nvPicPr>
        <p:blipFill>
          <a:blip r:embed="rId3"/>
          <a:srcRect t="8824" b="42824"/>
          <a:stretch>
            <a:fillRect/>
          </a:stretch>
        </p:blipFill>
        <p:spPr>
          <a:xfrm>
            <a:off x="9628632" y="3611880"/>
            <a:ext cx="2011680" cy="1463040"/>
          </a:xfrm>
          <a:prstGeom prst="roundRect">
            <a:avLst>
              <a:gd name="adj" fmla="val 5000"/>
            </a:avLst>
          </a:prstGeom>
        </p:spPr>
      </p:pic>
      <p:sp>
        <p:nvSpPr>
          <p:cNvPr id="33" name="Credit"/>
          <p:cNvSpPr txBox="1"/>
          <p:nvPr/>
        </p:nvSpPr>
        <p:spPr>
          <a:xfrm>
            <a:off x="9628632" y="5102352"/>
            <a:ext cx="2011680" cy="338328"/>
          </a:xfrm>
          <a:prstGeom prst="rect">
            <a:avLst/>
          </a:prstGeom>
          <a:noFill/>
        </p:spPr>
        <p:txBody>
          <a:bodyPr wrap="square" lIns="0" tIns="0" rIns="0" bIns="0" anchor="t">
            <a:noAutofit/>
          </a:bodyPr>
          <a:lstStyle/>
          <a:p>
            <a:pPr algn="l"/>
            <a:r>
              <a:rPr sz="1000" b="0" i="0" lang="en-GB">
                <a:solidFill>
                  <a:srgbClr val="A9B0B8"/>
                </a:solidFill>
                <a:latin typeface="Arial"/>
              </a:rPr>
              <a:t>Photo: David Merrett, CC BY 2.0,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water crane swings over the engine. Water flows down from a tank above.</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Taking on coal</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pic>
        <p:nvPicPr>
          <p:cNvPr id="8" name="Picture P08" descr="A raised coaling stage at the Great Western Society site, Didcot."/>
          <p:cNvPicPr>
            <a:picLocks noChangeAspect="1"/>
          </p:cNvPicPr>
          <p:nvPr/>
        </p:nvPicPr>
        <p:blipFill>
          <a:blip r:embed="rId2"/>
          <a:stretch>
            <a:fillRect/>
          </a:stretch>
        </p:blipFill>
        <p:spPr>
          <a:xfrm>
            <a:off x="548640" y="1371600"/>
            <a:ext cx="4114800" cy="3086100"/>
          </a:xfrm>
          <a:prstGeom prst="roundRect">
            <a:avLst>
              <a:gd name="adj" fmla="val 2370"/>
            </a:avLst>
          </a:prstGeom>
        </p:spPr>
      </p:pic>
      <p:sp>
        <p:nvSpPr>
          <p:cNvPr id="9" name="Credit"/>
          <p:cNvSpPr txBox="1"/>
          <p:nvPr/>
        </p:nvSpPr>
        <p:spPr>
          <a:xfrm>
            <a:off x="548640" y="4485132"/>
            <a:ext cx="4114800" cy="182880"/>
          </a:xfrm>
          <a:prstGeom prst="rect">
            <a:avLst/>
          </a:prstGeom>
          <a:noFill/>
        </p:spPr>
        <p:txBody>
          <a:bodyPr wrap="square" lIns="0" tIns="0" rIns="0" bIns="0" anchor="t">
            <a:noAutofit/>
          </a:bodyPr>
          <a:lstStyle/>
          <a:p>
            <a:pPr algn="l"/>
            <a:r>
              <a:rPr sz="1000" b="0" i="0" lang="en-GB">
                <a:solidFill>
                  <a:srgbClr val="A9B0B8"/>
                </a:solidFill>
                <a:latin typeface="Arial"/>
              </a:rPr>
              <a:t>Photo: Gillett's Crossing, CC BY 2.0, Wikimedia Commons.</a:t>
            </a:r>
          </a:p>
        </p:txBody>
      </p:sp>
      <p:sp>
        <p:nvSpPr>
          <p:cNvPr id="10" name="TextBox 9"/>
          <p:cNvSpPr txBox="1"/>
          <p:nvPr/>
        </p:nvSpPr>
        <p:spPr>
          <a:xfrm>
            <a:off x="5120640" y="1298448"/>
            <a:ext cx="2743200" cy="365760"/>
          </a:xfrm>
          <a:prstGeom prst="rect">
            <a:avLst/>
          </a:prstGeom>
          <a:noFill/>
        </p:spPr>
        <p:txBody>
          <a:bodyPr wrap="square" lIns="0" tIns="0" rIns="0" bIns="0" anchor="t">
            <a:noAutofit/>
          </a:bodyPr>
          <a:lstStyle/>
          <a:p>
            <a:pPr algn="l"/>
            <a:r>
              <a:rPr sz="1800" b="1" i="0" lang="en-GB">
                <a:solidFill>
                  <a:srgbClr val="F28C28"/>
                </a:solidFill>
                <a:latin typeface="Arial"/>
              </a:rPr>
              <a:t>Coal stage</a:t>
            </a:r>
          </a:p>
        </p:txBody>
      </p:sp>
      <p:grpSp>
        <p:nvGrpSpPr>
          <p:cNvPr id="11" name="Coal stage diagram" descr="Coal stage: coal sits on a raised platform and slides down a chute into the tender below, by gravity."/>
          <p:cNvGrpSpPr/>
          <p:nvPr/>
        </p:nvGrpSpPr>
        <p:grpSpPr>
          <a:xfrm>
            <a:off x="5120640" y="1664208"/>
            <a:ext cx="5669280" cy="1691640"/>
            <a:chOff x="5120640" y="1664208"/>
            <a:chExt cx="5669280" cy="1691640"/>
          </a:xfrm>
        </p:grpSpPr>
        <p:sp>
          <p:nvSpPr>
            <p:cNvPr id="12" name="Rectangle 11"/>
            <p:cNvSpPr/>
            <p:nvPr/>
          </p:nvSpPr>
          <p:spPr>
            <a:xfrm>
              <a:off x="5120640" y="3291840"/>
              <a:ext cx="5669280" cy="64008"/>
            </a:xfrm>
            <a:prstGeom prst="rect">
              <a:avLst/>
            </a:prstGeom>
            <a:solidFill>
              <a:srgbClr val="9AA0A6"/>
            </a:solidFill>
            <a:ln>
              <a:noFill/>
            </a:ln>
          </p:spPr>
          <p:txBody>
            <a:bodyPr rtlCol="0" anchor="ctr"/>
            <a:lstStyle/>
            <a:p>
              <a:pPr algn="ctr"/>
            </a:p>
          </p:txBody>
        </p:sp>
        <p:sp>
          <p:nvSpPr>
            <p:cNvPr id="13" name="Rectangle 12"/>
            <p:cNvSpPr/>
            <p:nvPr/>
          </p:nvSpPr>
          <p:spPr>
            <a:xfrm>
              <a:off x="5257800" y="2286000"/>
              <a:ext cx="91440" cy="1005840"/>
            </a:xfrm>
            <a:prstGeom prst="rect">
              <a:avLst/>
            </a:prstGeom>
            <a:solidFill>
              <a:srgbClr val="9AA0A6"/>
            </a:solidFill>
            <a:ln>
              <a:noFill/>
            </a:ln>
          </p:spPr>
          <p:txBody>
            <a:bodyPr rtlCol="0" anchor="ctr"/>
            <a:lstStyle/>
            <a:p>
              <a:pPr algn="ctr"/>
            </a:p>
          </p:txBody>
        </p:sp>
        <p:sp>
          <p:nvSpPr>
            <p:cNvPr id="14" name="Rectangle 13"/>
            <p:cNvSpPr/>
            <p:nvPr/>
          </p:nvSpPr>
          <p:spPr>
            <a:xfrm>
              <a:off x="6172200" y="2286000"/>
              <a:ext cx="91440" cy="1005840"/>
            </a:xfrm>
            <a:prstGeom prst="rect">
              <a:avLst/>
            </a:prstGeom>
            <a:solidFill>
              <a:srgbClr val="9AA0A6"/>
            </a:solidFill>
            <a:ln>
              <a:noFill/>
            </a:ln>
          </p:spPr>
          <p:txBody>
            <a:bodyPr rtlCol="0" anchor="ctr"/>
            <a:lstStyle/>
            <a:p>
              <a:pPr algn="ctr"/>
            </a:p>
          </p:txBody>
        </p:sp>
        <p:sp>
          <p:nvSpPr>
            <p:cNvPr id="15" name="Rectangle 14"/>
            <p:cNvSpPr/>
            <p:nvPr/>
          </p:nvSpPr>
          <p:spPr>
            <a:xfrm>
              <a:off x="7086600" y="2286000"/>
              <a:ext cx="91440" cy="1005840"/>
            </a:xfrm>
            <a:prstGeom prst="rect">
              <a:avLst/>
            </a:prstGeom>
            <a:solidFill>
              <a:srgbClr val="9AA0A6"/>
            </a:solidFill>
            <a:ln>
              <a:noFill/>
            </a:ln>
          </p:spPr>
          <p:txBody>
            <a:bodyPr rtlCol="0" anchor="ctr"/>
            <a:lstStyle/>
            <a:p>
              <a:pPr algn="ctr"/>
            </a:p>
          </p:txBody>
        </p:sp>
        <p:sp>
          <p:nvSpPr>
            <p:cNvPr id="16" name="Rectangle 15"/>
            <p:cNvSpPr/>
            <p:nvPr/>
          </p:nvSpPr>
          <p:spPr>
            <a:xfrm>
              <a:off x="7863840" y="2286000"/>
              <a:ext cx="91440" cy="1005840"/>
            </a:xfrm>
            <a:prstGeom prst="rect">
              <a:avLst/>
            </a:prstGeom>
            <a:solidFill>
              <a:srgbClr val="9AA0A6"/>
            </a:solidFill>
            <a:ln>
              <a:noFill/>
            </a:ln>
          </p:spPr>
          <p:txBody>
            <a:bodyPr rtlCol="0" anchor="ctr"/>
            <a:lstStyle/>
            <a:p>
              <a:pPr algn="ctr"/>
            </a:p>
          </p:txBody>
        </p:sp>
        <p:sp>
          <p:nvSpPr>
            <p:cNvPr id="17" name="Rectangle 16"/>
            <p:cNvSpPr/>
            <p:nvPr/>
          </p:nvSpPr>
          <p:spPr>
            <a:xfrm>
              <a:off x="5120640" y="2148840"/>
              <a:ext cx="2926080" cy="137160"/>
            </a:xfrm>
            <a:prstGeom prst="rect">
              <a:avLst/>
            </a:prstGeom>
            <a:solidFill>
              <a:srgbClr val="6B5B4B"/>
            </a:solidFill>
            <a:ln w="9525">
              <a:solidFill>
                <a:srgbClr val="101418"/>
              </a:solidFill>
            </a:ln>
          </p:spPr>
          <p:txBody>
            <a:bodyPr rtlCol="0" anchor="ctr"/>
            <a:lstStyle/>
            <a:p>
              <a:pPr algn="ctr"/>
            </a:p>
          </p:txBody>
        </p:sp>
        <p:sp>
          <p:nvSpPr>
            <p:cNvPr id="18" name="Freeform 17"/>
            <p:cNvSpPr/>
            <p:nvPr/>
          </p:nvSpPr>
          <p:spPr>
            <a:xfrm>
              <a:off x="5989320" y="1737360"/>
              <a:ext cx="1371600" cy="411480"/>
            </a:xfrm>
            <a:custGeom>
              <a:avLst/>
              <a:gdLst/>
              <a:ahLst/>
              <a:cxnLst/>
              <a:rect l="l" t="t" r="r" b="b"/>
              <a:pathLst>
                <a:path w="1371600" h="411480">
                  <a:moveTo>
                    <a:pt x="0" y="411480"/>
                  </a:moveTo>
                  <a:lnTo>
                    <a:pt x="246888" y="164592"/>
                  </a:lnTo>
                  <a:lnTo>
                    <a:pt x="521208" y="61722"/>
                  </a:lnTo>
                  <a:lnTo>
                    <a:pt x="754380" y="0"/>
                  </a:lnTo>
                  <a:lnTo>
                    <a:pt x="1028700" y="123444"/>
                  </a:lnTo>
                  <a:lnTo>
                    <a:pt x="1261872" y="246888"/>
                  </a:lnTo>
                  <a:lnTo>
                    <a:pt x="1371600" y="411480"/>
                  </a:lnTo>
                  <a:close/>
                </a:path>
              </a:pathLst>
            </a:custGeom>
            <a:solidFill>
              <a:srgbClr val="1B1D21"/>
            </a:solidFill>
            <a:ln w="25400">
              <a:solidFill>
                <a:srgbClr val="6B7078"/>
              </a:solidFill>
            </a:ln>
          </p:spPr>
          <p:txBody>
            <a:bodyPr rtlCol="0" anchor="ctr"/>
            <a:lstStyle/>
            <a:p>
              <a:pPr algn="ctr"/>
            </a:p>
          </p:txBody>
        </p:sp>
        <p:sp>
          <p:nvSpPr>
            <p:cNvPr id="19" name="Freeform 18"/>
            <p:cNvSpPr/>
            <p:nvPr/>
          </p:nvSpPr>
          <p:spPr>
            <a:xfrm>
              <a:off x="8046720" y="2148840"/>
              <a:ext cx="1143000" cy="548640"/>
            </a:xfrm>
            <a:custGeom>
              <a:avLst/>
              <a:gdLst/>
              <a:ahLst/>
              <a:cxnLst/>
              <a:rect l="l" t="t" r="r" b="b"/>
              <a:pathLst>
                <a:path w="1143000" h="548640">
                  <a:moveTo>
                    <a:pt x="0" y="0"/>
                  </a:moveTo>
                  <a:lnTo>
                    <a:pt x="0" y="182880"/>
                  </a:lnTo>
                  <a:lnTo>
                    <a:pt x="1143000" y="548640"/>
                  </a:lnTo>
                  <a:lnTo>
                    <a:pt x="1143000" y="365760"/>
                  </a:lnTo>
                  <a:close/>
                </a:path>
              </a:pathLst>
            </a:custGeom>
            <a:solidFill>
              <a:srgbClr val="9AA0A6"/>
            </a:solidFill>
            <a:ln w="9525">
              <a:solidFill>
                <a:srgbClr val="101418"/>
              </a:solidFill>
            </a:ln>
          </p:spPr>
          <p:txBody>
            <a:bodyPr rtlCol="0" anchor="ctr"/>
            <a:lstStyle/>
            <a:p>
              <a:pPr algn="ctr"/>
            </a:p>
          </p:txBody>
        </p:sp>
        <p:sp>
          <p:nvSpPr>
            <p:cNvPr id="20" name="Rectangle 19"/>
            <p:cNvSpPr/>
            <p:nvPr/>
          </p:nvSpPr>
          <p:spPr>
            <a:xfrm>
              <a:off x="8549640" y="2606040"/>
              <a:ext cx="2011680" cy="621792"/>
            </a:xfrm>
            <a:prstGeom prst="rect">
              <a:avLst/>
            </a:prstGeom>
            <a:solidFill>
              <a:srgbClr val="6C7480"/>
            </a:solidFill>
            <a:ln w="12700">
              <a:solidFill>
                <a:srgbClr val="101418"/>
              </a:solidFill>
            </a:ln>
          </p:spPr>
          <p:txBody>
            <a:bodyPr rtlCol="0" anchor="ctr"/>
            <a:lstStyle/>
            <a:p>
              <a:pPr algn="ctr"/>
            </a:p>
          </p:txBody>
        </p:sp>
        <p:sp>
          <p:nvSpPr>
            <p:cNvPr id="21" name="Freeform 20"/>
            <p:cNvSpPr/>
            <p:nvPr/>
          </p:nvSpPr>
          <p:spPr>
            <a:xfrm>
              <a:off x="8869680" y="2496312"/>
              <a:ext cx="548640" cy="109728"/>
            </a:xfrm>
            <a:custGeom>
              <a:avLst/>
              <a:gdLst/>
              <a:ahLst/>
              <a:cxnLst/>
              <a:rect l="l" t="t" r="r" b="b"/>
              <a:pathLst>
                <a:path w="548640" h="109728">
                  <a:moveTo>
                    <a:pt x="0" y="109728"/>
                  </a:moveTo>
                  <a:lnTo>
                    <a:pt x="98755" y="43891"/>
                  </a:lnTo>
                  <a:lnTo>
                    <a:pt x="208483" y="16459"/>
                  </a:lnTo>
                  <a:lnTo>
                    <a:pt x="301752" y="0"/>
                  </a:lnTo>
                  <a:lnTo>
                    <a:pt x="411480" y="32918"/>
                  </a:lnTo>
                  <a:lnTo>
                    <a:pt x="504749" y="65837"/>
                  </a:lnTo>
                  <a:lnTo>
                    <a:pt x="548640" y="109728"/>
                  </a:lnTo>
                  <a:close/>
                </a:path>
              </a:pathLst>
            </a:custGeom>
            <a:solidFill>
              <a:srgbClr val="1B1D21"/>
            </a:solidFill>
            <a:ln w="25400">
              <a:solidFill>
                <a:srgbClr val="6B7078"/>
              </a:solidFill>
            </a:ln>
          </p:spPr>
          <p:txBody>
            <a:bodyPr rtlCol="0" anchor="ctr"/>
            <a:lstStyle/>
            <a:p>
              <a:pPr algn="ctr"/>
            </a:p>
          </p:txBody>
        </p:sp>
        <p:sp>
          <p:nvSpPr>
            <p:cNvPr id="22" name="Oval 21"/>
            <p:cNvSpPr/>
            <p:nvPr/>
          </p:nvSpPr>
          <p:spPr>
            <a:xfrm>
              <a:off x="8823960" y="3108960"/>
              <a:ext cx="182880" cy="182880"/>
            </a:xfrm>
            <a:prstGeom prst="ellipse">
              <a:avLst/>
            </a:prstGeom>
            <a:solidFill>
              <a:srgbClr val="1B1D21"/>
            </a:solidFill>
            <a:ln w="12700">
              <a:solidFill>
                <a:srgbClr val="9AA0A6"/>
              </a:solidFill>
            </a:ln>
          </p:spPr>
          <p:txBody>
            <a:bodyPr rtlCol="0" anchor="ctr"/>
            <a:lstStyle/>
            <a:p>
              <a:pPr algn="ctr"/>
            </a:p>
          </p:txBody>
        </p:sp>
        <p:sp>
          <p:nvSpPr>
            <p:cNvPr id="23" name="Oval 22"/>
            <p:cNvSpPr/>
            <p:nvPr/>
          </p:nvSpPr>
          <p:spPr>
            <a:xfrm>
              <a:off x="10104120" y="3108960"/>
              <a:ext cx="182880" cy="182880"/>
            </a:xfrm>
            <a:prstGeom prst="ellipse">
              <a:avLst/>
            </a:prstGeom>
            <a:solidFill>
              <a:srgbClr val="1B1D21"/>
            </a:solidFill>
            <a:ln w="12700">
              <a:solidFill>
                <a:srgbClr val="9AA0A6"/>
              </a:solidFill>
            </a:ln>
          </p:spPr>
          <p:txBody>
            <a:bodyPr rtlCol="0" anchor="ctr"/>
            <a:lstStyle/>
            <a:p>
              <a:pPr algn="ctr"/>
            </a:p>
          </p:txBody>
        </p:sp>
        <p:cxnSp>
          <p:nvCxnSpPr>
            <p:cNvPr id="24" name="Connector 23"/>
            <p:cNvCxnSpPr/>
            <p:nvPr/>
          </p:nvCxnSpPr>
          <p:spPr>
            <a:xfrm>
              <a:off x="8183880" y="2057400"/>
              <a:ext cx="868680" cy="283464"/>
            </a:xfrm>
            <a:prstGeom prst="line">
              <a:avLst/>
            </a:prstGeom>
            <a:ln w="28575">
              <a:solidFill>
                <a:srgbClr val="F28C28"/>
              </a:solidFill>
              <a:tailEnd type="triangle" w="lg" len="lg"/>
            </a:ln>
          </p:spPr>
        </p:cxnSp>
        <p:sp>
          <p:nvSpPr>
            <p:cNvPr id="25" name="TextBox 24"/>
            <p:cNvSpPr txBox="1"/>
            <p:nvPr/>
          </p:nvSpPr>
          <p:spPr>
            <a:xfrm>
              <a:off x="8229600" y="1664208"/>
              <a:ext cx="1280160" cy="329184"/>
            </a:xfrm>
            <a:prstGeom prst="rect">
              <a:avLst/>
            </a:prstGeom>
            <a:noFill/>
          </p:spPr>
          <p:txBody>
            <a:bodyPr wrap="square" lIns="0" tIns="0" rIns="0" bIns="0" anchor="b">
              <a:noAutofit/>
            </a:bodyPr>
            <a:lstStyle/>
            <a:p>
              <a:pPr algn="l"/>
              <a:r>
                <a:rPr sz="1600" b="0" i="0" lang="en-GB">
                  <a:solidFill>
                    <a:srgbClr val="F2F2F2"/>
                  </a:solidFill>
                  <a:latin typeface="Arial"/>
                </a:rPr>
                <a:t>Gravity</a:t>
              </a:r>
            </a:p>
          </p:txBody>
        </p:sp>
      </p:grpSp>
      <p:sp>
        <p:nvSpPr>
          <p:cNvPr id="26" name="TextBox 25"/>
          <p:cNvSpPr txBox="1"/>
          <p:nvPr/>
        </p:nvSpPr>
        <p:spPr>
          <a:xfrm>
            <a:off x="5120640" y="3474720"/>
            <a:ext cx="2743200" cy="365760"/>
          </a:xfrm>
          <a:prstGeom prst="rect">
            <a:avLst/>
          </a:prstGeom>
          <a:noFill/>
        </p:spPr>
        <p:txBody>
          <a:bodyPr wrap="square" lIns="0" tIns="0" rIns="0" bIns="0" anchor="t">
            <a:noAutofit/>
          </a:bodyPr>
          <a:lstStyle/>
          <a:p>
            <a:pPr algn="l"/>
            <a:r>
              <a:rPr sz="1800" b="1" i="0" lang="en-GB">
                <a:solidFill>
                  <a:srgbClr val="F28C28"/>
                </a:solidFill>
                <a:latin typeface="Arial"/>
              </a:rPr>
              <a:t>Coaling tower</a:t>
            </a:r>
          </a:p>
        </p:txBody>
      </p:sp>
      <p:grpSp>
        <p:nvGrpSpPr>
          <p:cNvPr id="27" name="Coaling tower diagram" descr="Coaling tower: coal is lifted to the top of a tall tower and drops through a hopper into the tender."/>
          <p:cNvGrpSpPr/>
          <p:nvPr/>
        </p:nvGrpSpPr>
        <p:grpSpPr>
          <a:xfrm>
            <a:off x="5120640" y="3931920"/>
            <a:ext cx="4206240" cy="1728216"/>
            <a:chOff x="5120640" y="3931920"/>
            <a:chExt cx="4206240" cy="1728216"/>
          </a:xfrm>
        </p:grpSpPr>
        <p:sp>
          <p:nvSpPr>
            <p:cNvPr id="28" name="Rectangle 27"/>
            <p:cNvSpPr/>
            <p:nvPr/>
          </p:nvSpPr>
          <p:spPr>
            <a:xfrm>
              <a:off x="5120640" y="5596128"/>
              <a:ext cx="4206240" cy="64008"/>
            </a:xfrm>
            <a:prstGeom prst="rect">
              <a:avLst/>
            </a:prstGeom>
            <a:solidFill>
              <a:srgbClr val="9AA0A6"/>
            </a:solidFill>
            <a:ln>
              <a:noFill/>
            </a:ln>
          </p:spPr>
          <p:txBody>
            <a:bodyPr rtlCol="0" anchor="ctr"/>
            <a:lstStyle/>
            <a:p>
              <a:pPr algn="ctr"/>
            </a:p>
          </p:txBody>
        </p:sp>
        <p:sp>
          <p:nvSpPr>
            <p:cNvPr id="29" name="Rectangle 28"/>
            <p:cNvSpPr/>
            <p:nvPr/>
          </p:nvSpPr>
          <p:spPr>
            <a:xfrm>
              <a:off x="5577840" y="3931920"/>
              <a:ext cx="914400" cy="1664208"/>
            </a:xfrm>
            <a:prstGeom prst="rect">
              <a:avLst/>
            </a:prstGeom>
            <a:solidFill>
              <a:srgbClr val="343A43"/>
            </a:solidFill>
            <a:ln w="19050">
              <a:solidFill>
                <a:srgbClr val="9AA0A6"/>
              </a:solidFill>
            </a:ln>
          </p:spPr>
          <p:txBody>
            <a:bodyPr rtlCol="0" anchor="ctr"/>
            <a:lstStyle/>
            <a:p>
              <a:pPr algn="ctr"/>
            </a:p>
          </p:txBody>
        </p:sp>
        <p:sp>
          <p:nvSpPr>
            <p:cNvPr id="30" name="Rectangle 29"/>
            <p:cNvSpPr/>
            <p:nvPr/>
          </p:nvSpPr>
          <p:spPr>
            <a:xfrm>
              <a:off x="5650992" y="4005072"/>
              <a:ext cx="768096" cy="411480"/>
            </a:xfrm>
            <a:prstGeom prst="rect">
              <a:avLst/>
            </a:prstGeom>
            <a:solidFill>
              <a:srgbClr val="1B1D21"/>
            </a:solidFill>
            <a:ln w="19050">
              <a:solidFill>
                <a:srgbClr val="6B7078"/>
              </a:solidFill>
            </a:ln>
          </p:spPr>
          <p:txBody>
            <a:bodyPr rtlCol="0" anchor="ctr"/>
            <a:lstStyle/>
            <a:p>
              <a:pPr algn="ctr"/>
            </a:p>
          </p:txBody>
        </p:sp>
        <p:sp>
          <p:nvSpPr>
            <p:cNvPr id="31" name="Freeform 30"/>
            <p:cNvSpPr/>
            <p:nvPr/>
          </p:nvSpPr>
          <p:spPr>
            <a:xfrm>
              <a:off x="6492240" y="4434840"/>
              <a:ext cx="777240" cy="393192"/>
            </a:xfrm>
            <a:custGeom>
              <a:avLst/>
              <a:gdLst/>
              <a:ahLst/>
              <a:cxnLst/>
              <a:rect l="l" t="t" r="r" b="b"/>
              <a:pathLst>
                <a:path w="777240" h="393192">
                  <a:moveTo>
                    <a:pt x="0" y="0"/>
                  </a:moveTo>
                  <a:lnTo>
                    <a:pt x="777240" y="0"/>
                  </a:lnTo>
                  <a:lnTo>
                    <a:pt x="502920" y="393192"/>
                  </a:lnTo>
                  <a:lnTo>
                    <a:pt x="274320" y="393192"/>
                  </a:lnTo>
                  <a:close/>
                </a:path>
              </a:pathLst>
            </a:custGeom>
            <a:solidFill>
              <a:srgbClr val="9AA0A6"/>
            </a:solidFill>
            <a:ln w="9525">
              <a:solidFill>
                <a:srgbClr val="101418"/>
              </a:solidFill>
            </a:ln>
          </p:spPr>
          <p:txBody>
            <a:bodyPr rtlCol="0" anchor="ctr"/>
            <a:lstStyle/>
            <a:p>
              <a:pPr algn="ctr"/>
            </a:p>
          </p:txBody>
        </p:sp>
        <p:sp>
          <p:nvSpPr>
            <p:cNvPr id="32" name="Rectangle 31"/>
            <p:cNvSpPr/>
            <p:nvPr/>
          </p:nvSpPr>
          <p:spPr>
            <a:xfrm>
              <a:off x="6400800" y="4910328"/>
              <a:ext cx="2011680" cy="621792"/>
            </a:xfrm>
            <a:prstGeom prst="rect">
              <a:avLst/>
            </a:prstGeom>
            <a:solidFill>
              <a:srgbClr val="6C7480"/>
            </a:solidFill>
            <a:ln w="12700">
              <a:solidFill>
                <a:srgbClr val="101418"/>
              </a:solidFill>
            </a:ln>
          </p:spPr>
          <p:txBody>
            <a:bodyPr rtlCol="0" anchor="ctr"/>
            <a:lstStyle/>
            <a:p>
              <a:pPr algn="ctr"/>
            </a:p>
          </p:txBody>
        </p:sp>
        <p:sp>
          <p:nvSpPr>
            <p:cNvPr id="33" name="Oval 32"/>
            <p:cNvSpPr/>
            <p:nvPr/>
          </p:nvSpPr>
          <p:spPr>
            <a:xfrm>
              <a:off x="6675120" y="5413248"/>
              <a:ext cx="182880" cy="182880"/>
            </a:xfrm>
            <a:prstGeom prst="ellipse">
              <a:avLst/>
            </a:prstGeom>
            <a:solidFill>
              <a:srgbClr val="1B1D21"/>
            </a:solidFill>
            <a:ln w="12700">
              <a:solidFill>
                <a:srgbClr val="9AA0A6"/>
              </a:solidFill>
            </a:ln>
          </p:spPr>
          <p:txBody>
            <a:bodyPr rtlCol="0" anchor="ctr"/>
            <a:lstStyle/>
            <a:p>
              <a:pPr algn="ctr"/>
            </a:p>
          </p:txBody>
        </p:sp>
        <p:sp>
          <p:nvSpPr>
            <p:cNvPr id="34" name="Oval 33"/>
            <p:cNvSpPr/>
            <p:nvPr/>
          </p:nvSpPr>
          <p:spPr>
            <a:xfrm>
              <a:off x="7955280" y="5413248"/>
              <a:ext cx="182880" cy="182880"/>
            </a:xfrm>
            <a:prstGeom prst="ellipse">
              <a:avLst/>
            </a:prstGeom>
            <a:solidFill>
              <a:srgbClr val="1B1D21"/>
            </a:solidFill>
            <a:ln w="12700">
              <a:solidFill>
                <a:srgbClr val="9AA0A6"/>
              </a:solidFill>
            </a:ln>
          </p:spPr>
          <p:txBody>
            <a:bodyPr rtlCol="0" anchor="ctr"/>
            <a:lstStyle/>
            <a:p>
              <a:pPr algn="ctr"/>
            </a:p>
          </p:txBody>
        </p:sp>
        <p:cxnSp>
          <p:nvCxnSpPr>
            <p:cNvPr id="35" name="Connector 34"/>
            <p:cNvCxnSpPr/>
            <p:nvPr/>
          </p:nvCxnSpPr>
          <p:spPr>
            <a:xfrm>
              <a:off x="7498080" y="4343400"/>
              <a:ext cx="0" cy="502920"/>
            </a:xfrm>
            <a:prstGeom prst="line">
              <a:avLst/>
            </a:prstGeom>
            <a:ln w="28575">
              <a:solidFill>
                <a:srgbClr val="F28C28"/>
              </a:solidFill>
              <a:tailEnd type="triangle" w="lg" len="lg"/>
            </a:ln>
          </p:spPr>
        </p:cxnSp>
        <p:sp>
          <p:nvSpPr>
            <p:cNvPr id="36" name="TextBox 35"/>
            <p:cNvSpPr txBox="1"/>
            <p:nvPr/>
          </p:nvSpPr>
          <p:spPr>
            <a:xfrm>
              <a:off x="7635240" y="4370832"/>
              <a:ext cx="1280160" cy="365760"/>
            </a:xfrm>
            <a:prstGeom prst="rect">
              <a:avLst/>
            </a:prstGeom>
            <a:noFill/>
          </p:spPr>
          <p:txBody>
            <a:bodyPr wrap="square" lIns="0" tIns="0" rIns="0" bIns="0" anchor="ctr">
              <a:noAutofit/>
            </a:bodyPr>
            <a:lstStyle/>
            <a:p>
              <a:pPr algn="l"/>
              <a:r>
                <a:rPr sz="1600" b="0" i="0" lang="en-GB">
                  <a:solidFill>
                    <a:srgbClr val="F2F2F2"/>
                  </a:solidFill>
                  <a:latin typeface="Arial"/>
                </a:rPr>
                <a:t>Gravity</a:t>
              </a:r>
            </a:p>
          </p:txBody>
        </p:sp>
      </p:grpSp>
      <p:pic>
        <p:nvPicPr>
          <p:cNvPr id="37" name="Picture P09" descr="A tall coaling tower and a water tower at Carnforth."/>
          <p:cNvPicPr>
            <a:picLocks noChangeAspect="1"/>
          </p:cNvPicPr>
          <p:nvPr/>
        </p:nvPicPr>
        <p:blipFill>
          <a:blip r:embed="rId3"/>
          <a:srcRect t="617" b="617"/>
          <a:stretch>
            <a:fillRect/>
          </a:stretch>
        </p:blipFill>
        <p:spPr>
          <a:xfrm>
            <a:off x="9445752" y="4526280"/>
            <a:ext cx="2194560" cy="822960"/>
          </a:xfrm>
          <a:prstGeom prst="roundRect">
            <a:avLst>
              <a:gd name="adj" fmla="val 8889"/>
            </a:avLst>
          </a:prstGeom>
        </p:spPr>
      </p:pic>
      <p:sp>
        <p:nvSpPr>
          <p:cNvPr id="38" name="Credit"/>
          <p:cNvSpPr txBox="1"/>
          <p:nvPr/>
        </p:nvSpPr>
        <p:spPr>
          <a:xfrm>
            <a:off x="9445752" y="5376672"/>
            <a:ext cx="2194560" cy="338328"/>
          </a:xfrm>
          <a:prstGeom prst="rect">
            <a:avLst/>
          </a:prstGeom>
          <a:noFill/>
        </p:spPr>
        <p:txBody>
          <a:bodyPr wrap="square" lIns="0" tIns="0" rIns="0" bIns="0" anchor="t">
            <a:noAutofit/>
          </a:bodyPr>
          <a:lstStyle/>
          <a:p>
            <a:pPr algn="l"/>
            <a:r>
              <a:rPr sz="1000" b="0" i="0" lang="en-GB">
                <a:solidFill>
                  <a:srgbClr val="A9B0B8"/>
                </a:solidFill>
                <a:latin typeface="Arial"/>
              </a:rPr>
              <a:t>Photo: kitmasterbloke, CC BY 4.0,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Coal starts higher than the tender. A ramp or tower lets gravity fill it.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Why trains need signals</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grpSp>
        <p:nvGrpSpPr>
          <p:cNvPr id="8" name="No signals" descr="Without signals: two trains on the same track head for each other with no warning, and crash."/>
          <p:cNvGrpSpPr/>
          <p:nvPr/>
        </p:nvGrpSpPr>
        <p:grpSpPr>
          <a:xfrm>
            <a:off x="548640" y="1325880"/>
            <a:ext cx="11091672" cy="1691640"/>
            <a:chOff x="548640" y="1325880"/>
            <a:chExt cx="11091672" cy="1691640"/>
          </a:xfrm>
        </p:grpSpPr>
        <p:sp>
          <p:nvSpPr>
            <p:cNvPr id="9" name="Rounded Rectangle 8"/>
            <p:cNvSpPr/>
            <p:nvPr/>
          </p:nvSpPr>
          <p:spPr>
            <a:xfrm>
              <a:off x="548640" y="1325880"/>
              <a:ext cx="11091672" cy="1691640"/>
            </a:xfrm>
            <a:prstGeom prst="roundRect">
              <a:avLst>
                <a:gd name="adj" fmla="val 4324"/>
              </a:avLst>
            </a:prstGeom>
            <a:solidFill>
              <a:srgbClr val="2B2F36"/>
            </a:solidFill>
            <a:ln>
              <a:noFill/>
            </a:ln>
          </p:spPr>
          <p:txBody>
            <a:bodyPr rtlCol="0" anchor="ctr"/>
            <a:lstStyle/>
            <a:p>
              <a:pPr algn="ctr"/>
            </a:p>
          </p:txBody>
        </p:sp>
        <p:sp>
          <p:nvSpPr>
            <p:cNvPr id="10" name="Rectangle 9"/>
            <p:cNvSpPr/>
            <p:nvPr/>
          </p:nvSpPr>
          <p:spPr>
            <a:xfrm>
              <a:off x="1092708" y="2340864"/>
              <a:ext cx="54864" cy="365760"/>
            </a:xfrm>
            <a:prstGeom prst="rect">
              <a:avLst/>
            </a:prstGeom>
            <a:solidFill>
              <a:srgbClr val="6B5B4B"/>
            </a:solidFill>
            <a:ln>
              <a:noFill/>
            </a:ln>
          </p:spPr>
          <p:txBody>
            <a:bodyPr rtlCol="0" anchor="ctr"/>
            <a:lstStyle/>
            <a:p>
              <a:pPr algn="ctr"/>
            </a:p>
          </p:txBody>
        </p:sp>
        <p:sp>
          <p:nvSpPr>
            <p:cNvPr id="11" name="Rectangle 10"/>
            <p:cNvSpPr/>
            <p:nvPr/>
          </p:nvSpPr>
          <p:spPr>
            <a:xfrm>
              <a:off x="1412748" y="2340864"/>
              <a:ext cx="54864" cy="365760"/>
            </a:xfrm>
            <a:prstGeom prst="rect">
              <a:avLst/>
            </a:prstGeom>
            <a:solidFill>
              <a:srgbClr val="6B5B4B"/>
            </a:solidFill>
            <a:ln>
              <a:noFill/>
            </a:ln>
          </p:spPr>
          <p:txBody>
            <a:bodyPr rtlCol="0" anchor="ctr"/>
            <a:lstStyle/>
            <a:p>
              <a:pPr algn="ctr"/>
            </a:p>
          </p:txBody>
        </p:sp>
        <p:sp>
          <p:nvSpPr>
            <p:cNvPr id="12" name="Rectangle 11"/>
            <p:cNvSpPr/>
            <p:nvPr/>
          </p:nvSpPr>
          <p:spPr>
            <a:xfrm>
              <a:off x="1732788" y="2340864"/>
              <a:ext cx="54864" cy="365760"/>
            </a:xfrm>
            <a:prstGeom prst="rect">
              <a:avLst/>
            </a:prstGeom>
            <a:solidFill>
              <a:srgbClr val="6B5B4B"/>
            </a:solidFill>
            <a:ln>
              <a:noFill/>
            </a:ln>
          </p:spPr>
          <p:txBody>
            <a:bodyPr rtlCol="0" anchor="ctr"/>
            <a:lstStyle/>
            <a:p>
              <a:pPr algn="ctr"/>
            </a:p>
          </p:txBody>
        </p:sp>
        <p:sp>
          <p:nvSpPr>
            <p:cNvPr id="13" name="Rectangle 12"/>
            <p:cNvSpPr/>
            <p:nvPr/>
          </p:nvSpPr>
          <p:spPr>
            <a:xfrm>
              <a:off x="2052828" y="2340864"/>
              <a:ext cx="54864" cy="365760"/>
            </a:xfrm>
            <a:prstGeom prst="rect">
              <a:avLst/>
            </a:prstGeom>
            <a:solidFill>
              <a:srgbClr val="6B5B4B"/>
            </a:solidFill>
            <a:ln>
              <a:noFill/>
            </a:ln>
          </p:spPr>
          <p:txBody>
            <a:bodyPr rtlCol="0" anchor="ctr"/>
            <a:lstStyle/>
            <a:p>
              <a:pPr algn="ctr"/>
            </a:p>
          </p:txBody>
        </p:sp>
        <p:sp>
          <p:nvSpPr>
            <p:cNvPr id="14" name="Rectangle 13"/>
            <p:cNvSpPr/>
            <p:nvPr/>
          </p:nvSpPr>
          <p:spPr>
            <a:xfrm>
              <a:off x="2372868" y="2340864"/>
              <a:ext cx="54864" cy="365760"/>
            </a:xfrm>
            <a:prstGeom prst="rect">
              <a:avLst/>
            </a:prstGeom>
            <a:solidFill>
              <a:srgbClr val="6B5B4B"/>
            </a:solidFill>
            <a:ln>
              <a:noFill/>
            </a:ln>
          </p:spPr>
          <p:txBody>
            <a:bodyPr rtlCol="0" anchor="ctr"/>
            <a:lstStyle/>
            <a:p>
              <a:pPr algn="ctr"/>
            </a:p>
          </p:txBody>
        </p:sp>
        <p:sp>
          <p:nvSpPr>
            <p:cNvPr id="15" name="Rectangle 14"/>
            <p:cNvSpPr/>
            <p:nvPr/>
          </p:nvSpPr>
          <p:spPr>
            <a:xfrm>
              <a:off x="2692908" y="2340864"/>
              <a:ext cx="54864" cy="365760"/>
            </a:xfrm>
            <a:prstGeom prst="rect">
              <a:avLst/>
            </a:prstGeom>
            <a:solidFill>
              <a:srgbClr val="6B5B4B"/>
            </a:solidFill>
            <a:ln>
              <a:noFill/>
            </a:ln>
          </p:spPr>
          <p:txBody>
            <a:bodyPr rtlCol="0" anchor="ctr"/>
            <a:lstStyle/>
            <a:p>
              <a:pPr algn="ctr"/>
            </a:p>
          </p:txBody>
        </p:sp>
        <p:sp>
          <p:nvSpPr>
            <p:cNvPr id="16" name="Rectangle 15"/>
            <p:cNvSpPr/>
            <p:nvPr/>
          </p:nvSpPr>
          <p:spPr>
            <a:xfrm>
              <a:off x="3012948" y="2340864"/>
              <a:ext cx="54864" cy="365760"/>
            </a:xfrm>
            <a:prstGeom prst="rect">
              <a:avLst/>
            </a:prstGeom>
            <a:solidFill>
              <a:srgbClr val="6B5B4B"/>
            </a:solidFill>
            <a:ln>
              <a:noFill/>
            </a:ln>
          </p:spPr>
          <p:txBody>
            <a:bodyPr rtlCol="0" anchor="ctr"/>
            <a:lstStyle/>
            <a:p>
              <a:pPr algn="ctr"/>
            </a:p>
          </p:txBody>
        </p:sp>
        <p:sp>
          <p:nvSpPr>
            <p:cNvPr id="17" name="Rectangle 16"/>
            <p:cNvSpPr/>
            <p:nvPr/>
          </p:nvSpPr>
          <p:spPr>
            <a:xfrm>
              <a:off x="3332988" y="2340864"/>
              <a:ext cx="54864" cy="365760"/>
            </a:xfrm>
            <a:prstGeom prst="rect">
              <a:avLst/>
            </a:prstGeom>
            <a:solidFill>
              <a:srgbClr val="6B5B4B"/>
            </a:solidFill>
            <a:ln>
              <a:noFill/>
            </a:ln>
          </p:spPr>
          <p:txBody>
            <a:bodyPr rtlCol="0" anchor="ctr"/>
            <a:lstStyle/>
            <a:p>
              <a:pPr algn="ctr"/>
            </a:p>
          </p:txBody>
        </p:sp>
        <p:sp>
          <p:nvSpPr>
            <p:cNvPr id="18" name="Rectangle 17"/>
            <p:cNvSpPr/>
            <p:nvPr/>
          </p:nvSpPr>
          <p:spPr>
            <a:xfrm>
              <a:off x="3653028" y="2340864"/>
              <a:ext cx="54864" cy="365760"/>
            </a:xfrm>
            <a:prstGeom prst="rect">
              <a:avLst/>
            </a:prstGeom>
            <a:solidFill>
              <a:srgbClr val="6B5B4B"/>
            </a:solidFill>
            <a:ln>
              <a:noFill/>
            </a:ln>
          </p:spPr>
          <p:txBody>
            <a:bodyPr rtlCol="0" anchor="ctr"/>
            <a:lstStyle/>
            <a:p>
              <a:pPr algn="ctr"/>
            </a:p>
          </p:txBody>
        </p:sp>
        <p:sp>
          <p:nvSpPr>
            <p:cNvPr id="19" name="Rectangle 18"/>
            <p:cNvSpPr/>
            <p:nvPr/>
          </p:nvSpPr>
          <p:spPr>
            <a:xfrm>
              <a:off x="3973068" y="2340864"/>
              <a:ext cx="54864" cy="365760"/>
            </a:xfrm>
            <a:prstGeom prst="rect">
              <a:avLst/>
            </a:prstGeom>
            <a:solidFill>
              <a:srgbClr val="6B5B4B"/>
            </a:solidFill>
            <a:ln>
              <a:noFill/>
            </a:ln>
          </p:spPr>
          <p:txBody>
            <a:bodyPr rtlCol="0" anchor="ctr"/>
            <a:lstStyle/>
            <a:p>
              <a:pPr algn="ctr"/>
            </a:p>
          </p:txBody>
        </p:sp>
        <p:sp>
          <p:nvSpPr>
            <p:cNvPr id="20" name="Rectangle 19"/>
            <p:cNvSpPr/>
            <p:nvPr/>
          </p:nvSpPr>
          <p:spPr>
            <a:xfrm>
              <a:off x="4293108" y="2340864"/>
              <a:ext cx="54864" cy="365760"/>
            </a:xfrm>
            <a:prstGeom prst="rect">
              <a:avLst/>
            </a:prstGeom>
            <a:solidFill>
              <a:srgbClr val="6B5B4B"/>
            </a:solidFill>
            <a:ln>
              <a:noFill/>
            </a:ln>
          </p:spPr>
          <p:txBody>
            <a:bodyPr rtlCol="0" anchor="ctr"/>
            <a:lstStyle/>
            <a:p>
              <a:pPr algn="ctr"/>
            </a:p>
          </p:txBody>
        </p:sp>
        <p:sp>
          <p:nvSpPr>
            <p:cNvPr id="21" name="Rectangle 20"/>
            <p:cNvSpPr/>
            <p:nvPr/>
          </p:nvSpPr>
          <p:spPr>
            <a:xfrm>
              <a:off x="4613148" y="2340864"/>
              <a:ext cx="54864" cy="365760"/>
            </a:xfrm>
            <a:prstGeom prst="rect">
              <a:avLst/>
            </a:prstGeom>
            <a:solidFill>
              <a:srgbClr val="6B5B4B"/>
            </a:solidFill>
            <a:ln>
              <a:noFill/>
            </a:ln>
          </p:spPr>
          <p:txBody>
            <a:bodyPr rtlCol="0" anchor="ctr"/>
            <a:lstStyle/>
            <a:p>
              <a:pPr algn="ctr"/>
            </a:p>
          </p:txBody>
        </p:sp>
        <p:sp>
          <p:nvSpPr>
            <p:cNvPr id="22" name="Rectangle 21"/>
            <p:cNvSpPr/>
            <p:nvPr/>
          </p:nvSpPr>
          <p:spPr>
            <a:xfrm>
              <a:off x="4933188" y="2340864"/>
              <a:ext cx="54864" cy="365760"/>
            </a:xfrm>
            <a:prstGeom prst="rect">
              <a:avLst/>
            </a:prstGeom>
            <a:solidFill>
              <a:srgbClr val="6B5B4B"/>
            </a:solidFill>
            <a:ln>
              <a:noFill/>
            </a:ln>
          </p:spPr>
          <p:txBody>
            <a:bodyPr rtlCol="0" anchor="ctr"/>
            <a:lstStyle/>
            <a:p>
              <a:pPr algn="ctr"/>
            </a:p>
          </p:txBody>
        </p:sp>
        <p:sp>
          <p:nvSpPr>
            <p:cNvPr id="23" name="Rectangle 22"/>
            <p:cNvSpPr/>
            <p:nvPr/>
          </p:nvSpPr>
          <p:spPr>
            <a:xfrm>
              <a:off x="5253228" y="2340864"/>
              <a:ext cx="54864" cy="365760"/>
            </a:xfrm>
            <a:prstGeom prst="rect">
              <a:avLst/>
            </a:prstGeom>
            <a:solidFill>
              <a:srgbClr val="6B5B4B"/>
            </a:solidFill>
            <a:ln>
              <a:noFill/>
            </a:ln>
          </p:spPr>
          <p:txBody>
            <a:bodyPr rtlCol="0" anchor="ctr"/>
            <a:lstStyle/>
            <a:p>
              <a:pPr algn="ctr"/>
            </a:p>
          </p:txBody>
        </p:sp>
        <p:sp>
          <p:nvSpPr>
            <p:cNvPr id="24" name="Rectangle 23"/>
            <p:cNvSpPr/>
            <p:nvPr/>
          </p:nvSpPr>
          <p:spPr>
            <a:xfrm>
              <a:off x="5573268" y="2340864"/>
              <a:ext cx="54864" cy="365760"/>
            </a:xfrm>
            <a:prstGeom prst="rect">
              <a:avLst/>
            </a:prstGeom>
            <a:solidFill>
              <a:srgbClr val="6B5B4B"/>
            </a:solidFill>
            <a:ln>
              <a:noFill/>
            </a:ln>
          </p:spPr>
          <p:txBody>
            <a:bodyPr rtlCol="0" anchor="ctr"/>
            <a:lstStyle/>
            <a:p>
              <a:pPr algn="ctr"/>
            </a:p>
          </p:txBody>
        </p:sp>
        <p:sp>
          <p:nvSpPr>
            <p:cNvPr id="25" name="Rectangle 24"/>
            <p:cNvSpPr/>
            <p:nvPr/>
          </p:nvSpPr>
          <p:spPr>
            <a:xfrm>
              <a:off x="5893308" y="2340864"/>
              <a:ext cx="54864" cy="365760"/>
            </a:xfrm>
            <a:prstGeom prst="rect">
              <a:avLst/>
            </a:prstGeom>
            <a:solidFill>
              <a:srgbClr val="6B5B4B"/>
            </a:solidFill>
            <a:ln>
              <a:noFill/>
            </a:ln>
          </p:spPr>
          <p:txBody>
            <a:bodyPr rtlCol="0" anchor="ctr"/>
            <a:lstStyle/>
            <a:p>
              <a:pPr algn="ctr"/>
            </a:p>
          </p:txBody>
        </p:sp>
        <p:sp>
          <p:nvSpPr>
            <p:cNvPr id="26" name="Rectangle 25"/>
            <p:cNvSpPr/>
            <p:nvPr/>
          </p:nvSpPr>
          <p:spPr>
            <a:xfrm>
              <a:off x="6213348" y="2340864"/>
              <a:ext cx="54864" cy="365760"/>
            </a:xfrm>
            <a:prstGeom prst="rect">
              <a:avLst/>
            </a:prstGeom>
            <a:solidFill>
              <a:srgbClr val="6B5B4B"/>
            </a:solidFill>
            <a:ln>
              <a:noFill/>
            </a:ln>
          </p:spPr>
          <p:txBody>
            <a:bodyPr rtlCol="0" anchor="ctr"/>
            <a:lstStyle/>
            <a:p>
              <a:pPr algn="ctr"/>
            </a:p>
          </p:txBody>
        </p:sp>
        <p:sp>
          <p:nvSpPr>
            <p:cNvPr id="27" name="Rectangle 26"/>
            <p:cNvSpPr/>
            <p:nvPr/>
          </p:nvSpPr>
          <p:spPr>
            <a:xfrm>
              <a:off x="6533388" y="2340864"/>
              <a:ext cx="54864" cy="365760"/>
            </a:xfrm>
            <a:prstGeom prst="rect">
              <a:avLst/>
            </a:prstGeom>
            <a:solidFill>
              <a:srgbClr val="6B5B4B"/>
            </a:solidFill>
            <a:ln>
              <a:noFill/>
            </a:ln>
          </p:spPr>
          <p:txBody>
            <a:bodyPr rtlCol="0" anchor="ctr"/>
            <a:lstStyle/>
            <a:p>
              <a:pPr algn="ctr"/>
            </a:p>
          </p:txBody>
        </p:sp>
        <p:sp>
          <p:nvSpPr>
            <p:cNvPr id="28" name="Rectangle 27"/>
            <p:cNvSpPr/>
            <p:nvPr/>
          </p:nvSpPr>
          <p:spPr>
            <a:xfrm>
              <a:off x="6853428" y="2340864"/>
              <a:ext cx="54864" cy="365760"/>
            </a:xfrm>
            <a:prstGeom prst="rect">
              <a:avLst/>
            </a:prstGeom>
            <a:solidFill>
              <a:srgbClr val="6B5B4B"/>
            </a:solidFill>
            <a:ln>
              <a:noFill/>
            </a:ln>
          </p:spPr>
          <p:txBody>
            <a:bodyPr rtlCol="0" anchor="ctr"/>
            <a:lstStyle/>
            <a:p>
              <a:pPr algn="ctr"/>
            </a:p>
          </p:txBody>
        </p:sp>
        <p:sp>
          <p:nvSpPr>
            <p:cNvPr id="29" name="Rectangle 28"/>
            <p:cNvSpPr/>
            <p:nvPr/>
          </p:nvSpPr>
          <p:spPr>
            <a:xfrm>
              <a:off x="7173468" y="2340864"/>
              <a:ext cx="54864" cy="365760"/>
            </a:xfrm>
            <a:prstGeom prst="rect">
              <a:avLst/>
            </a:prstGeom>
            <a:solidFill>
              <a:srgbClr val="6B5B4B"/>
            </a:solidFill>
            <a:ln>
              <a:noFill/>
            </a:ln>
          </p:spPr>
          <p:txBody>
            <a:bodyPr rtlCol="0" anchor="ctr"/>
            <a:lstStyle/>
            <a:p>
              <a:pPr algn="ctr"/>
            </a:p>
          </p:txBody>
        </p:sp>
        <p:sp>
          <p:nvSpPr>
            <p:cNvPr id="30" name="Rectangle 29"/>
            <p:cNvSpPr/>
            <p:nvPr/>
          </p:nvSpPr>
          <p:spPr>
            <a:xfrm>
              <a:off x="7493508" y="2340864"/>
              <a:ext cx="54864" cy="365760"/>
            </a:xfrm>
            <a:prstGeom prst="rect">
              <a:avLst/>
            </a:prstGeom>
            <a:solidFill>
              <a:srgbClr val="6B5B4B"/>
            </a:solidFill>
            <a:ln>
              <a:noFill/>
            </a:ln>
          </p:spPr>
          <p:txBody>
            <a:bodyPr rtlCol="0" anchor="ctr"/>
            <a:lstStyle/>
            <a:p>
              <a:pPr algn="ctr"/>
            </a:p>
          </p:txBody>
        </p:sp>
        <p:sp>
          <p:nvSpPr>
            <p:cNvPr id="31" name="Rectangle 30"/>
            <p:cNvSpPr/>
            <p:nvPr/>
          </p:nvSpPr>
          <p:spPr>
            <a:xfrm>
              <a:off x="7813548" y="2340864"/>
              <a:ext cx="54864" cy="365760"/>
            </a:xfrm>
            <a:prstGeom prst="rect">
              <a:avLst/>
            </a:prstGeom>
            <a:solidFill>
              <a:srgbClr val="6B5B4B"/>
            </a:solidFill>
            <a:ln>
              <a:noFill/>
            </a:ln>
          </p:spPr>
          <p:txBody>
            <a:bodyPr rtlCol="0" anchor="ctr"/>
            <a:lstStyle/>
            <a:p>
              <a:pPr algn="ctr"/>
            </a:p>
          </p:txBody>
        </p:sp>
        <p:sp>
          <p:nvSpPr>
            <p:cNvPr id="32" name="Rectangle 31"/>
            <p:cNvSpPr/>
            <p:nvPr/>
          </p:nvSpPr>
          <p:spPr>
            <a:xfrm>
              <a:off x="8133588" y="2340864"/>
              <a:ext cx="54864" cy="365760"/>
            </a:xfrm>
            <a:prstGeom prst="rect">
              <a:avLst/>
            </a:prstGeom>
            <a:solidFill>
              <a:srgbClr val="6B5B4B"/>
            </a:solidFill>
            <a:ln>
              <a:noFill/>
            </a:ln>
          </p:spPr>
          <p:txBody>
            <a:bodyPr rtlCol="0" anchor="ctr"/>
            <a:lstStyle/>
            <a:p>
              <a:pPr algn="ctr"/>
            </a:p>
          </p:txBody>
        </p:sp>
        <p:sp>
          <p:nvSpPr>
            <p:cNvPr id="33" name="Rectangle 32"/>
            <p:cNvSpPr/>
            <p:nvPr/>
          </p:nvSpPr>
          <p:spPr>
            <a:xfrm>
              <a:off x="8453628" y="2340864"/>
              <a:ext cx="54864" cy="365760"/>
            </a:xfrm>
            <a:prstGeom prst="rect">
              <a:avLst/>
            </a:prstGeom>
            <a:solidFill>
              <a:srgbClr val="6B5B4B"/>
            </a:solidFill>
            <a:ln>
              <a:noFill/>
            </a:ln>
          </p:spPr>
          <p:txBody>
            <a:bodyPr rtlCol="0" anchor="ctr"/>
            <a:lstStyle/>
            <a:p>
              <a:pPr algn="ctr"/>
            </a:p>
          </p:txBody>
        </p:sp>
        <p:sp>
          <p:nvSpPr>
            <p:cNvPr id="34" name="Rectangle 33"/>
            <p:cNvSpPr/>
            <p:nvPr/>
          </p:nvSpPr>
          <p:spPr>
            <a:xfrm>
              <a:off x="8773668" y="2340864"/>
              <a:ext cx="54864" cy="365760"/>
            </a:xfrm>
            <a:prstGeom prst="rect">
              <a:avLst/>
            </a:prstGeom>
            <a:solidFill>
              <a:srgbClr val="6B5B4B"/>
            </a:solidFill>
            <a:ln>
              <a:noFill/>
            </a:ln>
          </p:spPr>
          <p:txBody>
            <a:bodyPr rtlCol="0" anchor="ctr"/>
            <a:lstStyle/>
            <a:p>
              <a:pPr algn="ctr"/>
            </a:p>
          </p:txBody>
        </p:sp>
        <p:sp>
          <p:nvSpPr>
            <p:cNvPr id="35" name="Rectangle 34"/>
            <p:cNvSpPr/>
            <p:nvPr/>
          </p:nvSpPr>
          <p:spPr>
            <a:xfrm>
              <a:off x="9093708" y="2340864"/>
              <a:ext cx="54864" cy="365760"/>
            </a:xfrm>
            <a:prstGeom prst="rect">
              <a:avLst/>
            </a:prstGeom>
            <a:solidFill>
              <a:srgbClr val="6B5B4B"/>
            </a:solidFill>
            <a:ln>
              <a:noFill/>
            </a:ln>
          </p:spPr>
          <p:txBody>
            <a:bodyPr rtlCol="0" anchor="ctr"/>
            <a:lstStyle/>
            <a:p>
              <a:pPr algn="ctr"/>
            </a:p>
          </p:txBody>
        </p:sp>
        <p:sp>
          <p:nvSpPr>
            <p:cNvPr id="36" name="Rectangle 35"/>
            <p:cNvSpPr/>
            <p:nvPr/>
          </p:nvSpPr>
          <p:spPr>
            <a:xfrm>
              <a:off x="9413748" y="2340864"/>
              <a:ext cx="54864" cy="365760"/>
            </a:xfrm>
            <a:prstGeom prst="rect">
              <a:avLst/>
            </a:prstGeom>
            <a:solidFill>
              <a:srgbClr val="6B5B4B"/>
            </a:solidFill>
            <a:ln>
              <a:noFill/>
            </a:ln>
          </p:spPr>
          <p:txBody>
            <a:bodyPr rtlCol="0" anchor="ctr"/>
            <a:lstStyle/>
            <a:p>
              <a:pPr algn="ctr"/>
            </a:p>
          </p:txBody>
        </p:sp>
        <p:sp>
          <p:nvSpPr>
            <p:cNvPr id="37" name="Rectangle 36"/>
            <p:cNvSpPr/>
            <p:nvPr/>
          </p:nvSpPr>
          <p:spPr>
            <a:xfrm>
              <a:off x="9733788" y="2340864"/>
              <a:ext cx="54864" cy="365760"/>
            </a:xfrm>
            <a:prstGeom prst="rect">
              <a:avLst/>
            </a:prstGeom>
            <a:solidFill>
              <a:srgbClr val="6B5B4B"/>
            </a:solidFill>
            <a:ln>
              <a:noFill/>
            </a:ln>
          </p:spPr>
          <p:txBody>
            <a:bodyPr rtlCol="0" anchor="ctr"/>
            <a:lstStyle/>
            <a:p>
              <a:pPr algn="ctr"/>
            </a:p>
          </p:txBody>
        </p:sp>
        <p:sp>
          <p:nvSpPr>
            <p:cNvPr id="38" name="Rectangle 37"/>
            <p:cNvSpPr/>
            <p:nvPr/>
          </p:nvSpPr>
          <p:spPr>
            <a:xfrm>
              <a:off x="10053828" y="2340864"/>
              <a:ext cx="54864" cy="365760"/>
            </a:xfrm>
            <a:prstGeom prst="rect">
              <a:avLst/>
            </a:prstGeom>
            <a:solidFill>
              <a:srgbClr val="6B5B4B"/>
            </a:solidFill>
            <a:ln>
              <a:noFill/>
            </a:ln>
          </p:spPr>
          <p:txBody>
            <a:bodyPr rtlCol="0" anchor="ctr"/>
            <a:lstStyle/>
            <a:p>
              <a:pPr algn="ctr"/>
            </a:p>
          </p:txBody>
        </p:sp>
        <p:sp>
          <p:nvSpPr>
            <p:cNvPr id="39" name="Rectangle 38"/>
            <p:cNvSpPr/>
            <p:nvPr/>
          </p:nvSpPr>
          <p:spPr>
            <a:xfrm>
              <a:off x="10373868" y="2340864"/>
              <a:ext cx="54864" cy="365760"/>
            </a:xfrm>
            <a:prstGeom prst="rect">
              <a:avLst/>
            </a:prstGeom>
            <a:solidFill>
              <a:srgbClr val="6B5B4B"/>
            </a:solidFill>
            <a:ln>
              <a:noFill/>
            </a:ln>
          </p:spPr>
          <p:txBody>
            <a:bodyPr rtlCol="0" anchor="ctr"/>
            <a:lstStyle/>
            <a:p>
              <a:pPr algn="ctr"/>
            </a:p>
          </p:txBody>
        </p:sp>
        <p:sp>
          <p:nvSpPr>
            <p:cNvPr id="40" name="Rectangle 39"/>
            <p:cNvSpPr/>
            <p:nvPr/>
          </p:nvSpPr>
          <p:spPr>
            <a:xfrm>
              <a:off x="10693908" y="2340864"/>
              <a:ext cx="54864" cy="365760"/>
            </a:xfrm>
            <a:prstGeom prst="rect">
              <a:avLst/>
            </a:prstGeom>
            <a:solidFill>
              <a:srgbClr val="6B5B4B"/>
            </a:solidFill>
            <a:ln>
              <a:noFill/>
            </a:ln>
          </p:spPr>
          <p:txBody>
            <a:bodyPr rtlCol="0" anchor="ctr"/>
            <a:lstStyle/>
            <a:p>
              <a:pPr algn="ctr"/>
            </a:p>
          </p:txBody>
        </p:sp>
        <p:sp>
          <p:nvSpPr>
            <p:cNvPr id="41" name="Rectangle 40"/>
            <p:cNvSpPr/>
            <p:nvPr/>
          </p:nvSpPr>
          <p:spPr>
            <a:xfrm>
              <a:off x="11013948" y="2340864"/>
              <a:ext cx="54864" cy="365760"/>
            </a:xfrm>
            <a:prstGeom prst="rect">
              <a:avLst/>
            </a:prstGeom>
            <a:solidFill>
              <a:srgbClr val="6B5B4B"/>
            </a:solidFill>
            <a:ln>
              <a:noFill/>
            </a:ln>
          </p:spPr>
          <p:txBody>
            <a:bodyPr rtlCol="0" anchor="ctr"/>
            <a:lstStyle/>
            <a:p>
              <a:pPr algn="ctr"/>
            </a:p>
          </p:txBody>
        </p:sp>
        <p:sp>
          <p:nvSpPr>
            <p:cNvPr id="42" name="Rectangle 41"/>
            <p:cNvSpPr/>
            <p:nvPr/>
          </p:nvSpPr>
          <p:spPr>
            <a:xfrm>
              <a:off x="822960" y="2368296"/>
              <a:ext cx="10515600" cy="54864"/>
            </a:xfrm>
            <a:prstGeom prst="rect">
              <a:avLst/>
            </a:prstGeom>
            <a:solidFill>
              <a:srgbClr val="9AA0A6"/>
            </a:solidFill>
            <a:ln>
              <a:noFill/>
            </a:ln>
          </p:spPr>
          <p:txBody>
            <a:bodyPr rtlCol="0" anchor="ctr"/>
            <a:lstStyle/>
            <a:p>
              <a:pPr algn="ctr"/>
            </a:p>
          </p:txBody>
        </p:sp>
        <p:sp>
          <p:nvSpPr>
            <p:cNvPr id="43" name="Rectangle 42"/>
            <p:cNvSpPr/>
            <p:nvPr/>
          </p:nvSpPr>
          <p:spPr>
            <a:xfrm>
              <a:off x="822960" y="2624328"/>
              <a:ext cx="10515600" cy="54864"/>
            </a:xfrm>
            <a:prstGeom prst="rect">
              <a:avLst/>
            </a:prstGeom>
            <a:solidFill>
              <a:srgbClr val="9AA0A6"/>
            </a:solidFill>
            <a:ln>
              <a:noFill/>
            </a:ln>
          </p:spPr>
          <p:txBody>
            <a:bodyPr rtlCol="0" anchor="ctr"/>
            <a:lstStyle/>
            <a:p>
              <a:pPr algn="ctr"/>
            </a:p>
          </p:txBody>
        </p:sp>
        <p:grpSp>
          <p:nvGrpSpPr>
            <p:cNvPr id="44" name="Train A" descr="A steam train: an engine pulling wagons."/>
            <p:cNvGrpSpPr/>
            <p:nvPr/>
          </p:nvGrpSpPr>
          <p:grpSpPr>
            <a:xfrm>
              <a:off x="1920240" y="1630375"/>
              <a:ext cx="2271370" cy="765353"/>
              <a:chOff x="1920240" y="1630375"/>
              <a:chExt cx="2271370" cy="765353"/>
            </a:xfrm>
          </p:grpSpPr>
          <p:sp>
            <p:nvSpPr>
              <p:cNvPr id="45" name="Rectangle 44"/>
              <p:cNvSpPr/>
              <p:nvPr/>
            </p:nvSpPr>
            <p:spPr>
              <a:xfrm>
                <a:off x="1920240" y="1926641"/>
                <a:ext cx="658368" cy="370332"/>
              </a:xfrm>
              <a:prstGeom prst="rect">
                <a:avLst/>
              </a:prstGeom>
              <a:solidFill>
                <a:srgbClr val="6C7480"/>
              </a:solidFill>
              <a:ln w="9525">
                <a:solidFill>
                  <a:srgbClr val="101418"/>
                </a:solidFill>
              </a:ln>
            </p:spPr>
            <p:txBody>
              <a:bodyPr rtlCol="0" anchor="ctr"/>
              <a:lstStyle/>
              <a:p>
                <a:pPr algn="ctr"/>
              </a:p>
            </p:txBody>
          </p:sp>
          <p:sp>
            <p:nvSpPr>
              <p:cNvPr id="46" name="Oval 45"/>
              <p:cNvSpPr/>
              <p:nvPr/>
            </p:nvSpPr>
            <p:spPr>
              <a:xfrm>
                <a:off x="2002536" y="2231136"/>
                <a:ext cx="164592" cy="164592"/>
              </a:xfrm>
              <a:prstGeom prst="ellipse">
                <a:avLst/>
              </a:prstGeom>
              <a:solidFill>
                <a:srgbClr val="1B1D21"/>
              </a:solidFill>
              <a:ln w="12700">
                <a:solidFill>
                  <a:srgbClr val="9AA0A6"/>
                </a:solidFill>
              </a:ln>
            </p:spPr>
            <p:txBody>
              <a:bodyPr rtlCol="0" anchor="ctr"/>
              <a:lstStyle/>
              <a:p>
                <a:pPr algn="ctr"/>
              </a:p>
            </p:txBody>
          </p:sp>
          <p:sp>
            <p:nvSpPr>
              <p:cNvPr id="47" name="Oval 46"/>
              <p:cNvSpPr/>
              <p:nvPr/>
            </p:nvSpPr>
            <p:spPr>
              <a:xfrm>
                <a:off x="2331720" y="2231136"/>
                <a:ext cx="164592" cy="164592"/>
              </a:xfrm>
              <a:prstGeom prst="ellipse">
                <a:avLst/>
              </a:prstGeom>
              <a:solidFill>
                <a:srgbClr val="1B1D21"/>
              </a:solidFill>
              <a:ln w="12700">
                <a:solidFill>
                  <a:srgbClr val="9AA0A6"/>
                </a:solidFill>
              </a:ln>
            </p:spPr>
            <p:txBody>
              <a:bodyPr rtlCol="0" anchor="ctr"/>
              <a:lstStyle/>
              <a:p>
                <a:pPr algn="ctr"/>
              </a:p>
            </p:txBody>
          </p:sp>
          <p:sp>
            <p:nvSpPr>
              <p:cNvPr id="48" name="Rectangle 47"/>
              <p:cNvSpPr/>
              <p:nvPr/>
            </p:nvSpPr>
            <p:spPr>
              <a:xfrm>
                <a:off x="2578608" y="2189988"/>
                <a:ext cx="65837" cy="41148"/>
              </a:xfrm>
              <a:prstGeom prst="rect">
                <a:avLst/>
              </a:prstGeom>
              <a:solidFill>
                <a:srgbClr val="9AA0A6"/>
              </a:solidFill>
              <a:ln>
                <a:noFill/>
              </a:ln>
            </p:spPr>
            <p:txBody>
              <a:bodyPr rtlCol="0" anchor="ctr"/>
              <a:lstStyle/>
              <a:p>
                <a:pPr algn="ctr"/>
              </a:p>
            </p:txBody>
          </p:sp>
          <p:sp>
            <p:nvSpPr>
              <p:cNvPr id="49" name="Rectangle 48"/>
              <p:cNvSpPr/>
              <p:nvPr/>
            </p:nvSpPr>
            <p:spPr>
              <a:xfrm>
                <a:off x="2644445" y="1926641"/>
                <a:ext cx="658368" cy="370332"/>
              </a:xfrm>
              <a:prstGeom prst="rect">
                <a:avLst/>
              </a:prstGeom>
              <a:solidFill>
                <a:srgbClr val="6C7480"/>
              </a:solidFill>
              <a:ln w="9525">
                <a:solidFill>
                  <a:srgbClr val="101418"/>
                </a:solidFill>
              </a:ln>
            </p:spPr>
            <p:txBody>
              <a:bodyPr rtlCol="0" anchor="ctr"/>
              <a:lstStyle/>
              <a:p>
                <a:pPr algn="ctr"/>
              </a:p>
            </p:txBody>
          </p:sp>
          <p:sp>
            <p:nvSpPr>
              <p:cNvPr id="50" name="Oval 49"/>
              <p:cNvSpPr/>
              <p:nvPr/>
            </p:nvSpPr>
            <p:spPr>
              <a:xfrm>
                <a:off x="2726741" y="2231136"/>
                <a:ext cx="164592" cy="164592"/>
              </a:xfrm>
              <a:prstGeom prst="ellipse">
                <a:avLst/>
              </a:prstGeom>
              <a:solidFill>
                <a:srgbClr val="1B1D21"/>
              </a:solidFill>
              <a:ln w="12700">
                <a:solidFill>
                  <a:srgbClr val="9AA0A6"/>
                </a:solidFill>
              </a:ln>
            </p:spPr>
            <p:txBody>
              <a:bodyPr rtlCol="0" anchor="ctr"/>
              <a:lstStyle/>
              <a:p>
                <a:pPr algn="ctr"/>
              </a:p>
            </p:txBody>
          </p:sp>
          <p:sp>
            <p:nvSpPr>
              <p:cNvPr id="51" name="Oval 50"/>
              <p:cNvSpPr/>
              <p:nvPr/>
            </p:nvSpPr>
            <p:spPr>
              <a:xfrm>
                <a:off x="3055925" y="2231136"/>
                <a:ext cx="164592" cy="164592"/>
              </a:xfrm>
              <a:prstGeom prst="ellipse">
                <a:avLst/>
              </a:prstGeom>
              <a:solidFill>
                <a:srgbClr val="1B1D21"/>
              </a:solidFill>
              <a:ln w="12700">
                <a:solidFill>
                  <a:srgbClr val="9AA0A6"/>
                </a:solidFill>
              </a:ln>
            </p:spPr>
            <p:txBody>
              <a:bodyPr rtlCol="0" anchor="ctr"/>
              <a:lstStyle/>
              <a:p>
                <a:pPr algn="ctr"/>
              </a:p>
            </p:txBody>
          </p:sp>
          <p:sp>
            <p:nvSpPr>
              <p:cNvPr id="52" name="Rectangle 51"/>
              <p:cNvSpPr/>
              <p:nvPr/>
            </p:nvSpPr>
            <p:spPr>
              <a:xfrm>
                <a:off x="3302813" y="2189988"/>
                <a:ext cx="65837" cy="41148"/>
              </a:xfrm>
              <a:prstGeom prst="rect">
                <a:avLst/>
              </a:prstGeom>
              <a:solidFill>
                <a:srgbClr val="9AA0A6"/>
              </a:solidFill>
              <a:ln>
                <a:noFill/>
              </a:ln>
            </p:spPr>
            <p:txBody>
              <a:bodyPr rtlCol="0" anchor="ctr"/>
              <a:lstStyle/>
              <a:p>
                <a:pPr algn="ctr"/>
              </a:p>
            </p:txBody>
          </p:sp>
          <p:sp>
            <p:nvSpPr>
              <p:cNvPr id="53" name="Rectangle 52"/>
              <p:cNvSpPr/>
              <p:nvPr/>
            </p:nvSpPr>
            <p:spPr>
              <a:xfrm>
                <a:off x="3368650" y="1860804"/>
                <a:ext cx="822960" cy="452628"/>
              </a:xfrm>
              <a:prstGeom prst="rect">
                <a:avLst/>
              </a:prstGeom>
              <a:solidFill>
                <a:srgbClr val="F28C28"/>
              </a:solidFill>
              <a:ln w="9525">
                <a:solidFill>
                  <a:srgbClr val="101418"/>
                </a:solidFill>
              </a:ln>
            </p:spPr>
            <p:txBody>
              <a:bodyPr rtlCol="0" anchor="ctr"/>
              <a:lstStyle/>
              <a:p>
                <a:pPr algn="ctr"/>
              </a:p>
            </p:txBody>
          </p:sp>
          <p:sp>
            <p:nvSpPr>
              <p:cNvPr id="54" name="Bunker"/>
              <p:cNvSpPr/>
              <p:nvPr/>
            </p:nvSpPr>
            <p:spPr>
              <a:xfrm>
                <a:off x="3393338" y="1885493"/>
                <a:ext cx="213970" cy="164592"/>
              </a:xfrm>
              <a:prstGeom prst="rect">
                <a:avLst/>
              </a:prstGeom>
              <a:solidFill>
                <a:srgbClr val="1B1D21"/>
              </a:solidFill>
              <a:ln>
                <a:noFill/>
              </a:ln>
            </p:spPr>
            <p:txBody>
              <a:bodyPr rtlCol="0" anchor="ctr"/>
              <a:lstStyle/>
              <a:p>
                <a:pPr algn="ctr"/>
              </a:p>
            </p:txBody>
          </p:sp>
          <p:sp>
            <p:nvSpPr>
              <p:cNvPr id="55" name="Rectangle 54"/>
              <p:cNvSpPr/>
              <p:nvPr/>
            </p:nvSpPr>
            <p:spPr>
              <a:xfrm>
                <a:off x="3648456" y="1918411"/>
                <a:ext cx="115214" cy="115214"/>
              </a:xfrm>
              <a:prstGeom prst="rect">
                <a:avLst/>
              </a:prstGeom>
              <a:solidFill>
                <a:srgbClr val="2B2F36"/>
              </a:solidFill>
              <a:ln>
                <a:noFill/>
              </a:ln>
            </p:spPr>
            <p:txBody>
              <a:bodyPr rtlCol="0" anchor="ctr"/>
              <a:lstStyle/>
              <a:p>
                <a:pPr algn="ctr"/>
              </a:p>
            </p:txBody>
          </p:sp>
          <p:sp>
            <p:nvSpPr>
              <p:cNvPr id="56" name="Chimney"/>
              <p:cNvSpPr/>
              <p:nvPr/>
            </p:nvSpPr>
            <p:spPr>
              <a:xfrm>
                <a:off x="4010558" y="1630375"/>
                <a:ext cx="123444" cy="246888"/>
              </a:xfrm>
              <a:prstGeom prst="rect">
                <a:avLst/>
              </a:prstGeom>
              <a:solidFill>
                <a:srgbClr val="1B1D21"/>
              </a:solidFill>
              <a:ln>
                <a:noFill/>
              </a:ln>
            </p:spPr>
            <p:txBody>
              <a:bodyPr rtlCol="0" anchor="ctr"/>
              <a:lstStyle/>
              <a:p>
                <a:pPr algn="ctr"/>
              </a:p>
            </p:txBody>
          </p:sp>
          <p:sp>
            <p:nvSpPr>
              <p:cNvPr id="57" name="Oval 56"/>
              <p:cNvSpPr/>
              <p:nvPr/>
            </p:nvSpPr>
            <p:spPr>
              <a:xfrm>
                <a:off x="3450946" y="2231136"/>
                <a:ext cx="164592" cy="164592"/>
              </a:xfrm>
              <a:prstGeom prst="ellipse">
                <a:avLst/>
              </a:prstGeom>
              <a:solidFill>
                <a:srgbClr val="1B1D21"/>
              </a:solidFill>
              <a:ln w="12700">
                <a:solidFill>
                  <a:srgbClr val="9AA0A6"/>
                </a:solidFill>
              </a:ln>
            </p:spPr>
            <p:txBody>
              <a:bodyPr rtlCol="0" anchor="ctr"/>
              <a:lstStyle/>
              <a:p>
                <a:pPr algn="ctr"/>
              </a:p>
            </p:txBody>
          </p:sp>
          <p:sp>
            <p:nvSpPr>
              <p:cNvPr id="58" name="Oval 57"/>
              <p:cNvSpPr/>
              <p:nvPr/>
            </p:nvSpPr>
            <p:spPr>
              <a:xfrm>
                <a:off x="3697834" y="2231136"/>
                <a:ext cx="164592" cy="164592"/>
              </a:xfrm>
              <a:prstGeom prst="ellipse">
                <a:avLst/>
              </a:prstGeom>
              <a:solidFill>
                <a:srgbClr val="1B1D21"/>
              </a:solidFill>
              <a:ln w="12700">
                <a:solidFill>
                  <a:srgbClr val="9AA0A6"/>
                </a:solidFill>
              </a:ln>
            </p:spPr>
            <p:txBody>
              <a:bodyPr rtlCol="0" anchor="ctr"/>
              <a:lstStyle/>
              <a:p>
                <a:pPr algn="ctr"/>
              </a:p>
            </p:txBody>
          </p:sp>
          <p:sp>
            <p:nvSpPr>
              <p:cNvPr id="59" name="Oval 58"/>
              <p:cNvSpPr/>
              <p:nvPr/>
            </p:nvSpPr>
            <p:spPr>
              <a:xfrm>
                <a:off x="3944722" y="2231136"/>
                <a:ext cx="164592" cy="164592"/>
              </a:xfrm>
              <a:prstGeom prst="ellipse">
                <a:avLst/>
              </a:prstGeom>
              <a:solidFill>
                <a:srgbClr val="1B1D21"/>
              </a:solidFill>
              <a:ln w="12700">
                <a:solidFill>
                  <a:srgbClr val="9AA0A6"/>
                </a:solidFill>
              </a:ln>
            </p:spPr>
            <p:txBody>
              <a:bodyPr rtlCol="0" anchor="ctr"/>
              <a:lstStyle/>
              <a:p>
                <a:pPr algn="ctr"/>
              </a:p>
            </p:txBody>
          </p:sp>
        </p:grpSp>
        <p:grpSp>
          <p:nvGrpSpPr>
            <p:cNvPr id="60" name="Train B" descr="A steam train: an engine pulling wagons."/>
            <p:cNvGrpSpPr/>
            <p:nvPr/>
          </p:nvGrpSpPr>
          <p:grpSpPr>
            <a:xfrm>
              <a:off x="6995160" y="1630375"/>
              <a:ext cx="2271370" cy="765353"/>
              <a:chOff x="6995160" y="1630375"/>
              <a:chExt cx="2271370" cy="765353"/>
            </a:xfrm>
          </p:grpSpPr>
          <p:sp>
            <p:nvSpPr>
              <p:cNvPr id="61" name="Rectangle 60"/>
              <p:cNvSpPr/>
              <p:nvPr/>
            </p:nvSpPr>
            <p:spPr>
              <a:xfrm>
                <a:off x="8608162" y="1926641"/>
                <a:ext cx="658368" cy="370332"/>
              </a:xfrm>
              <a:prstGeom prst="rect">
                <a:avLst/>
              </a:prstGeom>
              <a:solidFill>
                <a:srgbClr val="6C7480"/>
              </a:solidFill>
              <a:ln w="9525">
                <a:solidFill>
                  <a:srgbClr val="101418"/>
                </a:solidFill>
              </a:ln>
            </p:spPr>
            <p:txBody>
              <a:bodyPr rtlCol="0" anchor="ctr"/>
              <a:lstStyle/>
              <a:p>
                <a:pPr algn="ctr"/>
              </a:p>
            </p:txBody>
          </p:sp>
          <p:sp>
            <p:nvSpPr>
              <p:cNvPr id="62" name="Oval 61"/>
              <p:cNvSpPr/>
              <p:nvPr/>
            </p:nvSpPr>
            <p:spPr>
              <a:xfrm>
                <a:off x="9019642" y="2231136"/>
                <a:ext cx="164592" cy="164592"/>
              </a:xfrm>
              <a:prstGeom prst="ellipse">
                <a:avLst/>
              </a:prstGeom>
              <a:solidFill>
                <a:srgbClr val="1B1D21"/>
              </a:solidFill>
              <a:ln w="12700">
                <a:solidFill>
                  <a:srgbClr val="9AA0A6"/>
                </a:solidFill>
              </a:ln>
            </p:spPr>
            <p:txBody>
              <a:bodyPr rtlCol="0" anchor="ctr"/>
              <a:lstStyle/>
              <a:p>
                <a:pPr algn="ctr"/>
              </a:p>
            </p:txBody>
          </p:sp>
          <p:sp>
            <p:nvSpPr>
              <p:cNvPr id="63" name="Oval 62"/>
              <p:cNvSpPr/>
              <p:nvPr/>
            </p:nvSpPr>
            <p:spPr>
              <a:xfrm>
                <a:off x="8690458" y="2231136"/>
                <a:ext cx="164592" cy="164592"/>
              </a:xfrm>
              <a:prstGeom prst="ellipse">
                <a:avLst/>
              </a:prstGeom>
              <a:solidFill>
                <a:srgbClr val="1B1D21"/>
              </a:solidFill>
              <a:ln w="12700">
                <a:solidFill>
                  <a:srgbClr val="9AA0A6"/>
                </a:solidFill>
              </a:ln>
            </p:spPr>
            <p:txBody>
              <a:bodyPr rtlCol="0" anchor="ctr"/>
              <a:lstStyle/>
              <a:p>
                <a:pPr algn="ctr"/>
              </a:p>
            </p:txBody>
          </p:sp>
          <p:sp>
            <p:nvSpPr>
              <p:cNvPr id="64" name="Rectangle 63"/>
              <p:cNvSpPr/>
              <p:nvPr/>
            </p:nvSpPr>
            <p:spPr>
              <a:xfrm>
                <a:off x="8542325" y="2189988"/>
                <a:ext cx="65837" cy="41148"/>
              </a:xfrm>
              <a:prstGeom prst="rect">
                <a:avLst/>
              </a:prstGeom>
              <a:solidFill>
                <a:srgbClr val="9AA0A6"/>
              </a:solidFill>
              <a:ln>
                <a:noFill/>
              </a:ln>
            </p:spPr>
            <p:txBody>
              <a:bodyPr rtlCol="0" anchor="ctr"/>
              <a:lstStyle/>
              <a:p>
                <a:pPr algn="ctr"/>
              </a:p>
            </p:txBody>
          </p:sp>
          <p:sp>
            <p:nvSpPr>
              <p:cNvPr id="65" name="Rectangle 64"/>
              <p:cNvSpPr/>
              <p:nvPr/>
            </p:nvSpPr>
            <p:spPr>
              <a:xfrm>
                <a:off x="7883957" y="1926641"/>
                <a:ext cx="658368" cy="370332"/>
              </a:xfrm>
              <a:prstGeom prst="rect">
                <a:avLst/>
              </a:prstGeom>
              <a:solidFill>
                <a:srgbClr val="6C7480"/>
              </a:solidFill>
              <a:ln w="9525">
                <a:solidFill>
                  <a:srgbClr val="101418"/>
                </a:solidFill>
              </a:ln>
            </p:spPr>
            <p:txBody>
              <a:bodyPr rtlCol="0" anchor="ctr"/>
              <a:lstStyle/>
              <a:p>
                <a:pPr algn="ctr"/>
              </a:p>
            </p:txBody>
          </p:sp>
          <p:sp>
            <p:nvSpPr>
              <p:cNvPr id="66" name="Oval 65"/>
              <p:cNvSpPr/>
              <p:nvPr/>
            </p:nvSpPr>
            <p:spPr>
              <a:xfrm>
                <a:off x="8295437" y="2231136"/>
                <a:ext cx="164592" cy="164592"/>
              </a:xfrm>
              <a:prstGeom prst="ellipse">
                <a:avLst/>
              </a:prstGeom>
              <a:solidFill>
                <a:srgbClr val="1B1D21"/>
              </a:solidFill>
              <a:ln w="12700">
                <a:solidFill>
                  <a:srgbClr val="9AA0A6"/>
                </a:solidFill>
              </a:ln>
            </p:spPr>
            <p:txBody>
              <a:bodyPr rtlCol="0" anchor="ctr"/>
              <a:lstStyle/>
              <a:p>
                <a:pPr algn="ctr"/>
              </a:p>
            </p:txBody>
          </p:sp>
          <p:sp>
            <p:nvSpPr>
              <p:cNvPr id="67" name="Oval 66"/>
              <p:cNvSpPr/>
              <p:nvPr/>
            </p:nvSpPr>
            <p:spPr>
              <a:xfrm>
                <a:off x="7966253" y="2231136"/>
                <a:ext cx="164592" cy="164592"/>
              </a:xfrm>
              <a:prstGeom prst="ellipse">
                <a:avLst/>
              </a:prstGeom>
              <a:solidFill>
                <a:srgbClr val="1B1D21"/>
              </a:solidFill>
              <a:ln w="12700">
                <a:solidFill>
                  <a:srgbClr val="9AA0A6"/>
                </a:solidFill>
              </a:ln>
            </p:spPr>
            <p:txBody>
              <a:bodyPr rtlCol="0" anchor="ctr"/>
              <a:lstStyle/>
              <a:p>
                <a:pPr algn="ctr"/>
              </a:p>
            </p:txBody>
          </p:sp>
          <p:sp>
            <p:nvSpPr>
              <p:cNvPr id="68" name="Rectangle 67"/>
              <p:cNvSpPr/>
              <p:nvPr/>
            </p:nvSpPr>
            <p:spPr>
              <a:xfrm>
                <a:off x="7818120" y="2189988"/>
                <a:ext cx="65837" cy="41148"/>
              </a:xfrm>
              <a:prstGeom prst="rect">
                <a:avLst/>
              </a:prstGeom>
              <a:solidFill>
                <a:srgbClr val="9AA0A6"/>
              </a:solidFill>
              <a:ln>
                <a:noFill/>
              </a:ln>
            </p:spPr>
            <p:txBody>
              <a:bodyPr rtlCol="0" anchor="ctr"/>
              <a:lstStyle/>
              <a:p>
                <a:pPr algn="ctr"/>
              </a:p>
            </p:txBody>
          </p:sp>
          <p:sp>
            <p:nvSpPr>
              <p:cNvPr id="69" name="Rectangle 68"/>
              <p:cNvSpPr/>
              <p:nvPr/>
            </p:nvSpPr>
            <p:spPr>
              <a:xfrm>
                <a:off x="6995160" y="1860804"/>
                <a:ext cx="822960" cy="452628"/>
              </a:xfrm>
              <a:prstGeom prst="rect">
                <a:avLst/>
              </a:prstGeom>
              <a:solidFill>
                <a:srgbClr val="F28C28"/>
              </a:solidFill>
              <a:ln w="9525">
                <a:solidFill>
                  <a:srgbClr val="101418"/>
                </a:solidFill>
              </a:ln>
            </p:spPr>
            <p:txBody>
              <a:bodyPr rtlCol="0" anchor="ctr"/>
              <a:lstStyle/>
              <a:p>
                <a:pPr algn="ctr"/>
              </a:p>
            </p:txBody>
          </p:sp>
          <p:sp>
            <p:nvSpPr>
              <p:cNvPr id="70" name="Bunker"/>
              <p:cNvSpPr/>
              <p:nvPr/>
            </p:nvSpPr>
            <p:spPr>
              <a:xfrm>
                <a:off x="7579462" y="1885493"/>
                <a:ext cx="213970" cy="164592"/>
              </a:xfrm>
              <a:prstGeom prst="rect">
                <a:avLst/>
              </a:prstGeom>
              <a:solidFill>
                <a:srgbClr val="1B1D21"/>
              </a:solidFill>
              <a:ln>
                <a:noFill/>
              </a:ln>
            </p:spPr>
            <p:txBody>
              <a:bodyPr rtlCol="0" anchor="ctr"/>
              <a:lstStyle/>
              <a:p>
                <a:pPr algn="ctr"/>
              </a:p>
            </p:txBody>
          </p:sp>
          <p:sp>
            <p:nvSpPr>
              <p:cNvPr id="71" name="Rectangle 70"/>
              <p:cNvSpPr/>
              <p:nvPr/>
            </p:nvSpPr>
            <p:spPr>
              <a:xfrm>
                <a:off x="7423099" y="1918411"/>
                <a:ext cx="115214" cy="115214"/>
              </a:xfrm>
              <a:prstGeom prst="rect">
                <a:avLst/>
              </a:prstGeom>
              <a:solidFill>
                <a:srgbClr val="2B2F36"/>
              </a:solidFill>
              <a:ln>
                <a:noFill/>
              </a:ln>
            </p:spPr>
            <p:txBody>
              <a:bodyPr rtlCol="0" anchor="ctr"/>
              <a:lstStyle/>
              <a:p>
                <a:pPr algn="ctr"/>
              </a:p>
            </p:txBody>
          </p:sp>
          <p:sp>
            <p:nvSpPr>
              <p:cNvPr id="72" name="Chimney"/>
              <p:cNvSpPr/>
              <p:nvPr/>
            </p:nvSpPr>
            <p:spPr>
              <a:xfrm>
                <a:off x="7052767" y="1630375"/>
                <a:ext cx="123444" cy="246888"/>
              </a:xfrm>
              <a:prstGeom prst="rect">
                <a:avLst/>
              </a:prstGeom>
              <a:solidFill>
                <a:srgbClr val="1B1D21"/>
              </a:solidFill>
              <a:ln>
                <a:noFill/>
              </a:ln>
            </p:spPr>
            <p:txBody>
              <a:bodyPr rtlCol="0" anchor="ctr"/>
              <a:lstStyle/>
              <a:p>
                <a:pPr algn="ctr"/>
              </a:p>
            </p:txBody>
          </p:sp>
          <p:sp>
            <p:nvSpPr>
              <p:cNvPr id="73" name="Oval 72"/>
              <p:cNvSpPr/>
              <p:nvPr/>
            </p:nvSpPr>
            <p:spPr>
              <a:xfrm>
                <a:off x="7571232" y="2231136"/>
                <a:ext cx="164592" cy="164592"/>
              </a:xfrm>
              <a:prstGeom prst="ellipse">
                <a:avLst/>
              </a:prstGeom>
              <a:solidFill>
                <a:srgbClr val="1B1D21"/>
              </a:solidFill>
              <a:ln w="12700">
                <a:solidFill>
                  <a:srgbClr val="9AA0A6"/>
                </a:solidFill>
              </a:ln>
            </p:spPr>
            <p:txBody>
              <a:bodyPr rtlCol="0" anchor="ctr"/>
              <a:lstStyle/>
              <a:p>
                <a:pPr algn="ctr"/>
              </a:p>
            </p:txBody>
          </p:sp>
          <p:sp>
            <p:nvSpPr>
              <p:cNvPr id="74" name="Oval 73"/>
              <p:cNvSpPr/>
              <p:nvPr/>
            </p:nvSpPr>
            <p:spPr>
              <a:xfrm>
                <a:off x="7324344" y="2231136"/>
                <a:ext cx="164592" cy="164592"/>
              </a:xfrm>
              <a:prstGeom prst="ellipse">
                <a:avLst/>
              </a:prstGeom>
              <a:solidFill>
                <a:srgbClr val="1B1D21"/>
              </a:solidFill>
              <a:ln w="12700">
                <a:solidFill>
                  <a:srgbClr val="9AA0A6"/>
                </a:solidFill>
              </a:ln>
            </p:spPr>
            <p:txBody>
              <a:bodyPr rtlCol="0" anchor="ctr"/>
              <a:lstStyle/>
              <a:p>
                <a:pPr algn="ctr"/>
              </a:p>
            </p:txBody>
          </p:sp>
          <p:sp>
            <p:nvSpPr>
              <p:cNvPr id="75" name="Oval 74"/>
              <p:cNvSpPr/>
              <p:nvPr/>
            </p:nvSpPr>
            <p:spPr>
              <a:xfrm>
                <a:off x="7077456" y="2231136"/>
                <a:ext cx="164592" cy="164592"/>
              </a:xfrm>
              <a:prstGeom prst="ellipse">
                <a:avLst/>
              </a:prstGeom>
              <a:solidFill>
                <a:srgbClr val="1B1D21"/>
              </a:solidFill>
              <a:ln w="12700">
                <a:solidFill>
                  <a:srgbClr val="9AA0A6"/>
                </a:solidFill>
              </a:ln>
            </p:spPr>
            <p:txBody>
              <a:bodyPr rtlCol="0" anchor="ctr"/>
              <a:lstStyle/>
              <a:p>
                <a:pPr algn="ctr"/>
              </a:p>
            </p:txBody>
          </p:sp>
        </p:grpSp>
        <p:sp>
          <p:nvSpPr>
            <p:cNvPr id="76" name="Multiply 75"/>
            <p:cNvSpPr/>
            <p:nvPr/>
          </p:nvSpPr>
          <p:spPr>
            <a:xfrm>
              <a:off x="5300777" y="1691640"/>
              <a:ext cx="585216" cy="585216"/>
            </a:xfrm>
            <a:prstGeom prst="mathMultiply">
              <a:avLst/>
            </a:prstGeom>
            <a:solidFill>
              <a:srgbClr val="E5484D"/>
            </a:solidFill>
            <a:ln>
              <a:noFill/>
            </a:ln>
          </p:spPr>
          <p:txBody>
            <a:bodyPr rtlCol="0" anchor="ctr"/>
            <a:lstStyle/>
            <a:p>
              <a:pPr algn="ctr"/>
            </a:p>
          </p:txBody>
        </p:sp>
        <p:sp>
          <p:nvSpPr>
            <p:cNvPr id="77" name="Rounded Rectangle 76"/>
            <p:cNvSpPr/>
            <p:nvPr/>
          </p:nvSpPr>
          <p:spPr>
            <a:xfrm>
              <a:off x="6004865" y="1463040"/>
              <a:ext cx="2377440" cy="411480"/>
            </a:xfrm>
            <a:prstGeom prst="roundRect">
              <a:avLst>
                <a:gd name="adj" fmla="val 17777"/>
              </a:avLst>
            </a:prstGeom>
            <a:solidFill>
              <a:srgbClr val="B3262B"/>
            </a:solidFill>
            <a:ln>
              <a:noFill/>
            </a:ln>
          </p:spPr>
          <p:txBody>
            <a:bodyPr rtlCol="0" anchor="ctr" wrap="square" lIns="73152" tIns="36576" rIns="73152" bIns="36576">
              <a:noAutofit/>
            </a:bodyPr>
            <a:lstStyle/>
            <a:p>
              <a:pPr algn="ctr"/>
              <a:r>
                <a:rPr sz="1800" b="1" i="0" lang="en-GB">
                  <a:solidFill>
                    <a:srgbClr val="F2F2F2"/>
                  </a:solidFill>
                  <a:latin typeface="Arial"/>
                </a:rPr>
                <a:t>No warning: crash</a:t>
              </a:r>
            </a:p>
          </p:txBody>
        </p:sp>
      </p:grpSp>
      <p:grpSp>
        <p:nvGrpSpPr>
          <p:cNvPr id="78" name="With signals" descr="With signals: the track is split into three blocks with one train in each. The second train waits at a stop signal. The lead train needs a long distance to stop."/>
          <p:cNvGrpSpPr/>
          <p:nvPr/>
        </p:nvGrpSpPr>
        <p:grpSpPr>
          <a:xfrm>
            <a:off x="548640" y="3163824"/>
            <a:ext cx="11091672" cy="2459736"/>
            <a:chOff x="548640" y="3163824"/>
            <a:chExt cx="11091672" cy="2459736"/>
          </a:xfrm>
        </p:grpSpPr>
        <p:sp>
          <p:nvSpPr>
            <p:cNvPr id="79" name="Rounded Rectangle 78"/>
            <p:cNvSpPr/>
            <p:nvPr/>
          </p:nvSpPr>
          <p:spPr>
            <a:xfrm>
              <a:off x="548640" y="3200400"/>
              <a:ext cx="11091672" cy="2423160"/>
            </a:xfrm>
            <a:prstGeom prst="roundRect">
              <a:avLst>
                <a:gd name="adj" fmla="val 3018"/>
              </a:avLst>
            </a:prstGeom>
            <a:solidFill>
              <a:srgbClr val="2B2F36"/>
            </a:solidFill>
            <a:ln>
              <a:noFill/>
            </a:ln>
          </p:spPr>
          <p:txBody>
            <a:bodyPr rtlCol="0" anchor="ctr"/>
            <a:lstStyle/>
            <a:p>
              <a:pPr algn="ctr"/>
            </a:p>
          </p:txBody>
        </p:sp>
        <p:sp>
          <p:nvSpPr>
            <p:cNvPr id="80" name="Rectangle 79"/>
            <p:cNvSpPr/>
            <p:nvPr/>
          </p:nvSpPr>
          <p:spPr>
            <a:xfrm>
              <a:off x="1092708" y="4151376"/>
              <a:ext cx="54864" cy="365760"/>
            </a:xfrm>
            <a:prstGeom prst="rect">
              <a:avLst/>
            </a:prstGeom>
            <a:solidFill>
              <a:srgbClr val="6B5B4B"/>
            </a:solidFill>
            <a:ln>
              <a:noFill/>
            </a:ln>
          </p:spPr>
          <p:txBody>
            <a:bodyPr rtlCol="0" anchor="ctr"/>
            <a:lstStyle/>
            <a:p>
              <a:pPr algn="ctr"/>
            </a:p>
          </p:txBody>
        </p:sp>
        <p:sp>
          <p:nvSpPr>
            <p:cNvPr id="81" name="Rectangle 80"/>
            <p:cNvSpPr/>
            <p:nvPr/>
          </p:nvSpPr>
          <p:spPr>
            <a:xfrm>
              <a:off x="1412748" y="4151376"/>
              <a:ext cx="54864" cy="365760"/>
            </a:xfrm>
            <a:prstGeom prst="rect">
              <a:avLst/>
            </a:prstGeom>
            <a:solidFill>
              <a:srgbClr val="6B5B4B"/>
            </a:solidFill>
            <a:ln>
              <a:noFill/>
            </a:ln>
          </p:spPr>
          <p:txBody>
            <a:bodyPr rtlCol="0" anchor="ctr"/>
            <a:lstStyle/>
            <a:p>
              <a:pPr algn="ctr"/>
            </a:p>
          </p:txBody>
        </p:sp>
        <p:sp>
          <p:nvSpPr>
            <p:cNvPr id="82" name="Rectangle 81"/>
            <p:cNvSpPr/>
            <p:nvPr/>
          </p:nvSpPr>
          <p:spPr>
            <a:xfrm>
              <a:off x="1732788" y="4151376"/>
              <a:ext cx="54864" cy="365760"/>
            </a:xfrm>
            <a:prstGeom prst="rect">
              <a:avLst/>
            </a:prstGeom>
            <a:solidFill>
              <a:srgbClr val="6B5B4B"/>
            </a:solidFill>
            <a:ln>
              <a:noFill/>
            </a:ln>
          </p:spPr>
          <p:txBody>
            <a:bodyPr rtlCol="0" anchor="ctr"/>
            <a:lstStyle/>
            <a:p>
              <a:pPr algn="ctr"/>
            </a:p>
          </p:txBody>
        </p:sp>
        <p:sp>
          <p:nvSpPr>
            <p:cNvPr id="83" name="Rectangle 82"/>
            <p:cNvSpPr/>
            <p:nvPr/>
          </p:nvSpPr>
          <p:spPr>
            <a:xfrm>
              <a:off x="2052828" y="4151376"/>
              <a:ext cx="54864" cy="365760"/>
            </a:xfrm>
            <a:prstGeom prst="rect">
              <a:avLst/>
            </a:prstGeom>
            <a:solidFill>
              <a:srgbClr val="6B5B4B"/>
            </a:solidFill>
            <a:ln>
              <a:noFill/>
            </a:ln>
          </p:spPr>
          <p:txBody>
            <a:bodyPr rtlCol="0" anchor="ctr"/>
            <a:lstStyle/>
            <a:p>
              <a:pPr algn="ctr"/>
            </a:p>
          </p:txBody>
        </p:sp>
        <p:sp>
          <p:nvSpPr>
            <p:cNvPr id="84" name="Rectangle 83"/>
            <p:cNvSpPr/>
            <p:nvPr/>
          </p:nvSpPr>
          <p:spPr>
            <a:xfrm>
              <a:off x="2372868" y="4151376"/>
              <a:ext cx="54864" cy="365760"/>
            </a:xfrm>
            <a:prstGeom prst="rect">
              <a:avLst/>
            </a:prstGeom>
            <a:solidFill>
              <a:srgbClr val="6B5B4B"/>
            </a:solidFill>
            <a:ln>
              <a:noFill/>
            </a:ln>
          </p:spPr>
          <p:txBody>
            <a:bodyPr rtlCol="0" anchor="ctr"/>
            <a:lstStyle/>
            <a:p>
              <a:pPr algn="ctr"/>
            </a:p>
          </p:txBody>
        </p:sp>
        <p:sp>
          <p:nvSpPr>
            <p:cNvPr id="85" name="Rectangle 84"/>
            <p:cNvSpPr/>
            <p:nvPr/>
          </p:nvSpPr>
          <p:spPr>
            <a:xfrm>
              <a:off x="2692908" y="4151376"/>
              <a:ext cx="54864" cy="365760"/>
            </a:xfrm>
            <a:prstGeom prst="rect">
              <a:avLst/>
            </a:prstGeom>
            <a:solidFill>
              <a:srgbClr val="6B5B4B"/>
            </a:solidFill>
            <a:ln>
              <a:noFill/>
            </a:ln>
          </p:spPr>
          <p:txBody>
            <a:bodyPr rtlCol="0" anchor="ctr"/>
            <a:lstStyle/>
            <a:p>
              <a:pPr algn="ctr"/>
            </a:p>
          </p:txBody>
        </p:sp>
        <p:sp>
          <p:nvSpPr>
            <p:cNvPr id="86" name="Rectangle 85"/>
            <p:cNvSpPr/>
            <p:nvPr/>
          </p:nvSpPr>
          <p:spPr>
            <a:xfrm>
              <a:off x="3012948" y="4151376"/>
              <a:ext cx="54864" cy="365760"/>
            </a:xfrm>
            <a:prstGeom prst="rect">
              <a:avLst/>
            </a:prstGeom>
            <a:solidFill>
              <a:srgbClr val="6B5B4B"/>
            </a:solidFill>
            <a:ln>
              <a:noFill/>
            </a:ln>
          </p:spPr>
          <p:txBody>
            <a:bodyPr rtlCol="0" anchor="ctr"/>
            <a:lstStyle/>
            <a:p>
              <a:pPr algn="ctr"/>
            </a:p>
          </p:txBody>
        </p:sp>
        <p:sp>
          <p:nvSpPr>
            <p:cNvPr id="87" name="Rectangle 86"/>
            <p:cNvSpPr/>
            <p:nvPr/>
          </p:nvSpPr>
          <p:spPr>
            <a:xfrm>
              <a:off x="3332988" y="4151376"/>
              <a:ext cx="54864" cy="365760"/>
            </a:xfrm>
            <a:prstGeom prst="rect">
              <a:avLst/>
            </a:prstGeom>
            <a:solidFill>
              <a:srgbClr val="6B5B4B"/>
            </a:solidFill>
            <a:ln>
              <a:noFill/>
            </a:ln>
          </p:spPr>
          <p:txBody>
            <a:bodyPr rtlCol="0" anchor="ctr"/>
            <a:lstStyle/>
            <a:p>
              <a:pPr algn="ctr"/>
            </a:p>
          </p:txBody>
        </p:sp>
        <p:sp>
          <p:nvSpPr>
            <p:cNvPr id="88" name="Rectangle 87"/>
            <p:cNvSpPr/>
            <p:nvPr/>
          </p:nvSpPr>
          <p:spPr>
            <a:xfrm>
              <a:off x="3653028" y="4151376"/>
              <a:ext cx="54864" cy="365760"/>
            </a:xfrm>
            <a:prstGeom prst="rect">
              <a:avLst/>
            </a:prstGeom>
            <a:solidFill>
              <a:srgbClr val="6B5B4B"/>
            </a:solidFill>
            <a:ln>
              <a:noFill/>
            </a:ln>
          </p:spPr>
          <p:txBody>
            <a:bodyPr rtlCol="0" anchor="ctr"/>
            <a:lstStyle/>
            <a:p>
              <a:pPr algn="ctr"/>
            </a:p>
          </p:txBody>
        </p:sp>
        <p:sp>
          <p:nvSpPr>
            <p:cNvPr id="89" name="Rectangle 88"/>
            <p:cNvSpPr/>
            <p:nvPr/>
          </p:nvSpPr>
          <p:spPr>
            <a:xfrm>
              <a:off x="3973068" y="4151376"/>
              <a:ext cx="54864" cy="365760"/>
            </a:xfrm>
            <a:prstGeom prst="rect">
              <a:avLst/>
            </a:prstGeom>
            <a:solidFill>
              <a:srgbClr val="6B5B4B"/>
            </a:solidFill>
            <a:ln>
              <a:noFill/>
            </a:ln>
          </p:spPr>
          <p:txBody>
            <a:bodyPr rtlCol="0" anchor="ctr"/>
            <a:lstStyle/>
            <a:p>
              <a:pPr algn="ctr"/>
            </a:p>
          </p:txBody>
        </p:sp>
        <p:sp>
          <p:nvSpPr>
            <p:cNvPr id="90" name="Rectangle 89"/>
            <p:cNvSpPr/>
            <p:nvPr/>
          </p:nvSpPr>
          <p:spPr>
            <a:xfrm>
              <a:off x="4293108" y="4151376"/>
              <a:ext cx="54864" cy="365760"/>
            </a:xfrm>
            <a:prstGeom prst="rect">
              <a:avLst/>
            </a:prstGeom>
            <a:solidFill>
              <a:srgbClr val="6B5B4B"/>
            </a:solidFill>
            <a:ln>
              <a:noFill/>
            </a:ln>
          </p:spPr>
          <p:txBody>
            <a:bodyPr rtlCol="0" anchor="ctr"/>
            <a:lstStyle/>
            <a:p>
              <a:pPr algn="ctr"/>
            </a:p>
          </p:txBody>
        </p:sp>
        <p:sp>
          <p:nvSpPr>
            <p:cNvPr id="91" name="Rectangle 90"/>
            <p:cNvSpPr/>
            <p:nvPr/>
          </p:nvSpPr>
          <p:spPr>
            <a:xfrm>
              <a:off x="4613148" y="4151376"/>
              <a:ext cx="54864" cy="365760"/>
            </a:xfrm>
            <a:prstGeom prst="rect">
              <a:avLst/>
            </a:prstGeom>
            <a:solidFill>
              <a:srgbClr val="6B5B4B"/>
            </a:solidFill>
            <a:ln>
              <a:noFill/>
            </a:ln>
          </p:spPr>
          <p:txBody>
            <a:bodyPr rtlCol="0" anchor="ctr"/>
            <a:lstStyle/>
            <a:p>
              <a:pPr algn="ctr"/>
            </a:p>
          </p:txBody>
        </p:sp>
        <p:sp>
          <p:nvSpPr>
            <p:cNvPr id="92" name="Rectangle 91"/>
            <p:cNvSpPr/>
            <p:nvPr/>
          </p:nvSpPr>
          <p:spPr>
            <a:xfrm>
              <a:off x="4933188" y="4151376"/>
              <a:ext cx="54864" cy="365760"/>
            </a:xfrm>
            <a:prstGeom prst="rect">
              <a:avLst/>
            </a:prstGeom>
            <a:solidFill>
              <a:srgbClr val="6B5B4B"/>
            </a:solidFill>
            <a:ln>
              <a:noFill/>
            </a:ln>
          </p:spPr>
          <p:txBody>
            <a:bodyPr rtlCol="0" anchor="ctr"/>
            <a:lstStyle/>
            <a:p>
              <a:pPr algn="ctr"/>
            </a:p>
          </p:txBody>
        </p:sp>
        <p:sp>
          <p:nvSpPr>
            <p:cNvPr id="93" name="Rectangle 92"/>
            <p:cNvSpPr/>
            <p:nvPr/>
          </p:nvSpPr>
          <p:spPr>
            <a:xfrm>
              <a:off x="5253228" y="4151376"/>
              <a:ext cx="54864" cy="365760"/>
            </a:xfrm>
            <a:prstGeom prst="rect">
              <a:avLst/>
            </a:prstGeom>
            <a:solidFill>
              <a:srgbClr val="6B5B4B"/>
            </a:solidFill>
            <a:ln>
              <a:noFill/>
            </a:ln>
          </p:spPr>
          <p:txBody>
            <a:bodyPr rtlCol="0" anchor="ctr"/>
            <a:lstStyle/>
            <a:p>
              <a:pPr algn="ctr"/>
            </a:p>
          </p:txBody>
        </p:sp>
        <p:sp>
          <p:nvSpPr>
            <p:cNvPr id="94" name="Rectangle 93"/>
            <p:cNvSpPr/>
            <p:nvPr/>
          </p:nvSpPr>
          <p:spPr>
            <a:xfrm>
              <a:off x="5573268" y="4151376"/>
              <a:ext cx="54864" cy="365760"/>
            </a:xfrm>
            <a:prstGeom prst="rect">
              <a:avLst/>
            </a:prstGeom>
            <a:solidFill>
              <a:srgbClr val="6B5B4B"/>
            </a:solidFill>
            <a:ln>
              <a:noFill/>
            </a:ln>
          </p:spPr>
          <p:txBody>
            <a:bodyPr rtlCol="0" anchor="ctr"/>
            <a:lstStyle/>
            <a:p>
              <a:pPr algn="ctr"/>
            </a:p>
          </p:txBody>
        </p:sp>
        <p:sp>
          <p:nvSpPr>
            <p:cNvPr id="95" name="Rectangle 94"/>
            <p:cNvSpPr/>
            <p:nvPr/>
          </p:nvSpPr>
          <p:spPr>
            <a:xfrm>
              <a:off x="5893308" y="4151376"/>
              <a:ext cx="54864" cy="365760"/>
            </a:xfrm>
            <a:prstGeom prst="rect">
              <a:avLst/>
            </a:prstGeom>
            <a:solidFill>
              <a:srgbClr val="6B5B4B"/>
            </a:solidFill>
            <a:ln>
              <a:noFill/>
            </a:ln>
          </p:spPr>
          <p:txBody>
            <a:bodyPr rtlCol="0" anchor="ctr"/>
            <a:lstStyle/>
            <a:p>
              <a:pPr algn="ctr"/>
            </a:p>
          </p:txBody>
        </p:sp>
        <p:sp>
          <p:nvSpPr>
            <p:cNvPr id="96" name="Rectangle 95"/>
            <p:cNvSpPr/>
            <p:nvPr/>
          </p:nvSpPr>
          <p:spPr>
            <a:xfrm>
              <a:off x="6213348" y="4151376"/>
              <a:ext cx="54864" cy="365760"/>
            </a:xfrm>
            <a:prstGeom prst="rect">
              <a:avLst/>
            </a:prstGeom>
            <a:solidFill>
              <a:srgbClr val="6B5B4B"/>
            </a:solidFill>
            <a:ln>
              <a:noFill/>
            </a:ln>
          </p:spPr>
          <p:txBody>
            <a:bodyPr rtlCol="0" anchor="ctr"/>
            <a:lstStyle/>
            <a:p>
              <a:pPr algn="ctr"/>
            </a:p>
          </p:txBody>
        </p:sp>
        <p:sp>
          <p:nvSpPr>
            <p:cNvPr id="97" name="Rectangle 96"/>
            <p:cNvSpPr/>
            <p:nvPr/>
          </p:nvSpPr>
          <p:spPr>
            <a:xfrm>
              <a:off x="6533388" y="4151376"/>
              <a:ext cx="54864" cy="365760"/>
            </a:xfrm>
            <a:prstGeom prst="rect">
              <a:avLst/>
            </a:prstGeom>
            <a:solidFill>
              <a:srgbClr val="6B5B4B"/>
            </a:solidFill>
            <a:ln>
              <a:noFill/>
            </a:ln>
          </p:spPr>
          <p:txBody>
            <a:bodyPr rtlCol="0" anchor="ctr"/>
            <a:lstStyle/>
            <a:p>
              <a:pPr algn="ctr"/>
            </a:p>
          </p:txBody>
        </p:sp>
        <p:sp>
          <p:nvSpPr>
            <p:cNvPr id="98" name="Rectangle 97"/>
            <p:cNvSpPr/>
            <p:nvPr/>
          </p:nvSpPr>
          <p:spPr>
            <a:xfrm>
              <a:off x="6853428" y="4151376"/>
              <a:ext cx="54864" cy="365760"/>
            </a:xfrm>
            <a:prstGeom prst="rect">
              <a:avLst/>
            </a:prstGeom>
            <a:solidFill>
              <a:srgbClr val="6B5B4B"/>
            </a:solidFill>
            <a:ln>
              <a:noFill/>
            </a:ln>
          </p:spPr>
          <p:txBody>
            <a:bodyPr rtlCol="0" anchor="ctr"/>
            <a:lstStyle/>
            <a:p>
              <a:pPr algn="ctr"/>
            </a:p>
          </p:txBody>
        </p:sp>
        <p:sp>
          <p:nvSpPr>
            <p:cNvPr id="99" name="Rectangle 98"/>
            <p:cNvSpPr/>
            <p:nvPr/>
          </p:nvSpPr>
          <p:spPr>
            <a:xfrm>
              <a:off x="7173468" y="4151376"/>
              <a:ext cx="54864" cy="365760"/>
            </a:xfrm>
            <a:prstGeom prst="rect">
              <a:avLst/>
            </a:prstGeom>
            <a:solidFill>
              <a:srgbClr val="6B5B4B"/>
            </a:solidFill>
            <a:ln>
              <a:noFill/>
            </a:ln>
          </p:spPr>
          <p:txBody>
            <a:bodyPr rtlCol="0" anchor="ctr"/>
            <a:lstStyle/>
            <a:p>
              <a:pPr algn="ctr"/>
            </a:p>
          </p:txBody>
        </p:sp>
        <p:sp>
          <p:nvSpPr>
            <p:cNvPr id="100" name="Rectangle 99"/>
            <p:cNvSpPr/>
            <p:nvPr/>
          </p:nvSpPr>
          <p:spPr>
            <a:xfrm>
              <a:off x="7493508" y="4151376"/>
              <a:ext cx="54864" cy="365760"/>
            </a:xfrm>
            <a:prstGeom prst="rect">
              <a:avLst/>
            </a:prstGeom>
            <a:solidFill>
              <a:srgbClr val="6B5B4B"/>
            </a:solidFill>
            <a:ln>
              <a:noFill/>
            </a:ln>
          </p:spPr>
          <p:txBody>
            <a:bodyPr rtlCol="0" anchor="ctr"/>
            <a:lstStyle/>
            <a:p>
              <a:pPr algn="ctr"/>
            </a:p>
          </p:txBody>
        </p:sp>
        <p:sp>
          <p:nvSpPr>
            <p:cNvPr id="101" name="Rectangle 100"/>
            <p:cNvSpPr/>
            <p:nvPr/>
          </p:nvSpPr>
          <p:spPr>
            <a:xfrm>
              <a:off x="7813548" y="4151376"/>
              <a:ext cx="54864" cy="365760"/>
            </a:xfrm>
            <a:prstGeom prst="rect">
              <a:avLst/>
            </a:prstGeom>
            <a:solidFill>
              <a:srgbClr val="6B5B4B"/>
            </a:solidFill>
            <a:ln>
              <a:noFill/>
            </a:ln>
          </p:spPr>
          <p:txBody>
            <a:bodyPr rtlCol="0" anchor="ctr"/>
            <a:lstStyle/>
            <a:p>
              <a:pPr algn="ctr"/>
            </a:p>
          </p:txBody>
        </p:sp>
        <p:sp>
          <p:nvSpPr>
            <p:cNvPr id="102" name="Rectangle 101"/>
            <p:cNvSpPr/>
            <p:nvPr/>
          </p:nvSpPr>
          <p:spPr>
            <a:xfrm>
              <a:off x="8133588" y="4151376"/>
              <a:ext cx="54864" cy="365760"/>
            </a:xfrm>
            <a:prstGeom prst="rect">
              <a:avLst/>
            </a:prstGeom>
            <a:solidFill>
              <a:srgbClr val="6B5B4B"/>
            </a:solidFill>
            <a:ln>
              <a:noFill/>
            </a:ln>
          </p:spPr>
          <p:txBody>
            <a:bodyPr rtlCol="0" anchor="ctr"/>
            <a:lstStyle/>
            <a:p>
              <a:pPr algn="ctr"/>
            </a:p>
          </p:txBody>
        </p:sp>
        <p:sp>
          <p:nvSpPr>
            <p:cNvPr id="103" name="Rectangle 102"/>
            <p:cNvSpPr/>
            <p:nvPr/>
          </p:nvSpPr>
          <p:spPr>
            <a:xfrm>
              <a:off x="8453628" y="4151376"/>
              <a:ext cx="54864" cy="365760"/>
            </a:xfrm>
            <a:prstGeom prst="rect">
              <a:avLst/>
            </a:prstGeom>
            <a:solidFill>
              <a:srgbClr val="6B5B4B"/>
            </a:solidFill>
            <a:ln>
              <a:noFill/>
            </a:ln>
          </p:spPr>
          <p:txBody>
            <a:bodyPr rtlCol="0" anchor="ctr"/>
            <a:lstStyle/>
            <a:p>
              <a:pPr algn="ctr"/>
            </a:p>
          </p:txBody>
        </p:sp>
        <p:sp>
          <p:nvSpPr>
            <p:cNvPr id="104" name="Rectangle 103"/>
            <p:cNvSpPr/>
            <p:nvPr/>
          </p:nvSpPr>
          <p:spPr>
            <a:xfrm>
              <a:off x="8773668" y="4151376"/>
              <a:ext cx="54864" cy="365760"/>
            </a:xfrm>
            <a:prstGeom prst="rect">
              <a:avLst/>
            </a:prstGeom>
            <a:solidFill>
              <a:srgbClr val="6B5B4B"/>
            </a:solidFill>
            <a:ln>
              <a:noFill/>
            </a:ln>
          </p:spPr>
          <p:txBody>
            <a:bodyPr rtlCol="0" anchor="ctr"/>
            <a:lstStyle/>
            <a:p>
              <a:pPr algn="ctr"/>
            </a:p>
          </p:txBody>
        </p:sp>
        <p:sp>
          <p:nvSpPr>
            <p:cNvPr id="105" name="Rectangle 104"/>
            <p:cNvSpPr/>
            <p:nvPr/>
          </p:nvSpPr>
          <p:spPr>
            <a:xfrm>
              <a:off x="9093708" y="4151376"/>
              <a:ext cx="54864" cy="365760"/>
            </a:xfrm>
            <a:prstGeom prst="rect">
              <a:avLst/>
            </a:prstGeom>
            <a:solidFill>
              <a:srgbClr val="6B5B4B"/>
            </a:solidFill>
            <a:ln>
              <a:noFill/>
            </a:ln>
          </p:spPr>
          <p:txBody>
            <a:bodyPr rtlCol="0" anchor="ctr"/>
            <a:lstStyle/>
            <a:p>
              <a:pPr algn="ctr"/>
            </a:p>
          </p:txBody>
        </p:sp>
        <p:sp>
          <p:nvSpPr>
            <p:cNvPr id="106" name="Rectangle 105"/>
            <p:cNvSpPr/>
            <p:nvPr/>
          </p:nvSpPr>
          <p:spPr>
            <a:xfrm>
              <a:off x="9413748" y="4151376"/>
              <a:ext cx="54864" cy="365760"/>
            </a:xfrm>
            <a:prstGeom prst="rect">
              <a:avLst/>
            </a:prstGeom>
            <a:solidFill>
              <a:srgbClr val="6B5B4B"/>
            </a:solidFill>
            <a:ln>
              <a:noFill/>
            </a:ln>
          </p:spPr>
          <p:txBody>
            <a:bodyPr rtlCol="0" anchor="ctr"/>
            <a:lstStyle/>
            <a:p>
              <a:pPr algn="ctr"/>
            </a:p>
          </p:txBody>
        </p:sp>
        <p:sp>
          <p:nvSpPr>
            <p:cNvPr id="107" name="Rectangle 106"/>
            <p:cNvSpPr/>
            <p:nvPr/>
          </p:nvSpPr>
          <p:spPr>
            <a:xfrm>
              <a:off x="9733788" y="4151376"/>
              <a:ext cx="54864" cy="365760"/>
            </a:xfrm>
            <a:prstGeom prst="rect">
              <a:avLst/>
            </a:prstGeom>
            <a:solidFill>
              <a:srgbClr val="6B5B4B"/>
            </a:solidFill>
            <a:ln>
              <a:noFill/>
            </a:ln>
          </p:spPr>
          <p:txBody>
            <a:bodyPr rtlCol="0" anchor="ctr"/>
            <a:lstStyle/>
            <a:p>
              <a:pPr algn="ctr"/>
            </a:p>
          </p:txBody>
        </p:sp>
        <p:sp>
          <p:nvSpPr>
            <p:cNvPr id="108" name="Rectangle 107"/>
            <p:cNvSpPr/>
            <p:nvPr/>
          </p:nvSpPr>
          <p:spPr>
            <a:xfrm>
              <a:off x="10053828" y="4151376"/>
              <a:ext cx="54864" cy="365760"/>
            </a:xfrm>
            <a:prstGeom prst="rect">
              <a:avLst/>
            </a:prstGeom>
            <a:solidFill>
              <a:srgbClr val="6B5B4B"/>
            </a:solidFill>
            <a:ln>
              <a:noFill/>
            </a:ln>
          </p:spPr>
          <p:txBody>
            <a:bodyPr rtlCol="0" anchor="ctr"/>
            <a:lstStyle/>
            <a:p>
              <a:pPr algn="ctr"/>
            </a:p>
          </p:txBody>
        </p:sp>
        <p:sp>
          <p:nvSpPr>
            <p:cNvPr id="109" name="Rectangle 108"/>
            <p:cNvSpPr/>
            <p:nvPr/>
          </p:nvSpPr>
          <p:spPr>
            <a:xfrm>
              <a:off x="10373868" y="4151376"/>
              <a:ext cx="54864" cy="365760"/>
            </a:xfrm>
            <a:prstGeom prst="rect">
              <a:avLst/>
            </a:prstGeom>
            <a:solidFill>
              <a:srgbClr val="6B5B4B"/>
            </a:solidFill>
            <a:ln>
              <a:noFill/>
            </a:ln>
          </p:spPr>
          <p:txBody>
            <a:bodyPr rtlCol="0" anchor="ctr"/>
            <a:lstStyle/>
            <a:p>
              <a:pPr algn="ctr"/>
            </a:p>
          </p:txBody>
        </p:sp>
        <p:sp>
          <p:nvSpPr>
            <p:cNvPr id="110" name="Rectangle 109"/>
            <p:cNvSpPr/>
            <p:nvPr/>
          </p:nvSpPr>
          <p:spPr>
            <a:xfrm>
              <a:off x="10693908" y="4151376"/>
              <a:ext cx="54864" cy="365760"/>
            </a:xfrm>
            <a:prstGeom prst="rect">
              <a:avLst/>
            </a:prstGeom>
            <a:solidFill>
              <a:srgbClr val="6B5B4B"/>
            </a:solidFill>
            <a:ln>
              <a:noFill/>
            </a:ln>
          </p:spPr>
          <p:txBody>
            <a:bodyPr rtlCol="0" anchor="ctr"/>
            <a:lstStyle/>
            <a:p>
              <a:pPr algn="ctr"/>
            </a:p>
          </p:txBody>
        </p:sp>
        <p:sp>
          <p:nvSpPr>
            <p:cNvPr id="111" name="Rectangle 110"/>
            <p:cNvSpPr/>
            <p:nvPr/>
          </p:nvSpPr>
          <p:spPr>
            <a:xfrm>
              <a:off x="11013948" y="4151376"/>
              <a:ext cx="54864" cy="365760"/>
            </a:xfrm>
            <a:prstGeom prst="rect">
              <a:avLst/>
            </a:prstGeom>
            <a:solidFill>
              <a:srgbClr val="6B5B4B"/>
            </a:solidFill>
            <a:ln>
              <a:noFill/>
            </a:ln>
          </p:spPr>
          <p:txBody>
            <a:bodyPr rtlCol="0" anchor="ctr"/>
            <a:lstStyle/>
            <a:p>
              <a:pPr algn="ctr"/>
            </a:p>
          </p:txBody>
        </p:sp>
        <p:sp>
          <p:nvSpPr>
            <p:cNvPr id="112" name="Rectangle 111"/>
            <p:cNvSpPr/>
            <p:nvPr/>
          </p:nvSpPr>
          <p:spPr>
            <a:xfrm>
              <a:off x="822960" y="4178808"/>
              <a:ext cx="10515600" cy="54864"/>
            </a:xfrm>
            <a:prstGeom prst="rect">
              <a:avLst/>
            </a:prstGeom>
            <a:solidFill>
              <a:srgbClr val="9AA0A6"/>
            </a:solidFill>
            <a:ln>
              <a:noFill/>
            </a:ln>
          </p:spPr>
          <p:txBody>
            <a:bodyPr rtlCol="0" anchor="ctr"/>
            <a:lstStyle/>
            <a:p>
              <a:pPr algn="ctr"/>
            </a:p>
          </p:txBody>
        </p:sp>
        <p:sp>
          <p:nvSpPr>
            <p:cNvPr id="113" name="Rectangle 112"/>
            <p:cNvSpPr/>
            <p:nvPr/>
          </p:nvSpPr>
          <p:spPr>
            <a:xfrm>
              <a:off x="822960" y="4434840"/>
              <a:ext cx="10515600" cy="54864"/>
            </a:xfrm>
            <a:prstGeom prst="rect">
              <a:avLst/>
            </a:prstGeom>
            <a:solidFill>
              <a:srgbClr val="9AA0A6"/>
            </a:solidFill>
            <a:ln>
              <a:noFill/>
            </a:ln>
          </p:spPr>
          <p:txBody>
            <a:bodyPr rtlCol="0" anchor="ctr"/>
            <a:lstStyle/>
            <a:p>
              <a:pPr algn="ctr"/>
            </a:p>
          </p:txBody>
        </p:sp>
        <p:grpSp>
          <p:nvGrpSpPr>
            <p:cNvPr id="114" name="Lead train" descr="A steam train: an engine pulling wagons."/>
            <p:cNvGrpSpPr/>
            <p:nvPr/>
          </p:nvGrpSpPr>
          <p:grpSpPr>
            <a:xfrm>
              <a:off x="4526280" y="3440887"/>
              <a:ext cx="2271370" cy="765353"/>
              <a:chOff x="4526280" y="3440887"/>
              <a:chExt cx="2271370" cy="765353"/>
            </a:xfrm>
          </p:grpSpPr>
          <p:sp>
            <p:nvSpPr>
              <p:cNvPr id="115" name="Rectangle 114"/>
              <p:cNvSpPr/>
              <p:nvPr/>
            </p:nvSpPr>
            <p:spPr>
              <a:xfrm>
                <a:off x="4526280" y="3737153"/>
                <a:ext cx="658368" cy="370332"/>
              </a:xfrm>
              <a:prstGeom prst="rect">
                <a:avLst/>
              </a:prstGeom>
              <a:solidFill>
                <a:srgbClr val="6C7480"/>
              </a:solidFill>
              <a:ln w="9525">
                <a:solidFill>
                  <a:srgbClr val="101418"/>
                </a:solidFill>
              </a:ln>
            </p:spPr>
            <p:txBody>
              <a:bodyPr rtlCol="0" anchor="ctr"/>
              <a:lstStyle/>
              <a:p>
                <a:pPr algn="ctr"/>
              </a:p>
            </p:txBody>
          </p:sp>
          <p:sp>
            <p:nvSpPr>
              <p:cNvPr id="116" name="Oval 115"/>
              <p:cNvSpPr/>
              <p:nvPr/>
            </p:nvSpPr>
            <p:spPr>
              <a:xfrm>
                <a:off x="4608576" y="4041648"/>
                <a:ext cx="164592" cy="164592"/>
              </a:xfrm>
              <a:prstGeom prst="ellipse">
                <a:avLst/>
              </a:prstGeom>
              <a:solidFill>
                <a:srgbClr val="1B1D21"/>
              </a:solidFill>
              <a:ln w="12700">
                <a:solidFill>
                  <a:srgbClr val="9AA0A6"/>
                </a:solidFill>
              </a:ln>
            </p:spPr>
            <p:txBody>
              <a:bodyPr rtlCol="0" anchor="ctr"/>
              <a:lstStyle/>
              <a:p>
                <a:pPr algn="ctr"/>
              </a:p>
            </p:txBody>
          </p:sp>
          <p:sp>
            <p:nvSpPr>
              <p:cNvPr id="117" name="Oval 116"/>
              <p:cNvSpPr/>
              <p:nvPr/>
            </p:nvSpPr>
            <p:spPr>
              <a:xfrm>
                <a:off x="4937760" y="4041648"/>
                <a:ext cx="164592" cy="164592"/>
              </a:xfrm>
              <a:prstGeom prst="ellipse">
                <a:avLst/>
              </a:prstGeom>
              <a:solidFill>
                <a:srgbClr val="1B1D21"/>
              </a:solidFill>
              <a:ln w="12700">
                <a:solidFill>
                  <a:srgbClr val="9AA0A6"/>
                </a:solidFill>
              </a:ln>
            </p:spPr>
            <p:txBody>
              <a:bodyPr rtlCol="0" anchor="ctr"/>
              <a:lstStyle/>
              <a:p>
                <a:pPr algn="ctr"/>
              </a:p>
            </p:txBody>
          </p:sp>
          <p:sp>
            <p:nvSpPr>
              <p:cNvPr id="118" name="Rectangle 117"/>
              <p:cNvSpPr/>
              <p:nvPr/>
            </p:nvSpPr>
            <p:spPr>
              <a:xfrm>
                <a:off x="5184648" y="4000500"/>
                <a:ext cx="65837" cy="41148"/>
              </a:xfrm>
              <a:prstGeom prst="rect">
                <a:avLst/>
              </a:prstGeom>
              <a:solidFill>
                <a:srgbClr val="9AA0A6"/>
              </a:solidFill>
              <a:ln>
                <a:noFill/>
              </a:ln>
            </p:spPr>
            <p:txBody>
              <a:bodyPr rtlCol="0" anchor="ctr"/>
              <a:lstStyle/>
              <a:p>
                <a:pPr algn="ctr"/>
              </a:p>
            </p:txBody>
          </p:sp>
          <p:sp>
            <p:nvSpPr>
              <p:cNvPr id="119" name="Rectangle 118"/>
              <p:cNvSpPr/>
              <p:nvPr/>
            </p:nvSpPr>
            <p:spPr>
              <a:xfrm>
                <a:off x="5250485" y="3737153"/>
                <a:ext cx="658368" cy="370332"/>
              </a:xfrm>
              <a:prstGeom prst="rect">
                <a:avLst/>
              </a:prstGeom>
              <a:solidFill>
                <a:srgbClr val="6C7480"/>
              </a:solidFill>
              <a:ln w="9525">
                <a:solidFill>
                  <a:srgbClr val="101418"/>
                </a:solidFill>
              </a:ln>
            </p:spPr>
            <p:txBody>
              <a:bodyPr rtlCol="0" anchor="ctr"/>
              <a:lstStyle/>
              <a:p>
                <a:pPr algn="ctr"/>
              </a:p>
            </p:txBody>
          </p:sp>
          <p:sp>
            <p:nvSpPr>
              <p:cNvPr id="120" name="Oval 119"/>
              <p:cNvSpPr/>
              <p:nvPr/>
            </p:nvSpPr>
            <p:spPr>
              <a:xfrm>
                <a:off x="5332781" y="4041648"/>
                <a:ext cx="164592" cy="164592"/>
              </a:xfrm>
              <a:prstGeom prst="ellipse">
                <a:avLst/>
              </a:prstGeom>
              <a:solidFill>
                <a:srgbClr val="1B1D21"/>
              </a:solidFill>
              <a:ln w="12700">
                <a:solidFill>
                  <a:srgbClr val="9AA0A6"/>
                </a:solidFill>
              </a:ln>
            </p:spPr>
            <p:txBody>
              <a:bodyPr rtlCol="0" anchor="ctr"/>
              <a:lstStyle/>
              <a:p>
                <a:pPr algn="ctr"/>
              </a:p>
            </p:txBody>
          </p:sp>
          <p:sp>
            <p:nvSpPr>
              <p:cNvPr id="121" name="Oval 120"/>
              <p:cNvSpPr/>
              <p:nvPr/>
            </p:nvSpPr>
            <p:spPr>
              <a:xfrm>
                <a:off x="5661965" y="4041648"/>
                <a:ext cx="164592" cy="164592"/>
              </a:xfrm>
              <a:prstGeom prst="ellipse">
                <a:avLst/>
              </a:prstGeom>
              <a:solidFill>
                <a:srgbClr val="1B1D21"/>
              </a:solidFill>
              <a:ln w="12700">
                <a:solidFill>
                  <a:srgbClr val="9AA0A6"/>
                </a:solidFill>
              </a:ln>
            </p:spPr>
            <p:txBody>
              <a:bodyPr rtlCol="0" anchor="ctr"/>
              <a:lstStyle/>
              <a:p>
                <a:pPr algn="ctr"/>
              </a:p>
            </p:txBody>
          </p:sp>
          <p:sp>
            <p:nvSpPr>
              <p:cNvPr id="122" name="Rectangle 121"/>
              <p:cNvSpPr/>
              <p:nvPr/>
            </p:nvSpPr>
            <p:spPr>
              <a:xfrm>
                <a:off x="5908853" y="4000500"/>
                <a:ext cx="65837" cy="41148"/>
              </a:xfrm>
              <a:prstGeom prst="rect">
                <a:avLst/>
              </a:prstGeom>
              <a:solidFill>
                <a:srgbClr val="9AA0A6"/>
              </a:solidFill>
              <a:ln>
                <a:noFill/>
              </a:ln>
            </p:spPr>
            <p:txBody>
              <a:bodyPr rtlCol="0" anchor="ctr"/>
              <a:lstStyle/>
              <a:p>
                <a:pPr algn="ctr"/>
              </a:p>
            </p:txBody>
          </p:sp>
          <p:sp>
            <p:nvSpPr>
              <p:cNvPr id="123" name="Rectangle 122"/>
              <p:cNvSpPr/>
              <p:nvPr/>
            </p:nvSpPr>
            <p:spPr>
              <a:xfrm>
                <a:off x="5974690" y="3671316"/>
                <a:ext cx="822960" cy="452628"/>
              </a:xfrm>
              <a:prstGeom prst="rect">
                <a:avLst/>
              </a:prstGeom>
              <a:solidFill>
                <a:srgbClr val="F28C28"/>
              </a:solidFill>
              <a:ln w="9525">
                <a:solidFill>
                  <a:srgbClr val="101418"/>
                </a:solidFill>
              </a:ln>
            </p:spPr>
            <p:txBody>
              <a:bodyPr rtlCol="0" anchor="ctr"/>
              <a:lstStyle/>
              <a:p>
                <a:pPr algn="ctr"/>
              </a:p>
            </p:txBody>
          </p:sp>
          <p:sp>
            <p:nvSpPr>
              <p:cNvPr id="124" name="Bunker"/>
              <p:cNvSpPr/>
              <p:nvPr/>
            </p:nvSpPr>
            <p:spPr>
              <a:xfrm>
                <a:off x="5999378" y="3696005"/>
                <a:ext cx="213970" cy="164592"/>
              </a:xfrm>
              <a:prstGeom prst="rect">
                <a:avLst/>
              </a:prstGeom>
              <a:solidFill>
                <a:srgbClr val="1B1D21"/>
              </a:solidFill>
              <a:ln>
                <a:noFill/>
              </a:ln>
            </p:spPr>
            <p:txBody>
              <a:bodyPr rtlCol="0" anchor="ctr"/>
              <a:lstStyle/>
              <a:p>
                <a:pPr algn="ctr"/>
              </a:p>
            </p:txBody>
          </p:sp>
          <p:sp>
            <p:nvSpPr>
              <p:cNvPr id="125" name="Rectangle 124"/>
              <p:cNvSpPr/>
              <p:nvPr/>
            </p:nvSpPr>
            <p:spPr>
              <a:xfrm>
                <a:off x="6254496" y="3728923"/>
                <a:ext cx="115214" cy="115214"/>
              </a:xfrm>
              <a:prstGeom prst="rect">
                <a:avLst/>
              </a:prstGeom>
              <a:solidFill>
                <a:srgbClr val="2B2F36"/>
              </a:solidFill>
              <a:ln>
                <a:noFill/>
              </a:ln>
            </p:spPr>
            <p:txBody>
              <a:bodyPr rtlCol="0" anchor="ctr"/>
              <a:lstStyle/>
              <a:p>
                <a:pPr algn="ctr"/>
              </a:p>
            </p:txBody>
          </p:sp>
          <p:sp>
            <p:nvSpPr>
              <p:cNvPr id="126" name="Chimney"/>
              <p:cNvSpPr/>
              <p:nvPr/>
            </p:nvSpPr>
            <p:spPr>
              <a:xfrm>
                <a:off x="6616598" y="3440887"/>
                <a:ext cx="123444" cy="246888"/>
              </a:xfrm>
              <a:prstGeom prst="rect">
                <a:avLst/>
              </a:prstGeom>
              <a:solidFill>
                <a:srgbClr val="1B1D21"/>
              </a:solidFill>
              <a:ln>
                <a:noFill/>
              </a:ln>
            </p:spPr>
            <p:txBody>
              <a:bodyPr rtlCol="0" anchor="ctr"/>
              <a:lstStyle/>
              <a:p>
                <a:pPr algn="ctr"/>
              </a:p>
            </p:txBody>
          </p:sp>
          <p:sp>
            <p:nvSpPr>
              <p:cNvPr id="127" name="Oval 126"/>
              <p:cNvSpPr/>
              <p:nvPr/>
            </p:nvSpPr>
            <p:spPr>
              <a:xfrm>
                <a:off x="6056986" y="4041648"/>
                <a:ext cx="164592" cy="164592"/>
              </a:xfrm>
              <a:prstGeom prst="ellipse">
                <a:avLst/>
              </a:prstGeom>
              <a:solidFill>
                <a:srgbClr val="1B1D21"/>
              </a:solidFill>
              <a:ln w="12700">
                <a:solidFill>
                  <a:srgbClr val="9AA0A6"/>
                </a:solidFill>
              </a:ln>
            </p:spPr>
            <p:txBody>
              <a:bodyPr rtlCol="0" anchor="ctr"/>
              <a:lstStyle/>
              <a:p>
                <a:pPr algn="ctr"/>
              </a:p>
            </p:txBody>
          </p:sp>
          <p:sp>
            <p:nvSpPr>
              <p:cNvPr id="128" name="Oval 127"/>
              <p:cNvSpPr/>
              <p:nvPr/>
            </p:nvSpPr>
            <p:spPr>
              <a:xfrm>
                <a:off x="6303874" y="4041648"/>
                <a:ext cx="164592" cy="164592"/>
              </a:xfrm>
              <a:prstGeom prst="ellipse">
                <a:avLst/>
              </a:prstGeom>
              <a:solidFill>
                <a:srgbClr val="1B1D21"/>
              </a:solidFill>
              <a:ln w="12700">
                <a:solidFill>
                  <a:srgbClr val="9AA0A6"/>
                </a:solidFill>
              </a:ln>
            </p:spPr>
            <p:txBody>
              <a:bodyPr rtlCol="0" anchor="ctr"/>
              <a:lstStyle/>
              <a:p>
                <a:pPr algn="ctr"/>
              </a:p>
            </p:txBody>
          </p:sp>
          <p:sp>
            <p:nvSpPr>
              <p:cNvPr id="129" name="Oval 128"/>
              <p:cNvSpPr/>
              <p:nvPr/>
            </p:nvSpPr>
            <p:spPr>
              <a:xfrm>
                <a:off x="6550762" y="4041648"/>
                <a:ext cx="164592" cy="164592"/>
              </a:xfrm>
              <a:prstGeom prst="ellipse">
                <a:avLst/>
              </a:prstGeom>
              <a:solidFill>
                <a:srgbClr val="1B1D21"/>
              </a:solidFill>
              <a:ln w="12700">
                <a:solidFill>
                  <a:srgbClr val="9AA0A6"/>
                </a:solidFill>
              </a:ln>
            </p:spPr>
            <p:txBody>
              <a:bodyPr rtlCol="0" anchor="ctr"/>
              <a:lstStyle/>
              <a:p>
                <a:pPr algn="ctr"/>
              </a:p>
            </p:txBody>
          </p:sp>
        </p:grpSp>
        <p:grpSp>
          <p:nvGrpSpPr>
            <p:cNvPr id="130" name="Following train" descr="A steam train: an engine pulling wagons."/>
            <p:cNvGrpSpPr/>
            <p:nvPr/>
          </p:nvGrpSpPr>
          <p:grpSpPr>
            <a:xfrm>
              <a:off x="1417320" y="3568446"/>
              <a:ext cx="1892808" cy="637794"/>
              <a:chOff x="1417320" y="3568446"/>
              <a:chExt cx="1892808" cy="637794"/>
            </a:xfrm>
          </p:grpSpPr>
          <p:sp>
            <p:nvSpPr>
              <p:cNvPr id="131" name="Rectangle 130"/>
              <p:cNvSpPr/>
              <p:nvPr/>
            </p:nvSpPr>
            <p:spPr>
              <a:xfrm>
                <a:off x="1417320" y="3815334"/>
                <a:ext cx="548640" cy="308610"/>
              </a:xfrm>
              <a:prstGeom prst="rect">
                <a:avLst/>
              </a:prstGeom>
              <a:solidFill>
                <a:srgbClr val="6C7480"/>
              </a:solidFill>
              <a:ln w="9525">
                <a:solidFill>
                  <a:srgbClr val="101418"/>
                </a:solidFill>
              </a:ln>
            </p:spPr>
            <p:txBody>
              <a:bodyPr rtlCol="0" anchor="ctr"/>
              <a:lstStyle/>
              <a:p>
                <a:pPr algn="ctr"/>
              </a:p>
            </p:txBody>
          </p:sp>
          <p:sp>
            <p:nvSpPr>
              <p:cNvPr id="132" name="Oval 131"/>
              <p:cNvSpPr/>
              <p:nvPr/>
            </p:nvSpPr>
            <p:spPr>
              <a:xfrm>
                <a:off x="1485900" y="4069080"/>
                <a:ext cx="137160" cy="137160"/>
              </a:xfrm>
              <a:prstGeom prst="ellipse">
                <a:avLst/>
              </a:prstGeom>
              <a:solidFill>
                <a:srgbClr val="1B1D21"/>
              </a:solidFill>
              <a:ln w="12700">
                <a:solidFill>
                  <a:srgbClr val="9AA0A6"/>
                </a:solidFill>
              </a:ln>
            </p:spPr>
            <p:txBody>
              <a:bodyPr rtlCol="0" anchor="ctr"/>
              <a:lstStyle/>
              <a:p>
                <a:pPr algn="ctr"/>
              </a:p>
            </p:txBody>
          </p:sp>
          <p:sp>
            <p:nvSpPr>
              <p:cNvPr id="133" name="Oval 132"/>
              <p:cNvSpPr/>
              <p:nvPr/>
            </p:nvSpPr>
            <p:spPr>
              <a:xfrm>
                <a:off x="1760220" y="4069080"/>
                <a:ext cx="137160" cy="137160"/>
              </a:xfrm>
              <a:prstGeom prst="ellipse">
                <a:avLst/>
              </a:prstGeom>
              <a:solidFill>
                <a:srgbClr val="1B1D21"/>
              </a:solidFill>
              <a:ln w="12700">
                <a:solidFill>
                  <a:srgbClr val="9AA0A6"/>
                </a:solidFill>
              </a:ln>
            </p:spPr>
            <p:txBody>
              <a:bodyPr rtlCol="0" anchor="ctr"/>
              <a:lstStyle/>
              <a:p>
                <a:pPr algn="ctr"/>
              </a:p>
            </p:txBody>
          </p:sp>
          <p:sp>
            <p:nvSpPr>
              <p:cNvPr id="134" name="Rectangle 133"/>
              <p:cNvSpPr/>
              <p:nvPr/>
            </p:nvSpPr>
            <p:spPr>
              <a:xfrm>
                <a:off x="1965960" y="4034790"/>
                <a:ext cx="54864" cy="34290"/>
              </a:xfrm>
              <a:prstGeom prst="rect">
                <a:avLst/>
              </a:prstGeom>
              <a:solidFill>
                <a:srgbClr val="9AA0A6"/>
              </a:solidFill>
              <a:ln>
                <a:noFill/>
              </a:ln>
            </p:spPr>
            <p:txBody>
              <a:bodyPr rtlCol="0" anchor="ctr"/>
              <a:lstStyle/>
              <a:p>
                <a:pPr algn="ctr"/>
              </a:p>
            </p:txBody>
          </p:sp>
          <p:sp>
            <p:nvSpPr>
              <p:cNvPr id="135" name="Rectangle 134"/>
              <p:cNvSpPr/>
              <p:nvPr/>
            </p:nvSpPr>
            <p:spPr>
              <a:xfrm>
                <a:off x="2020824" y="3815334"/>
                <a:ext cx="548640" cy="308610"/>
              </a:xfrm>
              <a:prstGeom prst="rect">
                <a:avLst/>
              </a:prstGeom>
              <a:solidFill>
                <a:srgbClr val="6C7480"/>
              </a:solidFill>
              <a:ln w="9525">
                <a:solidFill>
                  <a:srgbClr val="101418"/>
                </a:solidFill>
              </a:ln>
            </p:spPr>
            <p:txBody>
              <a:bodyPr rtlCol="0" anchor="ctr"/>
              <a:lstStyle/>
              <a:p>
                <a:pPr algn="ctr"/>
              </a:p>
            </p:txBody>
          </p:sp>
          <p:sp>
            <p:nvSpPr>
              <p:cNvPr id="136" name="Oval 135"/>
              <p:cNvSpPr/>
              <p:nvPr/>
            </p:nvSpPr>
            <p:spPr>
              <a:xfrm>
                <a:off x="2089404" y="4069080"/>
                <a:ext cx="137160" cy="137160"/>
              </a:xfrm>
              <a:prstGeom prst="ellipse">
                <a:avLst/>
              </a:prstGeom>
              <a:solidFill>
                <a:srgbClr val="1B1D21"/>
              </a:solidFill>
              <a:ln w="12700">
                <a:solidFill>
                  <a:srgbClr val="9AA0A6"/>
                </a:solidFill>
              </a:ln>
            </p:spPr>
            <p:txBody>
              <a:bodyPr rtlCol="0" anchor="ctr"/>
              <a:lstStyle/>
              <a:p>
                <a:pPr algn="ctr"/>
              </a:p>
            </p:txBody>
          </p:sp>
          <p:sp>
            <p:nvSpPr>
              <p:cNvPr id="137" name="Oval 136"/>
              <p:cNvSpPr/>
              <p:nvPr/>
            </p:nvSpPr>
            <p:spPr>
              <a:xfrm>
                <a:off x="2363724" y="4069080"/>
                <a:ext cx="137160" cy="137160"/>
              </a:xfrm>
              <a:prstGeom prst="ellipse">
                <a:avLst/>
              </a:prstGeom>
              <a:solidFill>
                <a:srgbClr val="1B1D21"/>
              </a:solidFill>
              <a:ln w="12700">
                <a:solidFill>
                  <a:srgbClr val="9AA0A6"/>
                </a:solidFill>
              </a:ln>
            </p:spPr>
            <p:txBody>
              <a:bodyPr rtlCol="0" anchor="ctr"/>
              <a:lstStyle/>
              <a:p>
                <a:pPr algn="ctr"/>
              </a:p>
            </p:txBody>
          </p:sp>
          <p:sp>
            <p:nvSpPr>
              <p:cNvPr id="138" name="Rectangle 137"/>
              <p:cNvSpPr/>
              <p:nvPr/>
            </p:nvSpPr>
            <p:spPr>
              <a:xfrm>
                <a:off x="2569464" y="4034790"/>
                <a:ext cx="54864" cy="34290"/>
              </a:xfrm>
              <a:prstGeom prst="rect">
                <a:avLst/>
              </a:prstGeom>
              <a:solidFill>
                <a:srgbClr val="9AA0A6"/>
              </a:solidFill>
              <a:ln>
                <a:noFill/>
              </a:ln>
            </p:spPr>
            <p:txBody>
              <a:bodyPr rtlCol="0" anchor="ctr"/>
              <a:lstStyle/>
              <a:p>
                <a:pPr algn="ctr"/>
              </a:p>
            </p:txBody>
          </p:sp>
          <p:sp>
            <p:nvSpPr>
              <p:cNvPr id="139" name="Rectangle 138"/>
              <p:cNvSpPr/>
              <p:nvPr/>
            </p:nvSpPr>
            <p:spPr>
              <a:xfrm>
                <a:off x="2624328" y="3760470"/>
                <a:ext cx="685800" cy="377190"/>
              </a:xfrm>
              <a:prstGeom prst="rect">
                <a:avLst/>
              </a:prstGeom>
              <a:solidFill>
                <a:srgbClr val="F28C28"/>
              </a:solidFill>
              <a:ln w="9525">
                <a:solidFill>
                  <a:srgbClr val="101418"/>
                </a:solidFill>
              </a:ln>
            </p:spPr>
            <p:txBody>
              <a:bodyPr rtlCol="0" anchor="ctr"/>
              <a:lstStyle/>
              <a:p>
                <a:pPr algn="ctr"/>
              </a:p>
            </p:txBody>
          </p:sp>
          <p:sp>
            <p:nvSpPr>
              <p:cNvPr id="140" name="Bunker"/>
              <p:cNvSpPr/>
              <p:nvPr/>
            </p:nvSpPr>
            <p:spPr>
              <a:xfrm>
                <a:off x="2644902" y="3781044"/>
                <a:ext cx="178308" cy="137160"/>
              </a:xfrm>
              <a:prstGeom prst="rect">
                <a:avLst/>
              </a:prstGeom>
              <a:solidFill>
                <a:srgbClr val="1B1D21"/>
              </a:solidFill>
              <a:ln>
                <a:noFill/>
              </a:ln>
            </p:spPr>
            <p:txBody>
              <a:bodyPr rtlCol="0" anchor="ctr"/>
              <a:lstStyle/>
              <a:p>
                <a:pPr algn="ctr"/>
              </a:p>
            </p:txBody>
          </p:sp>
          <p:sp>
            <p:nvSpPr>
              <p:cNvPr id="141" name="Rectangle 140"/>
              <p:cNvSpPr/>
              <p:nvPr/>
            </p:nvSpPr>
            <p:spPr>
              <a:xfrm>
                <a:off x="2857500" y="3808476"/>
                <a:ext cx="96012" cy="96012"/>
              </a:xfrm>
              <a:prstGeom prst="rect">
                <a:avLst/>
              </a:prstGeom>
              <a:solidFill>
                <a:srgbClr val="2B2F36"/>
              </a:solidFill>
              <a:ln>
                <a:noFill/>
              </a:ln>
            </p:spPr>
            <p:txBody>
              <a:bodyPr rtlCol="0" anchor="ctr"/>
              <a:lstStyle/>
              <a:p>
                <a:pPr algn="ctr"/>
              </a:p>
            </p:txBody>
          </p:sp>
          <p:sp>
            <p:nvSpPr>
              <p:cNvPr id="142" name="Chimney"/>
              <p:cNvSpPr/>
              <p:nvPr/>
            </p:nvSpPr>
            <p:spPr>
              <a:xfrm>
                <a:off x="3159252" y="3568446"/>
                <a:ext cx="102870" cy="205740"/>
              </a:xfrm>
              <a:prstGeom prst="rect">
                <a:avLst/>
              </a:prstGeom>
              <a:solidFill>
                <a:srgbClr val="1B1D21"/>
              </a:solidFill>
              <a:ln>
                <a:noFill/>
              </a:ln>
            </p:spPr>
            <p:txBody>
              <a:bodyPr rtlCol="0" anchor="ctr"/>
              <a:lstStyle/>
              <a:p>
                <a:pPr algn="ctr"/>
              </a:p>
            </p:txBody>
          </p:sp>
          <p:sp>
            <p:nvSpPr>
              <p:cNvPr id="143" name="Oval 142"/>
              <p:cNvSpPr/>
              <p:nvPr/>
            </p:nvSpPr>
            <p:spPr>
              <a:xfrm>
                <a:off x="2692908" y="4069080"/>
                <a:ext cx="137160" cy="137160"/>
              </a:xfrm>
              <a:prstGeom prst="ellipse">
                <a:avLst/>
              </a:prstGeom>
              <a:solidFill>
                <a:srgbClr val="1B1D21"/>
              </a:solidFill>
              <a:ln w="12700">
                <a:solidFill>
                  <a:srgbClr val="9AA0A6"/>
                </a:solidFill>
              </a:ln>
            </p:spPr>
            <p:txBody>
              <a:bodyPr rtlCol="0" anchor="ctr"/>
              <a:lstStyle/>
              <a:p>
                <a:pPr algn="ctr"/>
              </a:p>
            </p:txBody>
          </p:sp>
          <p:sp>
            <p:nvSpPr>
              <p:cNvPr id="144" name="Oval 143"/>
              <p:cNvSpPr/>
              <p:nvPr/>
            </p:nvSpPr>
            <p:spPr>
              <a:xfrm>
                <a:off x="2898648" y="4069080"/>
                <a:ext cx="137160" cy="137160"/>
              </a:xfrm>
              <a:prstGeom prst="ellipse">
                <a:avLst/>
              </a:prstGeom>
              <a:solidFill>
                <a:srgbClr val="1B1D21"/>
              </a:solidFill>
              <a:ln w="12700">
                <a:solidFill>
                  <a:srgbClr val="9AA0A6"/>
                </a:solidFill>
              </a:ln>
            </p:spPr>
            <p:txBody>
              <a:bodyPr rtlCol="0" anchor="ctr"/>
              <a:lstStyle/>
              <a:p>
                <a:pPr algn="ctr"/>
              </a:p>
            </p:txBody>
          </p:sp>
          <p:sp>
            <p:nvSpPr>
              <p:cNvPr id="145" name="Oval 144"/>
              <p:cNvSpPr/>
              <p:nvPr/>
            </p:nvSpPr>
            <p:spPr>
              <a:xfrm>
                <a:off x="3104388" y="4069080"/>
                <a:ext cx="137160" cy="137160"/>
              </a:xfrm>
              <a:prstGeom prst="ellipse">
                <a:avLst/>
              </a:prstGeom>
              <a:solidFill>
                <a:srgbClr val="1B1D21"/>
              </a:solidFill>
              <a:ln w="12700">
                <a:solidFill>
                  <a:srgbClr val="9AA0A6"/>
                </a:solidFill>
              </a:ln>
            </p:spPr>
            <p:txBody>
              <a:bodyPr rtlCol="0" anchor="ctr"/>
              <a:lstStyle/>
              <a:p>
                <a:pPr algn="ctr"/>
              </a:p>
            </p:txBody>
          </p:sp>
        </p:grpSp>
        <p:grpSp>
          <p:nvGrpSpPr>
            <p:cNvPr id="146" name="Signal stop" descr="Semaphore stop signal, arm flat: STOP."/>
            <p:cNvGrpSpPr/>
            <p:nvPr/>
          </p:nvGrpSpPr>
          <p:grpSpPr>
            <a:xfrm>
              <a:off x="3511296" y="3163824"/>
              <a:ext cx="1764792" cy="1389888"/>
              <a:chOff x="3511296" y="3163824"/>
              <a:chExt cx="1764792" cy="1389888"/>
            </a:xfrm>
          </p:grpSpPr>
          <p:sp>
            <p:nvSpPr>
              <p:cNvPr id="147" name="Rectangle 146"/>
              <p:cNvSpPr/>
              <p:nvPr/>
            </p:nvSpPr>
            <p:spPr>
              <a:xfrm>
                <a:off x="4050792" y="4489704"/>
                <a:ext cx="310896" cy="64008"/>
              </a:xfrm>
              <a:prstGeom prst="rect">
                <a:avLst/>
              </a:prstGeom>
              <a:solidFill>
                <a:srgbClr val="9AA0A6"/>
              </a:solidFill>
              <a:ln>
                <a:noFill/>
              </a:ln>
            </p:spPr>
            <p:txBody>
              <a:bodyPr rtlCol="0" anchor="ctr"/>
              <a:lstStyle/>
              <a:p>
                <a:pPr algn="ctr"/>
              </a:p>
            </p:txBody>
          </p:sp>
          <p:sp>
            <p:nvSpPr>
              <p:cNvPr id="148" name="Rectangle 147"/>
              <p:cNvSpPr/>
              <p:nvPr/>
            </p:nvSpPr>
            <p:spPr>
              <a:xfrm>
                <a:off x="4151376" y="3547872"/>
                <a:ext cx="109728" cy="1005840"/>
              </a:xfrm>
              <a:prstGeom prst="rect">
                <a:avLst/>
              </a:prstGeom>
              <a:solidFill>
                <a:srgbClr val="E8E8E8"/>
              </a:solidFill>
              <a:ln>
                <a:noFill/>
              </a:ln>
            </p:spPr>
            <p:txBody>
              <a:bodyPr rtlCol="0" anchor="ctr"/>
              <a:lstStyle/>
              <a:p>
                <a:pPr algn="ctr"/>
              </a:p>
            </p:txBody>
          </p:sp>
          <p:sp>
            <p:nvSpPr>
              <p:cNvPr id="149" name="Oval 148"/>
              <p:cNvSpPr/>
              <p:nvPr/>
            </p:nvSpPr>
            <p:spPr>
              <a:xfrm>
                <a:off x="4142232" y="3447288"/>
                <a:ext cx="128016" cy="128016"/>
              </a:xfrm>
              <a:prstGeom prst="ellipse">
                <a:avLst/>
              </a:prstGeom>
              <a:solidFill>
                <a:srgbClr val="E8E8E8"/>
              </a:solidFill>
              <a:ln>
                <a:noFill/>
              </a:ln>
            </p:spPr>
            <p:txBody>
              <a:bodyPr rtlCol="0" anchor="ctr"/>
              <a:lstStyle/>
              <a:p>
                <a:pPr algn="ctr"/>
              </a:p>
            </p:txBody>
          </p:sp>
          <p:sp>
            <p:nvSpPr>
              <p:cNvPr id="150" name="Freeform 149"/>
              <p:cNvSpPr/>
              <p:nvPr/>
            </p:nvSpPr>
            <p:spPr>
              <a:xfrm>
                <a:off x="3511296" y="3694176"/>
                <a:ext cx="640080" cy="128016"/>
              </a:xfrm>
              <a:custGeom>
                <a:avLst/>
                <a:gdLst/>
                <a:ahLst/>
                <a:cxnLst/>
                <a:rect l="l" t="t" r="r" b="b"/>
                <a:pathLst>
                  <a:path w="640080" h="128016">
                    <a:moveTo>
                      <a:pt x="640080" y="0"/>
                    </a:moveTo>
                    <a:lnTo>
                      <a:pt x="0" y="0"/>
                    </a:lnTo>
                    <a:lnTo>
                      <a:pt x="0" y="128016"/>
                    </a:lnTo>
                    <a:lnTo>
                      <a:pt x="640080" y="128016"/>
                    </a:lnTo>
                    <a:close/>
                  </a:path>
                </a:pathLst>
              </a:custGeom>
              <a:solidFill>
                <a:srgbClr val="E5484D"/>
              </a:solidFill>
              <a:ln w="9525">
                <a:solidFill>
                  <a:srgbClr val="101418"/>
                </a:solidFill>
              </a:ln>
            </p:spPr>
            <p:txBody>
              <a:bodyPr rtlCol="0" anchor="ctr"/>
              <a:lstStyle/>
              <a:p>
                <a:pPr algn="ctr"/>
              </a:p>
            </p:txBody>
          </p:sp>
          <p:sp>
            <p:nvSpPr>
              <p:cNvPr id="151" name="Freeform 150"/>
              <p:cNvSpPr/>
              <p:nvPr/>
            </p:nvSpPr>
            <p:spPr>
              <a:xfrm>
                <a:off x="3677717" y="3694176"/>
                <a:ext cx="76809" cy="128016"/>
              </a:xfrm>
              <a:custGeom>
                <a:avLst/>
                <a:gdLst/>
                <a:ahLst/>
                <a:cxnLst/>
                <a:rect l="l" t="t" r="r" b="b"/>
                <a:pathLst>
                  <a:path w="76809" h="128016">
                    <a:moveTo>
                      <a:pt x="76809" y="0"/>
                    </a:moveTo>
                    <a:lnTo>
                      <a:pt x="0" y="0"/>
                    </a:lnTo>
                    <a:lnTo>
                      <a:pt x="0" y="128016"/>
                    </a:lnTo>
                    <a:lnTo>
                      <a:pt x="76809" y="128016"/>
                    </a:lnTo>
                    <a:close/>
                  </a:path>
                </a:pathLst>
              </a:custGeom>
              <a:solidFill>
                <a:srgbClr val="FFFFFF"/>
              </a:solidFill>
              <a:ln>
                <a:noFill/>
              </a:ln>
            </p:spPr>
            <p:txBody>
              <a:bodyPr rtlCol="0" anchor="ctr"/>
              <a:lstStyle/>
              <a:p>
                <a:pPr algn="ctr"/>
              </a:p>
            </p:txBody>
          </p:sp>
          <p:sp>
            <p:nvSpPr>
              <p:cNvPr id="152" name="Oval 151"/>
              <p:cNvSpPr/>
              <p:nvPr/>
            </p:nvSpPr>
            <p:spPr>
              <a:xfrm>
                <a:off x="4283964" y="3680460"/>
                <a:ext cx="155448" cy="155448"/>
              </a:xfrm>
              <a:prstGeom prst="ellipse">
                <a:avLst/>
              </a:prstGeom>
              <a:solidFill>
                <a:srgbClr val="E5484D"/>
              </a:solidFill>
              <a:ln w="9525">
                <a:solidFill>
                  <a:srgbClr val="101418"/>
                </a:solidFill>
              </a:ln>
            </p:spPr>
            <p:txBody>
              <a:bodyPr rtlCol="0" anchor="ctr"/>
              <a:lstStyle/>
              <a:p>
                <a:pPr algn="ctr"/>
              </a:p>
            </p:txBody>
          </p:sp>
          <p:sp>
            <p:nvSpPr>
              <p:cNvPr id="153" name="Rounded Rectangle 152"/>
              <p:cNvSpPr/>
              <p:nvPr/>
            </p:nvSpPr>
            <p:spPr>
              <a:xfrm>
                <a:off x="4407408" y="3163824"/>
                <a:ext cx="868680" cy="329184"/>
              </a:xfrm>
              <a:prstGeom prst="roundRect">
                <a:avLst>
                  <a:gd name="adj" fmla="val 50000"/>
                </a:avLst>
              </a:prstGeom>
              <a:solidFill>
                <a:srgbClr val="B3262B"/>
              </a:solidFill>
              <a:ln>
                <a:noFill/>
              </a:ln>
            </p:spPr>
            <p:txBody>
              <a:bodyPr rtlCol="0" anchor="ctr" wrap="square" lIns="54864" tIns="18288" rIns="54864" bIns="18288">
                <a:noAutofit/>
              </a:bodyPr>
              <a:lstStyle/>
              <a:p>
                <a:pPr algn="ctr"/>
                <a:r>
                  <a:rPr sz="1400" b="1" i="0" lang="en-GB">
                    <a:solidFill>
                      <a:srgbClr val="F2F2F2"/>
                    </a:solidFill>
                    <a:latin typeface="Arial"/>
                  </a:rPr>
                  <a:t>STOP</a:t>
                </a:r>
              </a:p>
            </p:txBody>
          </p:sp>
        </p:grpSp>
        <p:grpSp>
          <p:nvGrpSpPr>
            <p:cNvPr id="154" name="Signal clear" descr="Semaphore stop signal, arm raised: CLEAR."/>
            <p:cNvGrpSpPr/>
            <p:nvPr/>
          </p:nvGrpSpPr>
          <p:grpSpPr>
            <a:xfrm>
              <a:off x="7311111" y="3163824"/>
              <a:ext cx="1622577" cy="1389888"/>
              <a:chOff x="7311111" y="3163824"/>
              <a:chExt cx="1622577" cy="1389888"/>
            </a:xfrm>
          </p:grpSpPr>
          <p:sp>
            <p:nvSpPr>
              <p:cNvPr id="155" name="Rectangle 154"/>
              <p:cNvSpPr/>
              <p:nvPr/>
            </p:nvSpPr>
            <p:spPr>
              <a:xfrm>
                <a:off x="7708392" y="4489704"/>
                <a:ext cx="310896" cy="64008"/>
              </a:xfrm>
              <a:prstGeom prst="rect">
                <a:avLst/>
              </a:prstGeom>
              <a:solidFill>
                <a:srgbClr val="9AA0A6"/>
              </a:solidFill>
              <a:ln>
                <a:noFill/>
              </a:ln>
            </p:spPr>
            <p:txBody>
              <a:bodyPr rtlCol="0" anchor="ctr"/>
              <a:lstStyle/>
              <a:p>
                <a:pPr algn="ctr"/>
              </a:p>
            </p:txBody>
          </p:sp>
          <p:sp>
            <p:nvSpPr>
              <p:cNvPr id="156" name="Rectangle 155"/>
              <p:cNvSpPr/>
              <p:nvPr/>
            </p:nvSpPr>
            <p:spPr>
              <a:xfrm>
                <a:off x="7808976" y="3547872"/>
                <a:ext cx="109728" cy="1005840"/>
              </a:xfrm>
              <a:prstGeom prst="rect">
                <a:avLst/>
              </a:prstGeom>
              <a:solidFill>
                <a:srgbClr val="E8E8E8"/>
              </a:solidFill>
              <a:ln>
                <a:noFill/>
              </a:ln>
            </p:spPr>
            <p:txBody>
              <a:bodyPr rtlCol="0" anchor="ctr"/>
              <a:lstStyle/>
              <a:p>
                <a:pPr algn="ctr"/>
              </a:p>
            </p:txBody>
          </p:sp>
          <p:sp>
            <p:nvSpPr>
              <p:cNvPr id="157" name="Oval 156"/>
              <p:cNvSpPr/>
              <p:nvPr/>
            </p:nvSpPr>
            <p:spPr>
              <a:xfrm>
                <a:off x="7799832" y="3447288"/>
                <a:ext cx="128016" cy="128016"/>
              </a:xfrm>
              <a:prstGeom prst="ellipse">
                <a:avLst/>
              </a:prstGeom>
              <a:solidFill>
                <a:srgbClr val="E8E8E8"/>
              </a:solidFill>
              <a:ln>
                <a:noFill/>
              </a:ln>
            </p:spPr>
            <p:txBody>
              <a:bodyPr rtlCol="0" anchor="ctr"/>
              <a:lstStyle/>
              <a:p>
                <a:pPr algn="ctr"/>
              </a:p>
            </p:txBody>
          </p:sp>
          <p:sp>
            <p:nvSpPr>
              <p:cNvPr id="158" name="Freeform 157"/>
              <p:cNvSpPr/>
              <p:nvPr/>
            </p:nvSpPr>
            <p:spPr>
              <a:xfrm>
                <a:off x="7311111" y="3260319"/>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p>
            </p:txBody>
          </p:sp>
          <p:sp>
            <p:nvSpPr>
              <p:cNvPr id="159" name="Freeform 158"/>
              <p:cNvSpPr/>
              <p:nvPr/>
            </p:nvSpPr>
            <p:spPr>
              <a:xfrm>
                <a:off x="7428788" y="3377996"/>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p>
            </p:txBody>
          </p:sp>
          <p:sp>
            <p:nvSpPr>
              <p:cNvPr id="160" name="Oval 159"/>
              <p:cNvSpPr/>
              <p:nvPr/>
            </p:nvSpPr>
            <p:spPr>
              <a:xfrm>
                <a:off x="7941564" y="3680460"/>
                <a:ext cx="155448" cy="155448"/>
              </a:xfrm>
              <a:prstGeom prst="ellipse">
                <a:avLst/>
              </a:prstGeom>
              <a:solidFill>
                <a:srgbClr val="3FB950"/>
              </a:solidFill>
              <a:ln w="9525">
                <a:solidFill>
                  <a:srgbClr val="101418"/>
                </a:solidFill>
              </a:ln>
            </p:spPr>
            <p:txBody>
              <a:bodyPr rtlCol="0" anchor="ctr"/>
              <a:lstStyle/>
              <a:p>
                <a:pPr algn="ctr"/>
              </a:p>
            </p:txBody>
          </p:sp>
          <p:sp>
            <p:nvSpPr>
              <p:cNvPr id="161" name="Rounded Rectangle 160"/>
              <p:cNvSpPr/>
              <p:nvPr/>
            </p:nvSpPr>
            <p:spPr>
              <a:xfrm>
                <a:off x="8065008" y="3163824"/>
                <a:ext cx="86868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CLEAR</a:t>
                </a:r>
              </a:p>
            </p:txBody>
          </p:sp>
        </p:grpSp>
        <p:sp>
          <p:nvSpPr>
            <p:cNvPr id="162" name="Rectangle 161"/>
            <p:cNvSpPr/>
            <p:nvPr/>
          </p:nvSpPr>
          <p:spPr>
            <a:xfrm>
              <a:off x="6797650" y="4626864"/>
              <a:ext cx="3626510" cy="164592"/>
            </a:xfrm>
            <a:prstGeom prst="rect">
              <a:avLst/>
            </a:prstGeom>
            <a:solidFill>
              <a:srgbClr val="F2C14E"/>
            </a:solidFill>
            <a:ln>
              <a:noFill/>
            </a:ln>
          </p:spPr>
          <p:txBody>
            <a:bodyPr rtlCol="0" anchor="ctr"/>
            <a:lstStyle/>
            <a:p>
              <a:pPr algn="ctr"/>
            </a:p>
          </p:txBody>
        </p:sp>
        <p:cxnSp>
          <p:nvCxnSpPr>
            <p:cNvPr id="163" name="Connector 162"/>
            <p:cNvCxnSpPr/>
            <p:nvPr/>
          </p:nvCxnSpPr>
          <p:spPr>
            <a:xfrm>
              <a:off x="10424160" y="3749040"/>
              <a:ext cx="0" cy="1188720"/>
            </a:xfrm>
            <a:prstGeom prst="line">
              <a:avLst/>
            </a:prstGeom>
            <a:ln w="28575">
              <a:solidFill>
                <a:srgbClr val="F2C14E"/>
              </a:solidFill>
              <a:prstDash val="dash"/>
            </a:ln>
          </p:spPr>
        </p:cxnSp>
        <p:sp>
          <p:nvSpPr>
            <p:cNvPr id="164" name="TextBox 163"/>
            <p:cNvSpPr txBox="1"/>
            <p:nvPr/>
          </p:nvSpPr>
          <p:spPr>
            <a:xfrm>
              <a:off x="6889090" y="4809744"/>
              <a:ext cx="3626510" cy="320040"/>
            </a:xfrm>
            <a:prstGeom prst="rect">
              <a:avLst/>
            </a:prstGeom>
            <a:noFill/>
          </p:spPr>
          <p:txBody>
            <a:bodyPr wrap="square" lIns="0" tIns="0" rIns="0" bIns="0" anchor="t">
              <a:noAutofit/>
            </a:bodyPr>
            <a:lstStyle/>
            <a:p>
              <a:pPr algn="l"/>
              <a:r>
                <a:rPr sz="1600" b="0" i="0" lang="en-GB">
                  <a:solidFill>
                    <a:srgbClr val="F2F2F2"/>
                  </a:solidFill>
                  <a:latin typeface="Arial"/>
                </a:rPr>
                <a:t>Long stopping distance</a:t>
              </a:r>
            </a:p>
          </p:txBody>
        </p:sp>
        <p:sp>
          <p:nvSpPr>
            <p:cNvPr id="165" name="Rectangle 164"/>
            <p:cNvSpPr/>
            <p:nvPr/>
          </p:nvSpPr>
          <p:spPr>
            <a:xfrm>
              <a:off x="859536" y="5230368"/>
              <a:ext cx="3310128" cy="310896"/>
            </a:xfrm>
            <a:prstGeom prst="rect">
              <a:avLst/>
            </a:prstGeom>
            <a:solidFill>
              <a:srgbClr val="343A43"/>
            </a:solidFill>
            <a:ln w="12700">
              <a:solidFill>
                <a:srgbClr val="9AA0A6"/>
              </a:solidFill>
            </a:ln>
          </p:spPr>
          <p:txBody>
            <a:bodyPr rtlCol="0" anchor="ctr" wrap="square" lIns="73152" tIns="36576" rIns="73152" bIns="36576">
              <a:noAutofit/>
            </a:bodyPr>
            <a:lstStyle/>
            <a:p>
              <a:pPr algn="ctr"/>
              <a:r>
                <a:rPr sz="1400" b="1" i="0" lang="en-GB">
                  <a:solidFill>
                    <a:srgbClr val="F2F2F2"/>
                  </a:solidFill>
                  <a:latin typeface="Arial"/>
                </a:rPr>
                <a:t>Block 1</a:t>
              </a:r>
            </a:p>
          </p:txBody>
        </p:sp>
        <p:sp>
          <p:nvSpPr>
            <p:cNvPr id="166" name="Rectangle 165"/>
            <p:cNvSpPr/>
            <p:nvPr/>
          </p:nvSpPr>
          <p:spPr>
            <a:xfrm>
              <a:off x="4242816" y="5230368"/>
              <a:ext cx="3584448" cy="310896"/>
            </a:xfrm>
            <a:prstGeom prst="rect">
              <a:avLst/>
            </a:prstGeom>
            <a:solidFill>
              <a:srgbClr val="343A43"/>
            </a:solidFill>
            <a:ln w="12700">
              <a:solidFill>
                <a:srgbClr val="9AA0A6"/>
              </a:solidFill>
            </a:ln>
          </p:spPr>
          <p:txBody>
            <a:bodyPr rtlCol="0" anchor="ctr" wrap="square" lIns="73152" tIns="36576" rIns="73152" bIns="36576">
              <a:noAutofit/>
            </a:bodyPr>
            <a:lstStyle/>
            <a:p>
              <a:pPr algn="ctr"/>
              <a:r>
                <a:rPr sz="1400" b="1" i="0" lang="en-GB">
                  <a:solidFill>
                    <a:srgbClr val="F2F2F2"/>
                  </a:solidFill>
                  <a:latin typeface="Arial"/>
                </a:rPr>
                <a:t>Block 2</a:t>
              </a:r>
            </a:p>
          </p:txBody>
        </p:sp>
        <p:sp>
          <p:nvSpPr>
            <p:cNvPr id="167" name="Rectangle 166"/>
            <p:cNvSpPr/>
            <p:nvPr/>
          </p:nvSpPr>
          <p:spPr>
            <a:xfrm>
              <a:off x="7900416" y="5230368"/>
              <a:ext cx="3401568" cy="310896"/>
            </a:xfrm>
            <a:prstGeom prst="rect">
              <a:avLst/>
            </a:prstGeom>
            <a:solidFill>
              <a:srgbClr val="343A43"/>
            </a:solidFill>
            <a:ln w="12700">
              <a:solidFill>
                <a:srgbClr val="9AA0A6"/>
              </a:solidFill>
            </a:ln>
          </p:spPr>
          <p:txBody>
            <a:bodyPr rtlCol="0" anchor="ctr" wrap="square" lIns="73152" tIns="36576" rIns="73152" bIns="36576">
              <a:noAutofit/>
            </a:bodyPr>
            <a:lstStyle/>
            <a:p>
              <a:pPr algn="ctr"/>
              <a:r>
                <a:rPr sz="1400" b="1" i="0" lang="en-GB">
                  <a:solidFill>
                    <a:srgbClr val="F2F2F2"/>
                  </a:solidFill>
                  <a:latin typeface="Arial"/>
                </a:rPr>
                <a:t>Block 3</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Trains cannot swerve. They need a long way to stop. Signals keep them apart.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Words you will meet</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rtlCol="0" anchor="ctr" wrap="square" lIns="54864" tIns="18288" rIns="54864" bIns="18288">
            <a:noAutofit/>
          </a:bodyPr>
          <a:lstStyle/>
          <a:p>
            <a:pPr algn="ctr"/>
            <a:r>
              <a:rPr sz="1400" b="1" i="0" lang="en-GB">
                <a:solidFill>
                  <a:srgbClr val="F2F2F2"/>
                </a:solidFill>
                <a:latin typeface="Arial"/>
              </a:rPr>
              <a:t>BACKGROUND</a:t>
            </a:r>
          </a:p>
        </p:txBody>
      </p:sp>
      <p:grpSp>
        <p:nvGrpSpPr>
          <p:cNvPr id="8" name="Glossary" descr="Eight glossary cards: vanilla, tier, wagon, tender, block, semaphore, signal box and service stop, each with a short meaning."/>
          <p:cNvGrpSpPr/>
          <p:nvPr/>
        </p:nvGrpSpPr>
        <p:grpSpPr>
          <a:xfrm>
            <a:off x="548640" y="1554480"/>
            <a:ext cx="11092586" cy="3429000"/>
            <a:chOff x="548640" y="1554480"/>
            <a:chExt cx="11092586" cy="3429000"/>
          </a:xfrm>
        </p:grpSpPr>
        <p:sp>
          <p:nvSpPr>
            <p:cNvPr id="9" name="Rounded Rectangle 8"/>
            <p:cNvSpPr/>
            <p:nvPr/>
          </p:nvSpPr>
          <p:spPr>
            <a:xfrm>
              <a:off x="548640" y="15544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Vanilla</a:t>
              </a:r>
            </a:p>
            <a:p>
              <a:pPr algn="l"/>
              <a:r>
                <a:rPr sz="1800" b="0" i="0" lang="en-GB">
                  <a:solidFill>
                    <a:srgbClr val="F2F2F2"/>
                  </a:solidFill>
                  <a:latin typeface="Arial"/>
                </a:rPr>
                <a:t>The game without mods.</a:t>
              </a:r>
            </a:p>
          </p:txBody>
        </p:sp>
        <p:sp>
          <p:nvSpPr>
            <p:cNvPr id="10" name="Rounded Rectangle 9"/>
            <p:cNvSpPr/>
            <p:nvPr/>
          </p:nvSpPr>
          <p:spPr>
            <a:xfrm>
              <a:off x="3362249" y="15544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Tier</a:t>
              </a:r>
            </a:p>
            <a:p>
              <a:pPr algn="l"/>
              <a:r>
                <a:rPr sz="1800" b="0" i="0" lang="en-GB">
                  <a:solidFill>
                    <a:srgbClr val="F2F2F2"/>
                  </a:solidFill>
                  <a:latin typeface="Arial"/>
                </a:rPr>
                <a:t>A step of unlocks.</a:t>
              </a:r>
            </a:p>
          </p:txBody>
        </p:sp>
        <p:sp>
          <p:nvSpPr>
            <p:cNvPr id="11" name="Rounded Rectangle 10"/>
            <p:cNvSpPr/>
            <p:nvPr/>
          </p:nvSpPr>
          <p:spPr>
            <a:xfrm>
              <a:off x="6175858" y="15544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Wagon</a:t>
              </a:r>
            </a:p>
            <a:p>
              <a:pPr algn="l"/>
              <a:r>
                <a:rPr sz="1800" b="0" i="0" lang="en-GB">
                  <a:solidFill>
                    <a:srgbClr val="F2F2F2"/>
                  </a:solidFill>
                  <a:latin typeface="Arial"/>
                </a:rPr>
                <a:t>A vehicle that carries cargo.</a:t>
              </a:r>
            </a:p>
          </p:txBody>
        </p:sp>
        <p:sp>
          <p:nvSpPr>
            <p:cNvPr id="12" name="Rounded Rectangle 11"/>
            <p:cNvSpPr/>
            <p:nvPr/>
          </p:nvSpPr>
          <p:spPr>
            <a:xfrm>
              <a:off x="8989466" y="15544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Tender</a:t>
              </a:r>
            </a:p>
            <a:p>
              <a:pPr algn="l"/>
              <a:r>
                <a:rPr sz="1800" b="0" i="0" lang="en-GB">
                  <a:solidFill>
                    <a:srgbClr val="F2F2F2"/>
                  </a:solidFill>
                  <a:latin typeface="Arial"/>
                </a:rPr>
                <a:t>A coal and water wagon behind an engine.</a:t>
              </a:r>
            </a:p>
          </p:txBody>
        </p:sp>
        <p:sp>
          <p:nvSpPr>
            <p:cNvPr id="13" name="Rounded Rectangle 12"/>
            <p:cNvSpPr/>
            <p:nvPr/>
          </p:nvSpPr>
          <p:spPr>
            <a:xfrm>
              <a:off x="548640" y="33832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Block</a:t>
              </a:r>
            </a:p>
            <a:p>
              <a:pPr algn="l"/>
              <a:r>
                <a:rPr sz="1800" b="0" i="0" lang="en-GB">
                  <a:solidFill>
                    <a:srgbClr val="F2F2F2"/>
                  </a:solidFill>
                  <a:latin typeface="Arial"/>
                </a:rPr>
                <a:t>A stretch of track that holds one train.</a:t>
              </a:r>
            </a:p>
          </p:txBody>
        </p:sp>
        <p:sp>
          <p:nvSpPr>
            <p:cNvPr id="14" name="Rounded Rectangle 13"/>
            <p:cNvSpPr/>
            <p:nvPr/>
          </p:nvSpPr>
          <p:spPr>
            <a:xfrm>
              <a:off x="3362249" y="33832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Semaphore</a:t>
              </a:r>
            </a:p>
            <a:p>
              <a:pPr algn="l"/>
              <a:r>
                <a:rPr sz="1800" b="0" i="0" lang="en-GB">
                  <a:solidFill>
                    <a:srgbClr val="F2F2F2"/>
                  </a:solidFill>
                  <a:latin typeface="Arial"/>
                </a:rPr>
                <a:t>A signal with a moving arm.</a:t>
              </a:r>
            </a:p>
          </p:txBody>
        </p:sp>
        <p:sp>
          <p:nvSpPr>
            <p:cNvPr id="15" name="Rounded Rectangle 14"/>
            <p:cNvSpPr/>
            <p:nvPr/>
          </p:nvSpPr>
          <p:spPr>
            <a:xfrm>
              <a:off x="6175858" y="33832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Signal box</a:t>
              </a:r>
            </a:p>
            <a:p>
              <a:pPr algn="l"/>
              <a:r>
                <a:rPr sz="1800" b="0" i="0" lang="en-GB">
                  <a:solidFill>
                    <a:srgbClr val="F2F2F2"/>
                  </a:solidFill>
                  <a:latin typeface="Arial"/>
                </a:rPr>
                <a:t>Where a signaller works the signals.</a:t>
              </a:r>
            </a:p>
          </p:txBody>
        </p:sp>
        <p:sp>
          <p:nvSpPr>
            <p:cNvPr id="16" name="Rounded Rectangle 15"/>
            <p:cNvSpPr/>
            <p:nvPr/>
          </p:nvSpPr>
          <p:spPr>
            <a:xfrm>
              <a:off x="8989466" y="3383280"/>
              <a:ext cx="2651760" cy="1600200"/>
            </a:xfrm>
            <a:prstGeom prst="roundRect">
              <a:avLst>
                <a:gd name="adj" fmla="val 4571"/>
              </a:avLst>
            </a:prstGeom>
            <a:solidFill>
              <a:srgbClr val="2B2F36"/>
            </a:solidFill>
            <a:ln>
              <a:noFill/>
            </a:ln>
          </p:spPr>
          <p:txBody>
            <a:bodyPr rtlCol="0" anchor="t" wrap="square" lIns="164592" tIns="137160" rIns="137160" bIns="91440">
              <a:noAutofit/>
            </a:bodyPr>
            <a:lstStyle/>
            <a:p>
              <a:pPr algn="l">
                <a:spcAft>
                  <a:spcPts val="400"/>
                </a:spcAft>
              </a:pPr>
              <a:r>
                <a:rPr sz="2000" b="1" i="0" lang="en-GB">
                  <a:solidFill>
                    <a:srgbClr val="F28C28"/>
                  </a:solidFill>
                  <a:latin typeface="Arial"/>
                </a:rPr>
                <a:t>Service stop</a:t>
              </a:r>
            </a:p>
            <a:p>
              <a:pPr algn="l"/>
              <a:r>
                <a:rPr sz="1800" b="0" i="0" lang="en-GB">
                  <a:solidFill>
                    <a:srgbClr val="F2F2F2"/>
                  </a:solidFill>
                  <a:latin typeface="Arial"/>
                </a:rPr>
                <a:t>A stop to refill coal and water.</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Short meanings for the words in this guide.</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Not "trains, but earlier"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8" name="TextBox 7"/>
          <p:cNvSpPr txBox="1"/>
          <p:nvPr/>
        </p:nvSpPr>
        <p:spPr>
          <a:xfrm>
            <a:off x="548640" y="1298448"/>
            <a:ext cx="5394960" cy="411480"/>
          </a:xfrm>
          <a:prstGeom prst="rect">
            <a:avLst/>
          </a:prstGeom>
          <a:noFill/>
        </p:spPr>
        <p:txBody>
          <a:bodyPr wrap="square" lIns="0" tIns="0" rIns="0" bIns="0" anchor="t">
            <a:noAutofit/>
          </a:bodyPr>
          <a:lstStyle/>
          <a:p>
            <a:pPr algn="l"/>
            <a:r>
              <a:rPr sz="2000" b="1" i="0" lang="en-GB">
                <a:solidFill>
                  <a:srgbClr val="6CA0DC"/>
                </a:solidFill>
                <a:latin typeface="Arial"/>
              </a:rPr>
              <a:t>Vanilla electric (later)</a:t>
            </a:r>
          </a:p>
        </p:txBody>
      </p:sp>
      <p:sp>
        <p:nvSpPr>
          <p:cNvPr id="9" name="TextBox 8"/>
          <p:cNvSpPr txBox="1"/>
          <p:nvPr/>
        </p:nvSpPr>
        <p:spPr>
          <a:xfrm>
            <a:off x="6245352" y="1298448"/>
            <a:ext cx="5394960" cy="411480"/>
          </a:xfrm>
          <a:prstGeom prst="rect">
            <a:avLst/>
          </a:prstGeom>
          <a:noFill/>
        </p:spPr>
        <p:txBody>
          <a:bodyPr wrap="square" lIns="0" tIns="0" rIns="0" bIns="0" anchor="t">
            <a:noAutofit/>
          </a:bodyPr>
          <a:lstStyle/>
          <a:p>
            <a:pPr algn="l"/>
            <a:r>
              <a:rPr sz="2000" b="1" i="0" lang="en-GB">
                <a:solidFill>
                  <a:srgbClr val="F28C28"/>
                </a:solidFill>
                <a:latin typeface="Arial"/>
              </a:rPr>
              <a:t>Early steam (this mod)</a:t>
            </a:r>
          </a:p>
        </p:txBody>
      </p:sp>
      <p:grpSp>
        <p:nvGrpSpPr>
          <p:cNvPr id="10" name="Comparison" descr="Comparison in five rows. Vanilla electric: monorail beam, electricity, no refuelling, block and path signals, compact stations. Early steam: two-rail track, coal and water, service stops, semaphores and signal boxes, large stations."/>
          <p:cNvGrpSpPr/>
          <p:nvPr/>
        </p:nvGrpSpPr>
        <p:grpSpPr>
          <a:xfrm>
            <a:off x="548640" y="1810512"/>
            <a:ext cx="11091672" cy="3639312"/>
            <a:chOff x="548640" y="1810512"/>
            <a:chExt cx="11091672" cy="3639312"/>
          </a:xfrm>
        </p:grpSpPr>
        <p:sp>
          <p:nvSpPr>
            <p:cNvPr id="11" name="Rounded Rectangle 10"/>
            <p:cNvSpPr/>
            <p:nvPr/>
          </p:nvSpPr>
          <p:spPr>
            <a:xfrm>
              <a:off x="548640" y="1810512"/>
              <a:ext cx="5394960" cy="640080"/>
            </a:xfrm>
            <a:prstGeom prst="roundRect">
              <a:avLst>
                <a:gd name="adj" fmla="val 11428"/>
              </a:avLst>
            </a:prstGeom>
            <a:solidFill>
              <a:srgbClr val="2B2F36"/>
            </a:solidFill>
            <a:ln w="12700">
              <a:solidFill>
                <a:srgbClr val="6CA0DC"/>
              </a:solidFill>
            </a:ln>
          </p:spPr>
          <p:txBody>
            <a:bodyPr rtlCol="0" anchor="ctr"/>
            <a:lstStyle/>
            <a:p>
              <a:pPr algn="ctr"/>
            </a:p>
          </p:txBody>
        </p:sp>
        <p:sp>
          <p:nvSpPr>
            <p:cNvPr id="12" name="Rectangle 11"/>
            <p:cNvSpPr/>
            <p:nvPr/>
          </p:nvSpPr>
          <p:spPr>
            <a:xfrm>
              <a:off x="713232" y="2075688"/>
              <a:ext cx="585216" cy="146304"/>
            </a:xfrm>
            <a:prstGeom prst="rect">
              <a:avLst/>
            </a:prstGeom>
            <a:solidFill>
              <a:srgbClr val="6CA0DC"/>
            </a:solidFill>
            <a:ln>
              <a:noFill/>
            </a:ln>
          </p:spPr>
          <p:txBody>
            <a:bodyPr rtlCol="0" anchor="ctr"/>
            <a:lstStyle/>
            <a:p>
              <a:pPr algn="ctr"/>
            </a:p>
          </p:txBody>
        </p:sp>
        <p:sp>
          <p:nvSpPr>
            <p:cNvPr id="13" name="Rectangle 12"/>
            <p:cNvSpPr/>
            <p:nvPr/>
          </p:nvSpPr>
          <p:spPr>
            <a:xfrm>
              <a:off x="960120" y="2221992"/>
              <a:ext cx="91440" cy="164592"/>
            </a:xfrm>
            <a:prstGeom prst="rect">
              <a:avLst/>
            </a:prstGeom>
            <a:solidFill>
              <a:srgbClr val="6CA0DC"/>
            </a:solidFill>
            <a:ln>
              <a:noFill/>
            </a:ln>
          </p:spPr>
          <p:txBody>
            <a:bodyPr rtlCol="0" anchor="ctr"/>
            <a:lstStyle/>
            <a:p>
              <a:pPr algn="ctr"/>
            </a:p>
          </p:txBody>
        </p:sp>
        <p:sp>
          <p:nvSpPr>
            <p:cNvPr id="14" name="TextBox 13"/>
            <p:cNvSpPr txBox="1"/>
            <p:nvPr/>
          </p:nvSpPr>
          <p:spPr>
            <a:xfrm>
              <a:off x="1508760" y="1810512"/>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Monorail beam</a:t>
              </a:r>
            </a:p>
          </p:txBody>
        </p:sp>
        <p:sp>
          <p:nvSpPr>
            <p:cNvPr id="15" name="Rounded Rectangle 14"/>
            <p:cNvSpPr/>
            <p:nvPr/>
          </p:nvSpPr>
          <p:spPr>
            <a:xfrm>
              <a:off x="6245352" y="1810512"/>
              <a:ext cx="5394960" cy="640080"/>
            </a:xfrm>
            <a:prstGeom prst="roundRect">
              <a:avLst>
                <a:gd name="adj" fmla="val 11428"/>
              </a:avLst>
            </a:prstGeom>
            <a:solidFill>
              <a:srgbClr val="2B2F36"/>
            </a:solidFill>
            <a:ln w="12700">
              <a:solidFill>
                <a:srgbClr val="F28C28"/>
              </a:solidFill>
            </a:ln>
          </p:spPr>
          <p:txBody>
            <a:bodyPr rtlCol="0" anchor="ctr"/>
            <a:lstStyle/>
            <a:p>
              <a:pPr algn="ctr"/>
            </a:p>
          </p:txBody>
        </p:sp>
        <p:sp>
          <p:nvSpPr>
            <p:cNvPr id="16" name="Rectangle 15"/>
            <p:cNvSpPr/>
            <p:nvPr/>
          </p:nvSpPr>
          <p:spPr>
            <a:xfrm>
              <a:off x="6473952" y="1947672"/>
              <a:ext cx="54864" cy="365760"/>
            </a:xfrm>
            <a:prstGeom prst="rect">
              <a:avLst/>
            </a:prstGeom>
            <a:solidFill>
              <a:srgbClr val="6B5B4B"/>
            </a:solidFill>
            <a:ln>
              <a:noFill/>
            </a:ln>
          </p:spPr>
          <p:txBody>
            <a:bodyPr rtlCol="0" anchor="ctr"/>
            <a:lstStyle/>
            <a:p>
              <a:pPr algn="ctr"/>
            </a:p>
          </p:txBody>
        </p:sp>
        <p:sp>
          <p:nvSpPr>
            <p:cNvPr id="17" name="Rectangle 16"/>
            <p:cNvSpPr/>
            <p:nvPr/>
          </p:nvSpPr>
          <p:spPr>
            <a:xfrm>
              <a:off x="6675120" y="1947672"/>
              <a:ext cx="54864" cy="365760"/>
            </a:xfrm>
            <a:prstGeom prst="rect">
              <a:avLst/>
            </a:prstGeom>
            <a:solidFill>
              <a:srgbClr val="6B5B4B"/>
            </a:solidFill>
            <a:ln>
              <a:noFill/>
            </a:ln>
          </p:spPr>
          <p:txBody>
            <a:bodyPr rtlCol="0" anchor="ctr"/>
            <a:lstStyle/>
            <a:p>
              <a:pPr algn="ctr"/>
            </a:p>
          </p:txBody>
        </p:sp>
        <p:sp>
          <p:nvSpPr>
            <p:cNvPr id="18" name="Rectangle 17"/>
            <p:cNvSpPr/>
            <p:nvPr/>
          </p:nvSpPr>
          <p:spPr>
            <a:xfrm>
              <a:off x="6876288" y="1947672"/>
              <a:ext cx="54864" cy="365760"/>
            </a:xfrm>
            <a:prstGeom prst="rect">
              <a:avLst/>
            </a:prstGeom>
            <a:solidFill>
              <a:srgbClr val="6B5B4B"/>
            </a:solidFill>
            <a:ln>
              <a:noFill/>
            </a:ln>
          </p:spPr>
          <p:txBody>
            <a:bodyPr rtlCol="0" anchor="ctr"/>
            <a:lstStyle/>
            <a:p>
              <a:pPr algn="ctr"/>
            </a:p>
          </p:txBody>
        </p:sp>
        <p:sp>
          <p:nvSpPr>
            <p:cNvPr id="19" name="Rectangle 18"/>
            <p:cNvSpPr/>
            <p:nvPr/>
          </p:nvSpPr>
          <p:spPr>
            <a:xfrm>
              <a:off x="6409944" y="2029968"/>
              <a:ext cx="585216" cy="45720"/>
            </a:xfrm>
            <a:prstGeom prst="rect">
              <a:avLst/>
            </a:prstGeom>
            <a:solidFill>
              <a:srgbClr val="9AA0A6"/>
            </a:solidFill>
            <a:ln>
              <a:noFill/>
            </a:ln>
          </p:spPr>
          <p:txBody>
            <a:bodyPr rtlCol="0" anchor="ctr"/>
            <a:lstStyle/>
            <a:p>
              <a:pPr algn="ctr"/>
            </a:p>
          </p:txBody>
        </p:sp>
        <p:sp>
          <p:nvSpPr>
            <p:cNvPr id="20" name="Rectangle 19"/>
            <p:cNvSpPr/>
            <p:nvPr/>
          </p:nvSpPr>
          <p:spPr>
            <a:xfrm>
              <a:off x="6409944" y="2194560"/>
              <a:ext cx="585216" cy="45720"/>
            </a:xfrm>
            <a:prstGeom prst="rect">
              <a:avLst/>
            </a:prstGeom>
            <a:solidFill>
              <a:srgbClr val="9AA0A6"/>
            </a:solidFill>
            <a:ln>
              <a:noFill/>
            </a:ln>
          </p:spPr>
          <p:txBody>
            <a:bodyPr rtlCol="0" anchor="ctr"/>
            <a:lstStyle/>
            <a:p>
              <a:pPr algn="ctr"/>
            </a:p>
          </p:txBody>
        </p:sp>
        <p:sp>
          <p:nvSpPr>
            <p:cNvPr id="21" name="TextBox 20"/>
            <p:cNvSpPr txBox="1"/>
            <p:nvPr/>
          </p:nvSpPr>
          <p:spPr>
            <a:xfrm>
              <a:off x="7205472" y="1810512"/>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Two-rail track</a:t>
              </a:r>
            </a:p>
          </p:txBody>
        </p:sp>
        <p:sp>
          <p:nvSpPr>
            <p:cNvPr id="22" name="Rounded Rectangle 21"/>
            <p:cNvSpPr/>
            <p:nvPr/>
          </p:nvSpPr>
          <p:spPr>
            <a:xfrm>
              <a:off x="548640" y="2560320"/>
              <a:ext cx="5394960" cy="640080"/>
            </a:xfrm>
            <a:prstGeom prst="roundRect">
              <a:avLst>
                <a:gd name="adj" fmla="val 11428"/>
              </a:avLst>
            </a:prstGeom>
            <a:solidFill>
              <a:srgbClr val="2B2F36"/>
            </a:solidFill>
            <a:ln w="12700">
              <a:solidFill>
                <a:srgbClr val="6CA0DC"/>
              </a:solidFill>
            </a:ln>
          </p:spPr>
          <p:txBody>
            <a:bodyPr rtlCol="0" anchor="ctr"/>
            <a:lstStyle/>
            <a:p>
              <a:pPr algn="ctr"/>
            </a:p>
          </p:txBody>
        </p:sp>
        <p:sp>
          <p:nvSpPr>
            <p:cNvPr id="23" name="Lightning Bolt 22"/>
            <p:cNvSpPr/>
            <p:nvPr/>
          </p:nvSpPr>
          <p:spPr>
            <a:xfrm>
              <a:off x="850392" y="2651760"/>
              <a:ext cx="310896" cy="457200"/>
            </a:xfrm>
            <a:prstGeom prst="lightningBolt">
              <a:avLst/>
            </a:prstGeom>
            <a:solidFill>
              <a:srgbClr val="6CA0DC"/>
            </a:solidFill>
            <a:ln>
              <a:noFill/>
            </a:ln>
          </p:spPr>
          <p:txBody>
            <a:bodyPr rtlCol="0" anchor="ctr"/>
            <a:lstStyle/>
            <a:p>
              <a:pPr algn="ctr"/>
            </a:p>
          </p:txBody>
        </p:sp>
        <p:sp>
          <p:nvSpPr>
            <p:cNvPr id="24" name="TextBox 23"/>
            <p:cNvSpPr txBox="1"/>
            <p:nvPr/>
          </p:nvSpPr>
          <p:spPr>
            <a:xfrm>
              <a:off x="1508760" y="2560320"/>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Electricity</a:t>
              </a:r>
            </a:p>
          </p:txBody>
        </p:sp>
        <p:sp>
          <p:nvSpPr>
            <p:cNvPr id="25" name="Rounded Rectangle 24"/>
            <p:cNvSpPr/>
            <p:nvPr/>
          </p:nvSpPr>
          <p:spPr>
            <a:xfrm>
              <a:off x="6245352" y="2560320"/>
              <a:ext cx="5394960" cy="640080"/>
            </a:xfrm>
            <a:prstGeom prst="roundRect">
              <a:avLst>
                <a:gd name="adj" fmla="val 11428"/>
              </a:avLst>
            </a:prstGeom>
            <a:solidFill>
              <a:srgbClr val="2B2F36"/>
            </a:solidFill>
            <a:ln w="12700">
              <a:solidFill>
                <a:srgbClr val="F28C28"/>
              </a:solidFill>
            </a:ln>
          </p:spPr>
          <p:txBody>
            <a:bodyPr rtlCol="0" anchor="ctr"/>
            <a:lstStyle/>
            <a:p>
              <a:pPr algn="ctr"/>
            </a:p>
          </p:txBody>
        </p:sp>
        <p:sp>
          <p:nvSpPr>
            <p:cNvPr id="26" name="Freeform 25"/>
            <p:cNvSpPr/>
            <p:nvPr/>
          </p:nvSpPr>
          <p:spPr>
            <a:xfrm>
              <a:off x="6468478" y="2724912"/>
              <a:ext cx="248692" cy="333573"/>
            </a:xfrm>
            <a:custGeom>
              <a:avLst/>
              <a:gdLst/>
              <a:ahLst/>
              <a:cxnLst/>
              <a:rect l="l" t="t" r="r" b="b"/>
              <a:pathLst>
                <a:path w="248692" h="333573">
                  <a:moveTo>
                    <a:pt x="6800" y="165700"/>
                  </a:moveTo>
                  <a:lnTo>
                    <a:pt x="0" y="194865"/>
                  </a:lnTo>
                  <a:lnTo>
                    <a:pt x="326" y="224811"/>
                  </a:lnTo>
                  <a:lnTo>
                    <a:pt x="7761" y="253821"/>
                  </a:lnTo>
                  <a:lnTo>
                    <a:pt x="21878" y="280232"/>
                  </a:lnTo>
                  <a:lnTo>
                    <a:pt x="41868" y="302531"/>
                  </a:lnTo>
                  <a:lnTo>
                    <a:pt x="66586" y="319439"/>
                  </a:lnTo>
                  <a:lnTo>
                    <a:pt x="94614" y="329988"/>
                  </a:lnTo>
                  <a:lnTo>
                    <a:pt x="124346" y="333573"/>
                  </a:lnTo>
                  <a:lnTo>
                    <a:pt x="154078" y="329988"/>
                  </a:lnTo>
                  <a:lnTo>
                    <a:pt x="182106" y="319439"/>
                  </a:lnTo>
                  <a:lnTo>
                    <a:pt x="206824" y="302531"/>
                  </a:lnTo>
                  <a:lnTo>
                    <a:pt x="226814" y="280232"/>
                  </a:lnTo>
                  <a:lnTo>
                    <a:pt x="240931" y="253821"/>
                  </a:lnTo>
                  <a:lnTo>
                    <a:pt x="248366" y="224811"/>
                  </a:lnTo>
                  <a:lnTo>
                    <a:pt x="248692" y="194865"/>
                  </a:lnTo>
                  <a:lnTo>
                    <a:pt x="241892" y="165700"/>
                  </a:lnTo>
                  <a:lnTo>
                    <a:pt x="124346" y="0"/>
                  </a:lnTo>
                  <a:close/>
                </a:path>
              </a:pathLst>
            </a:custGeom>
            <a:solidFill>
              <a:srgbClr val="4DA3FF"/>
            </a:solidFill>
            <a:ln>
              <a:noFill/>
            </a:ln>
          </p:spPr>
          <p:txBody>
            <a:bodyPr rtlCol="0" anchor="ctr"/>
            <a:lstStyle/>
            <a:p>
              <a:pPr algn="ctr"/>
            </a:p>
          </p:txBody>
        </p:sp>
        <p:sp>
          <p:nvSpPr>
            <p:cNvPr id="27" name="Freeform 26"/>
            <p:cNvSpPr/>
            <p:nvPr/>
          </p:nvSpPr>
          <p:spPr>
            <a:xfrm>
              <a:off x="6720840" y="2770632"/>
              <a:ext cx="274320" cy="292608"/>
            </a:xfrm>
            <a:custGeom>
              <a:avLst/>
              <a:gdLst/>
              <a:ahLst/>
              <a:cxnLst/>
              <a:rect l="l" t="t" r="r" b="b"/>
              <a:pathLst>
                <a:path w="274320" h="292608">
                  <a:moveTo>
                    <a:pt x="0" y="292608"/>
                  </a:moveTo>
                  <a:lnTo>
                    <a:pt x="274320" y="292608"/>
                  </a:lnTo>
                  <a:lnTo>
                    <a:pt x="237744" y="91440"/>
                  </a:lnTo>
                  <a:lnTo>
                    <a:pt x="118872" y="0"/>
                  </a:lnTo>
                  <a:lnTo>
                    <a:pt x="27432" y="109728"/>
                  </a:lnTo>
                  <a:close/>
                </a:path>
              </a:pathLst>
            </a:custGeom>
            <a:solidFill>
              <a:srgbClr val="1B1D21"/>
            </a:solidFill>
            <a:ln w="12700">
              <a:solidFill>
                <a:srgbClr val="6B7078"/>
              </a:solidFill>
            </a:ln>
          </p:spPr>
          <p:txBody>
            <a:bodyPr rtlCol="0" anchor="ctr"/>
            <a:lstStyle/>
            <a:p>
              <a:pPr algn="ctr"/>
            </a:p>
          </p:txBody>
        </p:sp>
        <p:sp>
          <p:nvSpPr>
            <p:cNvPr id="28" name="TextBox 27"/>
            <p:cNvSpPr txBox="1"/>
            <p:nvPr/>
          </p:nvSpPr>
          <p:spPr>
            <a:xfrm>
              <a:off x="7205472" y="2560320"/>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Coal and water</a:t>
              </a:r>
            </a:p>
          </p:txBody>
        </p:sp>
        <p:sp>
          <p:nvSpPr>
            <p:cNvPr id="29" name="Rounded Rectangle 28"/>
            <p:cNvSpPr/>
            <p:nvPr/>
          </p:nvSpPr>
          <p:spPr>
            <a:xfrm>
              <a:off x="548640" y="3310128"/>
              <a:ext cx="5394960" cy="640080"/>
            </a:xfrm>
            <a:prstGeom prst="roundRect">
              <a:avLst>
                <a:gd name="adj" fmla="val 11428"/>
              </a:avLst>
            </a:prstGeom>
            <a:solidFill>
              <a:srgbClr val="2B2F36"/>
            </a:solidFill>
            <a:ln w="12700">
              <a:solidFill>
                <a:srgbClr val="6CA0DC"/>
              </a:solidFill>
            </a:ln>
          </p:spPr>
          <p:txBody>
            <a:bodyPr rtlCol="0" anchor="ctr"/>
            <a:lstStyle/>
            <a:p>
              <a:pPr algn="ctr"/>
            </a:p>
          </p:txBody>
        </p:sp>
        <p:sp>
          <p:nvSpPr>
            <p:cNvPr id="30" name="&quot;No&quot; Symbol 29"/>
            <p:cNvSpPr/>
            <p:nvPr/>
          </p:nvSpPr>
          <p:spPr>
            <a:xfrm>
              <a:off x="804672" y="3429000"/>
              <a:ext cx="402336" cy="402336"/>
            </a:xfrm>
            <a:prstGeom prst="noSmoking">
              <a:avLst/>
            </a:prstGeom>
            <a:solidFill>
              <a:srgbClr val="6CA0DC"/>
            </a:solidFill>
            <a:ln>
              <a:noFill/>
            </a:ln>
          </p:spPr>
          <p:txBody>
            <a:bodyPr rtlCol="0" anchor="ctr"/>
            <a:lstStyle/>
            <a:p>
              <a:pPr algn="ctr"/>
            </a:p>
          </p:txBody>
        </p:sp>
        <p:sp>
          <p:nvSpPr>
            <p:cNvPr id="31" name="TextBox 30"/>
            <p:cNvSpPr txBox="1"/>
            <p:nvPr/>
          </p:nvSpPr>
          <p:spPr>
            <a:xfrm>
              <a:off x="1508760" y="3310128"/>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No refuelling</a:t>
              </a:r>
            </a:p>
          </p:txBody>
        </p:sp>
        <p:sp>
          <p:nvSpPr>
            <p:cNvPr id="32" name="Rounded Rectangle 31"/>
            <p:cNvSpPr/>
            <p:nvPr/>
          </p:nvSpPr>
          <p:spPr>
            <a:xfrm>
              <a:off x="6245352" y="3310128"/>
              <a:ext cx="5394960" cy="640080"/>
            </a:xfrm>
            <a:prstGeom prst="roundRect">
              <a:avLst>
                <a:gd name="adj" fmla="val 11428"/>
              </a:avLst>
            </a:prstGeom>
            <a:solidFill>
              <a:srgbClr val="2B2F36"/>
            </a:solidFill>
            <a:ln w="12700">
              <a:solidFill>
                <a:srgbClr val="F28C28"/>
              </a:solidFill>
            </a:ln>
          </p:spPr>
          <p:txBody>
            <a:bodyPr rtlCol="0" anchor="ctr"/>
            <a:lstStyle/>
            <a:p>
              <a:pPr algn="ctr"/>
            </a:p>
          </p:txBody>
        </p:sp>
        <p:sp>
          <p:nvSpPr>
            <p:cNvPr id="33" name="Freeform 32"/>
            <p:cNvSpPr/>
            <p:nvPr/>
          </p:nvSpPr>
          <p:spPr>
            <a:xfrm>
              <a:off x="6519672" y="3447288"/>
              <a:ext cx="384048" cy="411480"/>
            </a:xfrm>
            <a:custGeom>
              <a:avLst/>
              <a:gdLst/>
              <a:ahLst/>
              <a:cxnLst/>
              <a:rect l="l" t="t" r="r" b="b"/>
              <a:pathLst>
                <a:path w="384048" h="411480">
                  <a:moveTo>
                    <a:pt x="0" y="411480"/>
                  </a:moveTo>
                  <a:lnTo>
                    <a:pt x="0" y="0"/>
                  </a:lnTo>
                  <a:lnTo>
                    <a:pt x="384048" y="0"/>
                  </a:lnTo>
                  <a:lnTo>
                    <a:pt x="384048" y="182880"/>
                  </a:lnTo>
                </a:path>
              </a:pathLst>
            </a:custGeom>
            <a:noFill/>
            <a:ln w="50800">
              <a:solidFill>
                <a:srgbClr val="F28C28"/>
              </a:solidFill>
            </a:ln>
          </p:spPr>
          <p:txBody>
            <a:bodyPr rtlCol="0" anchor="ctr"/>
            <a:lstStyle/>
            <a:p>
              <a:pPr algn="ctr"/>
            </a:p>
          </p:txBody>
        </p:sp>
        <p:sp>
          <p:nvSpPr>
            <p:cNvPr id="34" name="Oval 33"/>
            <p:cNvSpPr/>
            <p:nvPr/>
          </p:nvSpPr>
          <p:spPr>
            <a:xfrm>
              <a:off x="6858000" y="3675888"/>
              <a:ext cx="91440" cy="128016"/>
            </a:xfrm>
            <a:prstGeom prst="ellipse">
              <a:avLst/>
            </a:prstGeom>
            <a:solidFill>
              <a:srgbClr val="4DA3FF"/>
            </a:solidFill>
            <a:ln>
              <a:noFill/>
            </a:ln>
          </p:spPr>
          <p:txBody>
            <a:bodyPr rtlCol="0" anchor="ctr"/>
            <a:lstStyle/>
            <a:p>
              <a:pPr algn="ctr"/>
            </a:p>
          </p:txBody>
        </p:sp>
        <p:sp>
          <p:nvSpPr>
            <p:cNvPr id="35" name="TextBox 34"/>
            <p:cNvSpPr txBox="1"/>
            <p:nvPr/>
          </p:nvSpPr>
          <p:spPr>
            <a:xfrm>
              <a:off x="7205472" y="3310128"/>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Service stops</a:t>
              </a:r>
            </a:p>
          </p:txBody>
        </p:sp>
        <p:sp>
          <p:nvSpPr>
            <p:cNvPr id="36" name="Rounded Rectangle 35"/>
            <p:cNvSpPr/>
            <p:nvPr/>
          </p:nvSpPr>
          <p:spPr>
            <a:xfrm>
              <a:off x="548640" y="4059936"/>
              <a:ext cx="5394960" cy="640080"/>
            </a:xfrm>
            <a:prstGeom prst="roundRect">
              <a:avLst>
                <a:gd name="adj" fmla="val 11428"/>
              </a:avLst>
            </a:prstGeom>
            <a:solidFill>
              <a:srgbClr val="2B2F36"/>
            </a:solidFill>
            <a:ln w="12700">
              <a:solidFill>
                <a:srgbClr val="6CA0DC"/>
              </a:solidFill>
            </a:ln>
          </p:spPr>
          <p:txBody>
            <a:bodyPr rtlCol="0" anchor="ctr"/>
            <a:lstStyle/>
            <a:p>
              <a:pPr algn="ctr"/>
            </a:p>
          </p:txBody>
        </p:sp>
        <p:sp>
          <p:nvSpPr>
            <p:cNvPr id="37" name="Rounded Rectangle 36"/>
            <p:cNvSpPr/>
            <p:nvPr/>
          </p:nvSpPr>
          <p:spPr>
            <a:xfrm>
              <a:off x="896112" y="4133088"/>
              <a:ext cx="219456" cy="493776"/>
            </a:xfrm>
            <a:prstGeom prst="roundRect">
              <a:avLst>
                <a:gd name="adj" fmla="val 33333"/>
              </a:avLst>
            </a:prstGeom>
            <a:solidFill>
              <a:srgbClr val="343A43"/>
            </a:solidFill>
            <a:ln w="19050">
              <a:solidFill>
                <a:srgbClr val="6CA0DC"/>
              </a:solidFill>
            </a:ln>
          </p:spPr>
          <p:txBody>
            <a:bodyPr rtlCol="0" anchor="ctr"/>
            <a:lstStyle/>
            <a:p>
              <a:pPr algn="ctr"/>
            </a:p>
          </p:txBody>
        </p:sp>
        <p:sp>
          <p:nvSpPr>
            <p:cNvPr id="38" name="Oval 37"/>
            <p:cNvSpPr/>
            <p:nvPr/>
          </p:nvSpPr>
          <p:spPr>
            <a:xfrm>
              <a:off x="946404" y="4210812"/>
              <a:ext cx="118872" cy="118872"/>
            </a:xfrm>
            <a:prstGeom prst="ellipse">
              <a:avLst/>
            </a:prstGeom>
            <a:solidFill>
              <a:srgbClr val="3FB950"/>
            </a:solidFill>
            <a:ln>
              <a:noFill/>
            </a:ln>
          </p:spPr>
          <p:txBody>
            <a:bodyPr rtlCol="0" anchor="ctr"/>
            <a:lstStyle/>
            <a:p>
              <a:pPr algn="ctr"/>
            </a:p>
          </p:txBody>
        </p:sp>
        <p:sp>
          <p:nvSpPr>
            <p:cNvPr id="39" name="Oval 38"/>
            <p:cNvSpPr/>
            <p:nvPr/>
          </p:nvSpPr>
          <p:spPr>
            <a:xfrm>
              <a:off x="946404" y="4430268"/>
              <a:ext cx="118872" cy="118872"/>
            </a:xfrm>
            <a:prstGeom prst="ellipse">
              <a:avLst/>
            </a:prstGeom>
            <a:solidFill>
              <a:srgbClr val="E5484D"/>
            </a:solidFill>
            <a:ln>
              <a:noFill/>
            </a:ln>
          </p:spPr>
          <p:txBody>
            <a:bodyPr rtlCol="0" anchor="ctr"/>
            <a:lstStyle/>
            <a:p>
              <a:pPr algn="ctr"/>
            </a:p>
          </p:txBody>
        </p:sp>
        <p:sp>
          <p:nvSpPr>
            <p:cNvPr id="40" name="TextBox 39"/>
            <p:cNvSpPr txBox="1"/>
            <p:nvPr/>
          </p:nvSpPr>
          <p:spPr>
            <a:xfrm>
              <a:off x="1508760" y="4059936"/>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Block and path</a:t>
              </a:r>
            </a:p>
          </p:txBody>
        </p:sp>
        <p:sp>
          <p:nvSpPr>
            <p:cNvPr id="41" name="Rounded Rectangle 40"/>
            <p:cNvSpPr/>
            <p:nvPr/>
          </p:nvSpPr>
          <p:spPr>
            <a:xfrm>
              <a:off x="6245352" y="4059936"/>
              <a:ext cx="5394960" cy="640080"/>
            </a:xfrm>
            <a:prstGeom prst="roundRect">
              <a:avLst>
                <a:gd name="adj" fmla="val 11428"/>
              </a:avLst>
            </a:prstGeom>
            <a:solidFill>
              <a:srgbClr val="2B2F36"/>
            </a:solidFill>
            <a:ln w="12700">
              <a:solidFill>
                <a:srgbClr val="F28C28"/>
              </a:solidFill>
            </a:ln>
          </p:spPr>
          <p:txBody>
            <a:bodyPr rtlCol="0" anchor="ctr"/>
            <a:lstStyle/>
            <a:p>
              <a:pPr algn="ctr"/>
            </a:p>
          </p:txBody>
        </p:sp>
        <p:sp>
          <p:nvSpPr>
            <p:cNvPr id="42" name="Rectangle 41"/>
            <p:cNvSpPr/>
            <p:nvPr/>
          </p:nvSpPr>
          <p:spPr>
            <a:xfrm>
              <a:off x="6675120" y="4133088"/>
              <a:ext cx="54864" cy="493776"/>
            </a:xfrm>
            <a:prstGeom prst="rect">
              <a:avLst/>
            </a:prstGeom>
            <a:solidFill>
              <a:srgbClr val="E8E8E8"/>
            </a:solidFill>
            <a:ln>
              <a:noFill/>
            </a:ln>
          </p:spPr>
          <p:txBody>
            <a:bodyPr rtlCol="0" anchor="ctr"/>
            <a:lstStyle/>
            <a:p>
              <a:pPr algn="ctr"/>
            </a:p>
          </p:txBody>
        </p:sp>
        <p:sp>
          <p:nvSpPr>
            <p:cNvPr id="43" name="Rectangle 42"/>
            <p:cNvSpPr/>
            <p:nvPr/>
          </p:nvSpPr>
          <p:spPr>
            <a:xfrm>
              <a:off x="6729984" y="4178808"/>
              <a:ext cx="274320" cy="73152"/>
            </a:xfrm>
            <a:prstGeom prst="rect">
              <a:avLst/>
            </a:prstGeom>
            <a:solidFill>
              <a:srgbClr val="E5484D"/>
            </a:solidFill>
            <a:ln>
              <a:noFill/>
            </a:ln>
          </p:spPr>
          <p:txBody>
            <a:bodyPr rtlCol="0" anchor="ctr"/>
            <a:lstStyle/>
            <a:p>
              <a:pPr algn="ctr"/>
            </a:p>
          </p:txBody>
        </p:sp>
        <p:sp>
          <p:nvSpPr>
            <p:cNvPr id="44" name="TextBox 43"/>
            <p:cNvSpPr txBox="1"/>
            <p:nvPr/>
          </p:nvSpPr>
          <p:spPr>
            <a:xfrm>
              <a:off x="7205472" y="4059936"/>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Semaphores and boxes</a:t>
              </a:r>
            </a:p>
          </p:txBody>
        </p:sp>
        <p:sp>
          <p:nvSpPr>
            <p:cNvPr id="45" name="Rounded Rectangle 44"/>
            <p:cNvSpPr/>
            <p:nvPr/>
          </p:nvSpPr>
          <p:spPr>
            <a:xfrm>
              <a:off x="548640" y="4809744"/>
              <a:ext cx="5394960" cy="640080"/>
            </a:xfrm>
            <a:prstGeom prst="roundRect">
              <a:avLst>
                <a:gd name="adj" fmla="val 11428"/>
              </a:avLst>
            </a:prstGeom>
            <a:solidFill>
              <a:srgbClr val="2B2F36"/>
            </a:solidFill>
            <a:ln w="12700">
              <a:solidFill>
                <a:srgbClr val="6CA0DC"/>
              </a:solidFill>
            </a:ln>
          </p:spPr>
          <p:txBody>
            <a:bodyPr rtlCol="0" anchor="ctr"/>
            <a:lstStyle/>
            <a:p>
              <a:pPr algn="ctr"/>
            </a:p>
          </p:txBody>
        </p:sp>
        <p:sp>
          <p:nvSpPr>
            <p:cNvPr id="46" name="Rectangle 45"/>
            <p:cNvSpPr/>
            <p:nvPr/>
          </p:nvSpPr>
          <p:spPr>
            <a:xfrm>
              <a:off x="868680" y="5020056"/>
              <a:ext cx="274320" cy="219456"/>
            </a:xfrm>
            <a:prstGeom prst="rect">
              <a:avLst/>
            </a:prstGeom>
            <a:noFill/>
            <a:ln w="25400">
              <a:solidFill>
                <a:srgbClr val="6CA0DC"/>
              </a:solidFill>
            </a:ln>
          </p:spPr>
          <p:txBody>
            <a:bodyPr rtlCol="0" anchor="ctr"/>
            <a:lstStyle/>
            <a:p>
              <a:pPr algn="ctr"/>
            </a:p>
          </p:txBody>
        </p:sp>
        <p:sp>
          <p:nvSpPr>
            <p:cNvPr id="47" name="TextBox 46"/>
            <p:cNvSpPr txBox="1"/>
            <p:nvPr/>
          </p:nvSpPr>
          <p:spPr>
            <a:xfrm>
              <a:off x="1508760" y="4809744"/>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Compact</a:t>
              </a:r>
            </a:p>
          </p:txBody>
        </p:sp>
        <p:sp>
          <p:nvSpPr>
            <p:cNvPr id="48" name="Rounded Rectangle 47"/>
            <p:cNvSpPr/>
            <p:nvPr/>
          </p:nvSpPr>
          <p:spPr>
            <a:xfrm>
              <a:off x="6245352" y="4809744"/>
              <a:ext cx="5394960" cy="640080"/>
            </a:xfrm>
            <a:prstGeom prst="roundRect">
              <a:avLst>
                <a:gd name="adj" fmla="val 11428"/>
              </a:avLst>
            </a:prstGeom>
            <a:solidFill>
              <a:srgbClr val="2B2F36"/>
            </a:solidFill>
            <a:ln w="12700">
              <a:solidFill>
                <a:srgbClr val="F28C28"/>
              </a:solidFill>
            </a:ln>
          </p:spPr>
          <p:txBody>
            <a:bodyPr rtlCol="0" anchor="ctr"/>
            <a:lstStyle/>
            <a:p>
              <a:pPr algn="ctr"/>
            </a:p>
          </p:txBody>
        </p:sp>
        <p:sp>
          <p:nvSpPr>
            <p:cNvPr id="49" name="Rectangle 48"/>
            <p:cNvSpPr/>
            <p:nvPr/>
          </p:nvSpPr>
          <p:spPr>
            <a:xfrm>
              <a:off x="6400800" y="5020056"/>
              <a:ext cx="603504" cy="219456"/>
            </a:xfrm>
            <a:prstGeom prst="rect">
              <a:avLst/>
            </a:prstGeom>
            <a:noFill/>
            <a:ln w="25400">
              <a:solidFill>
                <a:srgbClr val="F28C28"/>
              </a:solidFill>
            </a:ln>
          </p:spPr>
          <p:txBody>
            <a:bodyPr rtlCol="0" anchor="ctr"/>
            <a:lstStyle/>
            <a:p>
              <a:pPr algn="ctr"/>
            </a:p>
          </p:txBody>
        </p:sp>
        <p:sp>
          <p:nvSpPr>
            <p:cNvPr id="50" name="TextBox 49"/>
            <p:cNvSpPr txBox="1"/>
            <p:nvPr/>
          </p:nvSpPr>
          <p:spPr>
            <a:xfrm>
              <a:off x="7205472" y="4809744"/>
              <a:ext cx="4297680" cy="640080"/>
            </a:xfrm>
            <a:prstGeom prst="rect">
              <a:avLst/>
            </a:prstGeom>
            <a:noFill/>
          </p:spPr>
          <p:txBody>
            <a:bodyPr wrap="square" lIns="0" tIns="0" rIns="0" bIns="0" anchor="ctr">
              <a:noAutofit/>
            </a:bodyPr>
            <a:lstStyle/>
            <a:p>
              <a:pPr algn="l"/>
              <a:r>
                <a:rPr sz="2000" b="0" i="0" lang="en-GB">
                  <a:solidFill>
                    <a:srgbClr val="F2F2F2"/>
                  </a:solidFill>
                  <a:latin typeface="Arial"/>
                </a:rPr>
                <a:t>Large</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Steam rail is not electric trains with an early unlock. It works in its own way.</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Every limit has an answer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Limits and answers" descr="Four limits, each with arrows to its answers. Short range: auxiliary tender, service stop or bigger engine. Small loads: a suitable engine and train length. Busy line: more signals and boxes. Slow overall: convert to monorail later."/>
          <p:cNvGrpSpPr/>
          <p:nvPr/>
        </p:nvGrpSpPr>
        <p:grpSpPr>
          <a:xfrm>
            <a:off x="548640" y="1371600"/>
            <a:ext cx="8595360" cy="4023360"/>
            <a:chOff x="548640" y="1371600"/>
            <a:chExt cx="8595360" cy="4023360"/>
          </a:xfrm>
        </p:grpSpPr>
        <p:sp>
          <p:nvSpPr>
            <p:cNvPr id="9" name="Rounded Rectangle 8"/>
            <p:cNvSpPr/>
            <p:nvPr/>
          </p:nvSpPr>
          <p:spPr>
            <a:xfrm>
              <a:off x="548640" y="1874520"/>
              <a:ext cx="2560320" cy="640080"/>
            </a:xfrm>
            <a:prstGeom prst="roundRect">
              <a:avLst>
                <a:gd name="adj" fmla="val 11428"/>
              </a:avLst>
            </a:prstGeom>
            <a:solidFill>
              <a:srgbClr val="4A515B"/>
            </a:solidFill>
            <a:ln>
              <a:noFill/>
            </a:ln>
          </p:spPr>
          <p:txBody>
            <a:bodyPr rtlCol="0" anchor="ctr" wrap="square" lIns="73152" tIns="36576" rIns="73152" bIns="36576">
              <a:noAutofit/>
            </a:bodyPr>
            <a:lstStyle/>
            <a:p>
              <a:pPr algn="ctr"/>
              <a:r>
                <a:rPr sz="2000" b="1" i="0" lang="en-GB">
                  <a:solidFill>
                    <a:srgbClr val="F2F2F2"/>
                  </a:solidFill>
                  <a:latin typeface="Arial"/>
                </a:rPr>
                <a:t>Short range</a:t>
              </a:r>
            </a:p>
          </p:txBody>
        </p:sp>
        <p:sp>
          <p:nvSpPr>
            <p:cNvPr id="10" name="Rounded Rectangle 9"/>
            <p:cNvSpPr/>
            <p:nvPr/>
          </p:nvSpPr>
          <p:spPr>
            <a:xfrm>
              <a:off x="4206240" y="1371600"/>
              <a:ext cx="3291840" cy="457200"/>
            </a:xfrm>
            <a:prstGeom prst="roundRect">
              <a:avLst>
                <a:gd name="adj" fmla="val 16000"/>
              </a:avLst>
            </a:prstGeom>
            <a:solidFill>
              <a:srgbClr val="2B2F36"/>
            </a:solidFill>
            <a:ln w="25400">
              <a:solidFill>
                <a:srgbClr val="F28C28"/>
              </a:solidFill>
            </a:ln>
          </p:spPr>
          <p:txBody>
            <a:bodyPr rtlCol="0" anchor="ctr" wrap="square" lIns="73152" tIns="36576" rIns="73152" bIns="36576">
              <a:noAutofit/>
            </a:bodyPr>
            <a:lstStyle/>
            <a:p>
              <a:pPr algn="ctr"/>
              <a:r>
                <a:rPr sz="1800" b="0" i="0" lang="en-GB">
                  <a:solidFill>
                    <a:srgbClr val="F2F2F2"/>
                  </a:solidFill>
                  <a:latin typeface="Arial"/>
                </a:rPr>
                <a:t>Auxiliary tender</a:t>
              </a:r>
            </a:p>
          </p:txBody>
        </p:sp>
        <p:cxnSp>
          <p:nvCxnSpPr>
            <p:cNvPr id="11" name="Connector 10"/>
            <p:cNvCxnSpPr/>
            <p:nvPr/>
          </p:nvCxnSpPr>
          <p:spPr>
            <a:xfrm flipV="1">
              <a:off x="3154680" y="1600200"/>
              <a:ext cx="996696" cy="594360"/>
            </a:xfrm>
            <a:prstGeom prst="line">
              <a:avLst/>
            </a:prstGeom>
            <a:ln w="28575">
              <a:solidFill>
                <a:srgbClr val="F28C28"/>
              </a:solidFill>
              <a:tailEnd type="triangle" w="lg" len="lg"/>
            </a:ln>
          </p:spPr>
        </p:cxnSp>
        <p:sp>
          <p:nvSpPr>
            <p:cNvPr id="12" name="Rounded Rectangle 11"/>
            <p:cNvSpPr/>
            <p:nvPr/>
          </p:nvSpPr>
          <p:spPr>
            <a:xfrm>
              <a:off x="4206240" y="1938528"/>
              <a:ext cx="3291840" cy="457200"/>
            </a:xfrm>
            <a:prstGeom prst="roundRect">
              <a:avLst>
                <a:gd name="adj" fmla="val 16000"/>
              </a:avLst>
            </a:prstGeom>
            <a:solidFill>
              <a:srgbClr val="2B2F36"/>
            </a:solidFill>
            <a:ln w="25400">
              <a:solidFill>
                <a:srgbClr val="F28C28"/>
              </a:solidFill>
            </a:ln>
          </p:spPr>
          <p:txBody>
            <a:bodyPr rtlCol="0" anchor="ctr" wrap="square" lIns="73152" tIns="36576" rIns="73152" bIns="36576">
              <a:noAutofit/>
            </a:bodyPr>
            <a:lstStyle/>
            <a:p>
              <a:pPr algn="ctr"/>
              <a:r>
                <a:rPr sz="1800" b="0" i="0" lang="en-GB">
                  <a:solidFill>
                    <a:srgbClr val="F2F2F2"/>
                  </a:solidFill>
                  <a:latin typeface="Arial"/>
                </a:rPr>
                <a:t>Service stop</a:t>
              </a:r>
            </a:p>
          </p:txBody>
        </p:sp>
        <p:cxnSp>
          <p:nvCxnSpPr>
            <p:cNvPr id="13" name="Connector 12"/>
            <p:cNvCxnSpPr/>
            <p:nvPr/>
          </p:nvCxnSpPr>
          <p:spPr>
            <a:xfrm flipV="1">
              <a:off x="3154680" y="2167128"/>
              <a:ext cx="996696" cy="27432"/>
            </a:xfrm>
            <a:prstGeom prst="line">
              <a:avLst/>
            </a:prstGeom>
            <a:ln w="28575">
              <a:solidFill>
                <a:srgbClr val="F28C28"/>
              </a:solidFill>
              <a:tailEnd type="triangle" w="lg" len="lg"/>
            </a:ln>
          </p:spPr>
        </p:cxnSp>
        <p:sp>
          <p:nvSpPr>
            <p:cNvPr id="14" name="Rounded Rectangle 13"/>
            <p:cNvSpPr/>
            <p:nvPr/>
          </p:nvSpPr>
          <p:spPr>
            <a:xfrm>
              <a:off x="4206240" y="2505456"/>
              <a:ext cx="3291840" cy="457200"/>
            </a:xfrm>
            <a:prstGeom prst="roundRect">
              <a:avLst>
                <a:gd name="adj" fmla="val 16000"/>
              </a:avLst>
            </a:prstGeom>
            <a:solidFill>
              <a:srgbClr val="2B2F36"/>
            </a:solidFill>
            <a:ln w="25400">
              <a:solidFill>
                <a:srgbClr val="F28C28"/>
              </a:solidFill>
            </a:ln>
          </p:spPr>
          <p:txBody>
            <a:bodyPr rtlCol="0" anchor="ctr" wrap="square" lIns="73152" tIns="36576" rIns="73152" bIns="36576">
              <a:noAutofit/>
            </a:bodyPr>
            <a:lstStyle/>
            <a:p>
              <a:pPr algn="ctr"/>
              <a:r>
                <a:rPr sz="1800" b="0" i="0" lang="en-GB">
                  <a:solidFill>
                    <a:srgbClr val="F2F2F2"/>
                  </a:solidFill>
                  <a:latin typeface="Arial"/>
                </a:rPr>
                <a:t>Bigger engine</a:t>
              </a:r>
            </a:p>
          </p:txBody>
        </p:sp>
        <p:cxnSp>
          <p:nvCxnSpPr>
            <p:cNvPr id="15" name="Connector 14"/>
            <p:cNvCxnSpPr/>
            <p:nvPr/>
          </p:nvCxnSpPr>
          <p:spPr>
            <a:xfrm>
              <a:off x="3154680" y="2194560"/>
              <a:ext cx="996696" cy="539496"/>
            </a:xfrm>
            <a:prstGeom prst="line">
              <a:avLst/>
            </a:prstGeom>
            <a:ln w="28575">
              <a:solidFill>
                <a:srgbClr val="F28C28"/>
              </a:solidFill>
              <a:tailEnd type="triangle" w="lg" len="lg"/>
            </a:ln>
          </p:spPr>
        </p:cxnSp>
        <p:sp>
          <p:nvSpPr>
            <p:cNvPr id="16" name="Rounded Rectangle 15"/>
            <p:cNvSpPr/>
            <p:nvPr/>
          </p:nvSpPr>
          <p:spPr>
            <a:xfrm>
              <a:off x="548640" y="3246120"/>
              <a:ext cx="2560320" cy="594360"/>
            </a:xfrm>
            <a:prstGeom prst="roundRect">
              <a:avLst>
                <a:gd name="adj" fmla="val 12307"/>
              </a:avLst>
            </a:prstGeom>
            <a:solidFill>
              <a:srgbClr val="4A515B"/>
            </a:solidFill>
            <a:ln>
              <a:noFill/>
            </a:ln>
          </p:spPr>
          <p:txBody>
            <a:bodyPr rtlCol="0" anchor="ctr" wrap="square" lIns="73152" tIns="36576" rIns="73152" bIns="36576">
              <a:noAutofit/>
            </a:bodyPr>
            <a:lstStyle/>
            <a:p>
              <a:pPr algn="ctr"/>
              <a:r>
                <a:rPr sz="2000" b="1" i="0" lang="en-GB">
                  <a:solidFill>
                    <a:srgbClr val="F2F2F2"/>
                  </a:solidFill>
                  <a:latin typeface="Arial"/>
                </a:rPr>
                <a:t>Small loads</a:t>
              </a:r>
            </a:p>
          </p:txBody>
        </p:sp>
        <p:cxnSp>
          <p:nvCxnSpPr>
            <p:cNvPr id="17" name="Connector 16"/>
            <p:cNvCxnSpPr/>
            <p:nvPr/>
          </p:nvCxnSpPr>
          <p:spPr>
            <a:xfrm>
              <a:off x="3154680" y="3543300"/>
              <a:ext cx="996696" cy="0"/>
            </a:xfrm>
            <a:prstGeom prst="line">
              <a:avLst/>
            </a:prstGeom>
            <a:ln w="28575">
              <a:solidFill>
                <a:srgbClr val="F28C28"/>
              </a:solidFill>
              <a:tailEnd type="triangle" w="lg" len="lg"/>
            </a:ln>
          </p:spPr>
        </p:cxnSp>
        <p:sp>
          <p:nvSpPr>
            <p:cNvPr id="18" name="Rounded Rectangle 17"/>
            <p:cNvSpPr/>
            <p:nvPr/>
          </p:nvSpPr>
          <p:spPr>
            <a:xfrm>
              <a:off x="4206240" y="3246120"/>
              <a:ext cx="4937760" cy="594360"/>
            </a:xfrm>
            <a:prstGeom prst="roundRect">
              <a:avLst>
                <a:gd name="adj" fmla="val 12307"/>
              </a:avLst>
            </a:prstGeom>
            <a:solidFill>
              <a:srgbClr val="2B2F36"/>
            </a:solidFill>
            <a:ln w="25400">
              <a:solidFill>
                <a:srgbClr val="F28C28"/>
              </a:solidFill>
            </a:ln>
          </p:spPr>
          <p:txBody>
            <a:bodyPr rtlCol="0" anchor="ctr" wrap="square" lIns="73152" tIns="36576" rIns="73152" bIns="36576">
              <a:noAutofit/>
            </a:bodyPr>
            <a:lstStyle/>
            <a:p>
              <a:pPr algn="ctr"/>
              <a:r>
                <a:rPr sz="1800" b="0" i="0" lang="en-GB">
                  <a:solidFill>
                    <a:srgbClr val="F2F2F2"/>
                  </a:solidFill>
                  <a:latin typeface="Arial"/>
                </a:rPr>
                <a:t>A suitable engine and train length</a:t>
              </a:r>
            </a:p>
          </p:txBody>
        </p:sp>
        <p:sp>
          <p:nvSpPr>
            <p:cNvPr id="19" name="Rounded Rectangle 18"/>
            <p:cNvSpPr/>
            <p:nvPr/>
          </p:nvSpPr>
          <p:spPr>
            <a:xfrm>
              <a:off x="548640" y="4023360"/>
              <a:ext cx="2560320" cy="594360"/>
            </a:xfrm>
            <a:prstGeom prst="roundRect">
              <a:avLst>
                <a:gd name="adj" fmla="val 12307"/>
              </a:avLst>
            </a:prstGeom>
            <a:solidFill>
              <a:srgbClr val="4A515B"/>
            </a:solidFill>
            <a:ln>
              <a:noFill/>
            </a:ln>
          </p:spPr>
          <p:txBody>
            <a:bodyPr rtlCol="0" anchor="ctr" wrap="square" lIns="73152" tIns="36576" rIns="73152" bIns="36576">
              <a:noAutofit/>
            </a:bodyPr>
            <a:lstStyle/>
            <a:p>
              <a:pPr algn="ctr"/>
              <a:r>
                <a:rPr sz="2000" b="1" i="0" lang="en-GB">
                  <a:solidFill>
                    <a:srgbClr val="F2F2F2"/>
                  </a:solidFill>
                  <a:latin typeface="Arial"/>
                </a:rPr>
                <a:t>Busy line</a:t>
              </a:r>
            </a:p>
          </p:txBody>
        </p:sp>
        <p:cxnSp>
          <p:nvCxnSpPr>
            <p:cNvPr id="20" name="Connector 19"/>
            <p:cNvCxnSpPr/>
            <p:nvPr/>
          </p:nvCxnSpPr>
          <p:spPr>
            <a:xfrm>
              <a:off x="3154680" y="4320540"/>
              <a:ext cx="996696" cy="0"/>
            </a:xfrm>
            <a:prstGeom prst="line">
              <a:avLst/>
            </a:prstGeom>
            <a:ln w="28575">
              <a:solidFill>
                <a:srgbClr val="F28C28"/>
              </a:solidFill>
              <a:tailEnd type="triangle" w="lg" len="lg"/>
            </a:ln>
          </p:spPr>
        </p:cxnSp>
        <p:sp>
          <p:nvSpPr>
            <p:cNvPr id="21" name="Rounded Rectangle 20"/>
            <p:cNvSpPr/>
            <p:nvPr/>
          </p:nvSpPr>
          <p:spPr>
            <a:xfrm>
              <a:off x="4206240" y="4023360"/>
              <a:ext cx="3840480" cy="594360"/>
            </a:xfrm>
            <a:prstGeom prst="roundRect">
              <a:avLst>
                <a:gd name="adj" fmla="val 12307"/>
              </a:avLst>
            </a:prstGeom>
            <a:solidFill>
              <a:srgbClr val="2B2F36"/>
            </a:solidFill>
            <a:ln w="25400">
              <a:solidFill>
                <a:srgbClr val="F28C28"/>
              </a:solidFill>
            </a:ln>
          </p:spPr>
          <p:txBody>
            <a:bodyPr rtlCol="0" anchor="ctr" wrap="square" lIns="73152" tIns="36576" rIns="73152" bIns="36576">
              <a:noAutofit/>
            </a:bodyPr>
            <a:lstStyle/>
            <a:p>
              <a:pPr algn="ctr"/>
              <a:r>
                <a:rPr sz="1800" b="0" i="0" lang="en-GB">
                  <a:solidFill>
                    <a:srgbClr val="F2F2F2"/>
                  </a:solidFill>
                  <a:latin typeface="Arial"/>
                </a:rPr>
                <a:t>More signals and boxes</a:t>
              </a:r>
            </a:p>
          </p:txBody>
        </p:sp>
        <p:sp>
          <p:nvSpPr>
            <p:cNvPr id="22" name="Rounded Rectangle 21"/>
            <p:cNvSpPr/>
            <p:nvPr/>
          </p:nvSpPr>
          <p:spPr>
            <a:xfrm>
              <a:off x="548640" y="4800600"/>
              <a:ext cx="2560320" cy="594360"/>
            </a:xfrm>
            <a:prstGeom prst="roundRect">
              <a:avLst>
                <a:gd name="adj" fmla="val 12307"/>
              </a:avLst>
            </a:prstGeom>
            <a:solidFill>
              <a:srgbClr val="4A515B"/>
            </a:solidFill>
            <a:ln>
              <a:noFill/>
            </a:ln>
          </p:spPr>
          <p:txBody>
            <a:bodyPr rtlCol="0" anchor="ctr" wrap="square" lIns="73152" tIns="36576" rIns="73152" bIns="36576">
              <a:noAutofit/>
            </a:bodyPr>
            <a:lstStyle/>
            <a:p>
              <a:pPr algn="ctr"/>
              <a:r>
                <a:rPr sz="2000" b="1" i="0" lang="en-GB">
                  <a:solidFill>
                    <a:srgbClr val="F2F2F2"/>
                  </a:solidFill>
                  <a:latin typeface="Arial"/>
                </a:rPr>
                <a:t>Slow overall</a:t>
              </a:r>
            </a:p>
          </p:txBody>
        </p:sp>
        <p:cxnSp>
          <p:nvCxnSpPr>
            <p:cNvPr id="23" name="Connector 22"/>
            <p:cNvCxnSpPr/>
            <p:nvPr/>
          </p:nvCxnSpPr>
          <p:spPr>
            <a:xfrm>
              <a:off x="3154680" y="5097780"/>
              <a:ext cx="996696" cy="0"/>
            </a:xfrm>
            <a:prstGeom prst="line">
              <a:avLst/>
            </a:prstGeom>
            <a:ln w="28575">
              <a:solidFill>
                <a:srgbClr val="F28C28"/>
              </a:solidFill>
              <a:tailEnd type="triangle" w="lg" len="lg"/>
            </a:ln>
          </p:spPr>
        </p:cxnSp>
        <p:sp>
          <p:nvSpPr>
            <p:cNvPr id="24" name="Rounded Rectangle 23"/>
            <p:cNvSpPr/>
            <p:nvPr/>
          </p:nvSpPr>
          <p:spPr>
            <a:xfrm>
              <a:off x="4206240" y="4800600"/>
              <a:ext cx="3840480" cy="594360"/>
            </a:xfrm>
            <a:prstGeom prst="roundRect">
              <a:avLst>
                <a:gd name="adj" fmla="val 12307"/>
              </a:avLst>
            </a:prstGeom>
            <a:solidFill>
              <a:srgbClr val="2B2F36"/>
            </a:solidFill>
            <a:ln w="25400">
              <a:solidFill>
                <a:srgbClr val="F28C28"/>
              </a:solidFill>
            </a:ln>
          </p:spPr>
          <p:txBody>
            <a:bodyPr rtlCol="0" anchor="ctr" wrap="square" lIns="73152" tIns="36576" rIns="73152" bIns="36576">
              <a:noAutofit/>
            </a:bodyPr>
            <a:lstStyle/>
            <a:p>
              <a:pPr algn="ctr"/>
              <a:r>
                <a:rPr sz="1800" b="0" i="0" lang="en-GB">
                  <a:solidFill>
                    <a:srgbClr val="F2F2F2"/>
                  </a:solidFill>
                  <a:latin typeface="Arial"/>
                </a:rPr>
                <a:t>Convert to monorail later</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Short range, small loads, a busy line, slow trips: each has a fix.</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Why steam stays behind electric</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Steam against electric" descr="Qualitative bars, not measured: steam scores high on cheap to start; electric scores high on speed, throughput, traffic density and convenience."/>
          <p:cNvGrpSpPr/>
          <p:nvPr/>
        </p:nvGrpSpPr>
        <p:grpSpPr>
          <a:xfrm>
            <a:off x="548640" y="1463040"/>
            <a:ext cx="7680960" cy="4242816"/>
            <a:chOff x="548640" y="1463040"/>
            <a:chExt cx="7680960" cy="4242816"/>
          </a:xfrm>
        </p:grpSpPr>
        <p:sp>
          <p:nvSpPr>
            <p:cNvPr id="9" name="TextBox 8"/>
            <p:cNvSpPr txBox="1"/>
            <p:nvPr/>
          </p:nvSpPr>
          <p:spPr>
            <a:xfrm>
              <a:off x="548640" y="1463040"/>
              <a:ext cx="2148840" cy="548640"/>
            </a:xfrm>
            <a:prstGeom prst="rect">
              <a:avLst/>
            </a:prstGeom>
            <a:noFill/>
          </p:spPr>
          <p:txBody>
            <a:bodyPr wrap="square" lIns="0" tIns="0" rIns="0" bIns="0" anchor="ctr">
              <a:noAutofit/>
            </a:bodyPr>
            <a:lstStyle/>
            <a:p>
              <a:pPr algn="l"/>
              <a:r>
                <a:rPr sz="1800" b="0" i="0" lang="en-GB">
                  <a:solidFill>
                    <a:srgbClr val="F2F2F2"/>
                  </a:solidFill>
                  <a:latin typeface="Arial"/>
                </a:rPr>
                <a:t>Cheap to start</a:t>
              </a:r>
            </a:p>
          </p:txBody>
        </p:sp>
        <p:sp>
          <p:nvSpPr>
            <p:cNvPr id="10" name="Rounded Rectangle 9"/>
            <p:cNvSpPr/>
            <p:nvPr/>
          </p:nvSpPr>
          <p:spPr>
            <a:xfrm>
              <a:off x="2743200" y="1463040"/>
              <a:ext cx="5486400" cy="237744"/>
            </a:xfrm>
            <a:prstGeom prst="roundRect">
              <a:avLst>
                <a:gd name="adj" fmla="val 19230"/>
              </a:avLst>
            </a:prstGeom>
            <a:solidFill>
              <a:srgbClr val="343A43"/>
            </a:solidFill>
            <a:ln>
              <a:noFill/>
            </a:ln>
          </p:spPr>
          <p:txBody>
            <a:bodyPr rtlCol="0" anchor="ctr"/>
            <a:lstStyle/>
            <a:p>
              <a:pPr algn="ctr"/>
            </a:p>
          </p:txBody>
        </p:sp>
        <p:sp>
          <p:nvSpPr>
            <p:cNvPr id="11" name="Rounded Rectangle 10"/>
            <p:cNvSpPr/>
            <p:nvPr/>
          </p:nvSpPr>
          <p:spPr>
            <a:xfrm>
              <a:off x="2743200" y="1463040"/>
              <a:ext cx="4663440" cy="237744"/>
            </a:xfrm>
            <a:prstGeom prst="roundRect">
              <a:avLst>
                <a:gd name="adj" fmla="val 19230"/>
              </a:avLst>
            </a:prstGeom>
            <a:solidFill>
              <a:srgbClr val="F28C28"/>
            </a:solidFill>
            <a:ln>
              <a:noFill/>
            </a:ln>
          </p:spPr>
          <p:txBody>
            <a:bodyPr rtlCol="0" anchor="ctr"/>
            <a:lstStyle/>
            <a:p>
              <a:pPr algn="ctr"/>
            </a:p>
          </p:txBody>
        </p:sp>
        <p:sp>
          <p:nvSpPr>
            <p:cNvPr id="12" name="Rounded Rectangle 11"/>
            <p:cNvSpPr/>
            <p:nvPr/>
          </p:nvSpPr>
          <p:spPr>
            <a:xfrm>
              <a:off x="2743200" y="1764792"/>
              <a:ext cx="5486400" cy="237744"/>
            </a:xfrm>
            <a:prstGeom prst="roundRect">
              <a:avLst>
                <a:gd name="adj" fmla="val 19230"/>
              </a:avLst>
            </a:prstGeom>
            <a:solidFill>
              <a:srgbClr val="343A43"/>
            </a:solidFill>
            <a:ln>
              <a:noFill/>
            </a:ln>
          </p:spPr>
          <p:txBody>
            <a:bodyPr rtlCol="0" anchor="ctr"/>
            <a:lstStyle/>
            <a:p>
              <a:pPr algn="ctr"/>
            </a:p>
          </p:txBody>
        </p:sp>
        <p:sp>
          <p:nvSpPr>
            <p:cNvPr id="13" name="Rounded Rectangle 12"/>
            <p:cNvSpPr/>
            <p:nvPr/>
          </p:nvSpPr>
          <p:spPr>
            <a:xfrm>
              <a:off x="2743200" y="1764792"/>
              <a:ext cx="2468880" cy="237744"/>
            </a:xfrm>
            <a:prstGeom prst="roundRect">
              <a:avLst>
                <a:gd name="adj" fmla="val 19230"/>
              </a:avLst>
            </a:prstGeom>
            <a:solidFill>
              <a:srgbClr val="6CA0DC"/>
            </a:solidFill>
            <a:ln>
              <a:noFill/>
            </a:ln>
          </p:spPr>
          <p:txBody>
            <a:bodyPr rtlCol="0" anchor="ctr"/>
            <a:lstStyle/>
            <a:p>
              <a:pPr algn="ctr"/>
            </a:p>
          </p:txBody>
        </p:sp>
        <p:sp>
          <p:nvSpPr>
            <p:cNvPr id="14" name="TextBox 13"/>
            <p:cNvSpPr txBox="1"/>
            <p:nvPr/>
          </p:nvSpPr>
          <p:spPr>
            <a:xfrm>
              <a:off x="548640" y="2249424"/>
              <a:ext cx="2148840" cy="548640"/>
            </a:xfrm>
            <a:prstGeom prst="rect">
              <a:avLst/>
            </a:prstGeom>
            <a:noFill/>
          </p:spPr>
          <p:txBody>
            <a:bodyPr wrap="square" lIns="0" tIns="0" rIns="0" bIns="0" anchor="ctr">
              <a:noAutofit/>
            </a:bodyPr>
            <a:lstStyle/>
            <a:p>
              <a:pPr algn="l"/>
              <a:r>
                <a:rPr sz="1800" b="0" i="0" lang="en-GB">
                  <a:solidFill>
                    <a:srgbClr val="F2F2F2"/>
                  </a:solidFill>
                  <a:latin typeface="Arial"/>
                </a:rPr>
                <a:t>Speed</a:t>
              </a:r>
            </a:p>
          </p:txBody>
        </p:sp>
        <p:sp>
          <p:nvSpPr>
            <p:cNvPr id="15" name="Rounded Rectangle 14"/>
            <p:cNvSpPr/>
            <p:nvPr/>
          </p:nvSpPr>
          <p:spPr>
            <a:xfrm>
              <a:off x="2743200" y="2249424"/>
              <a:ext cx="5486400" cy="237744"/>
            </a:xfrm>
            <a:prstGeom prst="roundRect">
              <a:avLst>
                <a:gd name="adj" fmla="val 19230"/>
              </a:avLst>
            </a:prstGeom>
            <a:solidFill>
              <a:srgbClr val="343A43"/>
            </a:solidFill>
            <a:ln>
              <a:noFill/>
            </a:ln>
          </p:spPr>
          <p:txBody>
            <a:bodyPr rtlCol="0" anchor="ctr"/>
            <a:lstStyle/>
            <a:p>
              <a:pPr algn="ctr"/>
            </a:p>
          </p:txBody>
        </p:sp>
        <p:sp>
          <p:nvSpPr>
            <p:cNvPr id="16" name="Rounded Rectangle 15"/>
            <p:cNvSpPr/>
            <p:nvPr/>
          </p:nvSpPr>
          <p:spPr>
            <a:xfrm>
              <a:off x="2743200" y="2249424"/>
              <a:ext cx="2194560" cy="237744"/>
            </a:xfrm>
            <a:prstGeom prst="roundRect">
              <a:avLst>
                <a:gd name="adj" fmla="val 19230"/>
              </a:avLst>
            </a:prstGeom>
            <a:solidFill>
              <a:srgbClr val="F28C28"/>
            </a:solidFill>
            <a:ln>
              <a:noFill/>
            </a:ln>
          </p:spPr>
          <p:txBody>
            <a:bodyPr rtlCol="0" anchor="ctr"/>
            <a:lstStyle/>
            <a:p>
              <a:pPr algn="ctr"/>
            </a:p>
          </p:txBody>
        </p:sp>
        <p:sp>
          <p:nvSpPr>
            <p:cNvPr id="17" name="Rounded Rectangle 16"/>
            <p:cNvSpPr/>
            <p:nvPr/>
          </p:nvSpPr>
          <p:spPr>
            <a:xfrm>
              <a:off x="2743200" y="2551176"/>
              <a:ext cx="5486400" cy="237744"/>
            </a:xfrm>
            <a:prstGeom prst="roundRect">
              <a:avLst>
                <a:gd name="adj" fmla="val 19230"/>
              </a:avLst>
            </a:prstGeom>
            <a:solidFill>
              <a:srgbClr val="343A43"/>
            </a:solidFill>
            <a:ln>
              <a:noFill/>
            </a:ln>
          </p:spPr>
          <p:txBody>
            <a:bodyPr rtlCol="0" anchor="ctr"/>
            <a:lstStyle/>
            <a:p>
              <a:pPr algn="ctr"/>
            </a:p>
          </p:txBody>
        </p:sp>
        <p:sp>
          <p:nvSpPr>
            <p:cNvPr id="18" name="Rounded Rectangle 17"/>
            <p:cNvSpPr/>
            <p:nvPr/>
          </p:nvSpPr>
          <p:spPr>
            <a:xfrm>
              <a:off x="2743200" y="2551176"/>
              <a:ext cx="4937760" cy="237744"/>
            </a:xfrm>
            <a:prstGeom prst="roundRect">
              <a:avLst>
                <a:gd name="adj" fmla="val 19230"/>
              </a:avLst>
            </a:prstGeom>
            <a:solidFill>
              <a:srgbClr val="6CA0DC"/>
            </a:solidFill>
            <a:ln>
              <a:noFill/>
            </a:ln>
          </p:spPr>
          <p:txBody>
            <a:bodyPr rtlCol="0" anchor="ctr"/>
            <a:lstStyle/>
            <a:p>
              <a:pPr algn="ctr"/>
            </a:p>
          </p:txBody>
        </p:sp>
        <p:sp>
          <p:nvSpPr>
            <p:cNvPr id="19" name="TextBox 18"/>
            <p:cNvSpPr txBox="1"/>
            <p:nvPr/>
          </p:nvSpPr>
          <p:spPr>
            <a:xfrm>
              <a:off x="548640" y="3035808"/>
              <a:ext cx="2148840" cy="548640"/>
            </a:xfrm>
            <a:prstGeom prst="rect">
              <a:avLst/>
            </a:prstGeom>
            <a:noFill/>
          </p:spPr>
          <p:txBody>
            <a:bodyPr wrap="square" lIns="0" tIns="0" rIns="0" bIns="0" anchor="ctr">
              <a:noAutofit/>
            </a:bodyPr>
            <a:lstStyle/>
            <a:p>
              <a:pPr algn="l"/>
              <a:r>
                <a:rPr sz="1800" b="0" i="0" lang="en-GB">
                  <a:solidFill>
                    <a:srgbClr val="F2F2F2"/>
                  </a:solidFill>
                  <a:latin typeface="Arial"/>
                </a:rPr>
                <a:t>Throughput</a:t>
              </a:r>
            </a:p>
          </p:txBody>
        </p:sp>
        <p:sp>
          <p:nvSpPr>
            <p:cNvPr id="20" name="Rounded Rectangle 19"/>
            <p:cNvSpPr/>
            <p:nvPr/>
          </p:nvSpPr>
          <p:spPr>
            <a:xfrm>
              <a:off x="2743200" y="3035808"/>
              <a:ext cx="5486400" cy="237744"/>
            </a:xfrm>
            <a:prstGeom prst="roundRect">
              <a:avLst>
                <a:gd name="adj" fmla="val 19230"/>
              </a:avLst>
            </a:prstGeom>
            <a:solidFill>
              <a:srgbClr val="343A43"/>
            </a:solidFill>
            <a:ln>
              <a:noFill/>
            </a:ln>
          </p:spPr>
          <p:txBody>
            <a:bodyPr rtlCol="0" anchor="ctr"/>
            <a:lstStyle/>
            <a:p>
              <a:pPr algn="ctr"/>
            </a:p>
          </p:txBody>
        </p:sp>
        <p:sp>
          <p:nvSpPr>
            <p:cNvPr id="21" name="Rounded Rectangle 20"/>
            <p:cNvSpPr/>
            <p:nvPr/>
          </p:nvSpPr>
          <p:spPr>
            <a:xfrm>
              <a:off x="2743200" y="3035808"/>
              <a:ext cx="1920240" cy="237744"/>
            </a:xfrm>
            <a:prstGeom prst="roundRect">
              <a:avLst>
                <a:gd name="adj" fmla="val 19230"/>
              </a:avLst>
            </a:prstGeom>
            <a:solidFill>
              <a:srgbClr val="F28C28"/>
            </a:solidFill>
            <a:ln>
              <a:noFill/>
            </a:ln>
          </p:spPr>
          <p:txBody>
            <a:bodyPr rtlCol="0" anchor="ctr"/>
            <a:lstStyle/>
            <a:p>
              <a:pPr algn="ctr"/>
            </a:p>
          </p:txBody>
        </p:sp>
        <p:sp>
          <p:nvSpPr>
            <p:cNvPr id="22" name="Rounded Rectangle 21"/>
            <p:cNvSpPr/>
            <p:nvPr/>
          </p:nvSpPr>
          <p:spPr>
            <a:xfrm>
              <a:off x="2743200" y="3337560"/>
              <a:ext cx="5486400" cy="237744"/>
            </a:xfrm>
            <a:prstGeom prst="roundRect">
              <a:avLst>
                <a:gd name="adj" fmla="val 19230"/>
              </a:avLst>
            </a:prstGeom>
            <a:solidFill>
              <a:srgbClr val="343A43"/>
            </a:solidFill>
            <a:ln>
              <a:noFill/>
            </a:ln>
          </p:spPr>
          <p:txBody>
            <a:bodyPr rtlCol="0" anchor="ctr"/>
            <a:lstStyle/>
            <a:p>
              <a:pPr algn="ctr"/>
            </a:p>
          </p:txBody>
        </p:sp>
        <p:sp>
          <p:nvSpPr>
            <p:cNvPr id="23" name="Rounded Rectangle 22"/>
            <p:cNvSpPr/>
            <p:nvPr/>
          </p:nvSpPr>
          <p:spPr>
            <a:xfrm>
              <a:off x="2743200" y="3337560"/>
              <a:ext cx="4937760" cy="237744"/>
            </a:xfrm>
            <a:prstGeom prst="roundRect">
              <a:avLst>
                <a:gd name="adj" fmla="val 19230"/>
              </a:avLst>
            </a:prstGeom>
            <a:solidFill>
              <a:srgbClr val="6CA0DC"/>
            </a:solidFill>
            <a:ln>
              <a:noFill/>
            </a:ln>
          </p:spPr>
          <p:txBody>
            <a:bodyPr rtlCol="0" anchor="ctr"/>
            <a:lstStyle/>
            <a:p>
              <a:pPr algn="ctr"/>
            </a:p>
          </p:txBody>
        </p:sp>
        <p:sp>
          <p:nvSpPr>
            <p:cNvPr id="24" name="TextBox 23"/>
            <p:cNvSpPr txBox="1"/>
            <p:nvPr/>
          </p:nvSpPr>
          <p:spPr>
            <a:xfrm>
              <a:off x="548640" y="3822192"/>
              <a:ext cx="2148840" cy="548640"/>
            </a:xfrm>
            <a:prstGeom prst="rect">
              <a:avLst/>
            </a:prstGeom>
            <a:noFill/>
          </p:spPr>
          <p:txBody>
            <a:bodyPr wrap="square" lIns="0" tIns="0" rIns="0" bIns="0" anchor="ctr">
              <a:noAutofit/>
            </a:bodyPr>
            <a:lstStyle/>
            <a:p>
              <a:pPr algn="l"/>
              <a:r>
                <a:rPr sz="1800" b="0" i="0" lang="en-GB">
                  <a:solidFill>
                    <a:srgbClr val="F2F2F2"/>
                  </a:solidFill>
                  <a:latin typeface="Arial"/>
                </a:rPr>
                <a:t>Traffic density</a:t>
              </a:r>
            </a:p>
          </p:txBody>
        </p:sp>
        <p:sp>
          <p:nvSpPr>
            <p:cNvPr id="25" name="Rounded Rectangle 24"/>
            <p:cNvSpPr/>
            <p:nvPr/>
          </p:nvSpPr>
          <p:spPr>
            <a:xfrm>
              <a:off x="2743200" y="3822192"/>
              <a:ext cx="5486400" cy="237744"/>
            </a:xfrm>
            <a:prstGeom prst="roundRect">
              <a:avLst>
                <a:gd name="adj" fmla="val 19230"/>
              </a:avLst>
            </a:prstGeom>
            <a:solidFill>
              <a:srgbClr val="343A43"/>
            </a:solidFill>
            <a:ln>
              <a:noFill/>
            </a:ln>
          </p:spPr>
          <p:txBody>
            <a:bodyPr rtlCol="0" anchor="ctr"/>
            <a:lstStyle/>
            <a:p>
              <a:pPr algn="ctr"/>
            </a:p>
          </p:txBody>
        </p:sp>
        <p:sp>
          <p:nvSpPr>
            <p:cNvPr id="26" name="Rounded Rectangle 25"/>
            <p:cNvSpPr/>
            <p:nvPr/>
          </p:nvSpPr>
          <p:spPr>
            <a:xfrm>
              <a:off x="2743200" y="3822192"/>
              <a:ext cx="1920240" cy="237744"/>
            </a:xfrm>
            <a:prstGeom prst="roundRect">
              <a:avLst>
                <a:gd name="adj" fmla="val 19230"/>
              </a:avLst>
            </a:prstGeom>
            <a:solidFill>
              <a:srgbClr val="F28C28"/>
            </a:solidFill>
            <a:ln>
              <a:noFill/>
            </a:ln>
          </p:spPr>
          <p:txBody>
            <a:bodyPr rtlCol="0" anchor="ctr"/>
            <a:lstStyle/>
            <a:p>
              <a:pPr algn="ctr"/>
            </a:p>
          </p:txBody>
        </p:sp>
        <p:sp>
          <p:nvSpPr>
            <p:cNvPr id="27" name="Rounded Rectangle 26"/>
            <p:cNvSpPr/>
            <p:nvPr/>
          </p:nvSpPr>
          <p:spPr>
            <a:xfrm>
              <a:off x="2743200" y="4123944"/>
              <a:ext cx="5486400" cy="237744"/>
            </a:xfrm>
            <a:prstGeom prst="roundRect">
              <a:avLst>
                <a:gd name="adj" fmla="val 19230"/>
              </a:avLst>
            </a:prstGeom>
            <a:solidFill>
              <a:srgbClr val="343A43"/>
            </a:solidFill>
            <a:ln>
              <a:noFill/>
            </a:ln>
          </p:spPr>
          <p:txBody>
            <a:bodyPr rtlCol="0" anchor="ctr"/>
            <a:lstStyle/>
            <a:p>
              <a:pPr algn="ctr"/>
            </a:p>
          </p:txBody>
        </p:sp>
        <p:sp>
          <p:nvSpPr>
            <p:cNvPr id="28" name="Rounded Rectangle 27"/>
            <p:cNvSpPr/>
            <p:nvPr/>
          </p:nvSpPr>
          <p:spPr>
            <a:xfrm>
              <a:off x="2743200" y="4123944"/>
              <a:ext cx="4937760" cy="237744"/>
            </a:xfrm>
            <a:prstGeom prst="roundRect">
              <a:avLst>
                <a:gd name="adj" fmla="val 19230"/>
              </a:avLst>
            </a:prstGeom>
            <a:solidFill>
              <a:srgbClr val="6CA0DC"/>
            </a:solidFill>
            <a:ln>
              <a:noFill/>
            </a:ln>
          </p:spPr>
          <p:txBody>
            <a:bodyPr rtlCol="0" anchor="ctr"/>
            <a:lstStyle/>
            <a:p>
              <a:pPr algn="ctr"/>
            </a:p>
          </p:txBody>
        </p:sp>
        <p:sp>
          <p:nvSpPr>
            <p:cNvPr id="29" name="TextBox 28"/>
            <p:cNvSpPr txBox="1"/>
            <p:nvPr/>
          </p:nvSpPr>
          <p:spPr>
            <a:xfrm>
              <a:off x="548640" y="4608576"/>
              <a:ext cx="2148840" cy="548640"/>
            </a:xfrm>
            <a:prstGeom prst="rect">
              <a:avLst/>
            </a:prstGeom>
            <a:noFill/>
          </p:spPr>
          <p:txBody>
            <a:bodyPr wrap="square" lIns="0" tIns="0" rIns="0" bIns="0" anchor="ctr">
              <a:noAutofit/>
            </a:bodyPr>
            <a:lstStyle/>
            <a:p>
              <a:pPr algn="l"/>
              <a:r>
                <a:rPr sz="1800" b="0" i="0" lang="en-GB">
                  <a:solidFill>
                    <a:srgbClr val="F2F2F2"/>
                  </a:solidFill>
                  <a:latin typeface="Arial"/>
                </a:rPr>
                <a:t>Convenience</a:t>
              </a:r>
            </a:p>
          </p:txBody>
        </p:sp>
        <p:sp>
          <p:nvSpPr>
            <p:cNvPr id="30" name="Rounded Rectangle 29"/>
            <p:cNvSpPr/>
            <p:nvPr/>
          </p:nvSpPr>
          <p:spPr>
            <a:xfrm>
              <a:off x="2743200" y="4608576"/>
              <a:ext cx="5486400" cy="237744"/>
            </a:xfrm>
            <a:prstGeom prst="roundRect">
              <a:avLst>
                <a:gd name="adj" fmla="val 19230"/>
              </a:avLst>
            </a:prstGeom>
            <a:solidFill>
              <a:srgbClr val="343A43"/>
            </a:solidFill>
            <a:ln>
              <a:noFill/>
            </a:ln>
          </p:spPr>
          <p:txBody>
            <a:bodyPr rtlCol="0" anchor="ctr"/>
            <a:lstStyle/>
            <a:p>
              <a:pPr algn="ctr"/>
            </a:p>
          </p:txBody>
        </p:sp>
        <p:sp>
          <p:nvSpPr>
            <p:cNvPr id="31" name="Rounded Rectangle 30"/>
            <p:cNvSpPr/>
            <p:nvPr/>
          </p:nvSpPr>
          <p:spPr>
            <a:xfrm>
              <a:off x="2743200" y="4608576"/>
              <a:ext cx="2468880" cy="237744"/>
            </a:xfrm>
            <a:prstGeom prst="roundRect">
              <a:avLst>
                <a:gd name="adj" fmla="val 19230"/>
              </a:avLst>
            </a:prstGeom>
            <a:solidFill>
              <a:srgbClr val="F28C28"/>
            </a:solidFill>
            <a:ln>
              <a:noFill/>
            </a:ln>
          </p:spPr>
          <p:txBody>
            <a:bodyPr rtlCol="0" anchor="ctr"/>
            <a:lstStyle/>
            <a:p>
              <a:pPr algn="ctr"/>
            </a:p>
          </p:txBody>
        </p:sp>
        <p:sp>
          <p:nvSpPr>
            <p:cNvPr id="32" name="Rounded Rectangle 31"/>
            <p:cNvSpPr/>
            <p:nvPr/>
          </p:nvSpPr>
          <p:spPr>
            <a:xfrm>
              <a:off x="2743200" y="4910328"/>
              <a:ext cx="5486400" cy="237744"/>
            </a:xfrm>
            <a:prstGeom prst="roundRect">
              <a:avLst>
                <a:gd name="adj" fmla="val 19230"/>
              </a:avLst>
            </a:prstGeom>
            <a:solidFill>
              <a:srgbClr val="343A43"/>
            </a:solidFill>
            <a:ln>
              <a:noFill/>
            </a:ln>
          </p:spPr>
          <p:txBody>
            <a:bodyPr rtlCol="0" anchor="ctr"/>
            <a:lstStyle/>
            <a:p>
              <a:pPr algn="ctr"/>
            </a:p>
          </p:txBody>
        </p:sp>
        <p:sp>
          <p:nvSpPr>
            <p:cNvPr id="33" name="Rounded Rectangle 32"/>
            <p:cNvSpPr/>
            <p:nvPr/>
          </p:nvSpPr>
          <p:spPr>
            <a:xfrm>
              <a:off x="2743200" y="4910328"/>
              <a:ext cx="4937760" cy="237744"/>
            </a:xfrm>
            <a:prstGeom prst="roundRect">
              <a:avLst>
                <a:gd name="adj" fmla="val 19230"/>
              </a:avLst>
            </a:prstGeom>
            <a:solidFill>
              <a:srgbClr val="6CA0DC"/>
            </a:solidFill>
            <a:ln>
              <a:noFill/>
            </a:ln>
          </p:spPr>
          <p:txBody>
            <a:bodyPr rtlCol="0" anchor="ctr"/>
            <a:lstStyle/>
            <a:p>
              <a:pPr algn="ctr"/>
            </a:p>
          </p:txBody>
        </p:sp>
        <p:sp>
          <p:nvSpPr>
            <p:cNvPr id="34" name="TextBox 33"/>
            <p:cNvSpPr txBox="1"/>
            <p:nvPr/>
          </p:nvSpPr>
          <p:spPr>
            <a:xfrm>
              <a:off x="2743200" y="5413248"/>
              <a:ext cx="5486400" cy="292608"/>
            </a:xfrm>
            <a:prstGeom prst="rect">
              <a:avLst/>
            </a:prstGeom>
            <a:noFill/>
          </p:spPr>
          <p:txBody>
            <a:bodyPr wrap="square" lIns="0" tIns="0" rIns="0" bIns="0" anchor="t">
              <a:noAutofit/>
            </a:bodyPr>
            <a:lstStyle/>
            <a:p>
              <a:pPr algn="l"/>
              <a:r>
                <a:rPr sz="1400" b="0" i="0" lang="en-GB">
                  <a:solidFill>
                    <a:srgbClr val="A9B0B8"/>
                  </a:solidFill>
                  <a:latin typeface="Arial"/>
                </a:rPr>
                <a:t>Shape only. Not measured.</a:t>
              </a:r>
            </a:p>
          </p:txBody>
        </p:sp>
      </p:grpSp>
      <p:grpSp>
        <p:nvGrpSpPr>
          <p:cNvPr id="35" name="Legend" descr="Legend: orange is steam, blue is electric."/>
          <p:cNvGrpSpPr/>
          <p:nvPr/>
        </p:nvGrpSpPr>
        <p:grpSpPr>
          <a:xfrm>
            <a:off x="8778240" y="1444752"/>
            <a:ext cx="2743200" cy="822960"/>
            <a:chOff x="8778240" y="1444752"/>
            <a:chExt cx="2743200" cy="822960"/>
          </a:xfrm>
        </p:grpSpPr>
        <p:sp>
          <p:nvSpPr>
            <p:cNvPr id="36" name="Rounded Rectangle 35"/>
            <p:cNvSpPr/>
            <p:nvPr/>
          </p:nvSpPr>
          <p:spPr>
            <a:xfrm>
              <a:off x="8778240" y="1508760"/>
              <a:ext cx="365760" cy="237744"/>
            </a:xfrm>
            <a:prstGeom prst="roundRect">
              <a:avLst>
                <a:gd name="adj" fmla="val 19230"/>
              </a:avLst>
            </a:prstGeom>
            <a:solidFill>
              <a:srgbClr val="F28C28"/>
            </a:solidFill>
            <a:ln>
              <a:noFill/>
            </a:ln>
          </p:spPr>
          <p:txBody>
            <a:bodyPr rtlCol="0" anchor="ctr"/>
            <a:lstStyle/>
            <a:p>
              <a:pPr algn="ctr"/>
            </a:p>
          </p:txBody>
        </p:sp>
        <p:sp>
          <p:nvSpPr>
            <p:cNvPr id="37" name="TextBox 36"/>
            <p:cNvSpPr txBox="1"/>
            <p:nvPr/>
          </p:nvSpPr>
          <p:spPr>
            <a:xfrm>
              <a:off x="9235440" y="1444752"/>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Steam</a:t>
              </a:r>
            </a:p>
          </p:txBody>
        </p:sp>
        <p:sp>
          <p:nvSpPr>
            <p:cNvPr id="38" name="Rounded Rectangle 37"/>
            <p:cNvSpPr/>
            <p:nvPr/>
          </p:nvSpPr>
          <p:spPr>
            <a:xfrm>
              <a:off x="8778240" y="1965960"/>
              <a:ext cx="365760" cy="237744"/>
            </a:xfrm>
            <a:prstGeom prst="roundRect">
              <a:avLst>
                <a:gd name="adj" fmla="val 19230"/>
              </a:avLst>
            </a:prstGeom>
            <a:solidFill>
              <a:srgbClr val="6CA0DC"/>
            </a:solidFill>
            <a:ln>
              <a:noFill/>
            </a:ln>
          </p:spPr>
          <p:txBody>
            <a:bodyPr rtlCol="0" anchor="ctr"/>
            <a:lstStyle/>
            <a:p>
              <a:pPr algn="ctr"/>
            </a:p>
          </p:txBody>
        </p:sp>
        <p:sp>
          <p:nvSpPr>
            <p:cNvPr id="39" name="TextBox 38"/>
            <p:cNvSpPr txBox="1"/>
            <p:nvPr/>
          </p:nvSpPr>
          <p:spPr>
            <a:xfrm>
              <a:off x="9235440" y="1901952"/>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Electric</a:t>
              </a:r>
            </a:p>
          </p:txBody>
        </p:sp>
      </p:grpSp>
      <p:sp>
        <p:nvSpPr>
          <p:cNvPr id="40" name="Rounded Rectangle 39"/>
          <p:cNvSpPr/>
          <p:nvPr/>
        </p:nvSpPr>
        <p:spPr>
          <a:xfrm>
            <a:off x="8778240" y="2834640"/>
            <a:ext cx="2862072" cy="1737360"/>
          </a:xfrm>
          <a:prstGeom prst="roundRect">
            <a:avLst>
              <a:gd name="adj" fmla="val 4210"/>
            </a:avLst>
          </a:prstGeom>
          <a:solidFill>
            <a:srgbClr val="2B2F36"/>
          </a:solidFill>
          <a:ln w="19050">
            <a:solidFill>
              <a:srgbClr val="F28C28"/>
            </a:solidFill>
          </a:ln>
        </p:spPr>
        <p:txBody>
          <a:bodyPr rtlCol="0" anchor="ctr" wrap="square" lIns="182880" tIns="91440" rIns="137160" bIns="91440">
            <a:noAutofit/>
          </a:bodyPr>
          <a:lstStyle/>
          <a:p>
            <a:pPr algn="l"/>
            <a:r>
              <a:rPr sz="2000" b="0" i="0" lang="en-GB">
                <a:solidFill>
                  <a:srgbClr val="F2F2F2"/>
                </a:solidFill>
                <a:latin typeface="Arial"/>
              </a:rPr>
              <a:t>Steam gets there first. Electric wins when the network matures.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Steam is cheap and early. Electric wins on speed, throughput, traffic and convenience.</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The mod's track</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pic>
        <p:nvPicPr>
          <p:cNvPr id="8" name="Picture R02" descr="High-detail render of the mod's two-rail track. Visual development only: not Unreal-tested, not production-ready."/>
          <p:cNvPicPr>
            <a:picLocks noChangeAspect="1"/>
          </p:cNvPicPr>
          <p:nvPr/>
        </p:nvPicPr>
        <p:blipFill>
          <a:blip r:embed="rId2"/>
          <a:stretch>
            <a:fillRect/>
          </a:stretch>
        </p:blipFill>
        <p:spPr>
          <a:xfrm>
            <a:off x="548640" y="1325880"/>
            <a:ext cx="5120640" cy="2880360"/>
          </a:xfrm>
          <a:prstGeom prst="roundRect">
            <a:avLst>
              <a:gd name="adj" fmla="val 2540"/>
            </a:avLst>
          </a:prstGeom>
        </p:spPr>
      </p:pic>
      <p:sp>
        <p:nvSpPr>
          <p:cNvPr id="9" name="Credit"/>
          <p:cNvSpPr txBox="1"/>
          <p:nvPr/>
        </p:nvSpPr>
        <p:spPr>
          <a:xfrm>
            <a:off x="548640" y="4233672"/>
            <a:ext cx="5120640" cy="182880"/>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p:txBody>
      </p:sp>
      <p:pic>
        <p:nvPicPr>
          <p:cNvPr id="10" name="Picture R05" descr="Close-up render of the mod's track: rail seated in a chair bolted to a sleeper. Visual development only."/>
          <p:cNvPicPr>
            <a:picLocks noChangeAspect="1"/>
          </p:cNvPicPr>
          <p:nvPr/>
        </p:nvPicPr>
        <p:blipFill>
          <a:blip r:embed="rId3"/>
          <a:stretch>
            <a:fillRect/>
          </a:stretch>
        </p:blipFill>
        <p:spPr>
          <a:xfrm>
            <a:off x="5852160" y="1325880"/>
            <a:ext cx="2286000" cy="1714500"/>
          </a:xfrm>
          <a:prstGeom prst="roundRect">
            <a:avLst>
              <a:gd name="adj" fmla="val 4267"/>
            </a:avLst>
          </a:prstGeom>
        </p:spPr>
      </p:pic>
      <p:sp>
        <p:nvSpPr>
          <p:cNvPr id="11" name="Credit"/>
          <p:cNvSpPr txBox="1"/>
          <p:nvPr/>
        </p:nvSpPr>
        <p:spPr>
          <a:xfrm>
            <a:off x="5852160" y="3067812"/>
            <a:ext cx="2286000" cy="338328"/>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p:txBody>
      </p:sp>
      <p:sp>
        <p:nvSpPr>
          <p:cNvPr id="12" name="TextBox 11"/>
          <p:cNvSpPr txBox="1"/>
          <p:nvPr/>
        </p:nvSpPr>
        <p:spPr>
          <a:xfrm>
            <a:off x="5852160" y="3429000"/>
            <a:ext cx="2286000" cy="594360"/>
          </a:xfrm>
          <a:prstGeom prst="rect">
            <a:avLst/>
          </a:prstGeom>
          <a:noFill/>
        </p:spPr>
        <p:txBody>
          <a:bodyPr wrap="square" lIns="0" tIns="0" rIns="0" bIns="0" anchor="t">
            <a:noAutofit/>
          </a:bodyPr>
          <a:lstStyle/>
          <a:p>
            <a:pPr algn="l"/>
            <a:r>
              <a:rPr sz="1600" b="0" i="0" lang="en-GB">
                <a:solidFill>
                  <a:srgbClr val="F2F2F2"/>
                </a:solidFill>
                <a:latin typeface="Arial"/>
              </a:rPr>
              <a:t>Close-up: chairs and rails</a:t>
            </a:r>
          </a:p>
        </p:txBody>
      </p:sp>
      <p:pic>
        <p:nvPicPr>
          <p:cNvPr id="13" name="Picture P02" descr="Full-size railway track at Sheffield Park station: rails, sleepers and ballast."/>
          <p:cNvPicPr>
            <a:picLocks noChangeAspect="1"/>
          </p:cNvPicPr>
          <p:nvPr/>
        </p:nvPicPr>
        <p:blipFill>
          <a:blip r:embed="rId4"/>
          <a:stretch>
            <a:fillRect/>
          </a:stretch>
        </p:blipFill>
        <p:spPr>
          <a:xfrm>
            <a:off x="8348472" y="1325880"/>
            <a:ext cx="3291840" cy="2468880"/>
          </a:xfrm>
          <a:prstGeom prst="roundRect">
            <a:avLst>
              <a:gd name="adj" fmla="val 2963"/>
            </a:avLst>
          </a:prstGeom>
        </p:spPr>
      </p:pic>
      <p:sp>
        <p:nvSpPr>
          <p:cNvPr id="14" name="Credit"/>
          <p:cNvSpPr txBox="1"/>
          <p:nvPr/>
        </p:nvSpPr>
        <p:spPr>
          <a:xfrm>
            <a:off x="8348472" y="3822192"/>
            <a:ext cx="3291840" cy="338328"/>
          </a:xfrm>
          <a:prstGeom prst="rect">
            <a:avLst/>
          </a:prstGeom>
          <a:noFill/>
        </p:spPr>
        <p:txBody>
          <a:bodyPr wrap="square" lIns="0" tIns="0" rIns="0" bIns="0" anchor="t">
            <a:noAutofit/>
          </a:bodyPr>
          <a:lstStyle/>
          <a:p>
            <a:pPr algn="l"/>
            <a:r>
              <a:rPr sz="1000" b="0" i="0" lang="en-GB">
                <a:solidFill>
                  <a:srgbClr val="A9B0B8"/>
                </a:solidFill>
                <a:latin typeface="Arial"/>
              </a:rPr>
              <a:t>Photo: James E. Petts, CC BY-SA 4.0, Wikimedia Commons.</a:t>
            </a:r>
          </a:p>
        </p:txBody>
      </p:sp>
      <p:sp>
        <p:nvSpPr>
          <p:cNvPr id="15" name="TextBox 14"/>
          <p:cNvSpPr txBox="1"/>
          <p:nvPr/>
        </p:nvSpPr>
        <p:spPr>
          <a:xfrm>
            <a:off x="8348472" y="4160520"/>
            <a:ext cx="3291840" cy="320040"/>
          </a:xfrm>
          <a:prstGeom prst="rect">
            <a:avLst/>
          </a:prstGeom>
          <a:noFill/>
        </p:spPr>
        <p:txBody>
          <a:bodyPr wrap="square" lIns="0" tIns="0" rIns="0" bIns="0" anchor="t">
            <a:noAutofit/>
          </a:bodyPr>
          <a:lstStyle/>
          <a:p>
            <a:pPr algn="l"/>
            <a:r>
              <a:rPr sz="1600" b="0" i="0" lang="en-GB">
                <a:solidFill>
                  <a:srgbClr val="F2F2F2"/>
                </a:solidFill>
                <a:latin typeface="Arial"/>
              </a:rPr>
              <a:t>Real railway, for comparison</a:t>
            </a:r>
          </a:p>
        </p:txBody>
      </p:sp>
      <p:sp>
        <p:nvSpPr>
          <p:cNvPr id="16" name="Speed rule"/>
          <p:cNvSpPr/>
          <p:nvPr/>
        </p:nvSpPr>
        <p:spPr>
          <a:xfrm>
            <a:off x="548640" y="4553712"/>
            <a:ext cx="11091672" cy="502920"/>
          </a:xfrm>
          <a:prstGeom prst="roundRect">
            <a:avLst>
              <a:gd name="adj" fmla="val 14545"/>
            </a:avLst>
          </a:prstGeom>
          <a:solidFill>
            <a:srgbClr val="2B2F36"/>
          </a:solidFill>
          <a:ln w="19050">
            <a:solidFill>
              <a:srgbClr val="F28C28"/>
            </a:solidFill>
          </a:ln>
        </p:spPr>
        <p:txBody>
          <a:bodyPr rtlCol="0" anchor="ctr" wrap="square" lIns="228600" tIns="18288" bIns="18288">
            <a:noAutofit/>
          </a:bodyPr>
          <a:lstStyle/>
          <a:p>
            <a:pPr algn="l"/>
            <a:r>
              <a:rPr sz="1800" b="1" i="0" lang="en-GB">
                <a:solidFill>
                  <a:srgbClr val="F2F2F2"/>
                </a:solidFill>
                <a:latin typeface="Arial"/>
              </a:rPr>
              <a:t>Speed = lowest of: track limit, signal limit, engine limit</a:t>
            </a:r>
          </a:p>
        </p:txBody>
      </p:sp>
      <p:sp>
        <p:nvSpPr>
          <p:cNvPr id="17" name="Inline chip Proposed"/>
          <p:cNvSpPr/>
          <p:nvPr/>
        </p:nvSpPr>
        <p:spPr>
          <a:xfrm>
            <a:off x="6880880" y="464058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18" name="TextBox 17"/>
          <p:cNvSpPr txBox="1"/>
          <p:nvPr/>
        </p:nvSpPr>
        <p:spPr>
          <a:xfrm>
            <a:off x="548640" y="5138928"/>
            <a:ext cx="2377440" cy="329184"/>
          </a:xfrm>
          <a:prstGeom prst="rect">
            <a:avLst/>
          </a:prstGeom>
          <a:noFill/>
        </p:spPr>
        <p:txBody>
          <a:bodyPr wrap="square" lIns="0" tIns="0" rIns="0" bIns="0" anchor="ctr">
            <a:noAutofit/>
          </a:bodyPr>
          <a:lstStyle/>
          <a:p>
            <a:pPr algn="l"/>
            <a:r>
              <a:rPr sz="1600" b="0" i="0" lang="en-GB">
                <a:solidFill>
                  <a:srgbClr val="F2F2F2"/>
                </a:solidFill>
                <a:latin typeface="Arial"/>
              </a:rPr>
              <a:t>Longest track piece:</a:t>
            </a:r>
          </a:p>
        </p:txBody>
      </p:sp>
      <p:sp>
        <p:nvSpPr>
          <p:cNvPr id="19" name="Inline chip Undecided"/>
          <p:cNvSpPr/>
          <p:nvPr/>
        </p:nvSpPr>
        <p:spPr>
          <a:xfrm>
            <a:off x="2504380" y="5138928"/>
            <a:ext cx="2064980"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 (OQ02)</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Two thin rails on sleepers, built from iron plates and rods. Speed is the lowest of three limits.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Three roles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Small card" descr="Small locomotive card. Qualitative bars: haul low, speed medium, range low, servicing needs low. Best for: local branches."/>
          <p:cNvGrpSpPr/>
          <p:nvPr/>
        </p:nvGrpSpPr>
        <p:grpSpPr>
          <a:xfrm>
            <a:off x="548640" y="1325880"/>
            <a:ext cx="3474720" cy="3886200"/>
            <a:chOff x="548640" y="1325880"/>
            <a:chExt cx="3474720" cy="3886200"/>
          </a:xfrm>
        </p:grpSpPr>
        <p:sp>
          <p:nvSpPr>
            <p:cNvPr id="9" name="Rounded Rectangle 8"/>
            <p:cNvSpPr/>
            <p:nvPr/>
          </p:nvSpPr>
          <p:spPr>
            <a:xfrm>
              <a:off x="548640" y="1325880"/>
              <a:ext cx="3474720" cy="3886200"/>
            </a:xfrm>
            <a:prstGeom prst="roundRect">
              <a:avLst>
                <a:gd name="adj" fmla="val 2631"/>
              </a:avLst>
            </a:prstGeom>
            <a:solidFill>
              <a:srgbClr val="2B2F36"/>
            </a:solidFill>
            <a:ln>
              <a:noFill/>
            </a:ln>
          </p:spPr>
          <p:txBody>
            <a:bodyPr rtlCol="0" anchor="ctr"/>
            <a:lstStyle/>
            <a:p>
              <a:pPr algn="ctr"/>
            </a:p>
          </p:txBody>
        </p:sp>
        <p:sp>
          <p:nvSpPr>
            <p:cNvPr id="10" name="Rectangle 9"/>
            <p:cNvSpPr/>
            <p:nvPr/>
          </p:nvSpPr>
          <p:spPr>
            <a:xfrm>
              <a:off x="548640" y="1600200"/>
              <a:ext cx="3474720" cy="182880"/>
            </a:xfrm>
            <a:prstGeom prst="rect">
              <a:avLst/>
            </a:prstGeom>
            <a:solidFill>
              <a:srgbClr val="F28C28"/>
            </a:solidFill>
            <a:ln>
              <a:noFill/>
            </a:ln>
          </p:spPr>
          <p:txBody>
            <a:bodyPr rtlCol="0" anchor="ctr"/>
            <a:lstStyle/>
            <a:p>
              <a:pPr algn="ctr"/>
            </a:p>
          </p:txBody>
        </p:sp>
        <p:sp>
          <p:nvSpPr>
            <p:cNvPr id="11" name="Rounded Rectangle 10"/>
            <p:cNvSpPr/>
            <p:nvPr/>
          </p:nvSpPr>
          <p:spPr>
            <a:xfrm>
              <a:off x="548640" y="1325880"/>
              <a:ext cx="3474720" cy="457200"/>
            </a:xfrm>
            <a:prstGeom prst="roundRect">
              <a:avLst>
                <a:gd name="adj" fmla="val 20000"/>
              </a:avLst>
            </a:prstGeom>
            <a:solidFill>
              <a:srgbClr val="F28C28"/>
            </a:solidFill>
            <a:ln>
              <a:noFill/>
            </a:ln>
          </p:spPr>
          <p:txBody>
            <a:bodyPr rtlCol="0" anchor="ctr" wrap="square" lIns="73152" tIns="36576" rIns="73152" bIns="36576">
              <a:noAutofit/>
            </a:bodyPr>
            <a:lstStyle/>
            <a:p>
              <a:pPr algn="ctr"/>
              <a:r>
                <a:rPr sz="2000" b="1" i="0" lang="en-GB">
                  <a:solidFill>
                    <a:srgbClr val="101418"/>
                  </a:solidFill>
                  <a:latin typeface="Arial"/>
                </a:rPr>
                <a:t>Small</a:t>
              </a:r>
            </a:p>
          </p:txBody>
        </p:sp>
        <p:grpSp>
          <p:nvGrpSpPr>
            <p:cNvPr id="12" name="Small engine" descr="Side view of the small steam engine."/>
            <p:cNvGrpSpPr/>
            <p:nvPr/>
          </p:nvGrpSpPr>
          <p:grpSpPr>
            <a:xfrm>
              <a:off x="1563624" y="1828800"/>
              <a:ext cx="1408176" cy="914400"/>
              <a:chOff x="1563624" y="1828800"/>
              <a:chExt cx="1408176" cy="914400"/>
            </a:xfrm>
          </p:grpSpPr>
          <p:sp>
            <p:nvSpPr>
              <p:cNvPr id="13" name="Rectangle 12"/>
              <p:cNvSpPr/>
              <p:nvPr/>
            </p:nvSpPr>
            <p:spPr>
              <a:xfrm>
                <a:off x="1600200" y="1920240"/>
                <a:ext cx="457200" cy="713232"/>
              </a:xfrm>
              <a:prstGeom prst="rect">
                <a:avLst/>
              </a:prstGeom>
              <a:solidFill>
                <a:srgbClr val="F28C28"/>
              </a:solidFill>
              <a:ln w="9525">
                <a:solidFill>
                  <a:srgbClr val="101418"/>
                </a:solidFill>
              </a:ln>
            </p:spPr>
            <p:txBody>
              <a:bodyPr rtlCol="0" anchor="ctr"/>
              <a:lstStyle/>
              <a:p>
                <a:pPr algn="ctr"/>
              </a:p>
            </p:txBody>
          </p:sp>
          <p:sp>
            <p:nvSpPr>
              <p:cNvPr id="14" name="Rectangle 13"/>
              <p:cNvSpPr/>
              <p:nvPr/>
            </p:nvSpPr>
            <p:spPr>
              <a:xfrm>
                <a:off x="1691640" y="2011680"/>
                <a:ext cx="237744" cy="182880"/>
              </a:xfrm>
              <a:prstGeom prst="rect">
                <a:avLst/>
              </a:prstGeom>
              <a:solidFill>
                <a:srgbClr val="2B2F36"/>
              </a:solidFill>
              <a:ln>
                <a:noFill/>
              </a:ln>
            </p:spPr>
            <p:txBody>
              <a:bodyPr rtlCol="0" anchor="ctr"/>
              <a:lstStyle/>
              <a:p>
                <a:pPr algn="ctr"/>
              </a:p>
            </p:txBody>
          </p:sp>
          <p:sp>
            <p:nvSpPr>
              <p:cNvPr id="15" name="Rectangle 14"/>
              <p:cNvSpPr/>
              <p:nvPr/>
            </p:nvSpPr>
            <p:spPr>
              <a:xfrm>
                <a:off x="1563624" y="1865376"/>
                <a:ext cx="530352" cy="73152"/>
              </a:xfrm>
              <a:prstGeom prst="rect">
                <a:avLst/>
              </a:prstGeom>
              <a:solidFill>
                <a:srgbClr val="1B1D21"/>
              </a:solidFill>
              <a:ln>
                <a:noFill/>
              </a:ln>
            </p:spPr>
            <p:txBody>
              <a:bodyPr rtlCol="0" anchor="ctr"/>
              <a:lstStyle/>
              <a:p>
                <a:pPr algn="ctr"/>
              </a:p>
            </p:txBody>
          </p:sp>
          <p:sp>
            <p:nvSpPr>
              <p:cNvPr id="16" name="Rounded Rectangle 15"/>
              <p:cNvSpPr/>
              <p:nvPr/>
            </p:nvSpPr>
            <p:spPr>
              <a:xfrm>
                <a:off x="2057400" y="2066544"/>
                <a:ext cx="914400" cy="420624"/>
              </a:xfrm>
              <a:prstGeom prst="roundRect">
                <a:avLst>
                  <a:gd name="adj" fmla="val 21739"/>
                </a:avLst>
              </a:prstGeom>
              <a:solidFill>
                <a:srgbClr val="F28C28"/>
              </a:solidFill>
              <a:ln w="9525">
                <a:solidFill>
                  <a:srgbClr val="101418"/>
                </a:solidFill>
              </a:ln>
            </p:spPr>
            <p:txBody>
              <a:bodyPr rtlCol="0" anchor="ctr"/>
              <a:lstStyle/>
              <a:p>
                <a:pPr algn="ctr"/>
              </a:p>
            </p:txBody>
          </p:sp>
          <p:sp>
            <p:nvSpPr>
              <p:cNvPr id="17" name="Rectangle 16"/>
              <p:cNvSpPr/>
              <p:nvPr/>
            </p:nvSpPr>
            <p:spPr>
              <a:xfrm>
                <a:off x="2697480" y="1828800"/>
                <a:ext cx="137160" cy="256032"/>
              </a:xfrm>
              <a:prstGeom prst="rect">
                <a:avLst/>
              </a:prstGeom>
              <a:solidFill>
                <a:srgbClr val="1B1D21"/>
              </a:solidFill>
              <a:ln>
                <a:noFill/>
              </a:ln>
            </p:spPr>
            <p:txBody>
              <a:bodyPr rtlCol="0" anchor="ctr"/>
              <a:lstStyle/>
              <a:p>
                <a:pPr algn="ctr"/>
              </a:p>
            </p:txBody>
          </p:sp>
          <p:sp>
            <p:nvSpPr>
              <p:cNvPr id="18" name="Rectangle 17"/>
              <p:cNvSpPr/>
              <p:nvPr/>
            </p:nvSpPr>
            <p:spPr>
              <a:xfrm>
                <a:off x="1600200" y="2468880"/>
                <a:ext cx="1371600" cy="64008"/>
              </a:xfrm>
              <a:prstGeom prst="rect">
                <a:avLst/>
              </a:prstGeom>
              <a:solidFill>
                <a:srgbClr val="1B1D21"/>
              </a:solidFill>
              <a:ln>
                <a:noFill/>
              </a:ln>
            </p:spPr>
            <p:txBody>
              <a:bodyPr rtlCol="0" anchor="ctr"/>
              <a:lstStyle/>
              <a:p>
                <a:pPr algn="ctr"/>
              </a:p>
            </p:txBody>
          </p:sp>
          <p:sp>
            <p:nvSpPr>
              <p:cNvPr id="19" name="Oval 18"/>
              <p:cNvSpPr/>
              <p:nvPr/>
            </p:nvSpPr>
            <p:spPr>
              <a:xfrm>
                <a:off x="1655064" y="2487168"/>
                <a:ext cx="256032" cy="256032"/>
              </a:xfrm>
              <a:prstGeom prst="ellipse">
                <a:avLst/>
              </a:prstGeom>
              <a:solidFill>
                <a:srgbClr val="1B1D21"/>
              </a:solidFill>
              <a:ln w="15875">
                <a:solidFill>
                  <a:srgbClr val="9AA0A6"/>
                </a:solidFill>
              </a:ln>
            </p:spPr>
            <p:txBody>
              <a:bodyPr rtlCol="0" anchor="ctr"/>
              <a:lstStyle/>
              <a:p>
                <a:pPr algn="ctr"/>
              </a:p>
            </p:txBody>
          </p:sp>
          <p:sp>
            <p:nvSpPr>
              <p:cNvPr id="20" name="Oval 19"/>
              <p:cNvSpPr/>
              <p:nvPr/>
            </p:nvSpPr>
            <p:spPr>
              <a:xfrm>
                <a:off x="2157984" y="2487168"/>
                <a:ext cx="256032" cy="256032"/>
              </a:xfrm>
              <a:prstGeom prst="ellipse">
                <a:avLst/>
              </a:prstGeom>
              <a:solidFill>
                <a:srgbClr val="1B1D21"/>
              </a:solidFill>
              <a:ln w="15875">
                <a:solidFill>
                  <a:srgbClr val="9AA0A6"/>
                </a:solidFill>
              </a:ln>
            </p:spPr>
            <p:txBody>
              <a:bodyPr rtlCol="0" anchor="ctr"/>
              <a:lstStyle/>
              <a:p>
                <a:pPr algn="ctr"/>
              </a:p>
            </p:txBody>
          </p:sp>
          <p:sp>
            <p:nvSpPr>
              <p:cNvPr id="21" name="Oval 20"/>
              <p:cNvSpPr/>
              <p:nvPr/>
            </p:nvSpPr>
            <p:spPr>
              <a:xfrm>
                <a:off x="2660904" y="2487168"/>
                <a:ext cx="256032" cy="256032"/>
              </a:xfrm>
              <a:prstGeom prst="ellipse">
                <a:avLst/>
              </a:prstGeom>
              <a:solidFill>
                <a:srgbClr val="1B1D21"/>
              </a:solidFill>
              <a:ln w="15875">
                <a:solidFill>
                  <a:srgbClr val="9AA0A6"/>
                </a:solidFill>
              </a:ln>
            </p:spPr>
            <p:txBody>
              <a:bodyPr rtlCol="0" anchor="ctr"/>
              <a:lstStyle/>
              <a:p>
                <a:pPr algn="ctr"/>
              </a:p>
            </p:txBody>
          </p:sp>
        </p:grpSp>
        <p:sp>
          <p:nvSpPr>
            <p:cNvPr id="22" name="TextBox 21"/>
            <p:cNvSpPr txBox="1"/>
            <p:nvPr/>
          </p:nvSpPr>
          <p:spPr>
            <a:xfrm>
              <a:off x="777240" y="28529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Haul</a:t>
              </a:r>
            </a:p>
          </p:txBody>
        </p:sp>
        <p:sp>
          <p:nvSpPr>
            <p:cNvPr id="23" name="Rounded Rectangle 22"/>
            <p:cNvSpPr/>
            <p:nvPr/>
          </p:nvSpPr>
          <p:spPr>
            <a:xfrm>
              <a:off x="777240" y="3090672"/>
              <a:ext cx="3017520" cy="146304"/>
            </a:xfrm>
            <a:prstGeom prst="roundRect">
              <a:avLst>
                <a:gd name="adj" fmla="val 25000"/>
              </a:avLst>
            </a:prstGeom>
            <a:solidFill>
              <a:srgbClr val="343A43"/>
            </a:solidFill>
            <a:ln>
              <a:noFill/>
            </a:ln>
          </p:spPr>
          <p:txBody>
            <a:bodyPr rtlCol="0" anchor="ctr"/>
            <a:lstStyle/>
            <a:p>
              <a:pPr algn="ctr"/>
            </a:p>
          </p:txBody>
        </p:sp>
        <p:sp>
          <p:nvSpPr>
            <p:cNvPr id="24" name="Rounded Rectangle 23"/>
            <p:cNvSpPr/>
            <p:nvPr/>
          </p:nvSpPr>
          <p:spPr>
            <a:xfrm>
              <a:off x="777240" y="3090672"/>
              <a:ext cx="754380" cy="146304"/>
            </a:xfrm>
            <a:prstGeom prst="roundRect">
              <a:avLst>
                <a:gd name="adj" fmla="val 25000"/>
              </a:avLst>
            </a:prstGeom>
            <a:solidFill>
              <a:srgbClr val="F28C28"/>
            </a:solidFill>
            <a:ln>
              <a:noFill/>
            </a:ln>
          </p:spPr>
          <p:txBody>
            <a:bodyPr rtlCol="0" anchor="ctr"/>
            <a:lstStyle/>
            <a:p>
              <a:pPr algn="ctr"/>
            </a:p>
          </p:txBody>
        </p:sp>
        <p:sp>
          <p:nvSpPr>
            <p:cNvPr id="25" name="TextBox 24"/>
            <p:cNvSpPr txBox="1"/>
            <p:nvPr/>
          </p:nvSpPr>
          <p:spPr>
            <a:xfrm>
              <a:off x="777240" y="33101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Speed</a:t>
              </a:r>
            </a:p>
          </p:txBody>
        </p:sp>
        <p:sp>
          <p:nvSpPr>
            <p:cNvPr id="26" name="Rounded Rectangle 25"/>
            <p:cNvSpPr/>
            <p:nvPr/>
          </p:nvSpPr>
          <p:spPr>
            <a:xfrm>
              <a:off x="777240" y="3547872"/>
              <a:ext cx="3017520" cy="146304"/>
            </a:xfrm>
            <a:prstGeom prst="roundRect">
              <a:avLst>
                <a:gd name="adj" fmla="val 25000"/>
              </a:avLst>
            </a:prstGeom>
            <a:solidFill>
              <a:srgbClr val="343A43"/>
            </a:solidFill>
            <a:ln>
              <a:noFill/>
            </a:ln>
          </p:spPr>
          <p:txBody>
            <a:bodyPr rtlCol="0" anchor="ctr"/>
            <a:lstStyle/>
            <a:p>
              <a:pPr algn="ctr"/>
            </a:p>
          </p:txBody>
        </p:sp>
        <p:sp>
          <p:nvSpPr>
            <p:cNvPr id="27" name="Rounded Rectangle 26"/>
            <p:cNvSpPr/>
            <p:nvPr/>
          </p:nvSpPr>
          <p:spPr>
            <a:xfrm>
              <a:off x="777240" y="3547872"/>
              <a:ext cx="1056132" cy="146304"/>
            </a:xfrm>
            <a:prstGeom prst="roundRect">
              <a:avLst>
                <a:gd name="adj" fmla="val 25000"/>
              </a:avLst>
            </a:prstGeom>
            <a:solidFill>
              <a:srgbClr val="F28C28"/>
            </a:solidFill>
            <a:ln>
              <a:noFill/>
            </a:ln>
          </p:spPr>
          <p:txBody>
            <a:bodyPr rtlCol="0" anchor="ctr"/>
            <a:lstStyle/>
            <a:p>
              <a:pPr algn="ctr"/>
            </a:p>
          </p:txBody>
        </p:sp>
        <p:sp>
          <p:nvSpPr>
            <p:cNvPr id="28" name="TextBox 27"/>
            <p:cNvSpPr txBox="1"/>
            <p:nvPr/>
          </p:nvSpPr>
          <p:spPr>
            <a:xfrm>
              <a:off x="777240" y="37673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Range</a:t>
              </a:r>
            </a:p>
          </p:txBody>
        </p:sp>
        <p:sp>
          <p:nvSpPr>
            <p:cNvPr id="29" name="Rounded Rectangle 28"/>
            <p:cNvSpPr/>
            <p:nvPr/>
          </p:nvSpPr>
          <p:spPr>
            <a:xfrm>
              <a:off x="777240" y="4005072"/>
              <a:ext cx="3017520" cy="146304"/>
            </a:xfrm>
            <a:prstGeom prst="roundRect">
              <a:avLst>
                <a:gd name="adj" fmla="val 25000"/>
              </a:avLst>
            </a:prstGeom>
            <a:solidFill>
              <a:srgbClr val="343A43"/>
            </a:solidFill>
            <a:ln>
              <a:noFill/>
            </a:ln>
          </p:spPr>
          <p:txBody>
            <a:bodyPr rtlCol="0" anchor="ctr"/>
            <a:lstStyle/>
            <a:p>
              <a:pPr algn="ctr"/>
            </a:p>
          </p:txBody>
        </p:sp>
        <p:sp>
          <p:nvSpPr>
            <p:cNvPr id="30" name="Rounded Rectangle 29"/>
            <p:cNvSpPr/>
            <p:nvPr/>
          </p:nvSpPr>
          <p:spPr>
            <a:xfrm>
              <a:off x="777240" y="4005072"/>
              <a:ext cx="754380" cy="146304"/>
            </a:xfrm>
            <a:prstGeom prst="roundRect">
              <a:avLst>
                <a:gd name="adj" fmla="val 25000"/>
              </a:avLst>
            </a:prstGeom>
            <a:solidFill>
              <a:srgbClr val="F28C28"/>
            </a:solidFill>
            <a:ln>
              <a:noFill/>
            </a:ln>
          </p:spPr>
          <p:txBody>
            <a:bodyPr rtlCol="0" anchor="ctr"/>
            <a:lstStyle/>
            <a:p>
              <a:pPr algn="ctr"/>
            </a:p>
          </p:txBody>
        </p:sp>
        <p:sp>
          <p:nvSpPr>
            <p:cNvPr id="31" name="TextBox 30"/>
            <p:cNvSpPr txBox="1"/>
            <p:nvPr/>
          </p:nvSpPr>
          <p:spPr>
            <a:xfrm>
              <a:off x="777240" y="42245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Servicing needs</a:t>
              </a:r>
            </a:p>
          </p:txBody>
        </p:sp>
        <p:sp>
          <p:nvSpPr>
            <p:cNvPr id="32" name="Rounded Rectangle 31"/>
            <p:cNvSpPr/>
            <p:nvPr/>
          </p:nvSpPr>
          <p:spPr>
            <a:xfrm>
              <a:off x="777240" y="4462272"/>
              <a:ext cx="3017520" cy="146304"/>
            </a:xfrm>
            <a:prstGeom prst="roundRect">
              <a:avLst>
                <a:gd name="adj" fmla="val 25000"/>
              </a:avLst>
            </a:prstGeom>
            <a:solidFill>
              <a:srgbClr val="343A43"/>
            </a:solidFill>
            <a:ln>
              <a:noFill/>
            </a:ln>
          </p:spPr>
          <p:txBody>
            <a:bodyPr rtlCol="0" anchor="ctr"/>
            <a:lstStyle/>
            <a:p>
              <a:pPr algn="ctr"/>
            </a:p>
          </p:txBody>
        </p:sp>
        <p:sp>
          <p:nvSpPr>
            <p:cNvPr id="33" name="Rounded Rectangle 32"/>
            <p:cNvSpPr/>
            <p:nvPr/>
          </p:nvSpPr>
          <p:spPr>
            <a:xfrm>
              <a:off x="777240" y="4462272"/>
              <a:ext cx="754380" cy="146304"/>
            </a:xfrm>
            <a:prstGeom prst="roundRect">
              <a:avLst>
                <a:gd name="adj" fmla="val 25000"/>
              </a:avLst>
            </a:prstGeom>
            <a:solidFill>
              <a:srgbClr val="F28C28"/>
            </a:solidFill>
            <a:ln>
              <a:noFill/>
            </a:ln>
          </p:spPr>
          <p:txBody>
            <a:bodyPr rtlCol="0" anchor="ctr"/>
            <a:lstStyle/>
            <a:p>
              <a:pPr algn="ctr"/>
            </a:p>
          </p:txBody>
        </p:sp>
        <p:sp>
          <p:nvSpPr>
            <p:cNvPr id="34" name="TextBox 33"/>
            <p:cNvSpPr txBox="1"/>
            <p:nvPr/>
          </p:nvSpPr>
          <p:spPr>
            <a:xfrm>
              <a:off x="777240" y="4709160"/>
              <a:ext cx="3017520" cy="384048"/>
            </a:xfrm>
            <a:prstGeom prst="rect">
              <a:avLst/>
            </a:prstGeom>
            <a:noFill/>
          </p:spPr>
          <p:txBody>
            <a:bodyPr wrap="square" lIns="0" tIns="0" rIns="0" bIns="0" anchor="ctr">
              <a:noAutofit/>
            </a:bodyPr>
            <a:lstStyle/>
            <a:p>
              <a:pPr algn="l"/>
              <a:r>
                <a:rPr sz="1800" b="1" i="0" lang="en-GB">
                  <a:solidFill>
                    <a:srgbClr val="F2F2F2"/>
                  </a:solidFill>
                  <a:latin typeface="Arial"/>
                </a:rPr>
                <a:t>Local branches</a:t>
              </a:r>
            </a:p>
          </p:txBody>
        </p:sp>
      </p:grpSp>
      <p:grpSp>
        <p:nvGrpSpPr>
          <p:cNvPr id="35" name="Medium card" descr="Medium locomotive card. Qualitative bars: haul medium, speed high, range high, servicing needs medium. Best for: fast mixed freight."/>
          <p:cNvGrpSpPr/>
          <p:nvPr/>
        </p:nvGrpSpPr>
        <p:grpSpPr>
          <a:xfrm>
            <a:off x="4343400" y="1325880"/>
            <a:ext cx="3474720" cy="3886200"/>
            <a:chOff x="4343400" y="1325880"/>
            <a:chExt cx="3474720" cy="3886200"/>
          </a:xfrm>
        </p:grpSpPr>
        <p:sp>
          <p:nvSpPr>
            <p:cNvPr id="36" name="Rounded Rectangle 35"/>
            <p:cNvSpPr/>
            <p:nvPr/>
          </p:nvSpPr>
          <p:spPr>
            <a:xfrm>
              <a:off x="4343400" y="1325880"/>
              <a:ext cx="3474720" cy="3886200"/>
            </a:xfrm>
            <a:prstGeom prst="roundRect">
              <a:avLst>
                <a:gd name="adj" fmla="val 2631"/>
              </a:avLst>
            </a:prstGeom>
            <a:solidFill>
              <a:srgbClr val="2B2F36"/>
            </a:solidFill>
            <a:ln>
              <a:noFill/>
            </a:ln>
          </p:spPr>
          <p:txBody>
            <a:bodyPr rtlCol="0" anchor="ctr"/>
            <a:lstStyle/>
            <a:p>
              <a:pPr algn="ctr"/>
            </a:p>
          </p:txBody>
        </p:sp>
        <p:sp>
          <p:nvSpPr>
            <p:cNvPr id="37" name="Rectangle 36"/>
            <p:cNvSpPr/>
            <p:nvPr/>
          </p:nvSpPr>
          <p:spPr>
            <a:xfrm>
              <a:off x="4343400" y="1600200"/>
              <a:ext cx="3474720" cy="182880"/>
            </a:xfrm>
            <a:prstGeom prst="rect">
              <a:avLst/>
            </a:prstGeom>
            <a:solidFill>
              <a:srgbClr val="F28C28"/>
            </a:solidFill>
            <a:ln>
              <a:noFill/>
            </a:ln>
          </p:spPr>
          <p:txBody>
            <a:bodyPr rtlCol="0" anchor="ctr"/>
            <a:lstStyle/>
            <a:p>
              <a:pPr algn="ctr"/>
            </a:p>
          </p:txBody>
        </p:sp>
        <p:sp>
          <p:nvSpPr>
            <p:cNvPr id="38" name="Rounded Rectangle 37"/>
            <p:cNvSpPr/>
            <p:nvPr/>
          </p:nvSpPr>
          <p:spPr>
            <a:xfrm>
              <a:off x="4343400" y="1325880"/>
              <a:ext cx="3474720" cy="457200"/>
            </a:xfrm>
            <a:prstGeom prst="roundRect">
              <a:avLst>
                <a:gd name="adj" fmla="val 20000"/>
              </a:avLst>
            </a:prstGeom>
            <a:solidFill>
              <a:srgbClr val="F28C28"/>
            </a:solidFill>
            <a:ln>
              <a:noFill/>
            </a:ln>
          </p:spPr>
          <p:txBody>
            <a:bodyPr rtlCol="0" anchor="ctr" wrap="square" lIns="73152" tIns="36576" rIns="73152" bIns="36576">
              <a:noAutofit/>
            </a:bodyPr>
            <a:lstStyle/>
            <a:p>
              <a:pPr algn="ctr"/>
              <a:r>
                <a:rPr sz="2000" b="1" i="0" lang="en-GB">
                  <a:solidFill>
                    <a:srgbClr val="101418"/>
                  </a:solidFill>
                  <a:latin typeface="Arial"/>
                </a:rPr>
                <a:t>Medium</a:t>
              </a:r>
            </a:p>
          </p:txBody>
        </p:sp>
        <p:grpSp>
          <p:nvGrpSpPr>
            <p:cNvPr id="39" name="Medium engine" descr="Side view of the medium steam engine with its tender."/>
            <p:cNvGrpSpPr/>
            <p:nvPr/>
          </p:nvGrpSpPr>
          <p:grpSpPr>
            <a:xfrm>
              <a:off x="4837176" y="1828800"/>
              <a:ext cx="2487168" cy="914400"/>
              <a:chOff x="4837176" y="1828800"/>
              <a:chExt cx="2487168" cy="914400"/>
            </a:xfrm>
          </p:grpSpPr>
          <p:sp>
            <p:nvSpPr>
              <p:cNvPr id="40" name="Rectangle 39"/>
              <p:cNvSpPr/>
              <p:nvPr/>
            </p:nvSpPr>
            <p:spPr>
              <a:xfrm>
                <a:off x="4837176" y="2176272"/>
                <a:ext cx="685800" cy="457200"/>
              </a:xfrm>
              <a:prstGeom prst="rect">
                <a:avLst/>
              </a:prstGeom>
              <a:solidFill>
                <a:srgbClr val="F28C28"/>
              </a:solidFill>
              <a:ln w="9525">
                <a:solidFill>
                  <a:srgbClr val="101418"/>
                </a:solidFill>
              </a:ln>
            </p:spPr>
            <p:txBody>
              <a:bodyPr rtlCol="0" anchor="ctr"/>
              <a:lstStyle/>
              <a:p>
                <a:pPr algn="ctr"/>
              </a:p>
            </p:txBody>
          </p:sp>
          <p:sp>
            <p:nvSpPr>
              <p:cNvPr id="41" name="Rectangle 40"/>
              <p:cNvSpPr/>
              <p:nvPr/>
            </p:nvSpPr>
            <p:spPr>
              <a:xfrm>
                <a:off x="4882896" y="2103120"/>
                <a:ext cx="594360" cy="91440"/>
              </a:xfrm>
              <a:prstGeom prst="rect">
                <a:avLst/>
              </a:prstGeom>
              <a:solidFill>
                <a:srgbClr val="1B1D21"/>
              </a:solidFill>
              <a:ln>
                <a:noFill/>
              </a:ln>
            </p:spPr>
            <p:txBody>
              <a:bodyPr rtlCol="0" anchor="ctr"/>
              <a:lstStyle/>
              <a:p>
                <a:pPr algn="ctr"/>
              </a:p>
            </p:txBody>
          </p:sp>
          <p:sp>
            <p:nvSpPr>
              <p:cNvPr id="42" name="Oval 41"/>
              <p:cNvSpPr/>
              <p:nvPr/>
            </p:nvSpPr>
            <p:spPr>
              <a:xfrm>
                <a:off x="4898898" y="2523744"/>
                <a:ext cx="219456" cy="219456"/>
              </a:xfrm>
              <a:prstGeom prst="ellipse">
                <a:avLst/>
              </a:prstGeom>
              <a:solidFill>
                <a:srgbClr val="1B1D21"/>
              </a:solidFill>
              <a:ln w="12700">
                <a:solidFill>
                  <a:srgbClr val="9AA0A6"/>
                </a:solidFill>
              </a:ln>
            </p:spPr>
            <p:txBody>
              <a:bodyPr rtlCol="0" anchor="ctr"/>
              <a:lstStyle/>
              <a:p>
                <a:pPr algn="ctr"/>
              </a:p>
            </p:txBody>
          </p:sp>
          <p:sp>
            <p:nvSpPr>
              <p:cNvPr id="43" name="Oval 42"/>
              <p:cNvSpPr/>
              <p:nvPr/>
            </p:nvSpPr>
            <p:spPr>
              <a:xfrm>
                <a:off x="5241798" y="2523744"/>
                <a:ext cx="219456" cy="219456"/>
              </a:xfrm>
              <a:prstGeom prst="ellipse">
                <a:avLst/>
              </a:prstGeom>
              <a:solidFill>
                <a:srgbClr val="1B1D21"/>
              </a:solidFill>
              <a:ln w="12700">
                <a:solidFill>
                  <a:srgbClr val="9AA0A6"/>
                </a:solidFill>
              </a:ln>
            </p:spPr>
            <p:txBody>
              <a:bodyPr rtlCol="0" anchor="ctr"/>
              <a:lstStyle/>
              <a:p>
                <a:pPr algn="ctr"/>
              </a:p>
            </p:txBody>
          </p:sp>
          <p:sp>
            <p:nvSpPr>
              <p:cNvPr id="44" name="Rectangle 43"/>
              <p:cNvSpPr/>
              <p:nvPr/>
            </p:nvSpPr>
            <p:spPr>
              <a:xfrm>
                <a:off x="5586984" y="1920240"/>
                <a:ext cx="457200" cy="713232"/>
              </a:xfrm>
              <a:prstGeom prst="rect">
                <a:avLst/>
              </a:prstGeom>
              <a:solidFill>
                <a:srgbClr val="F28C28"/>
              </a:solidFill>
              <a:ln w="9525">
                <a:solidFill>
                  <a:srgbClr val="101418"/>
                </a:solidFill>
              </a:ln>
            </p:spPr>
            <p:txBody>
              <a:bodyPr rtlCol="0" anchor="ctr"/>
              <a:lstStyle/>
              <a:p>
                <a:pPr algn="ctr"/>
              </a:p>
            </p:txBody>
          </p:sp>
          <p:sp>
            <p:nvSpPr>
              <p:cNvPr id="45" name="Rectangle 44"/>
              <p:cNvSpPr/>
              <p:nvPr/>
            </p:nvSpPr>
            <p:spPr>
              <a:xfrm>
                <a:off x="5678424" y="2011680"/>
                <a:ext cx="237744" cy="182880"/>
              </a:xfrm>
              <a:prstGeom prst="rect">
                <a:avLst/>
              </a:prstGeom>
              <a:solidFill>
                <a:srgbClr val="2B2F36"/>
              </a:solidFill>
              <a:ln>
                <a:noFill/>
              </a:ln>
            </p:spPr>
            <p:txBody>
              <a:bodyPr rtlCol="0" anchor="ctr"/>
              <a:lstStyle/>
              <a:p>
                <a:pPr algn="ctr"/>
              </a:p>
            </p:txBody>
          </p:sp>
          <p:sp>
            <p:nvSpPr>
              <p:cNvPr id="46" name="Rectangle 45"/>
              <p:cNvSpPr/>
              <p:nvPr/>
            </p:nvSpPr>
            <p:spPr>
              <a:xfrm>
                <a:off x="5550408" y="1865376"/>
                <a:ext cx="530352" cy="73152"/>
              </a:xfrm>
              <a:prstGeom prst="rect">
                <a:avLst/>
              </a:prstGeom>
              <a:solidFill>
                <a:srgbClr val="1B1D21"/>
              </a:solidFill>
              <a:ln>
                <a:noFill/>
              </a:ln>
            </p:spPr>
            <p:txBody>
              <a:bodyPr rtlCol="0" anchor="ctr"/>
              <a:lstStyle/>
              <a:p>
                <a:pPr algn="ctr"/>
              </a:p>
            </p:txBody>
          </p:sp>
          <p:sp>
            <p:nvSpPr>
              <p:cNvPr id="47" name="Rounded Rectangle 46"/>
              <p:cNvSpPr/>
              <p:nvPr/>
            </p:nvSpPr>
            <p:spPr>
              <a:xfrm>
                <a:off x="6044184" y="2066544"/>
                <a:ext cx="1280160" cy="420624"/>
              </a:xfrm>
              <a:prstGeom prst="roundRect">
                <a:avLst>
                  <a:gd name="adj" fmla="val 21739"/>
                </a:avLst>
              </a:prstGeom>
              <a:solidFill>
                <a:srgbClr val="F28C28"/>
              </a:solidFill>
              <a:ln w="9525">
                <a:solidFill>
                  <a:srgbClr val="101418"/>
                </a:solidFill>
              </a:ln>
            </p:spPr>
            <p:txBody>
              <a:bodyPr rtlCol="0" anchor="ctr"/>
              <a:lstStyle/>
              <a:p>
                <a:pPr algn="ctr"/>
              </a:p>
            </p:txBody>
          </p:sp>
          <p:sp>
            <p:nvSpPr>
              <p:cNvPr id="48" name="Rectangle 47"/>
              <p:cNvSpPr/>
              <p:nvPr/>
            </p:nvSpPr>
            <p:spPr>
              <a:xfrm>
                <a:off x="7050024" y="1828800"/>
                <a:ext cx="137160" cy="256032"/>
              </a:xfrm>
              <a:prstGeom prst="rect">
                <a:avLst/>
              </a:prstGeom>
              <a:solidFill>
                <a:srgbClr val="1B1D21"/>
              </a:solidFill>
              <a:ln>
                <a:noFill/>
              </a:ln>
            </p:spPr>
            <p:txBody>
              <a:bodyPr rtlCol="0" anchor="ctr"/>
              <a:lstStyle/>
              <a:p>
                <a:pPr algn="ctr"/>
              </a:p>
            </p:txBody>
          </p:sp>
          <p:sp>
            <p:nvSpPr>
              <p:cNvPr id="49" name="Rectangle 48"/>
              <p:cNvSpPr/>
              <p:nvPr/>
            </p:nvSpPr>
            <p:spPr>
              <a:xfrm>
                <a:off x="5586984" y="2468880"/>
                <a:ext cx="1737360" cy="64008"/>
              </a:xfrm>
              <a:prstGeom prst="rect">
                <a:avLst/>
              </a:prstGeom>
              <a:solidFill>
                <a:srgbClr val="1B1D21"/>
              </a:solidFill>
              <a:ln>
                <a:noFill/>
              </a:ln>
            </p:spPr>
            <p:txBody>
              <a:bodyPr rtlCol="0" anchor="ctr"/>
              <a:lstStyle/>
              <a:p>
                <a:pPr algn="ctr"/>
              </a:p>
            </p:txBody>
          </p:sp>
          <p:sp>
            <p:nvSpPr>
              <p:cNvPr id="50" name="Oval 49"/>
              <p:cNvSpPr/>
              <p:nvPr/>
            </p:nvSpPr>
            <p:spPr>
              <a:xfrm>
                <a:off x="5641848" y="2487168"/>
                <a:ext cx="256032" cy="256032"/>
              </a:xfrm>
              <a:prstGeom prst="ellipse">
                <a:avLst/>
              </a:prstGeom>
              <a:solidFill>
                <a:srgbClr val="1B1D21"/>
              </a:solidFill>
              <a:ln w="15875">
                <a:solidFill>
                  <a:srgbClr val="9AA0A6"/>
                </a:solidFill>
              </a:ln>
            </p:spPr>
            <p:txBody>
              <a:bodyPr rtlCol="0" anchor="ctr"/>
              <a:lstStyle/>
              <a:p>
                <a:pPr algn="ctr"/>
              </a:p>
            </p:txBody>
          </p:sp>
          <p:sp>
            <p:nvSpPr>
              <p:cNvPr id="51" name="Oval 50"/>
              <p:cNvSpPr/>
              <p:nvPr/>
            </p:nvSpPr>
            <p:spPr>
              <a:xfrm>
                <a:off x="6099048" y="2487168"/>
                <a:ext cx="256032" cy="256032"/>
              </a:xfrm>
              <a:prstGeom prst="ellipse">
                <a:avLst/>
              </a:prstGeom>
              <a:solidFill>
                <a:srgbClr val="1B1D21"/>
              </a:solidFill>
              <a:ln w="15875">
                <a:solidFill>
                  <a:srgbClr val="9AA0A6"/>
                </a:solidFill>
              </a:ln>
            </p:spPr>
            <p:txBody>
              <a:bodyPr rtlCol="0" anchor="ctr"/>
              <a:lstStyle/>
              <a:p>
                <a:pPr algn="ctr"/>
              </a:p>
            </p:txBody>
          </p:sp>
          <p:sp>
            <p:nvSpPr>
              <p:cNvPr id="52" name="Oval 51"/>
              <p:cNvSpPr/>
              <p:nvPr/>
            </p:nvSpPr>
            <p:spPr>
              <a:xfrm>
                <a:off x="6556248" y="2487168"/>
                <a:ext cx="256032" cy="256032"/>
              </a:xfrm>
              <a:prstGeom prst="ellipse">
                <a:avLst/>
              </a:prstGeom>
              <a:solidFill>
                <a:srgbClr val="1B1D21"/>
              </a:solidFill>
              <a:ln w="15875">
                <a:solidFill>
                  <a:srgbClr val="9AA0A6"/>
                </a:solidFill>
              </a:ln>
            </p:spPr>
            <p:txBody>
              <a:bodyPr rtlCol="0" anchor="ctr"/>
              <a:lstStyle/>
              <a:p>
                <a:pPr algn="ctr"/>
              </a:p>
            </p:txBody>
          </p:sp>
          <p:sp>
            <p:nvSpPr>
              <p:cNvPr id="53" name="Oval 52"/>
              <p:cNvSpPr/>
              <p:nvPr/>
            </p:nvSpPr>
            <p:spPr>
              <a:xfrm>
                <a:off x="7013448" y="2487168"/>
                <a:ext cx="256032" cy="256032"/>
              </a:xfrm>
              <a:prstGeom prst="ellipse">
                <a:avLst/>
              </a:prstGeom>
              <a:solidFill>
                <a:srgbClr val="1B1D21"/>
              </a:solidFill>
              <a:ln w="15875">
                <a:solidFill>
                  <a:srgbClr val="9AA0A6"/>
                </a:solidFill>
              </a:ln>
            </p:spPr>
            <p:txBody>
              <a:bodyPr rtlCol="0" anchor="ctr"/>
              <a:lstStyle/>
              <a:p>
                <a:pPr algn="ctr"/>
              </a:p>
            </p:txBody>
          </p:sp>
        </p:grpSp>
        <p:sp>
          <p:nvSpPr>
            <p:cNvPr id="54" name="TextBox 53"/>
            <p:cNvSpPr txBox="1"/>
            <p:nvPr/>
          </p:nvSpPr>
          <p:spPr>
            <a:xfrm>
              <a:off x="4572000" y="28529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Haul</a:t>
              </a:r>
            </a:p>
          </p:txBody>
        </p:sp>
        <p:sp>
          <p:nvSpPr>
            <p:cNvPr id="55" name="Rounded Rectangle 54"/>
            <p:cNvSpPr/>
            <p:nvPr/>
          </p:nvSpPr>
          <p:spPr>
            <a:xfrm>
              <a:off x="4572000" y="3090672"/>
              <a:ext cx="3017520" cy="146304"/>
            </a:xfrm>
            <a:prstGeom prst="roundRect">
              <a:avLst>
                <a:gd name="adj" fmla="val 25000"/>
              </a:avLst>
            </a:prstGeom>
            <a:solidFill>
              <a:srgbClr val="343A43"/>
            </a:solidFill>
            <a:ln>
              <a:noFill/>
            </a:ln>
          </p:spPr>
          <p:txBody>
            <a:bodyPr rtlCol="0" anchor="ctr"/>
            <a:lstStyle/>
            <a:p>
              <a:pPr algn="ctr"/>
            </a:p>
          </p:txBody>
        </p:sp>
        <p:sp>
          <p:nvSpPr>
            <p:cNvPr id="56" name="Rounded Rectangle 55"/>
            <p:cNvSpPr/>
            <p:nvPr/>
          </p:nvSpPr>
          <p:spPr>
            <a:xfrm>
              <a:off x="4572000" y="3090672"/>
              <a:ext cx="1659636" cy="146304"/>
            </a:xfrm>
            <a:prstGeom prst="roundRect">
              <a:avLst>
                <a:gd name="adj" fmla="val 25000"/>
              </a:avLst>
            </a:prstGeom>
            <a:solidFill>
              <a:srgbClr val="F28C28"/>
            </a:solidFill>
            <a:ln>
              <a:noFill/>
            </a:ln>
          </p:spPr>
          <p:txBody>
            <a:bodyPr rtlCol="0" anchor="ctr"/>
            <a:lstStyle/>
            <a:p>
              <a:pPr algn="ctr"/>
            </a:p>
          </p:txBody>
        </p:sp>
        <p:sp>
          <p:nvSpPr>
            <p:cNvPr id="57" name="TextBox 56"/>
            <p:cNvSpPr txBox="1"/>
            <p:nvPr/>
          </p:nvSpPr>
          <p:spPr>
            <a:xfrm>
              <a:off x="4572000" y="33101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Speed</a:t>
              </a:r>
            </a:p>
          </p:txBody>
        </p:sp>
        <p:sp>
          <p:nvSpPr>
            <p:cNvPr id="58" name="Rounded Rectangle 57"/>
            <p:cNvSpPr/>
            <p:nvPr/>
          </p:nvSpPr>
          <p:spPr>
            <a:xfrm>
              <a:off x="4572000" y="3547872"/>
              <a:ext cx="3017520" cy="146304"/>
            </a:xfrm>
            <a:prstGeom prst="roundRect">
              <a:avLst>
                <a:gd name="adj" fmla="val 25000"/>
              </a:avLst>
            </a:prstGeom>
            <a:solidFill>
              <a:srgbClr val="343A43"/>
            </a:solidFill>
            <a:ln>
              <a:noFill/>
            </a:ln>
          </p:spPr>
          <p:txBody>
            <a:bodyPr rtlCol="0" anchor="ctr"/>
            <a:lstStyle/>
            <a:p>
              <a:pPr algn="ctr"/>
            </a:p>
          </p:txBody>
        </p:sp>
        <p:sp>
          <p:nvSpPr>
            <p:cNvPr id="59" name="Rounded Rectangle 58"/>
            <p:cNvSpPr/>
            <p:nvPr/>
          </p:nvSpPr>
          <p:spPr>
            <a:xfrm>
              <a:off x="4572000" y="3547872"/>
              <a:ext cx="2414016" cy="146304"/>
            </a:xfrm>
            <a:prstGeom prst="roundRect">
              <a:avLst>
                <a:gd name="adj" fmla="val 25000"/>
              </a:avLst>
            </a:prstGeom>
            <a:pattFill prst="wdUpDiag">
              <a:fgClr>
                <a:srgbClr val="F28C28"/>
              </a:fgClr>
              <a:bgClr>
                <a:srgbClr val="343A43"/>
              </a:bgClr>
            </a:pattFill>
            <a:ln w="12700">
              <a:solidFill>
                <a:srgbClr val="F28C28"/>
              </a:solidFill>
            </a:ln>
          </p:spPr>
          <p:txBody>
            <a:bodyPr rtlCol="0" anchor="ctr"/>
            <a:lstStyle/>
            <a:p>
              <a:pPr algn="ctr"/>
            </a:p>
          </p:txBody>
        </p:sp>
        <p:sp>
          <p:nvSpPr>
            <p:cNvPr id="60" name="Inline chip Undecided"/>
            <p:cNvSpPr/>
            <p:nvPr/>
          </p:nvSpPr>
          <p:spPr>
            <a:xfrm>
              <a:off x="5208578" y="3218688"/>
              <a:ext cx="2380942"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FASTEST? UNDECIDED</a:t>
              </a:r>
            </a:p>
          </p:txBody>
        </p:sp>
        <p:sp>
          <p:nvSpPr>
            <p:cNvPr id="61" name="TextBox 60"/>
            <p:cNvSpPr txBox="1"/>
            <p:nvPr/>
          </p:nvSpPr>
          <p:spPr>
            <a:xfrm>
              <a:off x="4572000" y="37673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Range</a:t>
              </a:r>
            </a:p>
          </p:txBody>
        </p:sp>
        <p:sp>
          <p:nvSpPr>
            <p:cNvPr id="62" name="Rounded Rectangle 61"/>
            <p:cNvSpPr/>
            <p:nvPr/>
          </p:nvSpPr>
          <p:spPr>
            <a:xfrm>
              <a:off x="4572000" y="4005072"/>
              <a:ext cx="3017520" cy="146304"/>
            </a:xfrm>
            <a:prstGeom prst="roundRect">
              <a:avLst>
                <a:gd name="adj" fmla="val 25000"/>
              </a:avLst>
            </a:prstGeom>
            <a:solidFill>
              <a:srgbClr val="343A43"/>
            </a:solidFill>
            <a:ln>
              <a:noFill/>
            </a:ln>
          </p:spPr>
          <p:txBody>
            <a:bodyPr rtlCol="0" anchor="ctr"/>
            <a:lstStyle/>
            <a:p>
              <a:pPr algn="ctr"/>
            </a:p>
          </p:txBody>
        </p:sp>
        <p:sp>
          <p:nvSpPr>
            <p:cNvPr id="63" name="Rounded Rectangle 62"/>
            <p:cNvSpPr/>
            <p:nvPr/>
          </p:nvSpPr>
          <p:spPr>
            <a:xfrm>
              <a:off x="4572000" y="4005072"/>
              <a:ext cx="2112264" cy="146304"/>
            </a:xfrm>
            <a:prstGeom prst="roundRect">
              <a:avLst>
                <a:gd name="adj" fmla="val 25000"/>
              </a:avLst>
            </a:prstGeom>
            <a:solidFill>
              <a:srgbClr val="F28C28"/>
            </a:solidFill>
            <a:ln>
              <a:noFill/>
            </a:ln>
          </p:spPr>
          <p:txBody>
            <a:bodyPr rtlCol="0" anchor="ctr"/>
            <a:lstStyle/>
            <a:p>
              <a:pPr algn="ctr"/>
            </a:p>
          </p:txBody>
        </p:sp>
        <p:sp>
          <p:nvSpPr>
            <p:cNvPr id="64" name="TextBox 63"/>
            <p:cNvSpPr txBox="1"/>
            <p:nvPr/>
          </p:nvSpPr>
          <p:spPr>
            <a:xfrm>
              <a:off x="4572000" y="42245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Servicing needs</a:t>
              </a:r>
            </a:p>
          </p:txBody>
        </p:sp>
        <p:sp>
          <p:nvSpPr>
            <p:cNvPr id="65" name="Rounded Rectangle 64"/>
            <p:cNvSpPr/>
            <p:nvPr/>
          </p:nvSpPr>
          <p:spPr>
            <a:xfrm>
              <a:off x="4572000" y="4462272"/>
              <a:ext cx="3017520" cy="146304"/>
            </a:xfrm>
            <a:prstGeom prst="roundRect">
              <a:avLst>
                <a:gd name="adj" fmla="val 25000"/>
              </a:avLst>
            </a:prstGeom>
            <a:solidFill>
              <a:srgbClr val="343A43"/>
            </a:solidFill>
            <a:ln>
              <a:noFill/>
            </a:ln>
          </p:spPr>
          <p:txBody>
            <a:bodyPr rtlCol="0" anchor="ctr"/>
            <a:lstStyle/>
            <a:p>
              <a:pPr algn="ctr"/>
            </a:p>
          </p:txBody>
        </p:sp>
        <p:sp>
          <p:nvSpPr>
            <p:cNvPr id="66" name="Rounded Rectangle 65"/>
            <p:cNvSpPr/>
            <p:nvPr/>
          </p:nvSpPr>
          <p:spPr>
            <a:xfrm>
              <a:off x="4572000" y="4462272"/>
              <a:ext cx="1961388" cy="146304"/>
            </a:xfrm>
            <a:prstGeom prst="roundRect">
              <a:avLst>
                <a:gd name="adj" fmla="val 25000"/>
              </a:avLst>
            </a:prstGeom>
            <a:solidFill>
              <a:srgbClr val="F28C28"/>
            </a:solidFill>
            <a:ln>
              <a:noFill/>
            </a:ln>
          </p:spPr>
          <p:txBody>
            <a:bodyPr rtlCol="0" anchor="ctr"/>
            <a:lstStyle/>
            <a:p>
              <a:pPr algn="ctr"/>
            </a:p>
          </p:txBody>
        </p:sp>
        <p:sp>
          <p:nvSpPr>
            <p:cNvPr id="67" name="TextBox 66"/>
            <p:cNvSpPr txBox="1"/>
            <p:nvPr/>
          </p:nvSpPr>
          <p:spPr>
            <a:xfrm>
              <a:off x="4572000" y="4709160"/>
              <a:ext cx="3017520" cy="384048"/>
            </a:xfrm>
            <a:prstGeom prst="rect">
              <a:avLst/>
            </a:prstGeom>
            <a:noFill/>
          </p:spPr>
          <p:txBody>
            <a:bodyPr wrap="square" lIns="0" tIns="0" rIns="0" bIns="0" anchor="ctr">
              <a:noAutofit/>
            </a:bodyPr>
            <a:lstStyle/>
            <a:p>
              <a:pPr algn="l"/>
              <a:r>
                <a:rPr sz="1800" b="1" i="0" lang="en-GB">
                  <a:solidFill>
                    <a:srgbClr val="F2F2F2"/>
                  </a:solidFill>
                  <a:latin typeface="Arial"/>
                </a:rPr>
                <a:t>Fast mixed freight</a:t>
              </a:r>
            </a:p>
          </p:txBody>
        </p:sp>
      </p:grpSp>
      <p:grpSp>
        <p:nvGrpSpPr>
          <p:cNvPr id="68" name="Large card" descr="Large locomotive card. Qualitative bars: haul high, speed medium, range high, servicing needs high. Best for: heavy freight."/>
          <p:cNvGrpSpPr/>
          <p:nvPr/>
        </p:nvGrpSpPr>
        <p:grpSpPr>
          <a:xfrm>
            <a:off x="8138160" y="1325880"/>
            <a:ext cx="3474720" cy="3886200"/>
            <a:chOff x="8138160" y="1325880"/>
            <a:chExt cx="3474720" cy="3886200"/>
          </a:xfrm>
        </p:grpSpPr>
        <p:sp>
          <p:nvSpPr>
            <p:cNvPr id="69" name="Rounded Rectangle 68"/>
            <p:cNvSpPr/>
            <p:nvPr/>
          </p:nvSpPr>
          <p:spPr>
            <a:xfrm>
              <a:off x="8138160" y="1325880"/>
              <a:ext cx="3474720" cy="3886200"/>
            </a:xfrm>
            <a:prstGeom prst="roundRect">
              <a:avLst>
                <a:gd name="adj" fmla="val 2631"/>
              </a:avLst>
            </a:prstGeom>
            <a:solidFill>
              <a:srgbClr val="2B2F36"/>
            </a:solidFill>
            <a:ln>
              <a:noFill/>
            </a:ln>
          </p:spPr>
          <p:txBody>
            <a:bodyPr rtlCol="0" anchor="ctr"/>
            <a:lstStyle/>
            <a:p>
              <a:pPr algn="ctr"/>
            </a:p>
          </p:txBody>
        </p:sp>
        <p:sp>
          <p:nvSpPr>
            <p:cNvPr id="70" name="Rectangle 69"/>
            <p:cNvSpPr/>
            <p:nvPr/>
          </p:nvSpPr>
          <p:spPr>
            <a:xfrm>
              <a:off x="8138160" y="1600200"/>
              <a:ext cx="3474720" cy="182880"/>
            </a:xfrm>
            <a:prstGeom prst="rect">
              <a:avLst/>
            </a:prstGeom>
            <a:solidFill>
              <a:srgbClr val="F28C28"/>
            </a:solidFill>
            <a:ln>
              <a:noFill/>
            </a:ln>
          </p:spPr>
          <p:txBody>
            <a:bodyPr rtlCol="0" anchor="ctr"/>
            <a:lstStyle/>
            <a:p>
              <a:pPr algn="ctr"/>
            </a:p>
          </p:txBody>
        </p:sp>
        <p:sp>
          <p:nvSpPr>
            <p:cNvPr id="71" name="Rounded Rectangle 70"/>
            <p:cNvSpPr/>
            <p:nvPr/>
          </p:nvSpPr>
          <p:spPr>
            <a:xfrm>
              <a:off x="8138160" y="1325880"/>
              <a:ext cx="3474720" cy="457200"/>
            </a:xfrm>
            <a:prstGeom prst="roundRect">
              <a:avLst>
                <a:gd name="adj" fmla="val 20000"/>
              </a:avLst>
            </a:prstGeom>
            <a:solidFill>
              <a:srgbClr val="F28C28"/>
            </a:solidFill>
            <a:ln>
              <a:noFill/>
            </a:ln>
          </p:spPr>
          <p:txBody>
            <a:bodyPr rtlCol="0" anchor="ctr" wrap="square" lIns="73152" tIns="36576" rIns="73152" bIns="36576">
              <a:noAutofit/>
            </a:bodyPr>
            <a:lstStyle/>
            <a:p>
              <a:pPr algn="ctr"/>
              <a:r>
                <a:rPr sz="2000" b="1" i="0" lang="en-GB">
                  <a:solidFill>
                    <a:srgbClr val="101418"/>
                  </a:solidFill>
                  <a:latin typeface="Arial"/>
                </a:rPr>
                <a:t>Large</a:t>
              </a:r>
            </a:p>
          </p:txBody>
        </p:sp>
        <p:grpSp>
          <p:nvGrpSpPr>
            <p:cNvPr id="72" name="Large engine" descr="Side view of the large steam engine with its tender."/>
            <p:cNvGrpSpPr/>
            <p:nvPr/>
          </p:nvGrpSpPr>
          <p:grpSpPr>
            <a:xfrm>
              <a:off x="8471916" y="1828800"/>
              <a:ext cx="2807208" cy="914400"/>
              <a:chOff x="8471916" y="1828800"/>
              <a:chExt cx="2807208" cy="914400"/>
            </a:xfrm>
          </p:grpSpPr>
          <p:sp>
            <p:nvSpPr>
              <p:cNvPr id="73" name="Rectangle 72"/>
              <p:cNvSpPr/>
              <p:nvPr/>
            </p:nvSpPr>
            <p:spPr>
              <a:xfrm>
                <a:off x="8471916" y="2176272"/>
                <a:ext cx="777240" cy="457200"/>
              </a:xfrm>
              <a:prstGeom prst="rect">
                <a:avLst/>
              </a:prstGeom>
              <a:solidFill>
                <a:srgbClr val="F28C28"/>
              </a:solidFill>
              <a:ln w="9525">
                <a:solidFill>
                  <a:srgbClr val="101418"/>
                </a:solidFill>
              </a:ln>
            </p:spPr>
            <p:txBody>
              <a:bodyPr rtlCol="0" anchor="ctr"/>
              <a:lstStyle/>
              <a:p>
                <a:pPr algn="ctr"/>
              </a:p>
            </p:txBody>
          </p:sp>
          <p:sp>
            <p:nvSpPr>
              <p:cNvPr id="74" name="Rectangle 73"/>
              <p:cNvSpPr/>
              <p:nvPr/>
            </p:nvSpPr>
            <p:spPr>
              <a:xfrm>
                <a:off x="8517636" y="2103120"/>
                <a:ext cx="685800" cy="91440"/>
              </a:xfrm>
              <a:prstGeom prst="rect">
                <a:avLst/>
              </a:prstGeom>
              <a:solidFill>
                <a:srgbClr val="1B1D21"/>
              </a:solidFill>
              <a:ln>
                <a:noFill/>
              </a:ln>
            </p:spPr>
            <p:txBody>
              <a:bodyPr rtlCol="0" anchor="ctr"/>
              <a:lstStyle/>
              <a:p>
                <a:pPr algn="ctr"/>
              </a:p>
            </p:txBody>
          </p:sp>
          <p:sp>
            <p:nvSpPr>
              <p:cNvPr id="75" name="Oval 74"/>
              <p:cNvSpPr/>
              <p:nvPr/>
            </p:nvSpPr>
            <p:spPr>
              <a:xfrm>
                <a:off x="8556498" y="2523744"/>
                <a:ext cx="219456" cy="219456"/>
              </a:xfrm>
              <a:prstGeom prst="ellipse">
                <a:avLst/>
              </a:prstGeom>
              <a:solidFill>
                <a:srgbClr val="1B1D21"/>
              </a:solidFill>
              <a:ln w="12700">
                <a:solidFill>
                  <a:srgbClr val="9AA0A6"/>
                </a:solidFill>
              </a:ln>
            </p:spPr>
            <p:txBody>
              <a:bodyPr rtlCol="0" anchor="ctr"/>
              <a:lstStyle/>
              <a:p>
                <a:pPr algn="ctr"/>
              </a:p>
            </p:txBody>
          </p:sp>
          <p:sp>
            <p:nvSpPr>
              <p:cNvPr id="76" name="Oval 75"/>
              <p:cNvSpPr/>
              <p:nvPr/>
            </p:nvSpPr>
            <p:spPr>
              <a:xfrm>
                <a:off x="8945118" y="2523744"/>
                <a:ext cx="219456" cy="219456"/>
              </a:xfrm>
              <a:prstGeom prst="ellipse">
                <a:avLst/>
              </a:prstGeom>
              <a:solidFill>
                <a:srgbClr val="1B1D21"/>
              </a:solidFill>
              <a:ln w="12700">
                <a:solidFill>
                  <a:srgbClr val="9AA0A6"/>
                </a:solidFill>
              </a:ln>
            </p:spPr>
            <p:txBody>
              <a:bodyPr rtlCol="0" anchor="ctr"/>
              <a:lstStyle/>
              <a:p>
                <a:pPr algn="ctr"/>
              </a:p>
            </p:txBody>
          </p:sp>
          <p:sp>
            <p:nvSpPr>
              <p:cNvPr id="77" name="Rectangle 76"/>
              <p:cNvSpPr/>
              <p:nvPr/>
            </p:nvSpPr>
            <p:spPr>
              <a:xfrm>
                <a:off x="9313164" y="1920240"/>
                <a:ext cx="457200" cy="713232"/>
              </a:xfrm>
              <a:prstGeom prst="rect">
                <a:avLst/>
              </a:prstGeom>
              <a:solidFill>
                <a:srgbClr val="F28C28"/>
              </a:solidFill>
              <a:ln w="9525">
                <a:solidFill>
                  <a:srgbClr val="101418"/>
                </a:solidFill>
              </a:ln>
            </p:spPr>
            <p:txBody>
              <a:bodyPr rtlCol="0" anchor="ctr"/>
              <a:lstStyle/>
              <a:p>
                <a:pPr algn="ctr"/>
              </a:p>
            </p:txBody>
          </p:sp>
          <p:sp>
            <p:nvSpPr>
              <p:cNvPr id="78" name="Rectangle 77"/>
              <p:cNvSpPr/>
              <p:nvPr/>
            </p:nvSpPr>
            <p:spPr>
              <a:xfrm>
                <a:off x="9404604" y="2011680"/>
                <a:ext cx="237744" cy="182880"/>
              </a:xfrm>
              <a:prstGeom prst="rect">
                <a:avLst/>
              </a:prstGeom>
              <a:solidFill>
                <a:srgbClr val="2B2F36"/>
              </a:solidFill>
              <a:ln>
                <a:noFill/>
              </a:ln>
            </p:spPr>
            <p:txBody>
              <a:bodyPr rtlCol="0" anchor="ctr"/>
              <a:lstStyle/>
              <a:p>
                <a:pPr algn="ctr"/>
              </a:p>
            </p:txBody>
          </p:sp>
          <p:sp>
            <p:nvSpPr>
              <p:cNvPr id="79" name="Rectangle 78"/>
              <p:cNvSpPr/>
              <p:nvPr/>
            </p:nvSpPr>
            <p:spPr>
              <a:xfrm>
                <a:off x="9276588" y="1865376"/>
                <a:ext cx="530352" cy="73152"/>
              </a:xfrm>
              <a:prstGeom prst="rect">
                <a:avLst/>
              </a:prstGeom>
              <a:solidFill>
                <a:srgbClr val="1B1D21"/>
              </a:solidFill>
              <a:ln>
                <a:noFill/>
              </a:ln>
            </p:spPr>
            <p:txBody>
              <a:bodyPr rtlCol="0" anchor="ctr"/>
              <a:lstStyle/>
              <a:p>
                <a:pPr algn="ctr"/>
              </a:p>
            </p:txBody>
          </p:sp>
          <p:sp>
            <p:nvSpPr>
              <p:cNvPr id="80" name="Rounded Rectangle 79"/>
              <p:cNvSpPr/>
              <p:nvPr/>
            </p:nvSpPr>
            <p:spPr>
              <a:xfrm>
                <a:off x="9770364" y="2066544"/>
                <a:ext cx="1508760" cy="420624"/>
              </a:xfrm>
              <a:prstGeom prst="roundRect">
                <a:avLst>
                  <a:gd name="adj" fmla="val 21739"/>
                </a:avLst>
              </a:prstGeom>
              <a:solidFill>
                <a:srgbClr val="F28C28"/>
              </a:solidFill>
              <a:ln w="9525">
                <a:solidFill>
                  <a:srgbClr val="101418"/>
                </a:solidFill>
              </a:ln>
            </p:spPr>
            <p:txBody>
              <a:bodyPr rtlCol="0" anchor="ctr"/>
              <a:lstStyle/>
              <a:p>
                <a:pPr algn="ctr"/>
              </a:p>
            </p:txBody>
          </p:sp>
          <p:sp>
            <p:nvSpPr>
              <p:cNvPr id="81" name="Rectangle 80"/>
              <p:cNvSpPr/>
              <p:nvPr/>
            </p:nvSpPr>
            <p:spPr>
              <a:xfrm>
                <a:off x="11004804" y="1828800"/>
                <a:ext cx="137160" cy="256032"/>
              </a:xfrm>
              <a:prstGeom prst="rect">
                <a:avLst/>
              </a:prstGeom>
              <a:solidFill>
                <a:srgbClr val="1B1D21"/>
              </a:solidFill>
              <a:ln>
                <a:noFill/>
              </a:ln>
            </p:spPr>
            <p:txBody>
              <a:bodyPr rtlCol="0" anchor="ctr"/>
              <a:lstStyle/>
              <a:p>
                <a:pPr algn="ctr"/>
              </a:p>
            </p:txBody>
          </p:sp>
          <p:sp>
            <p:nvSpPr>
              <p:cNvPr id="82" name="Rectangle 81"/>
              <p:cNvSpPr/>
              <p:nvPr/>
            </p:nvSpPr>
            <p:spPr>
              <a:xfrm>
                <a:off x="9313164" y="2468880"/>
                <a:ext cx="1965960" cy="64008"/>
              </a:xfrm>
              <a:prstGeom prst="rect">
                <a:avLst/>
              </a:prstGeom>
              <a:solidFill>
                <a:srgbClr val="1B1D21"/>
              </a:solidFill>
              <a:ln>
                <a:noFill/>
              </a:ln>
            </p:spPr>
            <p:txBody>
              <a:bodyPr rtlCol="0" anchor="ctr"/>
              <a:lstStyle/>
              <a:p>
                <a:pPr algn="ctr"/>
              </a:p>
            </p:txBody>
          </p:sp>
          <p:sp>
            <p:nvSpPr>
              <p:cNvPr id="83" name="Oval 82"/>
              <p:cNvSpPr/>
              <p:nvPr/>
            </p:nvSpPr>
            <p:spPr>
              <a:xfrm>
                <a:off x="9368028" y="2487168"/>
                <a:ext cx="256032" cy="256032"/>
              </a:xfrm>
              <a:prstGeom prst="ellipse">
                <a:avLst/>
              </a:prstGeom>
              <a:solidFill>
                <a:srgbClr val="1B1D21"/>
              </a:solidFill>
              <a:ln w="15875">
                <a:solidFill>
                  <a:srgbClr val="9AA0A6"/>
                </a:solidFill>
              </a:ln>
            </p:spPr>
            <p:txBody>
              <a:bodyPr rtlCol="0" anchor="ctr"/>
              <a:lstStyle/>
              <a:p>
                <a:pPr algn="ctr"/>
              </a:p>
            </p:txBody>
          </p:sp>
          <p:sp>
            <p:nvSpPr>
              <p:cNvPr id="84" name="Oval 83"/>
              <p:cNvSpPr/>
              <p:nvPr/>
            </p:nvSpPr>
            <p:spPr>
              <a:xfrm>
                <a:off x="9768078" y="2487168"/>
                <a:ext cx="256032" cy="256032"/>
              </a:xfrm>
              <a:prstGeom prst="ellipse">
                <a:avLst/>
              </a:prstGeom>
              <a:solidFill>
                <a:srgbClr val="1B1D21"/>
              </a:solidFill>
              <a:ln w="15875">
                <a:solidFill>
                  <a:srgbClr val="9AA0A6"/>
                </a:solidFill>
              </a:ln>
            </p:spPr>
            <p:txBody>
              <a:bodyPr rtlCol="0" anchor="ctr"/>
              <a:lstStyle/>
              <a:p>
                <a:pPr algn="ctr"/>
              </a:p>
            </p:txBody>
          </p:sp>
          <p:sp>
            <p:nvSpPr>
              <p:cNvPr id="85" name="Oval 84"/>
              <p:cNvSpPr/>
              <p:nvPr/>
            </p:nvSpPr>
            <p:spPr>
              <a:xfrm>
                <a:off x="10168128" y="2487168"/>
                <a:ext cx="256032" cy="256032"/>
              </a:xfrm>
              <a:prstGeom prst="ellipse">
                <a:avLst/>
              </a:prstGeom>
              <a:solidFill>
                <a:srgbClr val="1B1D21"/>
              </a:solidFill>
              <a:ln w="15875">
                <a:solidFill>
                  <a:srgbClr val="9AA0A6"/>
                </a:solidFill>
              </a:ln>
            </p:spPr>
            <p:txBody>
              <a:bodyPr rtlCol="0" anchor="ctr"/>
              <a:lstStyle/>
              <a:p>
                <a:pPr algn="ctr"/>
              </a:p>
            </p:txBody>
          </p:sp>
          <p:sp>
            <p:nvSpPr>
              <p:cNvPr id="86" name="Oval 85"/>
              <p:cNvSpPr/>
              <p:nvPr/>
            </p:nvSpPr>
            <p:spPr>
              <a:xfrm>
                <a:off x="10568178" y="2487168"/>
                <a:ext cx="256032" cy="256032"/>
              </a:xfrm>
              <a:prstGeom prst="ellipse">
                <a:avLst/>
              </a:prstGeom>
              <a:solidFill>
                <a:srgbClr val="1B1D21"/>
              </a:solidFill>
              <a:ln w="15875">
                <a:solidFill>
                  <a:srgbClr val="9AA0A6"/>
                </a:solidFill>
              </a:ln>
            </p:spPr>
            <p:txBody>
              <a:bodyPr rtlCol="0" anchor="ctr"/>
              <a:lstStyle/>
              <a:p>
                <a:pPr algn="ctr"/>
              </a:p>
            </p:txBody>
          </p:sp>
          <p:sp>
            <p:nvSpPr>
              <p:cNvPr id="87" name="Oval 86"/>
              <p:cNvSpPr/>
              <p:nvPr/>
            </p:nvSpPr>
            <p:spPr>
              <a:xfrm>
                <a:off x="10968228" y="2487168"/>
                <a:ext cx="256032" cy="256032"/>
              </a:xfrm>
              <a:prstGeom prst="ellipse">
                <a:avLst/>
              </a:prstGeom>
              <a:solidFill>
                <a:srgbClr val="1B1D21"/>
              </a:solidFill>
              <a:ln w="15875">
                <a:solidFill>
                  <a:srgbClr val="9AA0A6"/>
                </a:solidFill>
              </a:ln>
            </p:spPr>
            <p:txBody>
              <a:bodyPr rtlCol="0" anchor="ctr"/>
              <a:lstStyle/>
              <a:p>
                <a:pPr algn="ctr"/>
              </a:p>
            </p:txBody>
          </p:sp>
        </p:grpSp>
        <p:sp>
          <p:nvSpPr>
            <p:cNvPr id="88" name="TextBox 87"/>
            <p:cNvSpPr txBox="1"/>
            <p:nvPr/>
          </p:nvSpPr>
          <p:spPr>
            <a:xfrm>
              <a:off x="8366760" y="28529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Haul</a:t>
              </a:r>
            </a:p>
          </p:txBody>
        </p:sp>
        <p:sp>
          <p:nvSpPr>
            <p:cNvPr id="89" name="Rounded Rectangle 88"/>
            <p:cNvSpPr/>
            <p:nvPr/>
          </p:nvSpPr>
          <p:spPr>
            <a:xfrm>
              <a:off x="8366760" y="3090672"/>
              <a:ext cx="3017520" cy="146304"/>
            </a:xfrm>
            <a:prstGeom prst="roundRect">
              <a:avLst>
                <a:gd name="adj" fmla="val 25000"/>
              </a:avLst>
            </a:prstGeom>
            <a:solidFill>
              <a:srgbClr val="343A43"/>
            </a:solidFill>
            <a:ln>
              <a:noFill/>
            </a:ln>
          </p:spPr>
          <p:txBody>
            <a:bodyPr rtlCol="0" anchor="ctr"/>
            <a:lstStyle/>
            <a:p>
              <a:pPr algn="ctr"/>
            </a:p>
          </p:txBody>
        </p:sp>
        <p:sp>
          <p:nvSpPr>
            <p:cNvPr id="90" name="Rounded Rectangle 89"/>
            <p:cNvSpPr/>
            <p:nvPr/>
          </p:nvSpPr>
          <p:spPr>
            <a:xfrm>
              <a:off x="8366760" y="3090672"/>
              <a:ext cx="2866644" cy="146304"/>
            </a:xfrm>
            <a:prstGeom prst="roundRect">
              <a:avLst>
                <a:gd name="adj" fmla="val 25000"/>
              </a:avLst>
            </a:prstGeom>
            <a:solidFill>
              <a:srgbClr val="F28C28"/>
            </a:solidFill>
            <a:ln>
              <a:noFill/>
            </a:ln>
          </p:spPr>
          <p:txBody>
            <a:bodyPr rtlCol="0" anchor="ctr"/>
            <a:lstStyle/>
            <a:p>
              <a:pPr algn="ctr"/>
            </a:p>
          </p:txBody>
        </p:sp>
        <p:sp>
          <p:nvSpPr>
            <p:cNvPr id="91" name="TextBox 90"/>
            <p:cNvSpPr txBox="1"/>
            <p:nvPr/>
          </p:nvSpPr>
          <p:spPr>
            <a:xfrm>
              <a:off x="8366760" y="33101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Speed</a:t>
              </a:r>
            </a:p>
          </p:txBody>
        </p:sp>
        <p:sp>
          <p:nvSpPr>
            <p:cNvPr id="92" name="Rounded Rectangle 91"/>
            <p:cNvSpPr/>
            <p:nvPr/>
          </p:nvSpPr>
          <p:spPr>
            <a:xfrm>
              <a:off x="8366760" y="3547872"/>
              <a:ext cx="3017520" cy="146304"/>
            </a:xfrm>
            <a:prstGeom prst="roundRect">
              <a:avLst>
                <a:gd name="adj" fmla="val 25000"/>
              </a:avLst>
            </a:prstGeom>
            <a:solidFill>
              <a:srgbClr val="343A43"/>
            </a:solidFill>
            <a:ln>
              <a:noFill/>
            </a:ln>
          </p:spPr>
          <p:txBody>
            <a:bodyPr rtlCol="0" anchor="ctr"/>
            <a:lstStyle/>
            <a:p>
              <a:pPr algn="ctr"/>
            </a:p>
          </p:txBody>
        </p:sp>
        <p:sp>
          <p:nvSpPr>
            <p:cNvPr id="93" name="Rounded Rectangle 92"/>
            <p:cNvSpPr/>
            <p:nvPr/>
          </p:nvSpPr>
          <p:spPr>
            <a:xfrm>
              <a:off x="8366760" y="3547872"/>
              <a:ext cx="1810512" cy="146304"/>
            </a:xfrm>
            <a:prstGeom prst="roundRect">
              <a:avLst>
                <a:gd name="adj" fmla="val 25000"/>
              </a:avLst>
            </a:prstGeom>
            <a:solidFill>
              <a:srgbClr val="F28C28"/>
            </a:solidFill>
            <a:ln>
              <a:noFill/>
            </a:ln>
          </p:spPr>
          <p:txBody>
            <a:bodyPr rtlCol="0" anchor="ctr"/>
            <a:lstStyle/>
            <a:p>
              <a:pPr algn="ctr"/>
            </a:p>
          </p:txBody>
        </p:sp>
        <p:sp>
          <p:nvSpPr>
            <p:cNvPr id="94" name="TextBox 93"/>
            <p:cNvSpPr txBox="1"/>
            <p:nvPr/>
          </p:nvSpPr>
          <p:spPr>
            <a:xfrm>
              <a:off x="8366760" y="37673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Range</a:t>
              </a:r>
            </a:p>
          </p:txBody>
        </p:sp>
        <p:sp>
          <p:nvSpPr>
            <p:cNvPr id="95" name="Rounded Rectangle 94"/>
            <p:cNvSpPr/>
            <p:nvPr/>
          </p:nvSpPr>
          <p:spPr>
            <a:xfrm>
              <a:off x="8366760" y="4005072"/>
              <a:ext cx="3017520" cy="146304"/>
            </a:xfrm>
            <a:prstGeom prst="roundRect">
              <a:avLst>
                <a:gd name="adj" fmla="val 25000"/>
              </a:avLst>
            </a:prstGeom>
            <a:solidFill>
              <a:srgbClr val="343A43"/>
            </a:solidFill>
            <a:ln>
              <a:noFill/>
            </a:ln>
          </p:spPr>
          <p:txBody>
            <a:bodyPr rtlCol="0" anchor="ctr"/>
            <a:lstStyle/>
            <a:p>
              <a:pPr algn="ctr"/>
            </a:p>
          </p:txBody>
        </p:sp>
        <p:sp>
          <p:nvSpPr>
            <p:cNvPr id="96" name="Rounded Rectangle 95"/>
            <p:cNvSpPr/>
            <p:nvPr/>
          </p:nvSpPr>
          <p:spPr>
            <a:xfrm>
              <a:off x="8366760" y="4005072"/>
              <a:ext cx="2715768" cy="146304"/>
            </a:xfrm>
            <a:prstGeom prst="roundRect">
              <a:avLst>
                <a:gd name="adj" fmla="val 25000"/>
              </a:avLst>
            </a:prstGeom>
            <a:solidFill>
              <a:srgbClr val="F28C28"/>
            </a:solidFill>
            <a:ln>
              <a:noFill/>
            </a:ln>
          </p:spPr>
          <p:txBody>
            <a:bodyPr rtlCol="0" anchor="ctr"/>
            <a:lstStyle/>
            <a:p>
              <a:pPr algn="ctr"/>
            </a:p>
          </p:txBody>
        </p:sp>
        <p:sp>
          <p:nvSpPr>
            <p:cNvPr id="97" name="TextBox 96"/>
            <p:cNvSpPr txBox="1"/>
            <p:nvPr/>
          </p:nvSpPr>
          <p:spPr>
            <a:xfrm>
              <a:off x="8366760" y="4224528"/>
              <a:ext cx="1463040" cy="237744"/>
            </a:xfrm>
            <a:prstGeom prst="rect">
              <a:avLst/>
            </a:prstGeom>
            <a:noFill/>
          </p:spPr>
          <p:txBody>
            <a:bodyPr wrap="square" lIns="0" tIns="0" rIns="0" bIns="0" anchor="t">
              <a:noAutofit/>
            </a:bodyPr>
            <a:lstStyle/>
            <a:p>
              <a:pPr algn="l"/>
              <a:r>
                <a:rPr sz="1400" b="0" i="0" lang="en-GB">
                  <a:solidFill>
                    <a:srgbClr val="F2F2F2"/>
                  </a:solidFill>
                  <a:latin typeface="Arial"/>
                </a:rPr>
                <a:t>Servicing needs</a:t>
              </a:r>
            </a:p>
          </p:txBody>
        </p:sp>
        <p:sp>
          <p:nvSpPr>
            <p:cNvPr id="98" name="Rounded Rectangle 97"/>
            <p:cNvSpPr/>
            <p:nvPr/>
          </p:nvSpPr>
          <p:spPr>
            <a:xfrm>
              <a:off x="8366760" y="4462272"/>
              <a:ext cx="3017520" cy="146304"/>
            </a:xfrm>
            <a:prstGeom prst="roundRect">
              <a:avLst>
                <a:gd name="adj" fmla="val 25000"/>
              </a:avLst>
            </a:prstGeom>
            <a:solidFill>
              <a:srgbClr val="343A43"/>
            </a:solidFill>
            <a:ln>
              <a:noFill/>
            </a:ln>
          </p:spPr>
          <p:txBody>
            <a:bodyPr rtlCol="0" anchor="ctr"/>
            <a:lstStyle/>
            <a:p>
              <a:pPr algn="ctr"/>
            </a:p>
          </p:txBody>
        </p:sp>
        <p:sp>
          <p:nvSpPr>
            <p:cNvPr id="99" name="Rounded Rectangle 98"/>
            <p:cNvSpPr/>
            <p:nvPr/>
          </p:nvSpPr>
          <p:spPr>
            <a:xfrm>
              <a:off x="8366760" y="4462272"/>
              <a:ext cx="2715768" cy="146304"/>
            </a:xfrm>
            <a:prstGeom prst="roundRect">
              <a:avLst>
                <a:gd name="adj" fmla="val 25000"/>
              </a:avLst>
            </a:prstGeom>
            <a:solidFill>
              <a:srgbClr val="F28C28"/>
            </a:solidFill>
            <a:ln>
              <a:noFill/>
            </a:ln>
          </p:spPr>
          <p:txBody>
            <a:bodyPr rtlCol="0" anchor="ctr"/>
            <a:lstStyle/>
            <a:p>
              <a:pPr algn="ctr"/>
            </a:p>
          </p:txBody>
        </p:sp>
        <p:sp>
          <p:nvSpPr>
            <p:cNvPr id="100" name="TextBox 99"/>
            <p:cNvSpPr txBox="1"/>
            <p:nvPr/>
          </p:nvSpPr>
          <p:spPr>
            <a:xfrm>
              <a:off x="8366760" y="4709160"/>
              <a:ext cx="3017520" cy="384048"/>
            </a:xfrm>
            <a:prstGeom prst="rect">
              <a:avLst/>
            </a:prstGeom>
            <a:noFill/>
          </p:spPr>
          <p:txBody>
            <a:bodyPr wrap="square" lIns="0" tIns="0" rIns="0" bIns="0" anchor="ctr">
              <a:noAutofit/>
            </a:bodyPr>
            <a:lstStyle/>
            <a:p>
              <a:pPr algn="l"/>
              <a:r>
                <a:rPr sz="1800" b="1" i="0" lang="en-GB">
                  <a:solidFill>
                    <a:srgbClr val="F2F2F2"/>
                  </a:solidFill>
                  <a:latin typeface="Arial"/>
                </a:rPr>
                <a:t>Heavy freight</a:t>
              </a:r>
            </a:p>
          </p:txBody>
        </p:sp>
      </p:grpSp>
      <p:sp>
        <p:nvSpPr>
          <p:cNvPr id="101" name="TextBox 100"/>
          <p:cNvSpPr txBox="1"/>
          <p:nvPr/>
        </p:nvSpPr>
        <p:spPr>
          <a:xfrm>
            <a:off x="548640" y="5321808"/>
            <a:ext cx="5486400" cy="292608"/>
          </a:xfrm>
          <a:prstGeom prst="rect">
            <a:avLst/>
          </a:prstGeom>
          <a:noFill/>
        </p:spPr>
        <p:txBody>
          <a:bodyPr wrap="square" lIns="0" tIns="0" rIns="0" bIns="0" anchor="t">
            <a:noAutofit/>
          </a:bodyPr>
          <a:lstStyle/>
          <a:p>
            <a:pPr algn="l"/>
            <a:r>
              <a:rPr sz="1400" b="0" i="0" lang="en-GB">
                <a:solidFill>
                  <a:srgbClr val="A9B0B8"/>
                </a:solidFill>
                <a:latin typeface="Arial"/>
              </a:rPr>
              <a:t>Shape only. Not measured.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Small, Medium and Large each have a job. Bigger is not simply better.</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Small: the branch-line tank</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pic>
        <p:nvPicPr>
          <p:cNvPr id="8" name="Picture P10" descr="LMS Fowler Class 3F 'Jinty' tank engine No. 47406 at the Great Central Railway. A related Fowler tank engine, NOT the Dock Tank."/>
          <p:cNvPicPr>
            <a:picLocks noChangeAspect="1"/>
          </p:cNvPicPr>
          <p:nvPr/>
        </p:nvPicPr>
        <p:blipFill>
          <a:blip r:embed="rId2"/>
          <a:srcRect t="5377" b="5377"/>
          <a:stretch>
            <a:fillRect/>
          </a:stretch>
        </p:blipFill>
        <p:spPr>
          <a:xfrm>
            <a:off x="548640" y="1325880"/>
            <a:ext cx="5120640" cy="3291840"/>
          </a:xfrm>
          <a:prstGeom prst="roundRect">
            <a:avLst>
              <a:gd name="adj" fmla="val 2222"/>
            </a:avLst>
          </a:prstGeom>
        </p:spPr>
      </p:pic>
      <p:sp>
        <p:nvSpPr>
          <p:cNvPr id="9" name="Credit"/>
          <p:cNvSpPr txBox="1"/>
          <p:nvPr/>
        </p:nvSpPr>
        <p:spPr>
          <a:xfrm>
            <a:off x="548640" y="4645152"/>
            <a:ext cx="5120640" cy="182880"/>
          </a:xfrm>
          <a:prstGeom prst="rect">
            <a:avLst/>
          </a:prstGeom>
          <a:noFill/>
        </p:spPr>
        <p:txBody>
          <a:bodyPr wrap="square" lIns="0" tIns="0" rIns="0" bIns="0" anchor="t">
            <a:noAutofit/>
          </a:bodyPr>
          <a:lstStyle/>
          <a:p>
            <a:pPr algn="l"/>
            <a:r>
              <a:rPr sz="1000" b="0" i="0" lang="en-GB">
                <a:solidFill>
                  <a:srgbClr val="A9B0B8"/>
                </a:solidFill>
                <a:latin typeface="Arial"/>
              </a:rPr>
              <a:t>Photo: Duncan Harris, CC BY-SA 2.0, Wikimedia Commons.</a:t>
            </a:r>
          </a:p>
        </p:txBody>
      </p:sp>
      <p:sp>
        <p:nvSpPr>
          <p:cNvPr id="10" name="TextBox 9"/>
          <p:cNvSpPr txBox="1"/>
          <p:nvPr/>
        </p:nvSpPr>
        <p:spPr>
          <a:xfrm>
            <a:off x="548640" y="4846320"/>
            <a:ext cx="5120640" cy="640080"/>
          </a:xfrm>
          <a:prstGeom prst="rect">
            <a:avLst/>
          </a:prstGeom>
          <a:noFill/>
        </p:spPr>
        <p:txBody>
          <a:bodyPr wrap="square" lIns="0" tIns="0" rIns="0" bIns="0" anchor="t">
            <a:noAutofit/>
          </a:bodyPr>
          <a:lstStyle/>
          <a:p>
            <a:pPr algn="l"/>
            <a:r>
              <a:rPr sz="1600" b="0" i="0" lang="en-GB">
                <a:solidFill>
                  <a:srgbClr val="F2F2F2"/>
                </a:solidFill>
                <a:latin typeface="Arial"/>
              </a:rPr>
              <a:t>A related Fowler tank engine (a Jinty). The design's reference, the Dock Tank, has no survivor.</a:t>
            </a:r>
          </a:p>
        </p:txBody>
      </p:sp>
      <p:grpSp>
        <p:nvGrpSpPr>
          <p:cNvPr id="11" name="Traits" descr="Traits: No tender; Weakest hauler; Cheap to run; Struggles with long trains and hills."/>
          <p:cNvGrpSpPr/>
          <p:nvPr/>
        </p:nvGrpSpPr>
        <p:grpSpPr>
          <a:xfrm>
            <a:off x="5989320" y="1371600"/>
            <a:ext cx="5650992" cy="3438144"/>
            <a:chOff x="5989320" y="1371600"/>
            <a:chExt cx="5650992" cy="3438144"/>
          </a:xfrm>
        </p:grpSpPr>
        <p:sp>
          <p:nvSpPr>
            <p:cNvPr id="12" name="Rounded Rectangle 11"/>
            <p:cNvSpPr/>
            <p:nvPr/>
          </p:nvSpPr>
          <p:spPr>
            <a:xfrm>
              <a:off x="5989320" y="1371600"/>
              <a:ext cx="5650992" cy="749808"/>
            </a:xfrm>
            <a:prstGeom prst="roundRect">
              <a:avLst>
                <a:gd name="adj" fmla="val 9756"/>
              </a:avLst>
            </a:prstGeom>
            <a:solidFill>
              <a:srgbClr val="2B2F36"/>
            </a:solidFill>
            <a:ln>
              <a:noFill/>
            </a:ln>
          </p:spPr>
          <p:txBody>
            <a:bodyPr rtlCol="0" anchor="ctr"/>
            <a:lstStyle/>
            <a:p>
              <a:pPr algn="ctr"/>
            </a:p>
          </p:txBody>
        </p:sp>
        <p:sp>
          <p:nvSpPr>
            <p:cNvPr id="13" name="Rectangle 12"/>
            <p:cNvSpPr/>
            <p:nvPr/>
          </p:nvSpPr>
          <p:spPr>
            <a:xfrm>
              <a:off x="6217920" y="1643634"/>
              <a:ext cx="365760" cy="251460"/>
            </a:xfrm>
            <a:prstGeom prst="rect">
              <a:avLst/>
            </a:prstGeom>
            <a:noFill/>
            <a:ln w="25400">
              <a:solidFill>
                <a:srgbClr val="F28C28"/>
              </a:solidFill>
            </a:ln>
          </p:spPr>
          <p:txBody>
            <a:bodyPr rtlCol="0" anchor="ctr"/>
            <a:lstStyle/>
            <a:p>
              <a:pPr algn="ctr"/>
            </a:p>
          </p:txBody>
        </p:sp>
        <p:cxnSp>
          <p:nvCxnSpPr>
            <p:cNvPr id="14" name="Connector 13"/>
            <p:cNvCxnSpPr/>
            <p:nvPr/>
          </p:nvCxnSpPr>
          <p:spPr>
            <a:xfrm flipV="1">
              <a:off x="6172200" y="1586484"/>
              <a:ext cx="457200" cy="320040"/>
            </a:xfrm>
            <a:prstGeom prst="line">
              <a:avLst/>
            </a:prstGeom>
            <a:ln w="31750">
              <a:solidFill>
                <a:srgbClr val="F2F2F2"/>
              </a:solidFill>
            </a:ln>
          </p:spPr>
        </p:cxnSp>
        <p:sp>
          <p:nvSpPr>
            <p:cNvPr id="15" name="TextBox 14"/>
            <p:cNvSpPr txBox="1"/>
            <p:nvPr/>
          </p:nvSpPr>
          <p:spPr>
            <a:xfrm>
              <a:off x="6720840" y="1371600"/>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No tender</a:t>
              </a:r>
            </a:p>
          </p:txBody>
        </p:sp>
        <p:sp>
          <p:nvSpPr>
            <p:cNvPr id="16" name="Rounded Rectangle 15"/>
            <p:cNvSpPr/>
            <p:nvPr/>
          </p:nvSpPr>
          <p:spPr>
            <a:xfrm>
              <a:off x="5989320" y="2267712"/>
              <a:ext cx="5650992" cy="749808"/>
            </a:xfrm>
            <a:prstGeom prst="roundRect">
              <a:avLst>
                <a:gd name="adj" fmla="val 9756"/>
              </a:avLst>
            </a:prstGeom>
            <a:solidFill>
              <a:srgbClr val="2B2F36"/>
            </a:solidFill>
            <a:ln>
              <a:noFill/>
            </a:ln>
          </p:spPr>
          <p:txBody>
            <a:bodyPr rtlCol="0" anchor="ctr"/>
            <a:lstStyle/>
            <a:p>
              <a:pPr algn="ctr"/>
            </a:p>
          </p:txBody>
        </p:sp>
        <p:sp>
          <p:nvSpPr>
            <p:cNvPr id="17" name="Freeform 16"/>
            <p:cNvSpPr/>
            <p:nvPr/>
          </p:nvSpPr>
          <p:spPr>
            <a:xfrm>
              <a:off x="6240780" y="2562606"/>
              <a:ext cx="320040" cy="240030"/>
            </a:xfrm>
            <a:custGeom>
              <a:avLst/>
              <a:gdLst/>
              <a:ahLst/>
              <a:cxnLst/>
              <a:rect l="l" t="t" r="r" b="b"/>
              <a:pathLst>
                <a:path w="320040" h="240030">
                  <a:moveTo>
                    <a:pt x="0" y="240030"/>
                  </a:moveTo>
                  <a:lnTo>
                    <a:pt x="320040" y="240030"/>
                  </a:lnTo>
                  <a:lnTo>
                    <a:pt x="262890" y="0"/>
                  </a:lnTo>
                  <a:lnTo>
                    <a:pt x="57150" y="0"/>
                  </a:lnTo>
                  <a:close/>
                </a:path>
              </a:pathLst>
            </a:custGeom>
            <a:solidFill>
              <a:srgbClr val="F28C28"/>
            </a:solidFill>
            <a:ln>
              <a:noFill/>
            </a:ln>
          </p:spPr>
          <p:txBody>
            <a:bodyPr rtlCol="0" anchor="ctr"/>
            <a:lstStyle/>
            <a:p>
              <a:pPr algn="ctr"/>
            </a:p>
          </p:txBody>
        </p:sp>
        <p:sp>
          <p:nvSpPr>
            <p:cNvPr id="18" name="Oval 17"/>
            <p:cNvSpPr/>
            <p:nvPr/>
          </p:nvSpPr>
          <p:spPr>
            <a:xfrm>
              <a:off x="6336792" y="2452878"/>
              <a:ext cx="128016" cy="128016"/>
            </a:xfrm>
            <a:prstGeom prst="ellipse">
              <a:avLst/>
            </a:prstGeom>
            <a:noFill/>
            <a:ln w="25400">
              <a:solidFill>
                <a:srgbClr val="F28C28"/>
              </a:solidFill>
            </a:ln>
          </p:spPr>
          <p:txBody>
            <a:bodyPr rtlCol="0" anchor="ctr"/>
            <a:lstStyle/>
            <a:p>
              <a:pPr algn="ctr"/>
            </a:p>
          </p:txBody>
        </p:sp>
        <p:sp>
          <p:nvSpPr>
            <p:cNvPr id="19" name="TextBox 18"/>
            <p:cNvSpPr txBox="1"/>
            <p:nvPr/>
          </p:nvSpPr>
          <p:spPr>
            <a:xfrm>
              <a:off x="6720840" y="2267712"/>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Weakest hauler</a:t>
              </a:r>
            </a:p>
          </p:txBody>
        </p:sp>
        <p:sp>
          <p:nvSpPr>
            <p:cNvPr id="20" name="Rounded Rectangle 19"/>
            <p:cNvSpPr/>
            <p:nvPr/>
          </p:nvSpPr>
          <p:spPr>
            <a:xfrm>
              <a:off x="5989320" y="3163824"/>
              <a:ext cx="5650992" cy="749808"/>
            </a:xfrm>
            <a:prstGeom prst="roundRect">
              <a:avLst>
                <a:gd name="adj" fmla="val 9756"/>
              </a:avLst>
            </a:prstGeom>
            <a:solidFill>
              <a:srgbClr val="2B2F36"/>
            </a:solidFill>
            <a:ln>
              <a:noFill/>
            </a:ln>
          </p:spPr>
          <p:txBody>
            <a:bodyPr rtlCol="0" anchor="ctr"/>
            <a:lstStyle/>
            <a:p>
              <a:pPr algn="ctr"/>
            </a:p>
          </p:txBody>
        </p:sp>
        <p:sp>
          <p:nvSpPr>
            <p:cNvPr id="21" name="Oval 20"/>
            <p:cNvSpPr/>
            <p:nvPr/>
          </p:nvSpPr>
          <p:spPr>
            <a:xfrm>
              <a:off x="6229350" y="3550158"/>
              <a:ext cx="342900" cy="137160"/>
            </a:xfrm>
            <a:prstGeom prst="ellipse">
              <a:avLst/>
            </a:prstGeom>
            <a:solidFill>
              <a:srgbClr val="F28C28"/>
            </a:solidFill>
            <a:ln w="12700">
              <a:solidFill>
                <a:srgbClr val="1E2126"/>
              </a:solidFill>
            </a:ln>
          </p:spPr>
          <p:txBody>
            <a:bodyPr rtlCol="0" anchor="ctr"/>
            <a:lstStyle/>
            <a:p>
              <a:pPr algn="ctr"/>
            </a:p>
          </p:txBody>
        </p:sp>
        <p:sp>
          <p:nvSpPr>
            <p:cNvPr id="22" name="Oval 21"/>
            <p:cNvSpPr/>
            <p:nvPr/>
          </p:nvSpPr>
          <p:spPr>
            <a:xfrm>
              <a:off x="6229350" y="3481578"/>
              <a:ext cx="342900" cy="137160"/>
            </a:xfrm>
            <a:prstGeom prst="ellipse">
              <a:avLst/>
            </a:prstGeom>
            <a:solidFill>
              <a:srgbClr val="F28C28"/>
            </a:solidFill>
            <a:ln w="12700">
              <a:solidFill>
                <a:srgbClr val="1E2126"/>
              </a:solidFill>
            </a:ln>
          </p:spPr>
          <p:txBody>
            <a:bodyPr rtlCol="0" anchor="ctr"/>
            <a:lstStyle/>
            <a:p>
              <a:pPr algn="ctr"/>
            </a:p>
          </p:txBody>
        </p:sp>
        <p:sp>
          <p:nvSpPr>
            <p:cNvPr id="23" name="Oval 22"/>
            <p:cNvSpPr/>
            <p:nvPr/>
          </p:nvSpPr>
          <p:spPr>
            <a:xfrm>
              <a:off x="6229350" y="3412998"/>
              <a:ext cx="342900" cy="137160"/>
            </a:xfrm>
            <a:prstGeom prst="ellipse">
              <a:avLst/>
            </a:prstGeom>
            <a:solidFill>
              <a:srgbClr val="F28C28"/>
            </a:solidFill>
            <a:ln w="12700">
              <a:solidFill>
                <a:srgbClr val="1E2126"/>
              </a:solidFill>
            </a:ln>
          </p:spPr>
          <p:txBody>
            <a:bodyPr rtlCol="0" anchor="ctr"/>
            <a:lstStyle/>
            <a:p>
              <a:pPr algn="ctr"/>
            </a:p>
          </p:txBody>
        </p:sp>
        <p:sp>
          <p:nvSpPr>
            <p:cNvPr id="24" name="TextBox 23"/>
            <p:cNvSpPr txBox="1"/>
            <p:nvPr/>
          </p:nvSpPr>
          <p:spPr>
            <a:xfrm>
              <a:off x="6720840" y="3163824"/>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Cheap to run</a:t>
              </a:r>
            </a:p>
          </p:txBody>
        </p:sp>
        <p:sp>
          <p:nvSpPr>
            <p:cNvPr id="25" name="Rounded Rectangle 24"/>
            <p:cNvSpPr/>
            <p:nvPr/>
          </p:nvSpPr>
          <p:spPr>
            <a:xfrm>
              <a:off x="5989320" y="4059936"/>
              <a:ext cx="5650992" cy="749808"/>
            </a:xfrm>
            <a:prstGeom prst="roundRect">
              <a:avLst>
                <a:gd name="adj" fmla="val 9756"/>
              </a:avLst>
            </a:prstGeom>
            <a:solidFill>
              <a:srgbClr val="2B2F36"/>
            </a:solidFill>
            <a:ln>
              <a:noFill/>
            </a:ln>
          </p:spPr>
          <p:txBody>
            <a:bodyPr rtlCol="0" anchor="ctr"/>
            <a:lstStyle/>
            <a:p>
              <a:pPr algn="ctr"/>
            </a:p>
          </p:txBody>
        </p:sp>
        <p:sp>
          <p:nvSpPr>
            <p:cNvPr id="26" name="Freeform 25"/>
            <p:cNvSpPr/>
            <p:nvPr/>
          </p:nvSpPr>
          <p:spPr>
            <a:xfrm>
              <a:off x="6172200" y="4274820"/>
              <a:ext cx="457200" cy="320040"/>
            </a:xfrm>
            <a:custGeom>
              <a:avLst/>
              <a:gdLst/>
              <a:ahLst/>
              <a:cxnLst/>
              <a:rect l="l" t="t" r="r" b="b"/>
              <a:pathLst>
                <a:path w="457200" h="320040">
                  <a:moveTo>
                    <a:pt x="0" y="320040"/>
                  </a:moveTo>
                  <a:lnTo>
                    <a:pt x="457200" y="320040"/>
                  </a:lnTo>
                  <a:lnTo>
                    <a:pt x="251460" y="0"/>
                  </a:lnTo>
                  <a:close/>
                </a:path>
              </a:pathLst>
            </a:custGeom>
            <a:solidFill>
              <a:srgbClr val="F28C28"/>
            </a:solidFill>
            <a:ln>
              <a:noFill/>
            </a:ln>
          </p:spPr>
          <p:txBody>
            <a:bodyPr rtlCol="0" anchor="ctr"/>
            <a:lstStyle/>
            <a:p>
              <a:pPr algn="ctr"/>
            </a:p>
          </p:txBody>
        </p:sp>
        <p:sp>
          <p:nvSpPr>
            <p:cNvPr id="27" name="TextBox 26"/>
            <p:cNvSpPr txBox="1"/>
            <p:nvPr/>
          </p:nvSpPr>
          <p:spPr>
            <a:xfrm>
              <a:off x="6720840" y="4059936"/>
              <a:ext cx="3344680" cy="749808"/>
            </a:xfrm>
            <a:prstGeom prst="rect">
              <a:avLst/>
            </a:prstGeom>
            <a:noFill/>
          </p:spPr>
          <p:txBody>
            <a:bodyPr wrap="square" lIns="0" tIns="0" rIns="0" bIns="0" anchor="ctr">
              <a:noAutofit/>
            </a:bodyPr>
            <a:lstStyle/>
            <a:p>
              <a:pPr algn="l"/>
              <a:r>
                <a:rPr sz="2000" b="0" i="0" lang="en-GB">
                  <a:solidFill>
                    <a:srgbClr val="F2F2F2"/>
                  </a:solidFill>
                  <a:latin typeface="Arial"/>
                </a:rPr>
                <a:t>Struggles with long trains and hills</a:t>
              </a:r>
            </a:p>
          </p:txBody>
        </p:sp>
        <p:sp>
          <p:nvSpPr>
            <p:cNvPr id="28" name="Inline chip Proposed"/>
            <p:cNvSpPr/>
            <p:nvPr/>
          </p:nvSpPr>
          <p:spPr>
            <a:xfrm>
              <a:off x="10156960" y="4270248"/>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Small carries its own coal and water. It is cheap, light and best on short branches.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Medium: the long-range runner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pic>
        <p:nvPicPr>
          <p:cNvPr id="8" name="Picture P11" descr="Merchant Navy class No. 35005 'Canadian Pacific', raised front three-quarter view showing boiler and tender."/>
          <p:cNvPicPr>
            <a:picLocks noChangeAspect="1"/>
          </p:cNvPicPr>
          <p:nvPr/>
        </p:nvPicPr>
        <p:blipFill>
          <a:blip r:embed="rId2"/>
          <a:srcRect l="205" r="205"/>
          <a:stretch>
            <a:fillRect/>
          </a:stretch>
        </p:blipFill>
        <p:spPr>
          <a:xfrm>
            <a:off x="548640" y="1325880"/>
            <a:ext cx="5120640" cy="3154680"/>
          </a:xfrm>
          <a:prstGeom prst="roundRect">
            <a:avLst>
              <a:gd name="adj" fmla="val 2319"/>
            </a:avLst>
          </a:prstGeom>
        </p:spPr>
      </p:pic>
      <p:sp>
        <p:nvSpPr>
          <p:cNvPr id="9" name="Credit"/>
          <p:cNvSpPr txBox="1"/>
          <p:nvPr/>
        </p:nvSpPr>
        <p:spPr>
          <a:xfrm>
            <a:off x="548640" y="4507992"/>
            <a:ext cx="5120640" cy="182880"/>
          </a:xfrm>
          <a:prstGeom prst="rect">
            <a:avLst/>
          </a:prstGeom>
          <a:noFill/>
        </p:spPr>
        <p:txBody>
          <a:bodyPr wrap="square" lIns="0" tIns="0" rIns="0" bIns="0" anchor="t">
            <a:noAutofit/>
          </a:bodyPr>
          <a:lstStyle/>
          <a:p>
            <a:pPr algn="l"/>
            <a:r>
              <a:rPr sz="1000" b="0" i="0" lang="en-GB">
                <a:solidFill>
                  <a:srgbClr val="A9B0B8"/>
                </a:solidFill>
                <a:latin typeface="Arial"/>
              </a:rPr>
              <a:t>Photo: kitmasterbloke, CC BY 2.0, Wikimedia Commons.</a:t>
            </a:r>
          </a:p>
        </p:txBody>
      </p:sp>
      <p:sp>
        <p:nvSpPr>
          <p:cNvPr id="10" name="TextBox 9"/>
          <p:cNvSpPr txBox="1"/>
          <p:nvPr/>
        </p:nvSpPr>
        <p:spPr>
          <a:xfrm>
            <a:off x="548640" y="4709160"/>
            <a:ext cx="5120640" cy="329184"/>
          </a:xfrm>
          <a:prstGeom prst="rect">
            <a:avLst/>
          </a:prstGeom>
          <a:noFill/>
        </p:spPr>
        <p:txBody>
          <a:bodyPr wrap="square" lIns="0" tIns="0" rIns="0" bIns="0" anchor="t">
            <a:noAutofit/>
          </a:bodyPr>
          <a:lstStyle/>
          <a:p>
            <a:pPr algn="l"/>
            <a:r>
              <a:rPr sz="1600" b="0" i="0" lang="en-GB">
                <a:solidFill>
                  <a:srgbClr val="F2F2F2"/>
                </a:solidFill>
                <a:latin typeface="Arial"/>
              </a:rPr>
              <a:t>Reference: Merchant Navy class</a:t>
            </a:r>
          </a:p>
        </p:txBody>
      </p:sp>
      <p:grpSp>
        <p:nvGrpSpPr>
          <p:cNvPr id="11" name="Traits" descr="Traits: Normal tender: more coal and water; Burns more; Auxiliary tender: a practical extra; Fastest class."/>
          <p:cNvGrpSpPr/>
          <p:nvPr/>
        </p:nvGrpSpPr>
        <p:grpSpPr>
          <a:xfrm>
            <a:off x="5989320" y="1371600"/>
            <a:ext cx="5650992" cy="3621024"/>
            <a:chOff x="5989320" y="1371600"/>
            <a:chExt cx="5650992" cy="3621024"/>
          </a:xfrm>
        </p:grpSpPr>
        <p:sp>
          <p:nvSpPr>
            <p:cNvPr id="12" name="Rounded Rectangle 11"/>
            <p:cNvSpPr/>
            <p:nvPr/>
          </p:nvSpPr>
          <p:spPr>
            <a:xfrm>
              <a:off x="5989320" y="1371600"/>
              <a:ext cx="5650992" cy="749808"/>
            </a:xfrm>
            <a:prstGeom prst="roundRect">
              <a:avLst>
                <a:gd name="adj" fmla="val 9756"/>
              </a:avLst>
            </a:prstGeom>
            <a:solidFill>
              <a:srgbClr val="2B2F36"/>
            </a:solidFill>
            <a:ln>
              <a:noFill/>
            </a:ln>
          </p:spPr>
          <p:txBody>
            <a:bodyPr rtlCol="0" anchor="ctr"/>
            <a:lstStyle/>
            <a:p>
              <a:pPr algn="ctr"/>
            </a:p>
          </p:txBody>
        </p:sp>
        <p:sp>
          <p:nvSpPr>
            <p:cNvPr id="13" name="Rectangle 12"/>
            <p:cNvSpPr/>
            <p:nvPr/>
          </p:nvSpPr>
          <p:spPr>
            <a:xfrm>
              <a:off x="6206490" y="1655064"/>
              <a:ext cx="388620" cy="274320"/>
            </a:xfrm>
            <a:prstGeom prst="rect">
              <a:avLst/>
            </a:prstGeom>
            <a:solidFill>
              <a:srgbClr val="F28C28"/>
            </a:solidFill>
            <a:ln w="9525">
              <a:solidFill>
                <a:srgbClr val="101418"/>
              </a:solidFill>
            </a:ln>
          </p:spPr>
          <p:txBody>
            <a:bodyPr rtlCol="0" anchor="ctr"/>
            <a:lstStyle/>
            <a:p>
              <a:pPr algn="ctr"/>
            </a:p>
          </p:txBody>
        </p:sp>
        <p:sp>
          <p:nvSpPr>
            <p:cNvPr id="14" name="Rectangle 13"/>
            <p:cNvSpPr/>
            <p:nvPr/>
          </p:nvSpPr>
          <p:spPr>
            <a:xfrm>
              <a:off x="6229350" y="1620774"/>
              <a:ext cx="342900" cy="54864"/>
            </a:xfrm>
            <a:prstGeom prst="rect">
              <a:avLst/>
            </a:prstGeom>
            <a:solidFill>
              <a:srgbClr val="1B1D21"/>
            </a:solidFill>
            <a:ln>
              <a:noFill/>
            </a:ln>
          </p:spPr>
          <p:txBody>
            <a:bodyPr rtlCol="0" anchor="ctr"/>
            <a:lstStyle/>
            <a:p>
              <a:pPr algn="ctr"/>
            </a:p>
          </p:txBody>
        </p:sp>
        <p:sp>
          <p:nvSpPr>
            <p:cNvPr id="15" name="Oval 14"/>
            <p:cNvSpPr/>
            <p:nvPr/>
          </p:nvSpPr>
          <p:spPr>
            <a:xfrm>
              <a:off x="6247638" y="1844802"/>
              <a:ext cx="100584" cy="100584"/>
            </a:xfrm>
            <a:prstGeom prst="ellipse">
              <a:avLst/>
            </a:prstGeom>
            <a:solidFill>
              <a:srgbClr val="1B1D21"/>
            </a:solidFill>
            <a:ln w="12700">
              <a:solidFill>
                <a:srgbClr val="9AA0A6"/>
              </a:solidFill>
            </a:ln>
          </p:spPr>
          <p:txBody>
            <a:bodyPr rtlCol="0" anchor="ctr"/>
            <a:lstStyle/>
            <a:p>
              <a:pPr algn="ctr"/>
            </a:p>
          </p:txBody>
        </p:sp>
        <p:sp>
          <p:nvSpPr>
            <p:cNvPr id="16" name="Oval 15"/>
            <p:cNvSpPr/>
            <p:nvPr/>
          </p:nvSpPr>
          <p:spPr>
            <a:xfrm>
              <a:off x="6453378" y="1844802"/>
              <a:ext cx="100584" cy="100584"/>
            </a:xfrm>
            <a:prstGeom prst="ellipse">
              <a:avLst/>
            </a:prstGeom>
            <a:solidFill>
              <a:srgbClr val="1B1D21"/>
            </a:solidFill>
            <a:ln w="12700">
              <a:solidFill>
                <a:srgbClr val="9AA0A6"/>
              </a:solidFill>
            </a:ln>
          </p:spPr>
          <p:txBody>
            <a:bodyPr rtlCol="0" anchor="ctr"/>
            <a:lstStyle/>
            <a:p>
              <a:pPr algn="ctr"/>
            </a:p>
          </p:txBody>
        </p:sp>
        <p:sp>
          <p:nvSpPr>
            <p:cNvPr id="17" name="TextBox 16"/>
            <p:cNvSpPr txBox="1"/>
            <p:nvPr/>
          </p:nvSpPr>
          <p:spPr>
            <a:xfrm>
              <a:off x="6720840" y="1371600"/>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Normal tender: more coal and water</a:t>
              </a:r>
            </a:p>
          </p:txBody>
        </p:sp>
        <p:sp>
          <p:nvSpPr>
            <p:cNvPr id="18" name="Rounded Rectangle 17"/>
            <p:cNvSpPr/>
            <p:nvPr/>
          </p:nvSpPr>
          <p:spPr>
            <a:xfrm>
              <a:off x="5989320" y="2267712"/>
              <a:ext cx="5650992" cy="749808"/>
            </a:xfrm>
            <a:prstGeom prst="roundRect">
              <a:avLst>
                <a:gd name="adj" fmla="val 9756"/>
              </a:avLst>
            </a:prstGeom>
            <a:solidFill>
              <a:srgbClr val="2B2F36"/>
            </a:solidFill>
            <a:ln>
              <a:noFill/>
            </a:ln>
          </p:spPr>
          <p:txBody>
            <a:bodyPr rtlCol="0" anchor="ctr"/>
            <a:lstStyle/>
            <a:p>
              <a:pPr algn="ctr"/>
            </a:p>
          </p:txBody>
        </p:sp>
        <p:sp>
          <p:nvSpPr>
            <p:cNvPr id="19" name="Freeform 18"/>
            <p:cNvSpPr/>
            <p:nvPr/>
          </p:nvSpPr>
          <p:spPr>
            <a:xfrm>
              <a:off x="6263640" y="2436876"/>
              <a:ext cx="274320" cy="388620"/>
            </a:xfrm>
            <a:custGeom>
              <a:avLst/>
              <a:gdLst/>
              <a:ahLst/>
              <a:cxnLst/>
              <a:rect l="l" t="t" r="r" b="b"/>
              <a:pathLst>
                <a:path w="274320" h="388620">
                  <a:moveTo>
                    <a:pt x="0" y="262890"/>
                  </a:moveTo>
                  <a:lnTo>
                    <a:pt x="4674" y="295431"/>
                  </a:lnTo>
                  <a:lnTo>
                    <a:pt x="18376" y="325755"/>
                  </a:lnTo>
                  <a:lnTo>
                    <a:pt x="40173" y="351795"/>
                  </a:lnTo>
                  <a:lnTo>
                    <a:pt x="68580" y="371775"/>
                  </a:lnTo>
                  <a:lnTo>
                    <a:pt x="101660" y="384336"/>
                  </a:lnTo>
                  <a:lnTo>
                    <a:pt x="137160" y="388620"/>
                  </a:lnTo>
                  <a:lnTo>
                    <a:pt x="172660" y="384336"/>
                  </a:lnTo>
                  <a:lnTo>
                    <a:pt x="205740" y="371775"/>
                  </a:lnTo>
                  <a:lnTo>
                    <a:pt x="234147" y="351795"/>
                  </a:lnTo>
                  <a:lnTo>
                    <a:pt x="255944" y="325755"/>
                  </a:lnTo>
                  <a:lnTo>
                    <a:pt x="269646" y="295431"/>
                  </a:lnTo>
                  <a:lnTo>
                    <a:pt x="274320" y="262890"/>
                  </a:lnTo>
                  <a:lnTo>
                    <a:pt x="274320" y="262890"/>
                  </a:lnTo>
                  <a:lnTo>
                    <a:pt x="171450" y="0"/>
                  </a:lnTo>
                  <a:lnTo>
                    <a:pt x="0" y="262890"/>
                  </a:lnTo>
                  <a:close/>
                </a:path>
              </a:pathLst>
            </a:custGeom>
            <a:solidFill>
              <a:srgbClr val="F28C28"/>
            </a:solidFill>
            <a:ln>
              <a:noFill/>
            </a:ln>
          </p:spPr>
          <p:txBody>
            <a:bodyPr rtlCol="0" anchor="ctr"/>
            <a:lstStyle/>
            <a:p>
              <a:pPr algn="ctr"/>
            </a:p>
          </p:txBody>
        </p:sp>
        <p:sp>
          <p:nvSpPr>
            <p:cNvPr id="20" name="Freeform 19"/>
            <p:cNvSpPr/>
            <p:nvPr/>
          </p:nvSpPr>
          <p:spPr>
            <a:xfrm>
              <a:off x="6343650" y="2608326"/>
              <a:ext cx="114300" cy="171450"/>
            </a:xfrm>
            <a:custGeom>
              <a:avLst/>
              <a:gdLst/>
              <a:ahLst/>
              <a:cxnLst/>
              <a:rect l="l" t="t" r="r" b="b"/>
              <a:pathLst>
                <a:path w="114300" h="171450">
                  <a:moveTo>
                    <a:pt x="0" y="171450"/>
                  </a:moveTo>
                  <a:lnTo>
                    <a:pt x="114300" y="171450"/>
                  </a:lnTo>
                  <a:lnTo>
                    <a:pt x="57150" y="0"/>
                  </a:lnTo>
                  <a:close/>
                </a:path>
              </a:pathLst>
            </a:custGeom>
            <a:solidFill>
              <a:srgbClr val="F2C14E"/>
            </a:solidFill>
            <a:ln>
              <a:noFill/>
            </a:ln>
          </p:spPr>
          <p:txBody>
            <a:bodyPr rtlCol="0" anchor="ctr"/>
            <a:lstStyle/>
            <a:p>
              <a:pPr algn="ctr"/>
            </a:p>
          </p:txBody>
        </p:sp>
        <p:sp>
          <p:nvSpPr>
            <p:cNvPr id="21" name="TextBox 20"/>
            <p:cNvSpPr txBox="1"/>
            <p:nvPr/>
          </p:nvSpPr>
          <p:spPr>
            <a:xfrm>
              <a:off x="6720840" y="2267712"/>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Burns more</a:t>
              </a:r>
            </a:p>
          </p:txBody>
        </p:sp>
        <p:sp>
          <p:nvSpPr>
            <p:cNvPr id="22" name="Rounded Rectangle 21"/>
            <p:cNvSpPr/>
            <p:nvPr/>
          </p:nvSpPr>
          <p:spPr>
            <a:xfrm>
              <a:off x="5989320" y="3163824"/>
              <a:ext cx="5650992" cy="749808"/>
            </a:xfrm>
            <a:prstGeom prst="roundRect">
              <a:avLst>
                <a:gd name="adj" fmla="val 9756"/>
              </a:avLst>
            </a:prstGeom>
            <a:solidFill>
              <a:srgbClr val="2B2F36"/>
            </a:solidFill>
            <a:ln>
              <a:noFill/>
            </a:ln>
          </p:spPr>
          <p:txBody>
            <a:bodyPr rtlCol="0" anchor="ctr"/>
            <a:lstStyle/>
            <a:p>
              <a:pPr algn="ctr"/>
            </a:p>
          </p:txBody>
        </p:sp>
        <p:sp>
          <p:nvSpPr>
            <p:cNvPr id="23" name="Rectangle 22"/>
            <p:cNvSpPr/>
            <p:nvPr/>
          </p:nvSpPr>
          <p:spPr>
            <a:xfrm>
              <a:off x="6206490" y="3447288"/>
              <a:ext cx="388620" cy="274320"/>
            </a:xfrm>
            <a:prstGeom prst="rect">
              <a:avLst/>
            </a:prstGeom>
            <a:pattFill prst="wdUpDiag">
              <a:fgClr>
                <a:srgbClr val="F28C28"/>
              </a:fgClr>
              <a:bgClr>
                <a:srgbClr val="2B2F36"/>
              </a:bgClr>
            </a:pattFill>
            <a:ln w="19050">
              <a:solidFill>
                <a:srgbClr val="F28C28"/>
              </a:solidFill>
            </a:ln>
          </p:spPr>
          <p:txBody>
            <a:bodyPr rtlCol="0" anchor="ctr"/>
            <a:lstStyle/>
            <a:p>
              <a:pPr algn="ctr"/>
            </a:p>
          </p:txBody>
        </p:sp>
        <p:sp>
          <p:nvSpPr>
            <p:cNvPr id="24" name="Oval 23"/>
            <p:cNvSpPr/>
            <p:nvPr/>
          </p:nvSpPr>
          <p:spPr>
            <a:xfrm>
              <a:off x="6247638" y="3637026"/>
              <a:ext cx="100584" cy="100584"/>
            </a:xfrm>
            <a:prstGeom prst="ellipse">
              <a:avLst/>
            </a:prstGeom>
            <a:solidFill>
              <a:srgbClr val="1B1D21"/>
            </a:solidFill>
            <a:ln w="12700">
              <a:solidFill>
                <a:srgbClr val="9AA0A6"/>
              </a:solidFill>
            </a:ln>
          </p:spPr>
          <p:txBody>
            <a:bodyPr rtlCol="0" anchor="ctr"/>
            <a:lstStyle/>
            <a:p>
              <a:pPr algn="ctr"/>
            </a:p>
          </p:txBody>
        </p:sp>
        <p:sp>
          <p:nvSpPr>
            <p:cNvPr id="25" name="Oval 24"/>
            <p:cNvSpPr/>
            <p:nvPr/>
          </p:nvSpPr>
          <p:spPr>
            <a:xfrm>
              <a:off x="6453378" y="3637026"/>
              <a:ext cx="100584" cy="100584"/>
            </a:xfrm>
            <a:prstGeom prst="ellipse">
              <a:avLst/>
            </a:prstGeom>
            <a:solidFill>
              <a:srgbClr val="1B1D21"/>
            </a:solidFill>
            <a:ln w="12700">
              <a:solidFill>
                <a:srgbClr val="9AA0A6"/>
              </a:solidFill>
            </a:ln>
          </p:spPr>
          <p:txBody>
            <a:bodyPr rtlCol="0" anchor="ctr"/>
            <a:lstStyle/>
            <a:p>
              <a:pPr algn="ctr"/>
            </a:p>
          </p:txBody>
        </p:sp>
        <p:sp>
          <p:nvSpPr>
            <p:cNvPr id="26" name="TextBox 25"/>
            <p:cNvSpPr txBox="1"/>
            <p:nvPr/>
          </p:nvSpPr>
          <p:spPr>
            <a:xfrm>
              <a:off x="6720840" y="3163824"/>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Auxiliary tender: a practical extra</a:t>
              </a:r>
            </a:p>
          </p:txBody>
        </p:sp>
        <p:sp>
          <p:nvSpPr>
            <p:cNvPr id="27" name="Rounded Rectangle 26"/>
            <p:cNvSpPr/>
            <p:nvPr/>
          </p:nvSpPr>
          <p:spPr>
            <a:xfrm>
              <a:off x="5989320" y="4059936"/>
              <a:ext cx="5650992" cy="932688"/>
            </a:xfrm>
            <a:prstGeom prst="roundRect">
              <a:avLst>
                <a:gd name="adj" fmla="val 7843"/>
              </a:avLst>
            </a:prstGeom>
            <a:solidFill>
              <a:srgbClr val="2B2F36"/>
            </a:solidFill>
            <a:ln>
              <a:noFill/>
            </a:ln>
          </p:spPr>
          <p:txBody>
            <a:bodyPr rtlCol="0" anchor="ctr"/>
            <a:lstStyle/>
            <a:p>
              <a:pPr algn="ctr"/>
            </a:p>
          </p:txBody>
        </p:sp>
        <p:sp>
          <p:nvSpPr>
            <p:cNvPr id="28" name="Chevron 27"/>
            <p:cNvSpPr/>
            <p:nvPr/>
          </p:nvSpPr>
          <p:spPr>
            <a:xfrm>
              <a:off x="6195060" y="4400550"/>
              <a:ext cx="160020" cy="251460"/>
            </a:xfrm>
            <a:prstGeom prst="chevron">
              <a:avLst/>
            </a:prstGeom>
            <a:solidFill>
              <a:srgbClr val="F28C28"/>
            </a:solidFill>
            <a:ln>
              <a:noFill/>
            </a:ln>
          </p:spPr>
          <p:txBody>
            <a:bodyPr rtlCol="0" anchor="ctr"/>
            <a:lstStyle/>
            <a:p>
              <a:pPr algn="ctr"/>
            </a:p>
          </p:txBody>
        </p:sp>
        <p:sp>
          <p:nvSpPr>
            <p:cNvPr id="29" name="Chevron 28"/>
            <p:cNvSpPr/>
            <p:nvPr/>
          </p:nvSpPr>
          <p:spPr>
            <a:xfrm>
              <a:off x="6320790" y="4400550"/>
              <a:ext cx="160020" cy="251460"/>
            </a:xfrm>
            <a:prstGeom prst="chevron">
              <a:avLst/>
            </a:prstGeom>
            <a:solidFill>
              <a:srgbClr val="F28C28"/>
            </a:solidFill>
            <a:ln>
              <a:noFill/>
            </a:ln>
          </p:spPr>
          <p:txBody>
            <a:bodyPr rtlCol="0" anchor="ctr"/>
            <a:lstStyle/>
            <a:p>
              <a:pPr algn="ctr"/>
            </a:p>
          </p:txBody>
        </p:sp>
        <p:sp>
          <p:nvSpPr>
            <p:cNvPr id="30" name="Chevron 29"/>
            <p:cNvSpPr/>
            <p:nvPr/>
          </p:nvSpPr>
          <p:spPr>
            <a:xfrm>
              <a:off x="6446520" y="4400550"/>
              <a:ext cx="160020" cy="251460"/>
            </a:xfrm>
            <a:prstGeom prst="chevron">
              <a:avLst/>
            </a:prstGeom>
            <a:solidFill>
              <a:srgbClr val="F28C28"/>
            </a:solidFill>
            <a:ln>
              <a:noFill/>
            </a:ln>
          </p:spPr>
          <p:txBody>
            <a:bodyPr rtlCol="0" anchor="ctr"/>
            <a:lstStyle/>
            <a:p>
              <a:pPr algn="ctr"/>
            </a:p>
          </p:txBody>
        </p:sp>
        <p:sp>
          <p:nvSpPr>
            <p:cNvPr id="31" name="TextBox 30"/>
            <p:cNvSpPr txBox="1"/>
            <p:nvPr/>
          </p:nvSpPr>
          <p:spPr>
            <a:xfrm>
              <a:off x="6720840" y="4133088"/>
              <a:ext cx="4809744" cy="384048"/>
            </a:xfrm>
            <a:prstGeom prst="rect">
              <a:avLst/>
            </a:prstGeom>
            <a:noFill/>
          </p:spPr>
          <p:txBody>
            <a:bodyPr wrap="square" lIns="0" tIns="0" rIns="0" bIns="0" anchor="ctr">
              <a:noAutofit/>
            </a:bodyPr>
            <a:lstStyle/>
            <a:p>
              <a:pPr algn="l"/>
              <a:r>
                <a:rPr sz="2000" b="0" i="0" lang="en-GB">
                  <a:solidFill>
                    <a:srgbClr val="F2F2F2"/>
                  </a:solidFill>
                  <a:latin typeface="Arial"/>
                </a:rPr>
                <a:t>Fastest class</a:t>
              </a:r>
            </a:p>
          </p:txBody>
        </p:sp>
        <p:sp>
          <p:nvSpPr>
            <p:cNvPr id="32" name="Inline chip Proposed"/>
            <p:cNvSpPr/>
            <p:nvPr/>
          </p:nvSpPr>
          <p:spPr>
            <a:xfrm>
              <a:off x="6720840" y="457200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33" name="Inline chip Undecided"/>
            <p:cNvSpPr/>
            <p:nvPr/>
          </p:nvSpPr>
          <p:spPr>
            <a:xfrm>
              <a:off x="8204192" y="4572000"/>
              <a:ext cx="2064980"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 (OQ05)</a:t>
              </a:r>
            </a:p>
          </p:txBody>
        </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Medium has a tender and more range. It uses more coal and water. It may be the fastest class.</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Large: the heavy hauler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pic>
        <p:nvPicPr>
          <p:cNvPr id="8" name="Picture P12" descr="BR Standard 9F No. 92203 at Toddington, front three-quarter view."/>
          <p:cNvPicPr>
            <a:picLocks noChangeAspect="1"/>
          </p:cNvPicPr>
          <p:nvPr/>
        </p:nvPicPr>
        <p:blipFill>
          <a:blip r:embed="rId2"/>
          <a:srcRect t="230" b="230"/>
          <a:stretch>
            <a:fillRect/>
          </a:stretch>
        </p:blipFill>
        <p:spPr>
          <a:xfrm>
            <a:off x="548640" y="1325880"/>
            <a:ext cx="5120640" cy="3291840"/>
          </a:xfrm>
          <a:prstGeom prst="roundRect">
            <a:avLst>
              <a:gd name="adj" fmla="val 2222"/>
            </a:avLst>
          </a:prstGeom>
        </p:spPr>
      </p:pic>
      <p:sp>
        <p:nvSpPr>
          <p:cNvPr id="9" name="Credit"/>
          <p:cNvSpPr txBox="1"/>
          <p:nvPr/>
        </p:nvSpPr>
        <p:spPr>
          <a:xfrm>
            <a:off x="548640" y="4645152"/>
            <a:ext cx="5120640" cy="182880"/>
          </a:xfrm>
          <a:prstGeom prst="rect">
            <a:avLst/>
          </a:prstGeom>
          <a:noFill/>
        </p:spPr>
        <p:txBody>
          <a:bodyPr wrap="square" lIns="0" tIns="0" rIns="0" bIns="0" anchor="t">
            <a:noAutofit/>
          </a:bodyPr>
          <a:lstStyle/>
          <a:p>
            <a:pPr algn="l"/>
            <a:r>
              <a:rPr sz="1000" b="0" i="0" lang="en-GB">
                <a:solidFill>
                  <a:srgbClr val="A9B0B8"/>
                </a:solidFill>
                <a:latin typeface="Arial"/>
              </a:rPr>
              <a:t>Photo: Tony Hisgett, CC BY 2.0, Wikimedia Commons.</a:t>
            </a:r>
          </a:p>
        </p:txBody>
      </p:sp>
      <p:sp>
        <p:nvSpPr>
          <p:cNvPr id="10" name="TextBox 9"/>
          <p:cNvSpPr txBox="1"/>
          <p:nvPr/>
        </p:nvSpPr>
        <p:spPr>
          <a:xfrm>
            <a:off x="548640" y="4846320"/>
            <a:ext cx="5120640" cy="329184"/>
          </a:xfrm>
          <a:prstGeom prst="rect">
            <a:avLst/>
          </a:prstGeom>
          <a:noFill/>
        </p:spPr>
        <p:txBody>
          <a:bodyPr wrap="square" lIns="0" tIns="0" rIns="0" bIns="0" anchor="t">
            <a:noAutofit/>
          </a:bodyPr>
          <a:lstStyle/>
          <a:p>
            <a:pPr algn="l"/>
            <a:r>
              <a:rPr sz="1600" b="0" i="0" lang="en-GB">
                <a:solidFill>
                  <a:srgbClr val="F2F2F2"/>
                </a:solidFill>
                <a:latin typeface="Arial"/>
              </a:rPr>
              <a:t>Reference: BR Standard 9F</a:t>
            </a:r>
          </a:p>
        </p:txBody>
      </p:sp>
      <p:grpSp>
        <p:nvGrpSpPr>
          <p:cNvPr id="11" name="Traits" descr="Traits: Most powerful; High coal and water demand; Auxiliary tender for very long routes; Slower to speed up."/>
          <p:cNvGrpSpPr/>
          <p:nvPr/>
        </p:nvGrpSpPr>
        <p:grpSpPr>
          <a:xfrm>
            <a:off x="5989320" y="1371600"/>
            <a:ext cx="5650992" cy="3438144"/>
            <a:chOff x="5989320" y="1371600"/>
            <a:chExt cx="5650992" cy="3438144"/>
          </a:xfrm>
        </p:grpSpPr>
        <p:sp>
          <p:nvSpPr>
            <p:cNvPr id="12" name="Rounded Rectangle 11"/>
            <p:cNvSpPr/>
            <p:nvPr/>
          </p:nvSpPr>
          <p:spPr>
            <a:xfrm>
              <a:off x="5989320" y="1371600"/>
              <a:ext cx="5650992" cy="749808"/>
            </a:xfrm>
            <a:prstGeom prst="roundRect">
              <a:avLst>
                <a:gd name="adj" fmla="val 9756"/>
              </a:avLst>
            </a:prstGeom>
            <a:solidFill>
              <a:srgbClr val="2B2F36"/>
            </a:solidFill>
            <a:ln>
              <a:noFill/>
            </a:ln>
          </p:spPr>
          <p:txBody>
            <a:bodyPr rtlCol="0" anchor="ctr"/>
            <a:lstStyle/>
            <a:p>
              <a:pPr algn="ctr"/>
            </a:p>
          </p:txBody>
        </p:sp>
        <p:sp>
          <p:nvSpPr>
            <p:cNvPr id="13" name="Freeform 12"/>
            <p:cNvSpPr/>
            <p:nvPr/>
          </p:nvSpPr>
          <p:spPr>
            <a:xfrm>
              <a:off x="6183630" y="1700784"/>
              <a:ext cx="228600" cy="205740"/>
            </a:xfrm>
            <a:custGeom>
              <a:avLst/>
              <a:gdLst/>
              <a:ahLst/>
              <a:cxnLst/>
              <a:rect l="l" t="t" r="r" b="b"/>
              <a:pathLst>
                <a:path w="228600" h="205740">
                  <a:moveTo>
                    <a:pt x="0" y="205740"/>
                  </a:moveTo>
                  <a:lnTo>
                    <a:pt x="228600" y="205740"/>
                  </a:lnTo>
                  <a:lnTo>
                    <a:pt x="187452" y="0"/>
                  </a:lnTo>
                  <a:lnTo>
                    <a:pt x="41148" y="0"/>
                  </a:lnTo>
                  <a:close/>
                </a:path>
              </a:pathLst>
            </a:custGeom>
            <a:solidFill>
              <a:srgbClr val="F28C28"/>
            </a:solidFill>
            <a:ln>
              <a:noFill/>
            </a:ln>
          </p:spPr>
          <p:txBody>
            <a:bodyPr rtlCol="0" anchor="ctr"/>
            <a:lstStyle/>
            <a:p>
              <a:pPr algn="ctr"/>
            </a:p>
          </p:txBody>
        </p:sp>
        <p:sp>
          <p:nvSpPr>
            <p:cNvPr id="14" name="Freeform 13"/>
            <p:cNvSpPr/>
            <p:nvPr/>
          </p:nvSpPr>
          <p:spPr>
            <a:xfrm>
              <a:off x="6389370" y="1700784"/>
              <a:ext cx="228600" cy="205740"/>
            </a:xfrm>
            <a:custGeom>
              <a:avLst/>
              <a:gdLst/>
              <a:ahLst/>
              <a:cxnLst/>
              <a:rect l="l" t="t" r="r" b="b"/>
              <a:pathLst>
                <a:path w="228600" h="205740">
                  <a:moveTo>
                    <a:pt x="0" y="205740"/>
                  </a:moveTo>
                  <a:lnTo>
                    <a:pt x="228600" y="205740"/>
                  </a:lnTo>
                  <a:lnTo>
                    <a:pt x="187452" y="0"/>
                  </a:lnTo>
                  <a:lnTo>
                    <a:pt x="41148" y="0"/>
                  </a:lnTo>
                  <a:close/>
                </a:path>
              </a:pathLst>
            </a:custGeom>
            <a:solidFill>
              <a:srgbClr val="F28C28"/>
            </a:solidFill>
            <a:ln>
              <a:noFill/>
            </a:ln>
          </p:spPr>
          <p:txBody>
            <a:bodyPr rtlCol="0" anchor="ctr"/>
            <a:lstStyle/>
            <a:p>
              <a:pPr algn="ctr"/>
            </a:p>
          </p:txBody>
        </p:sp>
        <p:sp>
          <p:nvSpPr>
            <p:cNvPr id="15" name="Freeform 14"/>
            <p:cNvSpPr/>
            <p:nvPr/>
          </p:nvSpPr>
          <p:spPr>
            <a:xfrm>
              <a:off x="6286500" y="1563624"/>
              <a:ext cx="228600" cy="194310"/>
            </a:xfrm>
            <a:custGeom>
              <a:avLst/>
              <a:gdLst/>
              <a:ahLst/>
              <a:cxnLst/>
              <a:rect l="l" t="t" r="r" b="b"/>
              <a:pathLst>
                <a:path w="228600" h="194310">
                  <a:moveTo>
                    <a:pt x="0" y="194310"/>
                  </a:moveTo>
                  <a:lnTo>
                    <a:pt x="228600" y="194310"/>
                  </a:lnTo>
                  <a:lnTo>
                    <a:pt x="187452" y="0"/>
                  </a:lnTo>
                  <a:lnTo>
                    <a:pt x="41148" y="0"/>
                  </a:lnTo>
                  <a:close/>
                </a:path>
              </a:pathLst>
            </a:custGeom>
            <a:solidFill>
              <a:srgbClr val="F28C28"/>
            </a:solidFill>
            <a:ln w="12700">
              <a:solidFill>
                <a:srgbClr val="1E2126"/>
              </a:solidFill>
            </a:ln>
          </p:spPr>
          <p:txBody>
            <a:bodyPr rtlCol="0" anchor="ctr"/>
            <a:lstStyle/>
            <a:p>
              <a:pPr algn="ctr"/>
            </a:p>
          </p:txBody>
        </p:sp>
        <p:sp>
          <p:nvSpPr>
            <p:cNvPr id="16" name="TextBox 15"/>
            <p:cNvSpPr txBox="1"/>
            <p:nvPr/>
          </p:nvSpPr>
          <p:spPr>
            <a:xfrm>
              <a:off x="6720840" y="1371600"/>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Most powerful</a:t>
              </a:r>
            </a:p>
          </p:txBody>
        </p:sp>
        <p:sp>
          <p:nvSpPr>
            <p:cNvPr id="17" name="Rounded Rectangle 16"/>
            <p:cNvSpPr/>
            <p:nvPr/>
          </p:nvSpPr>
          <p:spPr>
            <a:xfrm>
              <a:off x="5989320" y="2267712"/>
              <a:ext cx="5650992" cy="749808"/>
            </a:xfrm>
            <a:prstGeom prst="roundRect">
              <a:avLst>
                <a:gd name="adj" fmla="val 9756"/>
              </a:avLst>
            </a:prstGeom>
            <a:solidFill>
              <a:srgbClr val="2B2F36"/>
            </a:solidFill>
            <a:ln>
              <a:noFill/>
            </a:ln>
          </p:spPr>
          <p:txBody>
            <a:bodyPr rtlCol="0" anchor="ctr"/>
            <a:lstStyle/>
            <a:p>
              <a:pPr algn="ctr"/>
            </a:p>
          </p:txBody>
        </p:sp>
        <p:sp>
          <p:nvSpPr>
            <p:cNvPr id="18" name="Freeform 17"/>
            <p:cNvSpPr/>
            <p:nvPr/>
          </p:nvSpPr>
          <p:spPr>
            <a:xfrm>
              <a:off x="6207919" y="2500884"/>
              <a:ext cx="202882" cy="272125"/>
            </a:xfrm>
            <a:custGeom>
              <a:avLst/>
              <a:gdLst/>
              <a:ahLst/>
              <a:cxnLst/>
              <a:rect l="l" t="t" r="r" b="b"/>
              <a:pathLst>
                <a:path w="202882" h="272125">
                  <a:moveTo>
                    <a:pt x="5548" y="135176"/>
                  </a:moveTo>
                  <a:lnTo>
                    <a:pt x="0" y="158969"/>
                  </a:lnTo>
                  <a:lnTo>
                    <a:pt x="267" y="183398"/>
                  </a:lnTo>
                  <a:lnTo>
                    <a:pt x="6332" y="207064"/>
                  </a:lnTo>
                  <a:lnTo>
                    <a:pt x="17849" y="228610"/>
                  </a:lnTo>
                  <a:lnTo>
                    <a:pt x="34157" y="246801"/>
                  </a:lnTo>
                  <a:lnTo>
                    <a:pt x="54321" y="260595"/>
                  </a:lnTo>
                  <a:lnTo>
                    <a:pt x="77186" y="269201"/>
                  </a:lnTo>
                  <a:lnTo>
                    <a:pt x="101441" y="272125"/>
                  </a:lnTo>
                  <a:lnTo>
                    <a:pt x="125696" y="269201"/>
                  </a:lnTo>
                  <a:lnTo>
                    <a:pt x="148561" y="260595"/>
                  </a:lnTo>
                  <a:lnTo>
                    <a:pt x="168725" y="246801"/>
                  </a:lnTo>
                  <a:lnTo>
                    <a:pt x="185033" y="228610"/>
                  </a:lnTo>
                  <a:lnTo>
                    <a:pt x="196550" y="207064"/>
                  </a:lnTo>
                  <a:lnTo>
                    <a:pt x="202615" y="183398"/>
                  </a:lnTo>
                  <a:lnTo>
                    <a:pt x="202882" y="158969"/>
                  </a:lnTo>
                  <a:lnTo>
                    <a:pt x="197334" y="135176"/>
                  </a:lnTo>
                  <a:lnTo>
                    <a:pt x="101441" y="0"/>
                  </a:lnTo>
                  <a:close/>
                </a:path>
              </a:pathLst>
            </a:custGeom>
            <a:solidFill>
              <a:srgbClr val="4DA3FF"/>
            </a:solidFill>
            <a:ln>
              <a:noFill/>
            </a:ln>
          </p:spPr>
          <p:txBody>
            <a:bodyPr rtlCol="0" anchor="ctr"/>
            <a:lstStyle/>
            <a:p>
              <a:pPr algn="ctr"/>
            </a:p>
          </p:txBody>
        </p:sp>
        <p:sp>
          <p:nvSpPr>
            <p:cNvPr id="19" name="Freeform 18"/>
            <p:cNvSpPr/>
            <p:nvPr/>
          </p:nvSpPr>
          <p:spPr>
            <a:xfrm>
              <a:off x="6423660" y="2596896"/>
              <a:ext cx="194310" cy="182880"/>
            </a:xfrm>
            <a:custGeom>
              <a:avLst/>
              <a:gdLst/>
              <a:ahLst/>
              <a:cxnLst/>
              <a:rect l="l" t="t" r="r" b="b"/>
              <a:pathLst>
                <a:path w="194310" h="182880">
                  <a:moveTo>
                    <a:pt x="0" y="182880"/>
                  </a:moveTo>
                  <a:lnTo>
                    <a:pt x="194310" y="182880"/>
                  </a:lnTo>
                  <a:lnTo>
                    <a:pt x="160020" y="45720"/>
                  </a:lnTo>
                  <a:lnTo>
                    <a:pt x="80010" y="0"/>
                  </a:lnTo>
                  <a:lnTo>
                    <a:pt x="22860" y="68580"/>
                  </a:lnTo>
                  <a:close/>
                </a:path>
              </a:pathLst>
            </a:custGeom>
            <a:solidFill>
              <a:srgbClr val="1B1D21"/>
            </a:solidFill>
            <a:ln w="12700">
              <a:solidFill>
                <a:srgbClr val="6B7078"/>
              </a:solidFill>
            </a:ln>
          </p:spPr>
          <p:txBody>
            <a:bodyPr rtlCol="0" anchor="ctr"/>
            <a:lstStyle/>
            <a:p>
              <a:pPr algn="ctr"/>
            </a:p>
          </p:txBody>
        </p:sp>
        <p:sp>
          <p:nvSpPr>
            <p:cNvPr id="20" name="TextBox 19"/>
            <p:cNvSpPr txBox="1"/>
            <p:nvPr/>
          </p:nvSpPr>
          <p:spPr>
            <a:xfrm>
              <a:off x="6720840" y="2267712"/>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High coal and water demand</a:t>
              </a:r>
            </a:p>
          </p:txBody>
        </p:sp>
        <p:sp>
          <p:nvSpPr>
            <p:cNvPr id="21" name="Rounded Rectangle 20"/>
            <p:cNvSpPr/>
            <p:nvPr/>
          </p:nvSpPr>
          <p:spPr>
            <a:xfrm>
              <a:off x="5989320" y="3163824"/>
              <a:ext cx="5650992" cy="749808"/>
            </a:xfrm>
            <a:prstGeom prst="roundRect">
              <a:avLst>
                <a:gd name="adj" fmla="val 9756"/>
              </a:avLst>
            </a:prstGeom>
            <a:solidFill>
              <a:srgbClr val="2B2F36"/>
            </a:solidFill>
            <a:ln>
              <a:noFill/>
            </a:ln>
          </p:spPr>
          <p:txBody>
            <a:bodyPr rtlCol="0" anchor="ctr"/>
            <a:lstStyle/>
            <a:p>
              <a:pPr algn="ctr"/>
            </a:p>
          </p:txBody>
        </p:sp>
        <p:sp>
          <p:nvSpPr>
            <p:cNvPr id="22" name="Rectangle 21"/>
            <p:cNvSpPr/>
            <p:nvPr/>
          </p:nvSpPr>
          <p:spPr>
            <a:xfrm>
              <a:off x="6206490" y="3447288"/>
              <a:ext cx="388620" cy="274320"/>
            </a:xfrm>
            <a:prstGeom prst="rect">
              <a:avLst/>
            </a:prstGeom>
            <a:pattFill prst="wdUpDiag">
              <a:fgClr>
                <a:srgbClr val="F28C28"/>
              </a:fgClr>
              <a:bgClr>
                <a:srgbClr val="2B2F36"/>
              </a:bgClr>
            </a:pattFill>
            <a:ln w="19050">
              <a:solidFill>
                <a:srgbClr val="F28C28"/>
              </a:solidFill>
            </a:ln>
          </p:spPr>
          <p:txBody>
            <a:bodyPr rtlCol="0" anchor="ctr"/>
            <a:lstStyle/>
            <a:p>
              <a:pPr algn="ctr"/>
            </a:p>
          </p:txBody>
        </p:sp>
        <p:sp>
          <p:nvSpPr>
            <p:cNvPr id="23" name="Oval 22"/>
            <p:cNvSpPr/>
            <p:nvPr/>
          </p:nvSpPr>
          <p:spPr>
            <a:xfrm>
              <a:off x="6247638" y="3637026"/>
              <a:ext cx="100584" cy="100584"/>
            </a:xfrm>
            <a:prstGeom prst="ellipse">
              <a:avLst/>
            </a:prstGeom>
            <a:solidFill>
              <a:srgbClr val="1B1D21"/>
            </a:solidFill>
            <a:ln w="12700">
              <a:solidFill>
                <a:srgbClr val="9AA0A6"/>
              </a:solidFill>
            </a:ln>
          </p:spPr>
          <p:txBody>
            <a:bodyPr rtlCol="0" anchor="ctr"/>
            <a:lstStyle/>
            <a:p>
              <a:pPr algn="ctr"/>
            </a:p>
          </p:txBody>
        </p:sp>
        <p:sp>
          <p:nvSpPr>
            <p:cNvPr id="24" name="Oval 23"/>
            <p:cNvSpPr/>
            <p:nvPr/>
          </p:nvSpPr>
          <p:spPr>
            <a:xfrm>
              <a:off x="6453378" y="3637026"/>
              <a:ext cx="100584" cy="100584"/>
            </a:xfrm>
            <a:prstGeom prst="ellipse">
              <a:avLst/>
            </a:prstGeom>
            <a:solidFill>
              <a:srgbClr val="1B1D21"/>
            </a:solidFill>
            <a:ln w="12700">
              <a:solidFill>
                <a:srgbClr val="9AA0A6"/>
              </a:solidFill>
            </a:ln>
          </p:spPr>
          <p:txBody>
            <a:bodyPr rtlCol="0" anchor="ctr"/>
            <a:lstStyle/>
            <a:p>
              <a:pPr algn="ctr"/>
            </a:p>
          </p:txBody>
        </p:sp>
        <p:sp>
          <p:nvSpPr>
            <p:cNvPr id="25" name="TextBox 24"/>
            <p:cNvSpPr txBox="1"/>
            <p:nvPr/>
          </p:nvSpPr>
          <p:spPr>
            <a:xfrm>
              <a:off x="6720840" y="3163824"/>
              <a:ext cx="4809744" cy="749808"/>
            </a:xfrm>
            <a:prstGeom prst="rect">
              <a:avLst/>
            </a:prstGeom>
            <a:noFill/>
          </p:spPr>
          <p:txBody>
            <a:bodyPr wrap="square" lIns="0" tIns="0" rIns="0" bIns="0" anchor="ctr">
              <a:noAutofit/>
            </a:bodyPr>
            <a:lstStyle/>
            <a:p>
              <a:pPr algn="l"/>
              <a:r>
                <a:rPr sz="2000" b="0" i="0" lang="en-GB">
                  <a:solidFill>
                    <a:srgbClr val="F2F2F2"/>
                  </a:solidFill>
                  <a:latin typeface="Arial"/>
                </a:rPr>
                <a:t>Auxiliary tender for very long routes</a:t>
              </a:r>
            </a:p>
          </p:txBody>
        </p:sp>
        <p:sp>
          <p:nvSpPr>
            <p:cNvPr id="26" name="Rounded Rectangle 25"/>
            <p:cNvSpPr/>
            <p:nvPr/>
          </p:nvSpPr>
          <p:spPr>
            <a:xfrm>
              <a:off x="5989320" y="4059936"/>
              <a:ext cx="5650992" cy="749808"/>
            </a:xfrm>
            <a:prstGeom prst="roundRect">
              <a:avLst>
                <a:gd name="adj" fmla="val 9756"/>
              </a:avLst>
            </a:prstGeom>
            <a:solidFill>
              <a:srgbClr val="2B2F36"/>
            </a:solidFill>
            <a:ln>
              <a:noFill/>
            </a:ln>
          </p:spPr>
          <p:txBody>
            <a:bodyPr rtlCol="0" anchor="ctr"/>
            <a:lstStyle/>
            <a:p>
              <a:pPr algn="ctr"/>
            </a:p>
          </p:txBody>
        </p:sp>
        <p:sp>
          <p:nvSpPr>
            <p:cNvPr id="27" name="Oval 26"/>
            <p:cNvSpPr/>
            <p:nvPr/>
          </p:nvSpPr>
          <p:spPr>
            <a:xfrm>
              <a:off x="6195060" y="4229100"/>
              <a:ext cx="411480" cy="411480"/>
            </a:xfrm>
            <a:prstGeom prst="ellipse">
              <a:avLst/>
            </a:prstGeom>
            <a:noFill/>
            <a:ln w="31750">
              <a:solidFill>
                <a:srgbClr val="F28C28"/>
              </a:solidFill>
            </a:ln>
          </p:spPr>
          <p:txBody>
            <a:bodyPr rtlCol="0" anchor="ctr"/>
            <a:lstStyle/>
            <a:p>
              <a:pPr algn="ctr"/>
            </a:p>
          </p:txBody>
        </p:sp>
        <p:cxnSp>
          <p:nvCxnSpPr>
            <p:cNvPr id="28" name="Connector 27"/>
            <p:cNvCxnSpPr/>
            <p:nvPr/>
          </p:nvCxnSpPr>
          <p:spPr>
            <a:xfrm flipH="1" flipV="1">
              <a:off x="6297930" y="4389120"/>
              <a:ext cx="102870" cy="45720"/>
            </a:xfrm>
            <a:prstGeom prst="line">
              <a:avLst/>
            </a:prstGeom>
            <a:ln w="31750">
              <a:solidFill>
                <a:srgbClr val="F2F2F2"/>
              </a:solidFill>
            </a:ln>
          </p:spPr>
        </p:cxnSp>
        <p:sp>
          <p:nvSpPr>
            <p:cNvPr id="29" name="Oval 28"/>
            <p:cNvSpPr/>
            <p:nvPr/>
          </p:nvSpPr>
          <p:spPr>
            <a:xfrm>
              <a:off x="6373368" y="4407408"/>
              <a:ext cx="54864" cy="54864"/>
            </a:xfrm>
            <a:prstGeom prst="ellipse">
              <a:avLst/>
            </a:prstGeom>
            <a:solidFill>
              <a:srgbClr val="F28C28"/>
            </a:solidFill>
            <a:ln>
              <a:noFill/>
            </a:ln>
          </p:spPr>
          <p:txBody>
            <a:bodyPr rtlCol="0" anchor="ctr"/>
            <a:lstStyle/>
            <a:p>
              <a:pPr algn="ctr"/>
            </a:p>
          </p:txBody>
        </p:sp>
        <p:sp>
          <p:nvSpPr>
            <p:cNvPr id="30" name="TextBox 29"/>
            <p:cNvSpPr txBox="1"/>
            <p:nvPr/>
          </p:nvSpPr>
          <p:spPr>
            <a:xfrm>
              <a:off x="6720840" y="4059936"/>
              <a:ext cx="3344680" cy="749808"/>
            </a:xfrm>
            <a:prstGeom prst="rect">
              <a:avLst/>
            </a:prstGeom>
            <a:noFill/>
          </p:spPr>
          <p:txBody>
            <a:bodyPr wrap="square" lIns="0" tIns="0" rIns="0" bIns="0" anchor="ctr">
              <a:noAutofit/>
            </a:bodyPr>
            <a:lstStyle/>
            <a:p>
              <a:pPr algn="l"/>
              <a:r>
                <a:rPr sz="2000" b="0" i="0" lang="en-GB">
                  <a:solidFill>
                    <a:srgbClr val="F2F2F2"/>
                  </a:solidFill>
                  <a:latin typeface="Arial"/>
                </a:rPr>
                <a:t>Slower to speed up</a:t>
              </a:r>
            </a:p>
          </p:txBody>
        </p:sp>
        <p:sp>
          <p:nvSpPr>
            <p:cNvPr id="31" name="Inline chip Proposed"/>
            <p:cNvSpPr/>
            <p:nvPr/>
          </p:nvSpPr>
          <p:spPr>
            <a:xfrm>
              <a:off x="10156960" y="4270248"/>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Large pulls the heaviest trains. It is thirsty and slow to speed up. It suits heavy freight.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Wagons</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grpSp>
        <p:nvGrpSpPr>
          <p:cNvPr id="8" name="Wagon comparison" descr="Two wagons side by side. The steam wagon holds a grid of 20 squares (about 20 item stacks); the vanilla wagon holds 32."/>
          <p:cNvGrpSpPr/>
          <p:nvPr/>
        </p:nvGrpSpPr>
        <p:grpSpPr>
          <a:xfrm>
            <a:off x="640080" y="1737360"/>
            <a:ext cx="10360152" cy="1865376"/>
            <a:chOff x="640080" y="1737360"/>
            <a:chExt cx="10360152" cy="1865376"/>
          </a:xfrm>
        </p:grpSpPr>
        <p:sp>
          <p:nvSpPr>
            <p:cNvPr id="9" name="Rounded Rectangle 8"/>
            <p:cNvSpPr/>
            <p:nvPr/>
          </p:nvSpPr>
          <p:spPr>
            <a:xfrm>
              <a:off x="914400" y="1737360"/>
              <a:ext cx="4206240" cy="1463040"/>
            </a:xfrm>
            <a:prstGeom prst="roundRect">
              <a:avLst>
                <a:gd name="adj" fmla="val 3750"/>
              </a:avLst>
            </a:prstGeom>
            <a:solidFill>
              <a:srgbClr val="4D3926"/>
            </a:solidFill>
            <a:ln w="31750">
              <a:solidFill>
                <a:srgbClr val="F28C28"/>
              </a:solidFill>
            </a:ln>
          </p:spPr>
          <p:txBody>
            <a:bodyPr rtlCol="0" anchor="ctr"/>
            <a:lstStyle/>
            <a:p>
              <a:pPr algn="ctr"/>
            </a:p>
          </p:txBody>
        </p:sp>
        <p:sp>
          <p:nvSpPr>
            <p:cNvPr id="10" name="Rounded Rectangle 9"/>
            <p:cNvSpPr/>
            <p:nvPr/>
          </p:nvSpPr>
          <p:spPr>
            <a:xfrm>
              <a:off x="2295144" y="1897380"/>
              <a:ext cx="237744" cy="237744"/>
            </a:xfrm>
            <a:prstGeom prst="roundRect">
              <a:avLst>
                <a:gd name="adj" fmla="val 11538"/>
              </a:avLst>
            </a:prstGeom>
            <a:solidFill>
              <a:srgbClr val="F28C28"/>
            </a:solidFill>
            <a:ln>
              <a:noFill/>
            </a:ln>
          </p:spPr>
          <p:txBody>
            <a:bodyPr rtlCol="0" anchor="ctr"/>
            <a:lstStyle/>
            <a:p>
              <a:pPr algn="ctr"/>
            </a:p>
          </p:txBody>
        </p:sp>
        <p:sp>
          <p:nvSpPr>
            <p:cNvPr id="11" name="Rounded Rectangle 10"/>
            <p:cNvSpPr/>
            <p:nvPr/>
          </p:nvSpPr>
          <p:spPr>
            <a:xfrm>
              <a:off x="2596896" y="1897380"/>
              <a:ext cx="237744" cy="237744"/>
            </a:xfrm>
            <a:prstGeom prst="roundRect">
              <a:avLst>
                <a:gd name="adj" fmla="val 11538"/>
              </a:avLst>
            </a:prstGeom>
            <a:solidFill>
              <a:srgbClr val="F28C28"/>
            </a:solidFill>
            <a:ln>
              <a:noFill/>
            </a:ln>
          </p:spPr>
          <p:txBody>
            <a:bodyPr rtlCol="0" anchor="ctr"/>
            <a:lstStyle/>
            <a:p>
              <a:pPr algn="ctr"/>
            </a:p>
          </p:txBody>
        </p:sp>
        <p:sp>
          <p:nvSpPr>
            <p:cNvPr id="12" name="Rounded Rectangle 11"/>
            <p:cNvSpPr/>
            <p:nvPr/>
          </p:nvSpPr>
          <p:spPr>
            <a:xfrm>
              <a:off x="2898648" y="1897380"/>
              <a:ext cx="237744" cy="237744"/>
            </a:xfrm>
            <a:prstGeom prst="roundRect">
              <a:avLst>
                <a:gd name="adj" fmla="val 11538"/>
              </a:avLst>
            </a:prstGeom>
            <a:solidFill>
              <a:srgbClr val="F28C28"/>
            </a:solidFill>
            <a:ln>
              <a:noFill/>
            </a:ln>
          </p:spPr>
          <p:txBody>
            <a:bodyPr rtlCol="0" anchor="ctr"/>
            <a:lstStyle/>
            <a:p>
              <a:pPr algn="ctr"/>
            </a:p>
          </p:txBody>
        </p:sp>
        <p:sp>
          <p:nvSpPr>
            <p:cNvPr id="13" name="Rounded Rectangle 12"/>
            <p:cNvSpPr/>
            <p:nvPr/>
          </p:nvSpPr>
          <p:spPr>
            <a:xfrm>
              <a:off x="3200400" y="1897380"/>
              <a:ext cx="237744" cy="237744"/>
            </a:xfrm>
            <a:prstGeom prst="roundRect">
              <a:avLst>
                <a:gd name="adj" fmla="val 11538"/>
              </a:avLst>
            </a:prstGeom>
            <a:solidFill>
              <a:srgbClr val="F28C28"/>
            </a:solidFill>
            <a:ln>
              <a:noFill/>
            </a:ln>
          </p:spPr>
          <p:txBody>
            <a:bodyPr rtlCol="0" anchor="ctr"/>
            <a:lstStyle/>
            <a:p>
              <a:pPr algn="ctr"/>
            </a:p>
          </p:txBody>
        </p:sp>
        <p:sp>
          <p:nvSpPr>
            <p:cNvPr id="14" name="Rounded Rectangle 13"/>
            <p:cNvSpPr/>
            <p:nvPr/>
          </p:nvSpPr>
          <p:spPr>
            <a:xfrm>
              <a:off x="3502152" y="1897380"/>
              <a:ext cx="237744" cy="237744"/>
            </a:xfrm>
            <a:prstGeom prst="roundRect">
              <a:avLst>
                <a:gd name="adj" fmla="val 11538"/>
              </a:avLst>
            </a:prstGeom>
            <a:solidFill>
              <a:srgbClr val="F28C28"/>
            </a:solidFill>
            <a:ln>
              <a:noFill/>
            </a:ln>
          </p:spPr>
          <p:txBody>
            <a:bodyPr rtlCol="0" anchor="ctr"/>
            <a:lstStyle/>
            <a:p>
              <a:pPr algn="ctr"/>
            </a:p>
          </p:txBody>
        </p:sp>
        <p:sp>
          <p:nvSpPr>
            <p:cNvPr id="15" name="Rounded Rectangle 14"/>
            <p:cNvSpPr/>
            <p:nvPr/>
          </p:nvSpPr>
          <p:spPr>
            <a:xfrm>
              <a:off x="2295144" y="2199132"/>
              <a:ext cx="237744" cy="237744"/>
            </a:xfrm>
            <a:prstGeom prst="roundRect">
              <a:avLst>
                <a:gd name="adj" fmla="val 11538"/>
              </a:avLst>
            </a:prstGeom>
            <a:solidFill>
              <a:srgbClr val="F28C28"/>
            </a:solidFill>
            <a:ln>
              <a:noFill/>
            </a:ln>
          </p:spPr>
          <p:txBody>
            <a:bodyPr rtlCol="0" anchor="ctr"/>
            <a:lstStyle/>
            <a:p>
              <a:pPr algn="ctr"/>
            </a:p>
          </p:txBody>
        </p:sp>
        <p:sp>
          <p:nvSpPr>
            <p:cNvPr id="16" name="Rounded Rectangle 15"/>
            <p:cNvSpPr/>
            <p:nvPr/>
          </p:nvSpPr>
          <p:spPr>
            <a:xfrm>
              <a:off x="2596896" y="2199132"/>
              <a:ext cx="237744" cy="237744"/>
            </a:xfrm>
            <a:prstGeom prst="roundRect">
              <a:avLst>
                <a:gd name="adj" fmla="val 11538"/>
              </a:avLst>
            </a:prstGeom>
            <a:solidFill>
              <a:srgbClr val="F28C28"/>
            </a:solidFill>
            <a:ln>
              <a:noFill/>
            </a:ln>
          </p:spPr>
          <p:txBody>
            <a:bodyPr rtlCol="0" anchor="ctr"/>
            <a:lstStyle/>
            <a:p>
              <a:pPr algn="ctr"/>
            </a:p>
          </p:txBody>
        </p:sp>
        <p:sp>
          <p:nvSpPr>
            <p:cNvPr id="17" name="Rounded Rectangle 16"/>
            <p:cNvSpPr/>
            <p:nvPr/>
          </p:nvSpPr>
          <p:spPr>
            <a:xfrm>
              <a:off x="2898648" y="2199132"/>
              <a:ext cx="237744" cy="237744"/>
            </a:xfrm>
            <a:prstGeom prst="roundRect">
              <a:avLst>
                <a:gd name="adj" fmla="val 11538"/>
              </a:avLst>
            </a:prstGeom>
            <a:solidFill>
              <a:srgbClr val="F28C28"/>
            </a:solidFill>
            <a:ln>
              <a:noFill/>
            </a:ln>
          </p:spPr>
          <p:txBody>
            <a:bodyPr rtlCol="0" anchor="ctr"/>
            <a:lstStyle/>
            <a:p>
              <a:pPr algn="ctr"/>
            </a:p>
          </p:txBody>
        </p:sp>
        <p:sp>
          <p:nvSpPr>
            <p:cNvPr id="18" name="Rounded Rectangle 17"/>
            <p:cNvSpPr/>
            <p:nvPr/>
          </p:nvSpPr>
          <p:spPr>
            <a:xfrm>
              <a:off x="3200400" y="2199132"/>
              <a:ext cx="237744" cy="237744"/>
            </a:xfrm>
            <a:prstGeom prst="roundRect">
              <a:avLst>
                <a:gd name="adj" fmla="val 11538"/>
              </a:avLst>
            </a:prstGeom>
            <a:solidFill>
              <a:srgbClr val="F28C28"/>
            </a:solidFill>
            <a:ln>
              <a:noFill/>
            </a:ln>
          </p:spPr>
          <p:txBody>
            <a:bodyPr rtlCol="0" anchor="ctr"/>
            <a:lstStyle/>
            <a:p>
              <a:pPr algn="ctr"/>
            </a:p>
          </p:txBody>
        </p:sp>
        <p:sp>
          <p:nvSpPr>
            <p:cNvPr id="19" name="Rounded Rectangle 18"/>
            <p:cNvSpPr/>
            <p:nvPr/>
          </p:nvSpPr>
          <p:spPr>
            <a:xfrm>
              <a:off x="3502152" y="2199132"/>
              <a:ext cx="237744" cy="237744"/>
            </a:xfrm>
            <a:prstGeom prst="roundRect">
              <a:avLst>
                <a:gd name="adj" fmla="val 11538"/>
              </a:avLst>
            </a:prstGeom>
            <a:solidFill>
              <a:srgbClr val="F28C28"/>
            </a:solidFill>
            <a:ln>
              <a:noFill/>
            </a:ln>
          </p:spPr>
          <p:txBody>
            <a:bodyPr rtlCol="0" anchor="ctr"/>
            <a:lstStyle/>
            <a:p>
              <a:pPr algn="ctr"/>
            </a:p>
          </p:txBody>
        </p:sp>
        <p:sp>
          <p:nvSpPr>
            <p:cNvPr id="20" name="Rounded Rectangle 19"/>
            <p:cNvSpPr/>
            <p:nvPr/>
          </p:nvSpPr>
          <p:spPr>
            <a:xfrm>
              <a:off x="2295144" y="2500884"/>
              <a:ext cx="237744" cy="237744"/>
            </a:xfrm>
            <a:prstGeom prst="roundRect">
              <a:avLst>
                <a:gd name="adj" fmla="val 11538"/>
              </a:avLst>
            </a:prstGeom>
            <a:solidFill>
              <a:srgbClr val="F28C28"/>
            </a:solidFill>
            <a:ln>
              <a:noFill/>
            </a:ln>
          </p:spPr>
          <p:txBody>
            <a:bodyPr rtlCol="0" anchor="ctr"/>
            <a:lstStyle/>
            <a:p>
              <a:pPr algn="ctr"/>
            </a:p>
          </p:txBody>
        </p:sp>
        <p:sp>
          <p:nvSpPr>
            <p:cNvPr id="21" name="Rounded Rectangle 20"/>
            <p:cNvSpPr/>
            <p:nvPr/>
          </p:nvSpPr>
          <p:spPr>
            <a:xfrm>
              <a:off x="2596896" y="2500884"/>
              <a:ext cx="237744" cy="237744"/>
            </a:xfrm>
            <a:prstGeom prst="roundRect">
              <a:avLst>
                <a:gd name="adj" fmla="val 11538"/>
              </a:avLst>
            </a:prstGeom>
            <a:solidFill>
              <a:srgbClr val="F28C28"/>
            </a:solidFill>
            <a:ln>
              <a:noFill/>
            </a:ln>
          </p:spPr>
          <p:txBody>
            <a:bodyPr rtlCol="0" anchor="ctr"/>
            <a:lstStyle/>
            <a:p>
              <a:pPr algn="ctr"/>
            </a:p>
          </p:txBody>
        </p:sp>
        <p:sp>
          <p:nvSpPr>
            <p:cNvPr id="22" name="Rounded Rectangle 21"/>
            <p:cNvSpPr/>
            <p:nvPr/>
          </p:nvSpPr>
          <p:spPr>
            <a:xfrm>
              <a:off x="2898648" y="2500884"/>
              <a:ext cx="237744" cy="237744"/>
            </a:xfrm>
            <a:prstGeom prst="roundRect">
              <a:avLst>
                <a:gd name="adj" fmla="val 11538"/>
              </a:avLst>
            </a:prstGeom>
            <a:solidFill>
              <a:srgbClr val="F28C28"/>
            </a:solidFill>
            <a:ln>
              <a:noFill/>
            </a:ln>
          </p:spPr>
          <p:txBody>
            <a:bodyPr rtlCol="0" anchor="ctr"/>
            <a:lstStyle/>
            <a:p>
              <a:pPr algn="ctr"/>
            </a:p>
          </p:txBody>
        </p:sp>
        <p:sp>
          <p:nvSpPr>
            <p:cNvPr id="23" name="Rounded Rectangle 22"/>
            <p:cNvSpPr/>
            <p:nvPr/>
          </p:nvSpPr>
          <p:spPr>
            <a:xfrm>
              <a:off x="3200400" y="2500884"/>
              <a:ext cx="237744" cy="237744"/>
            </a:xfrm>
            <a:prstGeom prst="roundRect">
              <a:avLst>
                <a:gd name="adj" fmla="val 11538"/>
              </a:avLst>
            </a:prstGeom>
            <a:solidFill>
              <a:srgbClr val="F28C28"/>
            </a:solidFill>
            <a:ln>
              <a:noFill/>
            </a:ln>
          </p:spPr>
          <p:txBody>
            <a:bodyPr rtlCol="0" anchor="ctr"/>
            <a:lstStyle/>
            <a:p>
              <a:pPr algn="ctr"/>
            </a:p>
          </p:txBody>
        </p:sp>
        <p:sp>
          <p:nvSpPr>
            <p:cNvPr id="24" name="Rounded Rectangle 23"/>
            <p:cNvSpPr/>
            <p:nvPr/>
          </p:nvSpPr>
          <p:spPr>
            <a:xfrm>
              <a:off x="3502152" y="2500884"/>
              <a:ext cx="237744" cy="237744"/>
            </a:xfrm>
            <a:prstGeom prst="roundRect">
              <a:avLst>
                <a:gd name="adj" fmla="val 11538"/>
              </a:avLst>
            </a:prstGeom>
            <a:solidFill>
              <a:srgbClr val="F28C28"/>
            </a:solidFill>
            <a:ln>
              <a:noFill/>
            </a:ln>
          </p:spPr>
          <p:txBody>
            <a:bodyPr rtlCol="0" anchor="ctr"/>
            <a:lstStyle/>
            <a:p>
              <a:pPr algn="ctr"/>
            </a:p>
          </p:txBody>
        </p:sp>
        <p:sp>
          <p:nvSpPr>
            <p:cNvPr id="25" name="Rounded Rectangle 24"/>
            <p:cNvSpPr/>
            <p:nvPr/>
          </p:nvSpPr>
          <p:spPr>
            <a:xfrm>
              <a:off x="2295144" y="2802636"/>
              <a:ext cx="237744" cy="237744"/>
            </a:xfrm>
            <a:prstGeom prst="roundRect">
              <a:avLst>
                <a:gd name="adj" fmla="val 11538"/>
              </a:avLst>
            </a:prstGeom>
            <a:solidFill>
              <a:srgbClr val="F28C28"/>
            </a:solidFill>
            <a:ln>
              <a:noFill/>
            </a:ln>
          </p:spPr>
          <p:txBody>
            <a:bodyPr rtlCol="0" anchor="ctr"/>
            <a:lstStyle/>
            <a:p>
              <a:pPr algn="ctr"/>
            </a:p>
          </p:txBody>
        </p:sp>
        <p:sp>
          <p:nvSpPr>
            <p:cNvPr id="26" name="Rounded Rectangle 25"/>
            <p:cNvSpPr/>
            <p:nvPr/>
          </p:nvSpPr>
          <p:spPr>
            <a:xfrm>
              <a:off x="2596896" y="2802636"/>
              <a:ext cx="237744" cy="237744"/>
            </a:xfrm>
            <a:prstGeom prst="roundRect">
              <a:avLst>
                <a:gd name="adj" fmla="val 11538"/>
              </a:avLst>
            </a:prstGeom>
            <a:solidFill>
              <a:srgbClr val="F28C28"/>
            </a:solidFill>
            <a:ln>
              <a:noFill/>
            </a:ln>
          </p:spPr>
          <p:txBody>
            <a:bodyPr rtlCol="0" anchor="ctr"/>
            <a:lstStyle/>
            <a:p>
              <a:pPr algn="ctr"/>
            </a:p>
          </p:txBody>
        </p:sp>
        <p:sp>
          <p:nvSpPr>
            <p:cNvPr id="27" name="Rounded Rectangle 26"/>
            <p:cNvSpPr/>
            <p:nvPr/>
          </p:nvSpPr>
          <p:spPr>
            <a:xfrm>
              <a:off x="2898648" y="2802636"/>
              <a:ext cx="237744" cy="237744"/>
            </a:xfrm>
            <a:prstGeom prst="roundRect">
              <a:avLst>
                <a:gd name="adj" fmla="val 11538"/>
              </a:avLst>
            </a:prstGeom>
            <a:solidFill>
              <a:srgbClr val="F28C28"/>
            </a:solidFill>
            <a:ln>
              <a:noFill/>
            </a:ln>
          </p:spPr>
          <p:txBody>
            <a:bodyPr rtlCol="0" anchor="ctr"/>
            <a:lstStyle/>
            <a:p>
              <a:pPr algn="ctr"/>
            </a:p>
          </p:txBody>
        </p:sp>
        <p:sp>
          <p:nvSpPr>
            <p:cNvPr id="28" name="Rounded Rectangle 27"/>
            <p:cNvSpPr/>
            <p:nvPr/>
          </p:nvSpPr>
          <p:spPr>
            <a:xfrm>
              <a:off x="3200400" y="2802636"/>
              <a:ext cx="237744" cy="237744"/>
            </a:xfrm>
            <a:prstGeom prst="roundRect">
              <a:avLst>
                <a:gd name="adj" fmla="val 11538"/>
              </a:avLst>
            </a:prstGeom>
            <a:solidFill>
              <a:srgbClr val="F28C28"/>
            </a:solidFill>
            <a:ln>
              <a:noFill/>
            </a:ln>
          </p:spPr>
          <p:txBody>
            <a:bodyPr rtlCol="0" anchor="ctr"/>
            <a:lstStyle/>
            <a:p>
              <a:pPr algn="ctr"/>
            </a:p>
          </p:txBody>
        </p:sp>
        <p:sp>
          <p:nvSpPr>
            <p:cNvPr id="29" name="Rounded Rectangle 28"/>
            <p:cNvSpPr/>
            <p:nvPr/>
          </p:nvSpPr>
          <p:spPr>
            <a:xfrm>
              <a:off x="3502152" y="2802636"/>
              <a:ext cx="237744" cy="237744"/>
            </a:xfrm>
            <a:prstGeom prst="roundRect">
              <a:avLst>
                <a:gd name="adj" fmla="val 11538"/>
              </a:avLst>
            </a:prstGeom>
            <a:solidFill>
              <a:srgbClr val="F28C28"/>
            </a:solidFill>
            <a:ln>
              <a:noFill/>
            </a:ln>
          </p:spPr>
          <p:txBody>
            <a:bodyPr rtlCol="0" anchor="ctr"/>
            <a:lstStyle/>
            <a:p>
              <a:pPr algn="ctr"/>
            </a:p>
          </p:txBody>
        </p:sp>
        <p:sp>
          <p:nvSpPr>
            <p:cNvPr id="30" name="Rectangle 29"/>
            <p:cNvSpPr/>
            <p:nvPr/>
          </p:nvSpPr>
          <p:spPr>
            <a:xfrm>
              <a:off x="822960" y="3200400"/>
              <a:ext cx="4389120" cy="73152"/>
            </a:xfrm>
            <a:prstGeom prst="rect">
              <a:avLst/>
            </a:prstGeom>
            <a:solidFill>
              <a:srgbClr val="9AA0A6"/>
            </a:solidFill>
            <a:ln>
              <a:noFill/>
            </a:ln>
          </p:spPr>
          <p:txBody>
            <a:bodyPr rtlCol="0" anchor="ctr"/>
            <a:lstStyle/>
            <a:p>
              <a:pPr algn="ctr"/>
            </a:p>
          </p:txBody>
        </p:sp>
        <p:sp>
          <p:nvSpPr>
            <p:cNvPr id="31" name="Oval 30"/>
            <p:cNvSpPr/>
            <p:nvPr/>
          </p:nvSpPr>
          <p:spPr>
            <a:xfrm>
              <a:off x="1525219" y="3255264"/>
              <a:ext cx="292608" cy="292608"/>
            </a:xfrm>
            <a:prstGeom prst="ellipse">
              <a:avLst/>
            </a:prstGeom>
            <a:solidFill>
              <a:srgbClr val="1B1D21"/>
            </a:solidFill>
            <a:ln w="19050">
              <a:solidFill>
                <a:srgbClr val="9AA0A6"/>
              </a:solidFill>
            </a:ln>
          </p:spPr>
          <p:txBody>
            <a:bodyPr rtlCol="0" anchor="ctr"/>
            <a:lstStyle/>
            <a:p>
              <a:pPr algn="ctr"/>
            </a:p>
          </p:txBody>
        </p:sp>
        <p:sp>
          <p:nvSpPr>
            <p:cNvPr id="32" name="Oval 31"/>
            <p:cNvSpPr/>
            <p:nvPr/>
          </p:nvSpPr>
          <p:spPr>
            <a:xfrm>
              <a:off x="4217213" y="3255264"/>
              <a:ext cx="292608" cy="292608"/>
            </a:xfrm>
            <a:prstGeom prst="ellipse">
              <a:avLst/>
            </a:prstGeom>
            <a:solidFill>
              <a:srgbClr val="1B1D21"/>
            </a:solidFill>
            <a:ln w="19050">
              <a:solidFill>
                <a:srgbClr val="9AA0A6"/>
              </a:solidFill>
            </a:ln>
          </p:spPr>
          <p:txBody>
            <a:bodyPr rtlCol="0" anchor="ctr"/>
            <a:lstStyle/>
            <a:p>
              <a:pPr algn="ctr"/>
            </a:p>
          </p:txBody>
        </p:sp>
        <p:sp>
          <p:nvSpPr>
            <p:cNvPr id="33" name="Rectangle 32"/>
            <p:cNvSpPr/>
            <p:nvPr/>
          </p:nvSpPr>
          <p:spPr>
            <a:xfrm>
              <a:off x="640080" y="3547872"/>
              <a:ext cx="4754880" cy="54864"/>
            </a:xfrm>
            <a:prstGeom prst="rect">
              <a:avLst/>
            </a:prstGeom>
            <a:solidFill>
              <a:srgbClr val="9AA0A6"/>
            </a:solidFill>
            <a:ln>
              <a:noFill/>
            </a:ln>
          </p:spPr>
          <p:txBody>
            <a:bodyPr rtlCol="0" anchor="ctr"/>
            <a:lstStyle/>
            <a:p>
              <a:pPr algn="ctr"/>
            </a:p>
          </p:txBody>
        </p:sp>
        <p:sp>
          <p:nvSpPr>
            <p:cNvPr id="34" name="Rounded Rectangle 33"/>
            <p:cNvSpPr/>
            <p:nvPr/>
          </p:nvSpPr>
          <p:spPr>
            <a:xfrm>
              <a:off x="6519672" y="1737360"/>
              <a:ext cx="4206240" cy="1463040"/>
            </a:xfrm>
            <a:prstGeom prst="roundRect">
              <a:avLst>
                <a:gd name="adj" fmla="val 3750"/>
              </a:avLst>
            </a:prstGeom>
            <a:solidFill>
              <a:srgbClr val="2F3D4E"/>
            </a:solidFill>
            <a:ln w="31750">
              <a:solidFill>
                <a:srgbClr val="6CA0DC"/>
              </a:solidFill>
            </a:ln>
          </p:spPr>
          <p:txBody>
            <a:bodyPr rtlCol="0" anchor="ctr"/>
            <a:lstStyle/>
            <a:p>
              <a:pPr algn="ctr"/>
            </a:p>
          </p:txBody>
        </p:sp>
        <p:sp>
          <p:nvSpPr>
            <p:cNvPr id="35" name="Rounded Rectangle 34"/>
            <p:cNvSpPr/>
            <p:nvPr/>
          </p:nvSpPr>
          <p:spPr>
            <a:xfrm>
              <a:off x="7447788" y="1897380"/>
              <a:ext cx="237744" cy="237744"/>
            </a:xfrm>
            <a:prstGeom prst="roundRect">
              <a:avLst>
                <a:gd name="adj" fmla="val 11538"/>
              </a:avLst>
            </a:prstGeom>
            <a:solidFill>
              <a:srgbClr val="6CA0DC"/>
            </a:solidFill>
            <a:ln>
              <a:noFill/>
            </a:ln>
          </p:spPr>
          <p:txBody>
            <a:bodyPr rtlCol="0" anchor="ctr"/>
            <a:lstStyle/>
            <a:p>
              <a:pPr algn="ctr"/>
            </a:p>
          </p:txBody>
        </p:sp>
        <p:sp>
          <p:nvSpPr>
            <p:cNvPr id="36" name="Rounded Rectangle 35"/>
            <p:cNvSpPr/>
            <p:nvPr/>
          </p:nvSpPr>
          <p:spPr>
            <a:xfrm>
              <a:off x="7749540" y="1897380"/>
              <a:ext cx="237744" cy="237744"/>
            </a:xfrm>
            <a:prstGeom prst="roundRect">
              <a:avLst>
                <a:gd name="adj" fmla="val 11538"/>
              </a:avLst>
            </a:prstGeom>
            <a:solidFill>
              <a:srgbClr val="6CA0DC"/>
            </a:solidFill>
            <a:ln>
              <a:noFill/>
            </a:ln>
          </p:spPr>
          <p:txBody>
            <a:bodyPr rtlCol="0" anchor="ctr"/>
            <a:lstStyle/>
            <a:p>
              <a:pPr algn="ctr"/>
            </a:p>
          </p:txBody>
        </p:sp>
        <p:sp>
          <p:nvSpPr>
            <p:cNvPr id="37" name="Rounded Rectangle 36"/>
            <p:cNvSpPr/>
            <p:nvPr/>
          </p:nvSpPr>
          <p:spPr>
            <a:xfrm>
              <a:off x="8051292" y="1897380"/>
              <a:ext cx="237744" cy="237744"/>
            </a:xfrm>
            <a:prstGeom prst="roundRect">
              <a:avLst>
                <a:gd name="adj" fmla="val 11538"/>
              </a:avLst>
            </a:prstGeom>
            <a:solidFill>
              <a:srgbClr val="6CA0DC"/>
            </a:solidFill>
            <a:ln>
              <a:noFill/>
            </a:ln>
          </p:spPr>
          <p:txBody>
            <a:bodyPr rtlCol="0" anchor="ctr"/>
            <a:lstStyle/>
            <a:p>
              <a:pPr algn="ctr"/>
            </a:p>
          </p:txBody>
        </p:sp>
        <p:sp>
          <p:nvSpPr>
            <p:cNvPr id="38" name="Rounded Rectangle 37"/>
            <p:cNvSpPr/>
            <p:nvPr/>
          </p:nvSpPr>
          <p:spPr>
            <a:xfrm>
              <a:off x="8353044" y="1897380"/>
              <a:ext cx="237744" cy="237744"/>
            </a:xfrm>
            <a:prstGeom prst="roundRect">
              <a:avLst>
                <a:gd name="adj" fmla="val 11538"/>
              </a:avLst>
            </a:prstGeom>
            <a:solidFill>
              <a:srgbClr val="6CA0DC"/>
            </a:solidFill>
            <a:ln>
              <a:noFill/>
            </a:ln>
          </p:spPr>
          <p:txBody>
            <a:bodyPr rtlCol="0" anchor="ctr"/>
            <a:lstStyle/>
            <a:p>
              <a:pPr algn="ctr"/>
            </a:p>
          </p:txBody>
        </p:sp>
        <p:sp>
          <p:nvSpPr>
            <p:cNvPr id="39" name="Rounded Rectangle 38"/>
            <p:cNvSpPr/>
            <p:nvPr/>
          </p:nvSpPr>
          <p:spPr>
            <a:xfrm>
              <a:off x="8654796" y="1897380"/>
              <a:ext cx="237744" cy="237744"/>
            </a:xfrm>
            <a:prstGeom prst="roundRect">
              <a:avLst>
                <a:gd name="adj" fmla="val 11538"/>
              </a:avLst>
            </a:prstGeom>
            <a:solidFill>
              <a:srgbClr val="6CA0DC"/>
            </a:solidFill>
            <a:ln>
              <a:noFill/>
            </a:ln>
          </p:spPr>
          <p:txBody>
            <a:bodyPr rtlCol="0" anchor="ctr"/>
            <a:lstStyle/>
            <a:p>
              <a:pPr algn="ctr"/>
            </a:p>
          </p:txBody>
        </p:sp>
        <p:sp>
          <p:nvSpPr>
            <p:cNvPr id="40" name="Rounded Rectangle 39"/>
            <p:cNvSpPr/>
            <p:nvPr/>
          </p:nvSpPr>
          <p:spPr>
            <a:xfrm>
              <a:off x="8956548" y="1897380"/>
              <a:ext cx="237744" cy="237744"/>
            </a:xfrm>
            <a:prstGeom prst="roundRect">
              <a:avLst>
                <a:gd name="adj" fmla="val 11538"/>
              </a:avLst>
            </a:prstGeom>
            <a:solidFill>
              <a:srgbClr val="6CA0DC"/>
            </a:solidFill>
            <a:ln>
              <a:noFill/>
            </a:ln>
          </p:spPr>
          <p:txBody>
            <a:bodyPr rtlCol="0" anchor="ctr"/>
            <a:lstStyle/>
            <a:p>
              <a:pPr algn="ctr"/>
            </a:p>
          </p:txBody>
        </p:sp>
        <p:sp>
          <p:nvSpPr>
            <p:cNvPr id="41" name="Rounded Rectangle 40"/>
            <p:cNvSpPr/>
            <p:nvPr/>
          </p:nvSpPr>
          <p:spPr>
            <a:xfrm>
              <a:off x="9258300" y="1897380"/>
              <a:ext cx="237744" cy="237744"/>
            </a:xfrm>
            <a:prstGeom prst="roundRect">
              <a:avLst>
                <a:gd name="adj" fmla="val 11538"/>
              </a:avLst>
            </a:prstGeom>
            <a:solidFill>
              <a:srgbClr val="6CA0DC"/>
            </a:solidFill>
            <a:ln>
              <a:noFill/>
            </a:ln>
          </p:spPr>
          <p:txBody>
            <a:bodyPr rtlCol="0" anchor="ctr"/>
            <a:lstStyle/>
            <a:p>
              <a:pPr algn="ctr"/>
            </a:p>
          </p:txBody>
        </p:sp>
        <p:sp>
          <p:nvSpPr>
            <p:cNvPr id="42" name="Rounded Rectangle 41"/>
            <p:cNvSpPr/>
            <p:nvPr/>
          </p:nvSpPr>
          <p:spPr>
            <a:xfrm>
              <a:off x="9560052" y="1897380"/>
              <a:ext cx="237744" cy="237744"/>
            </a:xfrm>
            <a:prstGeom prst="roundRect">
              <a:avLst>
                <a:gd name="adj" fmla="val 11538"/>
              </a:avLst>
            </a:prstGeom>
            <a:solidFill>
              <a:srgbClr val="6CA0DC"/>
            </a:solidFill>
            <a:ln>
              <a:noFill/>
            </a:ln>
          </p:spPr>
          <p:txBody>
            <a:bodyPr rtlCol="0" anchor="ctr"/>
            <a:lstStyle/>
            <a:p>
              <a:pPr algn="ctr"/>
            </a:p>
          </p:txBody>
        </p:sp>
        <p:sp>
          <p:nvSpPr>
            <p:cNvPr id="43" name="Rounded Rectangle 42"/>
            <p:cNvSpPr/>
            <p:nvPr/>
          </p:nvSpPr>
          <p:spPr>
            <a:xfrm>
              <a:off x="7447788" y="2199132"/>
              <a:ext cx="237744" cy="237744"/>
            </a:xfrm>
            <a:prstGeom prst="roundRect">
              <a:avLst>
                <a:gd name="adj" fmla="val 11538"/>
              </a:avLst>
            </a:prstGeom>
            <a:solidFill>
              <a:srgbClr val="6CA0DC"/>
            </a:solidFill>
            <a:ln>
              <a:noFill/>
            </a:ln>
          </p:spPr>
          <p:txBody>
            <a:bodyPr rtlCol="0" anchor="ctr"/>
            <a:lstStyle/>
            <a:p>
              <a:pPr algn="ctr"/>
            </a:p>
          </p:txBody>
        </p:sp>
        <p:sp>
          <p:nvSpPr>
            <p:cNvPr id="44" name="Rounded Rectangle 43"/>
            <p:cNvSpPr/>
            <p:nvPr/>
          </p:nvSpPr>
          <p:spPr>
            <a:xfrm>
              <a:off x="7749540" y="2199132"/>
              <a:ext cx="237744" cy="237744"/>
            </a:xfrm>
            <a:prstGeom prst="roundRect">
              <a:avLst>
                <a:gd name="adj" fmla="val 11538"/>
              </a:avLst>
            </a:prstGeom>
            <a:solidFill>
              <a:srgbClr val="6CA0DC"/>
            </a:solidFill>
            <a:ln>
              <a:noFill/>
            </a:ln>
          </p:spPr>
          <p:txBody>
            <a:bodyPr rtlCol="0" anchor="ctr"/>
            <a:lstStyle/>
            <a:p>
              <a:pPr algn="ctr"/>
            </a:p>
          </p:txBody>
        </p:sp>
        <p:sp>
          <p:nvSpPr>
            <p:cNvPr id="45" name="Rounded Rectangle 44"/>
            <p:cNvSpPr/>
            <p:nvPr/>
          </p:nvSpPr>
          <p:spPr>
            <a:xfrm>
              <a:off x="8051292" y="2199132"/>
              <a:ext cx="237744" cy="237744"/>
            </a:xfrm>
            <a:prstGeom prst="roundRect">
              <a:avLst>
                <a:gd name="adj" fmla="val 11538"/>
              </a:avLst>
            </a:prstGeom>
            <a:solidFill>
              <a:srgbClr val="6CA0DC"/>
            </a:solidFill>
            <a:ln>
              <a:noFill/>
            </a:ln>
          </p:spPr>
          <p:txBody>
            <a:bodyPr rtlCol="0" anchor="ctr"/>
            <a:lstStyle/>
            <a:p>
              <a:pPr algn="ctr"/>
            </a:p>
          </p:txBody>
        </p:sp>
        <p:sp>
          <p:nvSpPr>
            <p:cNvPr id="46" name="Rounded Rectangle 45"/>
            <p:cNvSpPr/>
            <p:nvPr/>
          </p:nvSpPr>
          <p:spPr>
            <a:xfrm>
              <a:off x="8353044" y="2199132"/>
              <a:ext cx="237744" cy="237744"/>
            </a:xfrm>
            <a:prstGeom prst="roundRect">
              <a:avLst>
                <a:gd name="adj" fmla="val 11538"/>
              </a:avLst>
            </a:prstGeom>
            <a:solidFill>
              <a:srgbClr val="6CA0DC"/>
            </a:solidFill>
            <a:ln>
              <a:noFill/>
            </a:ln>
          </p:spPr>
          <p:txBody>
            <a:bodyPr rtlCol="0" anchor="ctr"/>
            <a:lstStyle/>
            <a:p>
              <a:pPr algn="ctr"/>
            </a:p>
          </p:txBody>
        </p:sp>
        <p:sp>
          <p:nvSpPr>
            <p:cNvPr id="47" name="Rounded Rectangle 46"/>
            <p:cNvSpPr/>
            <p:nvPr/>
          </p:nvSpPr>
          <p:spPr>
            <a:xfrm>
              <a:off x="8654796" y="2199132"/>
              <a:ext cx="237744" cy="237744"/>
            </a:xfrm>
            <a:prstGeom prst="roundRect">
              <a:avLst>
                <a:gd name="adj" fmla="val 11538"/>
              </a:avLst>
            </a:prstGeom>
            <a:solidFill>
              <a:srgbClr val="6CA0DC"/>
            </a:solidFill>
            <a:ln>
              <a:noFill/>
            </a:ln>
          </p:spPr>
          <p:txBody>
            <a:bodyPr rtlCol="0" anchor="ctr"/>
            <a:lstStyle/>
            <a:p>
              <a:pPr algn="ctr"/>
            </a:p>
          </p:txBody>
        </p:sp>
        <p:sp>
          <p:nvSpPr>
            <p:cNvPr id="48" name="Rounded Rectangle 47"/>
            <p:cNvSpPr/>
            <p:nvPr/>
          </p:nvSpPr>
          <p:spPr>
            <a:xfrm>
              <a:off x="8956548" y="2199132"/>
              <a:ext cx="237744" cy="237744"/>
            </a:xfrm>
            <a:prstGeom prst="roundRect">
              <a:avLst>
                <a:gd name="adj" fmla="val 11538"/>
              </a:avLst>
            </a:prstGeom>
            <a:solidFill>
              <a:srgbClr val="6CA0DC"/>
            </a:solidFill>
            <a:ln>
              <a:noFill/>
            </a:ln>
          </p:spPr>
          <p:txBody>
            <a:bodyPr rtlCol="0" anchor="ctr"/>
            <a:lstStyle/>
            <a:p>
              <a:pPr algn="ctr"/>
            </a:p>
          </p:txBody>
        </p:sp>
        <p:sp>
          <p:nvSpPr>
            <p:cNvPr id="49" name="Rounded Rectangle 48"/>
            <p:cNvSpPr/>
            <p:nvPr/>
          </p:nvSpPr>
          <p:spPr>
            <a:xfrm>
              <a:off x="9258300" y="2199132"/>
              <a:ext cx="237744" cy="237744"/>
            </a:xfrm>
            <a:prstGeom prst="roundRect">
              <a:avLst>
                <a:gd name="adj" fmla="val 11538"/>
              </a:avLst>
            </a:prstGeom>
            <a:solidFill>
              <a:srgbClr val="6CA0DC"/>
            </a:solidFill>
            <a:ln>
              <a:noFill/>
            </a:ln>
          </p:spPr>
          <p:txBody>
            <a:bodyPr rtlCol="0" anchor="ctr"/>
            <a:lstStyle/>
            <a:p>
              <a:pPr algn="ctr"/>
            </a:p>
          </p:txBody>
        </p:sp>
        <p:sp>
          <p:nvSpPr>
            <p:cNvPr id="50" name="Rounded Rectangle 49"/>
            <p:cNvSpPr/>
            <p:nvPr/>
          </p:nvSpPr>
          <p:spPr>
            <a:xfrm>
              <a:off x="9560052" y="2199132"/>
              <a:ext cx="237744" cy="237744"/>
            </a:xfrm>
            <a:prstGeom prst="roundRect">
              <a:avLst>
                <a:gd name="adj" fmla="val 11538"/>
              </a:avLst>
            </a:prstGeom>
            <a:solidFill>
              <a:srgbClr val="6CA0DC"/>
            </a:solidFill>
            <a:ln>
              <a:noFill/>
            </a:ln>
          </p:spPr>
          <p:txBody>
            <a:bodyPr rtlCol="0" anchor="ctr"/>
            <a:lstStyle/>
            <a:p>
              <a:pPr algn="ctr"/>
            </a:p>
          </p:txBody>
        </p:sp>
        <p:sp>
          <p:nvSpPr>
            <p:cNvPr id="51" name="Rounded Rectangle 50"/>
            <p:cNvSpPr/>
            <p:nvPr/>
          </p:nvSpPr>
          <p:spPr>
            <a:xfrm>
              <a:off x="7447788" y="2500884"/>
              <a:ext cx="237744" cy="237744"/>
            </a:xfrm>
            <a:prstGeom prst="roundRect">
              <a:avLst>
                <a:gd name="adj" fmla="val 11538"/>
              </a:avLst>
            </a:prstGeom>
            <a:solidFill>
              <a:srgbClr val="6CA0DC"/>
            </a:solidFill>
            <a:ln>
              <a:noFill/>
            </a:ln>
          </p:spPr>
          <p:txBody>
            <a:bodyPr rtlCol="0" anchor="ctr"/>
            <a:lstStyle/>
            <a:p>
              <a:pPr algn="ctr"/>
            </a:p>
          </p:txBody>
        </p:sp>
        <p:sp>
          <p:nvSpPr>
            <p:cNvPr id="52" name="Rounded Rectangle 51"/>
            <p:cNvSpPr/>
            <p:nvPr/>
          </p:nvSpPr>
          <p:spPr>
            <a:xfrm>
              <a:off x="7749540" y="2500884"/>
              <a:ext cx="237744" cy="237744"/>
            </a:xfrm>
            <a:prstGeom prst="roundRect">
              <a:avLst>
                <a:gd name="adj" fmla="val 11538"/>
              </a:avLst>
            </a:prstGeom>
            <a:solidFill>
              <a:srgbClr val="6CA0DC"/>
            </a:solidFill>
            <a:ln>
              <a:noFill/>
            </a:ln>
          </p:spPr>
          <p:txBody>
            <a:bodyPr rtlCol="0" anchor="ctr"/>
            <a:lstStyle/>
            <a:p>
              <a:pPr algn="ctr"/>
            </a:p>
          </p:txBody>
        </p:sp>
        <p:sp>
          <p:nvSpPr>
            <p:cNvPr id="53" name="Rounded Rectangle 52"/>
            <p:cNvSpPr/>
            <p:nvPr/>
          </p:nvSpPr>
          <p:spPr>
            <a:xfrm>
              <a:off x="8051292" y="2500884"/>
              <a:ext cx="237744" cy="237744"/>
            </a:xfrm>
            <a:prstGeom prst="roundRect">
              <a:avLst>
                <a:gd name="adj" fmla="val 11538"/>
              </a:avLst>
            </a:prstGeom>
            <a:solidFill>
              <a:srgbClr val="6CA0DC"/>
            </a:solidFill>
            <a:ln>
              <a:noFill/>
            </a:ln>
          </p:spPr>
          <p:txBody>
            <a:bodyPr rtlCol="0" anchor="ctr"/>
            <a:lstStyle/>
            <a:p>
              <a:pPr algn="ctr"/>
            </a:p>
          </p:txBody>
        </p:sp>
        <p:sp>
          <p:nvSpPr>
            <p:cNvPr id="54" name="Rounded Rectangle 53"/>
            <p:cNvSpPr/>
            <p:nvPr/>
          </p:nvSpPr>
          <p:spPr>
            <a:xfrm>
              <a:off x="8353044" y="2500884"/>
              <a:ext cx="237744" cy="237744"/>
            </a:xfrm>
            <a:prstGeom prst="roundRect">
              <a:avLst>
                <a:gd name="adj" fmla="val 11538"/>
              </a:avLst>
            </a:prstGeom>
            <a:solidFill>
              <a:srgbClr val="6CA0DC"/>
            </a:solidFill>
            <a:ln>
              <a:noFill/>
            </a:ln>
          </p:spPr>
          <p:txBody>
            <a:bodyPr rtlCol="0" anchor="ctr"/>
            <a:lstStyle/>
            <a:p>
              <a:pPr algn="ctr"/>
            </a:p>
          </p:txBody>
        </p:sp>
        <p:sp>
          <p:nvSpPr>
            <p:cNvPr id="55" name="Rounded Rectangle 54"/>
            <p:cNvSpPr/>
            <p:nvPr/>
          </p:nvSpPr>
          <p:spPr>
            <a:xfrm>
              <a:off x="8654796" y="2500884"/>
              <a:ext cx="237744" cy="237744"/>
            </a:xfrm>
            <a:prstGeom prst="roundRect">
              <a:avLst>
                <a:gd name="adj" fmla="val 11538"/>
              </a:avLst>
            </a:prstGeom>
            <a:solidFill>
              <a:srgbClr val="6CA0DC"/>
            </a:solidFill>
            <a:ln>
              <a:noFill/>
            </a:ln>
          </p:spPr>
          <p:txBody>
            <a:bodyPr rtlCol="0" anchor="ctr"/>
            <a:lstStyle/>
            <a:p>
              <a:pPr algn="ctr"/>
            </a:p>
          </p:txBody>
        </p:sp>
        <p:sp>
          <p:nvSpPr>
            <p:cNvPr id="56" name="Rounded Rectangle 55"/>
            <p:cNvSpPr/>
            <p:nvPr/>
          </p:nvSpPr>
          <p:spPr>
            <a:xfrm>
              <a:off x="8956548" y="2500884"/>
              <a:ext cx="237744" cy="237744"/>
            </a:xfrm>
            <a:prstGeom prst="roundRect">
              <a:avLst>
                <a:gd name="adj" fmla="val 11538"/>
              </a:avLst>
            </a:prstGeom>
            <a:solidFill>
              <a:srgbClr val="6CA0DC"/>
            </a:solidFill>
            <a:ln>
              <a:noFill/>
            </a:ln>
          </p:spPr>
          <p:txBody>
            <a:bodyPr rtlCol="0" anchor="ctr"/>
            <a:lstStyle/>
            <a:p>
              <a:pPr algn="ctr"/>
            </a:p>
          </p:txBody>
        </p:sp>
        <p:sp>
          <p:nvSpPr>
            <p:cNvPr id="57" name="Rounded Rectangle 56"/>
            <p:cNvSpPr/>
            <p:nvPr/>
          </p:nvSpPr>
          <p:spPr>
            <a:xfrm>
              <a:off x="9258300" y="2500884"/>
              <a:ext cx="237744" cy="237744"/>
            </a:xfrm>
            <a:prstGeom prst="roundRect">
              <a:avLst>
                <a:gd name="adj" fmla="val 11538"/>
              </a:avLst>
            </a:prstGeom>
            <a:solidFill>
              <a:srgbClr val="6CA0DC"/>
            </a:solidFill>
            <a:ln>
              <a:noFill/>
            </a:ln>
          </p:spPr>
          <p:txBody>
            <a:bodyPr rtlCol="0" anchor="ctr"/>
            <a:lstStyle/>
            <a:p>
              <a:pPr algn="ctr"/>
            </a:p>
          </p:txBody>
        </p:sp>
        <p:sp>
          <p:nvSpPr>
            <p:cNvPr id="58" name="Rounded Rectangle 57"/>
            <p:cNvSpPr/>
            <p:nvPr/>
          </p:nvSpPr>
          <p:spPr>
            <a:xfrm>
              <a:off x="9560052" y="2500884"/>
              <a:ext cx="237744" cy="237744"/>
            </a:xfrm>
            <a:prstGeom prst="roundRect">
              <a:avLst>
                <a:gd name="adj" fmla="val 11538"/>
              </a:avLst>
            </a:prstGeom>
            <a:solidFill>
              <a:srgbClr val="6CA0DC"/>
            </a:solidFill>
            <a:ln>
              <a:noFill/>
            </a:ln>
          </p:spPr>
          <p:txBody>
            <a:bodyPr rtlCol="0" anchor="ctr"/>
            <a:lstStyle/>
            <a:p>
              <a:pPr algn="ctr"/>
            </a:p>
          </p:txBody>
        </p:sp>
        <p:sp>
          <p:nvSpPr>
            <p:cNvPr id="59" name="Rounded Rectangle 58"/>
            <p:cNvSpPr/>
            <p:nvPr/>
          </p:nvSpPr>
          <p:spPr>
            <a:xfrm>
              <a:off x="7447788" y="2802636"/>
              <a:ext cx="237744" cy="237744"/>
            </a:xfrm>
            <a:prstGeom prst="roundRect">
              <a:avLst>
                <a:gd name="adj" fmla="val 11538"/>
              </a:avLst>
            </a:prstGeom>
            <a:solidFill>
              <a:srgbClr val="6CA0DC"/>
            </a:solidFill>
            <a:ln>
              <a:noFill/>
            </a:ln>
          </p:spPr>
          <p:txBody>
            <a:bodyPr rtlCol="0" anchor="ctr"/>
            <a:lstStyle/>
            <a:p>
              <a:pPr algn="ctr"/>
            </a:p>
          </p:txBody>
        </p:sp>
        <p:sp>
          <p:nvSpPr>
            <p:cNvPr id="60" name="Rounded Rectangle 59"/>
            <p:cNvSpPr/>
            <p:nvPr/>
          </p:nvSpPr>
          <p:spPr>
            <a:xfrm>
              <a:off x="7749540" y="2802636"/>
              <a:ext cx="237744" cy="237744"/>
            </a:xfrm>
            <a:prstGeom prst="roundRect">
              <a:avLst>
                <a:gd name="adj" fmla="val 11538"/>
              </a:avLst>
            </a:prstGeom>
            <a:solidFill>
              <a:srgbClr val="6CA0DC"/>
            </a:solidFill>
            <a:ln>
              <a:noFill/>
            </a:ln>
          </p:spPr>
          <p:txBody>
            <a:bodyPr rtlCol="0" anchor="ctr"/>
            <a:lstStyle/>
            <a:p>
              <a:pPr algn="ctr"/>
            </a:p>
          </p:txBody>
        </p:sp>
        <p:sp>
          <p:nvSpPr>
            <p:cNvPr id="61" name="Rounded Rectangle 60"/>
            <p:cNvSpPr/>
            <p:nvPr/>
          </p:nvSpPr>
          <p:spPr>
            <a:xfrm>
              <a:off x="8051292" y="2802636"/>
              <a:ext cx="237744" cy="237744"/>
            </a:xfrm>
            <a:prstGeom prst="roundRect">
              <a:avLst>
                <a:gd name="adj" fmla="val 11538"/>
              </a:avLst>
            </a:prstGeom>
            <a:solidFill>
              <a:srgbClr val="6CA0DC"/>
            </a:solidFill>
            <a:ln>
              <a:noFill/>
            </a:ln>
          </p:spPr>
          <p:txBody>
            <a:bodyPr rtlCol="0" anchor="ctr"/>
            <a:lstStyle/>
            <a:p>
              <a:pPr algn="ctr"/>
            </a:p>
          </p:txBody>
        </p:sp>
        <p:sp>
          <p:nvSpPr>
            <p:cNvPr id="62" name="Rounded Rectangle 61"/>
            <p:cNvSpPr/>
            <p:nvPr/>
          </p:nvSpPr>
          <p:spPr>
            <a:xfrm>
              <a:off x="8353044" y="2802636"/>
              <a:ext cx="237744" cy="237744"/>
            </a:xfrm>
            <a:prstGeom prst="roundRect">
              <a:avLst>
                <a:gd name="adj" fmla="val 11538"/>
              </a:avLst>
            </a:prstGeom>
            <a:solidFill>
              <a:srgbClr val="6CA0DC"/>
            </a:solidFill>
            <a:ln>
              <a:noFill/>
            </a:ln>
          </p:spPr>
          <p:txBody>
            <a:bodyPr rtlCol="0" anchor="ctr"/>
            <a:lstStyle/>
            <a:p>
              <a:pPr algn="ctr"/>
            </a:p>
          </p:txBody>
        </p:sp>
        <p:sp>
          <p:nvSpPr>
            <p:cNvPr id="63" name="Rounded Rectangle 62"/>
            <p:cNvSpPr/>
            <p:nvPr/>
          </p:nvSpPr>
          <p:spPr>
            <a:xfrm>
              <a:off x="8654796" y="2802636"/>
              <a:ext cx="237744" cy="237744"/>
            </a:xfrm>
            <a:prstGeom prst="roundRect">
              <a:avLst>
                <a:gd name="adj" fmla="val 11538"/>
              </a:avLst>
            </a:prstGeom>
            <a:solidFill>
              <a:srgbClr val="6CA0DC"/>
            </a:solidFill>
            <a:ln>
              <a:noFill/>
            </a:ln>
          </p:spPr>
          <p:txBody>
            <a:bodyPr rtlCol="0" anchor="ctr"/>
            <a:lstStyle/>
            <a:p>
              <a:pPr algn="ctr"/>
            </a:p>
          </p:txBody>
        </p:sp>
        <p:sp>
          <p:nvSpPr>
            <p:cNvPr id="64" name="Rounded Rectangle 63"/>
            <p:cNvSpPr/>
            <p:nvPr/>
          </p:nvSpPr>
          <p:spPr>
            <a:xfrm>
              <a:off x="8956548" y="2802636"/>
              <a:ext cx="237744" cy="237744"/>
            </a:xfrm>
            <a:prstGeom prst="roundRect">
              <a:avLst>
                <a:gd name="adj" fmla="val 11538"/>
              </a:avLst>
            </a:prstGeom>
            <a:solidFill>
              <a:srgbClr val="6CA0DC"/>
            </a:solidFill>
            <a:ln>
              <a:noFill/>
            </a:ln>
          </p:spPr>
          <p:txBody>
            <a:bodyPr rtlCol="0" anchor="ctr"/>
            <a:lstStyle/>
            <a:p>
              <a:pPr algn="ctr"/>
            </a:p>
          </p:txBody>
        </p:sp>
        <p:sp>
          <p:nvSpPr>
            <p:cNvPr id="65" name="Rounded Rectangle 64"/>
            <p:cNvSpPr/>
            <p:nvPr/>
          </p:nvSpPr>
          <p:spPr>
            <a:xfrm>
              <a:off x="9258300" y="2802636"/>
              <a:ext cx="237744" cy="237744"/>
            </a:xfrm>
            <a:prstGeom prst="roundRect">
              <a:avLst>
                <a:gd name="adj" fmla="val 11538"/>
              </a:avLst>
            </a:prstGeom>
            <a:solidFill>
              <a:srgbClr val="6CA0DC"/>
            </a:solidFill>
            <a:ln>
              <a:noFill/>
            </a:ln>
          </p:spPr>
          <p:txBody>
            <a:bodyPr rtlCol="0" anchor="ctr"/>
            <a:lstStyle/>
            <a:p>
              <a:pPr algn="ctr"/>
            </a:p>
          </p:txBody>
        </p:sp>
        <p:sp>
          <p:nvSpPr>
            <p:cNvPr id="66" name="Rounded Rectangle 65"/>
            <p:cNvSpPr/>
            <p:nvPr/>
          </p:nvSpPr>
          <p:spPr>
            <a:xfrm>
              <a:off x="9560052" y="2802636"/>
              <a:ext cx="237744" cy="237744"/>
            </a:xfrm>
            <a:prstGeom prst="roundRect">
              <a:avLst>
                <a:gd name="adj" fmla="val 11538"/>
              </a:avLst>
            </a:prstGeom>
            <a:solidFill>
              <a:srgbClr val="6CA0DC"/>
            </a:solidFill>
            <a:ln>
              <a:noFill/>
            </a:ln>
          </p:spPr>
          <p:txBody>
            <a:bodyPr rtlCol="0" anchor="ctr"/>
            <a:lstStyle/>
            <a:p>
              <a:pPr algn="ctr"/>
            </a:p>
          </p:txBody>
        </p:sp>
        <p:sp>
          <p:nvSpPr>
            <p:cNvPr id="67" name="Rectangle 66"/>
            <p:cNvSpPr/>
            <p:nvPr/>
          </p:nvSpPr>
          <p:spPr>
            <a:xfrm>
              <a:off x="6428232" y="3200400"/>
              <a:ext cx="4389120" cy="73152"/>
            </a:xfrm>
            <a:prstGeom prst="rect">
              <a:avLst/>
            </a:prstGeom>
            <a:solidFill>
              <a:srgbClr val="9AA0A6"/>
            </a:solidFill>
            <a:ln>
              <a:noFill/>
            </a:ln>
          </p:spPr>
          <p:txBody>
            <a:bodyPr rtlCol="0" anchor="ctr"/>
            <a:lstStyle/>
            <a:p>
              <a:pPr algn="ctr"/>
            </a:p>
          </p:txBody>
        </p:sp>
        <p:sp>
          <p:nvSpPr>
            <p:cNvPr id="68" name="Oval 67"/>
            <p:cNvSpPr/>
            <p:nvPr/>
          </p:nvSpPr>
          <p:spPr>
            <a:xfrm>
              <a:off x="7130491" y="3255264"/>
              <a:ext cx="292608" cy="292608"/>
            </a:xfrm>
            <a:prstGeom prst="ellipse">
              <a:avLst/>
            </a:prstGeom>
            <a:solidFill>
              <a:srgbClr val="1B1D21"/>
            </a:solidFill>
            <a:ln w="19050">
              <a:solidFill>
                <a:srgbClr val="9AA0A6"/>
              </a:solidFill>
            </a:ln>
          </p:spPr>
          <p:txBody>
            <a:bodyPr rtlCol="0" anchor="ctr"/>
            <a:lstStyle/>
            <a:p>
              <a:pPr algn="ctr"/>
            </a:p>
          </p:txBody>
        </p:sp>
        <p:sp>
          <p:nvSpPr>
            <p:cNvPr id="69" name="Oval 68"/>
            <p:cNvSpPr/>
            <p:nvPr/>
          </p:nvSpPr>
          <p:spPr>
            <a:xfrm>
              <a:off x="9822485" y="3255264"/>
              <a:ext cx="292608" cy="292608"/>
            </a:xfrm>
            <a:prstGeom prst="ellipse">
              <a:avLst/>
            </a:prstGeom>
            <a:solidFill>
              <a:srgbClr val="1B1D21"/>
            </a:solidFill>
            <a:ln w="19050">
              <a:solidFill>
                <a:srgbClr val="9AA0A6"/>
              </a:solidFill>
            </a:ln>
          </p:spPr>
          <p:txBody>
            <a:bodyPr rtlCol="0" anchor="ctr"/>
            <a:lstStyle/>
            <a:p>
              <a:pPr algn="ctr"/>
            </a:p>
          </p:txBody>
        </p:sp>
        <p:sp>
          <p:nvSpPr>
            <p:cNvPr id="70" name="Rectangle 69"/>
            <p:cNvSpPr/>
            <p:nvPr/>
          </p:nvSpPr>
          <p:spPr>
            <a:xfrm>
              <a:off x="6245352" y="3547872"/>
              <a:ext cx="4754880" cy="54864"/>
            </a:xfrm>
            <a:prstGeom prst="rect">
              <a:avLst/>
            </a:prstGeom>
            <a:solidFill>
              <a:srgbClr val="9AA0A6"/>
            </a:solidFill>
            <a:ln>
              <a:noFill/>
            </a:ln>
          </p:spPr>
          <p:txBody>
            <a:bodyPr rtlCol="0" anchor="ctr"/>
            <a:lstStyle/>
            <a:p>
              <a:pPr algn="ctr"/>
            </a:p>
          </p:txBody>
        </p:sp>
      </p:grpSp>
      <p:sp>
        <p:nvSpPr>
          <p:cNvPr id="71" name="TextBox 70"/>
          <p:cNvSpPr txBox="1"/>
          <p:nvPr/>
        </p:nvSpPr>
        <p:spPr>
          <a:xfrm>
            <a:off x="914400" y="3794760"/>
            <a:ext cx="4206240" cy="365760"/>
          </a:xfrm>
          <a:prstGeom prst="rect">
            <a:avLst/>
          </a:prstGeom>
          <a:noFill/>
        </p:spPr>
        <p:txBody>
          <a:bodyPr wrap="square" lIns="0" tIns="0" rIns="0" bIns="0" anchor="t">
            <a:noAutofit/>
          </a:bodyPr>
          <a:lstStyle/>
          <a:p>
            <a:pPr algn="l"/>
            <a:r>
              <a:rPr sz="2000" b="1" i="0" lang="en-GB">
                <a:solidFill>
                  <a:srgbClr val="F2F2F2"/>
                </a:solidFill>
                <a:latin typeface="Arial"/>
              </a:rPr>
              <a:t>Steam wagon: about 20 stacks</a:t>
            </a:r>
          </a:p>
        </p:txBody>
      </p:sp>
      <p:sp>
        <p:nvSpPr>
          <p:cNvPr id="72" name="Inline chip Provisional"/>
          <p:cNvSpPr/>
          <p:nvPr/>
        </p:nvSpPr>
        <p:spPr>
          <a:xfrm>
            <a:off x="914400" y="4224528"/>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73" name="TextBox 72"/>
          <p:cNvSpPr txBox="1"/>
          <p:nvPr/>
        </p:nvSpPr>
        <p:spPr>
          <a:xfrm>
            <a:off x="6519672" y="3794760"/>
            <a:ext cx="4206240" cy="365760"/>
          </a:xfrm>
          <a:prstGeom prst="rect">
            <a:avLst/>
          </a:prstGeom>
          <a:noFill/>
        </p:spPr>
        <p:txBody>
          <a:bodyPr wrap="square" lIns="0" tIns="0" rIns="0" bIns="0" anchor="t">
            <a:noAutofit/>
          </a:bodyPr>
          <a:lstStyle/>
          <a:p>
            <a:pPr algn="l"/>
            <a:r>
              <a:rPr sz="2000" b="1" i="0" lang="en-GB">
                <a:solidFill>
                  <a:srgbClr val="F2F2F2"/>
                </a:solidFill>
                <a:latin typeface="Arial"/>
              </a:rPr>
              <a:t>Vanilla wagon: 32 stacks</a:t>
            </a:r>
          </a:p>
        </p:txBody>
      </p:sp>
      <p:grpSp>
        <p:nvGrpSpPr>
          <p:cNvPr id="74" name="Legend" descr="Legend: one square is one stack, a pile of one item."/>
          <p:cNvGrpSpPr/>
          <p:nvPr/>
        </p:nvGrpSpPr>
        <p:grpSpPr>
          <a:xfrm>
            <a:off x="914400" y="4800600"/>
            <a:ext cx="4480560" cy="384048"/>
            <a:chOff x="914400" y="4800600"/>
            <a:chExt cx="4480560" cy="384048"/>
          </a:xfrm>
        </p:grpSpPr>
        <p:sp>
          <p:nvSpPr>
            <p:cNvPr id="75" name="Rounded Rectangle 74"/>
            <p:cNvSpPr/>
            <p:nvPr/>
          </p:nvSpPr>
          <p:spPr>
            <a:xfrm>
              <a:off x="914400" y="4873752"/>
              <a:ext cx="237744" cy="237744"/>
            </a:xfrm>
            <a:prstGeom prst="roundRect">
              <a:avLst>
                <a:gd name="adj" fmla="val 11538"/>
              </a:avLst>
            </a:prstGeom>
            <a:solidFill>
              <a:srgbClr val="F28C28"/>
            </a:solidFill>
            <a:ln>
              <a:noFill/>
            </a:ln>
          </p:spPr>
          <p:txBody>
            <a:bodyPr rtlCol="0" anchor="ctr"/>
            <a:lstStyle/>
            <a:p>
              <a:pPr algn="ctr"/>
            </a:p>
          </p:txBody>
        </p:sp>
        <p:sp>
          <p:nvSpPr>
            <p:cNvPr id="76" name="TextBox 75"/>
            <p:cNvSpPr txBox="1"/>
            <p:nvPr/>
          </p:nvSpPr>
          <p:spPr>
            <a:xfrm>
              <a:off x="1280160" y="4800600"/>
              <a:ext cx="4114800" cy="384048"/>
            </a:xfrm>
            <a:prstGeom prst="rect">
              <a:avLst/>
            </a:prstGeom>
            <a:noFill/>
          </p:spPr>
          <p:txBody>
            <a:bodyPr wrap="square" lIns="0" tIns="0" rIns="0" bIns="0" anchor="ctr">
              <a:noAutofit/>
            </a:bodyPr>
            <a:lstStyle/>
            <a:p>
              <a:pPr algn="l"/>
              <a:r>
                <a:rPr sz="1800" b="0" i="0" lang="en-GB">
                  <a:solidFill>
                    <a:srgbClr val="F2F2F2"/>
                  </a:solidFill>
                  <a:latin typeface="Arial"/>
                </a:rPr>
                <a:t>Stack = a pile of one item.</a:t>
              </a:r>
            </a:p>
          </p:txBody>
        </p:sp>
      </p:grpSp>
      <p:sp>
        <p:nvSpPr>
          <p:cNvPr id="77" name="TextBox 76"/>
          <p:cNvSpPr txBox="1"/>
          <p:nvPr/>
        </p:nvSpPr>
        <p:spPr>
          <a:xfrm>
            <a:off x="6519672" y="4800600"/>
            <a:ext cx="2377440" cy="384048"/>
          </a:xfrm>
          <a:prstGeom prst="rect">
            <a:avLst/>
          </a:prstGeom>
          <a:noFill/>
        </p:spPr>
        <p:txBody>
          <a:bodyPr wrap="square" lIns="0" tIns="0" rIns="0" bIns="0" anchor="ctr">
            <a:noAutofit/>
          </a:bodyPr>
          <a:lstStyle/>
          <a:p>
            <a:pPr algn="l"/>
            <a:r>
              <a:rPr sz="1800" b="0" i="0" lang="en-GB">
                <a:solidFill>
                  <a:srgbClr val="F2F2F2"/>
                </a:solidFill>
                <a:latin typeface="Arial"/>
              </a:rPr>
              <a:t>Wagon catalogue:</a:t>
            </a:r>
          </a:p>
        </p:txBody>
      </p:sp>
      <p:sp>
        <p:nvSpPr>
          <p:cNvPr id="78" name="Inline chip Undecided"/>
          <p:cNvSpPr/>
          <p:nvPr/>
        </p:nvSpPr>
        <p:spPr>
          <a:xfrm>
            <a:off x="8491188" y="482803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Steam wagons are cheaper and hold less. About 20 item stacks, against 32 in a vanilla wagon.</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How far can an engine go?</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Engine gauges" descr="Gauges for one engine: coal about two-thirds full, water about half full, and a readout card showing range left with a dial and no number."/>
          <p:cNvGrpSpPr/>
          <p:nvPr/>
        </p:nvGrpSpPr>
        <p:grpSpPr>
          <a:xfrm>
            <a:off x="548640" y="1371600"/>
            <a:ext cx="5120640" cy="3017520"/>
            <a:chOff x="548640" y="1371600"/>
            <a:chExt cx="5120640" cy="3017520"/>
          </a:xfrm>
        </p:grpSpPr>
        <p:sp>
          <p:nvSpPr>
            <p:cNvPr id="9" name="Rounded Rectangle 8"/>
            <p:cNvSpPr/>
            <p:nvPr/>
          </p:nvSpPr>
          <p:spPr>
            <a:xfrm>
              <a:off x="548640" y="1371600"/>
              <a:ext cx="5120640" cy="3017520"/>
            </a:xfrm>
            <a:prstGeom prst="roundRect">
              <a:avLst>
                <a:gd name="adj" fmla="val 3030"/>
              </a:avLst>
            </a:prstGeom>
            <a:solidFill>
              <a:srgbClr val="2B2F36"/>
            </a:solidFill>
            <a:ln>
              <a:noFill/>
            </a:ln>
          </p:spPr>
          <p:txBody>
            <a:bodyPr rtlCol="0" anchor="ctr"/>
            <a:lstStyle/>
            <a:p>
              <a:pPr algn="ctr"/>
            </a:p>
          </p:txBody>
        </p:sp>
        <p:sp>
          <p:nvSpPr>
            <p:cNvPr id="10" name="Rounded Rectangle 9"/>
            <p:cNvSpPr/>
            <p:nvPr/>
          </p:nvSpPr>
          <p:spPr>
            <a:xfrm>
              <a:off x="914400" y="1828800"/>
              <a:ext cx="914400" cy="2103120"/>
            </a:xfrm>
            <a:prstGeom prst="roundRect">
              <a:avLst>
                <a:gd name="adj" fmla="val 8000"/>
              </a:avLst>
            </a:prstGeom>
            <a:solidFill>
              <a:srgbClr val="2B2F36"/>
            </a:solidFill>
            <a:ln w="25400">
              <a:solidFill>
                <a:srgbClr val="6B7078"/>
              </a:solidFill>
            </a:ln>
          </p:spPr>
          <p:txBody>
            <a:bodyPr rtlCol="0" anchor="ctr"/>
            <a:lstStyle/>
            <a:p>
              <a:pPr algn="ctr"/>
            </a:p>
          </p:txBody>
        </p:sp>
        <p:sp>
          <p:nvSpPr>
            <p:cNvPr id="11" name="Rounded Rectangle 10"/>
            <p:cNvSpPr/>
            <p:nvPr/>
          </p:nvSpPr>
          <p:spPr>
            <a:xfrm>
              <a:off x="950976" y="2575865"/>
              <a:ext cx="841248" cy="1319479"/>
            </a:xfrm>
            <a:prstGeom prst="roundRect">
              <a:avLst>
                <a:gd name="adj" fmla="val 5434"/>
              </a:avLst>
            </a:prstGeom>
            <a:solidFill>
              <a:srgbClr val="1B1D21"/>
            </a:solidFill>
            <a:ln>
              <a:noFill/>
            </a:ln>
          </p:spPr>
          <p:txBody>
            <a:bodyPr rtlCol="0" anchor="ctr"/>
            <a:lstStyle/>
            <a:p>
              <a:pPr algn="ctr"/>
            </a:p>
          </p:txBody>
        </p:sp>
        <p:sp>
          <p:nvSpPr>
            <p:cNvPr id="12" name="Freeform 11"/>
            <p:cNvSpPr/>
            <p:nvPr/>
          </p:nvSpPr>
          <p:spPr>
            <a:xfrm>
              <a:off x="1097280" y="1490472"/>
              <a:ext cx="548640" cy="201168"/>
            </a:xfrm>
            <a:custGeom>
              <a:avLst/>
              <a:gdLst/>
              <a:ahLst/>
              <a:cxnLst/>
              <a:rect l="l" t="t" r="r" b="b"/>
              <a:pathLst>
                <a:path w="548640" h="201168">
                  <a:moveTo>
                    <a:pt x="0" y="201168"/>
                  </a:moveTo>
                  <a:lnTo>
                    <a:pt x="98755" y="80467"/>
                  </a:lnTo>
                  <a:lnTo>
                    <a:pt x="208483" y="30175"/>
                  </a:lnTo>
                  <a:lnTo>
                    <a:pt x="301752" y="0"/>
                  </a:lnTo>
                  <a:lnTo>
                    <a:pt x="411480" y="60350"/>
                  </a:lnTo>
                  <a:lnTo>
                    <a:pt x="504749" y="120701"/>
                  </a:lnTo>
                  <a:lnTo>
                    <a:pt x="548640" y="201168"/>
                  </a:lnTo>
                  <a:close/>
                </a:path>
              </a:pathLst>
            </a:custGeom>
            <a:solidFill>
              <a:srgbClr val="1B1D21"/>
            </a:solidFill>
            <a:ln w="25400">
              <a:solidFill>
                <a:srgbClr val="6B7078"/>
              </a:solidFill>
            </a:ln>
          </p:spPr>
          <p:txBody>
            <a:bodyPr rtlCol="0" anchor="ctr"/>
            <a:lstStyle/>
            <a:p>
              <a:pPr algn="ctr"/>
            </a:p>
          </p:txBody>
        </p:sp>
        <p:sp>
          <p:nvSpPr>
            <p:cNvPr id="13" name="Rounded Rectangle 12"/>
            <p:cNvSpPr/>
            <p:nvPr/>
          </p:nvSpPr>
          <p:spPr>
            <a:xfrm>
              <a:off x="2103120" y="1828800"/>
              <a:ext cx="914400" cy="2103120"/>
            </a:xfrm>
            <a:prstGeom prst="roundRect">
              <a:avLst>
                <a:gd name="adj" fmla="val 8000"/>
              </a:avLst>
            </a:prstGeom>
            <a:solidFill>
              <a:srgbClr val="2B2F36"/>
            </a:solidFill>
            <a:ln w="25400">
              <a:solidFill>
                <a:srgbClr val="F2F2F2"/>
              </a:solidFill>
            </a:ln>
          </p:spPr>
          <p:txBody>
            <a:bodyPr rtlCol="0" anchor="ctr"/>
            <a:lstStyle/>
            <a:p>
              <a:pPr algn="ctr"/>
            </a:p>
          </p:txBody>
        </p:sp>
        <p:sp>
          <p:nvSpPr>
            <p:cNvPr id="14" name="Rounded Rectangle 13"/>
            <p:cNvSpPr/>
            <p:nvPr/>
          </p:nvSpPr>
          <p:spPr>
            <a:xfrm>
              <a:off x="2139696" y="2880360"/>
              <a:ext cx="841248" cy="1014984"/>
            </a:xfrm>
            <a:prstGeom prst="roundRect">
              <a:avLst>
                <a:gd name="adj" fmla="val 5434"/>
              </a:avLst>
            </a:prstGeom>
            <a:solidFill>
              <a:srgbClr val="4DA3FF"/>
            </a:solidFill>
            <a:ln>
              <a:noFill/>
            </a:ln>
          </p:spPr>
          <p:txBody>
            <a:bodyPr rtlCol="0" anchor="ctr"/>
            <a:lstStyle/>
            <a:p>
              <a:pPr algn="ctr"/>
            </a:p>
          </p:txBody>
        </p:sp>
        <p:sp>
          <p:nvSpPr>
            <p:cNvPr id="15" name="Freeform 14"/>
            <p:cNvSpPr/>
            <p:nvPr/>
          </p:nvSpPr>
          <p:spPr>
            <a:xfrm>
              <a:off x="2462152" y="1435608"/>
              <a:ext cx="196336" cy="263347"/>
            </a:xfrm>
            <a:custGeom>
              <a:avLst/>
              <a:gdLst/>
              <a:ahLst/>
              <a:cxnLst/>
              <a:rect l="l" t="t" r="r" b="b"/>
              <a:pathLst>
                <a:path w="196336" h="263347">
                  <a:moveTo>
                    <a:pt x="5368" y="130816"/>
                  </a:moveTo>
                  <a:lnTo>
                    <a:pt x="0" y="153841"/>
                  </a:lnTo>
                  <a:lnTo>
                    <a:pt x="258" y="177482"/>
                  </a:lnTo>
                  <a:lnTo>
                    <a:pt x="6127" y="200385"/>
                  </a:lnTo>
                  <a:lnTo>
                    <a:pt x="17272" y="221236"/>
                  </a:lnTo>
                  <a:lnTo>
                    <a:pt x="33054" y="238840"/>
                  </a:lnTo>
                  <a:lnTo>
                    <a:pt x="52568" y="252189"/>
                  </a:lnTo>
                  <a:lnTo>
                    <a:pt x="74695" y="260517"/>
                  </a:lnTo>
                  <a:lnTo>
                    <a:pt x="98168" y="263347"/>
                  </a:lnTo>
                  <a:lnTo>
                    <a:pt x="121641" y="260517"/>
                  </a:lnTo>
                  <a:lnTo>
                    <a:pt x="143768" y="252189"/>
                  </a:lnTo>
                  <a:lnTo>
                    <a:pt x="163282" y="238840"/>
                  </a:lnTo>
                  <a:lnTo>
                    <a:pt x="179064" y="221236"/>
                  </a:lnTo>
                  <a:lnTo>
                    <a:pt x="190209" y="200385"/>
                  </a:lnTo>
                  <a:lnTo>
                    <a:pt x="196078" y="177482"/>
                  </a:lnTo>
                  <a:lnTo>
                    <a:pt x="196336" y="153841"/>
                  </a:lnTo>
                  <a:lnTo>
                    <a:pt x="190968" y="130816"/>
                  </a:lnTo>
                  <a:lnTo>
                    <a:pt x="98168" y="0"/>
                  </a:lnTo>
                  <a:close/>
                </a:path>
              </a:pathLst>
            </a:custGeom>
            <a:solidFill>
              <a:srgbClr val="4DA3FF"/>
            </a:solidFill>
            <a:ln>
              <a:noFill/>
            </a:ln>
          </p:spPr>
          <p:txBody>
            <a:bodyPr rtlCol="0" anchor="ctr"/>
            <a:lstStyle/>
            <a:p>
              <a:pPr algn="ctr"/>
            </a:p>
          </p:txBody>
        </p:sp>
        <p:sp>
          <p:nvSpPr>
            <p:cNvPr id="16" name="Rounded Rectangle 15"/>
            <p:cNvSpPr/>
            <p:nvPr/>
          </p:nvSpPr>
          <p:spPr>
            <a:xfrm>
              <a:off x="3337560" y="1828800"/>
              <a:ext cx="2103120" cy="2103120"/>
            </a:xfrm>
            <a:prstGeom prst="roundRect">
              <a:avLst>
                <a:gd name="adj" fmla="val 5217"/>
              </a:avLst>
            </a:prstGeom>
            <a:solidFill>
              <a:srgbClr val="1E2126"/>
            </a:solidFill>
            <a:ln w="25400">
              <a:solidFill>
                <a:srgbClr val="F28C28"/>
              </a:solidFill>
            </a:ln>
          </p:spPr>
          <p:txBody>
            <a:bodyPr rtlCol="0" anchor="ctr"/>
            <a:lstStyle/>
            <a:p>
              <a:pPr algn="ctr"/>
            </a:p>
          </p:txBody>
        </p:sp>
        <p:sp>
          <p:nvSpPr>
            <p:cNvPr id="17" name="TextBox 16"/>
            <p:cNvSpPr txBox="1"/>
            <p:nvPr/>
          </p:nvSpPr>
          <p:spPr>
            <a:xfrm>
              <a:off x="3337560" y="1938528"/>
              <a:ext cx="2103120" cy="365760"/>
            </a:xfrm>
            <a:prstGeom prst="rect">
              <a:avLst/>
            </a:prstGeom>
            <a:noFill/>
          </p:spPr>
          <p:txBody>
            <a:bodyPr wrap="square" lIns="0" tIns="0" rIns="0" bIns="0" anchor="t">
              <a:noAutofit/>
            </a:bodyPr>
            <a:lstStyle/>
            <a:p>
              <a:pPr algn="ctr"/>
              <a:r>
                <a:rPr sz="1800" b="1" i="0" lang="en-GB">
                  <a:solidFill>
                    <a:srgbClr val="F2F2F2"/>
                  </a:solidFill>
                  <a:latin typeface="Arial"/>
                </a:rPr>
                <a:t>Range left</a:t>
              </a:r>
            </a:p>
          </p:txBody>
        </p:sp>
        <p:sp>
          <p:nvSpPr>
            <p:cNvPr id="18" name="Freeform 17"/>
            <p:cNvSpPr/>
            <p:nvPr/>
          </p:nvSpPr>
          <p:spPr>
            <a:xfrm>
              <a:off x="3703320" y="2743200"/>
              <a:ext cx="1371600" cy="685800"/>
            </a:xfrm>
            <a:custGeom>
              <a:avLst/>
              <a:gdLst/>
              <a:ahLst/>
              <a:cxnLst/>
              <a:rect l="l" t="t" r="r" b="b"/>
              <a:pathLst>
                <a:path w="1371600" h="685800">
                  <a:moveTo>
                    <a:pt x="0" y="685800"/>
                  </a:moveTo>
                  <a:lnTo>
                    <a:pt x="5867" y="596285"/>
                  </a:lnTo>
                  <a:lnTo>
                    <a:pt x="23368" y="508302"/>
                  </a:lnTo>
                  <a:lnTo>
                    <a:pt x="52203" y="423356"/>
                  </a:lnTo>
                  <a:lnTo>
                    <a:pt x="91880" y="342900"/>
                  </a:lnTo>
                  <a:lnTo>
                    <a:pt x="141718" y="268311"/>
                  </a:lnTo>
                  <a:lnTo>
                    <a:pt x="200866" y="200866"/>
                  </a:lnTo>
                  <a:lnTo>
                    <a:pt x="268311" y="141718"/>
                  </a:lnTo>
                  <a:lnTo>
                    <a:pt x="342900" y="91880"/>
                  </a:lnTo>
                  <a:lnTo>
                    <a:pt x="423356" y="52203"/>
                  </a:lnTo>
                  <a:lnTo>
                    <a:pt x="508302" y="23368"/>
                  </a:lnTo>
                  <a:lnTo>
                    <a:pt x="596285" y="5867"/>
                  </a:lnTo>
                  <a:lnTo>
                    <a:pt x="685800" y="0"/>
                  </a:lnTo>
                  <a:lnTo>
                    <a:pt x="775315" y="5867"/>
                  </a:lnTo>
                  <a:lnTo>
                    <a:pt x="863298" y="23368"/>
                  </a:lnTo>
                  <a:lnTo>
                    <a:pt x="948244" y="52203"/>
                  </a:lnTo>
                  <a:lnTo>
                    <a:pt x="1028700" y="91880"/>
                  </a:lnTo>
                  <a:lnTo>
                    <a:pt x="1103289" y="141718"/>
                  </a:lnTo>
                  <a:lnTo>
                    <a:pt x="1170734" y="200866"/>
                  </a:lnTo>
                  <a:lnTo>
                    <a:pt x="1229882" y="268311"/>
                  </a:lnTo>
                  <a:lnTo>
                    <a:pt x="1279720" y="342900"/>
                  </a:lnTo>
                  <a:lnTo>
                    <a:pt x="1319397" y="423356"/>
                  </a:lnTo>
                  <a:lnTo>
                    <a:pt x="1348232" y="508302"/>
                  </a:lnTo>
                  <a:lnTo>
                    <a:pt x="1365733" y="596285"/>
                  </a:lnTo>
                  <a:lnTo>
                    <a:pt x="1371600" y="685800"/>
                  </a:lnTo>
                </a:path>
              </a:pathLst>
            </a:custGeom>
            <a:noFill/>
            <a:ln w="101600">
              <a:solidFill>
                <a:srgbClr val="4A515B"/>
              </a:solidFill>
            </a:ln>
          </p:spPr>
          <p:txBody>
            <a:bodyPr rtlCol="0" anchor="ctr"/>
            <a:lstStyle/>
            <a:p>
              <a:pPr algn="ctr"/>
            </a:p>
          </p:txBody>
        </p:sp>
        <p:sp>
          <p:nvSpPr>
            <p:cNvPr id="19" name="Freeform 18"/>
            <p:cNvSpPr/>
            <p:nvPr/>
          </p:nvSpPr>
          <p:spPr>
            <a:xfrm>
              <a:off x="3703320" y="2743241"/>
              <a:ext cx="920357" cy="685759"/>
            </a:xfrm>
            <a:custGeom>
              <a:avLst/>
              <a:gdLst/>
              <a:ahLst/>
              <a:cxnLst/>
              <a:rect l="l" t="t" r="r" b="b"/>
              <a:pathLst>
                <a:path w="920357" h="685759">
                  <a:moveTo>
                    <a:pt x="0" y="685759"/>
                  </a:moveTo>
                  <a:lnTo>
                    <a:pt x="4931" y="603666"/>
                  </a:lnTo>
                  <a:lnTo>
                    <a:pt x="19654" y="522754"/>
                  </a:lnTo>
                  <a:lnTo>
                    <a:pt x="43956" y="444186"/>
                  </a:lnTo>
                  <a:lnTo>
                    <a:pt x="77488" y="369092"/>
                  </a:lnTo>
                  <a:lnTo>
                    <a:pt x="119768" y="298552"/>
                  </a:lnTo>
                  <a:lnTo>
                    <a:pt x="170188" y="233580"/>
                  </a:lnTo>
                  <a:lnTo>
                    <a:pt x="228023" y="175110"/>
                  </a:lnTo>
                  <a:lnTo>
                    <a:pt x="292441" y="123985"/>
                  </a:lnTo>
                  <a:lnTo>
                    <a:pt x="362516" y="80937"/>
                  </a:lnTo>
                  <a:lnTo>
                    <a:pt x="437240" y="46588"/>
                  </a:lnTo>
                  <a:lnTo>
                    <a:pt x="515538" y="21430"/>
                  </a:lnTo>
                  <a:lnTo>
                    <a:pt x="596285" y="5826"/>
                  </a:lnTo>
                  <a:lnTo>
                    <a:pt x="678319" y="0"/>
                  </a:lnTo>
                  <a:lnTo>
                    <a:pt x="760461" y="4035"/>
                  </a:lnTo>
                  <a:lnTo>
                    <a:pt x="841529" y="17874"/>
                  </a:lnTo>
                  <a:lnTo>
                    <a:pt x="920357" y="41318"/>
                  </a:lnTo>
                </a:path>
              </a:pathLst>
            </a:custGeom>
            <a:noFill/>
            <a:ln w="101600">
              <a:solidFill>
                <a:srgbClr val="F28C28"/>
              </a:solidFill>
            </a:ln>
          </p:spPr>
          <p:txBody>
            <a:bodyPr rtlCol="0" anchor="ctr"/>
            <a:lstStyle/>
            <a:p>
              <a:pPr algn="ctr"/>
            </a:p>
          </p:txBody>
        </p:sp>
        <p:cxnSp>
          <p:nvCxnSpPr>
            <p:cNvPr id="20" name="Connector 19"/>
            <p:cNvCxnSpPr/>
            <p:nvPr/>
          </p:nvCxnSpPr>
          <p:spPr>
            <a:xfrm flipV="1">
              <a:off x="4389120" y="2956255"/>
              <a:ext cx="171999" cy="472745"/>
            </a:xfrm>
            <a:prstGeom prst="line">
              <a:avLst/>
            </a:prstGeom>
            <a:ln w="38100">
              <a:solidFill>
                <a:srgbClr val="F2F2F2"/>
              </a:solidFill>
            </a:ln>
          </p:spPr>
        </p:cxnSp>
        <p:sp>
          <p:nvSpPr>
            <p:cNvPr id="21" name="Oval 20"/>
            <p:cNvSpPr/>
            <p:nvPr/>
          </p:nvSpPr>
          <p:spPr>
            <a:xfrm>
              <a:off x="4315968" y="3355848"/>
              <a:ext cx="146304" cy="146304"/>
            </a:xfrm>
            <a:prstGeom prst="ellipse">
              <a:avLst/>
            </a:prstGeom>
            <a:solidFill>
              <a:srgbClr val="F2F2F2"/>
            </a:solidFill>
            <a:ln>
              <a:noFill/>
            </a:ln>
          </p:spPr>
          <p:txBody>
            <a:bodyPr rtlCol="0" anchor="ctr"/>
            <a:lstStyle/>
            <a:p>
              <a:pPr algn="ctr"/>
            </a:p>
          </p:txBody>
        </p:sp>
      </p:grpSp>
      <p:sp>
        <p:nvSpPr>
          <p:cNvPr id="22" name="Inline chip Agreed"/>
          <p:cNvSpPr/>
          <p:nvPr/>
        </p:nvSpPr>
        <p:spPr>
          <a:xfrm>
            <a:off x="3337560" y="4526280"/>
            <a:ext cx="2153781"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 DIRECTION</a:t>
            </a:r>
          </a:p>
        </p:txBody>
      </p:sp>
      <p:sp>
        <p:nvSpPr>
          <p:cNvPr id="23" name="TextBox 22"/>
          <p:cNvSpPr txBox="1"/>
          <p:nvPr/>
        </p:nvSpPr>
        <p:spPr>
          <a:xfrm>
            <a:off x="6172200" y="1325880"/>
            <a:ext cx="3291840" cy="384048"/>
          </a:xfrm>
          <a:prstGeom prst="rect">
            <a:avLst/>
          </a:prstGeom>
          <a:noFill/>
        </p:spPr>
        <p:txBody>
          <a:bodyPr wrap="square" lIns="0" tIns="0" rIns="0" bIns="0" anchor="ctr">
            <a:noAutofit/>
          </a:bodyPr>
          <a:lstStyle/>
          <a:p>
            <a:pPr algn="l"/>
            <a:r>
              <a:rPr sz="2000" b="1" i="0" lang="en-GB">
                <a:solidFill>
                  <a:srgbClr val="F2F2F2"/>
                </a:solidFill>
                <a:latin typeface="Arial"/>
              </a:rPr>
              <a:t>Route-dependent targets</a:t>
            </a:r>
          </a:p>
        </p:txBody>
      </p:sp>
      <p:sp>
        <p:nvSpPr>
          <p:cNvPr id="24" name="Inline chip Provisional"/>
          <p:cNvSpPr/>
          <p:nvPr/>
        </p:nvSpPr>
        <p:spPr>
          <a:xfrm>
            <a:off x="9361359" y="1353312"/>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graphicFrame>
        <p:nvGraphicFramePr>
          <p:cNvPr id="25" name="Table" descr="Table of provisional, route-dependent range targets. Small: water 2 to 3 km, coal 4 to 5 km. Medium: water 4 to 5 km, coal about 7 km. Large: water 6 to 7 km, coal about 10 km."/>
          <p:cNvGraphicFramePr>
            <a:graphicFrameLocks noGrp="1"/>
          </p:cNvGraphicFramePr>
          <p:nvPr/>
        </p:nvGraphicFramePr>
        <p:xfrm>
          <a:off x="6172200" y="1874520"/>
          <a:ext cx="5486400" cy="2267712"/>
        </p:xfrm>
        <a:graphic>
          <a:graphicData uri="http://schemas.openxmlformats.org/drawingml/2006/table">
            <a:tbl>
              <a:tblPr firstRow="1">
                <a:tableStyleId>{2D5ABB26-0587-4C30-8999-92F81FD0307C}</a:tableStyleId>
              </a:tblPr>
              <a:tblGrid>
                <a:gridCol w="1828800"/>
                <a:gridCol w="1828800"/>
                <a:gridCol w="1828800"/>
              </a:tblGrid>
              <a:tr h="566928">
                <a:tc>
                  <a:txBody>
                    <a:bodyPr wrap="square"/>
                    <a:lstStyle/>
                    <a:p>
                      <a:pPr algn="l"/>
                      <a:r>
                        <a:rPr sz="2000" b="1" lang="en-GB">
                          <a:solidFill>
                            <a:srgbClr val="F28C28"/>
                          </a:solidFill>
                          <a:latin typeface="Arial"/>
                        </a:rPr>
                        <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ctr"/>
                      <a:r>
                        <a:rPr sz="2000" b="1" lang="en-GB">
                          <a:solidFill>
                            <a:srgbClr val="F28C28"/>
                          </a:solidFill>
                          <a:latin typeface="Arial"/>
                        </a:rPr>
                        <a:t>Water (km)</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ctr"/>
                      <a:r>
                        <a:rPr sz="2000" b="1" lang="en-GB">
                          <a:solidFill>
                            <a:srgbClr val="F28C28"/>
                          </a:solidFill>
                          <a:latin typeface="Arial"/>
                        </a:rPr>
                        <a:t>Coal (km)</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r>
              <a:tr h="566928">
                <a:tc>
                  <a:txBody>
                    <a:bodyPr wrap="square"/>
                    <a:lstStyle/>
                    <a:p>
                      <a:pPr algn="l"/>
                      <a:r>
                        <a:rPr sz="2000" b="0" lang="en-GB">
                          <a:solidFill>
                            <a:srgbClr val="F2F2F2"/>
                          </a:solidFill>
                          <a:latin typeface="Arial"/>
                        </a:rPr>
                        <a:t>Small</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ctr"/>
                      <a:r>
                        <a:rPr sz="2000" b="0" lang="en-GB">
                          <a:solidFill>
                            <a:srgbClr val="F2F2F2"/>
                          </a:solidFill>
                          <a:latin typeface="Arial"/>
                        </a:rPr>
                        <a:t>2–3</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ctr"/>
                      <a:r>
                        <a:rPr sz="2000" b="0" lang="en-GB">
                          <a:solidFill>
                            <a:srgbClr val="F2F2F2"/>
                          </a:solidFill>
                          <a:latin typeface="Arial"/>
                        </a:rPr>
                        <a:t>4–5</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566928">
                <a:tc>
                  <a:txBody>
                    <a:bodyPr wrap="square"/>
                    <a:lstStyle/>
                    <a:p>
                      <a:pPr algn="l"/>
                      <a:r>
                        <a:rPr sz="2000" b="0" lang="en-GB">
                          <a:solidFill>
                            <a:srgbClr val="F2F2F2"/>
                          </a:solidFill>
                          <a:latin typeface="Arial"/>
                        </a:rPr>
                        <a:t>Medium</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ctr"/>
                      <a:r>
                        <a:rPr sz="2000" b="0" lang="en-GB">
                          <a:solidFill>
                            <a:srgbClr val="F2F2F2"/>
                          </a:solidFill>
                          <a:latin typeface="Arial"/>
                        </a:rPr>
                        <a:t>4–5</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ctr"/>
                      <a:r>
                        <a:rPr sz="2000" b="0" lang="en-GB">
                          <a:solidFill>
                            <a:srgbClr val="F2F2F2"/>
                          </a:solidFill>
                          <a:latin typeface="Arial"/>
                        </a:rPr>
                        <a:t>about 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566928">
                <a:tc>
                  <a:txBody>
                    <a:bodyPr wrap="square"/>
                    <a:lstStyle/>
                    <a:p>
                      <a:pPr algn="l"/>
                      <a:r>
                        <a:rPr sz="2000" b="0" lang="en-GB">
                          <a:solidFill>
                            <a:srgbClr val="F2F2F2"/>
                          </a:solidFill>
                          <a:latin typeface="Arial"/>
                        </a:rPr>
                        <a:t>Large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ctr"/>
                      <a:r>
                        <a:rPr sz="2000" b="0" lang="en-GB">
                          <a:solidFill>
                            <a:srgbClr val="F2F2F2"/>
                          </a:solidFill>
                          <a:latin typeface="Arial"/>
                        </a:rPr>
                        <a:t>6–7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ctr"/>
                      <a:r>
                        <a:rPr sz="2000" b="0" lang="en-GB">
                          <a:solidFill>
                            <a:srgbClr val="F2F2F2"/>
                          </a:solidFill>
                          <a:latin typeface="Arial"/>
                        </a:rPr>
                        <a:t>about 10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bl>
          </a:graphicData>
        </a:graphic>
      </p:graphicFrame>
      <p:sp>
        <p:nvSpPr>
          <p:cNvPr id="26" name="TextBox 25"/>
          <p:cNvSpPr txBox="1"/>
          <p:nvPr/>
        </p:nvSpPr>
        <p:spPr>
          <a:xfrm>
            <a:off x="6172200" y="4434840"/>
            <a:ext cx="4754880" cy="384048"/>
          </a:xfrm>
          <a:prstGeom prst="rect">
            <a:avLst/>
          </a:prstGeom>
          <a:noFill/>
        </p:spPr>
        <p:txBody>
          <a:bodyPr wrap="square" lIns="0" tIns="0" rIns="0" bIns="0" anchor="ctr">
            <a:noAutofit/>
          </a:bodyPr>
          <a:lstStyle/>
          <a:p>
            <a:pPr algn="l"/>
            <a:r>
              <a:rPr sz="1800" b="0" i="0" lang="en-GB">
                <a:solidFill>
                  <a:srgbClr val="F2F2F2"/>
                </a:solidFill>
                <a:latin typeface="Arial"/>
              </a:rPr>
              <a:t>Compacted Coal burns more efficiently.</a:t>
            </a:r>
          </a:p>
        </p:txBody>
      </p:sp>
      <p:sp>
        <p:nvSpPr>
          <p:cNvPr id="27" name="Inline chip Agreed"/>
          <p:cNvSpPr/>
          <p:nvPr/>
        </p:nvSpPr>
        <p:spPr>
          <a:xfrm>
            <a:off x="10336530" y="4462272"/>
            <a:ext cx="112647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Range comes from real tank sizes and real use. Hills and heavy loads use more. Coasting uses less.</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Tenders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Train with tenders" descr="A train facing left: the engine and its normal tender form one vehicle; behind them a hatched auxiliary tender, a separate wagon; then three cargo wagons."/>
          <p:cNvGrpSpPr/>
          <p:nvPr/>
        </p:nvGrpSpPr>
        <p:grpSpPr>
          <a:xfrm>
            <a:off x="640080" y="1421892"/>
            <a:ext cx="7827264" cy="1330452"/>
            <a:chOff x="640080" y="1421892"/>
            <a:chExt cx="7827264" cy="1330452"/>
          </a:xfrm>
        </p:grpSpPr>
        <p:sp>
          <p:nvSpPr>
            <p:cNvPr id="9" name="Rounded Rectangle 8"/>
            <p:cNvSpPr/>
            <p:nvPr/>
          </p:nvSpPr>
          <p:spPr>
            <a:xfrm>
              <a:off x="822960" y="1805940"/>
              <a:ext cx="1371600" cy="754380"/>
            </a:xfrm>
            <a:prstGeom prst="roundRect">
              <a:avLst>
                <a:gd name="adj" fmla="val 10909"/>
              </a:avLst>
            </a:prstGeom>
            <a:solidFill>
              <a:srgbClr val="F28C28"/>
            </a:solidFill>
            <a:ln w="9525">
              <a:solidFill>
                <a:srgbClr val="101418"/>
              </a:solidFill>
            </a:ln>
          </p:spPr>
          <p:txBody>
            <a:bodyPr rtlCol="0" anchor="ctr"/>
            <a:lstStyle/>
            <a:p>
              <a:pPr algn="ctr"/>
            </a:p>
          </p:txBody>
        </p:sp>
        <p:sp>
          <p:nvSpPr>
            <p:cNvPr id="10" name="Rectangle 9"/>
            <p:cNvSpPr/>
            <p:nvPr/>
          </p:nvSpPr>
          <p:spPr>
            <a:xfrm>
              <a:off x="918972" y="1421892"/>
              <a:ext cx="205740" cy="411480"/>
            </a:xfrm>
            <a:prstGeom prst="rect">
              <a:avLst/>
            </a:prstGeom>
            <a:solidFill>
              <a:srgbClr val="1B1D21"/>
            </a:solidFill>
            <a:ln>
              <a:noFill/>
            </a:ln>
          </p:spPr>
          <p:txBody>
            <a:bodyPr rtlCol="0" anchor="ctr"/>
            <a:lstStyle/>
            <a:p>
              <a:pPr algn="ctr"/>
            </a:p>
          </p:txBody>
        </p:sp>
        <p:sp>
          <p:nvSpPr>
            <p:cNvPr id="11" name="Rectangle 10"/>
            <p:cNvSpPr/>
            <p:nvPr/>
          </p:nvSpPr>
          <p:spPr>
            <a:xfrm>
              <a:off x="1536192" y="1901952"/>
              <a:ext cx="192024" cy="192024"/>
            </a:xfrm>
            <a:prstGeom prst="rect">
              <a:avLst/>
            </a:prstGeom>
            <a:solidFill>
              <a:srgbClr val="2B2F36"/>
            </a:solidFill>
            <a:ln>
              <a:noFill/>
            </a:ln>
          </p:spPr>
          <p:txBody>
            <a:bodyPr rtlCol="0" anchor="ctr"/>
            <a:lstStyle/>
            <a:p>
              <a:pPr algn="ctr"/>
            </a:p>
          </p:txBody>
        </p:sp>
        <p:sp>
          <p:nvSpPr>
            <p:cNvPr id="12" name="Oval 11"/>
            <p:cNvSpPr/>
            <p:nvPr/>
          </p:nvSpPr>
          <p:spPr>
            <a:xfrm>
              <a:off x="960120" y="2423160"/>
              <a:ext cx="274320" cy="274320"/>
            </a:xfrm>
            <a:prstGeom prst="ellipse">
              <a:avLst/>
            </a:prstGeom>
            <a:solidFill>
              <a:srgbClr val="1B1D21"/>
            </a:solidFill>
            <a:ln w="12700">
              <a:solidFill>
                <a:srgbClr val="9AA0A6"/>
              </a:solidFill>
            </a:ln>
          </p:spPr>
          <p:txBody>
            <a:bodyPr rtlCol="0" anchor="ctr"/>
            <a:lstStyle/>
            <a:p>
              <a:pPr algn="ctr"/>
            </a:p>
          </p:txBody>
        </p:sp>
        <p:sp>
          <p:nvSpPr>
            <p:cNvPr id="13" name="Oval 12"/>
            <p:cNvSpPr/>
            <p:nvPr/>
          </p:nvSpPr>
          <p:spPr>
            <a:xfrm>
              <a:off x="1371600" y="2423160"/>
              <a:ext cx="274320" cy="274320"/>
            </a:xfrm>
            <a:prstGeom prst="ellipse">
              <a:avLst/>
            </a:prstGeom>
            <a:solidFill>
              <a:srgbClr val="1B1D21"/>
            </a:solidFill>
            <a:ln w="12700">
              <a:solidFill>
                <a:srgbClr val="9AA0A6"/>
              </a:solidFill>
            </a:ln>
          </p:spPr>
          <p:txBody>
            <a:bodyPr rtlCol="0" anchor="ctr"/>
            <a:lstStyle/>
            <a:p>
              <a:pPr algn="ctr"/>
            </a:p>
          </p:txBody>
        </p:sp>
        <p:sp>
          <p:nvSpPr>
            <p:cNvPr id="14" name="Oval 13"/>
            <p:cNvSpPr/>
            <p:nvPr/>
          </p:nvSpPr>
          <p:spPr>
            <a:xfrm>
              <a:off x="1783080" y="2423160"/>
              <a:ext cx="274320" cy="274320"/>
            </a:xfrm>
            <a:prstGeom prst="ellipse">
              <a:avLst/>
            </a:prstGeom>
            <a:solidFill>
              <a:srgbClr val="1B1D21"/>
            </a:solidFill>
            <a:ln w="12700">
              <a:solidFill>
                <a:srgbClr val="9AA0A6"/>
              </a:solidFill>
            </a:ln>
          </p:spPr>
          <p:txBody>
            <a:bodyPr rtlCol="0" anchor="ctr"/>
            <a:lstStyle/>
            <a:p>
              <a:pPr algn="ctr"/>
            </a:p>
          </p:txBody>
        </p:sp>
        <p:sp>
          <p:nvSpPr>
            <p:cNvPr id="15" name="Rectangle 14"/>
            <p:cNvSpPr/>
            <p:nvPr/>
          </p:nvSpPr>
          <p:spPr>
            <a:xfrm>
              <a:off x="2194560" y="2354580"/>
              <a:ext cx="109728" cy="68580"/>
            </a:xfrm>
            <a:prstGeom prst="rect">
              <a:avLst/>
            </a:prstGeom>
            <a:solidFill>
              <a:srgbClr val="9AA0A6"/>
            </a:solidFill>
            <a:ln>
              <a:noFill/>
            </a:ln>
          </p:spPr>
          <p:txBody>
            <a:bodyPr rtlCol="0" anchor="ctr"/>
            <a:lstStyle/>
            <a:p>
              <a:pPr algn="ctr"/>
            </a:p>
          </p:txBody>
        </p:sp>
        <p:sp>
          <p:nvSpPr>
            <p:cNvPr id="16" name="Rectangle 15"/>
            <p:cNvSpPr/>
            <p:nvPr/>
          </p:nvSpPr>
          <p:spPr>
            <a:xfrm>
              <a:off x="2304288" y="1874520"/>
              <a:ext cx="850392" cy="658368"/>
            </a:xfrm>
            <a:prstGeom prst="rect">
              <a:avLst/>
            </a:prstGeom>
            <a:solidFill>
              <a:srgbClr val="F28C28"/>
            </a:solidFill>
            <a:ln w="9525">
              <a:solidFill>
                <a:srgbClr val="101418"/>
              </a:solidFill>
            </a:ln>
          </p:spPr>
          <p:txBody>
            <a:bodyPr rtlCol="0" anchor="ctr"/>
            <a:lstStyle/>
            <a:p>
              <a:pPr algn="ctr"/>
            </a:p>
          </p:txBody>
        </p:sp>
        <p:sp>
          <p:nvSpPr>
            <p:cNvPr id="17" name="Rectangle 16"/>
            <p:cNvSpPr/>
            <p:nvPr/>
          </p:nvSpPr>
          <p:spPr>
            <a:xfrm>
              <a:off x="2372868" y="1764792"/>
              <a:ext cx="713232" cy="164592"/>
            </a:xfrm>
            <a:prstGeom prst="rect">
              <a:avLst/>
            </a:prstGeom>
            <a:solidFill>
              <a:srgbClr val="1B1D21"/>
            </a:solidFill>
            <a:ln>
              <a:noFill/>
            </a:ln>
          </p:spPr>
          <p:txBody>
            <a:bodyPr rtlCol="0" anchor="ctr"/>
            <a:lstStyle/>
            <a:p>
              <a:pPr algn="ctr"/>
            </a:p>
          </p:txBody>
        </p:sp>
        <p:sp>
          <p:nvSpPr>
            <p:cNvPr id="18" name="Oval 17"/>
            <p:cNvSpPr/>
            <p:nvPr/>
          </p:nvSpPr>
          <p:spPr>
            <a:xfrm>
              <a:off x="2372868" y="2423160"/>
              <a:ext cx="274320" cy="274320"/>
            </a:xfrm>
            <a:prstGeom prst="ellipse">
              <a:avLst/>
            </a:prstGeom>
            <a:solidFill>
              <a:srgbClr val="1B1D21"/>
            </a:solidFill>
            <a:ln w="12700">
              <a:solidFill>
                <a:srgbClr val="9AA0A6"/>
              </a:solidFill>
            </a:ln>
          </p:spPr>
          <p:txBody>
            <a:bodyPr rtlCol="0" anchor="ctr"/>
            <a:lstStyle/>
            <a:p>
              <a:pPr algn="ctr"/>
            </a:p>
          </p:txBody>
        </p:sp>
        <p:sp>
          <p:nvSpPr>
            <p:cNvPr id="19" name="Oval 18"/>
            <p:cNvSpPr/>
            <p:nvPr/>
          </p:nvSpPr>
          <p:spPr>
            <a:xfrm>
              <a:off x="2811780" y="2423160"/>
              <a:ext cx="274320" cy="274320"/>
            </a:xfrm>
            <a:prstGeom prst="ellipse">
              <a:avLst/>
            </a:prstGeom>
            <a:solidFill>
              <a:srgbClr val="1B1D21"/>
            </a:solidFill>
            <a:ln w="12700">
              <a:solidFill>
                <a:srgbClr val="9AA0A6"/>
              </a:solidFill>
            </a:ln>
          </p:spPr>
          <p:txBody>
            <a:bodyPr rtlCol="0" anchor="ctr"/>
            <a:lstStyle/>
            <a:p>
              <a:pPr algn="ctr"/>
            </a:p>
          </p:txBody>
        </p:sp>
        <p:sp>
          <p:nvSpPr>
            <p:cNvPr id="20" name="Rectangle 19"/>
            <p:cNvSpPr/>
            <p:nvPr/>
          </p:nvSpPr>
          <p:spPr>
            <a:xfrm>
              <a:off x="3154680" y="2354580"/>
              <a:ext cx="411480" cy="68580"/>
            </a:xfrm>
            <a:prstGeom prst="rect">
              <a:avLst/>
            </a:prstGeom>
            <a:solidFill>
              <a:srgbClr val="9AA0A6"/>
            </a:solidFill>
            <a:ln>
              <a:noFill/>
            </a:ln>
          </p:spPr>
          <p:txBody>
            <a:bodyPr rtlCol="0" anchor="ctr"/>
            <a:lstStyle/>
            <a:p>
              <a:pPr algn="ctr"/>
            </a:p>
          </p:txBody>
        </p:sp>
        <p:sp>
          <p:nvSpPr>
            <p:cNvPr id="21" name="Rectangle 20"/>
            <p:cNvSpPr/>
            <p:nvPr/>
          </p:nvSpPr>
          <p:spPr>
            <a:xfrm>
              <a:off x="3566160" y="1915668"/>
              <a:ext cx="1097280" cy="617220"/>
            </a:xfrm>
            <a:prstGeom prst="rect">
              <a:avLst/>
            </a:prstGeom>
            <a:pattFill prst="wdUpDiag">
              <a:fgClr>
                <a:srgbClr val="F28C28"/>
              </a:fgClr>
              <a:bgClr>
                <a:srgbClr val="2B2F36"/>
              </a:bgClr>
            </a:pattFill>
            <a:ln w="25400">
              <a:solidFill>
                <a:srgbClr val="F28C28"/>
              </a:solidFill>
            </a:ln>
          </p:spPr>
          <p:txBody>
            <a:bodyPr rtlCol="0" anchor="ctr"/>
            <a:lstStyle/>
            <a:p>
              <a:pPr algn="ctr"/>
            </a:p>
          </p:txBody>
        </p:sp>
        <p:sp>
          <p:nvSpPr>
            <p:cNvPr id="22" name="Oval 21"/>
            <p:cNvSpPr/>
            <p:nvPr/>
          </p:nvSpPr>
          <p:spPr>
            <a:xfrm>
              <a:off x="3703320" y="2423160"/>
              <a:ext cx="274320" cy="274320"/>
            </a:xfrm>
            <a:prstGeom prst="ellipse">
              <a:avLst/>
            </a:prstGeom>
            <a:solidFill>
              <a:srgbClr val="1B1D21"/>
            </a:solidFill>
            <a:ln w="12700">
              <a:solidFill>
                <a:srgbClr val="9AA0A6"/>
              </a:solidFill>
            </a:ln>
          </p:spPr>
          <p:txBody>
            <a:bodyPr rtlCol="0" anchor="ctr"/>
            <a:lstStyle/>
            <a:p>
              <a:pPr algn="ctr"/>
            </a:p>
          </p:txBody>
        </p:sp>
        <p:sp>
          <p:nvSpPr>
            <p:cNvPr id="23" name="Oval 22"/>
            <p:cNvSpPr/>
            <p:nvPr/>
          </p:nvSpPr>
          <p:spPr>
            <a:xfrm>
              <a:off x="4251960" y="2423160"/>
              <a:ext cx="274320" cy="274320"/>
            </a:xfrm>
            <a:prstGeom prst="ellipse">
              <a:avLst/>
            </a:prstGeom>
            <a:solidFill>
              <a:srgbClr val="1B1D21"/>
            </a:solidFill>
            <a:ln w="12700">
              <a:solidFill>
                <a:srgbClr val="9AA0A6"/>
              </a:solidFill>
            </a:ln>
          </p:spPr>
          <p:txBody>
            <a:bodyPr rtlCol="0" anchor="ctr"/>
            <a:lstStyle/>
            <a:p>
              <a:pPr algn="ctr"/>
            </a:p>
          </p:txBody>
        </p:sp>
        <p:sp>
          <p:nvSpPr>
            <p:cNvPr id="24" name="Rectangle 23"/>
            <p:cNvSpPr/>
            <p:nvPr/>
          </p:nvSpPr>
          <p:spPr>
            <a:xfrm>
              <a:off x="4663440" y="2354580"/>
              <a:ext cx="109728" cy="68580"/>
            </a:xfrm>
            <a:prstGeom prst="rect">
              <a:avLst/>
            </a:prstGeom>
            <a:solidFill>
              <a:srgbClr val="9AA0A6"/>
            </a:solidFill>
            <a:ln>
              <a:noFill/>
            </a:ln>
          </p:spPr>
          <p:txBody>
            <a:bodyPr rtlCol="0" anchor="ctr"/>
            <a:lstStyle/>
            <a:p>
              <a:pPr algn="ctr"/>
            </a:p>
          </p:txBody>
        </p:sp>
        <p:sp>
          <p:nvSpPr>
            <p:cNvPr id="25" name="Rectangle 24"/>
            <p:cNvSpPr/>
            <p:nvPr/>
          </p:nvSpPr>
          <p:spPr>
            <a:xfrm>
              <a:off x="4773168" y="1915668"/>
              <a:ext cx="1097280" cy="617220"/>
            </a:xfrm>
            <a:prstGeom prst="rect">
              <a:avLst/>
            </a:prstGeom>
            <a:solidFill>
              <a:srgbClr val="6C7480"/>
            </a:solidFill>
            <a:ln w="9525">
              <a:solidFill>
                <a:srgbClr val="101418"/>
              </a:solidFill>
            </a:ln>
          </p:spPr>
          <p:txBody>
            <a:bodyPr rtlCol="0" anchor="ctr"/>
            <a:lstStyle/>
            <a:p>
              <a:pPr algn="ctr"/>
            </a:p>
          </p:txBody>
        </p:sp>
        <p:sp>
          <p:nvSpPr>
            <p:cNvPr id="26" name="Oval 25"/>
            <p:cNvSpPr/>
            <p:nvPr/>
          </p:nvSpPr>
          <p:spPr>
            <a:xfrm>
              <a:off x="4910328" y="2423160"/>
              <a:ext cx="274320" cy="274320"/>
            </a:xfrm>
            <a:prstGeom prst="ellipse">
              <a:avLst/>
            </a:prstGeom>
            <a:solidFill>
              <a:srgbClr val="1B1D21"/>
            </a:solidFill>
            <a:ln w="12700">
              <a:solidFill>
                <a:srgbClr val="9AA0A6"/>
              </a:solidFill>
            </a:ln>
          </p:spPr>
          <p:txBody>
            <a:bodyPr rtlCol="0" anchor="ctr"/>
            <a:lstStyle/>
            <a:p>
              <a:pPr algn="ctr"/>
            </a:p>
          </p:txBody>
        </p:sp>
        <p:sp>
          <p:nvSpPr>
            <p:cNvPr id="27" name="Oval 26"/>
            <p:cNvSpPr/>
            <p:nvPr/>
          </p:nvSpPr>
          <p:spPr>
            <a:xfrm>
              <a:off x="5458968" y="2423160"/>
              <a:ext cx="274320" cy="274320"/>
            </a:xfrm>
            <a:prstGeom prst="ellipse">
              <a:avLst/>
            </a:prstGeom>
            <a:solidFill>
              <a:srgbClr val="1B1D21"/>
            </a:solidFill>
            <a:ln w="12700">
              <a:solidFill>
                <a:srgbClr val="9AA0A6"/>
              </a:solidFill>
            </a:ln>
          </p:spPr>
          <p:txBody>
            <a:bodyPr rtlCol="0" anchor="ctr"/>
            <a:lstStyle/>
            <a:p>
              <a:pPr algn="ctr"/>
            </a:p>
          </p:txBody>
        </p:sp>
        <p:sp>
          <p:nvSpPr>
            <p:cNvPr id="28" name="Rectangle 27"/>
            <p:cNvSpPr/>
            <p:nvPr/>
          </p:nvSpPr>
          <p:spPr>
            <a:xfrm>
              <a:off x="5870448" y="2354580"/>
              <a:ext cx="109728" cy="68580"/>
            </a:xfrm>
            <a:prstGeom prst="rect">
              <a:avLst/>
            </a:prstGeom>
            <a:solidFill>
              <a:srgbClr val="9AA0A6"/>
            </a:solidFill>
            <a:ln>
              <a:noFill/>
            </a:ln>
          </p:spPr>
          <p:txBody>
            <a:bodyPr rtlCol="0" anchor="ctr"/>
            <a:lstStyle/>
            <a:p>
              <a:pPr algn="ctr"/>
            </a:p>
          </p:txBody>
        </p:sp>
        <p:sp>
          <p:nvSpPr>
            <p:cNvPr id="29" name="Rectangle 28"/>
            <p:cNvSpPr/>
            <p:nvPr/>
          </p:nvSpPr>
          <p:spPr>
            <a:xfrm>
              <a:off x="5980176" y="1915668"/>
              <a:ext cx="1097280" cy="617220"/>
            </a:xfrm>
            <a:prstGeom prst="rect">
              <a:avLst/>
            </a:prstGeom>
            <a:solidFill>
              <a:srgbClr val="6C7480"/>
            </a:solidFill>
            <a:ln w="9525">
              <a:solidFill>
                <a:srgbClr val="101418"/>
              </a:solidFill>
            </a:ln>
          </p:spPr>
          <p:txBody>
            <a:bodyPr rtlCol="0" anchor="ctr"/>
            <a:lstStyle/>
            <a:p>
              <a:pPr algn="ctr"/>
            </a:p>
          </p:txBody>
        </p:sp>
        <p:sp>
          <p:nvSpPr>
            <p:cNvPr id="30" name="Oval 29"/>
            <p:cNvSpPr/>
            <p:nvPr/>
          </p:nvSpPr>
          <p:spPr>
            <a:xfrm>
              <a:off x="6117336" y="2423160"/>
              <a:ext cx="274320" cy="274320"/>
            </a:xfrm>
            <a:prstGeom prst="ellipse">
              <a:avLst/>
            </a:prstGeom>
            <a:solidFill>
              <a:srgbClr val="1B1D21"/>
            </a:solidFill>
            <a:ln w="12700">
              <a:solidFill>
                <a:srgbClr val="9AA0A6"/>
              </a:solidFill>
            </a:ln>
          </p:spPr>
          <p:txBody>
            <a:bodyPr rtlCol="0" anchor="ctr"/>
            <a:lstStyle/>
            <a:p>
              <a:pPr algn="ctr"/>
            </a:p>
          </p:txBody>
        </p:sp>
        <p:sp>
          <p:nvSpPr>
            <p:cNvPr id="31" name="Oval 30"/>
            <p:cNvSpPr/>
            <p:nvPr/>
          </p:nvSpPr>
          <p:spPr>
            <a:xfrm>
              <a:off x="6665976" y="2423160"/>
              <a:ext cx="274320" cy="274320"/>
            </a:xfrm>
            <a:prstGeom prst="ellipse">
              <a:avLst/>
            </a:prstGeom>
            <a:solidFill>
              <a:srgbClr val="1B1D21"/>
            </a:solidFill>
            <a:ln w="12700">
              <a:solidFill>
                <a:srgbClr val="9AA0A6"/>
              </a:solidFill>
            </a:ln>
          </p:spPr>
          <p:txBody>
            <a:bodyPr rtlCol="0" anchor="ctr"/>
            <a:lstStyle/>
            <a:p>
              <a:pPr algn="ctr"/>
            </a:p>
          </p:txBody>
        </p:sp>
        <p:sp>
          <p:nvSpPr>
            <p:cNvPr id="32" name="Rectangle 31"/>
            <p:cNvSpPr/>
            <p:nvPr/>
          </p:nvSpPr>
          <p:spPr>
            <a:xfrm>
              <a:off x="7077456" y="2354580"/>
              <a:ext cx="109728" cy="68580"/>
            </a:xfrm>
            <a:prstGeom prst="rect">
              <a:avLst/>
            </a:prstGeom>
            <a:solidFill>
              <a:srgbClr val="9AA0A6"/>
            </a:solidFill>
            <a:ln>
              <a:noFill/>
            </a:ln>
          </p:spPr>
          <p:txBody>
            <a:bodyPr rtlCol="0" anchor="ctr"/>
            <a:lstStyle/>
            <a:p>
              <a:pPr algn="ctr"/>
            </a:p>
          </p:txBody>
        </p:sp>
        <p:sp>
          <p:nvSpPr>
            <p:cNvPr id="33" name="Rectangle 32"/>
            <p:cNvSpPr/>
            <p:nvPr/>
          </p:nvSpPr>
          <p:spPr>
            <a:xfrm>
              <a:off x="7187184" y="1915668"/>
              <a:ext cx="1097280" cy="617220"/>
            </a:xfrm>
            <a:prstGeom prst="rect">
              <a:avLst/>
            </a:prstGeom>
            <a:solidFill>
              <a:srgbClr val="6C7480"/>
            </a:solidFill>
            <a:ln w="9525">
              <a:solidFill>
                <a:srgbClr val="101418"/>
              </a:solidFill>
            </a:ln>
          </p:spPr>
          <p:txBody>
            <a:bodyPr rtlCol="0" anchor="ctr"/>
            <a:lstStyle/>
            <a:p>
              <a:pPr algn="ctr"/>
            </a:p>
          </p:txBody>
        </p:sp>
        <p:sp>
          <p:nvSpPr>
            <p:cNvPr id="34" name="Oval 33"/>
            <p:cNvSpPr/>
            <p:nvPr/>
          </p:nvSpPr>
          <p:spPr>
            <a:xfrm>
              <a:off x="7324344" y="2423160"/>
              <a:ext cx="274320" cy="274320"/>
            </a:xfrm>
            <a:prstGeom prst="ellipse">
              <a:avLst/>
            </a:prstGeom>
            <a:solidFill>
              <a:srgbClr val="1B1D21"/>
            </a:solidFill>
            <a:ln w="12700">
              <a:solidFill>
                <a:srgbClr val="9AA0A6"/>
              </a:solidFill>
            </a:ln>
          </p:spPr>
          <p:txBody>
            <a:bodyPr rtlCol="0" anchor="ctr"/>
            <a:lstStyle/>
            <a:p>
              <a:pPr algn="ctr"/>
            </a:p>
          </p:txBody>
        </p:sp>
        <p:sp>
          <p:nvSpPr>
            <p:cNvPr id="35" name="Oval 34"/>
            <p:cNvSpPr/>
            <p:nvPr/>
          </p:nvSpPr>
          <p:spPr>
            <a:xfrm>
              <a:off x="7872984" y="2423160"/>
              <a:ext cx="274320" cy="274320"/>
            </a:xfrm>
            <a:prstGeom prst="ellipse">
              <a:avLst/>
            </a:prstGeom>
            <a:solidFill>
              <a:srgbClr val="1B1D21"/>
            </a:solidFill>
            <a:ln w="12700">
              <a:solidFill>
                <a:srgbClr val="9AA0A6"/>
              </a:solidFill>
            </a:ln>
          </p:spPr>
          <p:txBody>
            <a:bodyPr rtlCol="0" anchor="ctr"/>
            <a:lstStyle/>
            <a:p>
              <a:pPr algn="ctr"/>
            </a:p>
          </p:txBody>
        </p:sp>
        <p:sp>
          <p:nvSpPr>
            <p:cNvPr id="36" name="Rectangle 35"/>
            <p:cNvSpPr/>
            <p:nvPr/>
          </p:nvSpPr>
          <p:spPr>
            <a:xfrm>
              <a:off x="640080" y="2697480"/>
              <a:ext cx="7827264" cy="54864"/>
            </a:xfrm>
            <a:prstGeom prst="rect">
              <a:avLst/>
            </a:prstGeom>
            <a:solidFill>
              <a:srgbClr val="9AA0A6"/>
            </a:solidFill>
            <a:ln>
              <a:noFill/>
            </a:ln>
          </p:spPr>
          <p:txBody>
            <a:bodyPr rtlCol="0" anchor="ctr"/>
            <a:lstStyle/>
            <a:p>
              <a:pPr algn="ctr"/>
            </a:p>
          </p:txBody>
        </p:sp>
      </p:grpSp>
      <p:grpSp>
        <p:nvGrpSpPr>
          <p:cNvPr id="37" name="Brackets" descr="Brackets: one under the engine and normal tender, one under the auxiliary tender."/>
          <p:cNvGrpSpPr/>
          <p:nvPr/>
        </p:nvGrpSpPr>
        <p:grpSpPr>
          <a:xfrm>
            <a:off x="0" y="0"/>
            <a:ext cx="0" cy="0"/>
            <a:chOff x="0" y="0"/>
            <a:chExt cx="0" cy="0"/>
          </a:xfrm>
        </p:grpSpPr>
        <p:sp>
          <p:nvSpPr>
            <p:cNvPr id="38" name="Freeform 37"/>
            <p:cNvSpPr/>
            <p:nvPr/>
          </p:nvSpPr>
          <p:spPr>
            <a:xfrm>
              <a:off x="822960" y="2834640"/>
              <a:ext cx="2331720" cy="109728"/>
            </a:xfrm>
            <a:custGeom>
              <a:avLst/>
              <a:gdLst/>
              <a:ahLst/>
              <a:cxnLst/>
              <a:rect l="l" t="t" r="r" b="b"/>
              <a:pathLst>
                <a:path w="2331720" h="109728">
                  <a:moveTo>
                    <a:pt x="0" y="0"/>
                  </a:moveTo>
                  <a:lnTo>
                    <a:pt x="0" y="109728"/>
                  </a:lnTo>
                  <a:lnTo>
                    <a:pt x="2331720" y="109728"/>
                  </a:lnTo>
                  <a:lnTo>
                    <a:pt x="2331720" y="0"/>
                  </a:lnTo>
                </a:path>
              </a:pathLst>
            </a:custGeom>
            <a:noFill/>
            <a:ln w="25400">
              <a:solidFill>
                <a:srgbClr val="F28C28"/>
              </a:solidFill>
            </a:ln>
          </p:spPr>
          <p:txBody>
            <a:bodyPr rtlCol="0" anchor="ctr"/>
            <a:lstStyle/>
            <a:p>
              <a:pPr algn="ctr"/>
            </a:p>
          </p:txBody>
        </p:sp>
        <p:sp>
          <p:nvSpPr>
            <p:cNvPr id="41" name="Freeform 40"/>
            <p:cNvSpPr/>
            <p:nvPr/>
          </p:nvSpPr>
          <p:spPr>
            <a:xfrm>
              <a:off x="3566160" y="2834640"/>
              <a:ext cx="1097280" cy="109728"/>
            </a:xfrm>
            <a:custGeom>
              <a:avLst/>
              <a:gdLst/>
              <a:ahLst/>
              <a:cxnLst/>
              <a:rect l="l" t="t" r="r" b="b"/>
              <a:pathLst>
                <a:path w="1097280" h="109728">
                  <a:moveTo>
                    <a:pt x="0" y="0"/>
                  </a:moveTo>
                  <a:lnTo>
                    <a:pt x="0" y="109728"/>
                  </a:lnTo>
                  <a:lnTo>
                    <a:pt x="1097280" y="109728"/>
                  </a:lnTo>
                  <a:lnTo>
                    <a:pt x="1097280" y="0"/>
                  </a:lnTo>
                </a:path>
              </a:pathLst>
            </a:custGeom>
            <a:noFill/>
            <a:ln w="25400">
              <a:solidFill>
                <a:srgbClr val="F28C28"/>
              </a:solidFill>
            </a:ln>
          </p:spPr>
          <p:txBody>
            <a:bodyPr rtlCol="0" anchor="ctr"/>
            <a:lstStyle/>
            <a:p>
              <a:pPr algn="ctr"/>
            </a:p>
          </p:txBody>
        </p:sp>
      </p:grpSp>
      <p:sp>
        <p:nvSpPr>
          <p:cNvPr id="39" name="TextBox 38"/>
          <p:cNvSpPr txBox="1"/>
          <p:nvPr/>
        </p:nvSpPr>
        <p:spPr>
          <a:xfrm>
            <a:off x="822960" y="3017520"/>
            <a:ext cx="2194560" cy="365760"/>
          </a:xfrm>
          <a:prstGeom prst="rect">
            <a:avLst/>
          </a:prstGeom>
          <a:noFill/>
        </p:spPr>
        <p:txBody>
          <a:bodyPr wrap="square" lIns="0" tIns="0" rIns="0" bIns="0" anchor="ctr">
            <a:noAutofit/>
          </a:bodyPr>
          <a:lstStyle/>
          <a:p>
            <a:pPr algn="l"/>
            <a:r>
              <a:rPr sz="1800" b="1" i="0" lang="en-GB">
                <a:solidFill>
                  <a:srgbClr val="F2F2F2"/>
                </a:solidFill>
                <a:latin typeface="Arial"/>
              </a:rPr>
              <a:t>One vehicle</a:t>
            </a:r>
          </a:p>
        </p:txBody>
      </p:sp>
      <p:sp>
        <p:nvSpPr>
          <p:cNvPr id="40" name="Inline chip Proposed"/>
          <p:cNvSpPr/>
          <p:nvPr/>
        </p:nvSpPr>
        <p:spPr>
          <a:xfrm>
            <a:off x="822960" y="347472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42" name="TextBox 41"/>
          <p:cNvSpPr txBox="1"/>
          <p:nvPr/>
        </p:nvSpPr>
        <p:spPr>
          <a:xfrm>
            <a:off x="3474720" y="3017520"/>
            <a:ext cx="4572000" cy="365760"/>
          </a:xfrm>
          <a:prstGeom prst="rect">
            <a:avLst/>
          </a:prstGeom>
          <a:noFill/>
        </p:spPr>
        <p:txBody>
          <a:bodyPr wrap="square" lIns="0" tIns="0" rIns="0" bIns="0" anchor="ctr">
            <a:noAutofit/>
          </a:bodyPr>
          <a:lstStyle/>
          <a:p>
            <a:pPr algn="l"/>
            <a:r>
              <a:rPr sz="1800" b="1" i="0" lang="en-GB">
                <a:solidFill>
                  <a:srgbClr val="F2F2F2"/>
                </a:solidFill>
                <a:latin typeface="Arial"/>
              </a:rPr>
              <a:t>Auxiliary tender: a separate wagon</a:t>
            </a:r>
          </a:p>
        </p:txBody>
      </p:sp>
      <p:sp>
        <p:nvSpPr>
          <p:cNvPr id="43" name="Inline chip Proposed"/>
          <p:cNvSpPr/>
          <p:nvPr/>
        </p:nvSpPr>
        <p:spPr>
          <a:xfrm>
            <a:off x="3474720" y="3474720"/>
            <a:ext cx="1521559"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WATER ONLY</a:t>
            </a:r>
          </a:p>
        </p:txBody>
      </p:sp>
      <p:sp>
        <p:nvSpPr>
          <p:cNvPr id="44" name="Inline chip Proposed"/>
          <p:cNvSpPr/>
          <p:nvPr/>
        </p:nvSpPr>
        <p:spPr>
          <a:xfrm>
            <a:off x="5106007" y="3474720"/>
            <a:ext cx="1972409"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COAL AND WATER</a:t>
            </a:r>
          </a:p>
        </p:txBody>
      </p:sp>
      <p:grpSp>
        <p:nvGrpSpPr>
          <p:cNvPr id="45" name="Downsides" descr="Downsides of an auxiliary tender: it carries no freight and adds weight."/>
          <p:cNvGrpSpPr/>
          <p:nvPr/>
        </p:nvGrpSpPr>
        <p:grpSpPr>
          <a:xfrm>
            <a:off x="3474720" y="3977640"/>
            <a:ext cx="3840480" cy="1298448"/>
            <a:chOff x="3474720" y="3977640"/>
            <a:chExt cx="3840480" cy="1298448"/>
          </a:xfrm>
        </p:grpSpPr>
        <p:sp>
          <p:nvSpPr>
            <p:cNvPr id="46" name="Rounded Rectangle 45"/>
            <p:cNvSpPr/>
            <p:nvPr/>
          </p:nvSpPr>
          <p:spPr>
            <a:xfrm>
              <a:off x="3474720" y="3977640"/>
              <a:ext cx="3840480" cy="603504"/>
            </a:xfrm>
            <a:prstGeom prst="roundRect">
              <a:avLst>
                <a:gd name="adj" fmla="val 12121"/>
              </a:avLst>
            </a:prstGeom>
            <a:solidFill>
              <a:srgbClr val="2B2F36"/>
            </a:solidFill>
            <a:ln>
              <a:noFill/>
            </a:ln>
          </p:spPr>
          <p:txBody>
            <a:bodyPr rtlCol="0" anchor="ctr"/>
            <a:lstStyle/>
            <a:p>
              <a:pPr algn="ctr"/>
            </a:p>
          </p:txBody>
        </p:sp>
        <p:sp>
          <p:nvSpPr>
            <p:cNvPr id="47" name="Rectangle 46"/>
            <p:cNvSpPr/>
            <p:nvPr/>
          </p:nvSpPr>
          <p:spPr>
            <a:xfrm>
              <a:off x="3703320" y="4176522"/>
              <a:ext cx="365760" cy="251460"/>
            </a:xfrm>
            <a:prstGeom prst="rect">
              <a:avLst/>
            </a:prstGeom>
            <a:noFill/>
            <a:ln w="25400">
              <a:solidFill>
                <a:srgbClr val="F28C28"/>
              </a:solidFill>
            </a:ln>
          </p:spPr>
          <p:txBody>
            <a:bodyPr rtlCol="0" anchor="ctr"/>
            <a:lstStyle/>
            <a:p>
              <a:pPr algn="ctr"/>
            </a:p>
          </p:txBody>
        </p:sp>
        <p:cxnSp>
          <p:nvCxnSpPr>
            <p:cNvPr id="48" name="Connector 47"/>
            <p:cNvCxnSpPr/>
            <p:nvPr/>
          </p:nvCxnSpPr>
          <p:spPr>
            <a:xfrm flipV="1">
              <a:off x="3657600" y="4119372"/>
              <a:ext cx="457200" cy="320040"/>
            </a:xfrm>
            <a:prstGeom prst="line">
              <a:avLst/>
            </a:prstGeom>
            <a:ln w="31750">
              <a:solidFill>
                <a:srgbClr val="F2F2F2"/>
              </a:solidFill>
            </a:ln>
          </p:spPr>
        </p:cxnSp>
        <p:sp>
          <p:nvSpPr>
            <p:cNvPr id="49" name="TextBox 48"/>
            <p:cNvSpPr txBox="1"/>
            <p:nvPr/>
          </p:nvSpPr>
          <p:spPr>
            <a:xfrm>
              <a:off x="4206240" y="3977640"/>
              <a:ext cx="2999232" cy="603504"/>
            </a:xfrm>
            <a:prstGeom prst="rect">
              <a:avLst/>
            </a:prstGeom>
            <a:noFill/>
          </p:spPr>
          <p:txBody>
            <a:bodyPr wrap="square" lIns="0" tIns="0" rIns="0" bIns="0" anchor="ctr">
              <a:noAutofit/>
            </a:bodyPr>
            <a:lstStyle/>
            <a:p>
              <a:pPr algn="l"/>
              <a:r>
                <a:rPr sz="1800" b="0" i="0" lang="en-GB">
                  <a:solidFill>
                    <a:srgbClr val="F2F2F2"/>
                  </a:solidFill>
                  <a:latin typeface="Arial"/>
                </a:rPr>
                <a:t>Carries no freight</a:t>
              </a:r>
            </a:p>
          </p:txBody>
        </p:sp>
        <p:sp>
          <p:nvSpPr>
            <p:cNvPr id="50" name="Rounded Rectangle 49"/>
            <p:cNvSpPr/>
            <p:nvPr/>
          </p:nvSpPr>
          <p:spPr>
            <a:xfrm>
              <a:off x="3474720" y="4672584"/>
              <a:ext cx="3840480" cy="603504"/>
            </a:xfrm>
            <a:prstGeom prst="roundRect">
              <a:avLst>
                <a:gd name="adj" fmla="val 12121"/>
              </a:avLst>
            </a:prstGeom>
            <a:solidFill>
              <a:srgbClr val="2B2F36"/>
            </a:solidFill>
            <a:ln>
              <a:noFill/>
            </a:ln>
          </p:spPr>
          <p:txBody>
            <a:bodyPr rtlCol="0" anchor="ctr"/>
            <a:lstStyle/>
            <a:p>
              <a:pPr algn="ctr"/>
            </a:p>
          </p:txBody>
        </p:sp>
        <p:sp>
          <p:nvSpPr>
            <p:cNvPr id="51" name="Freeform 50"/>
            <p:cNvSpPr/>
            <p:nvPr/>
          </p:nvSpPr>
          <p:spPr>
            <a:xfrm>
              <a:off x="3726180" y="4894326"/>
              <a:ext cx="320040" cy="240030"/>
            </a:xfrm>
            <a:custGeom>
              <a:avLst/>
              <a:gdLst/>
              <a:ahLst/>
              <a:cxnLst/>
              <a:rect l="l" t="t" r="r" b="b"/>
              <a:pathLst>
                <a:path w="320040" h="240030">
                  <a:moveTo>
                    <a:pt x="0" y="240030"/>
                  </a:moveTo>
                  <a:lnTo>
                    <a:pt x="320040" y="240030"/>
                  </a:lnTo>
                  <a:lnTo>
                    <a:pt x="262890" y="0"/>
                  </a:lnTo>
                  <a:lnTo>
                    <a:pt x="57150" y="0"/>
                  </a:lnTo>
                  <a:close/>
                </a:path>
              </a:pathLst>
            </a:custGeom>
            <a:solidFill>
              <a:srgbClr val="F28C28"/>
            </a:solidFill>
            <a:ln>
              <a:noFill/>
            </a:ln>
          </p:spPr>
          <p:txBody>
            <a:bodyPr rtlCol="0" anchor="ctr"/>
            <a:lstStyle/>
            <a:p>
              <a:pPr algn="ctr"/>
            </a:p>
          </p:txBody>
        </p:sp>
        <p:sp>
          <p:nvSpPr>
            <p:cNvPr id="52" name="Oval 51"/>
            <p:cNvSpPr/>
            <p:nvPr/>
          </p:nvSpPr>
          <p:spPr>
            <a:xfrm>
              <a:off x="3822192" y="4784598"/>
              <a:ext cx="128016" cy="128016"/>
            </a:xfrm>
            <a:prstGeom prst="ellipse">
              <a:avLst/>
            </a:prstGeom>
            <a:noFill/>
            <a:ln w="25400">
              <a:solidFill>
                <a:srgbClr val="F28C28"/>
              </a:solidFill>
            </a:ln>
          </p:spPr>
          <p:txBody>
            <a:bodyPr rtlCol="0" anchor="ctr"/>
            <a:lstStyle/>
            <a:p>
              <a:pPr algn="ctr"/>
            </a:p>
          </p:txBody>
        </p:sp>
        <p:sp>
          <p:nvSpPr>
            <p:cNvPr id="53" name="TextBox 52"/>
            <p:cNvSpPr txBox="1"/>
            <p:nvPr/>
          </p:nvSpPr>
          <p:spPr>
            <a:xfrm>
              <a:off x="4206240" y="4672584"/>
              <a:ext cx="2999232" cy="603504"/>
            </a:xfrm>
            <a:prstGeom prst="rect">
              <a:avLst/>
            </a:prstGeom>
            <a:noFill/>
          </p:spPr>
          <p:txBody>
            <a:bodyPr wrap="square" lIns="0" tIns="0" rIns="0" bIns="0" anchor="ctr">
              <a:noAutofit/>
            </a:bodyPr>
            <a:lstStyle/>
            <a:p>
              <a:pPr algn="l"/>
              <a:r>
                <a:rPr sz="1800" b="0" i="0" lang="en-GB">
                  <a:solidFill>
                    <a:srgbClr val="F2F2F2"/>
                  </a:solidFill>
                  <a:latin typeface="Arial"/>
                </a:rPr>
                <a:t>Adds weight</a:t>
              </a:r>
            </a:p>
          </p:txBody>
        </p:sp>
      </p:grpSp>
      <p:sp>
        <p:nvSpPr>
          <p:cNvPr id="54" name="TextBox 53"/>
          <p:cNvSpPr txBox="1"/>
          <p:nvPr/>
        </p:nvSpPr>
        <p:spPr>
          <a:xfrm>
            <a:off x="8531352" y="2743200"/>
            <a:ext cx="3108960" cy="310896"/>
          </a:xfrm>
          <a:prstGeom prst="rect">
            <a:avLst/>
          </a:prstGeom>
          <a:noFill/>
        </p:spPr>
        <p:txBody>
          <a:bodyPr wrap="square" lIns="0" tIns="0" rIns="0" bIns="0" anchor="t">
            <a:noAutofit/>
          </a:bodyPr>
          <a:lstStyle/>
          <a:p>
            <a:pPr algn="l"/>
            <a:r>
              <a:rPr sz="1400" b="0" i="0" lang="en-GB">
                <a:solidFill>
                  <a:srgbClr val="F2F2F2"/>
                </a:solidFill>
                <a:latin typeface="Arial"/>
              </a:rPr>
              <a:t>A real tender, for illustration</a:t>
            </a:r>
          </a:p>
        </p:txBody>
      </p:sp>
      <p:pic>
        <p:nvPicPr>
          <p:cNvPr id="55" name="Picture P18" descr="A detached LMS tender at Norton Fitzwarren. Comparison only: not any particular engine's tender."/>
          <p:cNvPicPr>
            <a:picLocks noChangeAspect="1"/>
          </p:cNvPicPr>
          <p:nvPr/>
        </p:nvPicPr>
        <p:blipFill>
          <a:blip r:embed="rId2"/>
          <a:srcRect l="73" r="73"/>
          <a:stretch>
            <a:fillRect/>
          </a:stretch>
        </p:blipFill>
        <p:spPr>
          <a:xfrm>
            <a:off x="8531352" y="3072384"/>
            <a:ext cx="3108960" cy="2075688"/>
          </a:xfrm>
          <a:prstGeom prst="roundRect">
            <a:avLst>
              <a:gd name="adj" fmla="val 3524"/>
            </a:avLst>
          </a:prstGeom>
        </p:spPr>
      </p:pic>
      <p:sp>
        <p:nvSpPr>
          <p:cNvPr id="56" name="Credit"/>
          <p:cNvSpPr txBox="1"/>
          <p:nvPr/>
        </p:nvSpPr>
        <p:spPr>
          <a:xfrm>
            <a:off x="8531352" y="5175504"/>
            <a:ext cx="3108960" cy="338328"/>
          </a:xfrm>
          <a:prstGeom prst="rect">
            <a:avLst/>
          </a:prstGeom>
          <a:noFill/>
        </p:spPr>
        <p:txBody>
          <a:bodyPr wrap="square" lIns="0" tIns="0" rIns="0" bIns="0" anchor="t">
            <a:noAutofit/>
          </a:bodyPr>
          <a:lstStyle/>
          <a:p>
            <a:pPr algn="l"/>
            <a:r>
              <a:rPr sz="1000" b="0" i="0" lang="en-GB">
                <a:solidFill>
                  <a:srgbClr val="A9B0B8"/>
                </a:solidFill>
                <a:latin typeface="Arial"/>
              </a:rPr>
              <a:t>Photo: Geof Sheppard, CC BY-SA 4.0, Wikimedia Commons.</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normal tender belongs to the engine. An auxiliary tender is an extra wagon: more range, less pulling power.</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A steam station</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Station plan" descr="Top-down plan of a steam station: main line with a docked engine, a coaling stage fed by a conveyor, a water tower fed by a pipe, a signal box and a platform for cargo. A dashed outline shows a large footprint; a small vanilla station is shown for comparison."/>
          <p:cNvGrpSpPr/>
          <p:nvPr/>
        </p:nvGrpSpPr>
        <p:grpSpPr>
          <a:xfrm>
            <a:off x="457200" y="1417320"/>
            <a:ext cx="11201400" cy="3840480"/>
            <a:chOff x="457200" y="1417320"/>
            <a:chExt cx="11201400" cy="3840480"/>
          </a:xfrm>
        </p:grpSpPr>
        <p:sp>
          <p:nvSpPr>
            <p:cNvPr id="9" name="Rounded Rectangle 8"/>
            <p:cNvSpPr/>
            <p:nvPr/>
          </p:nvSpPr>
          <p:spPr>
            <a:xfrm>
              <a:off x="640080" y="1783080"/>
              <a:ext cx="8641080" cy="3474720"/>
            </a:xfrm>
            <a:prstGeom prst="roundRect">
              <a:avLst>
                <a:gd name="adj" fmla="val 3947"/>
              </a:avLst>
            </a:prstGeom>
            <a:noFill/>
            <a:ln w="19050">
              <a:solidFill>
                <a:srgbClr val="A9B0B8"/>
              </a:solidFill>
              <a:prstDash val="dash"/>
            </a:ln>
          </p:spPr>
          <p:txBody>
            <a:bodyPr rtlCol="0" anchor="ctr"/>
            <a:lstStyle/>
            <a:p>
              <a:pPr algn="ctr"/>
            </a:p>
          </p:txBody>
        </p:sp>
        <p:sp>
          <p:nvSpPr>
            <p:cNvPr id="10" name="Rectangle 9"/>
            <p:cNvSpPr/>
            <p:nvPr/>
          </p:nvSpPr>
          <p:spPr>
            <a:xfrm>
              <a:off x="589788" y="3602736"/>
              <a:ext cx="54864" cy="329184"/>
            </a:xfrm>
            <a:prstGeom prst="rect">
              <a:avLst/>
            </a:prstGeom>
            <a:solidFill>
              <a:srgbClr val="6B5B4B"/>
            </a:solidFill>
            <a:ln>
              <a:noFill/>
            </a:ln>
          </p:spPr>
          <p:txBody>
            <a:bodyPr rtlCol="0" anchor="ctr"/>
            <a:lstStyle/>
            <a:p>
              <a:pPr algn="ctr"/>
            </a:p>
          </p:txBody>
        </p:sp>
        <p:sp>
          <p:nvSpPr>
            <p:cNvPr id="11" name="Rectangle 10"/>
            <p:cNvSpPr/>
            <p:nvPr/>
          </p:nvSpPr>
          <p:spPr>
            <a:xfrm>
              <a:off x="909828" y="3602736"/>
              <a:ext cx="54864" cy="329184"/>
            </a:xfrm>
            <a:prstGeom prst="rect">
              <a:avLst/>
            </a:prstGeom>
            <a:solidFill>
              <a:srgbClr val="6B5B4B"/>
            </a:solidFill>
            <a:ln>
              <a:noFill/>
            </a:ln>
          </p:spPr>
          <p:txBody>
            <a:bodyPr rtlCol="0" anchor="ctr"/>
            <a:lstStyle/>
            <a:p>
              <a:pPr algn="ctr"/>
            </a:p>
          </p:txBody>
        </p:sp>
        <p:sp>
          <p:nvSpPr>
            <p:cNvPr id="12" name="Rectangle 11"/>
            <p:cNvSpPr/>
            <p:nvPr/>
          </p:nvSpPr>
          <p:spPr>
            <a:xfrm>
              <a:off x="1229868" y="3602736"/>
              <a:ext cx="54864" cy="329184"/>
            </a:xfrm>
            <a:prstGeom prst="rect">
              <a:avLst/>
            </a:prstGeom>
            <a:solidFill>
              <a:srgbClr val="6B5B4B"/>
            </a:solidFill>
            <a:ln>
              <a:noFill/>
            </a:ln>
          </p:spPr>
          <p:txBody>
            <a:bodyPr rtlCol="0" anchor="ctr"/>
            <a:lstStyle/>
            <a:p>
              <a:pPr algn="ctr"/>
            </a:p>
          </p:txBody>
        </p:sp>
        <p:sp>
          <p:nvSpPr>
            <p:cNvPr id="13" name="Rectangle 12"/>
            <p:cNvSpPr/>
            <p:nvPr/>
          </p:nvSpPr>
          <p:spPr>
            <a:xfrm>
              <a:off x="1549908" y="3602736"/>
              <a:ext cx="54864" cy="329184"/>
            </a:xfrm>
            <a:prstGeom prst="rect">
              <a:avLst/>
            </a:prstGeom>
            <a:solidFill>
              <a:srgbClr val="6B5B4B"/>
            </a:solidFill>
            <a:ln>
              <a:noFill/>
            </a:ln>
          </p:spPr>
          <p:txBody>
            <a:bodyPr rtlCol="0" anchor="ctr"/>
            <a:lstStyle/>
            <a:p>
              <a:pPr algn="ctr"/>
            </a:p>
          </p:txBody>
        </p:sp>
        <p:sp>
          <p:nvSpPr>
            <p:cNvPr id="14" name="Rectangle 13"/>
            <p:cNvSpPr/>
            <p:nvPr/>
          </p:nvSpPr>
          <p:spPr>
            <a:xfrm>
              <a:off x="1869948" y="3602736"/>
              <a:ext cx="54864" cy="329184"/>
            </a:xfrm>
            <a:prstGeom prst="rect">
              <a:avLst/>
            </a:prstGeom>
            <a:solidFill>
              <a:srgbClr val="6B5B4B"/>
            </a:solidFill>
            <a:ln>
              <a:noFill/>
            </a:ln>
          </p:spPr>
          <p:txBody>
            <a:bodyPr rtlCol="0" anchor="ctr"/>
            <a:lstStyle/>
            <a:p>
              <a:pPr algn="ctr"/>
            </a:p>
          </p:txBody>
        </p:sp>
        <p:sp>
          <p:nvSpPr>
            <p:cNvPr id="15" name="Rectangle 14"/>
            <p:cNvSpPr/>
            <p:nvPr/>
          </p:nvSpPr>
          <p:spPr>
            <a:xfrm>
              <a:off x="2189988" y="3602736"/>
              <a:ext cx="54864" cy="329184"/>
            </a:xfrm>
            <a:prstGeom prst="rect">
              <a:avLst/>
            </a:prstGeom>
            <a:solidFill>
              <a:srgbClr val="6B5B4B"/>
            </a:solidFill>
            <a:ln>
              <a:noFill/>
            </a:ln>
          </p:spPr>
          <p:txBody>
            <a:bodyPr rtlCol="0" anchor="ctr"/>
            <a:lstStyle/>
            <a:p>
              <a:pPr algn="ctr"/>
            </a:p>
          </p:txBody>
        </p:sp>
        <p:sp>
          <p:nvSpPr>
            <p:cNvPr id="16" name="Rectangle 15"/>
            <p:cNvSpPr/>
            <p:nvPr/>
          </p:nvSpPr>
          <p:spPr>
            <a:xfrm>
              <a:off x="2510028" y="3602736"/>
              <a:ext cx="54864" cy="329184"/>
            </a:xfrm>
            <a:prstGeom prst="rect">
              <a:avLst/>
            </a:prstGeom>
            <a:solidFill>
              <a:srgbClr val="6B5B4B"/>
            </a:solidFill>
            <a:ln>
              <a:noFill/>
            </a:ln>
          </p:spPr>
          <p:txBody>
            <a:bodyPr rtlCol="0" anchor="ctr"/>
            <a:lstStyle/>
            <a:p>
              <a:pPr algn="ctr"/>
            </a:p>
          </p:txBody>
        </p:sp>
        <p:sp>
          <p:nvSpPr>
            <p:cNvPr id="17" name="Rectangle 16"/>
            <p:cNvSpPr/>
            <p:nvPr/>
          </p:nvSpPr>
          <p:spPr>
            <a:xfrm>
              <a:off x="2830068" y="3602736"/>
              <a:ext cx="54864" cy="329184"/>
            </a:xfrm>
            <a:prstGeom prst="rect">
              <a:avLst/>
            </a:prstGeom>
            <a:solidFill>
              <a:srgbClr val="6B5B4B"/>
            </a:solidFill>
            <a:ln>
              <a:noFill/>
            </a:ln>
          </p:spPr>
          <p:txBody>
            <a:bodyPr rtlCol="0" anchor="ctr"/>
            <a:lstStyle/>
            <a:p>
              <a:pPr algn="ctr"/>
            </a:p>
          </p:txBody>
        </p:sp>
        <p:sp>
          <p:nvSpPr>
            <p:cNvPr id="18" name="Rectangle 17"/>
            <p:cNvSpPr/>
            <p:nvPr/>
          </p:nvSpPr>
          <p:spPr>
            <a:xfrm>
              <a:off x="3150108" y="3602736"/>
              <a:ext cx="54864" cy="329184"/>
            </a:xfrm>
            <a:prstGeom prst="rect">
              <a:avLst/>
            </a:prstGeom>
            <a:solidFill>
              <a:srgbClr val="6B5B4B"/>
            </a:solidFill>
            <a:ln>
              <a:noFill/>
            </a:ln>
          </p:spPr>
          <p:txBody>
            <a:bodyPr rtlCol="0" anchor="ctr"/>
            <a:lstStyle/>
            <a:p>
              <a:pPr algn="ctr"/>
            </a:p>
          </p:txBody>
        </p:sp>
        <p:sp>
          <p:nvSpPr>
            <p:cNvPr id="19" name="Rectangle 18"/>
            <p:cNvSpPr/>
            <p:nvPr/>
          </p:nvSpPr>
          <p:spPr>
            <a:xfrm>
              <a:off x="3470148" y="3602736"/>
              <a:ext cx="54864" cy="329184"/>
            </a:xfrm>
            <a:prstGeom prst="rect">
              <a:avLst/>
            </a:prstGeom>
            <a:solidFill>
              <a:srgbClr val="6B5B4B"/>
            </a:solidFill>
            <a:ln>
              <a:noFill/>
            </a:ln>
          </p:spPr>
          <p:txBody>
            <a:bodyPr rtlCol="0" anchor="ctr"/>
            <a:lstStyle/>
            <a:p>
              <a:pPr algn="ctr"/>
            </a:p>
          </p:txBody>
        </p:sp>
        <p:sp>
          <p:nvSpPr>
            <p:cNvPr id="20" name="Rectangle 19"/>
            <p:cNvSpPr/>
            <p:nvPr/>
          </p:nvSpPr>
          <p:spPr>
            <a:xfrm>
              <a:off x="3790188" y="3602736"/>
              <a:ext cx="54864" cy="329184"/>
            </a:xfrm>
            <a:prstGeom prst="rect">
              <a:avLst/>
            </a:prstGeom>
            <a:solidFill>
              <a:srgbClr val="6B5B4B"/>
            </a:solidFill>
            <a:ln>
              <a:noFill/>
            </a:ln>
          </p:spPr>
          <p:txBody>
            <a:bodyPr rtlCol="0" anchor="ctr"/>
            <a:lstStyle/>
            <a:p>
              <a:pPr algn="ctr"/>
            </a:p>
          </p:txBody>
        </p:sp>
        <p:sp>
          <p:nvSpPr>
            <p:cNvPr id="21" name="Rectangle 20"/>
            <p:cNvSpPr/>
            <p:nvPr/>
          </p:nvSpPr>
          <p:spPr>
            <a:xfrm>
              <a:off x="4110228" y="3602736"/>
              <a:ext cx="54864" cy="329184"/>
            </a:xfrm>
            <a:prstGeom prst="rect">
              <a:avLst/>
            </a:prstGeom>
            <a:solidFill>
              <a:srgbClr val="6B5B4B"/>
            </a:solidFill>
            <a:ln>
              <a:noFill/>
            </a:ln>
          </p:spPr>
          <p:txBody>
            <a:bodyPr rtlCol="0" anchor="ctr"/>
            <a:lstStyle/>
            <a:p>
              <a:pPr algn="ctr"/>
            </a:p>
          </p:txBody>
        </p:sp>
        <p:sp>
          <p:nvSpPr>
            <p:cNvPr id="22" name="Rectangle 21"/>
            <p:cNvSpPr/>
            <p:nvPr/>
          </p:nvSpPr>
          <p:spPr>
            <a:xfrm>
              <a:off x="4430268" y="3602736"/>
              <a:ext cx="54864" cy="329184"/>
            </a:xfrm>
            <a:prstGeom prst="rect">
              <a:avLst/>
            </a:prstGeom>
            <a:solidFill>
              <a:srgbClr val="6B5B4B"/>
            </a:solidFill>
            <a:ln>
              <a:noFill/>
            </a:ln>
          </p:spPr>
          <p:txBody>
            <a:bodyPr rtlCol="0" anchor="ctr"/>
            <a:lstStyle/>
            <a:p>
              <a:pPr algn="ctr"/>
            </a:p>
          </p:txBody>
        </p:sp>
        <p:sp>
          <p:nvSpPr>
            <p:cNvPr id="23" name="Rectangle 22"/>
            <p:cNvSpPr/>
            <p:nvPr/>
          </p:nvSpPr>
          <p:spPr>
            <a:xfrm>
              <a:off x="4750308" y="3602736"/>
              <a:ext cx="54864" cy="329184"/>
            </a:xfrm>
            <a:prstGeom prst="rect">
              <a:avLst/>
            </a:prstGeom>
            <a:solidFill>
              <a:srgbClr val="6B5B4B"/>
            </a:solidFill>
            <a:ln>
              <a:noFill/>
            </a:ln>
          </p:spPr>
          <p:txBody>
            <a:bodyPr rtlCol="0" anchor="ctr"/>
            <a:lstStyle/>
            <a:p>
              <a:pPr algn="ctr"/>
            </a:p>
          </p:txBody>
        </p:sp>
        <p:sp>
          <p:nvSpPr>
            <p:cNvPr id="24" name="Rectangle 23"/>
            <p:cNvSpPr/>
            <p:nvPr/>
          </p:nvSpPr>
          <p:spPr>
            <a:xfrm>
              <a:off x="5070348" y="3602736"/>
              <a:ext cx="54864" cy="329184"/>
            </a:xfrm>
            <a:prstGeom prst="rect">
              <a:avLst/>
            </a:prstGeom>
            <a:solidFill>
              <a:srgbClr val="6B5B4B"/>
            </a:solidFill>
            <a:ln>
              <a:noFill/>
            </a:ln>
          </p:spPr>
          <p:txBody>
            <a:bodyPr rtlCol="0" anchor="ctr"/>
            <a:lstStyle/>
            <a:p>
              <a:pPr algn="ctr"/>
            </a:p>
          </p:txBody>
        </p:sp>
        <p:sp>
          <p:nvSpPr>
            <p:cNvPr id="25" name="Rectangle 24"/>
            <p:cNvSpPr/>
            <p:nvPr/>
          </p:nvSpPr>
          <p:spPr>
            <a:xfrm>
              <a:off x="5390388" y="3602736"/>
              <a:ext cx="54864" cy="329184"/>
            </a:xfrm>
            <a:prstGeom prst="rect">
              <a:avLst/>
            </a:prstGeom>
            <a:solidFill>
              <a:srgbClr val="6B5B4B"/>
            </a:solidFill>
            <a:ln>
              <a:noFill/>
            </a:ln>
          </p:spPr>
          <p:txBody>
            <a:bodyPr rtlCol="0" anchor="ctr"/>
            <a:lstStyle/>
            <a:p>
              <a:pPr algn="ctr"/>
            </a:p>
          </p:txBody>
        </p:sp>
        <p:sp>
          <p:nvSpPr>
            <p:cNvPr id="26" name="Rectangle 25"/>
            <p:cNvSpPr/>
            <p:nvPr/>
          </p:nvSpPr>
          <p:spPr>
            <a:xfrm>
              <a:off x="5710428" y="3602736"/>
              <a:ext cx="54864" cy="329184"/>
            </a:xfrm>
            <a:prstGeom prst="rect">
              <a:avLst/>
            </a:prstGeom>
            <a:solidFill>
              <a:srgbClr val="6B5B4B"/>
            </a:solidFill>
            <a:ln>
              <a:noFill/>
            </a:ln>
          </p:spPr>
          <p:txBody>
            <a:bodyPr rtlCol="0" anchor="ctr"/>
            <a:lstStyle/>
            <a:p>
              <a:pPr algn="ctr"/>
            </a:p>
          </p:txBody>
        </p:sp>
        <p:sp>
          <p:nvSpPr>
            <p:cNvPr id="27" name="Rectangle 26"/>
            <p:cNvSpPr/>
            <p:nvPr/>
          </p:nvSpPr>
          <p:spPr>
            <a:xfrm>
              <a:off x="6030468" y="3602736"/>
              <a:ext cx="54864" cy="329184"/>
            </a:xfrm>
            <a:prstGeom prst="rect">
              <a:avLst/>
            </a:prstGeom>
            <a:solidFill>
              <a:srgbClr val="6B5B4B"/>
            </a:solidFill>
            <a:ln>
              <a:noFill/>
            </a:ln>
          </p:spPr>
          <p:txBody>
            <a:bodyPr rtlCol="0" anchor="ctr"/>
            <a:lstStyle/>
            <a:p>
              <a:pPr algn="ctr"/>
            </a:p>
          </p:txBody>
        </p:sp>
        <p:sp>
          <p:nvSpPr>
            <p:cNvPr id="28" name="Rectangle 27"/>
            <p:cNvSpPr/>
            <p:nvPr/>
          </p:nvSpPr>
          <p:spPr>
            <a:xfrm>
              <a:off x="6350508" y="3602736"/>
              <a:ext cx="54864" cy="329184"/>
            </a:xfrm>
            <a:prstGeom prst="rect">
              <a:avLst/>
            </a:prstGeom>
            <a:solidFill>
              <a:srgbClr val="6B5B4B"/>
            </a:solidFill>
            <a:ln>
              <a:noFill/>
            </a:ln>
          </p:spPr>
          <p:txBody>
            <a:bodyPr rtlCol="0" anchor="ctr"/>
            <a:lstStyle/>
            <a:p>
              <a:pPr algn="ctr"/>
            </a:p>
          </p:txBody>
        </p:sp>
        <p:sp>
          <p:nvSpPr>
            <p:cNvPr id="29" name="Rectangle 28"/>
            <p:cNvSpPr/>
            <p:nvPr/>
          </p:nvSpPr>
          <p:spPr>
            <a:xfrm>
              <a:off x="6670548" y="3602736"/>
              <a:ext cx="54864" cy="329184"/>
            </a:xfrm>
            <a:prstGeom prst="rect">
              <a:avLst/>
            </a:prstGeom>
            <a:solidFill>
              <a:srgbClr val="6B5B4B"/>
            </a:solidFill>
            <a:ln>
              <a:noFill/>
            </a:ln>
          </p:spPr>
          <p:txBody>
            <a:bodyPr rtlCol="0" anchor="ctr"/>
            <a:lstStyle/>
            <a:p>
              <a:pPr algn="ctr"/>
            </a:p>
          </p:txBody>
        </p:sp>
        <p:sp>
          <p:nvSpPr>
            <p:cNvPr id="30" name="Rectangle 29"/>
            <p:cNvSpPr/>
            <p:nvPr/>
          </p:nvSpPr>
          <p:spPr>
            <a:xfrm>
              <a:off x="6990588" y="3602736"/>
              <a:ext cx="54864" cy="329184"/>
            </a:xfrm>
            <a:prstGeom prst="rect">
              <a:avLst/>
            </a:prstGeom>
            <a:solidFill>
              <a:srgbClr val="6B5B4B"/>
            </a:solidFill>
            <a:ln>
              <a:noFill/>
            </a:ln>
          </p:spPr>
          <p:txBody>
            <a:bodyPr rtlCol="0" anchor="ctr"/>
            <a:lstStyle/>
            <a:p>
              <a:pPr algn="ctr"/>
            </a:p>
          </p:txBody>
        </p:sp>
        <p:sp>
          <p:nvSpPr>
            <p:cNvPr id="31" name="Rectangle 30"/>
            <p:cNvSpPr/>
            <p:nvPr/>
          </p:nvSpPr>
          <p:spPr>
            <a:xfrm>
              <a:off x="7310628" y="3602736"/>
              <a:ext cx="54864" cy="329184"/>
            </a:xfrm>
            <a:prstGeom prst="rect">
              <a:avLst/>
            </a:prstGeom>
            <a:solidFill>
              <a:srgbClr val="6B5B4B"/>
            </a:solidFill>
            <a:ln>
              <a:noFill/>
            </a:ln>
          </p:spPr>
          <p:txBody>
            <a:bodyPr rtlCol="0" anchor="ctr"/>
            <a:lstStyle/>
            <a:p>
              <a:pPr algn="ctr"/>
            </a:p>
          </p:txBody>
        </p:sp>
        <p:sp>
          <p:nvSpPr>
            <p:cNvPr id="32" name="Rectangle 31"/>
            <p:cNvSpPr/>
            <p:nvPr/>
          </p:nvSpPr>
          <p:spPr>
            <a:xfrm>
              <a:off x="7630668" y="3602736"/>
              <a:ext cx="54864" cy="329184"/>
            </a:xfrm>
            <a:prstGeom prst="rect">
              <a:avLst/>
            </a:prstGeom>
            <a:solidFill>
              <a:srgbClr val="6B5B4B"/>
            </a:solidFill>
            <a:ln>
              <a:noFill/>
            </a:ln>
          </p:spPr>
          <p:txBody>
            <a:bodyPr rtlCol="0" anchor="ctr"/>
            <a:lstStyle/>
            <a:p>
              <a:pPr algn="ctr"/>
            </a:p>
          </p:txBody>
        </p:sp>
        <p:sp>
          <p:nvSpPr>
            <p:cNvPr id="33" name="Rectangle 32"/>
            <p:cNvSpPr/>
            <p:nvPr/>
          </p:nvSpPr>
          <p:spPr>
            <a:xfrm>
              <a:off x="7950708" y="3602736"/>
              <a:ext cx="54864" cy="329184"/>
            </a:xfrm>
            <a:prstGeom prst="rect">
              <a:avLst/>
            </a:prstGeom>
            <a:solidFill>
              <a:srgbClr val="6B5B4B"/>
            </a:solidFill>
            <a:ln>
              <a:noFill/>
            </a:ln>
          </p:spPr>
          <p:txBody>
            <a:bodyPr rtlCol="0" anchor="ctr"/>
            <a:lstStyle/>
            <a:p>
              <a:pPr algn="ctr"/>
            </a:p>
          </p:txBody>
        </p:sp>
        <p:sp>
          <p:nvSpPr>
            <p:cNvPr id="34" name="Rectangle 33"/>
            <p:cNvSpPr/>
            <p:nvPr/>
          </p:nvSpPr>
          <p:spPr>
            <a:xfrm>
              <a:off x="8270748" y="3602736"/>
              <a:ext cx="54864" cy="329184"/>
            </a:xfrm>
            <a:prstGeom prst="rect">
              <a:avLst/>
            </a:prstGeom>
            <a:solidFill>
              <a:srgbClr val="6B5B4B"/>
            </a:solidFill>
            <a:ln>
              <a:noFill/>
            </a:ln>
          </p:spPr>
          <p:txBody>
            <a:bodyPr rtlCol="0" anchor="ctr"/>
            <a:lstStyle/>
            <a:p>
              <a:pPr algn="ctr"/>
            </a:p>
          </p:txBody>
        </p:sp>
        <p:sp>
          <p:nvSpPr>
            <p:cNvPr id="35" name="Rectangle 34"/>
            <p:cNvSpPr/>
            <p:nvPr/>
          </p:nvSpPr>
          <p:spPr>
            <a:xfrm>
              <a:off x="8590788" y="3602736"/>
              <a:ext cx="54864" cy="329184"/>
            </a:xfrm>
            <a:prstGeom prst="rect">
              <a:avLst/>
            </a:prstGeom>
            <a:solidFill>
              <a:srgbClr val="6B5B4B"/>
            </a:solidFill>
            <a:ln>
              <a:noFill/>
            </a:ln>
          </p:spPr>
          <p:txBody>
            <a:bodyPr rtlCol="0" anchor="ctr"/>
            <a:lstStyle/>
            <a:p>
              <a:pPr algn="ctr"/>
            </a:p>
          </p:txBody>
        </p:sp>
        <p:sp>
          <p:nvSpPr>
            <p:cNvPr id="36" name="Rectangle 35"/>
            <p:cNvSpPr/>
            <p:nvPr/>
          </p:nvSpPr>
          <p:spPr>
            <a:xfrm>
              <a:off x="8910828" y="3602736"/>
              <a:ext cx="54864" cy="329184"/>
            </a:xfrm>
            <a:prstGeom prst="rect">
              <a:avLst/>
            </a:prstGeom>
            <a:solidFill>
              <a:srgbClr val="6B5B4B"/>
            </a:solidFill>
            <a:ln>
              <a:noFill/>
            </a:ln>
          </p:spPr>
          <p:txBody>
            <a:bodyPr rtlCol="0" anchor="ctr"/>
            <a:lstStyle/>
            <a:p>
              <a:pPr algn="ctr"/>
            </a:p>
          </p:txBody>
        </p:sp>
        <p:sp>
          <p:nvSpPr>
            <p:cNvPr id="37" name="Rectangle 36"/>
            <p:cNvSpPr/>
            <p:nvPr/>
          </p:nvSpPr>
          <p:spPr>
            <a:xfrm>
              <a:off x="9230868" y="3602736"/>
              <a:ext cx="54864" cy="329184"/>
            </a:xfrm>
            <a:prstGeom prst="rect">
              <a:avLst/>
            </a:prstGeom>
            <a:solidFill>
              <a:srgbClr val="6B5B4B"/>
            </a:solidFill>
            <a:ln>
              <a:noFill/>
            </a:ln>
          </p:spPr>
          <p:txBody>
            <a:bodyPr rtlCol="0" anchor="ctr"/>
            <a:lstStyle/>
            <a:p>
              <a:pPr algn="ctr"/>
            </a:p>
          </p:txBody>
        </p:sp>
        <p:sp>
          <p:nvSpPr>
            <p:cNvPr id="38" name="Rectangle 37"/>
            <p:cNvSpPr/>
            <p:nvPr/>
          </p:nvSpPr>
          <p:spPr>
            <a:xfrm>
              <a:off x="9550908" y="3602736"/>
              <a:ext cx="54864" cy="329184"/>
            </a:xfrm>
            <a:prstGeom prst="rect">
              <a:avLst/>
            </a:prstGeom>
            <a:solidFill>
              <a:srgbClr val="6B5B4B"/>
            </a:solidFill>
            <a:ln>
              <a:noFill/>
            </a:ln>
          </p:spPr>
          <p:txBody>
            <a:bodyPr rtlCol="0" anchor="ctr"/>
            <a:lstStyle/>
            <a:p>
              <a:pPr algn="ctr"/>
            </a:p>
          </p:txBody>
        </p:sp>
        <p:sp>
          <p:nvSpPr>
            <p:cNvPr id="39" name="Rectangle 38"/>
            <p:cNvSpPr/>
            <p:nvPr/>
          </p:nvSpPr>
          <p:spPr>
            <a:xfrm>
              <a:off x="9870948" y="3602736"/>
              <a:ext cx="54864" cy="329184"/>
            </a:xfrm>
            <a:prstGeom prst="rect">
              <a:avLst/>
            </a:prstGeom>
            <a:solidFill>
              <a:srgbClr val="6B5B4B"/>
            </a:solidFill>
            <a:ln>
              <a:noFill/>
            </a:ln>
          </p:spPr>
          <p:txBody>
            <a:bodyPr rtlCol="0" anchor="ctr"/>
            <a:lstStyle/>
            <a:p>
              <a:pPr algn="ctr"/>
            </a:p>
          </p:txBody>
        </p:sp>
        <p:sp>
          <p:nvSpPr>
            <p:cNvPr id="40" name="Rectangle 39"/>
            <p:cNvSpPr/>
            <p:nvPr/>
          </p:nvSpPr>
          <p:spPr>
            <a:xfrm>
              <a:off x="10190988" y="3602736"/>
              <a:ext cx="54864" cy="329184"/>
            </a:xfrm>
            <a:prstGeom prst="rect">
              <a:avLst/>
            </a:prstGeom>
            <a:solidFill>
              <a:srgbClr val="6B5B4B"/>
            </a:solidFill>
            <a:ln>
              <a:noFill/>
            </a:ln>
          </p:spPr>
          <p:txBody>
            <a:bodyPr rtlCol="0" anchor="ctr"/>
            <a:lstStyle/>
            <a:p>
              <a:pPr algn="ctr"/>
            </a:p>
          </p:txBody>
        </p:sp>
        <p:sp>
          <p:nvSpPr>
            <p:cNvPr id="41" name="Rectangle 40"/>
            <p:cNvSpPr/>
            <p:nvPr/>
          </p:nvSpPr>
          <p:spPr>
            <a:xfrm>
              <a:off x="10511028" y="3602736"/>
              <a:ext cx="54864" cy="329184"/>
            </a:xfrm>
            <a:prstGeom prst="rect">
              <a:avLst/>
            </a:prstGeom>
            <a:solidFill>
              <a:srgbClr val="6B5B4B"/>
            </a:solidFill>
            <a:ln>
              <a:noFill/>
            </a:ln>
          </p:spPr>
          <p:txBody>
            <a:bodyPr rtlCol="0" anchor="ctr"/>
            <a:lstStyle/>
            <a:p>
              <a:pPr algn="ctr"/>
            </a:p>
          </p:txBody>
        </p:sp>
        <p:sp>
          <p:nvSpPr>
            <p:cNvPr id="42" name="Rectangle 41"/>
            <p:cNvSpPr/>
            <p:nvPr/>
          </p:nvSpPr>
          <p:spPr>
            <a:xfrm>
              <a:off x="10831068" y="3602736"/>
              <a:ext cx="54864" cy="329184"/>
            </a:xfrm>
            <a:prstGeom prst="rect">
              <a:avLst/>
            </a:prstGeom>
            <a:solidFill>
              <a:srgbClr val="6B5B4B"/>
            </a:solidFill>
            <a:ln>
              <a:noFill/>
            </a:ln>
          </p:spPr>
          <p:txBody>
            <a:bodyPr rtlCol="0" anchor="ctr"/>
            <a:lstStyle/>
            <a:p>
              <a:pPr algn="ctr"/>
            </a:p>
          </p:txBody>
        </p:sp>
        <p:sp>
          <p:nvSpPr>
            <p:cNvPr id="43" name="Rectangle 42"/>
            <p:cNvSpPr/>
            <p:nvPr/>
          </p:nvSpPr>
          <p:spPr>
            <a:xfrm>
              <a:off x="11151108" y="3602736"/>
              <a:ext cx="54864" cy="329184"/>
            </a:xfrm>
            <a:prstGeom prst="rect">
              <a:avLst/>
            </a:prstGeom>
            <a:solidFill>
              <a:srgbClr val="6B5B4B"/>
            </a:solidFill>
            <a:ln>
              <a:noFill/>
            </a:ln>
          </p:spPr>
          <p:txBody>
            <a:bodyPr rtlCol="0" anchor="ctr"/>
            <a:lstStyle/>
            <a:p>
              <a:pPr algn="ctr"/>
            </a:p>
          </p:txBody>
        </p:sp>
        <p:sp>
          <p:nvSpPr>
            <p:cNvPr id="44" name="Rectangle 43"/>
            <p:cNvSpPr/>
            <p:nvPr/>
          </p:nvSpPr>
          <p:spPr>
            <a:xfrm>
              <a:off x="11471148" y="3602736"/>
              <a:ext cx="54864" cy="329184"/>
            </a:xfrm>
            <a:prstGeom prst="rect">
              <a:avLst/>
            </a:prstGeom>
            <a:solidFill>
              <a:srgbClr val="6B5B4B"/>
            </a:solidFill>
            <a:ln>
              <a:noFill/>
            </a:ln>
          </p:spPr>
          <p:txBody>
            <a:bodyPr rtlCol="0" anchor="ctr"/>
            <a:lstStyle/>
            <a:p>
              <a:pPr algn="ctr"/>
            </a:p>
          </p:txBody>
        </p:sp>
        <p:sp>
          <p:nvSpPr>
            <p:cNvPr id="45" name="Rectangle 44"/>
            <p:cNvSpPr/>
            <p:nvPr/>
          </p:nvSpPr>
          <p:spPr>
            <a:xfrm>
              <a:off x="457200" y="3630168"/>
              <a:ext cx="11201400" cy="54864"/>
            </a:xfrm>
            <a:prstGeom prst="rect">
              <a:avLst/>
            </a:prstGeom>
            <a:solidFill>
              <a:srgbClr val="9AA0A6"/>
            </a:solidFill>
            <a:ln>
              <a:noFill/>
            </a:ln>
          </p:spPr>
          <p:txBody>
            <a:bodyPr rtlCol="0" anchor="ctr"/>
            <a:lstStyle/>
            <a:p>
              <a:pPr algn="ctr"/>
            </a:p>
          </p:txBody>
        </p:sp>
        <p:sp>
          <p:nvSpPr>
            <p:cNvPr id="46" name="Rectangle 45"/>
            <p:cNvSpPr/>
            <p:nvPr/>
          </p:nvSpPr>
          <p:spPr>
            <a:xfrm>
              <a:off x="457200" y="3849624"/>
              <a:ext cx="11201400" cy="54864"/>
            </a:xfrm>
            <a:prstGeom prst="rect">
              <a:avLst/>
            </a:prstGeom>
            <a:solidFill>
              <a:srgbClr val="9AA0A6"/>
            </a:solidFill>
            <a:ln>
              <a:noFill/>
            </a:ln>
          </p:spPr>
          <p:txBody>
            <a:bodyPr rtlCol="0" anchor="ctr"/>
            <a:lstStyle/>
            <a:p>
              <a:pPr algn="ctr"/>
            </a:p>
          </p:txBody>
        </p:sp>
        <p:sp>
          <p:nvSpPr>
            <p:cNvPr id="47" name="Rectangle 46"/>
            <p:cNvSpPr/>
            <p:nvPr/>
          </p:nvSpPr>
          <p:spPr>
            <a:xfrm>
              <a:off x="4206240" y="2194560"/>
              <a:ext cx="1645920" cy="777240"/>
            </a:xfrm>
            <a:prstGeom prst="rect">
              <a:avLst/>
            </a:prstGeom>
            <a:solidFill>
              <a:srgbClr val="343A43"/>
            </a:solidFill>
            <a:ln w="19050">
              <a:solidFill>
                <a:srgbClr val="9AA0A6"/>
              </a:solidFill>
            </a:ln>
          </p:spPr>
          <p:txBody>
            <a:bodyPr rtlCol="0" anchor="ctr"/>
            <a:lstStyle/>
            <a:p>
              <a:pPr algn="ctr"/>
            </a:p>
          </p:txBody>
        </p:sp>
        <p:sp>
          <p:nvSpPr>
            <p:cNvPr id="48" name="Freeform 47"/>
            <p:cNvSpPr/>
            <p:nvPr/>
          </p:nvSpPr>
          <p:spPr>
            <a:xfrm>
              <a:off x="4480560" y="2404872"/>
              <a:ext cx="1097280" cy="411480"/>
            </a:xfrm>
            <a:custGeom>
              <a:avLst/>
              <a:gdLst/>
              <a:ahLst/>
              <a:cxnLst/>
              <a:rect l="l" t="t" r="r" b="b"/>
              <a:pathLst>
                <a:path w="1097280" h="411480">
                  <a:moveTo>
                    <a:pt x="0" y="411480"/>
                  </a:moveTo>
                  <a:lnTo>
                    <a:pt x="197510" y="164592"/>
                  </a:lnTo>
                  <a:lnTo>
                    <a:pt x="416966" y="61722"/>
                  </a:lnTo>
                  <a:lnTo>
                    <a:pt x="603504" y="0"/>
                  </a:lnTo>
                  <a:lnTo>
                    <a:pt x="822960" y="123444"/>
                  </a:lnTo>
                  <a:lnTo>
                    <a:pt x="1009498" y="246888"/>
                  </a:lnTo>
                  <a:lnTo>
                    <a:pt x="1097280" y="411480"/>
                  </a:lnTo>
                  <a:close/>
                </a:path>
              </a:pathLst>
            </a:custGeom>
            <a:solidFill>
              <a:srgbClr val="1B1D21"/>
            </a:solidFill>
            <a:ln w="25400">
              <a:solidFill>
                <a:srgbClr val="6B7078"/>
              </a:solidFill>
            </a:ln>
          </p:spPr>
          <p:txBody>
            <a:bodyPr rtlCol="0" anchor="ctr"/>
            <a:lstStyle/>
            <a:p>
              <a:pPr algn="ctr"/>
            </a:p>
          </p:txBody>
        </p:sp>
        <p:cxnSp>
          <p:nvCxnSpPr>
            <p:cNvPr id="49" name="Connector 48"/>
            <p:cNvCxnSpPr/>
            <p:nvPr/>
          </p:nvCxnSpPr>
          <p:spPr>
            <a:xfrm>
              <a:off x="5257800" y="2971800"/>
              <a:ext cx="0" cy="667512"/>
            </a:xfrm>
            <a:prstGeom prst="line">
              <a:avLst/>
            </a:prstGeom>
            <a:ln w="50800">
              <a:solidFill>
                <a:srgbClr val="9AA0A6"/>
              </a:solidFill>
            </a:ln>
          </p:spPr>
        </p:cxnSp>
        <p:sp>
          <p:nvSpPr>
            <p:cNvPr id="50" name="Rectangle 49"/>
            <p:cNvSpPr/>
            <p:nvPr/>
          </p:nvSpPr>
          <p:spPr>
            <a:xfrm>
              <a:off x="777240" y="2496312"/>
              <a:ext cx="3429000" cy="182880"/>
            </a:xfrm>
            <a:prstGeom prst="rect">
              <a:avLst/>
            </a:prstGeom>
            <a:solidFill>
              <a:srgbClr val="1B1D21"/>
            </a:solidFill>
            <a:ln w="12700">
              <a:solidFill>
                <a:srgbClr val="9AA0A6"/>
              </a:solidFill>
              <a:prstDash val="dash"/>
            </a:ln>
          </p:spPr>
          <p:txBody>
            <a:bodyPr rtlCol="0" anchor="ctr"/>
            <a:lstStyle/>
            <a:p>
              <a:pPr algn="ctr"/>
            </a:p>
          </p:txBody>
        </p:sp>
        <p:sp>
          <p:nvSpPr>
            <p:cNvPr id="51" name="Chevron 50"/>
            <p:cNvSpPr/>
            <p:nvPr/>
          </p:nvSpPr>
          <p:spPr>
            <a:xfrm>
              <a:off x="960120" y="2523744"/>
              <a:ext cx="109728" cy="128016"/>
            </a:xfrm>
            <a:prstGeom prst="chevron">
              <a:avLst/>
            </a:prstGeom>
            <a:solidFill>
              <a:srgbClr val="F28C28"/>
            </a:solidFill>
            <a:ln>
              <a:noFill/>
            </a:ln>
          </p:spPr>
          <p:txBody>
            <a:bodyPr rtlCol="0" anchor="ctr"/>
            <a:lstStyle/>
            <a:p>
              <a:pPr algn="ctr"/>
            </a:p>
          </p:txBody>
        </p:sp>
        <p:sp>
          <p:nvSpPr>
            <p:cNvPr id="52" name="Chevron 51"/>
            <p:cNvSpPr/>
            <p:nvPr/>
          </p:nvSpPr>
          <p:spPr>
            <a:xfrm>
              <a:off x="1307592" y="2523744"/>
              <a:ext cx="109728" cy="128016"/>
            </a:xfrm>
            <a:prstGeom prst="chevron">
              <a:avLst/>
            </a:prstGeom>
            <a:solidFill>
              <a:srgbClr val="F28C28"/>
            </a:solidFill>
            <a:ln>
              <a:noFill/>
            </a:ln>
          </p:spPr>
          <p:txBody>
            <a:bodyPr rtlCol="0" anchor="ctr"/>
            <a:lstStyle/>
            <a:p>
              <a:pPr algn="ctr"/>
            </a:p>
          </p:txBody>
        </p:sp>
        <p:sp>
          <p:nvSpPr>
            <p:cNvPr id="53" name="Chevron 52"/>
            <p:cNvSpPr/>
            <p:nvPr/>
          </p:nvSpPr>
          <p:spPr>
            <a:xfrm>
              <a:off x="1655064" y="2523744"/>
              <a:ext cx="109728" cy="128016"/>
            </a:xfrm>
            <a:prstGeom prst="chevron">
              <a:avLst/>
            </a:prstGeom>
            <a:solidFill>
              <a:srgbClr val="F28C28"/>
            </a:solidFill>
            <a:ln>
              <a:noFill/>
            </a:ln>
          </p:spPr>
          <p:txBody>
            <a:bodyPr rtlCol="0" anchor="ctr"/>
            <a:lstStyle/>
            <a:p>
              <a:pPr algn="ctr"/>
            </a:p>
          </p:txBody>
        </p:sp>
        <p:sp>
          <p:nvSpPr>
            <p:cNvPr id="54" name="Chevron 53"/>
            <p:cNvSpPr/>
            <p:nvPr/>
          </p:nvSpPr>
          <p:spPr>
            <a:xfrm>
              <a:off x="2002536" y="2523744"/>
              <a:ext cx="109728" cy="128016"/>
            </a:xfrm>
            <a:prstGeom prst="chevron">
              <a:avLst/>
            </a:prstGeom>
            <a:solidFill>
              <a:srgbClr val="F28C28"/>
            </a:solidFill>
            <a:ln>
              <a:noFill/>
            </a:ln>
          </p:spPr>
          <p:txBody>
            <a:bodyPr rtlCol="0" anchor="ctr"/>
            <a:lstStyle/>
            <a:p>
              <a:pPr algn="ctr"/>
            </a:p>
          </p:txBody>
        </p:sp>
        <p:sp>
          <p:nvSpPr>
            <p:cNvPr id="55" name="Chevron 54"/>
            <p:cNvSpPr/>
            <p:nvPr/>
          </p:nvSpPr>
          <p:spPr>
            <a:xfrm>
              <a:off x="2350008" y="2523744"/>
              <a:ext cx="109728" cy="128016"/>
            </a:xfrm>
            <a:prstGeom prst="chevron">
              <a:avLst/>
            </a:prstGeom>
            <a:solidFill>
              <a:srgbClr val="F28C28"/>
            </a:solidFill>
            <a:ln>
              <a:noFill/>
            </a:ln>
          </p:spPr>
          <p:txBody>
            <a:bodyPr rtlCol="0" anchor="ctr"/>
            <a:lstStyle/>
            <a:p>
              <a:pPr algn="ctr"/>
            </a:p>
          </p:txBody>
        </p:sp>
        <p:sp>
          <p:nvSpPr>
            <p:cNvPr id="56" name="Chevron 55"/>
            <p:cNvSpPr/>
            <p:nvPr/>
          </p:nvSpPr>
          <p:spPr>
            <a:xfrm>
              <a:off x="2697480" y="2523744"/>
              <a:ext cx="109728" cy="128016"/>
            </a:xfrm>
            <a:prstGeom prst="chevron">
              <a:avLst/>
            </a:prstGeom>
            <a:solidFill>
              <a:srgbClr val="F28C28"/>
            </a:solidFill>
            <a:ln>
              <a:noFill/>
            </a:ln>
          </p:spPr>
          <p:txBody>
            <a:bodyPr rtlCol="0" anchor="ctr"/>
            <a:lstStyle/>
            <a:p>
              <a:pPr algn="ctr"/>
            </a:p>
          </p:txBody>
        </p:sp>
        <p:sp>
          <p:nvSpPr>
            <p:cNvPr id="57" name="Chevron 56"/>
            <p:cNvSpPr/>
            <p:nvPr/>
          </p:nvSpPr>
          <p:spPr>
            <a:xfrm>
              <a:off x="3044952" y="2523744"/>
              <a:ext cx="109728" cy="128016"/>
            </a:xfrm>
            <a:prstGeom prst="chevron">
              <a:avLst/>
            </a:prstGeom>
            <a:solidFill>
              <a:srgbClr val="F28C28"/>
            </a:solidFill>
            <a:ln>
              <a:noFill/>
            </a:ln>
          </p:spPr>
          <p:txBody>
            <a:bodyPr rtlCol="0" anchor="ctr"/>
            <a:lstStyle/>
            <a:p>
              <a:pPr algn="ctr"/>
            </a:p>
          </p:txBody>
        </p:sp>
        <p:sp>
          <p:nvSpPr>
            <p:cNvPr id="58" name="Chevron 57"/>
            <p:cNvSpPr/>
            <p:nvPr/>
          </p:nvSpPr>
          <p:spPr>
            <a:xfrm>
              <a:off x="3392424" y="2523744"/>
              <a:ext cx="109728" cy="128016"/>
            </a:xfrm>
            <a:prstGeom prst="chevron">
              <a:avLst/>
            </a:prstGeom>
            <a:solidFill>
              <a:srgbClr val="F28C28"/>
            </a:solidFill>
            <a:ln>
              <a:noFill/>
            </a:ln>
          </p:spPr>
          <p:txBody>
            <a:bodyPr rtlCol="0" anchor="ctr"/>
            <a:lstStyle/>
            <a:p>
              <a:pPr algn="ctr"/>
            </a:p>
          </p:txBody>
        </p:sp>
        <p:sp>
          <p:nvSpPr>
            <p:cNvPr id="59" name="Chevron 58"/>
            <p:cNvSpPr/>
            <p:nvPr/>
          </p:nvSpPr>
          <p:spPr>
            <a:xfrm>
              <a:off x="3739896" y="2523744"/>
              <a:ext cx="109728" cy="128016"/>
            </a:xfrm>
            <a:prstGeom prst="chevron">
              <a:avLst/>
            </a:prstGeom>
            <a:solidFill>
              <a:srgbClr val="F28C28"/>
            </a:solidFill>
            <a:ln>
              <a:noFill/>
            </a:ln>
          </p:spPr>
          <p:txBody>
            <a:bodyPr rtlCol="0" anchor="ctr"/>
            <a:lstStyle/>
            <a:p>
              <a:pPr algn="ctr"/>
            </a:p>
          </p:txBody>
        </p:sp>
        <p:sp>
          <p:nvSpPr>
            <p:cNvPr id="60" name="Oval 59"/>
            <p:cNvSpPr/>
            <p:nvPr/>
          </p:nvSpPr>
          <p:spPr>
            <a:xfrm>
              <a:off x="6949440" y="2103120"/>
              <a:ext cx="914400" cy="914400"/>
            </a:xfrm>
            <a:prstGeom prst="ellipse">
              <a:avLst/>
            </a:prstGeom>
            <a:solidFill>
              <a:srgbClr val="4DA3FF"/>
            </a:solidFill>
            <a:ln w="25400">
              <a:solidFill>
                <a:srgbClr val="FFFFFF"/>
              </a:solidFill>
            </a:ln>
          </p:spPr>
          <p:txBody>
            <a:bodyPr rtlCol="0" anchor="ctr"/>
            <a:lstStyle/>
            <a:p>
              <a:pPr algn="ctr"/>
            </a:p>
          </p:txBody>
        </p:sp>
        <p:sp>
          <p:nvSpPr>
            <p:cNvPr id="61" name="Freeform 60"/>
            <p:cNvSpPr/>
            <p:nvPr/>
          </p:nvSpPr>
          <p:spPr>
            <a:xfrm>
              <a:off x="7275749" y="2404872"/>
              <a:ext cx="261782" cy="351130"/>
            </a:xfrm>
            <a:custGeom>
              <a:avLst/>
              <a:gdLst/>
              <a:ahLst/>
              <a:cxnLst/>
              <a:rect l="l" t="t" r="r" b="b"/>
              <a:pathLst>
                <a:path w="261782" h="351130">
                  <a:moveTo>
                    <a:pt x="7158" y="174421"/>
                  </a:moveTo>
                  <a:lnTo>
                    <a:pt x="0" y="205121"/>
                  </a:lnTo>
                  <a:lnTo>
                    <a:pt x="344" y="236643"/>
                  </a:lnTo>
                  <a:lnTo>
                    <a:pt x="8170" y="267180"/>
                  </a:lnTo>
                  <a:lnTo>
                    <a:pt x="23030" y="294981"/>
                  </a:lnTo>
                  <a:lnTo>
                    <a:pt x="44073" y="318453"/>
                  </a:lnTo>
                  <a:lnTo>
                    <a:pt x="70091" y="336252"/>
                  </a:lnTo>
                  <a:lnTo>
                    <a:pt x="99594" y="347356"/>
                  </a:lnTo>
                  <a:lnTo>
                    <a:pt x="130891" y="351130"/>
                  </a:lnTo>
                  <a:lnTo>
                    <a:pt x="162188" y="347356"/>
                  </a:lnTo>
                  <a:lnTo>
                    <a:pt x="191691" y="336252"/>
                  </a:lnTo>
                  <a:lnTo>
                    <a:pt x="217709" y="318453"/>
                  </a:lnTo>
                  <a:lnTo>
                    <a:pt x="238752" y="294981"/>
                  </a:lnTo>
                  <a:lnTo>
                    <a:pt x="253612" y="267180"/>
                  </a:lnTo>
                  <a:lnTo>
                    <a:pt x="261438" y="236643"/>
                  </a:lnTo>
                  <a:lnTo>
                    <a:pt x="261782" y="205121"/>
                  </a:lnTo>
                  <a:lnTo>
                    <a:pt x="254624" y="174421"/>
                  </a:lnTo>
                  <a:lnTo>
                    <a:pt x="130891" y="0"/>
                  </a:lnTo>
                  <a:close/>
                </a:path>
              </a:pathLst>
            </a:custGeom>
            <a:solidFill>
              <a:srgbClr val="FFFFFF"/>
            </a:solidFill>
            <a:ln>
              <a:noFill/>
            </a:ln>
          </p:spPr>
          <p:txBody>
            <a:bodyPr rtlCol="0" anchor="ctr"/>
            <a:lstStyle/>
            <a:p>
              <a:pPr algn="ctr"/>
            </a:p>
          </p:txBody>
        </p:sp>
        <p:cxnSp>
          <p:nvCxnSpPr>
            <p:cNvPr id="62" name="Connector 61"/>
            <p:cNvCxnSpPr/>
            <p:nvPr/>
          </p:nvCxnSpPr>
          <p:spPr>
            <a:xfrm flipH="1">
              <a:off x="6446520" y="2880360"/>
              <a:ext cx="640080" cy="758952"/>
            </a:xfrm>
            <a:prstGeom prst="line">
              <a:avLst/>
            </a:prstGeom>
            <a:ln w="50800">
              <a:solidFill>
                <a:srgbClr val="9AA0A6"/>
              </a:solidFill>
            </a:ln>
          </p:spPr>
        </p:cxnSp>
        <p:sp>
          <p:nvSpPr>
            <p:cNvPr id="63" name="Freeform 62"/>
            <p:cNvSpPr/>
            <p:nvPr/>
          </p:nvSpPr>
          <p:spPr>
            <a:xfrm>
              <a:off x="7406640" y="1417320"/>
              <a:ext cx="0" cy="685800"/>
            </a:xfrm>
            <a:custGeom>
              <a:avLst/>
              <a:gdLst/>
              <a:ahLst/>
              <a:cxnLst/>
              <a:rect l="l" t="t" r="r" b="b"/>
              <a:pathLst>
                <a:path w="0" h="685800">
                  <a:moveTo>
                    <a:pt x="0" y="0"/>
                  </a:moveTo>
                  <a:lnTo>
                    <a:pt x="0" y="685800"/>
                  </a:lnTo>
                </a:path>
              </a:pathLst>
            </a:custGeom>
            <a:noFill/>
            <a:ln w="114300">
              <a:solidFill>
                <a:srgbClr val="4DA3FF"/>
              </a:solidFill>
            </a:ln>
          </p:spPr>
          <p:txBody>
            <a:bodyPr rtlCol="0" anchor="ctr"/>
            <a:lstStyle/>
            <a:p>
              <a:pPr algn="ctr"/>
            </a:p>
          </p:txBody>
        </p:sp>
        <p:sp>
          <p:nvSpPr>
            <p:cNvPr id="64" name="Rounded Rectangle 63"/>
            <p:cNvSpPr/>
            <p:nvPr/>
          </p:nvSpPr>
          <p:spPr>
            <a:xfrm>
              <a:off x="4754880" y="3547872"/>
              <a:ext cx="2011680" cy="438912"/>
            </a:xfrm>
            <a:prstGeom prst="roundRect">
              <a:avLst>
                <a:gd name="adj" fmla="val 20833"/>
              </a:avLst>
            </a:prstGeom>
            <a:solidFill>
              <a:srgbClr val="F28C28"/>
            </a:solidFill>
            <a:ln w="12700">
              <a:solidFill>
                <a:srgbClr val="101418"/>
              </a:solidFill>
            </a:ln>
          </p:spPr>
          <p:txBody>
            <a:bodyPr rtlCol="0" anchor="ctr"/>
            <a:lstStyle/>
            <a:p>
              <a:pPr algn="ctr"/>
            </a:p>
          </p:txBody>
        </p:sp>
        <p:sp>
          <p:nvSpPr>
            <p:cNvPr id="65" name="Oval 64"/>
            <p:cNvSpPr/>
            <p:nvPr/>
          </p:nvSpPr>
          <p:spPr>
            <a:xfrm>
              <a:off x="5166360" y="3675888"/>
              <a:ext cx="182880" cy="182880"/>
            </a:xfrm>
            <a:prstGeom prst="ellipse">
              <a:avLst/>
            </a:prstGeom>
            <a:solidFill>
              <a:srgbClr val="1B1D21"/>
            </a:solidFill>
            <a:ln w="19050">
              <a:solidFill>
                <a:srgbClr val="F2F2F2"/>
              </a:solidFill>
            </a:ln>
          </p:spPr>
          <p:txBody>
            <a:bodyPr rtlCol="0" anchor="ctr"/>
            <a:lstStyle/>
            <a:p>
              <a:pPr algn="ctr"/>
            </a:p>
          </p:txBody>
        </p:sp>
        <p:sp>
          <p:nvSpPr>
            <p:cNvPr id="66" name="Oval 65"/>
            <p:cNvSpPr/>
            <p:nvPr/>
          </p:nvSpPr>
          <p:spPr>
            <a:xfrm>
              <a:off x="6355080" y="3675888"/>
              <a:ext cx="182880" cy="182880"/>
            </a:xfrm>
            <a:prstGeom prst="ellipse">
              <a:avLst/>
            </a:prstGeom>
            <a:solidFill>
              <a:srgbClr val="4DA3FF"/>
            </a:solidFill>
            <a:ln w="19050">
              <a:solidFill>
                <a:srgbClr val="F2F2F2"/>
              </a:solidFill>
            </a:ln>
          </p:spPr>
          <p:txBody>
            <a:bodyPr rtlCol="0" anchor="ctr"/>
            <a:lstStyle/>
            <a:p>
              <a:pPr algn="ctr"/>
            </a:p>
          </p:txBody>
        </p:sp>
        <p:sp>
          <p:nvSpPr>
            <p:cNvPr id="67" name="Rectangle 66"/>
            <p:cNvSpPr/>
            <p:nvPr/>
          </p:nvSpPr>
          <p:spPr>
            <a:xfrm>
              <a:off x="4114800" y="4160520"/>
              <a:ext cx="3291840" cy="502920"/>
            </a:xfrm>
            <a:prstGeom prst="rect">
              <a:avLst/>
            </a:prstGeom>
            <a:solidFill>
              <a:srgbClr val="343A43"/>
            </a:solidFill>
            <a:ln w="19050">
              <a:solidFill>
                <a:srgbClr val="9AA0A6"/>
              </a:solidFill>
            </a:ln>
          </p:spPr>
          <p:txBody>
            <a:bodyPr rtlCol="0" anchor="ctr" wrap="square" lIns="73152" tIns="36576" rIns="73152" bIns="36576">
              <a:noAutofit/>
            </a:bodyPr>
            <a:lstStyle/>
            <a:p>
              <a:pPr algn="ctr"/>
              <a:r>
                <a:rPr sz="1400" b="0" i="0" lang="en-GB">
                  <a:solidFill>
                    <a:srgbClr val="F2F2F2"/>
                  </a:solidFill>
                  <a:latin typeface="Arial"/>
                </a:rPr>
                <a:t>Platform and cargo loading</a:t>
              </a:r>
            </a:p>
          </p:txBody>
        </p:sp>
        <p:sp>
          <p:nvSpPr>
            <p:cNvPr id="68" name="Rectangle 67"/>
            <p:cNvSpPr/>
            <p:nvPr/>
          </p:nvSpPr>
          <p:spPr>
            <a:xfrm>
              <a:off x="2011680" y="4160520"/>
              <a:ext cx="1371600" cy="914400"/>
            </a:xfrm>
            <a:prstGeom prst="rect">
              <a:avLst/>
            </a:prstGeom>
            <a:solidFill>
              <a:srgbClr val="343A43"/>
            </a:solidFill>
            <a:ln w="19050">
              <a:solidFill>
                <a:srgbClr val="F28C28"/>
              </a:solidFill>
            </a:ln>
          </p:spPr>
          <p:txBody>
            <a:bodyPr rtlCol="0" anchor="ctr"/>
            <a:lstStyle/>
            <a:p>
              <a:pPr algn="ctr"/>
            </a:p>
          </p:txBody>
        </p:sp>
        <p:cxnSp>
          <p:nvCxnSpPr>
            <p:cNvPr id="69" name="Connector 68"/>
            <p:cNvCxnSpPr/>
            <p:nvPr/>
          </p:nvCxnSpPr>
          <p:spPr>
            <a:xfrm>
              <a:off x="2011680" y="4160520"/>
              <a:ext cx="1371600" cy="914400"/>
            </a:xfrm>
            <a:prstGeom prst="line">
              <a:avLst/>
            </a:prstGeom>
            <a:ln w="19050">
              <a:solidFill>
                <a:srgbClr val="F28C28"/>
              </a:solidFill>
            </a:ln>
          </p:spPr>
        </p:cxnSp>
        <p:sp>
          <p:nvSpPr>
            <p:cNvPr id="70" name="TextBox 69"/>
            <p:cNvSpPr txBox="1"/>
            <p:nvPr/>
          </p:nvSpPr>
          <p:spPr>
            <a:xfrm>
              <a:off x="777240" y="3035808"/>
              <a:ext cx="2103120" cy="274320"/>
            </a:xfrm>
            <a:prstGeom prst="rect">
              <a:avLst/>
            </a:prstGeom>
            <a:noFill/>
          </p:spPr>
          <p:txBody>
            <a:bodyPr wrap="square" lIns="0" tIns="0" rIns="0" bIns="0" anchor="t">
              <a:noAutofit/>
            </a:bodyPr>
            <a:lstStyle/>
            <a:p>
              <a:pPr algn="l"/>
              <a:r>
                <a:rPr sz="1400" b="0" i="0" lang="en-GB">
                  <a:solidFill>
                    <a:srgbClr val="F2F2F2"/>
                  </a:solidFill>
                  <a:latin typeface="Arial"/>
                </a:rPr>
                <a:t>Conveyor: coal in</a:t>
              </a:r>
            </a:p>
          </p:txBody>
        </p:sp>
      </p:grpSp>
      <p:sp>
        <p:nvSpPr>
          <p:cNvPr id="71" name="TextBox 70"/>
          <p:cNvSpPr txBox="1"/>
          <p:nvPr/>
        </p:nvSpPr>
        <p:spPr>
          <a:xfrm>
            <a:off x="731520" y="4480560"/>
            <a:ext cx="1188720" cy="274320"/>
          </a:xfrm>
          <a:prstGeom prst="rect">
            <a:avLst/>
          </a:prstGeom>
          <a:noFill/>
        </p:spPr>
        <p:txBody>
          <a:bodyPr wrap="square" lIns="0" tIns="0" rIns="0" bIns="0" anchor="t">
            <a:noAutofit/>
          </a:bodyPr>
          <a:lstStyle/>
          <a:p>
            <a:pPr algn="r"/>
            <a:r>
              <a:rPr sz="1400" b="0" i="0" lang="en-GB">
                <a:solidFill>
                  <a:srgbClr val="F2F2F2"/>
                </a:solidFill>
                <a:latin typeface="Arial"/>
              </a:rPr>
              <a:t>Signal box</a:t>
            </a:r>
          </a:p>
        </p:txBody>
      </p:sp>
      <p:sp>
        <p:nvSpPr>
          <p:cNvPr id="72" name="TextBox 71"/>
          <p:cNvSpPr txBox="1"/>
          <p:nvPr/>
        </p:nvSpPr>
        <p:spPr>
          <a:xfrm>
            <a:off x="7543800" y="1325880"/>
            <a:ext cx="1737360" cy="292608"/>
          </a:xfrm>
          <a:prstGeom prst="rect">
            <a:avLst/>
          </a:prstGeom>
          <a:noFill/>
        </p:spPr>
        <p:txBody>
          <a:bodyPr wrap="square" lIns="0" tIns="0" rIns="0" bIns="0" anchor="ctr">
            <a:noAutofit/>
          </a:bodyPr>
          <a:lstStyle/>
          <a:p>
            <a:pPr algn="l"/>
            <a:r>
              <a:rPr sz="1400" b="0" i="0" lang="en-GB">
                <a:solidFill>
                  <a:srgbClr val="F2F2F2"/>
                </a:solidFill>
                <a:latin typeface="Arial"/>
              </a:rPr>
              <a:t>Pipe: water in</a:t>
            </a:r>
          </a:p>
        </p:txBody>
      </p:sp>
      <p:sp>
        <p:nvSpPr>
          <p:cNvPr id="73" name="TextBox 72"/>
          <p:cNvSpPr txBox="1"/>
          <p:nvPr/>
        </p:nvSpPr>
        <p:spPr>
          <a:xfrm>
            <a:off x="3657600" y="3108960"/>
            <a:ext cx="1508760" cy="274320"/>
          </a:xfrm>
          <a:prstGeom prst="rect">
            <a:avLst/>
          </a:prstGeom>
          <a:noFill/>
        </p:spPr>
        <p:txBody>
          <a:bodyPr wrap="square" lIns="0" tIns="0" rIns="0" bIns="0" anchor="t">
            <a:noAutofit/>
          </a:bodyPr>
          <a:lstStyle/>
          <a:p>
            <a:pPr algn="r"/>
            <a:r>
              <a:rPr sz="1400" b="0" i="0" lang="en-GB">
                <a:solidFill>
                  <a:srgbClr val="F2F2F2"/>
                </a:solidFill>
                <a:latin typeface="Arial"/>
              </a:rPr>
              <a:t>Coal bunker</a:t>
            </a:r>
          </a:p>
        </p:txBody>
      </p:sp>
      <p:sp>
        <p:nvSpPr>
          <p:cNvPr id="74" name="TextBox 73"/>
          <p:cNvSpPr txBox="1"/>
          <p:nvPr/>
        </p:nvSpPr>
        <p:spPr>
          <a:xfrm>
            <a:off x="7059168" y="3127248"/>
            <a:ext cx="1280160" cy="274320"/>
          </a:xfrm>
          <a:prstGeom prst="rect">
            <a:avLst/>
          </a:prstGeom>
          <a:noFill/>
        </p:spPr>
        <p:txBody>
          <a:bodyPr wrap="square" lIns="0" tIns="0" rIns="0" bIns="0" anchor="t">
            <a:noAutofit/>
          </a:bodyPr>
          <a:lstStyle/>
          <a:p>
            <a:pPr algn="l"/>
            <a:r>
              <a:rPr sz="1400" b="0" i="0" lang="en-GB">
                <a:solidFill>
                  <a:srgbClr val="F2F2F2"/>
                </a:solidFill>
                <a:latin typeface="Arial"/>
              </a:rPr>
              <a:t>Water hatch</a:t>
            </a:r>
          </a:p>
        </p:txBody>
      </p:sp>
      <p:sp>
        <p:nvSpPr>
          <p:cNvPr id="75" name="TextBox 74"/>
          <p:cNvSpPr txBox="1"/>
          <p:nvPr/>
        </p:nvSpPr>
        <p:spPr>
          <a:xfrm>
            <a:off x="4114800" y="4846320"/>
            <a:ext cx="5029200" cy="329184"/>
          </a:xfrm>
          <a:prstGeom prst="rect">
            <a:avLst/>
          </a:prstGeom>
          <a:noFill/>
        </p:spPr>
        <p:txBody>
          <a:bodyPr wrap="square" lIns="0" tIns="0" rIns="0" bIns="0" anchor="t">
            <a:noAutofit/>
          </a:bodyPr>
          <a:lstStyle/>
          <a:p>
            <a:pPr algn="l"/>
            <a:r>
              <a:rPr sz="1600" b="0" i="0" lang="en-GB">
                <a:solidFill>
                  <a:srgbClr val="F2F2F2"/>
                </a:solidFill>
                <a:latin typeface="Arial"/>
              </a:rPr>
              <a:t>Large footprint. Exact size undecided.</a:t>
            </a:r>
          </a:p>
        </p:txBody>
      </p:sp>
      <p:sp>
        <p:nvSpPr>
          <p:cNvPr id="76" name="Vanilla station"/>
          <p:cNvSpPr/>
          <p:nvPr/>
        </p:nvSpPr>
        <p:spPr>
          <a:xfrm>
            <a:off x="10149840" y="4343400"/>
            <a:ext cx="1463040" cy="685800"/>
          </a:xfrm>
          <a:prstGeom prst="rect">
            <a:avLst/>
          </a:prstGeom>
          <a:solidFill>
            <a:srgbClr val="2B2F36"/>
          </a:solidFill>
          <a:ln w="19050">
            <a:solidFill>
              <a:srgbClr val="6CA0DC"/>
            </a:solidFill>
          </a:ln>
        </p:spPr>
        <p:txBody>
          <a:bodyPr rtlCol="0" anchor="ctr" wrap="square" lIns="73152" tIns="36576" rIns="73152" bIns="36576">
            <a:noAutofit/>
          </a:bodyPr>
          <a:lstStyle/>
          <a:p>
            <a:pPr algn="ctr"/>
            <a:r>
              <a:rPr sz="1400" b="0" i="0" lang="en-GB">
                <a:solidFill>
                  <a:srgbClr val="F2F2F2"/>
                </a:solidFill>
                <a:latin typeface="Arial"/>
              </a:rPr>
              <a:t>Vanilla station (for comparison)</a:t>
            </a:r>
          </a:p>
        </p:txBody>
      </p:sp>
      <p:pic>
        <p:nvPicPr>
          <p:cNvPr id="77" name="Picture P17" descr="A coal stage and a water tank at Didcot Railway Centre."/>
          <p:cNvPicPr>
            <a:picLocks noChangeAspect="1"/>
          </p:cNvPicPr>
          <p:nvPr/>
        </p:nvPicPr>
        <p:blipFill>
          <a:blip r:embed="rId2"/>
          <a:srcRect l="1853" r="1853"/>
          <a:stretch>
            <a:fillRect/>
          </a:stretch>
        </p:blipFill>
        <p:spPr>
          <a:xfrm>
            <a:off x="9445752" y="1371600"/>
            <a:ext cx="2194560" cy="1280160"/>
          </a:xfrm>
          <a:prstGeom prst="roundRect">
            <a:avLst>
              <a:gd name="adj" fmla="val 5714"/>
            </a:avLst>
          </a:prstGeom>
        </p:spPr>
      </p:pic>
      <p:sp>
        <p:nvSpPr>
          <p:cNvPr id="78" name="Credit"/>
          <p:cNvSpPr txBox="1"/>
          <p:nvPr/>
        </p:nvSpPr>
        <p:spPr>
          <a:xfrm>
            <a:off x="9445752" y="2679192"/>
            <a:ext cx="2194560" cy="338328"/>
          </a:xfrm>
          <a:prstGeom prst="rect">
            <a:avLst/>
          </a:prstGeom>
          <a:noFill/>
        </p:spPr>
        <p:txBody>
          <a:bodyPr wrap="square" lIns="0" tIns="0" rIns="0" bIns="0" anchor="t">
            <a:noAutofit/>
          </a:bodyPr>
          <a:lstStyle/>
          <a:p>
            <a:pPr algn="l"/>
            <a:r>
              <a:rPr sz="1000" b="0" i="0" lang="en-GB">
                <a:solidFill>
                  <a:srgbClr val="A9B0B8"/>
                </a:solidFill>
                <a:latin typeface="Arial"/>
              </a:rPr>
              <a:t>Photo: Rosser1954, CC BY-SA 4.0,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steam station is big. It has a water tower, coal loading, a signal box and a platform.</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STATIONS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Servicing takes time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Servicing steps" descr="Nine servicing steps: approach slowly, settle into the dock, a long hiss of steam, coal chutes in, the water arm swings round, the machinery finds the hatches, wait while it fills, the machinery folds away (proposed), depart."/>
          <p:cNvGrpSpPr/>
          <p:nvPr/>
        </p:nvGrpSpPr>
        <p:grpSpPr>
          <a:xfrm>
            <a:off x="548640" y="1325880"/>
            <a:ext cx="11082528" cy="2971800"/>
            <a:chOff x="548640" y="1325880"/>
            <a:chExt cx="11082528" cy="2971800"/>
          </a:xfrm>
        </p:grpSpPr>
        <p:sp>
          <p:nvSpPr>
            <p:cNvPr id="9" name="Rounded Rectangle 8"/>
            <p:cNvSpPr/>
            <p:nvPr/>
          </p:nvSpPr>
          <p:spPr>
            <a:xfrm>
              <a:off x="548640" y="1325880"/>
              <a:ext cx="2011680" cy="1325880"/>
            </a:xfrm>
            <a:prstGeom prst="roundRect">
              <a:avLst>
                <a:gd name="adj" fmla="val 5517"/>
              </a:avLst>
            </a:prstGeom>
            <a:solidFill>
              <a:srgbClr val="2B2F36"/>
            </a:solidFill>
            <a:ln>
              <a:noFill/>
            </a:ln>
          </p:spPr>
          <p:txBody>
            <a:bodyPr rtlCol="0" anchor="ctr"/>
            <a:lstStyle/>
            <a:p>
              <a:pPr algn="ctr"/>
            </a:p>
          </p:txBody>
        </p:sp>
        <p:sp>
          <p:nvSpPr>
            <p:cNvPr id="10" name="Badge 1"/>
            <p:cNvSpPr/>
            <p:nvPr/>
          </p:nvSpPr>
          <p:spPr>
            <a:xfrm>
              <a:off x="640080" y="141732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1</a:t>
              </a:r>
            </a:p>
          </p:txBody>
        </p:sp>
        <p:cxnSp>
          <p:nvCxnSpPr>
            <p:cNvPr id="11" name="Connector 10"/>
            <p:cNvCxnSpPr/>
            <p:nvPr/>
          </p:nvCxnSpPr>
          <p:spPr>
            <a:xfrm>
              <a:off x="1463040" y="1709928"/>
              <a:ext cx="640080" cy="0"/>
            </a:xfrm>
            <a:prstGeom prst="line">
              <a:avLst/>
            </a:prstGeom>
            <a:ln w="38100">
              <a:solidFill>
                <a:srgbClr val="F28C28"/>
              </a:solidFill>
              <a:tailEnd type="triangle" w="lg" len="lg"/>
            </a:ln>
          </p:spPr>
        </p:cxnSp>
        <p:sp>
          <p:nvSpPr>
            <p:cNvPr id="12" name="TextBox 11"/>
            <p:cNvSpPr txBox="1"/>
            <p:nvPr/>
          </p:nvSpPr>
          <p:spPr>
            <a:xfrm>
              <a:off x="658368" y="203911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Approach slowly</a:t>
              </a:r>
            </a:p>
          </p:txBody>
        </p:sp>
        <p:sp>
          <p:nvSpPr>
            <p:cNvPr id="13" name="Rounded Rectangle 12"/>
            <p:cNvSpPr/>
            <p:nvPr/>
          </p:nvSpPr>
          <p:spPr>
            <a:xfrm>
              <a:off x="2816352" y="1325880"/>
              <a:ext cx="2011680" cy="1325880"/>
            </a:xfrm>
            <a:prstGeom prst="roundRect">
              <a:avLst>
                <a:gd name="adj" fmla="val 5517"/>
              </a:avLst>
            </a:prstGeom>
            <a:solidFill>
              <a:srgbClr val="2B2F36"/>
            </a:solidFill>
            <a:ln>
              <a:noFill/>
            </a:ln>
          </p:spPr>
          <p:txBody>
            <a:bodyPr rtlCol="0" anchor="ctr"/>
            <a:lstStyle/>
            <a:p>
              <a:pPr algn="ctr"/>
            </a:p>
          </p:txBody>
        </p:sp>
        <p:sp>
          <p:nvSpPr>
            <p:cNvPr id="14" name="Badge 2"/>
            <p:cNvSpPr/>
            <p:nvPr/>
          </p:nvSpPr>
          <p:spPr>
            <a:xfrm>
              <a:off x="2907792" y="141732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2</a:t>
              </a:r>
            </a:p>
          </p:txBody>
        </p:sp>
        <p:sp>
          <p:nvSpPr>
            <p:cNvPr id="15" name="Freeform 14"/>
            <p:cNvSpPr/>
            <p:nvPr/>
          </p:nvSpPr>
          <p:spPr>
            <a:xfrm>
              <a:off x="3730752" y="1527048"/>
              <a:ext cx="640080" cy="365760"/>
            </a:xfrm>
            <a:custGeom>
              <a:avLst/>
              <a:gdLst/>
              <a:ahLst/>
              <a:cxnLst/>
              <a:rect l="l" t="t" r="r" b="b"/>
              <a:pathLst>
                <a:path w="640080" h="365760">
                  <a:moveTo>
                    <a:pt x="0" y="0"/>
                  </a:moveTo>
                  <a:lnTo>
                    <a:pt x="0" y="365760"/>
                  </a:lnTo>
                  <a:lnTo>
                    <a:pt x="640080" y="365760"/>
                  </a:lnTo>
                  <a:lnTo>
                    <a:pt x="640080" y="0"/>
                  </a:lnTo>
                </a:path>
              </a:pathLst>
            </a:custGeom>
            <a:noFill/>
            <a:ln w="38100">
              <a:solidFill>
                <a:srgbClr val="F28C28"/>
              </a:solidFill>
            </a:ln>
          </p:spPr>
          <p:txBody>
            <a:bodyPr rtlCol="0" anchor="ctr"/>
            <a:lstStyle/>
            <a:p>
              <a:pPr algn="ctr"/>
            </a:p>
          </p:txBody>
        </p:sp>
        <p:sp>
          <p:nvSpPr>
            <p:cNvPr id="16" name="Rounded Rectangle 15"/>
            <p:cNvSpPr/>
            <p:nvPr/>
          </p:nvSpPr>
          <p:spPr>
            <a:xfrm>
              <a:off x="3849624" y="1664208"/>
              <a:ext cx="402336" cy="182880"/>
            </a:xfrm>
            <a:prstGeom prst="roundRect">
              <a:avLst>
                <a:gd name="adj" fmla="val 25000"/>
              </a:avLst>
            </a:prstGeom>
            <a:solidFill>
              <a:srgbClr val="F28C28"/>
            </a:solidFill>
            <a:ln>
              <a:noFill/>
            </a:ln>
          </p:spPr>
          <p:txBody>
            <a:bodyPr rtlCol="0" anchor="ctr"/>
            <a:lstStyle/>
            <a:p>
              <a:pPr algn="ctr"/>
            </a:p>
          </p:txBody>
        </p:sp>
        <p:sp>
          <p:nvSpPr>
            <p:cNvPr id="17" name="TextBox 16"/>
            <p:cNvSpPr txBox="1"/>
            <p:nvPr/>
          </p:nvSpPr>
          <p:spPr>
            <a:xfrm>
              <a:off x="2926080" y="203911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Settle into dock</a:t>
              </a:r>
            </a:p>
          </p:txBody>
        </p:sp>
        <p:sp>
          <p:nvSpPr>
            <p:cNvPr id="18" name="Rounded Rectangle 17"/>
            <p:cNvSpPr/>
            <p:nvPr/>
          </p:nvSpPr>
          <p:spPr>
            <a:xfrm>
              <a:off x="5084064" y="1325880"/>
              <a:ext cx="2011680" cy="1325880"/>
            </a:xfrm>
            <a:prstGeom prst="roundRect">
              <a:avLst>
                <a:gd name="adj" fmla="val 5517"/>
              </a:avLst>
            </a:prstGeom>
            <a:solidFill>
              <a:srgbClr val="2B2F36"/>
            </a:solidFill>
            <a:ln>
              <a:noFill/>
            </a:ln>
          </p:spPr>
          <p:txBody>
            <a:bodyPr rtlCol="0" anchor="ctr"/>
            <a:lstStyle/>
            <a:p>
              <a:pPr algn="ctr"/>
            </a:p>
          </p:txBody>
        </p:sp>
        <p:sp>
          <p:nvSpPr>
            <p:cNvPr id="19" name="Badge 3"/>
            <p:cNvSpPr/>
            <p:nvPr/>
          </p:nvSpPr>
          <p:spPr>
            <a:xfrm>
              <a:off x="5175504" y="141732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3</a:t>
              </a:r>
            </a:p>
          </p:txBody>
        </p:sp>
        <p:sp>
          <p:nvSpPr>
            <p:cNvPr id="20" name="Oval 19"/>
            <p:cNvSpPr/>
            <p:nvPr/>
          </p:nvSpPr>
          <p:spPr>
            <a:xfrm>
              <a:off x="5998464" y="1742389"/>
              <a:ext cx="237744" cy="154534"/>
            </a:xfrm>
            <a:prstGeom prst="ellipse">
              <a:avLst/>
            </a:prstGeom>
            <a:solidFill>
              <a:srgbClr val="D4D5D6"/>
            </a:solidFill>
            <a:ln>
              <a:noFill/>
            </a:ln>
          </p:spPr>
          <p:txBody>
            <a:bodyPr rtlCol="0" anchor="ctr"/>
            <a:lstStyle/>
            <a:p>
              <a:pPr algn="ctr"/>
            </a:p>
          </p:txBody>
        </p:sp>
        <p:sp>
          <p:nvSpPr>
            <p:cNvPr id="21" name="Oval 20"/>
            <p:cNvSpPr/>
            <p:nvPr/>
          </p:nvSpPr>
          <p:spPr>
            <a:xfrm>
              <a:off x="6172200" y="1596542"/>
              <a:ext cx="292608" cy="190195"/>
            </a:xfrm>
            <a:prstGeom prst="ellipse">
              <a:avLst/>
            </a:prstGeom>
            <a:solidFill>
              <a:srgbClr val="D4D5D6"/>
            </a:solidFill>
            <a:ln>
              <a:noFill/>
            </a:ln>
          </p:spPr>
          <p:txBody>
            <a:bodyPr rtlCol="0" anchor="ctr"/>
            <a:lstStyle/>
            <a:p>
              <a:pPr algn="ctr"/>
            </a:p>
          </p:txBody>
        </p:sp>
        <p:sp>
          <p:nvSpPr>
            <p:cNvPr id="22" name="Oval 21"/>
            <p:cNvSpPr/>
            <p:nvPr/>
          </p:nvSpPr>
          <p:spPr>
            <a:xfrm>
              <a:off x="6364224" y="1450696"/>
              <a:ext cx="347472" cy="225857"/>
            </a:xfrm>
            <a:prstGeom prst="ellipse">
              <a:avLst/>
            </a:prstGeom>
            <a:solidFill>
              <a:srgbClr val="D4D5D6"/>
            </a:solidFill>
            <a:ln>
              <a:noFill/>
            </a:ln>
          </p:spPr>
          <p:txBody>
            <a:bodyPr rtlCol="0" anchor="ctr"/>
            <a:lstStyle/>
            <a:p>
              <a:pPr algn="ctr"/>
            </a:p>
          </p:txBody>
        </p:sp>
        <p:sp>
          <p:nvSpPr>
            <p:cNvPr id="23" name="TextBox 22"/>
            <p:cNvSpPr txBox="1"/>
            <p:nvPr/>
          </p:nvSpPr>
          <p:spPr>
            <a:xfrm>
              <a:off x="5193792" y="203911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Long steam hiss</a:t>
              </a:r>
            </a:p>
          </p:txBody>
        </p:sp>
        <p:sp>
          <p:nvSpPr>
            <p:cNvPr id="24" name="Rounded Rectangle 23"/>
            <p:cNvSpPr/>
            <p:nvPr/>
          </p:nvSpPr>
          <p:spPr>
            <a:xfrm>
              <a:off x="7351776" y="1325880"/>
              <a:ext cx="2011680" cy="1325880"/>
            </a:xfrm>
            <a:prstGeom prst="roundRect">
              <a:avLst>
                <a:gd name="adj" fmla="val 5517"/>
              </a:avLst>
            </a:prstGeom>
            <a:solidFill>
              <a:srgbClr val="2B2F36"/>
            </a:solidFill>
            <a:ln>
              <a:noFill/>
            </a:ln>
          </p:spPr>
          <p:txBody>
            <a:bodyPr rtlCol="0" anchor="ctr"/>
            <a:lstStyle/>
            <a:p>
              <a:pPr algn="ctr"/>
            </a:p>
          </p:txBody>
        </p:sp>
        <p:sp>
          <p:nvSpPr>
            <p:cNvPr id="25" name="Badge 4"/>
            <p:cNvSpPr/>
            <p:nvPr/>
          </p:nvSpPr>
          <p:spPr>
            <a:xfrm>
              <a:off x="7443216" y="141732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4</a:t>
              </a:r>
            </a:p>
          </p:txBody>
        </p:sp>
        <p:sp>
          <p:nvSpPr>
            <p:cNvPr id="26" name="Freeform 25"/>
            <p:cNvSpPr/>
            <p:nvPr/>
          </p:nvSpPr>
          <p:spPr>
            <a:xfrm>
              <a:off x="8266176" y="1481328"/>
              <a:ext cx="594360" cy="365760"/>
            </a:xfrm>
            <a:custGeom>
              <a:avLst/>
              <a:gdLst/>
              <a:ahLst/>
              <a:cxnLst/>
              <a:rect l="l" t="t" r="r" b="b"/>
              <a:pathLst>
                <a:path w="594360" h="365760">
                  <a:moveTo>
                    <a:pt x="0" y="0"/>
                  </a:moveTo>
                  <a:lnTo>
                    <a:pt x="182880" y="0"/>
                  </a:lnTo>
                  <a:lnTo>
                    <a:pt x="594360" y="365760"/>
                  </a:lnTo>
                  <a:lnTo>
                    <a:pt x="411480" y="365760"/>
                  </a:lnTo>
                  <a:close/>
                </a:path>
              </a:pathLst>
            </a:custGeom>
            <a:solidFill>
              <a:srgbClr val="9AA0A6"/>
            </a:solidFill>
            <a:ln>
              <a:noFill/>
            </a:ln>
          </p:spPr>
          <p:txBody>
            <a:bodyPr rtlCol="0" anchor="ctr"/>
            <a:lstStyle/>
            <a:p>
              <a:pPr algn="ctr"/>
            </a:p>
          </p:txBody>
        </p:sp>
        <p:sp>
          <p:nvSpPr>
            <p:cNvPr id="27" name="Freeform 26"/>
            <p:cNvSpPr/>
            <p:nvPr/>
          </p:nvSpPr>
          <p:spPr>
            <a:xfrm>
              <a:off x="8238744" y="1353312"/>
              <a:ext cx="329184" cy="128016"/>
            </a:xfrm>
            <a:custGeom>
              <a:avLst/>
              <a:gdLst/>
              <a:ahLst/>
              <a:cxnLst/>
              <a:rect l="l" t="t" r="r" b="b"/>
              <a:pathLst>
                <a:path w="329184" h="128016">
                  <a:moveTo>
                    <a:pt x="0" y="128016"/>
                  </a:moveTo>
                  <a:lnTo>
                    <a:pt x="59253" y="51206"/>
                  </a:lnTo>
                  <a:lnTo>
                    <a:pt x="125090" y="19202"/>
                  </a:lnTo>
                  <a:lnTo>
                    <a:pt x="181051" y="0"/>
                  </a:lnTo>
                  <a:lnTo>
                    <a:pt x="246888" y="38405"/>
                  </a:lnTo>
                  <a:lnTo>
                    <a:pt x="302849" y="76810"/>
                  </a:lnTo>
                  <a:lnTo>
                    <a:pt x="329184" y="128016"/>
                  </a:lnTo>
                  <a:close/>
                </a:path>
              </a:pathLst>
            </a:custGeom>
            <a:solidFill>
              <a:srgbClr val="1B1D21"/>
            </a:solidFill>
            <a:ln w="25400">
              <a:solidFill>
                <a:srgbClr val="6B7078"/>
              </a:solidFill>
            </a:ln>
          </p:spPr>
          <p:txBody>
            <a:bodyPr rtlCol="0" anchor="ctr"/>
            <a:lstStyle/>
            <a:p>
              <a:pPr algn="ctr"/>
            </a:p>
          </p:txBody>
        </p:sp>
        <p:sp>
          <p:nvSpPr>
            <p:cNvPr id="28" name="TextBox 27"/>
            <p:cNvSpPr txBox="1"/>
            <p:nvPr/>
          </p:nvSpPr>
          <p:spPr>
            <a:xfrm>
              <a:off x="7461504" y="203911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Coal chutes in</a:t>
              </a:r>
            </a:p>
          </p:txBody>
        </p:sp>
        <p:sp>
          <p:nvSpPr>
            <p:cNvPr id="29" name="Rounded Rectangle 28"/>
            <p:cNvSpPr/>
            <p:nvPr/>
          </p:nvSpPr>
          <p:spPr>
            <a:xfrm>
              <a:off x="9619488" y="1325880"/>
              <a:ext cx="2011680" cy="1325880"/>
            </a:xfrm>
            <a:prstGeom prst="roundRect">
              <a:avLst>
                <a:gd name="adj" fmla="val 5517"/>
              </a:avLst>
            </a:prstGeom>
            <a:solidFill>
              <a:srgbClr val="2B2F36"/>
            </a:solidFill>
            <a:ln>
              <a:noFill/>
            </a:ln>
          </p:spPr>
          <p:txBody>
            <a:bodyPr rtlCol="0" anchor="ctr"/>
            <a:lstStyle/>
            <a:p>
              <a:pPr algn="ctr"/>
            </a:p>
          </p:txBody>
        </p:sp>
        <p:sp>
          <p:nvSpPr>
            <p:cNvPr id="30" name="Badge 5"/>
            <p:cNvSpPr/>
            <p:nvPr/>
          </p:nvSpPr>
          <p:spPr>
            <a:xfrm>
              <a:off x="9710928" y="141732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5</a:t>
              </a:r>
            </a:p>
          </p:txBody>
        </p:sp>
        <p:sp>
          <p:nvSpPr>
            <p:cNvPr id="31" name="Freeform 30"/>
            <p:cNvSpPr/>
            <p:nvPr/>
          </p:nvSpPr>
          <p:spPr>
            <a:xfrm>
              <a:off x="10448005" y="1527758"/>
              <a:ext cx="640391" cy="301536"/>
            </a:xfrm>
            <a:custGeom>
              <a:avLst/>
              <a:gdLst/>
              <a:ahLst/>
              <a:cxnLst/>
              <a:rect l="l" t="t" r="r" b="b"/>
              <a:pathLst>
                <a:path w="640391" h="301536">
                  <a:moveTo>
                    <a:pt x="0" y="301536"/>
                  </a:moveTo>
                  <a:lnTo>
                    <a:pt x="14968" y="244247"/>
                  </a:lnTo>
                  <a:lnTo>
                    <a:pt x="38985" y="190124"/>
                  </a:lnTo>
                  <a:lnTo>
                    <a:pt x="71420" y="140585"/>
                  </a:lnTo>
                  <a:lnTo>
                    <a:pt x="111423" y="96929"/>
                  </a:lnTo>
                  <a:lnTo>
                    <a:pt x="157946" y="60300"/>
                  </a:lnTo>
                  <a:lnTo>
                    <a:pt x="209771" y="31658"/>
                  </a:lnTo>
                  <a:lnTo>
                    <a:pt x="265537" y="11753"/>
                  </a:lnTo>
                  <a:lnTo>
                    <a:pt x="323785" y="1108"/>
                  </a:lnTo>
                  <a:lnTo>
                    <a:pt x="382987" y="0"/>
                  </a:lnTo>
                  <a:lnTo>
                    <a:pt x="441592" y="8460"/>
                  </a:lnTo>
                  <a:lnTo>
                    <a:pt x="498064" y="26266"/>
                  </a:lnTo>
                  <a:lnTo>
                    <a:pt x="550923" y="52950"/>
                  </a:lnTo>
                  <a:lnTo>
                    <a:pt x="598784" y="87814"/>
                  </a:lnTo>
                  <a:lnTo>
                    <a:pt x="640391" y="129944"/>
                  </a:lnTo>
                </a:path>
              </a:pathLst>
            </a:custGeom>
            <a:noFill/>
            <a:ln w="38100">
              <a:solidFill>
                <a:srgbClr val="F28C28"/>
              </a:solidFill>
              <a:tailEnd type="triangle" w="lg" len="lg"/>
            </a:ln>
          </p:spPr>
          <p:txBody>
            <a:bodyPr rtlCol="0" anchor="ctr"/>
            <a:lstStyle/>
            <a:p>
              <a:pPr algn="ctr"/>
            </a:p>
          </p:txBody>
        </p:sp>
        <p:sp>
          <p:nvSpPr>
            <p:cNvPr id="32" name="Freeform 31"/>
            <p:cNvSpPr/>
            <p:nvPr/>
          </p:nvSpPr>
          <p:spPr>
            <a:xfrm>
              <a:off x="11056258" y="1719072"/>
              <a:ext cx="143980" cy="193121"/>
            </a:xfrm>
            <a:custGeom>
              <a:avLst/>
              <a:gdLst/>
              <a:ahLst/>
              <a:cxnLst/>
              <a:rect l="l" t="t" r="r" b="b"/>
              <a:pathLst>
                <a:path w="143980" h="193121">
                  <a:moveTo>
                    <a:pt x="3937" y="95932"/>
                  </a:moveTo>
                  <a:lnTo>
                    <a:pt x="0" y="112817"/>
                  </a:lnTo>
                  <a:lnTo>
                    <a:pt x="189" y="130154"/>
                  </a:lnTo>
                  <a:lnTo>
                    <a:pt x="4494" y="146949"/>
                  </a:lnTo>
                  <a:lnTo>
                    <a:pt x="12667" y="162239"/>
                  </a:lnTo>
                  <a:lnTo>
                    <a:pt x="24240" y="175149"/>
                  </a:lnTo>
                  <a:lnTo>
                    <a:pt x="38550" y="184939"/>
                  </a:lnTo>
                  <a:lnTo>
                    <a:pt x="54777" y="191046"/>
                  </a:lnTo>
                  <a:lnTo>
                    <a:pt x="71990" y="193121"/>
                  </a:lnTo>
                  <a:lnTo>
                    <a:pt x="89203" y="191046"/>
                  </a:lnTo>
                  <a:lnTo>
                    <a:pt x="105430" y="184939"/>
                  </a:lnTo>
                  <a:lnTo>
                    <a:pt x="119740" y="175149"/>
                  </a:lnTo>
                  <a:lnTo>
                    <a:pt x="131313" y="162239"/>
                  </a:lnTo>
                  <a:lnTo>
                    <a:pt x="139486" y="146949"/>
                  </a:lnTo>
                  <a:lnTo>
                    <a:pt x="143791" y="130154"/>
                  </a:lnTo>
                  <a:lnTo>
                    <a:pt x="143980" y="112817"/>
                  </a:lnTo>
                  <a:lnTo>
                    <a:pt x="140043" y="95932"/>
                  </a:lnTo>
                  <a:lnTo>
                    <a:pt x="71990" y="0"/>
                  </a:lnTo>
                  <a:close/>
                </a:path>
              </a:pathLst>
            </a:custGeom>
            <a:solidFill>
              <a:srgbClr val="4DA3FF"/>
            </a:solidFill>
            <a:ln>
              <a:noFill/>
            </a:ln>
          </p:spPr>
          <p:txBody>
            <a:bodyPr rtlCol="0" anchor="ctr"/>
            <a:lstStyle/>
            <a:p>
              <a:pPr algn="ctr"/>
            </a:p>
          </p:txBody>
        </p:sp>
        <p:sp>
          <p:nvSpPr>
            <p:cNvPr id="33" name="TextBox 32"/>
            <p:cNvSpPr txBox="1"/>
            <p:nvPr/>
          </p:nvSpPr>
          <p:spPr>
            <a:xfrm>
              <a:off x="9729216" y="203911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Water arm swings</a:t>
              </a:r>
            </a:p>
          </p:txBody>
        </p:sp>
        <p:sp>
          <p:nvSpPr>
            <p:cNvPr id="34" name="Rounded Rectangle 33"/>
            <p:cNvSpPr/>
            <p:nvPr/>
          </p:nvSpPr>
          <p:spPr>
            <a:xfrm>
              <a:off x="9619488" y="2971800"/>
              <a:ext cx="2011680" cy="1325880"/>
            </a:xfrm>
            <a:prstGeom prst="roundRect">
              <a:avLst>
                <a:gd name="adj" fmla="val 5517"/>
              </a:avLst>
            </a:prstGeom>
            <a:solidFill>
              <a:srgbClr val="2B2F36"/>
            </a:solidFill>
            <a:ln>
              <a:noFill/>
            </a:ln>
          </p:spPr>
          <p:txBody>
            <a:bodyPr rtlCol="0" anchor="ctr"/>
            <a:lstStyle/>
            <a:p>
              <a:pPr algn="ctr"/>
            </a:p>
          </p:txBody>
        </p:sp>
        <p:sp>
          <p:nvSpPr>
            <p:cNvPr id="35" name="Badge 6"/>
            <p:cNvSpPr/>
            <p:nvPr/>
          </p:nvSpPr>
          <p:spPr>
            <a:xfrm>
              <a:off x="9710928" y="306324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6</a:t>
              </a:r>
            </a:p>
          </p:txBody>
        </p:sp>
        <p:sp>
          <p:nvSpPr>
            <p:cNvPr id="36" name="Oval 35"/>
            <p:cNvSpPr/>
            <p:nvPr/>
          </p:nvSpPr>
          <p:spPr>
            <a:xfrm>
              <a:off x="10533888" y="3218688"/>
              <a:ext cx="274320" cy="274320"/>
            </a:xfrm>
            <a:prstGeom prst="ellipse">
              <a:avLst/>
            </a:prstGeom>
            <a:noFill/>
            <a:ln w="25400">
              <a:solidFill>
                <a:srgbClr val="F28C28"/>
              </a:solidFill>
            </a:ln>
          </p:spPr>
          <p:txBody>
            <a:bodyPr rtlCol="0" anchor="ctr"/>
            <a:lstStyle/>
            <a:p>
              <a:pPr algn="ctr"/>
            </a:p>
          </p:txBody>
        </p:sp>
        <p:cxnSp>
          <p:nvCxnSpPr>
            <p:cNvPr id="37" name="Connector 36"/>
            <p:cNvCxnSpPr/>
            <p:nvPr/>
          </p:nvCxnSpPr>
          <p:spPr>
            <a:xfrm>
              <a:off x="10488168" y="3355848"/>
              <a:ext cx="365760" cy="0"/>
            </a:xfrm>
            <a:prstGeom prst="line">
              <a:avLst/>
            </a:prstGeom>
            <a:ln w="19050">
              <a:solidFill>
                <a:srgbClr val="F28C28"/>
              </a:solidFill>
            </a:ln>
          </p:spPr>
        </p:cxnSp>
        <p:cxnSp>
          <p:nvCxnSpPr>
            <p:cNvPr id="38" name="Connector 37"/>
            <p:cNvCxnSpPr/>
            <p:nvPr/>
          </p:nvCxnSpPr>
          <p:spPr>
            <a:xfrm>
              <a:off x="10671048" y="3172968"/>
              <a:ext cx="0" cy="365760"/>
            </a:xfrm>
            <a:prstGeom prst="line">
              <a:avLst/>
            </a:prstGeom>
            <a:ln w="19050">
              <a:solidFill>
                <a:srgbClr val="F28C28"/>
              </a:solidFill>
            </a:ln>
          </p:spPr>
        </p:cxnSp>
        <p:sp>
          <p:nvSpPr>
            <p:cNvPr id="39" name="Oval 38"/>
            <p:cNvSpPr/>
            <p:nvPr/>
          </p:nvSpPr>
          <p:spPr>
            <a:xfrm>
              <a:off x="10899648" y="3218688"/>
              <a:ext cx="274320" cy="274320"/>
            </a:xfrm>
            <a:prstGeom prst="ellipse">
              <a:avLst/>
            </a:prstGeom>
            <a:noFill/>
            <a:ln w="25400">
              <a:solidFill>
                <a:srgbClr val="F28C28"/>
              </a:solidFill>
            </a:ln>
          </p:spPr>
          <p:txBody>
            <a:bodyPr rtlCol="0" anchor="ctr"/>
            <a:lstStyle/>
            <a:p>
              <a:pPr algn="ctr"/>
            </a:p>
          </p:txBody>
        </p:sp>
        <p:cxnSp>
          <p:nvCxnSpPr>
            <p:cNvPr id="40" name="Connector 39"/>
            <p:cNvCxnSpPr/>
            <p:nvPr/>
          </p:nvCxnSpPr>
          <p:spPr>
            <a:xfrm>
              <a:off x="10853928" y="3355848"/>
              <a:ext cx="365760" cy="0"/>
            </a:xfrm>
            <a:prstGeom prst="line">
              <a:avLst/>
            </a:prstGeom>
            <a:ln w="19050">
              <a:solidFill>
                <a:srgbClr val="F28C28"/>
              </a:solidFill>
            </a:ln>
          </p:spPr>
        </p:cxnSp>
        <p:cxnSp>
          <p:nvCxnSpPr>
            <p:cNvPr id="41" name="Connector 40"/>
            <p:cNvCxnSpPr/>
            <p:nvPr/>
          </p:nvCxnSpPr>
          <p:spPr>
            <a:xfrm>
              <a:off x="11036808" y="3172968"/>
              <a:ext cx="0" cy="365760"/>
            </a:xfrm>
            <a:prstGeom prst="line">
              <a:avLst/>
            </a:prstGeom>
            <a:ln w="19050">
              <a:solidFill>
                <a:srgbClr val="F28C28"/>
              </a:solidFill>
            </a:ln>
          </p:spPr>
        </p:cxnSp>
        <p:sp>
          <p:nvSpPr>
            <p:cNvPr id="42" name="TextBox 41"/>
            <p:cNvSpPr txBox="1"/>
            <p:nvPr/>
          </p:nvSpPr>
          <p:spPr>
            <a:xfrm>
              <a:off x="9729216" y="368503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Finds the hatches</a:t>
              </a:r>
            </a:p>
          </p:txBody>
        </p:sp>
        <p:sp>
          <p:nvSpPr>
            <p:cNvPr id="43" name="Rounded Rectangle 42"/>
            <p:cNvSpPr/>
            <p:nvPr/>
          </p:nvSpPr>
          <p:spPr>
            <a:xfrm>
              <a:off x="7351776" y="2971800"/>
              <a:ext cx="2011680" cy="1325880"/>
            </a:xfrm>
            <a:prstGeom prst="roundRect">
              <a:avLst>
                <a:gd name="adj" fmla="val 5517"/>
              </a:avLst>
            </a:prstGeom>
            <a:solidFill>
              <a:srgbClr val="2B2F36"/>
            </a:solidFill>
            <a:ln>
              <a:noFill/>
            </a:ln>
          </p:spPr>
          <p:txBody>
            <a:bodyPr rtlCol="0" anchor="ctr"/>
            <a:lstStyle/>
            <a:p>
              <a:pPr algn="ctr"/>
            </a:p>
          </p:txBody>
        </p:sp>
        <p:sp>
          <p:nvSpPr>
            <p:cNvPr id="44" name="Badge 7"/>
            <p:cNvSpPr/>
            <p:nvPr/>
          </p:nvSpPr>
          <p:spPr>
            <a:xfrm>
              <a:off x="7443216" y="306324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7</a:t>
              </a:r>
            </a:p>
          </p:txBody>
        </p:sp>
        <p:sp>
          <p:nvSpPr>
            <p:cNvPr id="45" name="Oval 44"/>
            <p:cNvSpPr/>
            <p:nvPr/>
          </p:nvSpPr>
          <p:spPr>
            <a:xfrm>
              <a:off x="8357616" y="3127248"/>
              <a:ext cx="457200" cy="457200"/>
            </a:xfrm>
            <a:prstGeom prst="ellipse">
              <a:avLst/>
            </a:prstGeom>
            <a:noFill/>
            <a:ln w="31750">
              <a:solidFill>
                <a:srgbClr val="F28C28"/>
              </a:solidFill>
            </a:ln>
          </p:spPr>
          <p:txBody>
            <a:bodyPr rtlCol="0" anchor="ctr"/>
            <a:lstStyle/>
            <a:p>
              <a:pPr algn="ctr"/>
            </a:p>
          </p:txBody>
        </p:sp>
        <p:cxnSp>
          <p:nvCxnSpPr>
            <p:cNvPr id="46" name="Connector 45"/>
            <p:cNvCxnSpPr/>
            <p:nvPr/>
          </p:nvCxnSpPr>
          <p:spPr>
            <a:xfrm flipV="1">
              <a:off x="8586216" y="3200400"/>
              <a:ext cx="0" cy="155448"/>
            </a:xfrm>
            <a:prstGeom prst="line">
              <a:avLst/>
            </a:prstGeom>
            <a:ln w="31750">
              <a:solidFill>
                <a:srgbClr val="F2F2F2"/>
              </a:solidFill>
            </a:ln>
          </p:spPr>
        </p:cxnSp>
        <p:cxnSp>
          <p:nvCxnSpPr>
            <p:cNvPr id="47" name="Connector 46"/>
            <p:cNvCxnSpPr/>
            <p:nvPr/>
          </p:nvCxnSpPr>
          <p:spPr>
            <a:xfrm>
              <a:off x="8586216" y="3355848"/>
              <a:ext cx="118872" cy="54864"/>
            </a:xfrm>
            <a:prstGeom prst="line">
              <a:avLst/>
            </a:prstGeom>
            <a:ln w="31750">
              <a:solidFill>
                <a:srgbClr val="F2F2F2"/>
              </a:solidFill>
            </a:ln>
          </p:spPr>
        </p:cxnSp>
        <p:sp>
          <p:nvSpPr>
            <p:cNvPr id="48" name="TextBox 47"/>
            <p:cNvSpPr txBox="1"/>
            <p:nvPr/>
          </p:nvSpPr>
          <p:spPr>
            <a:xfrm>
              <a:off x="7461504" y="368503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Wait while it fills</a:t>
              </a:r>
            </a:p>
          </p:txBody>
        </p:sp>
        <p:sp>
          <p:nvSpPr>
            <p:cNvPr id="49" name="Rounded Rectangle 48"/>
            <p:cNvSpPr/>
            <p:nvPr/>
          </p:nvSpPr>
          <p:spPr>
            <a:xfrm>
              <a:off x="5084064" y="2971800"/>
              <a:ext cx="2011680" cy="1325880"/>
            </a:xfrm>
            <a:prstGeom prst="roundRect">
              <a:avLst>
                <a:gd name="adj" fmla="val 5517"/>
              </a:avLst>
            </a:prstGeom>
            <a:solidFill>
              <a:srgbClr val="2B2F36"/>
            </a:solidFill>
            <a:ln>
              <a:noFill/>
            </a:ln>
          </p:spPr>
          <p:txBody>
            <a:bodyPr rtlCol="0" anchor="ctr"/>
            <a:lstStyle/>
            <a:p>
              <a:pPr algn="ctr"/>
            </a:p>
          </p:txBody>
        </p:sp>
        <p:sp>
          <p:nvSpPr>
            <p:cNvPr id="50" name="Badge 8"/>
            <p:cNvSpPr/>
            <p:nvPr/>
          </p:nvSpPr>
          <p:spPr>
            <a:xfrm>
              <a:off x="5175504" y="306324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8</a:t>
              </a:r>
            </a:p>
          </p:txBody>
        </p:sp>
        <p:cxnSp>
          <p:nvCxnSpPr>
            <p:cNvPr id="51" name="Connector 50"/>
            <p:cNvCxnSpPr/>
            <p:nvPr/>
          </p:nvCxnSpPr>
          <p:spPr>
            <a:xfrm flipH="1">
              <a:off x="6044184" y="3218688"/>
              <a:ext cx="548640" cy="0"/>
            </a:xfrm>
            <a:prstGeom prst="line">
              <a:avLst/>
            </a:prstGeom>
            <a:ln w="38100">
              <a:solidFill>
                <a:srgbClr val="F28C28"/>
              </a:solidFill>
              <a:tailEnd type="triangle" w="lg" len="lg"/>
            </a:ln>
          </p:spPr>
        </p:cxnSp>
        <p:sp>
          <p:nvSpPr>
            <p:cNvPr id="52" name="Rectangle 51"/>
            <p:cNvSpPr/>
            <p:nvPr/>
          </p:nvSpPr>
          <p:spPr>
            <a:xfrm>
              <a:off x="5998464" y="3374136"/>
              <a:ext cx="640080" cy="128016"/>
            </a:xfrm>
            <a:prstGeom prst="rect">
              <a:avLst/>
            </a:prstGeom>
            <a:solidFill>
              <a:srgbClr val="9AA0A6"/>
            </a:solidFill>
            <a:ln>
              <a:noFill/>
            </a:ln>
          </p:spPr>
          <p:txBody>
            <a:bodyPr rtlCol="0" anchor="ctr"/>
            <a:lstStyle/>
            <a:p>
              <a:pPr algn="ctr"/>
            </a:p>
          </p:txBody>
        </p:sp>
        <p:sp>
          <p:nvSpPr>
            <p:cNvPr id="53" name="TextBox 52"/>
            <p:cNvSpPr txBox="1"/>
            <p:nvPr/>
          </p:nvSpPr>
          <p:spPr>
            <a:xfrm>
              <a:off x="5193792" y="368503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Folds away</a:t>
              </a:r>
            </a:p>
          </p:txBody>
        </p:sp>
        <p:sp>
          <p:nvSpPr>
            <p:cNvPr id="54" name="Inline chip Proposed"/>
            <p:cNvSpPr/>
            <p:nvPr/>
          </p:nvSpPr>
          <p:spPr>
            <a:xfrm>
              <a:off x="5667256" y="2807208"/>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55" name="Rounded Rectangle 54"/>
            <p:cNvSpPr/>
            <p:nvPr/>
          </p:nvSpPr>
          <p:spPr>
            <a:xfrm>
              <a:off x="2816352" y="2971800"/>
              <a:ext cx="2011680" cy="1325880"/>
            </a:xfrm>
            <a:prstGeom prst="roundRect">
              <a:avLst>
                <a:gd name="adj" fmla="val 5517"/>
              </a:avLst>
            </a:prstGeom>
            <a:solidFill>
              <a:srgbClr val="2B2F36"/>
            </a:solidFill>
            <a:ln>
              <a:noFill/>
            </a:ln>
          </p:spPr>
          <p:txBody>
            <a:bodyPr rtlCol="0" anchor="ctr"/>
            <a:lstStyle/>
            <a:p>
              <a:pPr algn="ctr"/>
            </a:p>
          </p:txBody>
        </p:sp>
        <p:sp>
          <p:nvSpPr>
            <p:cNvPr id="56" name="Badge 9"/>
            <p:cNvSpPr/>
            <p:nvPr/>
          </p:nvSpPr>
          <p:spPr>
            <a:xfrm>
              <a:off x="2907792" y="306324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9</a:t>
              </a:r>
            </a:p>
          </p:txBody>
        </p:sp>
        <p:sp>
          <p:nvSpPr>
            <p:cNvPr id="57" name="Rounded Rectangle 56"/>
            <p:cNvSpPr/>
            <p:nvPr/>
          </p:nvSpPr>
          <p:spPr>
            <a:xfrm>
              <a:off x="3730752" y="3218688"/>
              <a:ext cx="502920" cy="274320"/>
            </a:xfrm>
            <a:prstGeom prst="roundRect">
              <a:avLst>
                <a:gd name="adj" fmla="val 16666"/>
              </a:avLst>
            </a:prstGeom>
            <a:solidFill>
              <a:srgbClr val="F28C28"/>
            </a:solidFill>
            <a:ln>
              <a:noFill/>
            </a:ln>
          </p:spPr>
          <p:txBody>
            <a:bodyPr rtlCol="0" anchor="ctr"/>
            <a:lstStyle/>
            <a:p>
              <a:pPr algn="ctr"/>
            </a:p>
          </p:txBody>
        </p:sp>
        <p:sp>
          <p:nvSpPr>
            <p:cNvPr id="58" name="Rectangle 57"/>
            <p:cNvSpPr/>
            <p:nvPr/>
          </p:nvSpPr>
          <p:spPr>
            <a:xfrm>
              <a:off x="4096512" y="3081528"/>
              <a:ext cx="91440" cy="146304"/>
            </a:xfrm>
            <a:prstGeom prst="rect">
              <a:avLst/>
            </a:prstGeom>
            <a:solidFill>
              <a:srgbClr val="1B1D21"/>
            </a:solidFill>
            <a:ln>
              <a:noFill/>
            </a:ln>
          </p:spPr>
          <p:txBody>
            <a:bodyPr rtlCol="0" anchor="ctr"/>
            <a:lstStyle/>
            <a:p>
              <a:pPr algn="ctr"/>
            </a:p>
          </p:txBody>
        </p:sp>
        <p:cxnSp>
          <p:nvCxnSpPr>
            <p:cNvPr id="59" name="Connector 58"/>
            <p:cNvCxnSpPr/>
            <p:nvPr/>
          </p:nvCxnSpPr>
          <p:spPr>
            <a:xfrm>
              <a:off x="4251960" y="3355848"/>
              <a:ext cx="182880" cy="0"/>
            </a:xfrm>
            <a:prstGeom prst="line">
              <a:avLst/>
            </a:prstGeom>
            <a:ln w="31750">
              <a:solidFill>
                <a:srgbClr val="F2F2F2"/>
              </a:solidFill>
              <a:tailEnd type="triangle" w="lg" len="lg"/>
            </a:ln>
          </p:spPr>
        </p:cxnSp>
        <p:sp>
          <p:nvSpPr>
            <p:cNvPr id="60" name="TextBox 59"/>
            <p:cNvSpPr txBox="1"/>
            <p:nvPr/>
          </p:nvSpPr>
          <p:spPr>
            <a:xfrm>
              <a:off x="2926080" y="3685032"/>
              <a:ext cx="1792224" cy="548640"/>
            </a:xfrm>
            <a:prstGeom prst="rect">
              <a:avLst/>
            </a:prstGeom>
            <a:noFill/>
          </p:spPr>
          <p:txBody>
            <a:bodyPr wrap="square" lIns="0" tIns="0" rIns="0" bIns="0" anchor="ctr">
              <a:noAutofit/>
            </a:bodyPr>
            <a:lstStyle/>
            <a:p>
              <a:pPr algn="ctr"/>
              <a:r>
                <a:rPr sz="1600" b="0" i="0" lang="en-GB">
                  <a:solidFill>
                    <a:srgbClr val="F2F2F2"/>
                  </a:solidFill>
                  <a:latin typeface="Arial"/>
                </a:rPr>
                <a:t>Depart</a:t>
              </a:r>
            </a:p>
          </p:txBody>
        </p:sp>
        <p:cxnSp>
          <p:nvCxnSpPr>
            <p:cNvPr id="61" name="Connector 60"/>
            <p:cNvCxnSpPr/>
            <p:nvPr/>
          </p:nvCxnSpPr>
          <p:spPr>
            <a:xfrm>
              <a:off x="2587752" y="1984248"/>
              <a:ext cx="201168" cy="0"/>
            </a:xfrm>
            <a:prstGeom prst="line">
              <a:avLst/>
            </a:prstGeom>
            <a:ln w="28575">
              <a:solidFill>
                <a:srgbClr val="F28C28"/>
              </a:solidFill>
              <a:tailEnd type="triangle" w="lg" len="lg"/>
            </a:ln>
          </p:spPr>
        </p:cxnSp>
        <p:cxnSp>
          <p:nvCxnSpPr>
            <p:cNvPr id="62" name="Connector 61"/>
            <p:cNvCxnSpPr/>
            <p:nvPr/>
          </p:nvCxnSpPr>
          <p:spPr>
            <a:xfrm>
              <a:off x="4855464" y="1984248"/>
              <a:ext cx="201168" cy="0"/>
            </a:xfrm>
            <a:prstGeom prst="line">
              <a:avLst/>
            </a:prstGeom>
            <a:ln w="28575">
              <a:solidFill>
                <a:srgbClr val="F28C28"/>
              </a:solidFill>
              <a:tailEnd type="triangle" w="lg" len="lg"/>
            </a:ln>
          </p:spPr>
        </p:cxnSp>
        <p:cxnSp>
          <p:nvCxnSpPr>
            <p:cNvPr id="63" name="Connector 62"/>
            <p:cNvCxnSpPr/>
            <p:nvPr/>
          </p:nvCxnSpPr>
          <p:spPr>
            <a:xfrm>
              <a:off x="7123176" y="1984248"/>
              <a:ext cx="201168" cy="0"/>
            </a:xfrm>
            <a:prstGeom prst="line">
              <a:avLst/>
            </a:prstGeom>
            <a:ln w="28575">
              <a:solidFill>
                <a:srgbClr val="F28C28"/>
              </a:solidFill>
              <a:tailEnd type="triangle" w="lg" len="lg"/>
            </a:ln>
          </p:spPr>
        </p:cxnSp>
        <p:cxnSp>
          <p:nvCxnSpPr>
            <p:cNvPr id="64" name="Connector 63"/>
            <p:cNvCxnSpPr/>
            <p:nvPr/>
          </p:nvCxnSpPr>
          <p:spPr>
            <a:xfrm>
              <a:off x="9390888" y="1984248"/>
              <a:ext cx="201168" cy="0"/>
            </a:xfrm>
            <a:prstGeom prst="line">
              <a:avLst/>
            </a:prstGeom>
            <a:ln w="28575">
              <a:solidFill>
                <a:srgbClr val="F28C28"/>
              </a:solidFill>
              <a:tailEnd type="triangle" w="lg" len="lg"/>
            </a:ln>
          </p:spPr>
        </p:cxnSp>
        <p:cxnSp>
          <p:nvCxnSpPr>
            <p:cNvPr id="65" name="Connector 64"/>
            <p:cNvCxnSpPr/>
            <p:nvPr/>
          </p:nvCxnSpPr>
          <p:spPr>
            <a:xfrm>
              <a:off x="10625328" y="2679192"/>
              <a:ext cx="0" cy="265176"/>
            </a:xfrm>
            <a:prstGeom prst="line">
              <a:avLst/>
            </a:prstGeom>
            <a:ln w="28575">
              <a:solidFill>
                <a:srgbClr val="F28C28"/>
              </a:solidFill>
              <a:tailEnd type="triangle" w="lg" len="lg"/>
            </a:ln>
          </p:spPr>
        </p:cxnSp>
        <p:cxnSp>
          <p:nvCxnSpPr>
            <p:cNvPr id="66" name="Connector 65"/>
            <p:cNvCxnSpPr/>
            <p:nvPr/>
          </p:nvCxnSpPr>
          <p:spPr>
            <a:xfrm flipH="1">
              <a:off x="9390888" y="3630168"/>
              <a:ext cx="201168" cy="0"/>
            </a:xfrm>
            <a:prstGeom prst="line">
              <a:avLst/>
            </a:prstGeom>
            <a:ln w="28575">
              <a:solidFill>
                <a:srgbClr val="F28C28"/>
              </a:solidFill>
              <a:tailEnd type="triangle" w="lg" len="lg"/>
            </a:ln>
          </p:spPr>
        </p:cxnSp>
        <p:cxnSp>
          <p:nvCxnSpPr>
            <p:cNvPr id="67" name="Connector 66"/>
            <p:cNvCxnSpPr/>
            <p:nvPr/>
          </p:nvCxnSpPr>
          <p:spPr>
            <a:xfrm flipH="1">
              <a:off x="7123176" y="3630168"/>
              <a:ext cx="201168" cy="0"/>
            </a:xfrm>
            <a:prstGeom prst="line">
              <a:avLst/>
            </a:prstGeom>
            <a:ln w="28575">
              <a:solidFill>
                <a:srgbClr val="F28C28"/>
              </a:solidFill>
              <a:tailEnd type="triangle" w="lg" len="lg"/>
            </a:ln>
          </p:spPr>
        </p:cxnSp>
        <p:cxnSp>
          <p:nvCxnSpPr>
            <p:cNvPr id="68" name="Connector 67"/>
            <p:cNvCxnSpPr/>
            <p:nvPr/>
          </p:nvCxnSpPr>
          <p:spPr>
            <a:xfrm flipH="1">
              <a:off x="4855464" y="3630168"/>
              <a:ext cx="201168" cy="0"/>
            </a:xfrm>
            <a:prstGeom prst="line">
              <a:avLst/>
            </a:prstGeom>
            <a:ln w="28575">
              <a:solidFill>
                <a:srgbClr val="F28C28"/>
              </a:solidFill>
              <a:tailEnd type="triangle" w="lg" len="lg"/>
            </a:ln>
          </p:spPr>
        </p:cxnSp>
      </p:grpSp>
      <p:grpSp>
        <p:nvGrpSpPr>
          <p:cNvPr id="69" name="Stop time" descr="Qualitative stop-time bars: a long stop for empty tanks, a short stop for a small top-up. Rates and times are proposed or provisional."/>
          <p:cNvGrpSpPr/>
          <p:nvPr/>
        </p:nvGrpSpPr>
        <p:grpSpPr>
          <a:xfrm>
            <a:off x="676656" y="4480560"/>
            <a:ext cx="7644384" cy="594360"/>
            <a:chOff x="676656" y="4480560"/>
            <a:chExt cx="7644384" cy="594360"/>
          </a:xfrm>
        </p:grpSpPr>
        <p:sp>
          <p:nvSpPr>
            <p:cNvPr id="70" name="Oval 69"/>
            <p:cNvSpPr/>
            <p:nvPr/>
          </p:nvSpPr>
          <p:spPr>
            <a:xfrm>
              <a:off x="676656" y="4562856"/>
              <a:ext cx="384048" cy="384048"/>
            </a:xfrm>
            <a:prstGeom prst="ellipse">
              <a:avLst/>
            </a:prstGeom>
            <a:noFill/>
            <a:ln w="31750">
              <a:solidFill>
                <a:srgbClr val="F28C28"/>
              </a:solidFill>
            </a:ln>
          </p:spPr>
          <p:txBody>
            <a:bodyPr rtlCol="0" anchor="ctr"/>
            <a:lstStyle/>
            <a:p>
              <a:pPr algn="ctr"/>
            </a:p>
          </p:txBody>
        </p:sp>
        <p:cxnSp>
          <p:nvCxnSpPr>
            <p:cNvPr id="71" name="Connector 70"/>
            <p:cNvCxnSpPr/>
            <p:nvPr/>
          </p:nvCxnSpPr>
          <p:spPr>
            <a:xfrm flipV="1">
              <a:off x="868680" y="4626864"/>
              <a:ext cx="0" cy="128016"/>
            </a:xfrm>
            <a:prstGeom prst="line">
              <a:avLst/>
            </a:prstGeom>
            <a:ln w="25400">
              <a:solidFill>
                <a:srgbClr val="F2F2F2"/>
              </a:solidFill>
            </a:ln>
          </p:spPr>
        </p:cxnSp>
        <p:cxnSp>
          <p:nvCxnSpPr>
            <p:cNvPr id="72" name="Connector 71"/>
            <p:cNvCxnSpPr/>
            <p:nvPr/>
          </p:nvCxnSpPr>
          <p:spPr>
            <a:xfrm>
              <a:off x="868680" y="4754880"/>
              <a:ext cx="100584" cy="45720"/>
            </a:xfrm>
            <a:prstGeom prst="line">
              <a:avLst/>
            </a:prstGeom>
            <a:ln w="25400">
              <a:solidFill>
                <a:srgbClr val="F2F2F2"/>
              </a:solidFill>
            </a:ln>
          </p:spPr>
        </p:cxnSp>
        <p:sp>
          <p:nvSpPr>
            <p:cNvPr id="73" name="TextBox 72"/>
            <p:cNvSpPr txBox="1"/>
            <p:nvPr/>
          </p:nvSpPr>
          <p:spPr>
            <a:xfrm>
              <a:off x="1234440" y="4480560"/>
              <a:ext cx="1645920" cy="274320"/>
            </a:xfrm>
            <a:prstGeom prst="rect">
              <a:avLst/>
            </a:prstGeom>
            <a:noFill/>
          </p:spPr>
          <p:txBody>
            <a:bodyPr wrap="square" lIns="0" tIns="0" rIns="0" bIns="0" anchor="ctr">
              <a:noAutofit/>
            </a:bodyPr>
            <a:lstStyle/>
            <a:p>
              <a:pPr algn="l"/>
              <a:r>
                <a:rPr sz="1400" b="0" i="0" lang="en-GB">
                  <a:solidFill>
                    <a:srgbClr val="F2F2F2"/>
                  </a:solidFill>
                  <a:latin typeface="Arial"/>
                </a:rPr>
                <a:t>Empty tanks</a:t>
              </a:r>
            </a:p>
          </p:txBody>
        </p:sp>
        <p:sp>
          <p:nvSpPr>
            <p:cNvPr id="74" name="Rounded Rectangle 73"/>
            <p:cNvSpPr/>
            <p:nvPr/>
          </p:nvSpPr>
          <p:spPr>
            <a:xfrm>
              <a:off x="2834640" y="4526280"/>
              <a:ext cx="5486400" cy="182880"/>
            </a:xfrm>
            <a:prstGeom prst="roundRect">
              <a:avLst>
                <a:gd name="adj" fmla="val 20000"/>
              </a:avLst>
            </a:prstGeom>
            <a:solidFill>
              <a:srgbClr val="343A43"/>
            </a:solidFill>
            <a:ln>
              <a:noFill/>
            </a:ln>
          </p:spPr>
          <p:txBody>
            <a:bodyPr rtlCol="0" anchor="ctr"/>
            <a:lstStyle/>
            <a:p>
              <a:pPr algn="ctr"/>
            </a:p>
          </p:txBody>
        </p:sp>
        <p:sp>
          <p:nvSpPr>
            <p:cNvPr id="75" name="Rounded Rectangle 74"/>
            <p:cNvSpPr/>
            <p:nvPr/>
          </p:nvSpPr>
          <p:spPr>
            <a:xfrm>
              <a:off x="2834640" y="4526280"/>
              <a:ext cx="4937760" cy="182880"/>
            </a:xfrm>
            <a:prstGeom prst="roundRect">
              <a:avLst>
                <a:gd name="adj" fmla="val 20000"/>
              </a:avLst>
            </a:prstGeom>
            <a:solidFill>
              <a:srgbClr val="F28C28"/>
            </a:solidFill>
            <a:ln>
              <a:noFill/>
            </a:ln>
          </p:spPr>
          <p:txBody>
            <a:bodyPr rtlCol="0" anchor="ctr"/>
            <a:lstStyle/>
            <a:p>
              <a:pPr algn="ctr"/>
            </a:p>
          </p:txBody>
        </p:sp>
        <p:sp>
          <p:nvSpPr>
            <p:cNvPr id="76" name="TextBox 75"/>
            <p:cNvSpPr txBox="1"/>
            <p:nvPr/>
          </p:nvSpPr>
          <p:spPr>
            <a:xfrm>
              <a:off x="1234440" y="4800600"/>
              <a:ext cx="1645920" cy="274320"/>
            </a:xfrm>
            <a:prstGeom prst="rect">
              <a:avLst/>
            </a:prstGeom>
            <a:noFill/>
          </p:spPr>
          <p:txBody>
            <a:bodyPr wrap="square" lIns="0" tIns="0" rIns="0" bIns="0" anchor="ctr">
              <a:noAutofit/>
            </a:bodyPr>
            <a:lstStyle/>
            <a:p>
              <a:pPr algn="l"/>
              <a:r>
                <a:rPr sz="1400" b="0" i="0" lang="en-GB">
                  <a:solidFill>
                    <a:srgbClr val="F2F2F2"/>
                  </a:solidFill>
                  <a:latin typeface="Arial"/>
                </a:rPr>
                <a:t>Small top-up</a:t>
              </a:r>
            </a:p>
          </p:txBody>
        </p:sp>
        <p:sp>
          <p:nvSpPr>
            <p:cNvPr id="77" name="Rounded Rectangle 76"/>
            <p:cNvSpPr/>
            <p:nvPr/>
          </p:nvSpPr>
          <p:spPr>
            <a:xfrm>
              <a:off x="2834640" y="4846320"/>
              <a:ext cx="5486400" cy="182880"/>
            </a:xfrm>
            <a:prstGeom prst="roundRect">
              <a:avLst>
                <a:gd name="adj" fmla="val 20000"/>
              </a:avLst>
            </a:prstGeom>
            <a:solidFill>
              <a:srgbClr val="343A43"/>
            </a:solidFill>
            <a:ln>
              <a:noFill/>
            </a:ln>
          </p:spPr>
          <p:txBody>
            <a:bodyPr rtlCol="0" anchor="ctr"/>
            <a:lstStyle/>
            <a:p>
              <a:pPr algn="ctr"/>
            </a:p>
          </p:txBody>
        </p:sp>
        <p:sp>
          <p:nvSpPr>
            <p:cNvPr id="78" name="Rounded Rectangle 77"/>
            <p:cNvSpPr/>
            <p:nvPr/>
          </p:nvSpPr>
          <p:spPr>
            <a:xfrm>
              <a:off x="2834640" y="4846320"/>
              <a:ext cx="1188720" cy="182880"/>
            </a:xfrm>
            <a:prstGeom prst="roundRect">
              <a:avLst>
                <a:gd name="adj" fmla="val 20000"/>
              </a:avLst>
            </a:prstGeom>
            <a:solidFill>
              <a:srgbClr val="F28C28"/>
            </a:solidFill>
            <a:ln>
              <a:noFill/>
            </a:ln>
          </p:spPr>
          <p:txBody>
            <a:bodyPr rtlCol="0" anchor="ctr"/>
            <a:lstStyle/>
            <a:p>
              <a:pPr algn="ctr"/>
            </a:p>
          </p:txBody>
        </p:sp>
      </p:grpSp>
      <p:sp>
        <p:nvSpPr>
          <p:cNvPr id="79" name="TextBox 78"/>
          <p:cNvSpPr txBox="1"/>
          <p:nvPr/>
        </p:nvSpPr>
        <p:spPr>
          <a:xfrm>
            <a:off x="8549640" y="4462272"/>
            <a:ext cx="2011680" cy="292608"/>
          </a:xfrm>
          <a:prstGeom prst="rect">
            <a:avLst/>
          </a:prstGeom>
          <a:noFill/>
        </p:spPr>
        <p:txBody>
          <a:bodyPr wrap="square" lIns="0" tIns="0" rIns="0" bIns="0" anchor="ctr">
            <a:noAutofit/>
          </a:bodyPr>
          <a:lstStyle/>
          <a:p>
            <a:pPr algn="l"/>
            <a:r>
              <a:rPr sz="1400" b="0" i="0" lang="en-GB">
                <a:solidFill>
                  <a:srgbClr val="F2F2F2"/>
                </a:solidFill>
                <a:latin typeface="Arial"/>
              </a:rPr>
              <a:t>Rates and times:</a:t>
            </a:r>
          </a:p>
        </p:txBody>
      </p:sp>
      <p:sp>
        <p:nvSpPr>
          <p:cNvPr id="80" name="Inline chip Proposed"/>
          <p:cNvSpPr/>
          <p:nvPr/>
        </p:nvSpPr>
        <p:spPr>
          <a:xfrm>
            <a:off x="8549640" y="4773168"/>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81" name="Inline chip Provisional"/>
          <p:cNvSpPr/>
          <p:nvPr/>
        </p:nvSpPr>
        <p:spPr>
          <a:xfrm>
            <a:off x="10014704" y="4773168"/>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The machinery finds each engine's hatches. Servicing takes visible time. Then it folds away.</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STATIONS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Service points</a:t>
            </a:r>
          </a:p>
        </p:txBody>
      </p:sp>
      <p:sp>
        <p:nvSpPr>
          <p:cNvPr id="3" name="Status chip"/>
          <p:cNvSpPr/>
          <p:nvPr/>
        </p:nvSpPr>
        <p:spPr>
          <a:xfrm>
            <a:off x="10088575" y="457200"/>
            <a:ext cx="1554480" cy="365760"/>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nvGrpSpPr>
          <p:cNvPr id="9" name="Service point types" descr="Four proposed service point types: water tower, coaling stage, steam service point with water and coal, and full station with platform, water, coal and signal box."/>
          <p:cNvGrpSpPr/>
          <p:nvPr/>
        </p:nvGrpSpPr>
        <p:grpSpPr>
          <a:xfrm>
            <a:off x="548640" y="1371600"/>
            <a:ext cx="11091672" cy="2194560"/>
            <a:chOff x="548640" y="1371600"/>
            <a:chExt cx="11091672" cy="2194560"/>
          </a:xfrm>
        </p:grpSpPr>
        <p:sp>
          <p:nvSpPr>
            <p:cNvPr id="10" name="Rounded Rectangle 9"/>
            <p:cNvSpPr/>
            <p:nvPr/>
          </p:nvSpPr>
          <p:spPr>
            <a:xfrm>
              <a:off x="548640" y="1371600"/>
              <a:ext cx="2560320" cy="2194560"/>
            </a:xfrm>
            <a:prstGeom prst="roundRect">
              <a:avLst>
                <a:gd name="adj" fmla="val 4166"/>
              </a:avLst>
            </a:prstGeom>
            <a:solidFill>
              <a:srgbClr val="2B2F36"/>
            </a:solidFill>
            <a:ln>
              <a:noFill/>
            </a:ln>
          </p:spPr>
          <p:txBody>
            <a:bodyPr rtlCol="0" anchor="ctr"/>
            <a:lstStyle/>
            <a:p>
              <a:pPr algn="ctr"/>
            </a:p>
          </p:txBody>
        </p:sp>
        <p:sp>
          <p:nvSpPr>
            <p:cNvPr id="11" name="Freeform 10"/>
            <p:cNvSpPr/>
            <p:nvPr/>
          </p:nvSpPr>
          <p:spPr>
            <a:xfrm>
              <a:off x="1648825" y="2080260"/>
              <a:ext cx="359950" cy="482803"/>
            </a:xfrm>
            <a:custGeom>
              <a:avLst/>
              <a:gdLst/>
              <a:ahLst/>
              <a:cxnLst/>
              <a:rect l="l" t="t" r="r" b="b"/>
              <a:pathLst>
                <a:path w="359950" h="482803">
                  <a:moveTo>
                    <a:pt x="9843" y="239829"/>
                  </a:moveTo>
                  <a:lnTo>
                    <a:pt x="0" y="282042"/>
                  </a:lnTo>
                  <a:lnTo>
                    <a:pt x="473" y="325384"/>
                  </a:lnTo>
                  <a:lnTo>
                    <a:pt x="11234" y="367372"/>
                  </a:lnTo>
                  <a:lnTo>
                    <a:pt x="31667" y="405599"/>
                  </a:lnTo>
                  <a:lnTo>
                    <a:pt x="60600" y="437873"/>
                  </a:lnTo>
                  <a:lnTo>
                    <a:pt x="96375" y="462346"/>
                  </a:lnTo>
                  <a:lnTo>
                    <a:pt x="136942" y="477615"/>
                  </a:lnTo>
                  <a:lnTo>
                    <a:pt x="179975" y="482803"/>
                  </a:lnTo>
                  <a:lnTo>
                    <a:pt x="223008" y="477615"/>
                  </a:lnTo>
                  <a:lnTo>
                    <a:pt x="263575" y="462346"/>
                  </a:lnTo>
                  <a:lnTo>
                    <a:pt x="299350" y="437873"/>
                  </a:lnTo>
                  <a:lnTo>
                    <a:pt x="328283" y="405599"/>
                  </a:lnTo>
                  <a:lnTo>
                    <a:pt x="348716" y="367372"/>
                  </a:lnTo>
                  <a:lnTo>
                    <a:pt x="359477" y="325384"/>
                  </a:lnTo>
                  <a:lnTo>
                    <a:pt x="359950" y="282042"/>
                  </a:lnTo>
                  <a:lnTo>
                    <a:pt x="350107" y="239829"/>
                  </a:lnTo>
                  <a:lnTo>
                    <a:pt x="179975" y="0"/>
                  </a:lnTo>
                  <a:close/>
                </a:path>
              </a:pathLst>
            </a:custGeom>
            <a:solidFill>
              <a:srgbClr val="4DA3FF"/>
            </a:solidFill>
            <a:ln>
              <a:noFill/>
            </a:ln>
          </p:spPr>
          <p:txBody>
            <a:bodyPr rtlCol="0" anchor="ctr"/>
            <a:lstStyle/>
            <a:p>
              <a:pPr algn="ctr"/>
            </a:p>
          </p:txBody>
        </p:sp>
        <p:sp>
          <p:nvSpPr>
            <p:cNvPr id="12" name="TextBox 11"/>
            <p:cNvSpPr txBox="1"/>
            <p:nvPr/>
          </p:nvSpPr>
          <p:spPr>
            <a:xfrm>
              <a:off x="640080" y="2926080"/>
              <a:ext cx="2377440" cy="502920"/>
            </a:xfrm>
            <a:prstGeom prst="rect">
              <a:avLst/>
            </a:prstGeom>
            <a:noFill/>
          </p:spPr>
          <p:txBody>
            <a:bodyPr wrap="square" lIns="0" tIns="0" rIns="0" bIns="0" anchor="ctr">
              <a:noAutofit/>
            </a:bodyPr>
            <a:lstStyle/>
            <a:p>
              <a:pPr algn="ctr"/>
              <a:r>
                <a:rPr sz="1800" b="1" i="0" lang="en-GB">
                  <a:solidFill>
                    <a:srgbClr val="F2F2F2"/>
                  </a:solidFill>
                  <a:latin typeface="Arial"/>
                </a:rPr>
                <a:t>Water Tower</a:t>
              </a:r>
            </a:p>
          </p:txBody>
        </p:sp>
        <p:sp>
          <p:nvSpPr>
            <p:cNvPr id="13" name="Inline chip Proposed"/>
            <p:cNvSpPr/>
            <p:nvPr/>
          </p:nvSpPr>
          <p:spPr>
            <a:xfrm>
              <a:off x="1643896" y="1463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14" name="Rounded Rectangle 13"/>
            <p:cNvSpPr/>
            <p:nvPr/>
          </p:nvSpPr>
          <p:spPr>
            <a:xfrm>
              <a:off x="3392424" y="1371600"/>
              <a:ext cx="2560320" cy="2194560"/>
            </a:xfrm>
            <a:prstGeom prst="roundRect">
              <a:avLst>
                <a:gd name="adj" fmla="val 4166"/>
              </a:avLst>
            </a:prstGeom>
            <a:solidFill>
              <a:srgbClr val="2B2F36"/>
            </a:solidFill>
            <a:ln>
              <a:noFill/>
            </a:ln>
          </p:spPr>
          <p:txBody>
            <a:bodyPr rtlCol="0" anchor="ctr"/>
            <a:lstStyle/>
            <a:p>
              <a:pPr algn="ctr"/>
            </a:p>
          </p:txBody>
        </p:sp>
        <p:sp>
          <p:nvSpPr>
            <p:cNvPr id="15" name="Freeform 14"/>
            <p:cNvSpPr/>
            <p:nvPr/>
          </p:nvSpPr>
          <p:spPr>
            <a:xfrm>
              <a:off x="4329684" y="2176272"/>
              <a:ext cx="685800" cy="384048"/>
            </a:xfrm>
            <a:custGeom>
              <a:avLst/>
              <a:gdLst/>
              <a:ahLst/>
              <a:cxnLst/>
              <a:rect l="l" t="t" r="r" b="b"/>
              <a:pathLst>
                <a:path w="685800" h="384048">
                  <a:moveTo>
                    <a:pt x="0" y="384048"/>
                  </a:moveTo>
                  <a:lnTo>
                    <a:pt x="123444" y="153619"/>
                  </a:lnTo>
                  <a:lnTo>
                    <a:pt x="260604" y="57607"/>
                  </a:lnTo>
                  <a:lnTo>
                    <a:pt x="377190" y="0"/>
                  </a:lnTo>
                  <a:lnTo>
                    <a:pt x="514350" y="115214"/>
                  </a:lnTo>
                  <a:lnTo>
                    <a:pt x="630936" y="230429"/>
                  </a:lnTo>
                  <a:lnTo>
                    <a:pt x="685800" y="384048"/>
                  </a:lnTo>
                  <a:close/>
                </a:path>
              </a:pathLst>
            </a:custGeom>
            <a:solidFill>
              <a:srgbClr val="1B1D21"/>
            </a:solidFill>
            <a:ln w="25400">
              <a:solidFill>
                <a:srgbClr val="6B7078"/>
              </a:solidFill>
            </a:ln>
          </p:spPr>
          <p:txBody>
            <a:bodyPr rtlCol="0" anchor="ctr"/>
            <a:lstStyle/>
            <a:p>
              <a:pPr algn="ctr"/>
            </a:p>
          </p:txBody>
        </p:sp>
        <p:sp>
          <p:nvSpPr>
            <p:cNvPr id="16" name="TextBox 15"/>
            <p:cNvSpPr txBox="1"/>
            <p:nvPr/>
          </p:nvSpPr>
          <p:spPr>
            <a:xfrm>
              <a:off x="3483864" y="2926080"/>
              <a:ext cx="2377440" cy="502920"/>
            </a:xfrm>
            <a:prstGeom prst="rect">
              <a:avLst/>
            </a:prstGeom>
            <a:noFill/>
          </p:spPr>
          <p:txBody>
            <a:bodyPr wrap="square" lIns="0" tIns="0" rIns="0" bIns="0" anchor="ctr">
              <a:noAutofit/>
            </a:bodyPr>
            <a:lstStyle/>
            <a:p>
              <a:pPr algn="ctr"/>
              <a:r>
                <a:rPr sz="1800" b="1" i="0" lang="en-GB">
                  <a:solidFill>
                    <a:srgbClr val="F2F2F2"/>
                  </a:solidFill>
                  <a:latin typeface="Arial"/>
                </a:rPr>
                <a:t>Coaling Stage</a:t>
              </a:r>
            </a:p>
          </p:txBody>
        </p:sp>
        <p:sp>
          <p:nvSpPr>
            <p:cNvPr id="17" name="Inline chip Proposed"/>
            <p:cNvSpPr/>
            <p:nvPr/>
          </p:nvSpPr>
          <p:spPr>
            <a:xfrm>
              <a:off x="4487680" y="1463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18" name="Rounded Rectangle 17"/>
            <p:cNvSpPr/>
            <p:nvPr/>
          </p:nvSpPr>
          <p:spPr>
            <a:xfrm>
              <a:off x="6236208" y="1371600"/>
              <a:ext cx="2560320" cy="2194560"/>
            </a:xfrm>
            <a:prstGeom prst="roundRect">
              <a:avLst>
                <a:gd name="adj" fmla="val 4166"/>
              </a:avLst>
            </a:prstGeom>
            <a:solidFill>
              <a:srgbClr val="2B2F36"/>
            </a:solidFill>
            <a:ln>
              <a:noFill/>
            </a:ln>
          </p:spPr>
          <p:txBody>
            <a:bodyPr rtlCol="0" anchor="ctr"/>
            <a:lstStyle/>
            <a:p>
              <a:pPr algn="ctr"/>
            </a:p>
          </p:txBody>
        </p:sp>
        <p:sp>
          <p:nvSpPr>
            <p:cNvPr id="19" name="Freeform 18"/>
            <p:cNvSpPr/>
            <p:nvPr/>
          </p:nvSpPr>
          <p:spPr>
            <a:xfrm>
              <a:off x="7016353" y="2080260"/>
              <a:ext cx="359950" cy="482803"/>
            </a:xfrm>
            <a:custGeom>
              <a:avLst/>
              <a:gdLst/>
              <a:ahLst/>
              <a:cxnLst/>
              <a:rect l="l" t="t" r="r" b="b"/>
              <a:pathLst>
                <a:path w="359950" h="482803">
                  <a:moveTo>
                    <a:pt x="9843" y="239829"/>
                  </a:moveTo>
                  <a:lnTo>
                    <a:pt x="0" y="282042"/>
                  </a:lnTo>
                  <a:lnTo>
                    <a:pt x="473" y="325384"/>
                  </a:lnTo>
                  <a:lnTo>
                    <a:pt x="11234" y="367372"/>
                  </a:lnTo>
                  <a:lnTo>
                    <a:pt x="31667" y="405599"/>
                  </a:lnTo>
                  <a:lnTo>
                    <a:pt x="60600" y="437873"/>
                  </a:lnTo>
                  <a:lnTo>
                    <a:pt x="96375" y="462346"/>
                  </a:lnTo>
                  <a:lnTo>
                    <a:pt x="136942" y="477615"/>
                  </a:lnTo>
                  <a:lnTo>
                    <a:pt x="179975" y="482803"/>
                  </a:lnTo>
                  <a:lnTo>
                    <a:pt x="223008" y="477615"/>
                  </a:lnTo>
                  <a:lnTo>
                    <a:pt x="263575" y="462346"/>
                  </a:lnTo>
                  <a:lnTo>
                    <a:pt x="299350" y="437873"/>
                  </a:lnTo>
                  <a:lnTo>
                    <a:pt x="328283" y="405599"/>
                  </a:lnTo>
                  <a:lnTo>
                    <a:pt x="348716" y="367372"/>
                  </a:lnTo>
                  <a:lnTo>
                    <a:pt x="359477" y="325384"/>
                  </a:lnTo>
                  <a:lnTo>
                    <a:pt x="359950" y="282042"/>
                  </a:lnTo>
                  <a:lnTo>
                    <a:pt x="350107" y="239829"/>
                  </a:lnTo>
                  <a:lnTo>
                    <a:pt x="179975" y="0"/>
                  </a:lnTo>
                  <a:close/>
                </a:path>
              </a:pathLst>
            </a:custGeom>
            <a:solidFill>
              <a:srgbClr val="4DA3FF"/>
            </a:solidFill>
            <a:ln>
              <a:noFill/>
            </a:ln>
          </p:spPr>
          <p:txBody>
            <a:bodyPr rtlCol="0" anchor="ctr"/>
            <a:lstStyle/>
            <a:p>
              <a:pPr algn="ctr"/>
            </a:p>
          </p:txBody>
        </p:sp>
        <p:sp>
          <p:nvSpPr>
            <p:cNvPr id="20" name="Freeform 19"/>
            <p:cNvSpPr/>
            <p:nvPr/>
          </p:nvSpPr>
          <p:spPr>
            <a:xfrm>
              <a:off x="7493508" y="2176272"/>
              <a:ext cx="685800" cy="384048"/>
            </a:xfrm>
            <a:custGeom>
              <a:avLst/>
              <a:gdLst/>
              <a:ahLst/>
              <a:cxnLst/>
              <a:rect l="l" t="t" r="r" b="b"/>
              <a:pathLst>
                <a:path w="685800" h="384048">
                  <a:moveTo>
                    <a:pt x="0" y="384048"/>
                  </a:moveTo>
                  <a:lnTo>
                    <a:pt x="123444" y="153619"/>
                  </a:lnTo>
                  <a:lnTo>
                    <a:pt x="260604" y="57607"/>
                  </a:lnTo>
                  <a:lnTo>
                    <a:pt x="377190" y="0"/>
                  </a:lnTo>
                  <a:lnTo>
                    <a:pt x="514350" y="115214"/>
                  </a:lnTo>
                  <a:lnTo>
                    <a:pt x="630936" y="230429"/>
                  </a:lnTo>
                  <a:lnTo>
                    <a:pt x="685800" y="384048"/>
                  </a:lnTo>
                  <a:close/>
                </a:path>
              </a:pathLst>
            </a:custGeom>
            <a:solidFill>
              <a:srgbClr val="1B1D21"/>
            </a:solidFill>
            <a:ln w="25400">
              <a:solidFill>
                <a:srgbClr val="6B7078"/>
              </a:solidFill>
            </a:ln>
          </p:spPr>
          <p:txBody>
            <a:bodyPr rtlCol="0" anchor="ctr"/>
            <a:lstStyle/>
            <a:p>
              <a:pPr algn="ctr"/>
            </a:p>
          </p:txBody>
        </p:sp>
        <p:sp>
          <p:nvSpPr>
            <p:cNvPr id="21" name="TextBox 20"/>
            <p:cNvSpPr txBox="1"/>
            <p:nvPr/>
          </p:nvSpPr>
          <p:spPr>
            <a:xfrm>
              <a:off x="6327648" y="2926080"/>
              <a:ext cx="2377440" cy="502920"/>
            </a:xfrm>
            <a:prstGeom prst="rect">
              <a:avLst/>
            </a:prstGeom>
            <a:noFill/>
          </p:spPr>
          <p:txBody>
            <a:bodyPr wrap="square" lIns="0" tIns="0" rIns="0" bIns="0" anchor="ctr">
              <a:noAutofit/>
            </a:bodyPr>
            <a:lstStyle/>
            <a:p>
              <a:pPr algn="ctr"/>
              <a:r>
                <a:rPr sz="1800" b="1" i="0" lang="en-GB">
                  <a:solidFill>
                    <a:srgbClr val="F2F2F2"/>
                  </a:solidFill>
                  <a:latin typeface="Arial"/>
                </a:rPr>
                <a:t>Steam Service Point</a:t>
              </a:r>
            </a:p>
          </p:txBody>
        </p:sp>
        <p:sp>
          <p:nvSpPr>
            <p:cNvPr id="22" name="Inline chip Proposed"/>
            <p:cNvSpPr/>
            <p:nvPr/>
          </p:nvSpPr>
          <p:spPr>
            <a:xfrm>
              <a:off x="7331464" y="1463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23" name="Rounded Rectangle 22"/>
            <p:cNvSpPr/>
            <p:nvPr/>
          </p:nvSpPr>
          <p:spPr>
            <a:xfrm>
              <a:off x="9079992" y="1371600"/>
              <a:ext cx="2560320" cy="2194560"/>
            </a:xfrm>
            <a:prstGeom prst="roundRect">
              <a:avLst>
                <a:gd name="adj" fmla="val 4166"/>
              </a:avLst>
            </a:prstGeom>
            <a:solidFill>
              <a:srgbClr val="2B2F36"/>
            </a:solidFill>
            <a:ln>
              <a:noFill/>
            </a:ln>
          </p:spPr>
          <p:txBody>
            <a:bodyPr rtlCol="0" anchor="ctr"/>
            <a:lstStyle/>
            <a:p>
              <a:pPr algn="ctr"/>
            </a:p>
          </p:txBody>
        </p:sp>
        <p:sp>
          <p:nvSpPr>
            <p:cNvPr id="24" name="Freeform 23"/>
            <p:cNvSpPr/>
            <p:nvPr/>
          </p:nvSpPr>
          <p:spPr>
            <a:xfrm>
              <a:off x="9860137" y="2080260"/>
              <a:ext cx="359950" cy="482803"/>
            </a:xfrm>
            <a:custGeom>
              <a:avLst/>
              <a:gdLst/>
              <a:ahLst/>
              <a:cxnLst/>
              <a:rect l="l" t="t" r="r" b="b"/>
              <a:pathLst>
                <a:path w="359950" h="482803">
                  <a:moveTo>
                    <a:pt x="9843" y="239829"/>
                  </a:moveTo>
                  <a:lnTo>
                    <a:pt x="0" y="282042"/>
                  </a:lnTo>
                  <a:lnTo>
                    <a:pt x="473" y="325384"/>
                  </a:lnTo>
                  <a:lnTo>
                    <a:pt x="11234" y="367372"/>
                  </a:lnTo>
                  <a:lnTo>
                    <a:pt x="31667" y="405599"/>
                  </a:lnTo>
                  <a:lnTo>
                    <a:pt x="60600" y="437873"/>
                  </a:lnTo>
                  <a:lnTo>
                    <a:pt x="96375" y="462346"/>
                  </a:lnTo>
                  <a:lnTo>
                    <a:pt x="136942" y="477615"/>
                  </a:lnTo>
                  <a:lnTo>
                    <a:pt x="179975" y="482803"/>
                  </a:lnTo>
                  <a:lnTo>
                    <a:pt x="223008" y="477615"/>
                  </a:lnTo>
                  <a:lnTo>
                    <a:pt x="263575" y="462346"/>
                  </a:lnTo>
                  <a:lnTo>
                    <a:pt x="299350" y="437873"/>
                  </a:lnTo>
                  <a:lnTo>
                    <a:pt x="328283" y="405599"/>
                  </a:lnTo>
                  <a:lnTo>
                    <a:pt x="348716" y="367372"/>
                  </a:lnTo>
                  <a:lnTo>
                    <a:pt x="359477" y="325384"/>
                  </a:lnTo>
                  <a:lnTo>
                    <a:pt x="359950" y="282042"/>
                  </a:lnTo>
                  <a:lnTo>
                    <a:pt x="350107" y="239829"/>
                  </a:lnTo>
                  <a:lnTo>
                    <a:pt x="179975" y="0"/>
                  </a:lnTo>
                  <a:close/>
                </a:path>
              </a:pathLst>
            </a:custGeom>
            <a:solidFill>
              <a:srgbClr val="4DA3FF"/>
            </a:solidFill>
            <a:ln>
              <a:noFill/>
            </a:ln>
          </p:spPr>
          <p:txBody>
            <a:bodyPr rtlCol="0" anchor="ctr"/>
            <a:lstStyle/>
            <a:p>
              <a:pPr algn="ctr"/>
            </a:p>
          </p:txBody>
        </p:sp>
        <p:sp>
          <p:nvSpPr>
            <p:cNvPr id="25" name="Freeform 24"/>
            <p:cNvSpPr/>
            <p:nvPr/>
          </p:nvSpPr>
          <p:spPr>
            <a:xfrm>
              <a:off x="10337292" y="2176272"/>
              <a:ext cx="685800" cy="384048"/>
            </a:xfrm>
            <a:custGeom>
              <a:avLst/>
              <a:gdLst/>
              <a:ahLst/>
              <a:cxnLst/>
              <a:rect l="l" t="t" r="r" b="b"/>
              <a:pathLst>
                <a:path w="685800" h="384048">
                  <a:moveTo>
                    <a:pt x="0" y="384048"/>
                  </a:moveTo>
                  <a:lnTo>
                    <a:pt x="123444" y="153619"/>
                  </a:lnTo>
                  <a:lnTo>
                    <a:pt x="260604" y="57607"/>
                  </a:lnTo>
                  <a:lnTo>
                    <a:pt x="377190" y="0"/>
                  </a:lnTo>
                  <a:lnTo>
                    <a:pt x="514350" y="115214"/>
                  </a:lnTo>
                  <a:lnTo>
                    <a:pt x="630936" y="230429"/>
                  </a:lnTo>
                  <a:lnTo>
                    <a:pt x="685800" y="384048"/>
                  </a:lnTo>
                  <a:close/>
                </a:path>
              </a:pathLst>
            </a:custGeom>
            <a:solidFill>
              <a:srgbClr val="1B1D21"/>
            </a:solidFill>
            <a:ln w="25400">
              <a:solidFill>
                <a:srgbClr val="6B7078"/>
              </a:solidFill>
            </a:ln>
          </p:spPr>
          <p:txBody>
            <a:bodyPr rtlCol="0" anchor="ctr"/>
            <a:lstStyle/>
            <a:p>
              <a:pPr algn="ctr"/>
            </a:p>
          </p:txBody>
        </p:sp>
        <p:sp>
          <p:nvSpPr>
            <p:cNvPr id="26" name="Rectangle 25"/>
            <p:cNvSpPr/>
            <p:nvPr/>
          </p:nvSpPr>
          <p:spPr>
            <a:xfrm>
              <a:off x="9537192" y="2715768"/>
              <a:ext cx="1645920" cy="128016"/>
            </a:xfrm>
            <a:prstGeom prst="rect">
              <a:avLst/>
            </a:prstGeom>
            <a:solidFill>
              <a:srgbClr val="9AA0A6"/>
            </a:solidFill>
            <a:ln>
              <a:noFill/>
            </a:ln>
          </p:spPr>
          <p:txBody>
            <a:bodyPr rtlCol="0" anchor="ctr"/>
            <a:lstStyle/>
            <a:p>
              <a:pPr algn="ctr"/>
            </a:p>
          </p:txBody>
        </p:sp>
        <p:sp>
          <p:nvSpPr>
            <p:cNvPr id="27" name="Freeform 26"/>
            <p:cNvSpPr/>
            <p:nvPr/>
          </p:nvSpPr>
          <p:spPr>
            <a:xfrm>
              <a:off x="10835640" y="2079346"/>
              <a:ext cx="566928" cy="115214"/>
            </a:xfrm>
            <a:custGeom>
              <a:avLst/>
              <a:gdLst/>
              <a:ahLst/>
              <a:cxnLst/>
              <a:rect l="l" t="t" r="r" b="b"/>
              <a:pathLst>
                <a:path w="566928" h="115214">
                  <a:moveTo>
                    <a:pt x="0" y="115214"/>
                  </a:moveTo>
                  <a:lnTo>
                    <a:pt x="283464" y="0"/>
                  </a:lnTo>
                  <a:lnTo>
                    <a:pt x="566928" y="115214"/>
                  </a:lnTo>
                  <a:close/>
                </a:path>
              </a:pathLst>
            </a:custGeom>
            <a:solidFill>
              <a:srgbClr val="4A515B"/>
            </a:solidFill>
            <a:ln w="19050">
              <a:solidFill>
                <a:srgbClr val="F28C28"/>
              </a:solidFill>
            </a:ln>
          </p:spPr>
          <p:txBody>
            <a:bodyPr rtlCol="0" anchor="ctr"/>
            <a:lstStyle/>
            <a:p>
              <a:pPr algn="ctr"/>
            </a:p>
          </p:txBody>
        </p:sp>
        <p:sp>
          <p:nvSpPr>
            <p:cNvPr id="28" name="Rectangle 27"/>
            <p:cNvSpPr/>
            <p:nvPr/>
          </p:nvSpPr>
          <p:spPr>
            <a:xfrm>
              <a:off x="10927080" y="2194560"/>
              <a:ext cx="384048" cy="384048"/>
            </a:xfrm>
            <a:prstGeom prst="rect">
              <a:avLst/>
            </a:prstGeom>
            <a:solidFill>
              <a:srgbClr val="2B2F36"/>
            </a:solidFill>
            <a:ln w="19050">
              <a:solidFill>
                <a:srgbClr val="F28C28"/>
              </a:solidFill>
            </a:ln>
          </p:spPr>
          <p:txBody>
            <a:bodyPr rtlCol="0" anchor="ctr"/>
            <a:lstStyle/>
            <a:p>
              <a:pPr algn="ctr"/>
            </a:p>
          </p:txBody>
        </p:sp>
        <p:sp>
          <p:nvSpPr>
            <p:cNvPr id="29" name="TextBox 28"/>
            <p:cNvSpPr txBox="1"/>
            <p:nvPr/>
          </p:nvSpPr>
          <p:spPr>
            <a:xfrm>
              <a:off x="9171432" y="2926080"/>
              <a:ext cx="2377440" cy="502920"/>
            </a:xfrm>
            <a:prstGeom prst="rect">
              <a:avLst/>
            </a:prstGeom>
            <a:noFill/>
          </p:spPr>
          <p:txBody>
            <a:bodyPr wrap="square" lIns="0" tIns="0" rIns="0" bIns="0" anchor="ctr">
              <a:noAutofit/>
            </a:bodyPr>
            <a:lstStyle/>
            <a:p>
              <a:pPr algn="ctr"/>
              <a:r>
                <a:rPr sz="1800" b="1" i="0" lang="en-GB">
                  <a:solidFill>
                    <a:srgbClr val="F2F2F2"/>
                  </a:solidFill>
                  <a:latin typeface="Arial"/>
                </a:rPr>
                <a:t>Full Station</a:t>
              </a:r>
            </a:p>
          </p:txBody>
        </p:sp>
        <p:sp>
          <p:nvSpPr>
            <p:cNvPr id="30" name="Inline chip Proposed"/>
            <p:cNvSpPr/>
            <p:nvPr/>
          </p:nvSpPr>
          <p:spPr>
            <a:xfrm>
              <a:off x="10175248" y="1463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grpSp>
        <p:nvGrpSpPr>
          <p:cNvPr id="31" name="Route" descr="A route from a mine to a factory with a water stop and a water and coal stop on the way; a train is at the water stop."/>
          <p:cNvGrpSpPr/>
          <p:nvPr/>
        </p:nvGrpSpPr>
        <p:grpSpPr>
          <a:xfrm>
            <a:off x="0" y="3702406"/>
            <a:ext cx="12115800" cy="1244498"/>
            <a:chOff x="0" y="3702406"/>
            <a:chExt cx="12115800" cy="1244498"/>
          </a:xfrm>
        </p:grpSpPr>
        <p:cxnSp>
          <p:nvCxnSpPr>
            <p:cNvPr id="32" name="Connector 31"/>
            <p:cNvCxnSpPr/>
            <p:nvPr/>
          </p:nvCxnSpPr>
          <p:spPr>
            <a:xfrm>
              <a:off x="914400" y="4343400"/>
              <a:ext cx="10332720" cy="0"/>
            </a:xfrm>
            <a:prstGeom prst="line">
              <a:avLst/>
            </a:prstGeom>
            <a:ln w="63500">
              <a:solidFill>
                <a:srgbClr val="9AA0A6"/>
              </a:solidFill>
            </a:ln>
          </p:spPr>
        </p:cxnSp>
        <p:sp>
          <p:nvSpPr>
            <p:cNvPr id="33" name="Oval 32"/>
            <p:cNvSpPr/>
            <p:nvPr/>
          </p:nvSpPr>
          <p:spPr>
            <a:xfrm>
              <a:off x="1024128" y="4178808"/>
              <a:ext cx="329184" cy="329184"/>
            </a:xfrm>
            <a:prstGeom prst="ellipse">
              <a:avLst/>
            </a:prstGeom>
            <a:solidFill>
              <a:srgbClr val="1E2126"/>
            </a:solidFill>
            <a:ln w="38100">
              <a:solidFill>
                <a:srgbClr val="F28C28"/>
              </a:solidFill>
            </a:ln>
          </p:spPr>
          <p:txBody>
            <a:bodyPr rtlCol="0" anchor="ctr"/>
            <a:lstStyle/>
            <a:p>
              <a:pPr algn="ctr"/>
            </a:p>
          </p:txBody>
        </p:sp>
        <p:sp>
          <p:nvSpPr>
            <p:cNvPr id="34" name="TextBox 33"/>
            <p:cNvSpPr txBox="1"/>
            <p:nvPr/>
          </p:nvSpPr>
          <p:spPr>
            <a:xfrm>
              <a:off x="0" y="4617720"/>
              <a:ext cx="2377440" cy="329184"/>
            </a:xfrm>
            <a:prstGeom prst="rect">
              <a:avLst/>
            </a:prstGeom>
            <a:noFill/>
          </p:spPr>
          <p:txBody>
            <a:bodyPr wrap="square" lIns="0" tIns="0" rIns="0" bIns="0" anchor="t">
              <a:noAutofit/>
            </a:bodyPr>
            <a:lstStyle/>
            <a:p>
              <a:pPr algn="ctr"/>
              <a:r>
                <a:rPr sz="1600" b="0" i="0" lang="en-GB">
                  <a:solidFill>
                    <a:srgbClr val="F2F2F2"/>
                  </a:solidFill>
                  <a:latin typeface="Arial"/>
                </a:rPr>
                <a:t>Mine</a:t>
              </a:r>
            </a:p>
          </p:txBody>
        </p:sp>
        <p:sp>
          <p:nvSpPr>
            <p:cNvPr id="35" name="Oval 34"/>
            <p:cNvSpPr/>
            <p:nvPr/>
          </p:nvSpPr>
          <p:spPr>
            <a:xfrm>
              <a:off x="4178808" y="4178808"/>
              <a:ext cx="329184" cy="329184"/>
            </a:xfrm>
            <a:prstGeom prst="ellipse">
              <a:avLst/>
            </a:prstGeom>
            <a:solidFill>
              <a:srgbClr val="1E2126"/>
            </a:solidFill>
            <a:ln w="38100">
              <a:solidFill>
                <a:srgbClr val="F28C28"/>
              </a:solidFill>
            </a:ln>
          </p:spPr>
          <p:txBody>
            <a:bodyPr rtlCol="0" anchor="ctr"/>
            <a:lstStyle/>
            <a:p>
              <a:pPr algn="ctr"/>
            </a:p>
          </p:txBody>
        </p:sp>
        <p:sp>
          <p:nvSpPr>
            <p:cNvPr id="36" name="TextBox 35"/>
            <p:cNvSpPr txBox="1"/>
            <p:nvPr/>
          </p:nvSpPr>
          <p:spPr>
            <a:xfrm>
              <a:off x="3154680" y="4617720"/>
              <a:ext cx="2377440" cy="329184"/>
            </a:xfrm>
            <a:prstGeom prst="rect">
              <a:avLst/>
            </a:prstGeom>
            <a:noFill/>
          </p:spPr>
          <p:txBody>
            <a:bodyPr wrap="square" lIns="0" tIns="0" rIns="0" bIns="0" anchor="t">
              <a:noAutofit/>
            </a:bodyPr>
            <a:lstStyle/>
            <a:p>
              <a:pPr algn="ctr"/>
              <a:r>
                <a:rPr sz="1600" b="0" i="0" lang="en-GB">
                  <a:solidFill>
                    <a:srgbClr val="F2F2F2"/>
                  </a:solidFill>
                  <a:latin typeface="Arial"/>
                </a:rPr>
                <a:t>Water stop</a:t>
              </a:r>
            </a:p>
          </p:txBody>
        </p:sp>
        <p:sp>
          <p:nvSpPr>
            <p:cNvPr id="37" name="Oval 36"/>
            <p:cNvSpPr/>
            <p:nvPr/>
          </p:nvSpPr>
          <p:spPr>
            <a:xfrm>
              <a:off x="7333488" y="4178808"/>
              <a:ext cx="329184" cy="329184"/>
            </a:xfrm>
            <a:prstGeom prst="ellipse">
              <a:avLst/>
            </a:prstGeom>
            <a:solidFill>
              <a:srgbClr val="1E2126"/>
            </a:solidFill>
            <a:ln w="38100">
              <a:solidFill>
                <a:srgbClr val="F28C28"/>
              </a:solidFill>
            </a:ln>
          </p:spPr>
          <p:txBody>
            <a:bodyPr rtlCol="0" anchor="ctr"/>
            <a:lstStyle/>
            <a:p>
              <a:pPr algn="ctr"/>
            </a:p>
          </p:txBody>
        </p:sp>
        <p:sp>
          <p:nvSpPr>
            <p:cNvPr id="38" name="TextBox 37"/>
            <p:cNvSpPr txBox="1"/>
            <p:nvPr/>
          </p:nvSpPr>
          <p:spPr>
            <a:xfrm>
              <a:off x="6309360" y="4617720"/>
              <a:ext cx="2377440" cy="329184"/>
            </a:xfrm>
            <a:prstGeom prst="rect">
              <a:avLst/>
            </a:prstGeom>
            <a:noFill/>
          </p:spPr>
          <p:txBody>
            <a:bodyPr wrap="square" lIns="0" tIns="0" rIns="0" bIns="0" anchor="t">
              <a:noAutofit/>
            </a:bodyPr>
            <a:lstStyle/>
            <a:p>
              <a:pPr algn="ctr"/>
              <a:r>
                <a:rPr sz="1600" b="0" i="0" lang="en-GB">
                  <a:solidFill>
                    <a:srgbClr val="F2F2F2"/>
                  </a:solidFill>
                  <a:latin typeface="Arial"/>
                </a:rPr>
                <a:t>Water and coal stop</a:t>
              </a:r>
            </a:p>
          </p:txBody>
        </p:sp>
        <p:sp>
          <p:nvSpPr>
            <p:cNvPr id="39" name="Oval 38"/>
            <p:cNvSpPr/>
            <p:nvPr/>
          </p:nvSpPr>
          <p:spPr>
            <a:xfrm>
              <a:off x="10762488" y="4178808"/>
              <a:ext cx="329184" cy="329184"/>
            </a:xfrm>
            <a:prstGeom prst="ellipse">
              <a:avLst/>
            </a:prstGeom>
            <a:solidFill>
              <a:srgbClr val="1E2126"/>
            </a:solidFill>
            <a:ln w="38100">
              <a:solidFill>
                <a:srgbClr val="F28C28"/>
              </a:solidFill>
            </a:ln>
          </p:spPr>
          <p:txBody>
            <a:bodyPr rtlCol="0" anchor="ctr"/>
            <a:lstStyle/>
            <a:p>
              <a:pPr algn="ctr"/>
            </a:p>
          </p:txBody>
        </p:sp>
        <p:sp>
          <p:nvSpPr>
            <p:cNvPr id="40" name="TextBox 39"/>
            <p:cNvSpPr txBox="1"/>
            <p:nvPr/>
          </p:nvSpPr>
          <p:spPr>
            <a:xfrm>
              <a:off x="9738360" y="4617720"/>
              <a:ext cx="2377440" cy="329184"/>
            </a:xfrm>
            <a:prstGeom prst="rect">
              <a:avLst/>
            </a:prstGeom>
            <a:noFill/>
          </p:spPr>
          <p:txBody>
            <a:bodyPr wrap="square" lIns="0" tIns="0" rIns="0" bIns="0" anchor="t">
              <a:noAutofit/>
            </a:bodyPr>
            <a:lstStyle/>
            <a:p>
              <a:pPr algn="ctr"/>
              <a:r>
                <a:rPr sz="1600" b="0" i="0" lang="en-GB">
                  <a:solidFill>
                    <a:srgbClr val="F2F2F2"/>
                  </a:solidFill>
                  <a:latin typeface="Arial"/>
                </a:rPr>
                <a:t>Factory</a:t>
              </a:r>
            </a:p>
          </p:txBody>
        </p:sp>
        <p:grpSp>
          <p:nvGrpSpPr>
            <p:cNvPr id="41" name="Train at water stop" descr="A steam train: an engine pulling wagons."/>
            <p:cNvGrpSpPr/>
            <p:nvPr/>
          </p:nvGrpSpPr>
          <p:grpSpPr>
            <a:xfrm>
              <a:off x="3429000" y="3702406"/>
              <a:ext cx="1203350" cy="595274"/>
              <a:chOff x="3429000" y="3702406"/>
              <a:chExt cx="1203350" cy="595274"/>
            </a:xfrm>
          </p:grpSpPr>
          <p:sp>
            <p:nvSpPr>
              <p:cNvPr id="42" name="Rectangle 41"/>
              <p:cNvSpPr/>
              <p:nvPr/>
            </p:nvSpPr>
            <p:spPr>
              <a:xfrm>
                <a:off x="3429000" y="3932834"/>
                <a:ext cx="512064" cy="288036"/>
              </a:xfrm>
              <a:prstGeom prst="rect">
                <a:avLst/>
              </a:prstGeom>
              <a:solidFill>
                <a:srgbClr val="6C7480"/>
              </a:solidFill>
              <a:ln w="9525">
                <a:solidFill>
                  <a:srgbClr val="101418"/>
                </a:solidFill>
              </a:ln>
            </p:spPr>
            <p:txBody>
              <a:bodyPr rtlCol="0" anchor="ctr"/>
              <a:lstStyle/>
              <a:p>
                <a:pPr algn="ctr"/>
              </a:p>
            </p:txBody>
          </p:sp>
          <p:sp>
            <p:nvSpPr>
              <p:cNvPr id="43" name="Oval 42"/>
              <p:cNvSpPr/>
              <p:nvPr/>
            </p:nvSpPr>
            <p:spPr>
              <a:xfrm>
                <a:off x="3493008" y="4169664"/>
                <a:ext cx="128016" cy="128016"/>
              </a:xfrm>
              <a:prstGeom prst="ellipse">
                <a:avLst/>
              </a:prstGeom>
              <a:solidFill>
                <a:srgbClr val="1B1D21"/>
              </a:solidFill>
              <a:ln w="12700">
                <a:solidFill>
                  <a:srgbClr val="9AA0A6"/>
                </a:solidFill>
              </a:ln>
            </p:spPr>
            <p:txBody>
              <a:bodyPr rtlCol="0" anchor="ctr"/>
              <a:lstStyle/>
              <a:p>
                <a:pPr algn="ctr"/>
              </a:p>
            </p:txBody>
          </p:sp>
          <p:sp>
            <p:nvSpPr>
              <p:cNvPr id="44" name="Oval 43"/>
              <p:cNvSpPr/>
              <p:nvPr/>
            </p:nvSpPr>
            <p:spPr>
              <a:xfrm>
                <a:off x="3749040" y="4169664"/>
                <a:ext cx="128016" cy="128016"/>
              </a:xfrm>
              <a:prstGeom prst="ellipse">
                <a:avLst/>
              </a:prstGeom>
              <a:solidFill>
                <a:srgbClr val="1B1D21"/>
              </a:solidFill>
              <a:ln w="12700">
                <a:solidFill>
                  <a:srgbClr val="9AA0A6"/>
                </a:solidFill>
              </a:ln>
            </p:spPr>
            <p:txBody>
              <a:bodyPr rtlCol="0" anchor="ctr"/>
              <a:lstStyle/>
              <a:p>
                <a:pPr algn="ctr"/>
              </a:p>
            </p:txBody>
          </p:sp>
          <p:sp>
            <p:nvSpPr>
              <p:cNvPr id="45" name="Rectangle 44"/>
              <p:cNvSpPr/>
              <p:nvPr/>
            </p:nvSpPr>
            <p:spPr>
              <a:xfrm>
                <a:off x="3941064" y="4137660"/>
                <a:ext cx="51206" cy="32004"/>
              </a:xfrm>
              <a:prstGeom prst="rect">
                <a:avLst/>
              </a:prstGeom>
              <a:solidFill>
                <a:srgbClr val="9AA0A6"/>
              </a:solidFill>
              <a:ln>
                <a:noFill/>
              </a:ln>
            </p:spPr>
            <p:txBody>
              <a:bodyPr rtlCol="0" anchor="ctr"/>
              <a:lstStyle/>
              <a:p>
                <a:pPr algn="ctr"/>
              </a:p>
            </p:txBody>
          </p:sp>
          <p:sp>
            <p:nvSpPr>
              <p:cNvPr id="46" name="Rectangle 45"/>
              <p:cNvSpPr/>
              <p:nvPr/>
            </p:nvSpPr>
            <p:spPr>
              <a:xfrm>
                <a:off x="3992270" y="3881628"/>
                <a:ext cx="640080" cy="352044"/>
              </a:xfrm>
              <a:prstGeom prst="rect">
                <a:avLst/>
              </a:prstGeom>
              <a:solidFill>
                <a:srgbClr val="F28C28"/>
              </a:solidFill>
              <a:ln w="9525">
                <a:solidFill>
                  <a:srgbClr val="101418"/>
                </a:solidFill>
              </a:ln>
            </p:spPr>
            <p:txBody>
              <a:bodyPr rtlCol="0" anchor="ctr"/>
              <a:lstStyle/>
              <a:p>
                <a:pPr algn="ctr"/>
              </a:p>
            </p:txBody>
          </p:sp>
          <p:sp>
            <p:nvSpPr>
              <p:cNvPr id="47" name="Bunker"/>
              <p:cNvSpPr/>
              <p:nvPr/>
            </p:nvSpPr>
            <p:spPr>
              <a:xfrm>
                <a:off x="4011473" y="3900830"/>
                <a:ext cx="166421" cy="128016"/>
              </a:xfrm>
              <a:prstGeom prst="rect">
                <a:avLst/>
              </a:prstGeom>
              <a:solidFill>
                <a:srgbClr val="1B1D21"/>
              </a:solidFill>
              <a:ln>
                <a:noFill/>
              </a:ln>
            </p:spPr>
            <p:txBody>
              <a:bodyPr rtlCol="0" anchor="ctr"/>
              <a:lstStyle/>
              <a:p>
                <a:pPr algn="ctr"/>
              </a:p>
            </p:txBody>
          </p:sp>
          <p:sp>
            <p:nvSpPr>
              <p:cNvPr id="48" name="Rectangle 47"/>
              <p:cNvSpPr/>
              <p:nvPr/>
            </p:nvSpPr>
            <p:spPr>
              <a:xfrm>
                <a:off x="4209898" y="3926434"/>
                <a:ext cx="89611" cy="89611"/>
              </a:xfrm>
              <a:prstGeom prst="rect">
                <a:avLst/>
              </a:prstGeom>
              <a:solidFill>
                <a:srgbClr val="2B2F36"/>
              </a:solidFill>
              <a:ln>
                <a:noFill/>
              </a:ln>
            </p:spPr>
            <p:txBody>
              <a:bodyPr rtlCol="0" anchor="ctr"/>
              <a:lstStyle/>
              <a:p>
                <a:pPr algn="ctr"/>
              </a:p>
            </p:txBody>
          </p:sp>
          <p:sp>
            <p:nvSpPr>
              <p:cNvPr id="49" name="Chimney"/>
              <p:cNvSpPr/>
              <p:nvPr/>
            </p:nvSpPr>
            <p:spPr>
              <a:xfrm>
                <a:off x="4491533" y="3702406"/>
                <a:ext cx="96012" cy="192024"/>
              </a:xfrm>
              <a:prstGeom prst="rect">
                <a:avLst/>
              </a:prstGeom>
              <a:solidFill>
                <a:srgbClr val="1B1D21"/>
              </a:solidFill>
              <a:ln>
                <a:noFill/>
              </a:ln>
            </p:spPr>
            <p:txBody>
              <a:bodyPr rtlCol="0" anchor="ctr"/>
              <a:lstStyle/>
              <a:p>
                <a:pPr algn="ctr"/>
              </a:p>
            </p:txBody>
          </p:sp>
          <p:sp>
            <p:nvSpPr>
              <p:cNvPr id="50" name="Oval 49"/>
              <p:cNvSpPr/>
              <p:nvPr/>
            </p:nvSpPr>
            <p:spPr>
              <a:xfrm>
                <a:off x="4056278" y="4169664"/>
                <a:ext cx="128016" cy="128016"/>
              </a:xfrm>
              <a:prstGeom prst="ellipse">
                <a:avLst/>
              </a:prstGeom>
              <a:solidFill>
                <a:srgbClr val="1B1D21"/>
              </a:solidFill>
              <a:ln w="12700">
                <a:solidFill>
                  <a:srgbClr val="9AA0A6"/>
                </a:solidFill>
              </a:ln>
            </p:spPr>
            <p:txBody>
              <a:bodyPr rtlCol="0" anchor="ctr"/>
              <a:lstStyle/>
              <a:p>
                <a:pPr algn="ctr"/>
              </a:p>
            </p:txBody>
          </p:sp>
          <p:sp>
            <p:nvSpPr>
              <p:cNvPr id="51" name="Oval 50"/>
              <p:cNvSpPr/>
              <p:nvPr/>
            </p:nvSpPr>
            <p:spPr>
              <a:xfrm>
                <a:off x="4248302" y="4169664"/>
                <a:ext cx="128016" cy="128016"/>
              </a:xfrm>
              <a:prstGeom prst="ellipse">
                <a:avLst/>
              </a:prstGeom>
              <a:solidFill>
                <a:srgbClr val="1B1D21"/>
              </a:solidFill>
              <a:ln w="12700">
                <a:solidFill>
                  <a:srgbClr val="9AA0A6"/>
                </a:solidFill>
              </a:ln>
            </p:spPr>
            <p:txBody>
              <a:bodyPr rtlCol="0" anchor="ctr"/>
              <a:lstStyle/>
              <a:p>
                <a:pPr algn="ctr"/>
              </a:p>
            </p:txBody>
          </p:sp>
          <p:sp>
            <p:nvSpPr>
              <p:cNvPr id="52" name="Oval 51"/>
              <p:cNvSpPr/>
              <p:nvPr/>
            </p:nvSpPr>
            <p:spPr>
              <a:xfrm>
                <a:off x="4440326" y="4169664"/>
                <a:ext cx="128016" cy="128016"/>
              </a:xfrm>
              <a:prstGeom prst="ellipse">
                <a:avLst/>
              </a:prstGeom>
              <a:solidFill>
                <a:srgbClr val="1B1D21"/>
              </a:solidFill>
              <a:ln w="12700">
                <a:solidFill>
                  <a:srgbClr val="9AA0A6"/>
                </a:solidFill>
              </a:ln>
            </p:spPr>
            <p:txBody>
              <a:bodyPr rtlCol="0" anchor="ctr"/>
              <a:lstStyle/>
              <a:p>
                <a:pPr algn="ctr"/>
              </a:p>
            </p:txBody>
          </p:sp>
        </p:gr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492230" bIns="27432">
            <a:noAutofit/>
          </a:bodyPr>
          <a:lstStyle/>
          <a:p>
            <a:pPr algn="l"/>
            <a:r>
              <a:rPr sz="2000" b="0" i="0" lang="en-GB">
                <a:solidFill>
                  <a:srgbClr val="F2F2F2"/>
                </a:solidFill>
                <a:latin typeface="Arial"/>
              </a:rPr>
              <a:t>Separate coal and water stops make long routes possible. Not every stop needs a full station.</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8" name="Inline chip Agreed"/>
          <p:cNvSpPr/>
          <p:nvPr/>
        </p:nvSpPr>
        <p:spPr>
          <a:xfrm>
            <a:off x="10330962" y="5833872"/>
            <a:ext cx="112647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STATIONS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Blocks: one train at a time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Block diagram" descr="Track split into four blocks, A to D, by three signals. A train occupies block B, so the signal at its entrance shows STOP and a second train waits in block A. Blocks C and D are free and their signals show CLEAR."/>
          <p:cNvGrpSpPr/>
          <p:nvPr/>
        </p:nvGrpSpPr>
        <p:grpSpPr>
          <a:xfrm>
            <a:off x="731520" y="1673352"/>
            <a:ext cx="10698480" cy="2651760"/>
            <a:chOff x="731520" y="1673352"/>
            <a:chExt cx="10698480" cy="2651760"/>
          </a:xfrm>
        </p:grpSpPr>
        <p:sp>
          <p:nvSpPr>
            <p:cNvPr id="9" name="Rectangle 8"/>
            <p:cNvSpPr/>
            <p:nvPr/>
          </p:nvSpPr>
          <p:spPr>
            <a:xfrm>
              <a:off x="932688" y="3282696"/>
              <a:ext cx="54864" cy="365760"/>
            </a:xfrm>
            <a:prstGeom prst="rect">
              <a:avLst/>
            </a:prstGeom>
            <a:solidFill>
              <a:srgbClr val="6B5B4B"/>
            </a:solidFill>
            <a:ln>
              <a:noFill/>
            </a:ln>
          </p:spPr>
          <p:txBody>
            <a:bodyPr rtlCol="0" anchor="ctr"/>
            <a:lstStyle/>
            <a:p>
              <a:pPr algn="ctr"/>
            </a:p>
          </p:txBody>
        </p:sp>
        <p:sp>
          <p:nvSpPr>
            <p:cNvPr id="10" name="Rectangle 9"/>
            <p:cNvSpPr/>
            <p:nvPr/>
          </p:nvSpPr>
          <p:spPr>
            <a:xfrm>
              <a:off x="1252728" y="3282696"/>
              <a:ext cx="54864" cy="365760"/>
            </a:xfrm>
            <a:prstGeom prst="rect">
              <a:avLst/>
            </a:prstGeom>
            <a:solidFill>
              <a:srgbClr val="6B5B4B"/>
            </a:solidFill>
            <a:ln>
              <a:noFill/>
            </a:ln>
          </p:spPr>
          <p:txBody>
            <a:bodyPr rtlCol="0" anchor="ctr"/>
            <a:lstStyle/>
            <a:p>
              <a:pPr algn="ctr"/>
            </a:p>
          </p:txBody>
        </p:sp>
        <p:sp>
          <p:nvSpPr>
            <p:cNvPr id="11" name="Rectangle 10"/>
            <p:cNvSpPr/>
            <p:nvPr/>
          </p:nvSpPr>
          <p:spPr>
            <a:xfrm>
              <a:off x="1572768" y="3282696"/>
              <a:ext cx="54864" cy="365760"/>
            </a:xfrm>
            <a:prstGeom prst="rect">
              <a:avLst/>
            </a:prstGeom>
            <a:solidFill>
              <a:srgbClr val="6B5B4B"/>
            </a:solidFill>
            <a:ln>
              <a:noFill/>
            </a:ln>
          </p:spPr>
          <p:txBody>
            <a:bodyPr rtlCol="0" anchor="ctr"/>
            <a:lstStyle/>
            <a:p>
              <a:pPr algn="ctr"/>
            </a:p>
          </p:txBody>
        </p:sp>
        <p:sp>
          <p:nvSpPr>
            <p:cNvPr id="12" name="Rectangle 11"/>
            <p:cNvSpPr/>
            <p:nvPr/>
          </p:nvSpPr>
          <p:spPr>
            <a:xfrm>
              <a:off x="1892808" y="3282696"/>
              <a:ext cx="54864" cy="365760"/>
            </a:xfrm>
            <a:prstGeom prst="rect">
              <a:avLst/>
            </a:prstGeom>
            <a:solidFill>
              <a:srgbClr val="6B5B4B"/>
            </a:solidFill>
            <a:ln>
              <a:noFill/>
            </a:ln>
          </p:spPr>
          <p:txBody>
            <a:bodyPr rtlCol="0" anchor="ctr"/>
            <a:lstStyle/>
            <a:p>
              <a:pPr algn="ctr"/>
            </a:p>
          </p:txBody>
        </p:sp>
        <p:sp>
          <p:nvSpPr>
            <p:cNvPr id="13" name="Rectangle 12"/>
            <p:cNvSpPr/>
            <p:nvPr/>
          </p:nvSpPr>
          <p:spPr>
            <a:xfrm>
              <a:off x="2212848" y="3282696"/>
              <a:ext cx="54864" cy="365760"/>
            </a:xfrm>
            <a:prstGeom prst="rect">
              <a:avLst/>
            </a:prstGeom>
            <a:solidFill>
              <a:srgbClr val="6B5B4B"/>
            </a:solidFill>
            <a:ln>
              <a:noFill/>
            </a:ln>
          </p:spPr>
          <p:txBody>
            <a:bodyPr rtlCol="0" anchor="ctr"/>
            <a:lstStyle/>
            <a:p>
              <a:pPr algn="ctr"/>
            </a:p>
          </p:txBody>
        </p:sp>
        <p:sp>
          <p:nvSpPr>
            <p:cNvPr id="14" name="Rectangle 13"/>
            <p:cNvSpPr/>
            <p:nvPr/>
          </p:nvSpPr>
          <p:spPr>
            <a:xfrm>
              <a:off x="2532888" y="3282696"/>
              <a:ext cx="54864" cy="365760"/>
            </a:xfrm>
            <a:prstGeom prst="rect">
              <a:avLst/>
            </a:prstGeom>
            <a:solidFill>
              <a:srgbClr val="6B5B4B"/>
            </a:solidFill>
            <a:ln>
              <a:noFill/>
            </a:ln>
          </p:spPr>
          <p:txBody>
            <a:bodyPr rtlCol="0" anchor="ctr"/>
            <a:lstStyle/>
            <a:p>
              <a:pPr algn="ctr"/>
            </a:p>
          </p:txBody>
        </p:sp>
        <p:sp>
          <p:nvSpPr>
            <p:cNvPr id="15" name="Rectangle 14"/>
            <p:cNvSpPr/>
            <p:nvPr/>
          </p:nvSpPr>
          <p:spPr>
            <a:xfrm>
              <a:off x="2852928" y="3282696"/>
              <a:ext cx="54864" cy="365760"/>
            </a:xfrm>
            <a:prstGeom prst="rect">
              <a:avLst/>
            </a:prstGeom>
            <a:solidFill>
              <a:srgbClr val="6B5B4B"/>
            </a:solidFill>
            <a:ln>
              <a:noFill/>
            </a:ln>
          </p:spPr>
          <p:txBody>
            <a:bodyPr rtlCol="0" anchor="ctr"/>
            <a:lstStyle/>
            <a:p>
              <a:pPr algn="ctr"/>
            </a:p>
          </p:txBody>
        </p:sp>
        <p:sp>
          <p:nvSpPr>
            <p:cNvPr id="16" name="Rectangle 15"/>
            <p:cNvSpPr/>
            <p:nvPr/>
          </p:nvSpPr>
          <p:spPr>
            <a:xfrm>
              <a:off x="3172968" y="3282696"/>
              <a:ext cx="54864" cy="365760"/>
            </a:xfrm>
            <a:prstGeom prst="rect">
              <a:avLst/>
            </a:prstGeom>
            <a:solidFill>
              <a:srgbClr val="6B5B4B"/>
            </a:solidFill>
            <a:ln>
              <a:noFill/>
            </a:ln>
          </p:spPr>
          <p:txBody>
            <a:bodyPr rtlCol="0" anchor="ctr"/>
            <a:lstStyle/>
            <a:p>
              <a:pPr algn="ctr"/>
            </a:p>
          </p:txBody>
        </p:sp>
        <p:sp>
          <p:nvSpPr>
            <p:cNvPr id="17" name="Rectangle 16"/>
            <p:cNvSpPr/>
            <p:nvPr/>
          </p:nvSpPr>
          <p:spPr>
            <a:xfrm>
              <a:off x="3493008" y="3282696"/>
              <a:ext cx="54864" cy="365760"/>
            </a:xfrm>
            <a:prstGeom prst="rect">
              <a:avLst/>
            </a:prstGeom>
            <a:solidFill>
              <a:srgbClr val="6B5B4B"/>
            </a:solidFill>
            <a:ln>
              <a:noFill/>
            </a:ln>
          </p:spPr>
          <p:txBody>
            <a:bodyPr rtlCol="0" anchor="ctr"/>
            <a:lstStyle/>
            <a:p>
              <a:pPr algn="ctr"/>
            </a:p>
          </p:txBody>
        </p:sp>
        <p:sp>
          <p:nvSpPr>
            <p:cNvPr id="18" name="Rectangle 17"/>
            <p:cNvSpPr/>
            <p:nvPr/>
          </p:nvSpPr>
          <p:spPr>
            <a:xfrm>
              <a:off x="3813048" y="3282696"/>
              <a:ext cx="54864" cy="365760"/>
            </a:xfrm>
            <a:prstGeom prst="rect">
              <a:avLst/>
            </a:prstGeom>
            <a:solidFill>
              <a:srgbClr val="6B5B4B"/>
            </a:solidFill>
            <a:ln>
              <a:noFill/>
            </a:ln>
          </p:spPr>
          <p:txBody>
            <a:bodyPr rtlCol="0" anchor="ctr"/>
            <a:lstStyle/>
            <a:p>
              <a:pPr algn="ctr"/>
            </a:p>
          </p:txBody>
        </p:sp>
        <p:sp>
          <p:nvSpPr>
            <p:cNvPr id="19" name="Rectangle 18"/>
            <p:cNvSpPr/>
            <p:nvPr/>
          </p:nvSpPr>
          <p:spPr>
            <a:xfrm>
              <a:off x="4133088" y="3282696"/>
              <a:ext cx="54864" cy="365760"/>
            </a:xfrm>
            <a:prstGeom prst="rect">
              <a:avLst/>
            </a:prstGeom>
            <a:solidFill>
              <a:srgbClr val="6B5B4B"/>
            </a:solidFill>
            <a:ln>
              <a:noFill/>
            </a:ln>
          </p:spPr>
          <p:txBody>
            <a:bodyPr rtlCol="0" anchor="ctr"/>
            <a:lstStyle/>
            <a:p>
              <a:pPr algn="ctr"/>
            </a:p>
          </p:txBody>
        </p:sp>
        <p:sp>
          <p:nvSpPr>
            <p:cNvPr id="20" name="Rectangle 19"/>
            <p:cNvSpPr/>
            <p:nvPr/>
          </p:nvSpPr>
          <p:spPr>
            <a:xfrm>
              <a:off x="4453128" y="3282696"/>
              <a:ext cx="54864" cy="365760"/>
            </a:xfrm>
            <a:prstGeom prst="rect">
              <a:avLst/>
            </a:prstGeom>
            <a:solidFill>
              <a:srgbClr val="6B5B4B"/>
            </a:solidFill>
            <a:ln>
              <a:noFill/>
            </a:ln>
          </p:spPr>
          <p:txBody>
            <a:bodyPr rtlCol="0" anchor="ctr"/>
            <a:lstStyle/>
            <a:p>
              <a:pPr algn="ctr"/>
            </a:p>
          </p:txBody>
        </p:sp>
        <p:sp>
          <p:nvSpPr>
            <p:cNvPr id="21" name="Rectangle 20"/>
            <p:cNvSpPr/>
            <p:nvPr/>
          </p:nvSpPr>
          <p:spPr>
            <a:xfrm>
              <a:off x="4773168" y="3282696"/>
              <a:ext cx="54864" cy="365760"/>
            </a:xfrm>
            <a:prstGeom prst="rect">
              <a:avLst/>
            </a:prstGeom>
            <a:solidFill>
              <a:srgbClr val="6B5B4B"/>
            </a:solidFill>
            <a:ln>
              <a:noFill/>
            </a:ln>
          </p:spPr>
          <p:txBody>
            <a:bodyPr rtlCol="0" anchor="ctr"/>
            <a:lstStyle/>
            <a:p>
              <a:pPr algn="ctr"/>
            </a:p>
          </p:txBody>
        </p:sp>
        <p:sp>
          <p:nvSpPr>
            <p:cNvPr id="22" name="Rectangle 21"/>
            <p:cNvSpPr/>
            <p:nvPr/>
          </p:nvSpPr>
          <p:spPr>
            <a:xfrm>
              <a:off x="5093208" y="3282696"/>
              <a:ext cx="54864" cy="365760"/>
            </a:xfrm>
            <a:prstGeom prst="rect">
              <a:avLst/>
            </a:prstGeom>
            <a:solidFill>
              <a:srgbClr val="6B5B4B"/>
            </a:solidFill>
            <a:ln>
              <a:noFill/>
            </a:ln>
          </p:spPr>
          <p:txBody>
            <a:bodyPr rtlCol="0" anchor="ctr"/>
            <a:lstStyle/>
            <a:p>
              <a:pPr algn="ctr"/>
            </a:p>
          </p:txBody>
        </p:sp>
        <p:sp>
          <p:nvSpPr>
            <p:cNvPr id="23" name="Rectangle 22"/>
            <p:cNvSpPr/>
            <p:nvPr/>
          </p:nvSpPr>
          <p:spPr>
            <a:xfrm>
              <a:off x="5413248" y="3282696"/>
              <a:ext cx="54864" cy="365760"/>
            </a:xfrm>
            <a:prstGeom prst="rect">
              <a:avLst/>
            </a:prstGeom>
            <a:solidFill>
              <a:srgbClr val="6B5B4B"/>
            </a:solidFill>
            <a:ln>
              <a:noFill/>
            </a:ln>
          </p:spPr>
          <p:txBody>
            <a:bodyPr rtlCol="0" anchor="ctr"/>
            <a:lstStyle/>
            <a:p>
              <a:pPr algn="ctr"/>
            </a:p>
          </p:txBody>
        </p:sp>
        <p:sp>
          <p:nvSpPr>
            <p:cNvPr id="24" name="Rectangle 23"/>
            <p:cNvSpPr/>
            <p:nvPr/>
          </p:nvSpPr>
          <p:spPr>
            <a:xfrm>
              <a:off x="5733288" y="3282696"/>
              <a:ext cx="54864" cy="365760"/>
            </a:xfrm>
            <a:prstGeom prst="rect">
              <a:avLst/>
            </a:prstGeom>
            <a:solidFill>
              <a:srgbClr val="6B5B4B"/>
            </a:solidFill>
            <a:ln>
              <a:noFill/>
            </a:ln>
          </p:spPr>
          <p:txBody>
            <a:bodyPr rtlCol="0" anchor="ctr"/>
            <a:lstStyle/>
            <a:p>
              <a:pPr algn="ctr"/>
            </a:p>
          </p:txBody>
        </p:sp>
        <p:sp>
          <p:nvSpPr>
            <p:cNvPr id="25" name="Rectangle 24"/>
            <p:cNvSpPr/>
            <p:nvPr/>
          </p:nvSpPr>
          <p:spPr>
            <a:xfrm>
              <a:off x="6053328" y="3282696"/>
              <a:ext cx="54864" cy="365760"/>
            </a:xfrm>
            <a:prstGeom prst="rect">
              <a:avLst/>
            </a:prstGeom>
            <a:solidFill>
              <a:srgbClr val="6B5B4B"/>
            </a:solidFill>
            <a:ln>
              <a:noFill/>
            </a:ln>
          </p:spPr>
          <p:txBody>
            <a:bodyPr rtlCol="0" anchor="ctr"/>
            <a:lstStyle/>
            <a:p>
              <a:pPr algn="ctr"/>
            </a:p>
          </p:txBody>
        </p:sp>
        <p:sp>
          <p:nvSpPr>
            <p:cNvPr id="26" name="Rectangle 25"/>
            <p:cNvSpPr/>
            <p:nvPr/>
          </p:nvSpPr>
          <p:spPr>
            <a:xfrm>
              <a:off x="6373368" y="3282696"/>
              <a:ext cx="54864" cy="365760"/>
            </a:xfrm>
            <a:prstGeom prst="rect">
              <a:avLst/>
            </a:prstGeom>
            <a:solidFill>
              <a:srgbClr val="6B5B4B"/>
            </a:solidFill>
            <a:ln>
              <a:noFill/>
            </a:ln>
          </p:spPr>
          <p:txBody>
            <a:bodyPr rtlCol="0" anchor="ctr"/>
            <a:lstStyle/>
            <a:p>
              <a:pPr algn="ctr"/>
            </a:p>
          </p:txBody>
        </p:sp>
        <p:sp>
          <p:nvSpPr>
            <p:cNvPr id="27" name="Rectangle 26"/>
            <p:cNvSpPr/>
            <p:nvPr/>
          </p:nvSpPr>
          <p:spPr>
            <a:xfrm>
              <a:off x="6693408" y="3282696"/>
              <a:ext cx="54864" cy="365760"/>
            </a:xfrm>
            <a:prstGeom prst="rect">
              <a:avLst/>
            </a:prstGeom>
            <a:solidFill>
              <a:srgbClr val="6B5B4B"/>
            </a:solidFill>
            <a:ln>
              <a:noFill/>
            </a:ln>
          </p:spPr>
          <p:txBody>
            <a:bodyPr rtlCol="0" anchor="ctr"/>
            <a:lstStyle/>
            <a:p>
              <a:pPr algn="ctr"/>
            </a:p>
          </p:txBody>
        </p:sp>
        <p:sp>
          <p:nvSpPr>
            <p:cNvPr id="28" name="Rectangle 27"/>
            <p:cNvSpPr/>
            <p:nvPr/>
          </p:nvSpPr>
          <p:spPr>
            <a:xfrm>
              <a:off x="7013448" y="3282696"/>
              <a:ext cx="54864" cy="365760"/>
            </a:xfrm>
            <a:prstGeom prst="rect">
              <a:avLst/>
            </a:prstGeom>
            <a:solidFill>
              <a:srgbClr val="6B5B4B"/>
            </a:solidFill>
            <a:ln>
              <a:noFill/>
            </a:ln>
          </p:spPr>
          <p:txBody>
            <a:bodyPr rtlCol="0" anchor="ctr"/>
            <a:lstStyle/>
            <a:p>
              <a:pPr algn="ctr"/>
            </a:p>
          </p:txBody>
        </p:sp>
        <p:sp>
          <p:nvSpPr>
            <p:cNvPr id="29" name="Rectangle 28"/>
            <p:cNvSpPr/>
            <p:nvPr/>
          </p:nvSpPr>
          <p:spPr>
            <a:xfrm>
              <a:off x="7333488" y="3282696"/>
              <a:ext cx="54864" cy="365760"/>
            </a:xfrm>
            <a:prstGeom prst="rect">
              <a:avLst/>
            </a:prstGeom>
            <a:solidFill>
              <a:srgbClr val="6B5B4B"/>
            </a:solidFill>
            <a:ln>
              <a:noFill/>
            </a:ln>
          </p:spPr>
          <p:txBody>
            <a:bodyPr rtlCol="0" anchor="ctr"/>
            <a:lstStyle/>
            <a:p>
              <a:pPr algn="ctr"/>
            </a:p>
          </p:txBody>
        </p:sp>
        <p:sp>
          <p:nvSpPr>
            <p:cNvPr id="30" name="Rectangle 29"/>
            <p:cNvSpPr/>
            <p:nvPr/>
          </p:nvSpPr>
          <p:spPr>
            <a:xfrm>
              <a:off x="7653528" y="3282696"/>
              <a:ext cx="54864" cy="365760"/>
            </a:xfrm>
            <a:prstGeom prst="rect">
              <a:avLst/>
            </a:prstGeom>
            <a:solidFill>
              <a:srgbClr val="6B5B4B"/>
            </a:solidFill>
            <a:ln>
              <a:noFill/>
            </a:ln>
          </p:spPr>
          <p:txBody>
            <a:bodyPr rtlCol="0" anchor="ctr"/>
            <a:lstStyle/>
            <a:p>
              <a:pPr algn="ctr"/>
            </a:p>
          </p:txBody>
        </p:sp>
        <p:sp>
          <p:nvSpPr>
            <p:cNvPr id="31" name="Rectangle 30"/>
            <p:cNvSpPr/>
            <p:nvPr/>
          </p:nvSpPr>
          <p:spPr>
            <a:xfrm>
              <a:off x="7973568" y="3282696"/>
              <a:ext cx="54864" cy="365760"/>
            </a:xfrm>
            <a:prstGeom prst="rect">
              <a:avLst/>
            </a:prstGeom>
            <a:solidFill>
              <a:srgbClr val="6B5B4B"/>
            </a:solidFill>
            <a:ln>
              <a:noFill/>
            </a:ln>
          </p:spPr>
          <p:txBody>
            <a:bodyPr rtlCol="0" anchor="ctr"/>
            <a:lstStyle/>
            <a:p>
              <a:pPr algn="ctr"/>
            </a:p>
          </p:txBody>
        </p:sp>
        <p:sp>
          <p:nvSpPr>
            <p:cNvPr id="32" name="Rectangle 31"/>
            <p:cNvSpPr/>
            <p:nvPr/>
          </p:nvSpPr>
          <p:spPr>
            <a:xfrm>
              <a:off x="8293608" y="3282696"/>
              <a:ext cx="54864" cy="365760"/>
            </a:xfrm>
            <a:prstGeom prst="rect">
              <a:avLst/>
            </a:prstGeom>
            <a:solidFill>
              <a:srgbClr val="6B5B4B"/>
            </a:solidFill>
            <a:ln>
              <a:noFill/>
            </a:ln>
          </p:spPr>
          <p:txBody>
            <a:bodyPr rtlCol="0" anchor="ctr"/>
            <a:lstStyle/>
            <a:p>
              <a:pPr algn="ctr"/>
            </a:p>
          </p:txBody>
        </p:sp>
        <p:sp>
          <p:nvSpPr>
            <p:cNvPr id="33" name="Rectangle 32"/>
            <p:cNvSpPr/>
            <p:nvPr/>
          </p:nvSpPr>
          <p:spPr>
            <a:xfrm>
              <a:off x="8613648" y="3282696"/>
              <a:ext cx="54864" cy="365760"/>
            </a:xfrm>
            <a:prstGeom prst="rect">
              <a:avLst/>
            </a:prstGeom>
            <a:solidFill>
              <a:srgbClr val="6B5B4B"/>
            </a:solidFill>
            <a:ln>
              <a:noFill/>
            </a:ln>
          </p:spPr>
          <p:txBody>
            <a:bodyPr rtlCol="0" anchor="ctr"/>
            <a:lstStyle/>
            <a:p>
              <a:pPr algn="ctr"/>
            </a:p>
          </p:txBody>
        </p:sp>
        <p:sp>
          <p:nvSpPr>
            <p:cNvPr id="34" name="Rectangle 33"/>
            <p:cNvSpPr/>
            <p:nvPr/>
          </p:nvSpPr>
          <p:spPr>
            <a:xfrm>
              <a:off x="8933688" y="3282696"/>
              <a:ext cx="54864" cy="365760"/>
            </a:xfrm>
            <a:prstGeom prst="rect">
              <a:avLst/>
            </a:prstGeom>
            <a:solidFill>
              <a:srgbClr val="6B5B4B"/>
            </a:solidFill>
            <a:ln>
              <a:noFill/>
            </a:ln>
          </p:spPr>
          <p:txBody>
            <a:bodyPr rtlCol="0" anchor="ctr"/>
            <a:lstStyle/>
            <a:p>
              <a:pPr algn="ctr"/>
            </a:p>
          </p:txBody>
        </p:sp>
        <p:sp>
          <p:nvSpPr>
            <p:cNvPr id="35" name="Rectangle 34"/>
            <p:cNvSpPr/>
            <p:nvPr/>
          </p:nvSpPr>
          <p:spPr>
            <a:xfrm>
              <a:off x="9253728" y="3282696"/>
              <a:ext cx="54864" cy="365760"/>
            </a:xfrm>
            <a:prstGeom prst="rect">
              <a:avLst/>
            </a:prstGeom>
            <a:solidFill>
              <a:srgbClr val="6B5B4B"/>
            </a:solidFill>
            <a:ln>
              <a:noFill/>
            </a:ln>
          </p:spPr>
          <p:txBody>
            <a:bodyPr rtlCol="0" anchor="ctr"/>
            <a:lstStyle/>
            <a:p>
              <a:pPr algn="ctr"/>
            </a:p>
          </p:txBody>
        </p:sp>
        <p:sp>
          <p:nvSpPr>
            <p:cNvPr id="36" name="Rectangle 35"/>
            <p:cNvSpPr/>
            <p:nvPr/>
          </p:nvSpPr>
          <p:spPr>
            <a:xfrm>
              <a:off x="9573768" y="3282696"/>
              <a:ext cx="54864" cy="365760"/>
            </a:xfrm>
            <a:prstGeom prst="rect">
              <a:avLst/>
            </a:prstGeom>
            <a:solidFill>
              <a:srgbClr val="6B5B4B"/>
            </a:solidFill>
            <a:ln>
              <a:noFill/>
            </a:ln>
          </p:spPr>
          <p:txBody>
            <a:bodyPr rtlCol="0" anchor="ctr"/>
            <a:lstStyle/>
            <a:p>
              <a:pPr algn="ctr"/>
            </a:p>
          </p:txBody>
        </p:sp>
        <p:sp>
          <p:nvSpPr>
            <p:cNvPr id="37" name="Rectangle 36"/>
            <p:cNvSpPr/>
            <p:nvPr/>
          </p:nvSpPr>
          <p:spPr>
            <a:xfrm>
              <a:off x="9893808" y="3282696"/>
              <a:ext cx="54864" cy="365760"/>
            </a:xfrm>
            <a:prstGeom prst="rect">
              <a:avLst/>
            </a:prstGeom>
            <a:solidFill>
              <a:srgbClr val="6B5B4B"/>
            </a:solidFill>
            <a:ln>
              <a:noFill/>
            </a:ln>
          </p:spPr>
          <p:txBody>
            <a:bodyPr rtlCol="0" anchor="ctr"/>
            <a:lstStyle/>
            <a:p>
              <a:pPr algn="ctr"/>
            </a:p>
          </p:txBody>
        </p:sp>
        <p:sp>
          <p:nvSpPr>
            <p:cNvPr id="38" name="Rectangle 37"/>
            <p:cNvSpPr/>
            <p:nvPr/>
          </p:nvSpPr>
          <p:spPr>
            <a:xfrm>
              <a:off x="10213848" y="3282696"/>
              <a:ext cx="54864" cy="365760"/>
            </a:xfrm>
            <a:prstGeom prst="rect">
              <a:avLst/>
            </a:prstGeom>
            <a:solidFill>
              <a:srgbClr val="6B5B4B"/>
            </a:solidFill>
            <a:ln>
              <a:noFill/>
            </a:ln>
          </p:spPr>
          <p:txBody>
            <a:bodyPr rtlCol="0" anchor="ctr"/>
            <a:lstStyle/>
            <a:p>
              <a:pPr algn="ctr"/>
            </a:p>
          </p:txBody>
        </p:sp>
        <p:sp>
          <p:nvSpPr>
            <p:cNvPr id="39" name="Rectangle 38"/>
            <p:cNvSpPr/>
            <p:nvPr/>
          </p:nvSpPr>
          <p:spPr>
            <a:xfrm>
              <a:off x="10533888" y="3282696"/>
              <a:ext cx="54864" cy="365760"/>
            </a:xfrm>
            <a:prstGeom prst="rect">
              <a:avLst/>
            </a:prstGeom>
            <a:solidFill>
              <a:srgbClr val="6B5B4B"/>
            </a:solidFill>
            <a:ln>
              <a:noFill/>
            </a:ln>
          </p:spPr>
          <p:txBody>
            <a:bodyPr rtlCol="0" anchor="ctr"/>
            <a:lstStyle/>
            <a:p>
              <a:pPr algn="ctr"/>
            </a:p>
          </p:txBody>
        </p:sp>
        <p:sp>
          <p:nvSpPr>
            <p:cNvPr id="40" name="Rectangle 39"/>
            <p:cNvSpPr/>
            <p:nvPr/>
          </p:nvSpPr>
          <p:spPr>
            <a:xfrm>
              <a:off x="10853928" y="3282696"/>
              <a:ext cx="54864" cy="365760"/>
            </a:xfrm>
            <a:prstGeom prst="rect">
              <a:avLst/>
            </a:prstGeom>
            <a:solidFill>
              <a:srgbClr val="6B5B4B"/>
            </a:solidFill>
            <a:ln>
              <a:noFill/>
            </a:ln>
          </p:spPr>
          <p:txBody>
            <a:bodyPr rtlCol="0" anchor="ctr"/>
            <a:lstStyle/>
            <a:p>
              <a:pPr algn="ctr"/>
            </a:p>
          </p:txBody>
        </p:sp>
        <p:sp>
          <p:nvSpPr>
            <p:cNvPr id="41" name="Rectangle 40"/>
            <p:cNvSpPr/>
            <p:nvPr/>
          </p:nvSpPr>
          <p:spPr>
            <a:xfrm>
              <a:off x="11173968" y="3282696"/>
              <a:ext cx="54864" cy="365760"/>
            </a:xfrm>
            <a:prstGeom prst="rect">
              <a:avLst/>
            </a:prstGeom>
            <a:solidFill>
              <a:srgbClr val="6B5B4B"/>
            </a:solidFill>
            <a:ln>
              <a:noFill/>
            </a:ln>
          </p:spPr>
          <p:txBody>
            <a:bodyPr rtlCol="0" anchor="ctr"/>
            <a:lstStyle/>
            <a:p>
              <a:pPr algn="ctr"/>
            </a:p>
          </p:txBody>
        </p:sp>
        <p:sp>
          <p:nvSpPr>
            <p:cNvPr id="42" name="Rectangle 41"/>
            <p:cNvSpPr/>
            <p:nvPr/>
          </p:nvSpPr>
          <p:spPr>
            <a:xfrm>
              <a:off x="731520" y="3310128"/>
              <a:ext cx="10698480" cy="54864"/>
            </a:xfrm>
            <a:prstGeom prst="rect">
              <a:avLst/>
            </a:prstGeom>
            <a:solidFill>
              <a:srgbClr val="9AA0A6"/>
            </a:solidFill>
            <a:ln>
              <a:noFill/>
            </a:ln>
          </p:spPr>
          <p:txBody>
            <a:bodyPr rtlCol="0" anchor="ctr"/>
            <a:lstStyle/>
            <a:p>
              <a:pPr algn="ctr"/>
            </a:p>
          </p:txBody>
        </p:sp>
        <p:sp>
          <p:nvSpPr>
            <p:cNvPr id="43" name="Rectangle 42"/>
            <p:cNvSpPr/>
            <p:nvPr/>
          </p:nvSpPr>
          <p:spPr>
            <a:xfrm>
              <a:off x="731520" y="3566160"/>
              <a:ext cx="10698480" cy="54864"/>
            </a:xfrm>
            <a:prstGeom prst="rect">
              <a:avLst/>
            </a:prstGeom>
            <a:solidFill>
              <a:srgbClr val="9AA0A6"/>
            </a:solidFill>
            <a:ln>
              <a:noFill/>
            </a:ln>
          </p:spPr>
          <p:txBody>
            <a:bodyPr rtlCol="0" anchor="ctr"/>
            <a:lstStyle/>
            <a:p>
              <a:pPr algn="ctr"/>
            </a:p>
          </p:txBody>
        </p:sp>
        <p:sp>
          <p:nvSpPr>
            <p:cNvPr id="44" name="Rectangle 43"/>
            <p:cNvSpPr/>
            <p:nvPr/>
          </p:nvSpPr>
          <p:spPr>
            <a:xfrm>
              <a:off x="768096" y="3977640"/>
              <a:ext cx="2578608" cy="347472"/>
            </a:xfrm>
            <a:prstGeom prst="rect">
              <a:avLst/>
            </a:prstGeom>
            <a:solidFill>
              <a:srgbClr val="502B30"/>
            </a:solidFill>
            <a:ln w="19050">
              <a:solidFill>
                <a:srgbClr val="E5484D"/>
              </a:solidFill>
            </a:ln>
          </p:spPr>
          <p:txBody>
            <a:bodyPr rtlCol="0" anchor="ctr" wrap="square" lIns="36576" tIns="0" rIns="36576" bIns="0">
              <a:noAutofit/>
            </a:bodyPr>
            <a:lstStyle/>
            <a:p>
              <a:pPr algn="ctr"/>
              <a:r>
                <a:rPr sz="1600" b="1" i="0" lang="en-GB">
                  <a:solidFill>
                    <a:srgbClr val="F2F2F2"/>
                  </a:solidFill>
                  <a:latin typeface="Arial"/>
                </a:rPr>
                <a:t>Block A: occupied</a:t>
              </a:r>
            </a:p>
          </p:txBody>
        </p:sp>
        <p:sp>
          <p:nvSpPr>
            <p:cNvPr id="45" name="Rectangle 44"/>
            <p:cNvSpPr/>
            <p:nvPr/>
          </p:nvSpPr>
          <p:spPr>
            <a:xfrm>
              <a:off x="3419856" y="3977640"/>
              <a:ext cx="2670048" cy="347472"/>
            </a:xfrm>
            <a:prstGeom prst="rect">
              <a:avLst/>
            </a:prstGeom>
            <a:solidFill>
              <a:srgbClr val="502B30"/>
            </a:solidFill>
            <a:ln w="19050">
              <a:solidFill>
                <a:srgbClr val="E5484D"/>
              </a:solidFill>
            </a:ln>
          </p:spPr>
          <p:txBody>
            <a:bodyPr rtlCol="0" anchor="ctr" wrap="square" lIns="36576" tIns="0" rIns="36576" bIns="0">
              <a:noAutofit/>
            </a:bodyPr>
            <a:lstStyle/>
            <a:p>
              <a:pPr algn="ctr"/>
              <a:r>
                <a:rPr sz="1600" b="1" i="0" lang="en-GB">
                  <a:solidFill>
                    <a:srgbClr val="F2F2F2"/>
                  </a:solidFill>
                  <a:latin typeface="Arial"/>
                </a:rPr>
                <a:t>Block B: occupied</a:t>
              </a:r>
            </a:p>
          </p:txBody>
        </p:sp>
        <p:sp>
          <p:nvSpPr>
            <p:cNvPr id="46" name="Rectangle 45"/>
            <p:cNvSpPr/>
            <p:nvPr/>
          </p:nvSpPr>
          <p:spPr>
            <a:xfrm>
              <a:off x="6163056" y="3977640"/>
              <a:ext cx="2670048" cy="347472"/>
            </a:xfrm>
            <a:prstGeom prst="rect">
              <a:avLst/>
            </a:prstGeom>
            <a:solidFill>
              <a:srgbClr val="264730"/>
            </a:solidFill>
            <a:ln w="19050">
              <a:solidFill>
                <a:srgbClr val="3FB950"/>
              </a:solidFill>
            </a:ln>
          </p:spPr>
          <p:txBody>
            <a:bodyPr rtlCol="0" anchor="ctr" wrap="square" lIns="36576" tIns="0" rIns="36576" bIns="0">
              <a:noAutofit/>
            </a:bodyPr>
            <a:lstStyle/>
            <a:p>
              <a:pPr algn="ctr"/>
              <a:r>
                <a:rPr sz="1600" b="1" i="0" lang="en-GB">
                  <a:solidFill>
                    <a:srgbClr val="F2F2F2"/>
                  </a:solidFill>
                  <a:latin typeface="Arial"/>
                </a:rPr>
                <a:t>Block C: free</a:t>
              </a:r>
            </a:p>
          </p:txBody>
        </p:sp>
        <p:sp>
          <p:nvSpPr>
            <p:cNvPr id="47" name="Rectangle 46"/>
            <p:cNvSpPr/>
            <p:nvPr/>
          </p:nvSpPr>
          <p:spPr>
            <a:xfrm>
              <a:off x="8906256" y="3977640"/>
              <a:ext cx="2487168" cy="347472"/>
            </a:xfrm>
            <a:prstGeom prst="rect">
              <a:avLst/>
            </a:prstGeom>
            <a:solidFill>
              <a:srgbClr val="264730"/>
            </a:solidFill>
            <a:ln w="19050">
              <a:solidFill>
                <a:srgbClr val="3FB950"/>
              </a:solidFill>
            </a:ln>
          </p:spPr>
          <p:txBody>
            <a:bodyPr rtlCol="0" anchor="ctr" wrap="square" lIns="36576" tIns="0" rIns="36576" bIns="0">
              <a:noAutofit/>
            </a:bodyPr>
            <a:lstStyle/>
            <a:p>
              <a:pPr algn="ctr"/>
              <a:r>
                <a:rPr sz="1600" b="1" i="0" lang="en-GB">
                  <a:solidFill>
                    <a:srgbClr val="F2F2F2"/>
                  </a:solidFill>
                  <a:latin typeface="Arial"/>
                </a:rPr>
                <a:t>Block D: free</a:t>
              </a:r>
            </a:p>
          </p:txBody>
        </p:sp>
        <p:grpSp>
          <p:nvGrpSpPr>
            <p:cNvPr id="48" name="Train in block B" descr="A steam train: an engine pulling wagons."/>
            <p:cNvGrpSpPr/>
            <p:nvPr/>
          </p:nvGrpSpPr>
          <p:grpSpPr>
            <a:xfrm>
              <a:off x="3657600" y="2721334"/>
              <a:ext cx="1828800" cy="616226"/>
              <a:chOff x="3657600" y="2721334"/>
              <a:chExt cx="1828800" cy="616226"/>
            </a:xfrm>
          </p:grpSpPr>
          <p:sp>
            <p:nvSpPr>
              <p:cNvPr id="49" name="Rectangle 48"/>
              <p:cNvSpPr/>
              <p:nvPr/>
            </p:nvSpPr>
            <p:spPr>
              <a:xfrm>
                <a:off x="3657600" y="2959873"/>
                <a:ext cx="530087" cy="298174"/>
              </a:xfrm>
              <a:prstGeom prst="rect">
                <a:avLst/>
              </a:prstGeom>
              <a:solidFill>
                <a:srgbClr val="6C7480"/>
              </a:solidFill>
              <a:ln w="9525">
                <a:solidFill>
                  <a:srgbClr val="101418"/>
                </a:solidFill>
              </a:ln>
            </p:spPr>
            <p:txBody>
              <a:bodyPr rtlCol="0" anchor="ctr"/>
              <a:lstStyle/>
              <a:p>
                <a:pPr algn="ctr"/>
              </a:p>
            </p:txBody>
          </p:sp>
          <p:sp>
            <p:nvSpPr>
              <p:cNvPr id="50" name="Oval 49"/>
              <p:cNvSpPr/>
              <p:nvPr/>
            </p:nvSpPr>
            <p:spPr>
              <a:xfrm>
                <a:off x="3723861" y="3205038"/>
                <a:ext cx="132522" cy="132522"/>
              </a:xfrm>
              <a:prstGeom prst="ellipse">
                <a:avLst/>
              </a:prstGeom>
              <a:solidFill>
                <a:srgbClr val="1B1D21"/>
              </a:solidFill>
              <a:ln w="12700">
                <a:solidFill>
                  <a:srgbClr val="9AA0A6"/>
                </a:solidFill>
              </a:ln>
            </p:spPr>
            <p:txBody>
              <a:bodyPr rtlCol="0" anchor="ctr"/>
              <a:lstStyle/>
              <a:p>
                <a:pPr algn="ctr"/>
              </a:p>
            </p:txBody>
          </p:sp>
          <p:sp>
            <p:nvSpPr>
              <p:cNvPr id="51" name="Oval 50"/>
              <p:cNvSpPr/>
              <p:nvPr/>
            </p:nvSpPr>
            <p:spPr>
              <a:xfrm>
                <a:off x="3988904" y="3205038"/>
                <a:ext cx="132522" cy="132522"/>
              </a:xfrm>
              <a:prstGeom prst="ellipse">
                <a:avLst/>
              </a:prstGeom>
              <a:solidFill>
                <a:srgbClr val="1B1D21"/>
              </a:solidFill>
              <a:ln w="12700">
                <a:solidFill>
                  <a:srgbClr val="9AA0A6"/>
                </a:solidFill>
              </a:ln>
            </p:spPr>
            <p:txBody>
              <a:bodyPr rtlCol="0" anchor="ctr"/>
              <a:lstStyle/>
              <a:p>
                <a:pPr algn="ctr"/>
              </a:p>
            </p:txBody>
          </p:sp>
          <p:sp>
            <p:nvSpPr>
              <p:cNvPr id="52" name="Rectangle 51"/>
              <p:cNvSpPr/>
              <p:nvPr/>
            </p:nvSpPr>
            <p:spPr>
              <a:xfrm>
                <a:off x="4187687" y="3171908"/>
                <a:ext cx="53009" cy="33130"/>
              </a:xfrm>
              <a:prstGeom prst="rect">
                <a:avLst/>
              </a:prstGeom>
              <a:solidFill>
                <a:srgbClr val="9AA0A6"/>
              </a:solidFill>
              <a:ln>
                <a:noFill/>
              </a:ln>
            </p:spPr>
            <p:txBody>
              <a:bodyPr rtlCol="0" anchor="ctr"/>
              <a:lstStyle/>
              <a:p>
                <a:pPr algn="ctr"/>
              </a:p>
            </p:txBody>
          </p:sp>
          <p:sp>
            <p:nvSpPr>
              <p:cNvPr id="53" name="Rectangle 52"/>
              <p:cNvSpPr/>
              <p:nvPr/>
            </p:nvSpPr>
            <p:spPr>
              <a:xfrm>
                <a:off x="4240696" y="2959873"/>
                <a:ext cx="530087" cy="298174"/>
              </a:xfrm>
              <a:prstGeom prst="rect">
                <a:avLst/>
              </a:prstGeom>
              <a:solidFill>
                <a:srgbClr val="6C7480"/>
              </a:solidFill>
              <a:ln w="9525">
                <a:solidFill>
                  <a:srgbClr val="101418"/>
                </a:solidFill>
              </a:ln>
            </p:spPr>
            <p:txBody>
              <a:bodyPr rtlCol="0" anchor="ctr"/>
              <a:lstStyle/>
              <a:p>
                <a:pPr algn="ctr"/>
              </a:p>
            </p:txBody>
          </p:sp>
          <p:sp>
            <p:nvSpPr>
              <p:cNvPr id="54" name="Oval 53"/>
              <p:cNvSpPr/>
              <p:nvPr/>
            </p:nvSpPr>
            <p:spPr>
              <a:xfrm>
                <a:off x="4306957" y="3205038"/>
                <a:ext cx="132522" cy="132522"/>
              </a:xfrm>
              <a:prstGeom prst="ellipse">
                <a:avLst/>
              </a:prstGeom>
              <a:solidFill>
                <a:srgbClr val="1B1D21"/>
              </a:solidFill>
              <a:ln w="12700">
                <a:solidFill>
                  <a:srgbClr val="9AA0A6"/>
                </a:solidFill>
              </a:ln>
            </p:spPr>
            <p:txBody>
              <a:bodyPr rtlCol="0" anchor="ctr"/>
              <a:lstStyle/>
              <a:p>
                <a:pPr algn="ctr"/>
              </a:p>
            </p:txBody>
          </p:sp>
          <p:sp>
            <p:nvSpPr>
              <p:cNvPr id="55" name="Oval 54"/>
              <p:cNvSpPr/>
              <p:nvPr/>
            </p:nvSpPr>
            <p:spPr>
              <a:xfrm>
                <a:off x="4572000" y="3205038"/>
                <a:ext cx="132522" cy="132522"/>
              </a:xfrm>
              <a:prstGeom prst="ellipse">
                <a:avLst/>
              </a:prstGeom>
              <a:solidFill>
                <a:srgbClr val="1B1D21"/>
              </a:solidFill>
              <a:ln w="12700">
                <a:solidFill>
                  <a:srgbClr val="9AA0A6"/>
                </a:solidFill>
              </a:ln>
            </p:spPr>
            <p:txBody>
              <a:bodyPr rtlCol="0" anchor="ctr"/>
              <a:lstStyle/>
              <a:p>
                <a:pPr algn="ctr"/>
              </a:p>
            </p:txBody>
          </p:sp>
          <p:sp>
            <p:nvSpPr>
              <p:cNvPr id="56" name="Rectangle 55"/>
              <p:cNvSpPr/>
              <p:nvPr/>
            </p:nvSpPr>
            <p:spPr>
              <a:xfrm>
                <a:off x="4770783" y="3171908"/>
                <a:ext cx="53009" cy="33130"/>
              </a:xfrm>
              <a:prstGeom prst="rect">
                <a:avLst/>
              </a:prstGeom>
              <a:solidFill>
                <a:srgbClr val="9AA0A6"/>
              </a:solidFill>
              <a:ln>
                <a:noFill/>
              </a:ln>
            </p:spPr>
            <p:txBody>
              <a:bodyPr rtlCol="0" anchor="ctr"/>
              <a:lstStyle/>
              <a:p>
                <a:pPr algn="ctr"/>
              </a:p>
            </p:txBody>
          </p:sp>
          <p:sp>
            <p:nvSpPr>
              <p:cNvPr id="57" name="Rectangle 56"/>
              <p:cNvSpPr/>
              <p:nvPr/>
            </p:nvSpPr>
            <p:spPr>
              <a:xfrm>
                <a:off x="4823791" y="2906864"/>
                <a:ext cx="662609" cy="364435"/>
              </a:xfrm>
              <a:prstGeom prst="rect">
                <a:avLst/>
              </a:prstGeom>
              <a:solidFill>
                <a:srgbClr val="F28C28"/>
              </a:solidFill>
              <a:ln w="9525">
                <a:solidFill>
                  <a:srgbClr val="101418"/>
                </a:solidFill>
              </a:ln>
            </p:spPr>
            <p:txBody>
              <a:bodyPr rtlCol="0" anchor="ctr"/>
              <a:lstStyle/>
              <a:p>
                <a:pPr algn="ctr"/>
              </a:p>
            </p:txBody>
          </p:sp>
          <p:sp>
            <p:nvSpPr>
              <p:cNvPr id="58" name="Bunker"/>
              <p:cNvSpPr/>
              <p:nvPr/>
            </p:nvSpPr>
            <p:spPr>
              <a:xfrm>
                <a:off x="4843670" y="2926743"/>
                <a:ext cx="172278" cy="132522"/>
              </a:xfrm>
              <a:prstGeom prst="rect">
                <a:avLst/>
              </a:prstGeom>
              <a:solidFill>
                <a:srgbClr val="1B1D21"/>
              </a:solidFill>
              <a:ln>
                <a:noFill/>
              </a:ln>
            </p:spPr>
            <p:txBody>
              <a:bodyPr rtlCol="0" anchor="ctr"/>
              <a:lstStyle/>
              <a:p>
                <a:pPr algn="ctr"/>
              </a:p>
            </p:txBody>
          </p:sp>
          <p:sp>
            <p:nvSpPr>
              <p:cNvPr id="59" name="Rectangle 58"/>
              <p:cNvSpPr/>
              <p:nvPr/>
            </p:nvSpPr>
            <p:spPr>
              <a:xfrm>
                <a:off x="5049078" y="2953247"/>
                <a:ext cx="92765" cy="92765"/>
              </a:xfrm>
              <a:prstGeom prst="rect">
                <a:avLst/>
              </a:prstGeom>
              <a:solidFill>
                <a:srgbClr val="2B2F36"/>
              </a:solidFill>
              <a:ln>
                <a:noFill/>
              </a:ln>
            </p:spPr>
            <p:txBody>
              <a:bodyPr rtlCol="0" anchor="ctr"/>
              <a:lstStyle/>
              <a:p>
                <a:pPr algn="ctr"/>
              </a:p>
            </p:txBody>
          </p:sp>
          <p:sp>
            <p:nvSpPr>
              <p:cNvPr id="60" name="Chimney"/>
              <p:cNvSpPr/>
              <p:nvPr/>
            </p:nvSpPr>
            <p:spPr>
              <a:xfrm>
                <a:off x="5340626" y="2721334"/>
                <a:ext cx="99391" cy="198783"/>
              </a:xfrm>
              <a:prstGeom prst="rect">
                <a:avLst/>
              </a:prstGeom>
              <a:solidFill>
                <a:srgbClr val="1B1D21"/>
              </a:solidFill>
              <a:ln>
                <a:noFill/>
              </a:ln>
            </p:spPr>
            <p:txBody>
              <a:bodyPr rtlCol="0" anchor="ctr"/>
              <a:lstStyle/>
              <a:p>
                <a:pPr algn="ctr"/>
              </a:p>
            </p:txBody>
          </p:sp>
          <p:sp>
            <p:nvSpPr>
              <p:cNvPr id="61" name="Oval 60"/>
              <p:cNvSpPr/>
              <p:nvPr/>
            </p:nvSpPr>
            <p:spPr>
              <a:xfrm>
                <a:off x="4890052" y="3205038"/>
                <a:ext cx="132522" cy="132522"/>
              </a:xfrm>
              <a:prstGeom prst="ellipse">
                <a:avLst/>
              </a:prstGeom>
              <a:solidFill>
                <a:srgbClr val="1B1D21"/>
              </a:solidFill>
              <a:ln w="12700">
                <a:solidFill>
                  <a:srgbClr val="9AA0A6"/>
                </a:solidFill>
              </a:ln>
            </p:spPr>
            <p:txBody>
              <a:bodyPr rtlCol="0" anchor="ctr"/>
              <a:lstStyle/>
              <a:p>
                <a:pPr algn="ctr"/>
              </a:p>
            </p:txBody>
          </p:sp>
          <p:sp>
            <p:nvSpPr>
              <p:cNvPr id="62" name="Oval 61"/>
              <p:cNvSpPr/>
              <p:nvPr/>
            </p:nvSpPr>
            <p:spPr>
              <a:xfrm>
                <a:off x="5088835" y="3205038"/>
                <a:ext cx="132522" cy="132522"/>
              </a:xfrm>
              <a:prstGeom prst="ellipse">
                <a:avLst/>
              </a:prstGeom>
              <a:solidFill>
                <a:srgbClr val="1B1D21"/>
              </a:solidFill>
              <a:ln w="12700">
                <a:solidFill>
                  <a:srgbClr val="9AA0A6"/>
                </a:solidFill>
              </a:ln>
            </p:spPr>
            <p:txBody>
              <a:bodyPr rtlCol="0" anchor="ctr"/>
              <a:lstStyle/>
              <a:p>
                <a:pPr algn="ctr"/>
              </a:p>
            </p:txBody>
          </p:sp>
          <p:sp>
            <p:nvSpPr>
              <p:cNvPr id="63" name="Oval 62"/>
              <p:cNvSpPr/>
              <p:nvPr/>
            </p:nvSpPr>
            <p:spPr>
              <a:xfrm>
                <a:off x="5287617" y="3205038"/>
                <a:ext cx="132522" cy="132522"/>
              </a:xfrm>
              <a:prstGeom prst="ellipse">
                <a:avLst/>
              </a:prstGeom>
              <a:solidFill>
                <a:srgbClr val="1B1D21"/>
              </a:solidFill>
              <a:ln w="12700">
                <a:solidFill>
                  <a:srgbClr val="9AA0A6"/>
                </a:solidFill>
              </a:ln>
            </p:spPr>
            <p:txBody>
              <a:bodyPr rtlCol="0" anchor="ctr"/>
              <a:lstStyle/>
              <a:p>
                <a:pPr algn="ctr"/>
              </a:p>
            </p:txBody>
          </p:sp>
        </p:grpSp>
        <p:grpSp>
          <p:nvGrpSpPr>
            <p:cNvPr id="64" name="Waiting train in block A" descr="A steam train: an engine pulling wagons."/>
            <p:cNvGrpSpPr/>
            <p:nvPr/>
          </p:nvGrpSpPr>
          <p:grpSpPr>
            <a:xfrm>
              <a:off x="822960" y="2810317"/>
              <a:ext cx="1564721" cy="527243"/>
              <a:chOff x="822960" y="2810317"/>
              <a:chExt cx="1564721" cy="527243"/>
            </a:xfrm>
          </p:grpSpPr>
          <p:sp>
            <p:nvSpPr>
              <p:cNvPr id="65" name="Rectangle 64"/>
              <p:cNvSpPr/>
              <p:nvPr/>
            </p:nvSpPr>
            <p:spPr>
              <a:xfrm>
                <a:off x="822960" y="3014411"/>
                <a:ext cx="453542" cy="255118"/>
              </a:xfrm>
              <a:prstGeom prst="rect">
                <a:avLst/>
              </a:prstGeom>
              <a:solidFill>
                <a:srgbClr val="6C7480"/>
              </a:solidFill>
              <a:ln w="9525">
                <a:solidFill>
                  <a:srgbClr val="101418"/>
                </a:solidFill>
              </a:ln>
            </p:spPr>
            <p:txBody>
              <a:bodyPr rtlCol="0" anchor="ctr"/>
              <a:lstStyle/>
              <a:p>
                <a:pPr algn="ctr"/>
              </a:p>
            </p:txBody>
          </p:sp>
          <p:sp>
            <p:nvSpPr>
              <p:cNvPr id="66" name="Oval 65"/>
              <p:cNvSpPr/>
              <p:nvPr/>
            </p:nvSpPr>
            <p:spPr>
              <a:xfrm>
                <a:off x="879653" y="3224174"/>
                <a:ext cx="113386" cy="113386"/>
              </a:xfrm>
              <a:prstGeom prst="ellipse">
                <a:avLst/>
              </a:prstGeom>
              <a:solidFill>
                <a:srgbClr val="1B1D21"/>
              </a:solidFill>
              <a:ln w="12700">
                <a:solidFill>
                  <a:srgbClr val="9AA0A6"/>
                </a:solidFill>
              </a:ln>
            </p:spPr>
            <p:txBody>
              <a:bodyPr rtlCol="0" anchor="ctr"/>
              <a:lstStyle/>
              <a:p>
                <a:pPr algn="ctr"/>
              </a:p>
            </p:txBody>
          </p:sp>
          <p:sp>
            <p:nvSpPr>
              <p:cNvPr id="67" name="Oval 66"/>
              <p:cNvSpPr/>
              <p:nvPr/>
            </p:nvSpPr>
            <p:spPr>
              <a:xfrm>
                <a:off x="1106424" y="3224174"/>
                <a:ext cx="113386" cy="113386"/>
              </a:xfrm>
              <a:prstGeom prst="ellipse">
                <a:avLst/>
              </a:prstGeom>
              <a:solidFill>
                <a:srgbClr val="1B1D21"/>
              </a:solidFill>
              <a:ln w="12700">
                <a:solidFill>
                  <a:srgbClr val="9AA0A6"/>
                </a:solidFill>
              </a:ln>
            </p:spPr>
            <p:txBody>
              <a:bodyPr rtlCol="0" anchor="ctr"/>
              <a:lstStyle/>
              <a:p>
                <a:pPr algn="ctr"/>
              </a:p>
            </p:txBody>
          </p:sp>
          <p:sp>
            <p:nvSpPr>
              <p:cNvPr id="68" name="Rectangle 67"/>
              <p:cNvSpPr/>
              <p:nvPr/>
            </p:nvSpPr>
            <p:spPr>
              <a:xfrm>
                <a:off x="1276502" y="3195828"/>
                <a:ext cx="45354" cy="28346"/>
              </a:xfrm>
              <a:prstGeom prst="rect">
                <a:avLst/>
              </a:prstGeom>
              <a:solidFill>
                <a:srgbClr val="9AA0A6"/>
              </a:solidFill>
              <a:ln>
                <a:noFill/>
              </a:ln>
            </p:spPr>
            <p:txBody>
              <a:bodyPr rtlCol="0" anchor="ctr"/>
              <a:lstStyle/>
              <a:p>
                <a:pPr algn="ctr"/>
              </a:p>
            </p:txBody>
          </p:sp>
          <p:sp>
            <p:nvSpPr>
              <p:cNvPr id="69" name="Rectangle 68"/>
              <p:cNvSpPr/>
              <p:nvPr/>
            </p:nvSpPr>
            <p:spPr>
              <a:xfrm>
                <a:off x="1321857" y="3014411"/>
                <a:ext cx="453542" cy="255118"/>
              </a:xfrm>
              <a:prstGeom prst="rect">
                <a:avLst/>
              </a:prstGeom>
              <a:solidFill>
                <a:srgbClr val="6C7480"/>
              </a:solidFill>
              <a:ln w="9525">
                <a:solidFill>
                  <a:srgbClr val="101418"/>
                </a:solidFill>
              </a:ln>
            </p:spPr>
            <p:txBody>
              <a:bodyPr rtlCol="0" anchor="ctr"/>
              <a:lstStyle/>
              <a:p>
                <a:pPr algn="ctr"/>
              </a:p>
            </p:txBody>
          </p:sp>
          <p:sp>
            <p:nvSpPr>
              <p:cNvPr id="70" name="Oval 69"/>
              <p:cNvSpPr/>
              <p:nvPr/>
            </p:nvSpPr>
            <p:spPr>
              <a:xfrm>
                <a:off x="1378549" y="3224174"/>
                <a:ext cx="113386" cy="113386"/>
              </a:xfrm>
              <a:prstGeom prst="ellipse">
                <a:avLst/>
              </a:prstGeom>
              <a:solidFill>
                <a:srgbClr val="1B1D21"/>
              </a:solidFill>
              <a:ln w="12700">
                <a:solidFill>
                  <a:srgbClr val="9AA0A6"/>
                </a:solidFill>
              </a:ln>
            </p:spPr>
            <p:txBody>
              <a:bodyPr rtlCol="0" anchor="ctr"/>
              <a:lstStyle/>
              <a:p>
                <a:pPr algn="ctr"/>
              </a:p>
            </p:txBody>
          </p:sp>
          <p:sp>
            <p:nvSpPr>
              <p:cNvPr id="71" name="Oval 70"/>
              <p:cNvSpPr/>
              <p:nvPr/>
            </p:nvSpPr>
            <p:spPr>
              <a:xfrm>
                <a:off x="1605321" y="3224174"/>
                <a:ext cx="113386" cy="113386"/>
              </a:xfrm>
              <a:prstGeom prst="ellipse">
                <a:avLst/>
              </a:prstGeom>
              <a:solidFill>
                <a:srgbClr val="1B1D21"/>
              </a:solidFill>
              <a:ln w="12700">
                <a:solidFill>
                  <a:srgbClr val="9AA0A6"/>
                </a:solidFill>
              </a:ln>
            </p:spPr>
            <p:txBody>
              <a:bodyPr rtlCol="0" anchor="ctr"/>
              <a:lstStyle/>
              <a:p>
                <a:pPr algn="ctr"/>
              </a:p>
            </p:txBody>
          </p:sp>
          <p:sp>
            <p:nvSpPr>
              <p:cNvPr id="72" name="Rectangle 71"/>
              <p:cNvSpPr/>
              <p:nvPr/>
            </p:nvSpPr>
            <p:spPr>
              <a:xfrm>
                <a:off x="1775399" y="3195828"/>
                <a:ext cx="45354" cy="28346"/>
              </a:xfrm>
              <a:prstGeom prst="rect">
                <a:avLst/>
              </a:prstGeom>
              <a:solidFill>
                <a:srgbClr val="9AA0A6"/>
              </a:solidFill>
              <a:ln>
                <a:noFill/>
              </a:ln>
            </p:spPr>
            <p:txBody>
              <a:bodyPr rtlCol="0" anchor="ctr"/>
              <a:lstStyle/>
              <a:p>
                <a:pPr algn="ctr"/>
              </a:p>
            </p:txBody>
          </p:sp>
          <p:sp>
            <p:nvSpPr>
              <p:cNvPr id="73" name="Rectangle 72"/>
              <p:cNvSpPr/>
              <p:nvPr/>
            </p:nvSpPr>
            <p:spPr>
              <a:xfrm>
                <a:off x="1820753" y="2969057"/>
                <a:ext cx="566928" cy="311810"/>
              </a:xfrm>
              <a:prstGeom prst="rect">
                <a:avLst/>
              </a:prstGeom>
              <a:solidFill>
                <a:srgbClr val="F28C28"/>
              </a:solidFill>
              <a:ln w="9525">
                <a:solidFill>
                  <a:srgbClr val="101418"/>
                </a:solidFill>
              </a:ln>
            </p:spPr>
            <p:txBody>
              <a:bodyPr rtlCol="0" anchor="ctr"/>
              <a:lstStyle/>
              <a:p>
                <a:pPr algn="ctr"/>
              </a:p>
            </p:txBody>
          </p:sp>
          <p:sp>
            <p:nvSpPr>
              <p:cNvPr id="74" name="Bunker"/>
              <p:cNvSpPr/>
              <p:nvPr/>
            </p:nvSpPr>
            <p:spPr>
              <a:xfrm>
                <a:off x="1837761" y="2986065"/>
                <a:ext cx="147401" cy="113386"/>
              </a:xfrm>
              <a:prstGeom prst="rect">
                <a:avLst/>
              </a:prstGeom>
              <a:solidFill>
                <a:srgbClr val="1B1D21"/>
              </a:solidFill>
              <a:ln>
                <a:noFill/>
              </a:ln>
            </p:spPr>
            <p:txBody>
              <a:bodyPr rtlCol="0" anchor="ctr"/>
              <a:lstStyle/>
              <a:p>
                <a:pPr algn="ctr"/>
              </a:p>
            </p:txBody>
          </p:sp>
          <p:sp>
            <p:nvSpPr>
              <p:cNvPr id="75" name="Rectangle 74"/>
              <p:cNvSpPr/>
              <p:nvPr/>
            </p:nvSpPr>
            <p:spPr>
              <a:xfrm>
                <a:off x="2013509" y="3008742"/>
                <a:ext cx="79370" cy="79370"/>
              </a:xfrm>
              <a:prstGeom prst="rect">
                <a:avLst/>
              </a:prstGeom>
              <a:solidFill>
                <a:srgbClr val="2B2F36"/>
              </a:solidFill>
              <a:ln>
                <a:noFill/>
              </a:ln>
            </p:spPr>
            <p:txBody>
              <a:bodyPr rtlCol="0" anchor="ctr"/>
              <a:lstStyle/>
              <a:p>
                <a:pPr algn="ctr"/>
              </a:p>
            </p:txBody>
          </p:sp>
          <p:sp>
            <p:nvSpPr>
              <p:cNvPr id="76" name="Chimney"/>
              <p:cNvSpPr/>
              <p:nvPr/>
            </p:nvSpPr>
            <p:spPr>
              <a:xfrm>
                <a:off x="2262957" y="2810317"/>
                <a:ext cx="85039" cy="170078"/>
              </a:xfrm>
              <a:prstGeom prst="rect">
                <a:avLst/>
              </a:prstGeom>
              <a:solidFill>
                <a:srgbClr val="1B1D21"/>
              </a:solidFill>
              <a:ln>
                <a:noFill/>
              </a:ln>
            </p:spPr>
            <p:txBody>
              <a:bodyPr rtlCol="0" anchor="ctr"/>
              <a:lstStyle/>
              <a:p>
                <a:pPr algn="ctr"/>
              </a:p>
            </p:txBody>
          </p:sp>
          <p:sp>
            <p:nvSpPr>
              <p:cNvPr id="77" name="Oval 76"/>
              <p:cNvSpPr/>
              <p:nvPr/>
            </p:nvSpPr>
            <p:spPr>
              <a:xfrm>
                <a:off x="1877446" y="3224174"/>
                <a:ext cx="113386" cy="113386"/>
              </a:xfrm>
              <a:prstGeom prst="ellipse">
                <a:avLst/>
              </a:prstGeom>
              <a:solidFill>
                <a:srgbClr val="1B1D21"/>
              </a:solidFill>
              <a:ln w="12700">
                <a:solidFill>
                  <a:srgbClr val="9AA0A6"/>
                </a:solidFill>
              </a:ln>
            </p:spPr>
            <p:txBody>
              <a:bodyPr rtlCol="0" anchor="ctr"/>
              <a:lstStyle/>
              <a:p>
                <a:pPr algn="ctr"/>
              </a:p>
            </p:txBody>
          </p:sp>
          <p:sp>
            <p:nvSpPr>
              <p:cNvPr id="78" name="Oval 77"/>
              <p:cNvSpPr/>
              <p:nvPr/>
            </p:nvSpPr>
            <p:spPr>
              <a:xfrm>
                <a:off x="2047524" y="3224174"/>
                <a:ext cx="113386" cy="113386"/>
              </a:xfrm>
              <a:prstGeom prst="ellipse">
                <a:avLst/>
              </a:prstGeom>
              <a:solidFill>
                <a:srgbClr val="1B1D21"/>
              </a:solidFill>
              <a:ln w="12700">
                <a:solidFill>
                  <a:srgbClr val="9AA0A6"/>
                </a:solidFill>
              </a:ln>
            </p:spPr>
            <p:txBody>
              <a:bodyPr rtlCol="0" anchor="ctr"/>
              <a:lstStyle/>
              <a:p>
                <a:pPr algn="ctr"/>
              </a:p>
            </p:txBody>
          </p:sp>
          <p:sp>
            <p:nvSpPr>
              <p:cNvPr id="79" name="Oval 78"/>
              <p:cNvSpPr/>
              <p:nvPr/>
            </p:nvSpPr>
            <p:spPr>
              <a:xfrm>
                <a:off x="2217603" y="3224174"/>
                <a:ext cx="113386" cy="113386"/>
              </a:xfrm>
              <a:prstGeom prst="ellipse">
                <a:avLst/>
              </a:prstGeom>
              <a:solidFill>
                <a:srgbClr val="1B1D21"/>
              </a:solidFill>
              <a:ln w="12700">
                <a:solidFill>
                  <a:srgbClr val="9AA0A6"/>
                </a:solidFill>
              </a:ln>
            </p:spPr>
            <p:txBody>
              <a:bodyPr rtlCol="0" anchor="ctr"/>
              <a:lstStyle/>
              <a:p>
                <a:pPr algn="ctr"/>
              </a:p>
            </p:txBody>
          </p:sp>
        </p:grpSp>
        <p:grpSp>
          <p:nvGrpSpPr>
            <p:cNvPr id="80" name="Signal stop" descr="Semaphore stop signal, arm flat: STOP."/>
            <p:cNvGrpSpPr/>
            <p:nvPr/>
          </p:nvGrpSpPr>
          <p:grpSpPr>
            <a:xfrm>
              <a:off x="2688336" y="2450592"/>
              <a:ext cx="1764792" cy="1389888"/>
              <a:chOff x="2688336" y="2450592"/>
              <a:chExt cx="1764792" cy="1389888"/>
            </a:xfrm>
          </p:grpSpPr>
          <p:sp>
            <p:nvSpPr>
              <p:cNvPr id="81" name="Rectangle 80"/>
              <p:cNvSpPr/>
              <p:nvPr/>
            </p:nvSpPr>
            <p:spPr>
              <a:xfrm>
                <a:off x="3227832" y="3776472"/>
                <a:ext cx="310896" cy="64008"/>
              </a:xfrm>
              <a:prstGeom prst="rect">
                <a:avLst/>
              </a:prstGeom>
              <a:solidFill>
                <a:srgbClr val="9AA0A6"/>
              </a:solidFill>
              <a:ln>
                <a:noFill/>
              </a:ln>
            </p:spPr>
            <p:txBody>
              <a:bodyPr rtlCol="0" anchor="ctr"/>
              <a:lstStyle/>
              <a:p>
                <a:pPr algn="ctr"/>
              </a:p>
            </p:txBody>
          </p:sp>
          <p:sp>
            <p:nvSpPr>
              <p:cNvPr id="82" name="Rectangle 81"/>
              <p:cNvSpPr/>
              <p:nvPr/>
            </p:nvSpPr>
            <p:spPr>
              <a:xfrm>
                <a:off x="3328416" y="2834640"/>
                <a:ext cx="109728" cy="1005840"/>
              </a:xfrm>
              <a:prstGeom prst="rect">
                <a:avLst/>
              </a:prstGeom>
              <a:solidFill>
                <a:srgbClr val="E8E8E8"/>
              </a:solidFill>
              <a:ln>
                <a:noFill/>
              </a:ln>
            </p:spPr>
            <p:txBody>
              <a:bodyPr rtlCol="0" anchor="ctr"/>
              <a:lstStyle/>
              <a:p>
                <a:pPr algn="ctr"/>
              </a:p>
            </p:txBody>
          </p:sp>
          <p:sp>
            <p:nvSpPr>
              <p:cNvPr id="83" name="Oval 82"/>
              <p:cNvSpPr/>
              <p:nvPr/>
            </p:nvSpPr>
            <p:spPr>
              <a:xfrm>
                <a:off x="3319272" y="2734056"/>
                <a:ext cx="128016" cy="128016"/>
              </a:xfrm>
              <a:prstGeom prst="ellipse">
                <a:avLst/>
              </a:prstGeom>
              <a:solidFill>
                <a:srgbClr val="E8E8E8"/>
              </a:solidFill>
              <a:ln>
                <a:noFill/>
              </a:ln>
            </p:spPr>
            <p:txBody>
              <a:bodyPr rtlCol="0" anchor="ctr"/>
              <a:lstStyle/>
              <a:p>
                <a:pPr algn="ctr"/>
              </a:p>
            </p:txBody>
          </p:sp>
          <p:sp>
            <p:nvSpPr>
              <p:cNvPr id="84" name="Freeform 83"/>
              <p:cNvSpPr/>
              <p:nvPr/>
            </p:nvSpPr>
            <p:spPr>
              <a:xfrm>
                <a:off x="2688336" y="2980944"/>
                <a:ext cx="640080" cy="128016"/>
              </a:xfrm>
              <a:custGeom>
                <a:avLst/>
                <a:gdLst/>
                <a:ahLst/>
                <a:cxnLst/>
                <a:rect l="l" t="t" r="r" b="b"/>
                <a:pathLst>
                  <a:path w="640080" h="128016">
                    <a:moveTo>
                      <a:pt x="640080" y="0"/>
                    </a:moveTo>
                    <a:lnTo>
                      <a:pt x="0" y="0"/>
                    </a:lnTo>
                    <a:lnTo>
                      <a:pt x="0" y="128016"/>
                    </a:lnTo>
                    <a:lnTo>
                      <a:pt x="640080" y="128016"/>
                    </a:lnTo>
                    <a:close/>
                  </a:path>
                </a:pathLst>
              </a:custGeom>
              <a:solidFill>
                <a:srgbClr val="E5484D"/>
              </a:solidFill>
              <a:ln w="9525">
                <a:solidFill>
                  <a:srgbClr val="101418"/>
                </a:solidFill>
              </a:ln>
            </p:spPr>
            <p:txBody>
              <a:bodyPr rtlCol="0" anchor="ctr"/>
              <a:lstStyle/>
              <a:p>
                <a:pPr algn="ctr"/>
              </a:p>
            </p:txBody>
          </p:sp>
          <p:sp>
            <p:nvSpPr>
              <p:cNvPr id="85" name="Freeform 84"/>
              <p:cNvSpPr/>
              <p:nvPr/>
            </p:nvSpPr>
            <p:spPr>
              <a:xfrm>
                <a:off x="2854757" y="2980944"/>
                <a:ext cx="76809" cy="128016"/>
              </a:xfrm>
              <a:custGeom>
                <a:avLst/>
                <a:gdLst/>
                <a:ahLst/>
                <a:cxnLst/>
                <a:rect l="l" t="t" r="r" b="b"/>
                <a:pathLst>
                  <a:path w="76809" h="128016">
                    <a:moveTo>
                      <a:pt x="76809" y="0"/>
                    </a:moveTo>
                    <a:lnTo>
                      <a:pt x="0" y="0"/>
                    </a:lnTo>
                    <a:lnTo>
                      <a:pt x="0" y="128016"/>
                    </a:lnTo>
                    <a:lnTo>
                      <a:pt x="76809" y="128016"/>
                    </a:lnTo>
                    <a:close/>
                  </a:path>
                </a:pathLst>
              </a:custGeom>
              <a:solidFill>
                <a:srgbClr val="FFFFFF"/>
              </a:solidFill>
              <a:ln>
                <a:noFill/>
              </a:ln>
            </p:spPr>
            <p:txBody>
              <a:bodyPr rtlCol="0" anchor="ctr"/>
              <a:lstStyle/>
              <a:p>
                <a:pPr algn="ctr"/>
              </a:p>
            </p:txBody>
          </p:sp>
          <p:sp>
            <p:nvSpPr>
              <p:cNvPr id="86" name="Oval 85"/>
              <p:cNvSpPr/>
              <p:nvPr/>
            </p:nvSpPr>
            <p:spPr>
              <a:xfrm>
                <a:off x="3461004" y="2967228"/>
                <a:ext cx="155448" cy="155448"/>
              </a:xfrm>
              <a:prstGeom prst="ellipse">
                <a:avLst/>
              </a:prstGeom>
              <a:solidFill>
                <a:srgbClr val="E5484D"/>
              </a:solidFill>
              <a:ln w="9525">
                <a:solidFill>
                  <a:srgbClr val="101418"/>
                </a:solidFill>
              </a:ln>
            </p:spPr>
            <p:txBody>
              <a:bodyPr rtlCol="0" anchor="ctr"/>
              <a:lstStyle/>
              <a:p>
                <a:pPr algn="ctr"/>
              </a:p>
            </p:txBody>
          </p:sp>
          <p:sp>
            <p:nvSpPr>
              <p:cNvPr id="87" name="Rounded Rectangle 86"/>
              <p:cNvSpPr/>
              <p:nvPr/>
            </p:nvSpPr>
            <p:spPr>
              <a:xfrm>
                <a:off x="3584448" y="2450592"/>
                <a:ext cx="868680" cy="329184"/>
              </a:xfrm>
              <a:prstGeom prst="roundRect">
                <a:avLst>
                  <a:gd name="adj" fmla="val 50000"/>
                </a:avLst>
              </a:prstGeom>
              <a:solidFill>
                <a:srgbClr val="B3262B"/>
              </a:solidFill>
              <a:ln>
                <a:noFill/>
              </a:ln>
            </p:spPr>
            <p:txBody>
              <a:bodyPr rtlCol="0" anchor="ctr" wrap="square" lIns="54864" tIns="18288" rIns="54864" bIns="18288">
                <a:noAutofit/>
              </a:bodyPr>
              <a:lstStyle/>
              <a:p>
                <a:pPr algn="ctr"/>
                <a:r>
                  <a:rPr sz="1400" b="1" i="0" lang="en-GB">
                    <a:solidFill>
                      <a:srgbClr val="F2F2F2"/>
                    </a:solidFill>
                    <a:latin typeface="Arial"/>
                  </a:rPr>
                  <a:t>STOP</a:t>
                </a:r>
              </a:p>
            </p:txBody>
          </p:sp>
        </p:grpSp>
        <p:grpSp>
          <p:nvGrpSpPr>
            <p:cNvPr id="88" name="Signal clear" descr="Semaphore stop signal, arm raised: CLEAR."/>
            <p:cNvGrpSpPr/>
            <p:nvPr/>
          </p:nvGrpSpPr>
          <p:grpSpPr>
            <a:xfrm>
              <a:off x="5573751" y="2450592"/>
              <a:ext cx="1622577" cy="1389888"/>
              <a:chOff x="5573751" y="2450592"/>
              <a:chExt cx="1622577" cy="1389888"/>
            </a:xfrm>
          </p:grpSpPr>
          <p:sp>
            <p:nvSpPr>
              <p:cNvPr id="89" name="Rectangle 88"/>
              <p:cNvSpPr/>
              <p:nvPr/>
            </p:nvSpPr>
            <p:spPr>
              <a:xfrm>
                <a:off x="5971032" y="3776472"/>
                <a:ext cx="310896" cy="64008"/>
              </a:xfrm>
              <a:prstGeom prst="rect">
                <a:avLst/>
              </a:prstGeom>
              <a:solidFill>
                <a:srgbClr val="9AA0A6"/>
              </a:solidFill>
              <a:ln>
                <a:noFill/>
              </a:ln>
            </p:spPr>
            <p:txBody>
              <a:bodyPr rtlCol="0" anchor="ctr"/>
              <a:lstStyle/>
              <a:p>
                <a:pPr algn="ctr"/>
              </a:p>
            </p:txBody>
          </p:sp>
          <p:sp>
            <p:nvSpPr>
              <p:cNvPr id="90" name="Rectangle 89"/>
              <p:cNvSpPr/>
              <p:nvPr/>
            </p:nvSpPr>
            <p:spPr>
              <a:xfrm>
                <a:off x="6071616" y="2834640"/>
                <a:ext cx="109728" cy="1005840"/>
              </a:xfrm>
              <a:prstGeom prst="rect">
                <a:avLst/>
              </a:prstGeom>
              <a:solidFill>
                <a:srgbClr val="E8E8E8"/>
              </a:solidFill>
              <a:ln>
                <a:noFill/>
              </a:ln>
            </p:spPr>
            <p:txBody>
              <a:bodyPr rtlCol="0" anchor="ctr"/>
              <a:lstStyle/>
              <a:p>
                <a:pPr algn="ctr"/>
              </a:p>
            </p:txBody>
          </p:sp>
          <p:sp>
            <p:nvSpPr>
              <p:cNvPr id="91" name="Oval 90"/>
              <p:cNvSpPr/>
              <p:nvPr/>
            </p:nvSpPr>
            <p:spPr>
              <a:xfrm>
                <a:off x="6062472" y="2734056"/>
                <a:ext cx="128016" cy="128016"/>
              </a:xfrm>
              <a:prstGeom prst="ellipse">
                <a:avLst/>
              </a:prstGeom>
              <a:solidFill>
                <a:srgbClr val="E8E8E8"/>
              </a:solidFill>
              <a:ln>
                <a:noFill/>
              </a:ln>
            </p:spPr>
            <p:txBody>
              <a:bodyPr rtlCol="0" anchor="ctr"/>
              <a:lstStyle/>
              <a:p>
                <a:pPr algn="ctr"/>
              </a:p>
            </p:txBody>
          </p:sp>
          <p:sp>
            <p:nvSpPr>
              <p:cNvPr id="92" name="Freeform 91"/>
              <p:cNvSpPr/>
              <p:nvPr/>
            </p:nvSpPr>
            <p:spPr>
              <a:xfrm>
                <a:off x="5573751" y="2547087"/>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p>
            </p:txBody>
          </p:sp>
          <p:sp>
            <p:nvSpPr>
              <p:cNvPr id="93" name="Freeform 92"/>
              <p:cNvSpPr/>
              <p:nvPr/>
            </p:nvSpPr>
            <p:spPr>
              <a:xfrm>
                <a:off x="5691428" y="2664764"/>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p>
            </p:txBody>
          </p:sp>
          <p:sp>
            <p:nvSpPr>
              <p:cNvPr id="94" name="Oval 93"/>
              <p:cNvSpPr/>
              <p:nvPr/>
            </p:nvSpPr>
            <p:spPr>
              <a:xfrm>
                <a:off x="6204204" y="2967228"/>
                <a:ext cx="155448" cy="155448"/>
              </a:xfrm>
              <a:prstGeom prst="ellipse">
                <a:avLst/>
              </a:prstGeom>
              <a:solidFill>
                <a:srgbClr val="3FB950"/>
              </a:solidFill>
              <a:ln w="9525">
                <a:solidFill>
                  <a:srgbClr val="101418"/>
                </a:solidFill>
              </a:ln>
            </p:spPr>
            <p:txBody>
              <a:bodyPr rtlCol="0" anchor="ctr"/>
              <a:lstStyle/>
              <a:p>
                <a:pPr algn="ctr"/>
              </a:p>
            </p:txBody>
          </p:sp>
          <p:sp>
            <p:nvSpPr>
              <p:cNvPr id="95" name="Rounded Rectangle 94"/>
              <p:cNvSpPr/>
              <p:nvPr/>
            </p:nvSpPr>
            <p:spPr>
              <a:xfrm>
                <a:off x="6327648" y="2450592"/>
                <a:ext cx="86868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CLEAR</a:t>
                </a:r>
              </a:p>
            </p:txBody>
          </p:sp>
        </p:grpSp>
        <p:grpSp>
          <p:nvGrpSpPr>
            <p:cNvPr id="96" name="Signal clear" descr="Semaphore stop signal, arm raised: CLEAR."/>
            <p:cNvGrpSpPr/>
            <p:nvPr/>
          </p:nvGrpSpPr>
          <p:grpSpPr>
            <a:xfrm>
              <a:off x="8316951" y="2450592"/>
              <a:ext cx="1622577" cy="1389888"/>
              <a:chOff x="8316951" y="2450592"/>
              <a:chExt cx="1622577" cy="1389888"/>
            </a:xfrm>
          </p:grpSpPr>
          <p:sp>
            <p:nvSpPr>
              <p:cNvPr id="97" name="Rectangle 96"/>
              <p:cNvSpPr/>
              <p:nvPr/>
            </p:nvSpPr>
            <p:spPr>
              <a:xfrm>
                <a:off x="8714232" y="3776472"/>
                <a:ext cx="310896" cy="64008"/>
              </a:xfrm>
              <a:prstGeom prst="rect">
                <a:avLst/>
              </a:prstGeom>
              <a:solidFill>
                <a:srgbClr val="9AA0A6"/>
              </a:solidFill>
              <a:ln>
                <a:noFill/>
              </a:ln>
            </p:spPr>
            <p:txBody>
              <a:bodyPr rtlCol="0" anchor="ctr"/>
              <a:lstStyle/>
              <a:p>
                <a:pPr algn="ctr"/>
              </a:p>
            </p:txBody>
          </p:sp>
          <p:sp>
            <p:nvSpPr>
              <p:cNvPr id="98" name="Rectangle 97"/>
              <p:cNvSpPr/>
              <p:nvPr/>
            </p:nvSpPr>
            <p:spPr>
              <a:xfrm>
                <a:off x="8814816" y="2834640"/>
                <a:ext cx="109728" cy="1005840"/>
              </a:xfrm>
              <a:prstGeom prst="rect">
                <a:avLst/>
              </a:prstGeom>
              <a:solidFill>
                <a:srgbClr val="E8E8E8"/>
              </a:solidFill>
              <a:ln>
                <a:noFill/>
              </a:ln>
            </p:spPr>
            <p:txBody>
              <a:bodyPr rtlCol="0" anchor="ctr"/>
              <a:lstStyle/>
              <a:p>
                <a:pPr algn="ctr"/>
              </a:p>
            </p:txBody>
          </p:sp>
          <p:sp>
            <p:nvSpPr>
              <p:cNvPr id="99" name="Oval 98"/>
              <p:cNvSpPr/>
              <p:nvPr/>
            </p:nvSpPr>
            <p:spPr>
              <a:xfrm>
                <a:off x="8805672" y="2734056"/>
                <a:ext cx="128016" cy="128016"/>
              </a:xfrm>
              <a:prstGeom prst="ellipse">
                <a:avLst/>
              </a:prstGeom>
              <a:solidFill>
                <a:srgbClr val="E8E8E8"/>
              </a:solidFill>
              <a:ln>
                <a:noFill/>
              </a:ln>
            </p:spPr>
            <p:txBody>
              <a:bodyPr rtlCol="0" anchor="ctr"/>
              <a:lstStyle/>
              <a:p>
                <a:pPr algn="ctr"/>
              </a:p>
            </p:txBody>
          </p:sp>
          <p:sp>
            <p:nvSpPr>
              <p:cNvPr id="100" name="Freeform 99"/>
              <p:cNvSpPr/>
              <p:nvPr/>
            </p:nvSpPr>
            <p:spPr>
              <a:xfrm>
                <a:off x="8316951" y="2547087"/>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p>
            </p:txBody>
          </p:sp>
          <p:sp>
            <p:nvSpPr>
              <p:cNvPr id="101" name="Freeform 100"/>
              <p:cNvSpPr/>
              <p:nvPr/>
            </p:nvSpPr>
            <p:spPr>
              <a:xfrm>
                <a:off x="8434628" y="2664764"/>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p>
            </p:txBody>
          </p:sp>
          <p:sp>
            <p:nvSpPr>
              <p:cNvPr id="102" name="Oval 101"/>
              <p:cNvSpPr/>
              <p:nvPr/>
            </p:nvSpPr>
            <p:spPr>
              <a:xfrm>
                <a:off x="8947404" y="2967228"/>
                <a:ext cx="155448" cy="155448"/>
              </a:xfrm>
              <a:prstGeom prst="ellipse">
                <a:avLst/>
              </a:prstGeom>
              <a:solidFill>
                <a:srgbClr val="3FB950"/>
              </a:solidFill>
              <a:ln w="9525">
                <a:solidFill>
                  <a:srgbClr val="101418"/>
                </a:solidFill>
              </a:ln>
            </p:spPr>
            <p:txBody>
              <a:bodyPr rtlCol="0" anchor="ctr"/>
              <a:lstStyle/>
              <a:p>
                <a:pPr algn="ctr"/>
              </a:p>
            </p:txBody>
          </p:sp>
          <p:sp>
            <p:nvSpPr>
              <p:cNvPr id="103" name="Rounded Rectangle 102"/>
              <p:cNvSpPr/>
              <p:nvPr/>
            </p:nvSpPr>
            <p:spPr>
              <a:xfrm>
                <a:off x="9070848" y="2450592"/>
                <a:ext cx="86868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CLEAR</a:t>
                </a:r>
              </a:p>
            </p:txBody>
          </p:sp>
        </p:grpSp>
        <p:cxnSp>
          <p:nvCxnSpPr>
            <p:cNvPr id="104" name="Connector 103"/>
            <p:cNvCxnSpPr/>
            <p:nvPr/>
          </p:nvCxnSpPr>
          <p:spPr>
            <a:xfrm>
              <a:off x="6126480" y="2057400"/>
              <a:ext cx="2743200" cy="0"/>
            </a:xfrm>
            <a:prstGeom prst="line">
              <a:avLst/>
            </a:prstGeom>
            <a:ln w="19050">
              <a:solidFill>
                <a:srgbClr val="F2F2F2"/>
              </a:solidFill>
              <a:headEnd type="triangle" w="med" len="med"/>
              <a:tailEnd type="triangle" w="med" len="med"/>
            </a:ln>
          </p:spPr>
        </p:cxnSp>
        <p:cxnSp>
          <p:nvCxnSpPr>
            <p:cNvPr id="105" name="Connector 104"/>
            <p:cNvCxnSpPr/>
            <p:nvPr/>
          </p:nvCxnSpPr>
          <p:spPr>
            <a:xfrm>
              <a:off x="6126480" y="1920240"/>
              <a:ext cx="0" cy="274320"/>
            </a:xfrm>
            <a:prstGeom prst="line">
              <a:avLst/>
            </a:prstGeom>
            <a:ln w="19050">
              <a:solidFill>
                <a:srgbClr val="F2F2F2"/>
              </a:solidFill>
            </a:ln>
          </p:spPr>
        </p:cxnSp>
        <p:cxnSp>
          <p:nvCxnSpPr>
            <p:cNvPr id="106" name="Connector 105"/>
            <p:cNvCxnSpPr/>
            <p:nvPr/>
          </p:nvCxnSpPr>
          <p:spPr>
            <a:xfrm>
              <a:off x="8869680" y="1920240"/>
              <a:ext cx="0" cy="274320"/>
            </a:xfrm>
            <a:prstGeom prst="line">
              <a:avLst/>
            </a:prstGeom>
            <a:ln w="19050">
              <a:solidFill>
                <a:srgbClr val="F2F2F2"/>
              </a:solidFill>
            </a:ln>
          </p:spPr>
        </p:cxnSp>
        <p:sp>
          <p:nvSpPr>
            <p:cNvPr id="107" name="TextBox 106"/>
            <p:cNvSpPr txBox="1"/>
            <p:nvPr/>
          </p:nvSpPr>
          <p:spPr>
            <a:xfrm>
              <a:off x="6126480" y="1673352"/>
              <a:ext cx="2743200" cy="347472"/>
            </a:xfrm>
            <a:prstGeom prst="rect">
              <a:avLst/>
            </a:prstGeom>
            <a:noFill/>
          </p:spPr>
          <p:txBody>
            <a:bodyPr wrap="square" lIns="0" tIns="0" rIns="0" bIns="0" anchor="b">
              <a:noAutofit/>
            </a:bodyPr>
            <a:lstStyle/>
            <a:p>
              <a:pPr algn="ctr"/>
              <a:r>
                <a:rPr sz="1800" b="1" i="0" lang="en-GB">
                  <a:solidFill>
                    <a:srgbClr val="F2F2F2"/>
                  </a:solidFill>
                  <a:latin typeface="Arial"/>
                </a:rPr>
                <a:t>One block</a:t>
              </a:r>
            </a:p>
          </p:txBody>
        </p:sp>
        <p:sp>
          <p:nvSpPr>
            <p:cNvPr id="108" name="TextBox 107"/>
            <p:cNvSpPr txBox="1"/>
            <p:nvPr/>
          </p:nvSpPr>
          <p:spPr>
            <a:xfrm>
              <a:off x="822960" y="1874520"/>
              <a:ext cx="1280160" cy="365760"/>
            </a:xfrm>
            <a:prstGeom prst="rect">
              <a:avLst/>
            </a:prstGeom>
            <a:noFill/>
          </p:spPr>
          <p:txBody>
            <a:bodyPr wrap="square" lIns="0" tIns="0" rIns="0" bIns="0" anchor="ctr">
              <a:noAutofit/>
            </a:bodyPr>
            <a:lstStyle/>
            <a:p>
              <a:pPr algn="l"/>
              <a:r>
                <a:rPr sz="1800" b="1" i="0" lang="en-GB">
                  <a:solidFill>
                    <a:srgbClr val="F2F2F2"/>
                  </a:solidFill>
                  <a:latin typeface="Arial"/>
                </a:rPr>
                <a:t>Waits</a:t>
              </a:r>
            </a:p>
          </p:txBody>
        </p:sp>
        <p:cxnSp>
          <p:nvCxnSpPr>
            <p:cNvPr id="109" name="Connector 108"/>
            <p:cNvCxnSpPr/>
            <p:nvPr/>
          </p:nvCxnSpPr>
          <p:spPr>
            <a:xfrm>
              <a:off x="1554480" y="2240280"/>
              <a:ext cx="320040" cy="484632"/>
            </a:xfrm>
            <a:prstGeom prst="line">
              <a:avLst/>
            </a:prstGeom>
            <a:ln w="28575">
              <a:solidFill>
                <a:srgbClr val="F28C28"/>
              </a:solidFill>
              <a:tailEnd type="triangle" w="lg" len="lg"/>
            </a:ln>
          </p:spPr>
        </p:cxnSp>
      </p:grpSp>
      <p:grpSp>
        <p:nvGrpSpPr>
          <p:cNvPr id="110" name="Legend" descr="Legend: arm flat means stop; arm raised means go."/>
          <p:cNvGrpSpPr/>
          <p:nvPr/>
        </p:nvGrpSpPr>
        <p:grpSpPr>
          <a:xfrm>
            <a:off x="543154" y="4526280"/>
            <a:ext cx="4577486" cy="868680"/>
            <a:chOff x="543154" y="4526280"/>
            <a:chExt cx="4577486" cy="868680"/>
          </a:xfrm>
        </p:grpSpPr>
        <p:sp>
          <p:nvSpPr>
            <p:cNvPr id="111" name="Rounded Rectangle 110"/>
            <p:cNvSpPr/>
            <p:nvPr/>
          </p:nvSpPr>
          <p:spPr>
            <a:xfrm>
              <a:off x="548640" y="4526280"/>
              <a:ext cx="4572000" cy="868680"/>
            </a:xfrm>
            <a:prstGeom prst="roundRect">
              <a:avLst>
                <a:gd name="adj" fmla="val 8421"/>
              </a:avLst>
            </a:prstGeom>
            <a:solidFill>
              <a:srgbClr val="2B2F36"/>
            </a:solidFill>
            <a:ln>
              <a:noFill/>
            </a:ln>
          </p:spPr>
          <p:txBody>
            <a:bodyPr rtlCol="0" anchor="ctr"/>
            <a:lstStyle/>
            <a:p>
              <a:pPr algn="ctr"/>
            </a:p>
          </p:txBody>
        </p:sp>
        <p:grpSp>
          <p:nvGrpSpPr>
            <p:cNvPr id="112" name="Signal stop" descr="Semaphore stop signal, arm flat: STOP."/>
            <p:cNvGrpSpPr/>
            <p:nvPr/>
          </p:nvGrpSpPr>
          <p:grpSpPr>
            <a:xfrm>
              <a:off x="543154" y="4657954"/>
              <a:ext cx="556869" cy="663854"/>
              <a:chOff x="543154" y="4657954"/>
              <a:chExt cx="556869" cy="663854"/>
            </a:xfrm>
          </p:grpSpPr>
          <p:sp>
            <p:nvSpPr>
              <p:cNvPr id="113" name="Rectangle 112"/>
              <p:cNvSpPr/>
              <p:nvPr/>
            </p:nvSpPr>
            <p:spPr>
              <a:xfrm>
                <a:off x="866851" y="5283403"/>
                <a:ext cx="186538" cy="38405"/>
              </a:xfrm>
              <a:prstGeom prst="rect">
                <a:avLst/>
              </a:prstGeom>
              <a:solidFill>
                <a:srgbClr val="9AA0A6"/>
              </a:solidFill>
              <a:ln>
                <a:noFill/>
              </a:ln>
            </p:spPr>
            <p:txBody>
              <a:bodyPr rtlCol="0" anchor="ctr"/>
              <a:lstStyle/>
              <a:p>
                <a:pPr algn="ctr"/>
              </a:p>
            </p:txBody>
          </p:sp>
          <p:sp>
            <p:nvSpPr>
              <p:cNvPr id="114" name="Rectangle 113"/>
              <p:cNvSpPr/>
              <p:nvPr/>
            </p:nvSpPr>
            <p:spPr>
              <a:xfrm>
                <a:off x="927202" y="4718304"/>
                <a:ext cx="65837" cy="603504"/>
              </a:xfrm>
              <a:prstGeom prst="rect">
                <a:avLst/>
              </a:prstGeom>
              <a:solidFill>
                <a:srgbClr val="E8E8E8"/>
              </a:solidFill>
              <a:ln>
                <a:noFill/>
              </a:ln>
            </p:spPr>
            <p:txBody>
              <a:bodyPr rtlCol="0" anchor="ctr"/>
              <a:lstStyle/>
              <a:p>
                <a:pPr algn="ctr"/>
              </a:p>
            </p:txBody>
          </p:sp>
          <p:sp>
            <p:nvSpPr>
              <p:cNvPr id="115" name="Oval 114"/>
              <p:cNvSpPr/>
              <p:nvPr/>
            </p:nvSpPr>
            <p:spPr>
              <a:xfrm>
                <a:off x="921715" y="4657954"/>
                <a:ext cx="76810" cy="76810"/>
              </a:xfrm>
              <a:prstGeom prst="ellipse">
                <a:avLst/>
              </a:prstGeom>
              <a:solidFill>
                <a:srgbClr val="E8E8E8"/>
              </a:solidFill>
              <a:ln>
                <a:noFill/>
              </a:ln>
            </p:spPr>
            <p:txBody>
              <a:bodyPr rtlCol="0" anchor="ctr"/>
              <a:lstStyle/>
              <a:p>
                <a:pPr algn="ctr"/>
              </a:p>
            </p:txBody>
          </p:sp>
          <p:sp>
            <p:nvSpPr>
              <p:cNvPr id="116" name="Freeform 115"/>
              <p:cNvSpPr/>
              <p:nvPr/>
            </p:nvSpPr>
            <p:spPr>
              <a:xfrm>
                <a:off x="543154" y="4806086"/>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117" name="Freeform 116"/>
              <p:cNvSpPr/>
              <p:nvPr/>
            </p:nvSpPr>
            <p:spPr>
              <a:xfrm>
                <a:off x="643006" y="4806086"/>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118" name="Oval 117"/>
              <p:cNvSpPr/>
              <p:nvPr/>
            </p:nvSpPr>
            <p:spPr>
              <a:xfrm>
                <a:off x="1006754" y="4797857"/>
                <a:ext cx="93269" cy="93269"/>
              </a:xfrm>
              <a:prstGeom prst="ellipse">
                <a:avLst/>
              </a:prstGeom>
              <a:solidFill>
                <a:srgbClr val="E5484D"/>
              </a:solidFill>
              <a:ln w="9525">
                <a:solidFill>
                  <a:srgbClr val="101418"/>
                </a:solidFill>
              </a:ln>
            </p:spPr>
            <p:txBody>
              <a:bodyPr rtlCol="0" anchor="ctr"/>
              <a:lstStyle/>
              <a:p>
                <a:pPr algn="ctr"/>
              </a:p>
            </p:txBody>
          </p:sp>
        </p:grpSp>
        <p:sp>
          <p:nvSpPr>
            <p:cNvPr id="119" name="TextBox 118"/>
            <p:cNvSpPr txBox="1"/>
            <p:nvPr/>
          </p:nvSpPr>
          <p:spPr>
            <a:xfrm>
              <a:off x="1508760" y="4617720"/>
              <a:ext cx="1463040" cy="685800"/>
            </a:xfrm>
            <a:prstGeom prst="rect">
              <a:avLst/>
            </a:prstGeom>
            <a:noFill/>
          </p:spPr>
          <p:txBody>
            <a:bodyPr wrap="square" lIns="0" tIns="0" rIns="0" bIns="0" anchor="ctr">
              <a:noAutofit/>
            </a:bodyPr>
            <a:lstStyle/>
            <a:p>
              <a:pPr algn="l"/>
              <a:r>
                <a:rPr sz="1600" b="0" i="0" lang="en-GB">
                  <a:solidFill>
                    <a:srgbClr val="F2F2F2"/>
                  </a:solidFill>
                  <a:latin typeface="Arial"/>
                </a:rPr>
                <a:t>Arm flat: stop</a:t>
              </a:r>
            </a:p>
          </p:txBody>
        </p:sp>
        <p:grpSp>
          <p:nvGrpSpPr>
            <p:cNvPr id="120" name="Signal clear" descr="Semaphore stop signal, arm raised: CLEAR."/>
            <p:cNvGrpSpPr/>
            <p:nvPr/>
          </p:nvGrpSpPr>
          <p:grpSpPr>
            <a:xfrm>
              <a:off x="2823042" y="4545772"/>
              <a:ext cx="471541" cy="776036"/>
              <a:chOff x="2823042" y="4545772"/>
              <a:chExt cx="471541" cy="776036"/>
            </a:xfrm>
          </p:grpSpPr>
          <p:sp>
            <p:nvSpPr>
              <p:cNvPr id="121" name="Rectangle 120"/>
              <p:cNvSpPr/>
              <p:nvPr/>
            </p:nvSpPr>
            <p:spPr>
              <a:xfrm>
                <a:off x="3061411" y="5283403"/>
                <a:ext cx="186538" cy="38405"/>
              </a:xfrm>
              <a:prstGeom prst="rect">
                <a:avLst/>
              </a:prstGeom>
              <a:solidFill>
                <a:srgbClr val="9AA0A6"/>
              </a:solidFill>
              <a:ln>
                <a:noFill/>
              </a:ln>
            </p:spPr>
            <p:txBody>
              <a:bodyPr rtlCol="0" anchor="ctr"/>
              <a:lstStyle/>
              <a:p>
                <a:pPr algn="ctr"/>
              </a:p>
            </p:txBody>
          </p:sp>
          <p:sp>
            <p:nvSpPr>
              <p:cNvPr id="122" name="Rectangle 121"/>
              <p:cNvSpPr/>
              <p:nvPr/>
            </p:nvSpPr>
            <p:spPr>
              <a:xfrm>
                <a:off x="3121762" y="4718304"/>
                <a:ext cx="65837" cy="603504"/>
              </a:xfrm>
              <a:prstGeom prst="rect">
                <a:avLst/>
              </a:prstGeom>
              <a:solidFill>
                <a:srgbClr val="E8E8E8"/>
              </a:solidFill>
              <a:ln>
                <a:noFill/>
              </a:ln>
            </p:spPr>
            <p:txBody>
              <a:bodyPr rtlCol="0" anchor="ctr"/>
              <a:lstStyle/>
              <a:p>
                <a:pPr algn="ctr"/>
              </a:p>
            </p:txBody>
          </p:sp>
          <p:sp>
            <p:nvSpPr>
              <p:cNvPr id="123" name="Oval 122"/>
              <p:cNvSpPr/>
              <p:nvPr/>
            </p:nvSpPr>
            <p:spPr>
              <a:xfrm>
                <a:off x="3116275" y="4657954"/>
                <a:ext cx="76810" cy="76810"/>
              </a:xfrm>
              <a:prstGeom prst="ellipse">
                <a:avLst/>
              </a:prstGeom>
              <a:solidFill>
                <a:srgbClr val="E8E8E8"/>
              </a:solidFill>
              <a:ln>
                <a:noFill/>
              </a:ln>
            </p:spPr>
            <p:txBody>
              <a:bodyPr rtlCol="0" anchor="ctr"/>
              <a:lstStyle/>
              <a:p>
                <a:pPr algn="ctr"/>
              </a:p>
            </p:txBody>
          </p:sp>
          <p:sp>
            <p:nvSpPr>
              <p:cNvPr id="124" name="Freeform 123"/>
              <p:cNvSpPr/>
              <p:nvPr/>
            </p:nvSpPr>
            <p:spPr>
              <a:xfrm>
                <a:off x="2823042" y="4545772"/>
                <a:ext cx="325876" cy="325875"/>
              </a:xfrm>
              <a:custGeom>
                <a:avLst/>
                <a:gdLst/>
                <a:ahLst/>
                <a:cxnLst/>
                <a:rect l="l" t="t" r="r" b="b"/>
                <a:pathLst>
                  <a:path w="325876" h="325875">
                    <a:moveTo>
                      <a:pt x="325876" y="271563"/>
                    </a:moveTo>
                    <a:lnTo>
                      <a:pt x="54313" y="0"/>
                    </a:lnTo>
                    <a:lnTo>
                      <a:pt x="0" y="54313"/>
                    </a:lnTo>
                    <a:lnTo>
                      <a:pt x="271563" y="325875"/>
                    </a:lnTo>
                    <a:close/>
                  </a:path>
                </a:pathLst>
              </a:custGeom>
              <a:solidFill>
                <a:srgbClr val="E5484D"/>
              </a:solidFill>
              <a:ln w="9525">
                <a:solidFill>
                  <a:srgbClr val="101418"/>
                </a:solidFill>
              </a:ln>
            </p:spPr>
            <p:txBody>
              <a:bodyPr rtlCol="0" anchor="ctr"/>
              <a:lstStyle/>
              <a:p>
                <a:pPr algn="ctr"/>
              </a:p>
            </p:txBody>
          </p:sp>
          <p:sp>
            <p:nvSpPr>
              <p:cNvPr id="125" name="Freeform 124"/>
              <p:cNvSpPr/>
              <p:nvPr/>
            </p:nvSpPr>
            <p:spPr>
              <a:xfrm>
                <a:off x="2893649" y="4616378"/>
                <a:ext cx="86900" cy="86900"/>
              </a:xfrm>
              <a:custGeom>
                <a:avLst/>
                <a:gdLst/>
                <a:ahLst/>
                <a:cxnLst/>
                <a:rect l="l" t="t" r="r" b="b"/>
                <a:pathLst>
                  <a:path w="86900" h="86900">
                    <a:moveTo>
                      <a:pt x="86900" y="32588"/>
                    </a:moveTo>
                    <a:lnTo>
                      <a:pt x="54312" y="0"/>
                    </a:lnTo>
                    <a:lnTo>
                      <a:pt x="0" y="54313"/>
                    </a:lnTo>
                    <a:lnTo>
                      <a:pt x="32587" y="86900"/>
                    </a:lnTo>
                    <a:close/>
                  </a:path>
                </a:pathLst>
              </a:custGeom>
              <a:solidFill>
                <a:srgbClr val="FFFFFF"/>
              </a:solidFill>
              <a:ln>
                <a:noFill/>
              </a:ln>
            </p:spPr>
            <p:txBody>
              <a:bodyPr rtlCol="0" anchor="ctr"/>
              <a:lstStyle/>
              <a:p>
                <a:pPr algn="ctr"/>
              </a:p>
            </p:txBody>
          </p:sp>
          <p:sp>
            <p:nvSpPr>
              <p:cNvPr id="126" name="Oval 125"/>
              <p:cNvSpPr/>
              <p:nvPr/>
            </p:nvSpPr>
            <p:spPr>
              <a:xfrm>
                <a:off x="3201314" y="4797857"/>
                <a:ext cx="93269" cy="93269"/>
              </a:xfrm>
              <a:prstGeom prst="ellipse">
                <a:avLst/>
              </a:prstGeom>
              <a:solidFill>
                <a:srgbClr val="3FB950"/>
              </a:solidFill>
              <a:ln w="9525">
                <a:solidFill>
                  <a:srgbClr val="101418"/>
                </a:solidFill>
              </a:ln>
            </p:spPr>
            <p:txBody>
              <a:bodyPr rtlCol="0" anchor="ctr"/>
              <a:lstStyle/>
              <a:p>
                <a:pPr algn="ctr"/>
              </a:p>
            </p:txBody>
          </p:sp>
        </p:grpSp>
        <p:sp>
          <p:nvSpPr>
            <p:cNvPr id="127" name="TextBox 126"/>
            <p:cNvSpPr txBox="1"/>
            <p:nvPr/>
          </p:nvSpPr>
          <p:spPr>
            <a:xfrm>
              <a:off x="3657600" y="4617720"/>
              <a:ext cx="1463040" cy="685800"/>
            </a:xfrm>
            <a:prstGeom prst="rect">
              <a:avLst/>
            </a:prstGeom>
            <a:noFill/>
          </p:spPr>
          <p:txBody>
            <a:bodyPr wrap="square" lIns="0" tIns="0" rIns="0" bIns="0" anchor="ctr">
              <a:noAutofit/>
            </a:bodyPr>
            <a:lstStyle/>
            <a:p>
              <a:pPr algn="l"/>
              <a:r>
                <a:rPr sz="1600" b="0" i="0" lang="en-GB">
                  <a:solidFill>
                    <a:srgbClr val="F2F2F2"/>
                  </a:solidFill>
                  <a:latin typeface="Arial"/>
                </a:rPr>
                <a:t>Arm raised: go</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Signals split the track into blocks. Only one train may be in a block. The next train waits.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Semaphore signals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8" name="Inline chip Undecided"/>
          <p:cNvSpPr/>
          <p:nvPr/>
        </p:nvSpPr>
        <p:spPr>
          <a:xfrm>
            <a:off x="9084313" y="896112"/>
            <a:ext cx="2558742"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ARM STYLE: UNDECIDED</a:t>
            </a:r>
          </a:p>
        </p:txBody>
      </p:sp>
      <p:pic>
        <p:nvPicPr>
          <p:cNvPr id="9" name="Picture R03" descr="The mod's semaphore stop signal model with its arm flat (stop)."/>
          <p:cNvPicPr>
            <a:picLocks noChangeAspect="1"/>
          </p:cNvPicPr>
          <p:nvPr/>
        </p:nvPicPr>
        <p:blipFill>
          <a:blip r:embed="rId2"/>
          <a:srcRect l="0" r="0"/>
          <a:stretch>
            <a:fillRect/>
          </a:stretch>
        </p:blipFill>
        <p:spPr>
          <a:xfrm>
            <a:off x="548640" y="1325880"/>
            <a:ext cx="3749040" cy="2811780"/>
          </a:xfrm>
          <a:prstGeom prst="roundRect">
            <a:avLst>
              <a:gd name="adj" fmla="val 2602"/>
            </a:avLst>
          </a:prstGeom>
        </p:spPr>
      </p:pic>
      <p:sp>
        <p:nvSpPr>
          <p:cNvPr id="10" name="Credit"/>
          <p:cNvSpPr txBox="1"/>
          <p:nvPr/>
        </p:nvSpPr>
        <p:spPr>
          <a:xfrm>
            <a:off x="548640" y="4165092"/>
            <a:ext cx="3749040" cy="338328"/>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a:p>
            <a:pPr algn="l"/>
            <a:r>
              <a:rPr sz="1000" b="0" i="0" lang="en-GB">
                <a:solidFill>
                  <a:srgbClr val="A9B0B8"/>
                </a:solidFill>
                <a:latin typeface="Arial"/>
              </a:rPr>
              <a:t>Blender model, not yet in the game.</a:t>
            </a:r>
          </a:p>
        </p:txBody>
      </p:sp>
      <p:grpSp>
        <p:nvGrpSpPr>
          <p:cNvPr id="11" name="Label STOP: arm flat" descr="Label: STOP: arm flat"/>
          <p:cNvGrpSpPr/>
          <p:nvPr/>
        </p:nvGrpSpPr>
        <p:grpSpPr>
          <a:xfrm>
            <a:off x="685800" y="1463040"/>
            <a:ext cx="2514600" cy="449085"/>
            <a:chOff x="685800" y="1463040"/>
            <a:chExt cx="2514600" cy="449085"/>
          </a:xfrm>
        </p:grpSpPr>
        <p:sp>
          <p:nvSpPr>
            <p:cNvPr id="12" name="Rounded Rectangle 11"/>
            <p:cNvSpPr/>
            <p:nvPr/>
          </p:nvSpPr>
          <p:spPr>
            <a:xfrm>
              <a:off x="685800" y="1463040"/>
              <a:ext cx="2514600" cy="411480"/>
            </a:xfrm>
            <a:prstGeom prst="roundRect">
              <a:avLst>
                <a:gd name="adj" fmla="val 17777"/>
              </a:avLst>
            </a:prstGeom>
            <a:solidFill>
              <a:srgbClr val="1E2126"/>
            </a:solidFill>
            <a:ln w="19050">
              <a:solidFill>
                <a:srgbClr val="F28C28"/>
              </a:solidFill>
            </a:ln>
          </p:spPr>
          <p:txBody>
            <a:bodyPr rtlCol="0" anchor="ctr" wrap="square" lIns="73152" tIns="36576" rIns="73152" bIns="36576">
              <a:noAutofit/>
            </a:bodyPr>
            <a:lstStyle/>
            <a:p>
              <a:pPr algn="ctr"/>
              <a:r>
                <a:rPr sz="1800" b="1" i="0" lang="en-GB">
                  <a:solidFill>
                    <a:srgbClr val="F2F2F2"/>
                  </a:solidFill>
                  <a:latin typeface="Arial"/>
                </a:rPr>
                <a:t>STOP: arm flat</a:t>
              </a:r>
            </a:p>
          </p:txBody>
        </p:sp>
        <p:cxnSp>
          <p:nvCxnSpPr>
            <p:cNvPr id="13" name="Connector 12"/>
            <p:cNvCxnSpPr/>
            <p:nvPr/>
          </p:nvCxnSpPr>
          <p:spPr>
            <a:xfrm flipH="1">
              <a:off x="2466594" y="1664208"/>
              <a:ext cx="733806" cy="247917"/>
            </a:xfrm>
            <a:prstGeom prst="line">
              <a:avLst/>
            </a:prstGeom>
            <a:ln w="25400">
              <a:solidFill>
                <a:srgbClr val="F28C28"/>
              </a:solidFill>
              <a:tailEnd type="triangle" w="lg" len="lg"/>
            </a:ln>
          </p:spPr>
        </p:cxnSp>
      </p:grpSp>
      <p:pic>
        <p:nvPicPr>
          <p:cNvPr id="14" name="Picture R04" descr="The same signal model with its arm raised (clear)."/>
          <p:cNvPicPr>
            <a:picLocks noChangeAspect="1"/>
          </p:cNvPicPr>
          <p:nvPr/>
        </p:nvPicPr>
        <p:blipFill>
          <a:blip r:embed="rId3"/>
          <a:srcRect l="0" r="0"/>
          <a:stretch>
            <a:fillRect/>
          </a:stretch>
        </p:blipFill>
        <p:spPr>
          <a:xfrm>
            <a:off x="4526280" y="1325880"/>
            <a:ext cx="3749040" cy="2811780"/>
          </a:xfrm>
          <a:prstGeom prst="roundRect">
            <a:avLst>
              <a:gd name="adj" fmla="val 2602"/>
            </a:avLst>
          </a:prstGeom>
        </p:spPr>
      </p:pic>
      <p:sp>
        <p:nvSpPr>
          <p:cNvPr id="15" name="Credit"/>
          <p:cNvSpPr txBox="1"/>
          <p:nvPr/>
        </p:nvSpPr>
        <p:spPr>
          <a:xfrm>
            <a:off x="4526280" y="4165092"/>
            <a:ext cx="3749040" cy="338328"/>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a:p>
            <a:pPr algn="l"/>
            <a:r>
              <a:rPr sz="1000" b="0" i="0" lang="en-GB">
                <a:solidFill>
                  <a:srgbClr val="A9B0B8"/>
                </a:solidFill>
                <a:latin typeface="Arial"/>
              </a:rPr>
              <a:t>Blender model, not yet in the game.</a:t>
            </a:r>
          </a:p>
        </p:txBody>
      </p:sp>
      <p:grpSp>
        <p:nvGrpSpPr>
          <p:cNvPr id="16" name="Label CLEAR: arm raised" descr="Label: CLEAR: arm raised"/>
          <p:cNvGrpSpPr/>
          <p:nvPr/>
        </p:nvGrpSpPr>
        <p:grpSpPr>
          <a:xfrm>
            <a:off x="4663440" y="1463040"/>
            <a:ext cx="2514600" cy="411480"/>
            <a:chOff x="4663440" y="1463040"/>
            <a:chExt cx="2514600" cy="411480"/>
          </a:xfrm>
        </p:grpSpPr>
        <p:sp>
          <p:nvSpPr>
            <p:cNvPr id="17" name="Rounded Rectangle 16"/>
            <p:cNvSpPr/>
            <p:nvPr/>
          </p:nvSpPr>
          <p:spPr>
            <a:xfrm>
              <a:off x="4663440" y="1463040"/>
              <a:ext cx="2514600" cy="411480"/>
            </a:xfrm>
            <a:prstGeom prst="roundRect">
              <a:avLst>
                <a:gd name="adj" fmla="val 17777"/>
              </a:avLst>
            </a:prstGeom>
            <a:solidFill>
              <a:srgbClr val="1E2126"/>
            </a:solidFill>
            <a:ln w="19050">
              <a:solidFill>
                <a:srgbClr val="F28C28"/>
              </a:solidFill>
            </a:ln>
          </p:spPr>
          <p:txBody>
            <a:bodyPr rtlCol="0" anchor="ctr" wrap="square" lIns="73152" tIns="36576" rIns="73152" bIns="36576">
              <a:noAutofit/>
            </a:bodyPr>
            <a:lstStyle/>
            <a:p>
              <a:pPr algn="ctr"/>
              <a:r>
                <a:rPr sz="1800" b="1" i="0" lang="en-GB">
                  <a:solidFill>
                    <a:srgbClr val="F2F2F2"/>
                  </a:solidFill>
                  <a:latin typeface="Arial"/>
                </a:rPr>
                <a:t>CLEAR: arm raised</a:t>
              </a:r>
            </a:p>
          </p:txBody>
        </p:sp>
        <p:cxnSp>
          <p:nvCxnSpPr>
            <p:cNvPr id="18" name="Connector 17"/>
            <p:cNvCxnSpPr/>
            <p:nvPr/>
          </p:nvCxnSpPr>
          <p:spPr>
            <a:xfrm flipH="1">
              <a:off x="6650431" y="1664208"/>
              <a:ext cx="527609" cy="93269"/>
            </a:xfrm>
            <a:prstGeom prst="line">
              <a:avLst/>
            </a:prstGeom>
            <a:ln w="25400">
              <a:solidFill>
                <a:srgbClr val="F28C28"/>
              </a:solidFill>
              <a:tailEnd type="triangle" w="lg" len="lg"/>
            </a:ln>
          </p:spPr>
        </p:cxnSp>
      </p:grpSp>
      <p:sp>
        <p:nvSpPr>
          <p:cNvPr id="19" name="TextBox 18"/>
          <p:cNvSpPr txBox="1"/>
          <p:nvPr/>
        </p:nvSpPr>
        <p:spPr>
          <a:xfrm>
            <a:off x="8549640" y="1298448"/>
            <a:ext cx="3108960" cy="384048"/>
          </a:xfrm>
          <a:prstGeom prst="rect">
            <a:avLst/>
          </a:prstGeom>
          <a:noFill/>
        </p:spPr>
        <p:txBody>
          <a:bodyPr wrap="square" lIns="0" tIns="0" rIns="0" bIns="0" anchor="t">
            <a:noAutofit/>
          </a:bodyPr>
          <a:lstStyle/>
          <a:p>
            <a:pPr algn="l"/>
            <a:r>
              <a:rPr sz="2000" b="1" i="0" lang="en-GB">
                <a:solidFill>
                  <a:srgbClr val="F28C28"/>
                </a:solidFill>
                <a:latin typeface="Arial"/>
              </a:rPr>
              <a:t>Distant signal</a:t>
            </a:r>
          </a:p>
        </p:txBody>
      </p:sp>
      <p:grpSp>
        <p:nvGrpSpPr>
          <p:cNvPr id="20" name="Distant signal" descr="Distant signal with a yellow fishtail arm. Arm flat: be ready to stop at the next signal. Arm raised: next signal is clear."/>
          <p:cNvGrpSpPr/>
          <p:nvPr/>
        </p:nvGrpSpPr>
        <p:grpSpPr>
          <a:xfrm>
            <a:off x="8553298" y="1802740"/>
            <a:ext cx="3105302" cy="2129180"/>
            <a:chOff x="8553298" y="1802740"/>
            <a:chExt cx="3105302" cy="2129180"/>
          </a:xfrm>
        </p:grpSpPr>
        <p:grpSp>
          <p:nvGrpSpPr>
            <p:cNvPr id="21" name="Signal stop" descr="Distant signal, arm flat: be ready to stop."/>
            <p:cNvGrpSpPr/>
            <p:nvPr/>
          </p:nvGrpSpPr>
          <p:grpSpPr>
            <a:xfrm>
              <a:off x="8553298" y="1802740"/>
              <a:ext cx="788898" cy="940460"/>
              <a:chOff x="8553298" y="1802740"/>
              <a:chExt cx="788898" cy="940460"/>
            </a:xfrm>
          </p:grpSpPr>
          <p:sp>
            <p:nvSpPr>
              <p:cNvPr id="22" name="Rectangle 21"/>
              <p:cNvSpPr/>
              <p:nvPr/>
            </p:nvSpPr>
            <p:spPr>
              <a:xfrm>
                <a:off x="9011869" y="2688793"/>
                <a:ext cx="264262" cy="54407"/>
              </a:xfrm>
              <a:prstGeom prst="rect">
                <a:avLst/>
              </a:prstGeom>
              <a:solidFill>
                <a:srgbClr val="9AA0A6"/>
              </a:solidFill>
              <a:ln>
                <a:noFill/>
              </a:ln>
            </p:spPr>
            <p:txBody>
              <a:bodyPr rtlCol="0" anchor="ctr"/>
              <a:lstStyle/>
              <a:p>
                <a:pPr algn="ctr"/>
              </a:p>
            </p:txBody>
          </p:sp>
          <p:sp>
            <p:nvSpPr>
              <p:cNvPr id="23" name="Rectangle 22"/>
              <p:cNvSpPr/>
              <p:nvPr/>
            </p:nvSpPr>
            <p:spPr>
              <a:xfrm>
                <a:off x="9097366" y="1888236"/>
                <a:ext cx="93269" cy="854964"/>
              </a:xfrm>
              <a:prstGeom prst="rect">
                <a:avLst/>
              </a:prstGeom>
              <a:solidFill>
                <a:srgbClr val="E8E8E8"/>
              </a:solidFill>
              <a:ln>
                <a:noFill/>
              </a:ln>
            </p:spPr>
            <p:txBody>
              <a:bodyPr rtlCol="0" anchor="ctr"/>
              <a:lstStyle/>
              <a:p>
                <a:pPr algn="ctr"/>
              </a:p>
            </p:txBody>
          </p:sp>
          <p:sp>
            <p:nvSpPr>
              <p:cNvPr id="24" name="Oval 23"/>
              <p:cNvSpPr/>
              <p:nvPr/>
            </p:nvSpPr>
            <p:spPr>
              <a:xfrm>
                <a:off x="9089593" y="1802740"/>
                <a:ext cx="108814" cy="108814"/>
              </a:xfrm>
              <a:prstGeom prst="ellipse">
                <a:avLst/>
              </a:prstGeom>
              <a:solidFill>
                <a:srgbClr val="E8E8E8"/>
              </a:solidFill>
              <a:ln>
                <a:noFill/>
              </a:ln>
            </p:spPr>
            <p:txBody>
              <a:bodyPr rtlCol="0" anchor="ctr"/>
              <a:lstStyle/>
              <a:p>
                <a:pPr algn="ctr"/>
              </a:p>
            </p:txBody>
          </p:sp>
          <p:sp>
            <p:nvSpPr>
              <p:cNvPr id="25" name="Freeform 24"/>
              <p:cNvSpPr/>
              <p:nvPr/>
            </p:nvSpPr>
            <p:spPr>
              <a:xfrm>
                <a:off x="8553298" y="2003450"/>
                <a:ext cx="544068" cy="127102"/>
              </a:xfrm>
              <a:custGeom>
                <a:avLst/>
                <a:gdLst/>
                <a:ahLst/>
                <a:cxnLst/>
                <a:rect l="l" t="t" r="r" b="b"/>
                <a:pathLst>
                  <a:path w="544068" h="127102">
                    <a:moveTo>
                      <a:pt x="544068" y="0"/>
                    </a:moveTo>
                    <a:lnTo>
                      <a:pt x="0" y="0"/>
                    </a:lnTo>
                    <a:lnTo>
                      <a:pt x="146304" y="63551"/>
                    </a:lnTo>
                    <a:lnTo>
                      <a:pt x="0" y="127102"/>
                    </a:lnTo>
                    <a:lnTo>
                      <a:pt x="544068" y="127102"/>
                    </a:lnTo>
                    <a:close/>
                  </a:path>
                </a:pathLst>
              </a:custGeom>
              <a:solidFill>
                <a:srgbClr val="F2C14E"/>
              </a:solidFill>
              <a:ln w="9525">
                <a:solidFill>
                  <a:srgbClr val="101418"/>
                </a:solidFill>
              </a:ln>
            </p:spPr>
            <p:txBody>
              <a:bodyPr rtlCol="0" anchor="ctr"/>
              <a:lstStyle/>
              <a:p>
                <a:pPr algn="ctr"/>
              </a:p>
            </p:txBody>
          </p:sp>
          <p:sp>
            <p:nvSpPr>
              <p:cNvPr id="26" name="Freeform 25"/>
              <p:cNvSpPr/>
              <p:nvPr/>
            </p:nvSpPr>
            <p:spPr>
              <a:xfrm>
                <a:off x="8798128" y="2003450"/>
                <a:ext cx="54407" cy="127102"/>
              </a:xfrm>
              <a:custGeom>
                <a:avLst/>
                <a:gdLst/>
                <a:ahLst/>
                <a:cxnLst/>
                <a:rect l="l" t="t" r="r" b="b"/>
                <a:pathLst>
                  <a:path w="54407" h="127102">
                    <a:moveTo>
                      <a:pt x="54407" y="0"/>
                    </a:moveTo>
                    <a:lnTo>
                      <a:pt x="0" y="0"/>
                    </a:lnTo>
                    <a:lnTo>
                      <a:pt x="0" y="127102"/>
                    </a:lnTo>
                    <a:lnTo>
                      <a:pt x="54407" y="127102"/>
                    </a:lnTo>
                    <a:close/>
                  </a:path>
                </a:pathLst>
              </a:custGeom>
              <a:solidFill>
                <a:srgbClr val="101418"/>
              </a:solidFill>
              <a:ln>
                <a:noFill/>
              </a:ln>
            </p:spPr>
            <p:txBody>
              <a:bodyPr rtlCol="0" anchor="ctr"/>
              <a:lstStyle/>
              <a:p>
                <a:pPr algn="ctr"/>
              </a:p>
            </p:txBody>
          </p:sp>
          <p:sp>
            <p:nvSpPr>
              <p:cNvPr id="27" name="Oval 26"/>
              <p:cNvSpPr/>
              <p:nvPr/>
            </p:nvSpPr>
            <p:spPr>
              <a:xfrm>
                <a:off x="9210065" y="2000936"/>
                <a:ext cx="132131" cy="132131"/>
              </a:xfrm>
              <a:prstGeom prst="ellipse">
                <a:avLst/>
              </a:prstGeom>
              <a:solidFill>
                <a:srgbClr val="F2C14E"/>
              </a:solidFill>
              <a:ln w="9525">
                <a:solidFill>
                  <a:srgbClr val="101418"/>
                </a:solidFill>
              </a:ln>
            </p:spPr>
            <p:txBody>
              <a:bodyPr rtlCol="0" anchor="ctr"/>
              <a:lstStyle/>
              <a:p>
                <a:pPr algn="ctr"/>
              </a:p>
            </p:txBody>
          </p:sp>
        </p:grpSp>
        <p:sp>
          <p:nvSpPr>
            <p:cNvPr id="28" name="TextBox 27"/>
            <p:cNvSpPr txBox="1"/>
            <p:nvPr/>
          </p:nvSpPr>
          <p:spPr>
            <a:xfrm>
              <a:off x="9464040" y="1874520"/>
              <a:ext cx="2194560" cy="822960"/>
            </a:xfrm>
            <a:prstGeom prst="rect">
              <a:avLst/>
            </a:prstGeom>
            <a:noFill/>
          </p:spPr>
          <p:txBody>
            <a:bodyPr wrap="square" lIns="0" tIns="0" rIns="0" bIns="0" anchor="ctr">
              <a:noAutofit/>
            </a:bodyPr>
            <a:lstStyle/>
            <a:p>
              <a:pPr algn="l"/>
              <a:r>
                <a:rPr sz="1600" b="0" i="0" lang="en-GB">
                  <a:solidFill>
                    <a:srgbClr val="F2F2F2"/>
                  </a:solidFill>
                  <a:latin typeface="Arial"/>
                </a:rPr>
                <a:t>Be ready to stop at the next signal</a:t>
              </a:r>
            </a:p>
          </p:txBody>
        </p:sp>
        <p:grpSp>
          <p:nvGrpSpPr>
            <p:cNvPr id="29" name="Signal clear" descr="Distant signal, arm raised: next signal clear."/>
            <p:cNvGrpSpPr/>
            <p:nvPr/>
          </p:nvGrpSpPr>
          <p:grpSpPr>
            <a:xfrm>
              <a:off x="8667714" y="2826070"/>
              <a:ext cx="674482" cy="1105850"/>
              <a:chOff x="8667714" y="2826070"/>
              <a:chExt cx="674482" cy="1105850"/>
            </a:xfrm>
          </p:grpSpPr>
          <p:sp>
            <p:nvSpPr>
              <p:cNvPr id="30" name="Rectangle 29"/>
              <p:cNvSpPr/>
              <p:nvPr/>
            </p:nvSpPr>
            <p:spPr>
              <a:xfrm>
                <a:off x="9011869" y="3877513"/>
                <a:ext cx="264262" cy="54407"/>
              </a:xfrm>
              <a:prstGeom prst="rect">
                <a:avLst/>
              </a:prstGeom>
              <a:solidFill>
                <a:srgbClr val="9AA0A6"/>
              </a:solidFill>
              <a:ln>
                <a:noFill/>
              </a:ln>
            </p:spPr>
            <p:txBody>
              <a:bodyPr rtlCol="0" anchor="ctr"/>
              <a:lstStyle/>
              <a:p>
                <a:pPr algn="ctr"/>
              </a:p>
            </p:txBody>
          </p:sp>
          <p:sp>
            <p:nvSpPr>
              <p:cNvPr id="31" name="Rectangle 30"/>
              <p:cNvSpPr/>
              <p:nvPr/>
            </p:nvSpPr>
            <p:spPr>
              <a:xfrm>
                <a:off x="9097366" y="3076956"/>
                <a:ext cx="93269" cy="854964"/>
              </a:xfrm>
              <a:prstGeom prst="rect">
                <a:avLst/>
              </a:prstGeom>
              <a:solidFill>
                <a:srgbClr val="E8E8E8"/>
              </a:solidFill>
              <a:ln>
                <a:noFill/>
              </a:ln>
            </p:spPr>
            <p:txBody>
              <a:bodyPr rtlCol="0" anchor="ctr"/>
              <a:lstStyle/>
              <a:p>
                <a:pPr algn="ctr"/>
              </a:p>
            </p:txBody>
          </p:sp>
          <p:sp>
            <p:nvSpPr>
              <p:cNvPr id="32" name="Oval 31"/>
              <p:cNvSpPr/>
              <p:nvPr/>
            </p:nvSpPr>
            <p:spPr>
              <a:xfrm>
                <a:off x="9089593" y="2991460"/>
                <a:ext cx="108814" cy="108814"/>
              </a:xfrm>
              <a:prstGeom prst="ellipse">
                <a:avLst/>
              </a:prstGeom>
              <a:solidFill>
                <a:srgbClr val="E8E8E8"/>
              </a:solidFill>
              <a:ln>
                <a:noFill/>
              </a:ln>
            </p:spPr>
            <p:txBody>
              <a:bodyPr rtlCol="0" anchor="ctr"/>
              <a:lstStyle/>
              <a:p>
                <a:pPr algn="ctr"/>
              </a:p>
            </p:txBody>
          </p:sp>
          <p:sp>
            <p:nvSpPr>
              <p:cNvPr id="33" name="Freeform 32"/>
              <p:cNvSpPr/>
              <p:nvPr/>
            </p:nvSpPr>
            <p:spPr>
              <a:xfrm>
                <a:off x="8667714" y="2826070"/>
                <a:ext cx="474589" cy="474588"/>
              </a:xfrm>
              <a:custGeom>
                <a:avLst/>
                <a:gdLst/>
                <a:ahLst/>
                <a:cxnLst/>
                <a:rect l="l" t="t" r="r" b="b"/>
                <a:pathLst>
                  <a:path w="474589" h="474588">
                    <a:moveTo>
                      <a:pt x="474589" y="384714"/>
                    </a:moveTo>
                    <a:lnTo>
                      <a:pt x="89875" y="0"/>
                    </a:lnTo>
                    <a:lnTo>
                      <a:pt x="148390" y="148390"/>
                    </a:lnTo>
                    <a:lnTo>
                      <a:pt x="0" y="89874"/>
                    </a:lnTo>
                    <a:lnTo>
                      <a:pt x="384714" y="474588"/>
                    </a:lnTo>
                    <a:close/>
                  </a:path>
                </a:pathLst>
              </a:custGeom>
              <a:solidFill>
                <a:srgbClr val="F2C14E"/>
              </a:solidFill>
              <a:ln w="9525">
                <a:solidFill>
                  <a:srgbClr val="101418"/>
                </a:solidFill>
              </a:ln>
            </p:spPr>
            <p:txBody>
              <a:bodyPr rtlCol="0" anchor="ctr"/>
              <a:lstStyle/>
              <a:p>
                <a:pPr algn="ctr"/>
              </a:p>
            </p:txBody>
          </p:sp>
          <p:sp>
            <p:nvSpPr>
              <p:cNvPr id="34" name="Freeform 33"/>
              <p:cNvSpPr/>
              <p:nvPr/>
            </p:nvSpPr>
            <p:spPr>
              <a:xfrm>
                <a:off x="8840836" y="2999191"/>
                <a:ext cx="128345" cy="128346"/>
              </a:xfrm>
              <a:custGeom>
                <a:avLst/>
                <a:gdLst/>
                <a:ahLst/>
                <a:cxnLst/>
                <a:rect l="l" t="t" r="r" b="b"/>
                <a:pathLst>
                  <a:path w="128345" h="128346">
                    <a:moveTo>
                      <a:pt x="128345" y="38472"/>
                    </a:moveTo>
                    <a:lnTo>
                      <a:pt x="89874" y="0"/>
                    </a:lnTo>
                    <a:lnTo>
                      <a:pt x="0" y="89875"/>
                    </a:lnTo>
                    <a:lnTo>
                      <a:pt x="38471" y="128346"/>
                    </a:lnTo>
                    <a:close/>
                  </a:path>
                </a:pathLst>
              </a:custGeom>
              <a:solidFill>
                <a:srgbClr val="101418"/>
              </a:solidFill>
              <a:ln>
                <a:noFill/>
              </a:ln>
            </p:spPr>
            <p:txBody>
              <a:bodyPr rtlCol="0" anchor="ctr"/>
              <a:lstStyle/>
              <a:p>
                <a:pPr algn="ctr"/>
              </a:p>
            </p:txBody>
          </p:sp>
          <p:sp>
            <p:nvSpPr>
              <p:cNvPr id="35" name="Oval 34"/>
              <p:cNvSpPr/>
              <p:nvPr/>
            </p:nvSpPr>
            <p:spPr>
              <a:xfrm>
                <a:off x="9210065" y="3189656"/>
                <a:ext cx="132131" cy="132131"/>
              </a:xfrm>
              <a:prstGeom prst="ellipse">
                <a:avLst/>
              </a:prstGeom>
              <a:solidFill>
                <a:srgbClr val="3FB950"/>
              </a:solidFill>
              <a:ln w="9525">
                <a:solidFill>
                  <a:srgbClr val="101418"/>
                </a:solidFill>
              </a:ln>
            </p:spPr>
            <p:txBody>
              <a:bodyPr rtlCol="0" anchor="ctr"/>
              <a:lstStyle/>
              <a:p>
                <a:pPr algn="ctr"/>
              </a:p>
            </p:txBody>
          </p:sp>
        </p:grpSp>
        <p:sp>
          <p:nvSpPr>
            <p:cNvPr id="36" name="TextBox 35"/>
            <p:cNvSpPr txBox="1"/>
            <p:nvPr/>
          </p:nvSpPr>
          <p:spPr>
            <a:xfrm>
              <a:off x="9464040" y="3154680"/>
              <a:ext cx="2194560" cy="731520"/>
            </a:xfrm>
            <a:prstGeom prst="rect">
              <a:avLst/>
            </a:prstGeom>
            <a:noFill/>
          </p:spPr>
          <p:txBody>
            <a:bodyPr wrap="square" lIns="0" tIns="0" rIns="0" bIns="0" anchor="ctr">
              <a:noAutofit/>
            </a:bodyPr>
            <a:lstStyle/>
            <a:p>
              <a:pPr algn="l"/>
              <a:r>
                <a:rPr sz="1600" b="0" i="0" lang="en-GB">
                  <a:solidFill>
                    <a:srgbClr val="F2F2F2"/>
                  </a:solidFill>
                  <a:latin typeface="Arial"/>
                </a:rPr>
                <a:t>Next signal is clear</a:t>
              </a:r>
            </a:p>
          </p:txBody>
        </p:sp>
      </p:grpSp>
      <p:pic>
        <p:nvPicPr>
          <p:cNvPr id="37" name="Picture P13" descr="A semaphore distant signal beside the line near Henley-in-Arden, arm raised."/>
          <p:cNvPicPr>
            <a:picLocks noChangeAspect="1"/>
          </p:cNvPicPr>
          <p:nvPr/>
        </p:nvPicPr>
        <p:blipFill>
          <a:blip r:embed="rId4"/>
          <a:srcRect t="11523" b="11523"/>
          <a:stretch>
            <a:fillRect/>
          </a:stretch>
        </p:blipFill>
        <p:spPr>
          <a:xfrm>
            <a:off x="9445752" y="4069080"/>
            <a:ext cx="1828800" cy="1097280"/>
          </a:xfrm>
          <a:prstGeom prst="roundRect">
            <a:avLst>
              <a:gd name="adj" fmla="val 6667"/>
            </a:avLst>
          </a:prstGeom>
        </p:spPr>
      </p:pic>
      <p:sp>
        <p:nvSpPr>
          <p:cNvPr id="38" name="Credit"/>
          <p:cNvSpPr txBox="1"/>
          <p:nvPr/>
        </p:nvSpPr>
        <p:spPr>
          <a:xfrm>
            <a:off x="9445752" y="5193792"/>
            <a:ext cx="1828800" cy="493776"/>
          </a:xfrm>
          <a:prstGeom prst="rect">
            <a:avLst/>
          </a:prstGeom>
          <a:noFill/>
        </p:spPr>
        <p:txBody>
          <a:bodyPr wrap="square" lIns="0" tIns="0" rIns="0" bIns="0" anchor="t">
            <a:noAutofit/>
          </a:bodyPr>
          <a:lstStyle/>
          <a:p>
            <a:pPr algn="l"/>
            <a:r>
              <a:rPr sz="1000" b="0" i="0" lang="en-GB">
                <a:solidFill>
                  <a:srgbClr val="A9B0B8"/>
                </a:solidFill>
                <a:latin typeface="Arial"/>
              </a:rPr>
              <a:t>Photo: Richard Dunn, CC BY-SA 2.0, Wikimedia Commons.</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Arm flat means stop. Arm raised means go. On real railways, a broken wire drops the arm to stop.</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The signal box</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pic>
        <p:nvPicPr>
          <p:cNvPr id="8" name="Picture P14" descr="Williton signal box on the West Somerset Railway."/>
          <p:cNvPicPr>
            <a:picLocks noChangeAspect="1"/>
          </p:cNvPicPr>
          <p:nvPr/>
        </p:nvPicPr>
        <p:blipFill>
          <a:blip r:embed="rId2"/>
          <a:srcRect l="0" r="0"/>
          <a:stretch>
            <a:fillRect/>
          </a:stretch>
        </p:blipFill>
        <p:spPr>
          <a:xfrm>
            <a:off x="548640" y="1325880"/>
            <a:ext cx="3017520" cy="4023360"/>
          </a:xfrm>
          <a:prstGeom prst="roundRect">
            <a:avLst>
              <a:gd name="adj" fmla="val 2424"/>
            </a:avLst>
          </a:prstGeom>
        </p:spPr>
      </p:pic>
      <p:sp>
        <p:nvSpPr>
          <p:cNvPr id="9" name="Credit"/>
          <p:cNvSpPr txBox="1"/>
          <p:nvPr/>
        </p:nvSpPr>
        <p:spPr>
          <a:xfrm>
            <a:off x="548640" y="5376672"/>
            <a:ext cx="3017520" cy="338328"/>
          </a:xfrm>
          <a:prstGeom prst="rect">
            <a:avLst/>
          </a:prstGeom>
          <a:noFill/>
        </p:spPr>
        <p:txBody>
          <a:bodyPr wrap="square" lIns="0" tIns="0" rIns="0" bIns="0" anchor="t">
            <a:noAutofit/>
          </a:bodyPr>
          <a:lstStyle/>
          <a:p>
            <a:pPr algn="l"/>
            <a:r>
              <a:rPr sz="1000" b="0" i="0" lang="en-GB">
                <a:solidFill>
                  <a:srgbClr val="A9B0B8"/>
                </a:solidFill>
                <a:latin typeface="Arial"/>
              </a:rPr>
              <a:t>Photo: Reading Tom, CC BY 2.0, Wikimedia Commons.</a:t>
            </a:r>
          </a:p>
        </p:txBody>
      </p:sp>
      <p:grpSp>
        <p:nvGrpSpPr>
          <p:cNvPr id="10" name="Signal box cutaway" descr="Cutaway of a two-floor signal box. Upstairs, on the operating floor, a signaller stands at a row of eight coloured levers under a track diagram. Downstairs, in the locking room, rods leave the wall and run out to the signals and points."/>
          <p:cNvGrpSpPr/>
          <p:nvPr/>
        </p:nvGrpSpPr>
        <p:grpSpPr>
          <a:xfrm>
            <a:off x="3840480" y="1371600"/>
            <a:ext cx="5715000" cy="3758184"/>
            <a:chOff x="3840480" y="1371600"/>
            <a:chExt cx="5715000" cy="3758184"/>
          </a:xfrm>
        </p:grpSpPr>
        <p:sp>
          <p:nvSpPr>
            <p:cNvPr id="11" name="Rectangle 10"/>
            <p:cNvSpPr/>
            <p:nvPr/>
          </p:nvSpPr>
          <p:spPr>
            <a:xfrm>
              <a:off x="4800600" y="1371600"/>
              <a:ext cx="4754880" cy="3154680"/>
            </a:xfrm>
            <a:prstGeom prst="rect">
              <a:avLst/>
            </a:prstGeom>
            <a:solidFill>
              <a:srgbClr val="2B2F36"/>
            </a:solidFill>
            <a:ln w="19050">
              <a:solidFill>
                <a:srgbClr val="F28C28"/>
              </a:solidFill>
            </a:ln>
          </p:spPr>
          <p:txBody>
            <a:bodyPr rtlCol="0" anchor="ctr"/>
            <a:lstStyle/>
            <a:p>
              <a:pPr algn="ctr"/>
            </a:p>
          </p:txBody>
        </p:sp>
        <p:cxnSp>
          <p:nvCxnSpPr>
            <p:cNvPr id="12" name="Connector 11"/>
            <p:cNvCxnSpPr/>
            <p:nvPr/>
          </p:nvCxnSpPr>
          <p:spPr>
            <a:xfrm>
              <a:off x="4800600" y="3337560"/>
              <a:ext cx="4754880" cy="0"/>
            </a:xfrm>
            <a:prstGeom prst="line">
              <a:avLst/>
            </a:prstGeom>
            <a:ln w="19050">
              <a:solidFill>
                <a:srgbClr val="F28C28"/>
              </a:solidFill>
            </a:ln>
          </p:spPr>
        </p:cxnSp>
        <p:sp>
          <p:nvSpPr>
            <p:cNvPr id="13" name="TextBox 12"/>
            <p:cNvSpPr txBox="1"/>
            <p:nvPr/>
          </p:nvSpPr>
          <p:spPr>
            <a:xfrm>
              <a:off x="4910328" y="1444752"/>
              <a:ext cx="1828800" cy="292608"/>
            </a:xfrm>
            <a:prstGeom prst="rect">
              <a:avLst/>
            </a:prstGeom>
            <a:noFill/>
          </p:spPr>
          <p:txBody>
            <a:bodyPr wrap="square" lIns="0" tIns="0" rIns="0" bIns="0" anchor="t">
              <a:noAutofit/>
            </a:bodyPr>
            <a:lstStyle/>
            <a:p>
              <a:pPr algn="l"/>
              <a:r>
                <a:rPr sz="1400" b="1" i="0" lang="en-GB">
                  <a:solidFill>
                    <a:srgbClr val="F28C28"/>
                  </a:solidFill>
                  <a:latin typeface="Arial"/>
                </a:rPr>
                <a:t>Operating floor</a:t>
              </a:r>
            </a:p>
          </p:txBody>
        </p:sp>
        <p:sp>
          <p:nvSpPr>
            <p:cNvPr id="14" name="Rectangle 13"/>
            <p:cNvSpPr/>
            <p:nvPr/>
          </p:nvSpPr>
          <p:spPr>
            <a:xfrm>
              <a:off x="6400800" y="1481328"/>
              <a:ext cx="3017520" cy="274320"/>
            </a:xfrm>
            <a:prstGeom prst="rect">
              <a:avLst/>
            </a:prstGeom>
            <a:solidFill>
              <a:srgbClr val="37587C"/>
            </a:solidFill>
            <a:ln w="9525">
              <a:solidFill>
                <a:srgbClr val="9AA0A6"/>
              </a:solidFill>
            </a:ln>
          </p:spPr>
          <p:txBody>
            <a:bodyPr rtlCol="0" anchor="ctr"/>
            <a:lstStyle/>
            <a:p>
              <a:pPr algn="ctr"/>
            </a:p>
          </p:txBody>
        </p:sp>
        <p:sp>
          <p:nvSpPr>
            <p:cNvPr id="15" name="Rectangle 14"/>
            <p:cNvSpPr/>
            <p:nvPr/>
          </p:nvSpPr>
          <p:spPr>
            <a:xfrm>
              <a:off x="5715000" y="1874520"/>
              <a:ext cx="2377440" cy="219456"/>
            </a:xfrm>
            <a:prstGeom prst="rect">
              <a:avLst/>
            </a:prstGeom>
            <a:solidFill>
              <a:srgbClr val="F2F2F2"/>
            </a:solidFill>
            <a:ln>
              <a:noFill/>
            </a:ln>
          </p:spPr>
          <p:txBody>
            <a:bodyPr rtlCol="0" anchor="ctr"/>
            <a:lstStyle/>
            <a:p>
              <a:pPr algn="ctr"/>
            </a:p>
          </p:txBody>
        </p:sp>
        <p:sp>
          <p:nvSpPr>
            <p:cNvPr id="16" name="Freeform 15"/>
            <p:cNvSpPr/>
            <p:nvPr/>
          </p:nvSpPr>
          <p:spPr>
            <a:xfrm>
              <a:off x="5806440" y="1920240"/>
              <a:ext cx="2194560" cy="64008"/>
            </a:xfrm>
            <a:custGeom>
              <a:avLst/>
              <a:gdLst/>
              <a:ahLst/>
              <a:cxnLst/>
              <a:rect l="l" t="t" r="r" b="b"/>
              <a:pathLst>
                <a:path w="2194560" h="64008">
                  <a:moveTo>
                    <a:pt x="0" y="64008"/>
                  </a:moveTo>
                  <a:lnTo>
                    <a:pt x="1005840" y="64008"/>
                  </a:lnTo>
                  <a:lnTo>
                    <a:pt x="1280160" y="0"/>
                  </a:lnTo>
                  <a:lnTo>
                    <a:pt x="2194560" y="0"/>
                  </a:lnTo>
                </a:path>
              </a:pathLst>
            </a:custGeom>
            <a:noFill/>
            <a:ln w="19050">
              <a:solidFill>
                <a:srgbClr val="101418"/>
              </a:solidFill>
            </a:ln>
          </p:spPr>
          <p:txBody>
            <a:bodyPr rtlCol="0" anchor="ctr"/>
            <a:lstStyle/>
            <a:p>
              <a:pPr algn="ctr"/>
            </a:p>
          </p:txBody>
        </p:sp>
        <p:grpSp>
          <p:nvGrpSpPr>
            <p:cNvPr id="17" name="Person" descr="A signaller."/>
            <p:cNvGrpSpPr/>
            <p:nvPr/>
          </p:nvGrpSpPr>
          <p:grpSpPr>
            <a:xfrm>
              <a:off x="4943246" y="2250338"/>
              <a:ext cx="482803" cy="995782"/>
              <a:chOff x="4943246" y="2250338"/>
              <a:chExt cx="482803" cy="995782"/>
            </a:xfrm>
          </p:grpSpPr>
          <p:sp>
            <p:nvSpPr>
              <p:cNvPr id="18" name="Oval 17"/>
              <p:cNvSpPr/>
              <p:nvPr/>
            </p:nvSpPr>
            <p:spPr>
              <a:xfrm>
                <a:off x="5033772" y="2250338"/>
                <a:ext cx="301752" cy="301752"/>
              </a:xfrm>
              <a:prstGeom prst="ellipse">
                <a:avLst/>
              </a:prstGeom>
              <a:solidFill>
                <a:srgbClr val="E8E8E8"/>
              </a:solidFill>
              <a:ln>
                <a:noFill/>
              </a:ln>
            </p:spPr>
            <p:txBody>
              <a:bodyPr rtlCol="0" anchor="ctr"/>
              <a:lstStyle/>
              <a:p>
                <a:pPr algn="ctr"/>
              </a:p>
            </p:txBody>
          </p:sp>
          <p:sp>
            <p:nvSpPr>
              <p:cNvPr id="19" name="Rounded Rectangle 18"/>
              <p:cNvSpPr/>
              <p:nvPr/>
            </p:nvSpPr>
            <p:spPr>
              <a:xfrm>
                <a:off x="4943246" y="2602382"/>
                <a:ext cx="482803" cy="643738"/>
              </a:xfrm>
              <a:prstGeom prst="roundRect">
                <a:avLst>
                  <a:gd name="adj" fmla="val 41666"/>
                </a:avLst>
              </a:prstGeom>
              <a:solidFill>
                <a:srgbClr val="E8E8E8"/>
              </a:solidFill>
              <a:ln>
                <a:noFill/>
              </a:ln>
            </p:spPr>
            <p:txBody>
              <a:bodyPr rtlCol="0" anchor="ctr"/>
              <a:lstStyle/>
              <a:p>
                <a:pPr algn="ctr"/>
              </a:p>
            </p:txBody>
          </p:sp>
        </p:grpSp>
        <p:sp>
          <p:nvSpPr>
            <p:cNvPr id="20" name="Rounded Rectangle 19"/>
            <p:cNvSpPr/>
            <p:nvPr/>
          </p:nvSpPr>
          <p:spPr>
            <a:xfrm>
              <a:off x="5715000" y="2240280"/>
              <a:ext cx="109728" cy="777240"/>
            </a:xfrm>
            <a:prstGeom prst="roundRect">
              <a:avLst>
                <a:gd name="adj" fmla="val 25000"/>
              </a:avLst>
            </a:prstGeom>
            <a:solidFill>
              <a:srgbClr val="E5484D"/>
            </a:solidFill>
            <a:ln w="9525">
              <a:solidFill>
                <a:srgbClr val="101418"/>
              </a:solidFill>
            </a:ln>
          </p:spPr>
          <p:txBody>
            <a:bodyPr rtlCol="0" anchor="ctr"/>
            <a:lstStyle/>
            <a:p>
              <a:pPr algn="ctr"/>
            </a:p>
          </p:txBody>
        </p:sp>
        <p:sp>
          <p:nvSpPr>
            <p:cNvPr id="21" name="Oval 20"/>
            <p:cNvSpPr/>
            <p:nvPr/>
          </p:nvSpPr>
          <p:spPr>
            <a:xfrm>
              <a:off x="5671109" y="2918765"/>
              <a:ext cx="197510" cy="197510"/>
            </a:xfrm>
            <a:prstGeom prst="ellipse">
              <a:avLst/>
            </a:prstGeom>
            <a:solidFill>
              <a:srgbClr val="9AA0A6"/>
            </a:solidFill>
            <a:ln>
              <a:noFill/>
            </a:ln>
          </p:spPr>
          <p:txBody>
            <a:bodyPr rtlCol="0" anchor="ctr"/>
            <a:lstStyle/>
            <a:p>
              <a:pPr algn="ctr"/>
            </a:p>
          </p:txBody>
        </p:sp>
        <p:sp>
          <p:nvSpPr>
            <p:cNvPr id="22" name="Rounded Rectangle 21"/>
            <p:cNvSpPr/>
            <p:nvPr/>
          </p:nvSpPr>
          <p:spPr>
            <a:xfrm>
              <a:off x="5696712" y="2185416"/>
              <a:ext cx="146304" cy="109728"/>
            </a:xfrm>
            <a:prstGeom prst="roundRect">
              <a:avLst>
                <a:gd name="adj" fmla="val 25000"/>
              </a:avLst>
            </a:prstGeom>
            <a:solidFill>
              <a:srgbClr val="9AA0A6"/>
            </a:solidFill>
            <a:ln>
              <a:noFill/>
            </a:ln>
          </p:spPr>
          <p:txBody>
            <a:bodyPr rtlCol="0" anchor="ctr"/>
            <a:lstStyle/>
            <a:p>
              <a:pPr algn="ctr"/>
            </a:p>
          </p:txBody>
        </p:sp>
        <p:sp>
          <p:nvSpPr>
            <p:cNvPr id="23" name="Rounded Rectangle 22"/>
            <p:cNvSpPr/>
            <p:nvPr/>
          </p:nvSpPr>
          <p:spPr>
            <a:xfrm>
              <a:off x="6117336" y="2240280"/>
              <a:ext cx="109728" cy="777240"/>
            </a:xfrm>
            <a:prstGeom prst="roundRect">
              <a:avLst>
                <a:gd name="adj" fmla="val 25000"/>
              </a:avLst>
            </a:prstGeom>
            <a:solidFill>
              <a:srgbClr val="E5484D"/>
            </a:solidFill>
            <a:ln w="9525">
              <a:solidFill>
                <a:srgbClr val="101418"/>
              </a:solidFill>
            </a:ln>
          </p:spPr>
          <p:txBody>
            <a:bodyPr rtlCol="0" anchor="ctr"/>
            <a:lstStyle/>
            <a:p>
              <a:pPr algn="ctr"/>
            </a:p>
          </p:txBody>
        </p:sp>
        <p:sp>
          <p:nvSpPr>
            <p:cNvPr id="24" name="Oval 23"/>
            <p:cNvSpPr/>
            <p:nvPr/>
          </p:nvSpPr>
          <p:spPr>
            <a:xfrm>
              <a:off x="6073445" y="2918765"/>
              <a:ext cx="197510" cy="197510"/>
            </a:xfrm>
            <a:prstGeom prst="ellipse">
              <a:avLst/>
            </a:prstGeom>
            <a:solidFill>
              <a:srgbClr val="9AA0A6"/>
            </a:solidFill>
            <a:ln>
              <a:noFill/>
            </a:ln>
          </p:spPr>
          <p:txBody>
            <a:bodyPr rtlCol="0" anchor="ctr"/>
            <a:lstStyle/>
            <a:p>
              <a:pPr algn="ctr"/>
            </a:p>
          </p:txBody>
        </p:sp>
        <p:sp>
          <p:nvSpPr>
            <p:cNvPr id="25" name="Rounded Rectangle 24"/>
            <p:cNvSpPr/>
            <p:nvPr/>
          </p:nvSpPr>
          <p:spPr>
            <a:xfrm>
              <a:off x="6099048" y="2185416"/>
              <a:ext cx="146304" cy="109728"/>
            </a:xfrm>
            <a:prstGeom prst="roundRect">
              <a:avLst>
                <a:gd name="adj" fmla="val 25000"/>
              </a:avLst>
            </a:prstGeom>
            <a:solidFill>
              <a:srgbClr val="9AA0A6"/>
            </a:solidFill>
            <a:ln>
              <a:noFill/>
            </a:ln>
          </p:spPr>
          <p:txBody>
            <a:bodyPr rtlCol="0" anchor="ctr"/>
            <a:lstStyle/>
            <a:p>
              <a:pPr algn="ctr"/>
            </a:p>
          </p:txBody>
        </p:sp>
        <p:sp>
          <p:nvSpPr>
            <p:cNvPr id="26" name="Rounded Rectangle 25"/>
            <p:cNvSpPr/>
            <p:nvPr/>
          </p:nvSpPr>
          <p:spPr>
            <a:xfrm>
              <a:off x="6519672" y="2240280"/>
              <a:ext cx="109728" cy="777240"/>
            </a:xfrm>
            <a:prstGeom prst="roundRect">
              <a:avLst>
                <a:gd name="adj" fmla="val 25000"/>
              </a:avLst>
            </a:prstGeom>
            <a:solidFill>
              <a:srgbClr val="E5484D"/>
            </a:solidFill>
            <a:ln w="9525">
              <a:solidFill>
                <a:srgbClr val="101418"/>
              </a:solidFill>
            </a:ln>
          </p:spPr>
          <p:txBody>
            <a:bodyPr rtlCol="0" anchor="ctr"/>
            <a:lstStyle/>
            <a:p>
              <a:pPr algn="ctr"/>
            </a:p>
          </p:txBody>
        </p:sp>
        <p:sp>
          <p:nvSpPr>
            <p:cNvPr id="27" name="Oval 26"/>
            <p:cNvSpPr/>
            <p:nvPr/>
          </p:nvSpPr>
          <p:spPr>
            <a:xfrm>
              <a:off x="6475781" y="2918765"/>
              <a:ext cx="197510" cy="197510"/>
            </a:xfrm>
            <a:prstGeom prst="ellipse">
              <a:avLst/>
            </a:prstGeom>
            <a:solidFill>
              <a:srgbClr val="9AA0A6"/>
            </a:solidFill>
            <a:ln>
              <a:noFill/>
            </a:ln>
          </p:spPr>
          <p:txBody>
            <a:bodyPr rtlCol="0" anchor="ctr"/>
            <a:lstStyle/>
            <a:p>
              <a:pPr algn="ctr"/>
            </a:p>
          </p:txBody>
        </p:sp>
        <p:sp>
          <p:nvSpPr>
            <p:cNvPr id="28" name="Rounded Rectangle 27"/>
            <p:cNvSpPr/>
            <p:nvPr/>
          </p:nvSpPr>
          <p:spPr>
            <a:xfrm>
              <a:off x="6501384" y="2185416"/>
              <a:ext cx="146304" cy="109728"/>
            </a:xfrm>
            <a:prstGeom prst="roundRect">
              <a:avLst>
                <a:gd name="adj" fmla="val 25000"/>
              </a:avLst>
            </a:prstGeom>
            <a:solidFill>
              <a:srgbClr val="9AA0A6"/>
            </a:solidFill>
            <a:ln>
              <a:noFill/>
            </a:ln>
          </p:spPr>
          <p:txBody>
            <a:bodyPr rtlCol="0" anchor="ctr"/>
            <a:lstStyle/>
            <a:p>
              <a:pPr algn="ctr"/>
            </a:p>
          </p:txBody>
        </p:sp>
        <p:sp>
          <p:nvSpPr>
            <p:cNvPr id="29" name="Rounded Rectangle 28"/>
            <p:cNvSpPr/>
            <p:nvPr/>
          </p:nvSpPr>
          <p:spPr>
            <a:xfrm>
              <a:off x="6922008" y="2240280"/>
              <a:ext cx="109728" cy="777240"/>
            </a:xfrm>
            <a:prstGeom prst="roundRect">
              <a:avLst>
                <a:gd name="adj" fmla="val 25000"/>
              </a:avLst>
            </a:prstGeom>
            <a:solidFill>
              <a:srgbClr val="F2C14E"/>
            </a:solidFill>
            <a:ln w="9525">
              <a:solidFill>
                <a:srgbClr val="101418"/>
              </a:solidFill>
            </a:ln>
          </p:spPr>
          <p:txBody>
            <a:bodyPr rtlCol="0" anchor="ctr"/>
            <a:lstStyle/>
            <a:p>
              <a:pPr algn="ctr"/>
            </a:p>
          </p:txBody>
        </p:sp>
        <p:sp>
          <p:nvSpPr>
            <p:cNvPr id="30" name="Oval 29"/>
            <p:cNvSpPr/>
            <p:nvPr/>
          </p:nvSpPr>
          <p:spPr>
            <a:xfrm>
              <a:off x="6878117" y="2918765"/>
              <a:ext cx="197510" cy="197510"/>
            </a:xfrm>
            <a:prstGeom prst="ellipse">
              <a:avLst/>
            </a:prstGeom>
            <a:solidFill>
              <a:srgbClr val="9AA0A6"/>
            </a:solidFill>
            <a:ln>
              <a:noFill/>
            </a:ln>
          </p:spPr>
          <p:txBody>
            <a:bodyPr rtlCol="0" anchor="ctr"/>
            <a:lstStyle/>
            <a:p>
              <a:pPr algn="ctr"/>
            </a:p>
          </p:txBody>
        </p:sp>
        <p:sp>
          <p:nvSpPr>
            <p:cNvPr id="31" name="Rounded Rectangle 30"/>
            <p:cNvSpPr/>
            <p:nvPr/>
          </p:nvSpPr>
          <p:spPr>
            <a:xfrm>
              <a:off x="6903720" y="2185416"/>
              <a:ext cx="146304" cy="109728"/>
            </a:xfrm>
            <a:prstGeom prst="roundRect">
              <a:avLst>
                <a:gd name="adj" fmla="val 25000"/>
              </a:avLst>
            </a:prstGeom>
            <a:solidFill>
              <a:srgbClr val="9AA0A6"/>
            </a:solidFill>
            <a:ln>
              <a:noFill/>
            </a:ln>
          </p:spPr>
          <p:txBody>
            <a:bodyPr rtlCol="0" anchor="ctr"/>
            <a:lstStyle/>
            <a:p>
              <a:pPr algn="ctr"/>
            </a:p>
          </p:txBody>
        </p:sp>
        <p:sp>
          <p:nvSpPr>
            <p:cNvPr id="32" name="Rounded Rectangle 31"/>
            <p:cNvSpPr/>
            <p:nvPr/>
          </p:nvSpPr>
          <p:spPr>
            <a:xfrm>
              <a:off x="7324344" y="2240280"/>
              <a:ext cx="109728" cy="777240"/>
            </a:xfrm>
            <a:prstGeom prst="roundRect">
              <a:avLst>
                <a:gd name="adj" fmla="val 25000"/>
              </a:avLst>
            </a:prstGeom>
            <a:solidFill>
              <a:srgbClr val="F2C14E"/>
            </a:solidFill>
            <a:ln w="9525">
              <a:solidFill>
                <a:srgbClr val="101418"/>
              </a:solidFill>
            </a:ln>
          </p:spPr>
          <p:txBody>
            <a:bodyPr rtlCol="0" anchor="ctr"/>
            <a:lstStyle/>
            <a:p>
              <a:pPr algn="ctr"/>
            </a:p>
          </p:txBody>
        </p:sp>
        <p:sp>
          <p:nvSpPr>
            <p:cNvPr id="33" name="Oval 32"/>
            <p:cNvSpPr/>
            <p:nvPr/>
          </p:nvSpPr>
          <p:spPr>
            <a:xfrm>
              <a:off x="7280453" y="2918765"/>
              <a:ext cx="197510" cy="197510"/>
            </a:xfrm>
            <a:prstGeom prst="ellipse">
              <a:avLst/>
            </a:prstGeom>
            <a:solidFill>
              <a:srgbClr val="9AA0A6"/>
            </a:solidFill>
            <a:ln>
              <a:noFill/>
            </a:ln>
          </p:spPr>
          <p:txBody>
            <a:bodyPr rtlCol="0" anchor="ctr"/>
            <a:lstStyle/>
            <a:p>
              <a:pPr algn="ctr"/>
            </a:p>
          </p:txBody>
        </p:sp>
        <p:sp>
          <p:nvSpPr>
            <p:cNvPr id="34" name="Rounded Rectangle 33"/>
            <p:cNvSpPr/>
            <p:nvPr/>
          </p:nvSpPr>
          <p:spPr>
            <a:xfrm>
              <a:off x="7306056" y="2185416"/>
              <a:ext cx="146304" cy="109728"/>
            </a:xfrm>
            <a:prstGeom prst="roundRect">
              <a:avLst>
                <a:gd name="adj" fmla="val 25000"/>
              </a:avLst>
            </a:prstGeom>
            <a:solidFill>
              <a:srgbClr val="9AA0A6"/>
            </a:solidFill>
            <a:ln>
              <a:noFill/>
            </a:ln>
          </p:spPr>
          <p:txBody>
            <a:bodyPr rtlCol="0" anchor="ctr"/>
            <a:lstStyle/>
            <a:p>
              <a:pPr algn="ctr"/>
            </a:p>
          </p:txBody>
        </p:sp>
        <p:sp>
          <p:nvSpPr>
            <p:cNvPr id="35" name="Rounded Rectangle 34"/>
            <p:cNvSpPr/>
            <p:nvPr/>
          </p:nvSpPr>
          <p:spPr>
            <a:xfrm>
              <a:off x="7726680" y="2240280"/>
              <a:ext cx="109728" cy="777240"/>
            </a:xfrm>
            <a:prstGeom prst="roundRect">
              <a:avLst>
                <a:gd name="adj" fmla="val 25000"/>
              </a:avLst>
            </a:prstGeom>
            <a:solidFill>
              <a:srgbClr val="5A6068"/>
            </a:solidFill>
            <a:ln w="12700">
              <a:solidFill>
                <a:srgbClr val="101418"/>
              </a:solidFill>
            </a:ln>
          </p:spPr>
          <p:txBody>
            <a:bodyPr rtlCol="0" anchor="ctr"/>
            <a:lstStyle/>
            <a:p>
              <a:pPr algn="ctr"/>
            </a:p>
          </p:txBody>
        </p:sp>
        <p:sp>
          <p:nvSpPr>
            <p:cNvPr id="36" name="Oval 35"/>
            <p:cNvSpPr/>
            <p:nvPr/>
          </p:nvSpPr>
          <p:spPr>
            <a:xfrm>
              <a:off x="7682789" y="2918765"/>
              <a:ext cx="197510" cy="197510"/>
            </a:xfrm>
            <a:prstGeom prst="ellipse">
              <a:avLst/>
            </a:prstGeom>
            <a:solidFill>
              <a:srgbClr val="9AA0A6"/>
            </a:solidFill>
            <a:ln>
              <a:noFill/>
            </a:ln>
          </p:spPr>
          <p:txBody>
            <a:bodyPr rtlCol="0" anchor="ctr"/>
            <a:lstStyle/>
            <a:p>
              <a:pPr algn="ctr"/>
            </a:p>
          </p:txBody>
        </p:sp>
        <p:sp>
          <p:nvSpPr>
            <p:cNvPr id="37" name="Rounded Rectangle 36"/>
            <p:cNvSpPr/>
            <p:nvPr/>
          </p:nvSpPr>
          <p:spPr>
            <a:xfrm>
              <a:off x="7708392" y="2185416"/>
              <a:ext cx="146304" cy="109728"/>
            </a:xfrm>
            <a:prstGeom prst="roundRect">
              <a:avLst>
                <a:gd name="adj" fmla="val 25000"/>
              </a:avLst>
            </a:prstGeom>
            <a:solidFill>
              <a:srgbClr val="9AA0A6"/>
            </a:solidFill>
            <a:ln>
              <a:noFill/>
            </a:ln>
          </p:spPr>
          <p:txBody>
            <a:bodyPr rtlCol="0" anchor="ctr"/>
            <a:lstStyle/>
            <a:p>
              <a:pPr algn="ctr"/>
            </a:p>
          </p:txBody>
        </p:sp>
        <p:sp>
          <p:nvSpPr>
            <p:cNvPr id="38" name="Rounded Rectangle 37"/>
            <p:cNvSpPr/>
            <p:nvPr/>
          </p:nvSpPr>
          <p:spPr>
            <a:xfrm>
              <a:off x="8129016" y="2240280"/>
              <a:ext cx="109728" cy="777240"/>
            </a:xfrm>
            <a:prstGeom prst="roundRect">
              <a:avLst>
                <a:gd name="adj" fmla="val 25000"/>
              </a:avLst>
            </a:prstGeom>
            <a:solidFill>
              <a:srgbClr val="5A6068"/>
            </a:solidFill>
            <a:ln w="12700">
              <a:solidFill>
                <a:srgbClr val="101418"/>
              </a:solidFill>
            </a:ln>
          </p:spPr>
          <p:txBody>
            <a:bodyPr rtlCol="0" anchor="ctr"/>
            <a:lstStyle/>
            <a:p>
              <a:pPr algn="ctr"/>
            </a:p>
          </p:txBody>
        </p:sp>
        <p:sp>
          <p:nvSpPr>
            <p:cNvPr id="39" name="Oval 38"/>
            <p:cNvSpPr/>
            <p:nvPr/>
          </p:nvSpPr>
          <p:spPr>
            <a:xfrm>
              <a:off x="8085125" y="2918765"/>
              <a:ext cx="197510" cy="197510"/>
            </a:xfrm>
            <a:prstGeom prst="ellipse">
              <a:avLst/>
            </a:prstGeom>
            <a:solidFill>
              <a:srgbClr val="9AA0A6"/>
            </a:solidFill>
            <a:ln>
              <a:noFill/>
            </a:ln>
          </p:spPr>
          <p:txBody>
            <a:bodyPr rtlCol="0" anchor="ctr"/>
            <a:lstStyle/>
            <a:p>
              <a:pPr algn="ctr"/>
            </a:p>
          </p:txBody>
        </p:sp>
        <p:sp>
          <p:nvSpPr>
            <p:cNvPr id="40" name="Rounded Rectangle 39"/>
            <p:cNvSpPr/>
            <p:nvPr/>
          </p:nvSpPr>
          <p:spPr>
            <a:xfrm>
              <a:off x="8110728" y="2185416"/>
              <a:ext cx="146304" cy="109728"/>
            </a:xfrm>
            <a:prstGeom prst="roundRect">
              <a:avLst>
                <a:gd name="adj" fmla="val 25000"/>
              </a:avLst>
            </a:prstGeom>
            <a:solidFill>
              <a:srgbClr val="9AA0A6"/>
            </a:solidFill>
            <a:ln>
              <a:noFill/>
            </a:ln>
          </p:spPr>
          <p:txBody>
            <a:bodyPr rtlCol="0" anchor="ctr"/>
            <a:lstStyle/>
            <a:p>
              <a:pPr algn="ctr"/>
            </a:p>
          </p:txBody>
        </p:sp>
        <p:sp>
          <p:nvSpPr>
            <p:cNvPr id="41" name="Rounded Rectangle 40"/>
            <p:cNvSpPr/>
            <p:nvPr/>
          </p:nvSpPr>
          <p:spPr>
            <a:xfrm>
              <a:off x="8531352" y="2240280"/>
              <a:ext cx="109728" cy="777240"/>
            </a:xfrm>
            <a:prstGeom prst="roundRect">
              <a:avLst>
                <a:gd name="adj" fmla="val 25000"/>
              </a:avLst>
            </a:prstGeom>
            <a:solidFill>
              <a:srgbClr val="6CA0DC"/>
            </a:solidFill>
            <a:ln w="9525">
              <a:solidFill>
                <a:srgbClr val="101418"/>
              </a:solidFill>
            </a:ln>
          </p:spPr>
          <p:txBody>
            <a:bodyPr rtlCol="0" anchor="ctr"/>
            <a:lstStyle/>
            <a:p>
              <a:pPr algn="ctr"/>
            </a:p>
          </p:txBody>
        </p:sp>
        <p:sp>
          <p:nvSpPr>
            <p:cNvPr id="42" name="Oval 41"/>
            <p:cNvSpPr/>
            <p:nvPr/>
          </p:nvSpPr>
          <p:spPr>
            <a:xfrm>
              <a:off x="8487461" y="2918765"/>
              <a:ext cx="197510" cy="197510"/>
            </a:xfrm>
            <a:prstGeom prst="ellipse">
              <a:avLst/>
            </a:prstGeom>
            <a:solidFill>
              <a:srgbClr val="9AA0A6"/>
            </a:solidFill>
            <a:ln>
              <a:noFill/>
            </a:ln>
          </p:spPr>
          <p:txBody>
            <a:bodyPr rtlCol="0" anchor="ctr"/>
            <a:lstStyle/>
            <a:p>
              <a:pPr algn="ctr"/>
            </a:p>
          </p:txBody>
        </p:sp>
        <p:sp>
          <p:nvSpPr>
            <p:cNvPr id="43" name="Rounded Rectangle 42"/>
            <p:cNvSpPr/>
            <p:nvPr/>
          </p:nvSpPr>
          <p:spPr>
            <a:xfrm>
              <a:off x="8513064" y="2185416"/>
              <a:ext cx="146304" cy="109728"/>
            </a:xfrm>
            <a:prstGeom prst="roundRect">
              <a:avLst>
                <a:gd name="adj" fmla="val 25000"/>
              </a:avLst>
            </a:prstGeom>
            <a:solidFill>
              <a:srgbClr val="9AA0A6"/>
            </a:solidFill>
            <a:ln>
              <a:noFill/>
            </a:ln>
          </p:spPr>
          <p:txBody>
            <a:bodyPr rtlCol="0" anchor="ctr"/>
            <a:lstStyle/>
            <a:p>
              <a:pPr algn="ctr"/>
            </a:p>
          </p:txBody>
        </p:sp>
        <p:sp>
          <p:nvSpPr>
            <p:cNvPr id="44" name="TextBox 43"/>
            <p:cNvSpPr txBox="1"/>
            <p:nvPr/>
          </p:nvSpPr>
          <p:spPr>
            <a:xfrm>
              <a:off x="5486400" y="3090672"/>
              <a:ext cx="1371600" cy="246888"/>
            </a:xfrm>
            <a:prstGeom prst="rect">
              <a:avLst/>
            </a:prstGeom>
            <a:noFill/>
          </p:spPr>
          <p:txBody>
            <a:bodyPr wrap="square" lIns="0" tIns="0" rIns="0" bIns="0" anchor="t">
              <a:noAutofit/>
            </a:bodyPr>
            <a:lstStyle/>
            <a:p>
              <a:pPr algn="ctr"/>
              <a:r>
                <a:rPr sz="1400" b="0" i="0" lang="en-GB">
                  <a:solidFill>
                    <a:srgbClr val="F2F2F2"/>
                  </a:solidFill>
                  <a:latin typeface="Arial"/>
                </a:rPr>
                <a:t>Stop</a:t>
              </a:r>
            </a:p>
          </p:txBody>
        </p:sp>
        <p:sp>
          <p:nvSpPr>
            <p:cNvPr id="45" name="TextBox 44"/>
            <p:cNvSpPr txBox="1"/>
            <p:nvPr/>
          </p:nvSpPr>
          <p:spPr>
            <a:xfrm>
              <a:off x="6693408" y="3090672"/>
              <a:ext cx="969264" cy="246888"/>
            </a:xfrm>
            <a:prstGeom prst="rect">
              <a:avLst/>
            </a:prstGeom>
            <a:noFill/>
          </p:spPr>
          <p:txBody>
            <a:bodyPr wrap="square" lIns="0" tIns="0" rIns="0" bIns="0" anchor="t">
              <a:noAutofit/>
            </a:bodyPr>
            <a:lstStyle/>
            <a:p>
              <a:pPr algn="ctr"/>
              <a:r>
                <a:rPr sz="1400" b="0" i="0" lang="en-GB">
                  <a:solidFill>
                    <a:srgbClr val="F2F2F2"/>
                  </a:solidFill>
                  <a:latin typeface="Arial"/>
                </a:rPr>
                <a:t>Distant</a:t>
              </a:r>
            </a:p>
          </p:txBody>
        </p:sp>
        <p:sp>
          <p:nvSpPr>
            <p:cNvPr id="46" name="TextBox 45"/>
            <p:cNvSpPr txBox="1"/>
            <p:nvPr/>
          </p:nvSpPr>
          <p:spPr>
            <a:xfrm>
              <a:off x="7498080" y="3090672"/>
              <a:ext cx="969264" cy="246888"/>
            </a:xfrm>
            <a:prstGeom prst="rect">
              <a:avLst/>
            </a:prstGeom>
            <a:noFill/>
          </p:spPr>
          <p:txBody>
            <a:bodyPr wrap="square" lIns="0" tIns="0" rIns="0" bIns="0" anchor="t">
              <a:noAutofit/>
            </a:bodyPr>
            <a:lstStyle/>
            <a:p>
              <a:pPr algn="ctr"/>
              <a:r>
                <a:rPr sz="1400" b="0" i="0" lang="en-GB">
                  <a:solidFill>
                    <a:srgbClr val="F2F2F2"/>
                  </a:solidFill>
                  <a:latin typeface="Arial"/>
                </a:rPr>
                <a:t>Points</a:t>
              </a:r>
            </a:p>
          </p:txBody>
        </p:sp>
        <p:sp>
          <p:nvSpPr>
            <p:cNvPr id="47" name="TextBox 46"/>
            <p:cNvSpPr txBox="1"/>
            <p:nvPr/>
          </p:nvSpPr>
          <p:spPr>
            <a:xfrm>
              <a:off x="8302752" y="3090672"/>
              <a:ext cx="566928" cy="246888"/>
            </a:xfrm>
            <a:prstGeom prst="rect">
              <a:avLst/>
            </a:prstGeom>
            <a:noFill/>
          </p:spPr>
          <p:txBody>
            <a:bodyPr wrap="square" lIns="0" tIns="0" rIns="0" bIns="0" anchor="t">
              <a:noAutofit/>
            </a:bodyPr>
            <a:lstStyle/>
            <a:p>
              <a:pPr algn="ctr"/>
              <a:r>
                <a:rPr sz="1400" b="0" i="0" lang="en-GB">
                  <a:solidFill>
                    <a:srgbClr val="F2F2F2"/>
                  </a:solidFill>
                  <a:latin typeface="Arial"/>
                </a:rPr>
                <a:t>Lock</a:t>
              </a:r>
            </a:p>
          </p:txBody>
        </p:sp>
        <p:sp>
          <p:nvSpPr>
            <p:cNvPr id="48" name="TextBox 47"/>
            <p:cNvSpPr txBox="1"/>
            <p:nvPr/>
          </p:nvSpPr>
          <p:spPr>
            <a:xfrm>
              <a:off x="8229600" y="1719072"/>
              <a:ext cx="1280160" cy="438912"/>
            </a:xfrm>
            <a:prstGeom prst="rect">
              <a:avLst/>
            </a:prstGeom>
            <a:noFill/>
          </p:spPr>
          <p:txBody>
            <a:bodyPr wrap="square" lIns="0" tIns="0" rIns="0" bIns="0" anchor="t">
              <a:noAutofit/>
            </a:bodyPr>
            <a:lstStyle/>
            <a:p>
              <a:pPr algn="l"/>
              <a:r>
                <a:rPr sz="1400" b="0" i="0" lang="en-GB">
                  <a:solidFill>
                    <a:srgbClr val="A9B0B8"/>
                  </a:solidFill>
                  <a:latin typeface="Arial"/>
                </a:rPr>
                <a:t>Example colours only</a:t>
              </a:r>
            </a:p>
          </p:txBody>
        </p:sp>
        <p:sp>
          <p:nvSpPr>
            <p:cNvPr id="49" name="TextBox 48"/>
            <p:cNvSpPr txBox="1"/>
            <p:nvPr/>
          </p:nvSpPr>
          <p:spPr>
            <a:xfrm>
              <a:off x="4910328" y="3392424"/>
              <a:ext cx="1828800" cy="292608"/>
            </a:xfrm>
            <a:prstGeom prst="rect">
              <a:avLst/>
            </a:prstGeom>
            <a:noFill/>
          </p:spPr>
          <p:txBody>
            <a:bodyPr wrap="square" lIns="0" tIns="0" rIns="0" bIns="0" anchor="t">
              <a:noAutofit/>
            </a:bodyPr>
            <a:lstStyle/>
            <a:p>
              <a:pPr algn="l"/>
              <a:r>
                <a:rPr sz="1400" b="1" i="0" lang="en-GB">
                  <a:solidFill>
                    <a:srgbClr val="F28C28"/>
                  </a:solidFill>
                  <a:latin typeface="Arial"/>
                </a:rPr>
                <a:t>Locking room</a:t>
              </a:r>
            </a:p>
          </p:txBody>
        </p:sp>
        <p:sp>
          <p:nvSpPr>
            <p:cNvPr id="50" name="Rectangle 49"/>
            <p:cNvSpPr/>
            <p:nvPr/>
          </p:nvSpPr>
          <p:spPr>
            <a:xfrm>
              <a:off x="6263640" y="3749040"/>
              <a:ext cx="2926080" cy="54864"/>
            </a:xfrm>
            <a:prstGeom prst="rect">
              <a:avLst/>
            </a:prstGeom>
            <a:solidFill>
              <a:srgbClr val="9AA0A6"/>
            </a:solidFill>
            <a:ln>
              <a:noFill/>
            </a:ln>
          </p:spPr>
          <p:txBody>
            <a:bodyPr rtlCol="0" anchor="ctr"/>
            <a:lstStyle/>
            <a:p>
              <a:pPr algn="ctr"/>
            </a:p>
          </p:txBody>
        </p:sp>
        <p:sp>
          <p:nvSpPr>
            <p:cNvPr id="51" name="Rectangle 50"/>
            <p:cNvSpPr/>
            <p:nvPr/>
          </p:nvSpPr>
          <p:spPr>
            <a:xfrm>
              <a:off x="6263640" y="3931920"/>
              <a:ext cx="2926080" cy="54864"/>
            </a:xfrm>
            <a:prstGeom prst="rect">
              <a:avLst/>
            </a:prstGeom>
            <a:solidFill>
              <a:srgbClr val="9AA0A6"/>
            </a:solidFill>
            <a:ln>
              <a:noFill/>
            </a:ln>
          </p:spPr>
          <p:txBody>
            <a:bodyPr rtlCol="0" anchor="ctr"/>
            <a:lstStyle/>
            <a:p>
              <a:pPr algn="ctr"/>
            </a:p>
          </p:txBody>
        </p:sp>
        <p:sp>
          <p:nvSpPr>
            <p:cNvPr id="52" name="Rectangle 51"/>
            <p:cNvSpPr/>
            <p:nvPr/>
          </p:nvSpPr>
          <p:spPr>
            <a:xfrm>
              <a:off x="6263640" y="4114800"/>
              <a:ext cx="2926080" cy="54864"/>
            </a:xfrm>
            <a:prstGeom prst="rect">
              <a:avLst/>
            </a:prstGeom>
            <a:solidFill>
              <a:srgbClr val="9AA0A6"/>
            </a:solidFill>
            <a:ln>
              <a:noFill/>
            </a:ln>
          </p:spPr>
          <p:txBody>
            <a:bodyPr rtlCol="0" anchor="ctr"/>
            <a:lstStyle/>
            <a:p>
              <a:pPr algn="ctr"/>
            </a:p>
          </p:txBody>
        </p:sp>
        <p:sp>
          <p:nvSpPr>
            <p:cNvPr id="53" name="Rectangle 52"/>
            <p:cNvSpPr/>
            <p:nvPr/>
          </p:nvSpPr>
          <p:spPr>
            <a:xfrm>
              <a:off x="6263640" y="4297680"/>
              <a:ext cx="2926080" cy="54864"/>
            </a:xfrm>
            <a:prstGeom prst="rect">
              <a:avLst/>
            </a:prstGeom>
            <a:solidFill>
              <a:srgbClr val="9AA0A6"/>
            </a:solidFill>
            <a:ln>
              <a:noFill/>
            </a:ln>
          </p:spPr>
          <p:txBody>
            <a:bodyPr rtlCol="0" anchor="ctr"/>
            <a:lstStyle/>
            <a:p>
              <a:pPr algn="ctr"/>
            </a:p>
          </p:txBody>
        </p:sp>
        <p:sp>
          <p:nvSpPr>
            <p:cNvPr id="54" name="Rectangle 53"/>
            <p:cNvSpPr/>
            <p:nvPr/>
          </p:nvSpPr>
          <p:spPr>
            <a:xfrm>
              <a:off x="6400800" y="3685032"/>
              <a:ext cx="45720" cy="731520"/>
            </a:xfrm>
            <a:prstGeom prst="rect">
              <a:avLst/>
            </a:prstGeom>
            <a:solidFill>
              <a:srgbClr val="4A515B"/>
            </a:solidFill>
            <a:ln>
              <a:noFill/>
            </a:ln>
          </p:spPr>
          <p:txBody>
            <a:bodyPr rtlCol="0" anchor="ctr"/>
            <a:lstStyle/>
            <a:p>
              <a:pPr algn="ctr"/>
            </a:p>
          </p:txBody>
        </p:sp>
        <p:sp>
          <p:nvSpPr>
            <p:cNvPr id="55" name="Rectangle 54"/>
            <p:cNvSpPr/>
            <p:nvPr/>
          </p:nvSpPr>
          <p:spPr>
            <a:xfrm>
              <a:off x="6748272" y="3685032"/>
              <a:ext cx="45720" cy="731520"/>
            </a:xfrm>
            <a:prstGeom prst="rect">
              <a:avLst/>
            </a:prstGeom>
            <a:solidFill>
              <a:srgbClr val="4A515B"/>
            </a:solidFill>
            <a:ln>
              <a:noFill/>
            </a:ln>
          </p:spPr>
          <p:txBody>
            <a:bodyPr rtlCol="0" anchor="ctr"/>
            <a:lstStyle/>
            <a:p>
              <a:pPr algn="ctr"/>
            </a:p>
          </p:txBody>
        </p:sp>
        <p:sp>
          <p:nvSpPr>
            <p:cNvPr id="56" name="Rectangle 55"/>
            <p:cNvSpPr/>
            <p:nvPr/>
          </p:nvSpPr>
          <p:spPr>
            <a:xfrm>
              <a:off x="7095744" y="3685032"/>
              <a:ext cx="45720" cy="731520"/>
            </a:xfrm>
            <a:prstGeom prst="rect">
              <a:avLst/>
            </a:prstGeom>
            <a:solidFill>
              <a:srgbClr val="4A515B"/>
            </a:solidFill>
            <a:ln>
              <a:noFill/>
            </a:ln>
          </p:spPr>
          <p:txBody>
            <a:bodyPr rtlCol="0" anchor="ctr"/>
            <a:lstStyle/>
            <a:p>
              <a:pPr algn="ctr"/>
            </a:p>
          </p:txBody>
        </p:sp>
        <p:sp>
          <p:nvSpPr>
            <p:cNvPr id="57" name="Rectangle 56"/>
            <p:cNvSpPr/>
            <p:nvPr/>
          </p:nvSpPr>
          <p:spPr>
            <a:xfrm>
              <a:off x="7443216" y="3685032"/>
              <a:ext cx="45720" cy="731520"/>
            </a:xfrm>
            <a:prstGeom prst="rect">
              <a:avLst/>
            </a:prstGeom>
            <a:solidFill>
              <a:srgbClr val="4A515B"/>
            </a:solidFill>
            <a:ln>
              <a:noFill/>
            </a:ln>
          </p:spPr>
          <p:txBody>
            <a:bodyPr rtlCol="0" anchor="ctr"/>
            <a:lstStyle/>
            <a:p>
              <a:pPr algn="ctr"/>
            </a:p>
          </p:txBody>
        </p:sp>
        <p:sp>
          <p:nvSpPr>
            <p:cNvPr id="58" name="Rectangle 57"/>
            <p:cNvSpPr/>
            <p:nvPr/>
          </p:nvSpPr>
          <p:spPr>
            <a:xfrm>
              <a:off x="7790688" y="3685032"/>
              <a:ext cx="45720" cy="731520"/>
            </a:xfrm>
            <a:prstGeom prst="rect">
              <a:avLst/>
            </a:prstGeom>
            <a:solidFill>
              <a:srgbClr val="4A515B"/>
            </a:solidFill>
            <a:ln>
              <a:noFill/>
            </a:ln>
          </p:spPr>
          <p:txBody>
            <a:bodyPr rtlCol="0" anchor="ctr"/>
            <a:lstStyle/>
            <a:p>
              <a:pPr algn="ctr"/>
            </a:p>
          </p:txBody>
        </p:sp>
        <p:sp>
          <p:nvSpPr>
            <p:cNvPr id="59" name="Rectangle 58"/>
            <p:cNvSpPr/>
            <p:nvPr/>
          </p:nvSpPr>
          <p:spPr>
            <a:xfrm>
              <a:off x="8138160" y="3685032"/>
              <a:ext cx="45720" cy="731520"/>
            </a:xfrm>
            <a:prstGeom prst="rect">
              <a:avLst/>
            </a:prstGeom>
            <a:solidFill>
              <a:srgbClr val="4A515B"/>
            </a:solidFill>
            <a:ln>
              <a:noFill/>
            </a:ln>
          </p:spPr>
          <p:txBody>
            <a:bodyPr rtlCol="0" anchor="ctr"/>
            <a:lstStyle/>
            <a:p>
              <a:pPr algn="ctr"/>
            </a:p>
          </p:txBody>
        </p:sp>
        <p:sp>
          <p:nvSpPr>
            <p:cNvPr id="60" name="Rectangle 59"/>
            <p:cNvSpPr/>
            <p:nvPr/>
          </p:nvSpPr>
          <p:spPr>
            <a:xfrm>
              <a:off x="8485632" y="3685032"/>
              <a:ext cx="45720" cy="731520"/>
            </a:xfrm>
            <a:prstGeom prst="rect">
              <a:avLst/>
            </a:prstGeom>
            <a:solidFill>
              <a:srgbClr val="4A515B"/>
            </a:solidFill>
            <a:ln>
              <a:noFill/>
            </a:ln>
          </p:spPr>
          <p:txBody>
            <a:bodyPr rtlCol="0" anchor="ctr"/>
            <a:lstStyle/>
            <a:p>
              <a:pPr algn="ctr"/>
            </a:p>
          </p:txBody>
        </p:sp>
        <p:sp>
          <p:nvSpPr>
            <p:cNvPr id="61" name="Rectangle 60"/>
            <p:cNvSpPr/>
            <p:nvPr/>
          </p:nvSpPr>
          <p:spPr>
            <a:xfrm>
              <a:off x="8833104" y="3685032"/>
              <a:ext cx="45720" cy="731520"/>
            </a:xfrm>
            <a:prstGeom prst="rect">
              <a:avLst/>
            </a:prstGeom>
            <a:solidFill>
              <a:srgbClr val="4A515B"/>
            </a:solidFill>
            <a:ln>
              <a:noFill/>
            </a:ln>
          </p:spPr>
          <p:txBody>
            <a:bodyPr rtlCol="0" anchor="ctr"/>
            <a:lstStyle/>
            <a:p>
              <a:pPr algn="ctr"/>
            </a:p>
          </p:txBody>
        </p:sp>
        <p:sp>
          <p:nvSpPr>
            <p:cNvPr id="62" name="Freeform 61"/>
            <p:cNvSpPr/>
            <p:nvPr/>
          </p:nvSpPr>
          <p:spPr>
            <a:xfrm>
              <a:off x="4572000" y="3721608"/>
              <a:ext cx="1691640" cy="1353312"/>
            </a:xfrm>
            <a:custGeom>
              <a:avLst/>
              <a:gdLst/>
              <a:ahLst/>
              <a:cxnLst/>
              <a:rect l="l" t="t" r="r" b="b"/>
              <a:pathLst>
                <a:path w="1691640" h="1353312">
                  <a:moveTo>
                    <a:pt x="1691640" y="0"/>
                  </a:moveTo>
                  <a:lnTo>
                    <a:pt x="0" y="0"/>
                  </a:lnTo>
                  <a:lnTo>
                    <a:pt x="0" y="1353312"/>
                  </a:lnTo>
                </a:path>
              </a:pathLst>
            </a:custGeom>
            <a:noFill/>
            <a:ln w="15875">
              <a:solidFill>
                <a:srgbClr val="9AA0A6"/>
              </a:solidFill>
            </a:ln>
          </p:spPr>
          <p:txBody>
            <a:bodyPr rtlCol="0" anchor="ctr"/>
            <a:lstStyle/>
            <a:p>
              <a:pPr algn="ctr"/>
            </a:p>
          </p:txBody>
        </p:sp>
        <p:sp>
          <p:nvSpPr>
            <p:cNvPr id="63" name="Freeform 62"/>
            <p:cNvSpPr/>
            <p:nvPr/>
          </p:nvSpPr>
          <p:spPr>
            <a:xfrm>
              <a:off x="4507992" y="3813048"/>
              <a:ext cx="1755648" cy="1261872"/>
            </a:xfrm>
            <a:custGeom>
              <a:avLst/>
              <a:gdLst/>
              <a:ahLst/>
              <a:cxnLst/>
              <a:rect l="l" t="t" r="r" b="b"/>
              <a:pathLst>
                <a:path w="1755648" h="1261872">
                  <a:moveTo>
                    <a:pt x="1755648" y="0"/>
                  </a:moveTo>
                  <a:lnTo>
                    <a:pt x="0" y="0"/>
                  </a:lnTo>
                  <a:lnTo>
                    <a:pt x="0" y="1261872"/>
                  </a:lnTo>
                </a:path>
              </a:pathLst>
            </a:custGeom>
            <a:noFill/>
            <a:ln w="15875">
              <a:solidFill>
                <a:srgbClr val="9AA0A6"/>
              </a:solidFill>
            </a:ln>
          </p:spPr>
          <p:txBody>
            <a:bodyPr rtlCol="0" anchor="ctr"/>
            <a:lstStyle/>
            <a:p>
              <a:pPr algn="ctr"/>
            </a:p>
          </p:txBody>
        </p:sp>
        <p:sp>
          <p:nvSpPr>
            <p:cNvPr id="64" name="Freeform 63"/>
            <p:cNvSpPr/>
            <p:nvPr/>
          </p:nvSpPr>
          <p:spPr>
            <a:xfrm>
              <a:off x="4443984" y="3904488"/>
              <a:ext cx="1819656" cy="1170432"/>
            </a:xfrm>
            <a:custGeom>
              <a:avLst/>
              <a:gdLst/>
              <a:ahLst/>
              <a:cxnLst/>
              <a:rect l="l" t="t" r="r" b="b"/>
              <a:pathLst>
                <a:path w="1819656" h="1170432">
                  <a:moveTo>
                    <a:pt x="1819656" y="0"/>
                  </a:moveTo>
                  <a:lnTo>
                    <a:pt x="0" y="0"/>
                  </a:lnTo>
                  <a:lnTo>
                    <a:pt x="0" y="1170432"/>
                  </a:lnTo>
                </a:path>
              </a:pathLst>
            </a:custGeom>
            <a:noFill/>
            <a:ln w="15875">
              <a:solidFill>
                <a:srgbClr val="9AA0A6"/>
              </a:solidFill>
            </a:ln>
          </p:spPr>
          <p:txBody>
            <a:bodyPr rtlCol="0" anchor="ctr"/>
            <a:lstStyle/>
            <a:p>
              <a:pPr algn="ctr"/>
            </a:p>
          </p:txBody>
        </p:sp>
        <p:sp>
          <p:nvSpPr>
            <p:cNvPr id="65" name="Freeform 64"/>
            <p:cNvSpPr/>
            <p:nvPr/>
          </p:nvSpPr>
          <p:spPr>
            <a:xfrm>
              <a:off x="4379976" y="3995928"/>
              <a:ext cx="1883664" cy="1078992"/>
            </a:xfrm>
            <a:custGeom>
              <a:avLst/>
              <a:gdLst/>
              <a:ahLst/>
              <a:cxnLst/>
              <a:rect l="l" t="t" r="r" b="b"/>
              <a:pathLst>
                <a:path w="1883664" h="1078992">
                  <a:moveTo>
                    <a:pt x="1883664" y="0"/>
                  </a:moveTo>
                  <a:lnTo>
                    <a:pt x="0" y="0"/>
                  </a:lnTo>
                  <a:lnTo>
                    <a:pt x="0" y="1078992"/>
                  </a:lnTo>
                </a:path>
              </a:pathLst>
            </a:custGeom>
            <a:noFill/>
            <a:ln w="15875">
              <a:solidFill>
                <a:srgbClr val="9AA0A6"/>
              </a:solidFill>
            </a:ln>
          </p:spPr>
          <p:txBody>
            <a:bodyPr rtlCol="0" anchor="ctr"/>
            <a:lstStyle/>
            <a:p>
              <a:pPr algn="ctr"/>
            </a:p>
          </p:txBody>
        </p:sp>
        <p:sp>
          <p:nvSpPr>
            <p:cNvPr id="66" name="Freeform 65"/>
            <p:cNvSpPr/>
            <p:nvPr/>
          </p:nvSpPr>
          <p:spPr>
            <a:xfrm>
              <a:off x="4315968" y="4087368"/>
              <a:ext cx="1947672" cy="987552"/>
            </a:xfrm>
            <a:custGeom>
              <a:avLst/>
              <a:gdLst/>
              <a:ahLst/>
              <a:cxnLst/>
              <a:rect l="l" t="t" r="r" b="b"/>
              <a:pathLst>
                <a:path w="1947672" h="987552">
                  <a:moveTo>
                    <a:pt x="1947672" y="0"/>
                  </a:moveTo>
                  <a:lnTo>
                    <a:pt x="0" y="0"/>
                  </a:lnTo>
                  <a:lnTo>
                    <a:pt x="0" y="987552"/>
                  </a:lnTo>
                </a:path>
              </a:pathLst>
            </a:custGeom>
            <a:noFill/>
            <a:ln w="15875">
              <a:solidFill>
                <a:srgbClr val="9AA0A6"/>
              </a:solidFill>
            </a:ln>
          </p:spPr>
          <p:txBody>
            <a:bodyPr rtlCol="0" anchor="ctr"/>
            <a:lstStyle/>
            <a:p>
              <a:pPr algn="ctr"/>
            </a:p>
          </p:txBody>
        </p:sp>
        <p:sp>
          <p:nvSpPr>
            <p:cNvPr id="67" name="Freeform 66"/>
            <p:cNvSpPr/>
            <p:nvPr/>
          </p:nvSpPr>
          <p:spPr>
            <a:xfrm>
              <a:off x="4251960" y="4178808"/>
              <a:ext cx="2011680" cy="896112"/>
            </a:xfrm>
            <a:custGeom>
              <a:avLst/>
              <a:gdLst/>
              <a:ahLst/>
              <a:cxnLst/>
              <a:rect l="l" t="t" r="r" b="b"/>
              <a:pathLst>
                <a:path w="2011680" h="896112">
                  <a:moveTo>
                    <a:pt x="2011680" y="0"/>
                  </a:moveTo>
                  <a:lnTo>
                    <a:pt x="0" y="0"/>
                  </a:lnTo>
                  <a:lnTo>
                    <a:pt x="0" y="896112"/>
                  </a:lnTo>
                </a:path>
              </a:pathLst>
            </a:custGeom>
            <a:noFill/>
            <a:ln w="15875">
              <a:solidFill>
                <a:srgbClr val="9AA0A6"/>
              </a:solidFill>
            </a:ln>
          </p:spPr>
          <p:txBody>
            <a:bodyPr rtlCol="0" anchor="ctr"/>
            <a:lstStyle/>
            <a:p>
              <a:pPr algn="ctr"/>
            </a:p>
          </p:txBody>
        </p:sp>
        <p:sp>
          <p:nvSpPr>
            <p:cNvPr id="68" name="Freeform 67"/>
            <p:cNvSpPr/>
            <p:nvPr/>
          </p:nvSpPr>
          <p:spPr>
            <a:xfrm>
              <a:off x="4187952" y="4270248"/>
              <a:ext cx="2075688" cy="804672"/>
            </a:xfrm>
            <a:custGeom>
              <a:avLst/>
              <a:gdLst/>
              <a:ahLst/>
              <a:cxnLst/>
              <a:rect l="l" t="t" r="r" b="b"/>
              <a:pathLst>
                <a:path w="2075688" h="804672">
                  <a:moveTo>
                    <a:pt x="2075688" y="0"/>
                  </a:moveTo>
                  <a:lnTo>
                    <a:pt x="0" y="0"/>
                  </a:lnTo>
                  <a:lnTo>
                    <a:pt x="0" y="804672"/>
                  </a:lnTo>
                </a:path>
              </a:pathLst>
            </a:custGeom>
            <a:noFill/>
            <a:ln w="15875">
              <a:solidFill>
                <a:srgbClr val="9AA0A6"/>
              </a:solidFill>
            </a:ln>
          </p:spPr>
          <p:txBody>
            <a:bodyPr rtlCol="0" anchor="ctr"/>
            <a:lstStyle/>
            <a:p>
              <a:pPr algn="ctr"/>
            </a:p>
          </p:txBody>
        </p:sp>
        <p:sp>
          <p:nvSpPr>
            <p:cNvPr id="69" name="Freeform 68"/>
            <p:cNvSpPr/>
            <p:nvPr/>
          </p:nvSpPr>
          <p:spPr>
            <a:xfrm>
              <a:off x="4123944" y="4361688"/>
              <a:ext cx="2139696" cy="713232"/>
            </a:xfrm>
            <a:custGeom>
              <a:avLst/>
              <a:gdLst/>
              <a:ahLst/>
              <a:cxnLst/>
              <a:rect l="l" t="t" r="r" b="b"/>
              <a:pathLst>
                <a:path w="2139696" h="713232">
                  <a:moveTo>
                    <a:pt x="2139696" y="0"/>
                  </a:moveTo>
                  <a:lnTo>
                    <a:pt x="0" y="0"/>
                  </a:lnTo>
                  <a:lnTo>
                    <a:pt x="0" y="713232"/>
                  </a:lnTo>
                </a:path>
              </a:pathLst>
            </a:custGeom>
            <a:noFill/>
            <a:ln w="15875">
              <a:solidFill>
                <a:srgbClr val="9AA0A6"/>
              </a:solidFill>
            </a:ln>
          </p:spPr>
          <p:txBody>
            <a:bodyPr rtlCol="0" anchor="ctr"/>
            <a:lstStyle/>
            <a:p>
              <a:pPr algn="ctr"/>
            </a:p>
          </p:txBody>
        </p:sp>
        <p:sp>
          <p:nvSpPr>
            <p:cNvPr id="70" name="Rectangle 69"/>
            <p:cNvSpPr/>
            <p:nvPr/>
          </p:nvSpPr>
          <p:spPr>
            <a:xfrm>
              <a:off x="3840480" y="5074920"/>
              <a:ext cx="5715000" cy="54864"/>
            </a:xfrm>
            <a:prstGeom prst="rect">
              <a:avLst/>
            </a:prstGeom>
            <a:solidFill>
              <a:srgbClr val="9AA0A6"/>
            </a:solidFill>
            <a:ln>
              <a:noFill/>
            </a:ln>
          </p:spPr>
          <p:txBody>
            <a:bodyPr rtlCol="0" anchor="ctr"/>
            <a:lstStyle/>
            <a:p>
              <a:pPr algn="ctr"/>
            </a:p>
          </p:txBody>
        </p:sp>
      </p:grpSp>
      <p:sp>
        <p:nvSpPr>
          <p:cNvPr id="71" name="TextBox 70"/>
          <p:cNvSpPr txBox="1"/>
          <p:nvPr/>
        </p:nvSpPr>
        <p:spPr>
          <a:xfrm>
            <a:off x="4800600" y="4599432"/>
            <a:ext cx="4754880" cy="329184"/>
          </a:xfrm>
          <a:prstGeom prst="rect">
            <a:avLst/>
          </a:prstGeom>
          <a:noFill/>
        </p:spPr>
        <p:txBody>
          <a:bodyPr wrap="square" lIns="0" tIns="0" rIns="0" bIns="0" anchor="t">
            <a:noAutofit/>
          </a:bodyPr>
          <a:lstStyle/>
          <a:p>
            <a:pPr algn="ctr"/>
            <a:r>
              <a:rPr sz="1400" b="0" i="0" lang="en-GB">
                <a:solidFill>
                  <a:srgbClr val="F2F2F2"/>
                </a:solidFill>
                <a:latin typeface="Arial"/>
              </a:rPr>
              <a:t>Rods and wires run out to signals and points</a:t>
            </a:r>
          </a:p>
        </p:txBody>
      </p:sp>
      <p:sp>
        <p:nvSpPr>
          <p:cNvPr id="72" name="Interlocking note"/>
          <p:cNvSpPr/>
          <p:nvPr/>
        </p:nvSpPr>
        <p:spPr>
          <a:xfrm>
            <a:off x="9784080" y="1371600"/>
            <a:ext cx="1856232" cy="1371600"/>
          </a:xfrm>
          <a:prstGeom prst="roundRect">
            <a:avLst>
              <a:gd name="adj" fmla="val 5333"/>
            </a:avLst>
          </a:prstGeom>
          <a:solidFill>
            <a:srgbClr val="1E2126"/>
          </a:solidFill>
          <a:ln w="19050">
            <a:solidFill>
              <a:srgbClr val="F28C28"/>
            </a:solidFill>
          </a:ln>
        </p:spPr>
        <p:txBody>
          <a:bodyPr rtlCol="0" anchor="ctr" wrap="square" lIns="109728" tIns="54864" rIns="73152" bIns="54864">
            <a:noAutofit/>
          </a:bodyPr>
          <a:lstStyle/>
          <a:p>
            <a:pPr algn="l"/>
            <a:r>
              <a:rPr sz="1600" b="0" i="0" lang="en-GB">
                <a:solidFill>
                  <a:srgbClr val="F2F2F2"/>
                </a:solidFill>
                <a:latin typeface="Arial"/>
              </a:rPr>
              <a:t>Levers are locked so two clashing signals cannot both be clear</a:t>
            </a:r>
          </a:p>
        </p:txBody>
      </p:sp>
      <p:pic>
        <p:nvPicPr>
          <p:cNvPr id="73" name="Picture P15" descr="Lever frame and workings inside a signal box at Didcot Railway Centre."/>
          <p:cNvPicPr>
            <a:picLocks noChangeAspect="1"/>
          </p:cNvPicPr>
          <p:nvPr/>
        </p:nvPicPr>
        <p:blipFill>
          <a:blip r:embed="rId3"/>
          <a:srcRect t="4545" b="4545"/>
          <a:stretch>
            <a:fillRect/>
          </a:stretch>
        </p:blipFill>
        <p:spPr>
          <a:xfrm>
            <a:off x="9628632" y="3703320"/>
            <a:ext cx="2011680" cy="1371600"/>
          </a:xfrm>
          <a:prstGeom prst="roundRect">
            <a:avLst>
              <a:gd name="adj" fmla="val 5333"/>
            </a:avLst>
          </a:prstGeom>
        </p:spPr>
      </p:pic>
      <p:sp>
        <p:nvSpPr>
          <p:cNvPr id="74" name="Credit"/>
          <p:cNvSpPr txBox="1"/>
          <p:nvPr/>
        </p:nvSpPr>
        <p:spPr>
          <a:xfrm>
            <a:off x="9628632" y="5102352"/>
            <a:ext cx="2011680" cy="338328"/>
          </a:xfrm>
          <a:prstGeom prst="rect">
            <a:avLst/>
          </a:prstGeom>
          <a:noFill/>
        </p:spPr>
        <p:txBody>
          <a:bodyPr wrap="square" lIns="0" tIns="0" rIns="0" bIns="0" anchor="t">
            <a:noAutofit/>
          </a:bodyPr>
          <a:lstStyle/>
          <a:p>
            <a:pPr algn="l"/>
            <a:r>
              <a:rPr sz="1000" b="0" i="0" lang="en-GB">
                <a:solidFill>
                  <a:srgbClr val="A9B0B8"/>
                </a:solidFill>
                <a:latin typeface="Arial"/>
              </a:rPr>
              <a:t>Photo: Nigel Brown, CC BY-SA 2.0,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signaller pulls levers. Rods and wires carry the movement out to the signals.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How it works together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Whole signalling system" descr="A signal box controls three signals through rods that run beside the track, each ending at a counterweight that returns the arm to STOP. A train is in block 2, so signal 1 is held at STOP behind it while signals 2 and 3 show CLEAR. A dotted line marks the box territory. A second box further along is linked by bell codes."/>
          <p:cNvGrpSpPr/>
          <p:nvPr/>
        </p:nvGrpSpPr>
        <p:grpSpPr>
          <a:xfrm>
            <a:off x="566928" y="1143000"/>
            <a:ext cx="11064240" cy="3813048"/>
            <a:chOff x="566928" y="1143000"/>
            <a:chExt cx="11064240" cy="3813048"/>
          </a:xfrm>
        </p:grpSpPr>
        <p:sp>
          <p:nvSpPr>
            <p:cNvPr id="9" name="Rounded Rectangle 8"/>
            <p:cNvSpPr/>
            <p:nvPr/>
          </p:nvSpPr>
          <p:spPr>
            <a:xfrm>
              <a:off x="566928" y="1572768"/>
              <a:ext cx="10058400" cy="3383280"/>
            </a:xfrm>
            <a:prstGeom prst="roundRect">
              <a:avLst>
                <a:gd name="adj" fmla="val 4054"/>
              </a:avLst>
            </a:prstGeom>
            <a:noFill/>
            <a:ln w="19050">
              <a:solidFill>
                <a:srgbClr val="F28C28"/>
              </a:solidFill>
              <a:prstDash val="sysDash"/>
            </a:ln>
          </p:spPr>
          <p:txBody>
            <a:bodyPr rtlCol="0" anchor="ctr"/>
            <a:lstStyle/>
            <a:p>
              <a:pPr algn="ctr"/>
            </a:p>
          </p:txBody>
        </p:sp>
        <p:sp>
          <p:nvSpPr>
            <p:cNvPr id="10" name="TextBox 9"/>
            <p:cNvSpPr txBox="1"/>
            <p:nvPr/>
          </p:nvSpPr>
          <p:spPr>
            <a:xfrm>
              <a:off x="7589520" y="1645920"/>
              <a:ext cx="2926080" cy="329184"/>
            </a:xfrm>
            <a:prstGeom prst="rect">
              <a:avLst/>
            </a:prstGeom>
            <a:noFill/>
          </p:spPr>
          <p:txBody>
            <a:bodyPr wrap="square" lIns="0" tIns="0" rIns="0" bIns="0" anchor="t">
              <a:noAutofit/>
            </a:bodyPr>
            <a:lstStyle/>
            <a:p>
              <a:pPr algn="r"/>
              <a:r>
                <a:rPr sz="1600" b="1" i="0" lang="en-GB">
                  <a:solidFill>
                    <a:srgbClr val="F28C28"/>
                  </a:solidFill>
                  <a:latin typeface="Arial"/>
                </a:rPr>
                <a:t>Box territory: limited</a:t>
              </a:r>
            </a:p>
          </p:txBody>
        </p:sp>
        <p:sp>
          <p:nvSpPr>
            <p:cNvPr id="11" name="Freeform 10"/>
            <p:cNvSpPr/>
            <p:nvPr/>
          </p:nvSpPr>
          <p:spPr>
            <a:xfrm>
              <a:off x="1920240" y="1444752"/>
              <a:ext cx="9253728" cy="457200"/>
            </a:xfrm>
            <a:custGeom>
              <a:avLst/>
              <a:gdLst/>
              <a:ahLst/>
              <a:cxnLst/>
              <a:rect l="l" t="t" r="r" b="b"/>
              <a:pathLst>
                <a:path w="9253728" h="457200">
                  <a:moveTo>
                    <a:pt x="0" y="219456"/>
                  </a:moveTo>
                  <a:lnTo>
                    <a:pt x="0" y="0"/>
                  </a:lnTo>
                  <a:lnTo>
                    <a:pt x="9253728" y="0"/>
                  </a:lnTo>
                  <a:lnTo>
                    <a:pt x="9253728" y="457200"/>
                  </a:lnTo>
                </a:path>
              </a:pathLst>
            </a:custGeom>
            <a:noFill/>
            <a:ln w="25400">
              <a:solidFill>
                <a:srgbClr val="9AA0A6"/>
              </a:solidFill>
              <a:prstDash val="dash"/>
              <a:headEnd type="triangle" w="lg" len="lg"/>
              <a:tailEnd type="triangle" w="lg" len="lg"/>
            </a:ln>
          </p:spPr>
          <p:txBody>
            <a:bodyPr rtlCol="0" anchor="ctr"/>
            <a:lstStyle/>
            <a:p>
              <a:pPr algn="ctr"/>
            </a:p>
          </p:txBody>
        </p:sp>
        <p:sp>
          <p:nvSpPr>
            <p:cNvPr id="12" name="TextBox 11"/>
            <p:cNvSpPr txBox="1"/>
            <p:nvPr/>
          </p:nvSpPr>
          <p:spPr>
            <a:xfrm>
              <a:off x="5486400" y="1143000"/>
              <a:ext cx="3291840" cy="274320"/>
            </a:xfrm>
            <a:prstGeom prst="rect">
              <a:avLst/>
            </a:prstGeom>
            <a:noFill/>
          </p:spPr>
          <p:txBody>
            <a:bodyPr wrap="square" lIns="0" tIns="0" rIns="0" bIns="0" anchor="ctr">
              <a:noAutofit/>
            </a:bodyPr>
            <a:lstStyle/>
            <a:p>
              <a:pPr algn="ctr"/>
              <a:r>
                <a:rPr sz="1600" b="0" i="0" lang="en-GB">
                  <a:solidFill>
                    <a:srgbClr val="F2F2F2"/>
                  </a:solidFill>
                  <a:latin typeface="Arial"/>
                </a:rPr>
                <a:t>Bell codes</a:t>
              </a:r>
            </a:p>
          </p:txBody>
        </p:sp>
        <p:sp>
          <p:nvSpPr>
            <p:cNvPr id="13" name="Freeform 12"/>
            <p:cNvSpPr/>
            <p:nvPr/>
          </p:nvSpPr>
          <p:spPr>
            <a:xfrm>
              <a:off x="685800" y="1659636"/>
              <a:ext cx="2468880" cy="397764"/>
            </a:xfrm>
            <a:custGeom>
              <a:avLst/>
              <a:gdLst/>
              <a:ahLst/>
              <a:cxnLst/>
              <a:rect l="l" t="t" r="r" b="b"/>
              <a:pathLst>
                <a:path w="2468880" h="397764">
                  <a:moveTo>
                    <a:pt x="0" y="397764"/>
                  </a:moveTo>
                  <a:lnTo>
                    <a:pt x="1234440" y="0"/>
                  </a:lnTo>
                  <a:lnTo>
                    <a:pt x="2468880" y="397764"/>
                  </a:lnTo>
                  <a:close/>
                </a:path>
              </a:pathLst>
            </a:custGeom>
            <a:solidFill>
              <a:srgbClr val="4A515B"/>
            </a:solidFill>
            <a:ln w="19050">
              <a:solidFill>
                <a:srgbClr val="F28C28"/>
              </a:solidFill>
            </a:ln>
          </p:spPr>
          <p:txBody>
            <a:bodyPr rtlCol="0" anchor="ctr"/>
            <a:lstStyle/>
            <a:p>
              <a:pPr algn="ctr"/>
            </a:p>
          </p:txBody>
        </p:sp>
        <p:sp>
          <p:nvSpPr>
            <p:cNvPr id="14" name="Rectangle 13"/>
            <p:cNvSpPr/>
            <p:nvPr/>
          </p:nvSpPr>
          <p:spPr>
            <a:xfrm>
              <a:off x="777240" y="2057400"/>
              <a:ext cx="2286000" cy="1325880"/>
            </a:xfrm>
            <a:prstGeom prst="rect">
              <a:avLst/>
            </a:prstGeom>
            <a:solidFill>
              <a:srgbClr val="2B2F36"/>
            </a:solidFill>
            <a:ln w="19050">
              <a:solidFill>
                <a:srgbClr val="F28C28"/>
              </a:solidFill>
            </a:ln>
          </p:spPr>
          <p:txBody>
            <a:bodyPr rtlCol="0" anchor="ctr"/>
            <a:lstStyle/>
            <a:p>
              <a:pPr algn="ctr"/>
            </a:p>
          </p:txBody>
        </p:sp>
        <p:sp>
          <p:nvSpPr>
            <p:cNvPr id="15" name="Rectangle 14"/>
            <p:cNvSpPr/>
            <p:nvPr/>
          </p:nvSpPr>
          <p:spPr>
            <a:xfrm>
              <a:off x="868680" y="2167128"/>
              <a:ext cx="2103120" cy="371246"/>
            </a:xfrm>
            <a:prstGeom prst="rect">
              <a:avLst/>
            </a:prstGeom>
            <a:solidFill>
              <a:srgbClr val="37587C"/>
            </a:solidFill>
            <a:ln w="9525">
              <a:solidFill>
                <a:srgbClr val="9AA0A6"/>
              </a:solidFill>
            </a:ln>
          </p:spPr>
          <p:txBody>
            <a:bodyPr rtlCol="0" anchor="ctr"/>
            <a:lstStyle/>
            <a:p>
              <a:pPr algn="ctr"/>
            </a:p>
          </p:txBody>
        </p:sp>
        <p:grpSp>
          <p:nvGrpSpPr>
            <p:cNvPr id="16" name="Person" descr="A signaller."/>
            <p:cNvGrpSpPr/>
            <p:nvPr/>
          </p:nvGrpSpPr>
          <p:grpSpPr>
            <a:xfrm>
              <a:off x="956462" y="2522372"/>
              <a:ext cx="373075" cy="769468"/>
              <a:chOff x="956462" y="2522372"/>
              <a:chExt cx="373075" cy="769468"/>
            </a:xfrm>
          </p:grpSpPr>
          <p:sp>
            <p:nvSpPr>
              <p:cNvPr id="17" name="Oval 16"/>
              <p:cNvSpPr/>
              <p:nvPr/>
            </p:nvSpPr>
            <p:spPr>
              <a:xfrm>
                <a:off x="1026414" y="2522372"/>
                <a:ext cx="233172" cy="233172"/>
              </a:xfrm>
              <a:prstGeom prst="ellipse">
                <a:avLst/>
              </a:prstGeom>
              <a:solidFill>
                <a:srgbClr val="E8E8E8"/>
              </a:solidFill>
              <a:ln>
                <a:noFill/>
              </a:ln>
            </p:spPr>
            <p:txBody>
              <a:bodyPr rtlCol="0" anchor="ctr"/>
              <a:lstStyle/>
              <a:p>
                <a:pPr algn="ctr"/>
              </a:p>
            </p:txBody>
          </p:sp>
          <p:sp>
            <p:nvSpPr>
              <p:cNvPr id="18" name="Rounded Rectangle 17"/>
              <p:cNvSpPr/>
              <p:nvPr/>
            </p:nvSpPr>
            <p:spPr>
              <a:xfrm>
                <a:off x="956462" y="2794406"/>
                <a:ext cx="373075" cy="497434"/>
              </a:xfrm>
              <a:prstGeom prst="roundRect">
                <a:avLst>
                  <a:gd name="adj" fmla="val 41666"/>
                </a:avLst>
              </a:prstGeom>
              <a:solidFill>
                <a:srgbClr val="E8E8E8"/>
              </a:solidFill>
              <a:ln>
                <a:noFill/>
              </a:ln>
            </p:spPr>
            <p:txBody>
              <a:bodyPr rtlCol="0" anchor="ctr"/>
              <a:lstStyle/>
              <a:p>
                <a:pPr algn="ctr"/>
              </a:p>
            </p:txBody>
          </p:sp>
        </p:grpSp>
        <p:sp>
          <p:nvSpPr>
            <p:cNvPr id="19" name="Rounded Rectangle 18"/>
            <p:cNvSpPr/>
            <p:nvPr/>
          </p:nvSpPr>
          <p:spPr>
            <a:xfrm>
              <a:off x="1828800" y="2542032"/>
              <a:ext cx="109728" cy="640080"/>
            </a:xfrm>
            <a:prstGeom prst="roundRect">
              <a:avLst>
                <a:gd name="adj" fmla="val 25000"/>
              </a:avLst>
            </a:prstGeom>
            <a:solidFill>
              <a:srgbClr val="E5484D"/>
            </a:solidFill>
            <a:ln w="9525">
              <a:solidFill>
                <a:srgbClr val="101418"/>
              </a:solidFill>
            </a:ln>
          </p:spPr>
          <p:txBody>
            <a:bodyPr rtlCol="0" anchor="ctr"/>
            <a:lstStyle/>
            <a:p>
              <a:pPr algn="ctr"/>
            </a:p>
          </p:txBody>
        </p:sp>
        <p:sp>
          <p:nvSpPr>
            <p:cNvPr id="20" name="Oval 19"/>
            <p:cNvSpPr/>
            <p:nvPr/>
          </p:nvSpPr>
          <p:spPr>
            <a:xfrm>
              <a:off x="1784909" y="3083357"/>
              <a:ext cx="197510" cy="197510"/>
            </a:xfrm>
            <a:prstGeom prst="ellipse">
              <a:avLst/>
            </a:prstGeom>
            <a:solidFill>
              <a:srgbClr val="9AA0A6"/>
            </a:solidFill>
            <a:ln>
              <a:noFill/>
            </a:ln>
          </p:spPr>
          <p:txBody>
            <a:bodyPr rtlCol="0" anchor="ctr"/>
            <a:lstStyle/>
            <a:p>
              <a:pPr algn="ctr"/>
            </a:p>
          </p:txBody>
        </p:sp>
        <p:sp>
          <p:nvSpPr>
            <p:cNvPr id="21" name="Rounded Rectangle 20"/>
            <p:cNvSpPr/>
            <p:nvPr/>
          </p:nvSpPr>
          <p:spPr>
            <a:xfrm>
              <a:off x="1810512" y="2487168"/>
              <a:ext cx="146304" cy="109728"/>
            </a:xfrm>
            <a:prstGeom prst="roundRect">
              <a:avLst>
                <a:gd name="adj" fmla="val 25000"/>
              </a:avLst>
            </a:prstGeom>
            <a:solidFill>
              <a:srgbClr val="9AA0A6"/>
            </a:solidFill>
            <a:ln>
              <a:noFill/>
            </a:ln>
          </p:spPr>
          <p:txBody>
            <a:bodyPr rtlCol="0" anchor="ctr"/>
            <a:lstStyle/>
            <a:p>
              <a:pPr algn="ctr"/>
            </a:p>
          </p:txBody>
        </p:sp>
        <p:sp>
          <p:nvSpPr>
            <p:cNvPr id="22" name="Rounded Rectangle 21"/>
            <p:cNvSpPr/>
            <p:nvPr/>
          </p:nvSpPr>
          <p:spPr>
            <a:xfrm>
              <a:off x="2139696" y="2542032"/>
              <a:ext cx="109728" cy="640080"/>
            </a:xfrm>
            <a:prstGeom prst="roundRect">
              <a:avLst>
                <a:gd name="adj" fmla="val 25000"/>
              </a:avLst>
            </a:prstGeom>
            <a:solidFill>
              <a:srgbClr val="E5484D"/>
            </a:solidFill>
            <a:ln w="9525">
              <a:solidFill>
                <a:srgbClr val="101418"/>
              </a:solidFill>
            </a:ln>
          </p:spPr>
          <p:txBody>
            <a:bodyPr rtlCol="0" anchor="ctr"/>
            <a:lstStyle/>
            <a:p>
              <a:pPr algn="ctr"/>
            </a:p>
          </p:txBody>
        </p:sp>
        <p:sp>
          <p:nvSpPr>
            <p:cNvPr id="23" name="Oval 22"/>
            <p:cNvSpPr/>
            <p:nvPr/>
          </p:nvSpPr>
          <p:spPr>
            <a:xfrm>
              <a:off x="2095805" y="3083357"/>
              <a:ext cx="197510" cy="197510"/>
            </a:xfrm>
            <a:prstGeom prst="ellipse">
              <a:avLst/>
            </a:prstGeom>
            <a:solidFill>
              <a:srgbClr val="9AA0A6"/>
            </a:solidFill>
            <a:ln>
              <a:noFill/>
            </a:ln>
          </p:spPr>
          <p:txBody>
            <a:bodyPr rtlCol="0" anchor="ctr"/>
            <a:lstStyle/>
            <a:p>
              <a:pPr algn="ctr"/>
            </a:p>
          </p:txBody>
        </p:sp>
        <p:sp>
          <p:nvSpPr>
            <p:cNvPr id="24" name="Rounded Rectangle 23"/>
            <p:cNvSpPr/>
            <p:nvPr/>
          </p:nvSpPr>
          <p:spPr>
            <a:xfrm>
              <a:off x="2121408" y="2487168"/>
              <a:ext cx="146304" cy="109728"/>
            </a:xfrm>
            <a:prstGeom prst="roundRect">
              <a:avLst>
                <a:gd name="adj" fmla="val 25000"/>
              </a:avLst>
            </a:prstGeom>
            <a:solidFill>
              <a:srgbClr val="9AA0A6"/>
            </a:solidFill>
            <a:ln>
              <a:noFill/>
            </a:ln>
          </p:spPr>
          <p:txBody>
            <a:bodyPr rtlCol="0" anchor="ctr"/>
            <a:lstStyle/>
            <a:p>
              <a:pPr algn="ctr"/>
            </a:p>
          </p:txBody>
        </p:sp>
        <p:sp>
          <p:nvSpPr>
            <p:cNvPr id="25" name="Rounded Rectangle 24"/>
            <p:cNvSpPr/>
            <p:nvPr/>
          </p:nvSpPr>
          <p:spPr>
            <a:xfrm>
              <a:off x="2450592" y="2542032"/>
              <a:ext cx="109728" cy="640080"/>
            </a:xfrm>
            <a:prstGeom prst="roundRect">
              <a:avLst>
                <a:gd name="adj" fmla="val 25000"/>
              </a:avLst>
            </a:prstGeom>
            <a:solidFill>
              <a:srgbClr val="F2C14E"/>
            </a:solidFill>
            <a:ln w="9525">
              <a:solidFill>
                <a:srgbClr val="101418"/>
              </a:solidFill>
            </a:ln>
          </p:spPr>
          <p:txBody>
            <a:bodyPr rtlCol="0" anchor="ctr"/>
            <a:lstStyle/>
            <a:p>
              <a:pPr algn="ctr"/>
            </a:p>
          </p:txBody>
        </p:sp>
        <p:sp>
          <p:nvSpPr>
            <p:cNvPr id="26" name="Oval 25"/>
            <p:cNvSpPr/>
            <p:nvPr/>
          </p:nvSpPr>
          <p:spPr>
            <a:xfrm>
              <a:off x="2406701" y="3083357"/>
              <a:ext cx="197510" cy="197510"/>
            </a:xfrm>
            <a:prstGeom prst="ellipse">
              <a:avLst/>
            </a:prstGeom>
            <a:solidFill>
              <a:srgbClr val="9AA0A6"/>
            </a:solidFill>
            <a:ln>
              <a:noFill/>
            </a:ln>
          </p:spPr>
          <p:txBody>
            <a:bodyPr rtlCol="0" anchor="ctr"/>
            <a:lstStyle/>
            <a:p>
              <a:pPr algn="ctr"/>
            </a:p>
          </p:txBody>
        </p:sp>
        <p:sp>
          <p:nvSpPr>
            <p:cNvPr id="27" name="Rounded Rectangle 26"/>
            <p:cNvSpPr/>
            <p:nvPr/>
          </p:nvSpPr>
          <p:spPr>
            <a:xfrm>
              <a:off x="2432304" y="2487168"/>
              <a:ext cx="146304" cy="109728"/>
            </a:xfrm>
            <a:prstGeom prst="roundRect">
              <a:avLst>
                <a:gd name="adj" fmla="val 25000"/>
              </a:avLst>
            </a:prstGeom>
            <a:solidFill>
              <a:srgbClr val="9AA0A6"/>
            </a:solidFill>
            <a:ln>
              <a:noFill/>
            </a:ln>
          </p:spPr>
          <p:txBody>
            <a:bodyPr rtlCol="0" anchor="ctr"/>
            <a:lstStyle/>
            <a:p>
              <a:pPr algn="ctr"/>
            </a:p>
          </p:txBody>
        </p:sp>
        <p:sp>
          <p:nvSpPr>
            <p:cNvPr id="28" name="Freeform 27"/>
            <p:cNvSpPr/>
            <p:nvPr/>
          </p:nvSpPr>
          <p:spPr>
            <a:xfrm>
              <a:off x="10716768" y="1911096"/>
              <a:ext cx="914400" cy="192024"/>
            </a:xfrm>
            <a:custGeom>
              <a:avLst/>
              <a:gdLst/>
              <a:ahLst/>
              <a:cxnLst/>
              <a:rect l="l" t="t" r="r" b="b"/>
              <a:pathLst>
                <a:path w="914400" h="192024">
                  <a:moveTo>
                    <a:pt x="0" y="192024"/>
                  </a:moveTo>
                  <a:lnTo>
                    <a:pt x="457200" y="0"/>
                  </a:lnTo>
                  <a:lnTo>
                    <a:pt x="914400" y="192024"/>
                  </a:lnTo>
                  <a:close/>
                </a:path>
              </a:pathLst>
            </a:custGeom>
            <a:solidFill>
              <a:srgbClr val="4A515B"/>
            </a:solidFill>
            <a:ln w="19050">
              <a:solidFill>
                <a:srgbClr val="9AA0A6"/>
              </a:solidFill>
            </a:ln>
          </p:spPr>
          <p:txBody>
            <a:bodyPr rtlCol="0" anchor="ctr"/>
            <a:lstStyle/>
            <a:p>
              <a:pPr algn="ctr"/>
            </a:p>
          </p:txBody>
        </p:sp>
        <p:sp>
          <p:nvSpPr>
            <p:cNvPr id="29" name="Rectangle 28"/>
            <p:cNvSpPr/>
            <p:nvPr/>
          </p:nvSpPr>
          <p:spPr>
            <a:xfrm>
              <a:off x="10808208" y="2103120"/>
              <a:ext cx="731520" cy="640080"/>
            </a:xfrm>
            <a:prstGeom prst="rect">
              <a:avLst/>
            </a:prstGeom>
            <a:solidFill>
              <a:srgbClr val="2B2F36"/>
            </a:solidFill>
            <a:ln w="19050">
              <a:solidFill>
                <a:srgbClr val="9AA0A6"/>
              </a:solidFill>
            </a:ln>
          </p:spPr>
          <p:txBody>
            <a:bodyPr rtlCol="0" anchor="ctr"/>
            <a:lstStyle/>
            <a:p>
              <a:pPr algn="ctr"/>
            </a:p>
          </p:txBody>
        </p:sp>
        <p:sp>
          <p:nvSpPr>
            <p:cNvPr id="30" name="Rectangle 29"/>
            <p:cNvSpPr/>
            <p:nvPr/>
          </p:nvSpPr>
          <p:spPr>
            <a:xfrm>
              <a:off x="10899648" y="2212848"/>
              <a:ext cx="548640" cy="179222"/>
            </a:xfrm>
            <a:prstGeom prst="rect">
              <a:avLst/>
            </a:prstGeom>
            <a:solidFill>
              <a:srgbClr val="37587C"/>
            </a:solidFill>
            <a:ln w="9525">
              <a:solidFill>
                <a:srgbClr val="9AA0A6"/>
              </a:solidFill>
            </a:ln>
          </p:spPr>
          <p:txBody>
            <a:bodyPr rtlCol="0" anchor="ctr"/>
            <a:lstStyle/>
            <a:p>
              <a:pPr algn="ctr"/>
            </a:p>
          </p:txBody>
        </p:sp>
        <p:sp>
          <p:nvSpPr>
            <p:cNvPr id="31" name="Rectangle 30"/>
            <p:cNvSpPr/>
            <p:nvPr/>
          </p:nvSpPr>
          <p:spPr>
            <a:xfrm>
              <a:off x="932688" y="3831336"/>
              <a:ext cx="54864" cy="365760"/>
            </a:xfrm>
            <a:prstGeom prst="rect">
              <a:avLst/>
            </a:prstGeom>
            <a:solidFill>
              <a:srgbClr val="6B5B4B"/>
            </a:solidFill>
            <a:ln>
              <a:noFill/>
            </a:ln>
          </p:spPr>
          <p:txBody>
            <a:bodyPr rtlCol="0" anchor="ctr"/>
            <a:lstStyle/>
            <a:p>
              <a:pPr algn="ctr"/>
            </a:p>
          </p:txBody>
        </p:sp>
        <p:sp>
          <p:nvSpPr>
            <p:cNvPr id="32" name="Rectangle 31"/>
            <p:cNvSpPr/>
            <p:nvPr/>
          </p:nvSpPr>
          <p:spPr>
            <a:xfrm>
              <a:off x="1252728" y="3831336"/>
              <a:ext cx="54864" cy="365760"/>
            </a:xfrm>
            <a:prstGeom prst="rect">
              <a:avLst/>
            </a:prstGeom>
            <a:solidFill>
              <a:srgbClr val="6B5B4B"/>
            </a:solidFill>
            <a:ln>
              <a:noFill/>
            </a:ln>
          </p:spPr>
          <p:txBody>
            <a:bodyPr rtlCol="0" anchor="ctr"/>
            <a:lstStyle/>
            <a:p>
              <a:pPr algn="ctr"/>
            </a:p>
          </p:txBody>
        </p:sp>
        <p:sp>
          <p:nvSpPr>
            <p:cNvPr id="33" name="Rectangle 32"/>
            <p:cNvSpPr/>
            <p:nvPr/>
          </p:nvSpPr>
          <p:spPr>
            <a:xfrm>
              <a:off x="1572768" y="3831336"/>
              <a:ext cx="54864" cy="365760"/>
            </a:xfrm>
            <a:prstGeom prst="rect">
              <a:avLst/>
            </a:prstGeom>
            <a:solidFill>
              <a:srgbClr val="6B5B4B"/>
            </a:solidFill>
            <a:ln>
              <a:noFill/>
            </a:ln>
          </p:spPr>
          <p:txBody>
            <a:bodyPr rtlCol="0" anchor="ctr"/>
            <a:lstStyle/>
            <a:p>
              <a:pPr algn="ctr"/>
            </a:p>
          </p:txBody>
        </p:sp>
        <p:sp>
          <p:nvSpPr>
            <p:cNvPr id="34" name="Rectangle 33"/>
            <p:cNvSpPr/>
            <p:nvPr/>
          </p:nvSpPr>
          <p:spPr>
            <a:xfrm>
              <a:off x="1892808" y="3831336"/>
              <a:ext cx="54864" cy="365760"/>
            </a:xfrm>
            <a:prstGeom prst="rect">
              <a:avLst/>
            </a:prstGeom>
            <a:solidFill>
              <a:srgbClr val="6B5B4B"/>
            </a:solidFill>
            <a:ln>
              <a:noFill/>
            </a:ln>
          </p:spPr>
          <p:txBody>
            <a:bodyPr rtlCol="0" anchor="ctr"/>
            <a:lstStyle/>
            <a:p>
              <a:pPr algn="ctr"/>
            </a:p>
          </p:txBody>
        </p:sp>
        <p:sp>
          <p:nvSpPr>
            <p:cNvPr id="35" name="Rectangle 34"/>
            <p:cNvSpPr/>
            <p:nvPr/>
          </p:nvSpPr>
          <p:spPr>
            <a:xfrm>
              <a:off x="2212848" y="3831336"/>
              <a:ext cx="54864" cy="365760"/>
            </a:xfrm>
            <a:prstGeom prst="rect">
              <a:avLst/>
            </a:prstGeom>
            <a:solidFill>
              <a:srgbClr val="6B5B4B"/>
            </a:solidFill>
            <a:ln>
              <a:noFill/>
            </a:ln>
          </p:spPr>
          <p:txBody>
            <a:bodyPr rtlCol="0" anchor="ctr"/>
            <a:lstStyle/>
            <a:p>
              <a:pPr algn="ctr"/>
            </a:p>
          </p:txBody>
        </p:sp>
        <p:sp>
          <p:nvSpPr>
            <p:cNvPr id="36" name="Rectangle 35"/>
            <p:cNvSpPr/>
            <p:nvPr/>
          </p:nvSpPr>
          <p:spPr>
            <a:xfrm>
              <a:off x="2532888" y="3831336"/>
              <a:ext cx="54864" cy="365760"/>
            </a:xfrm>
            <a:prstGeom prst="rect">
              <a:avLst/>
            </a:prstGeom>
            <a:solidFill>
              <a:srgbClr val="6B5B4B"/>
            </a:solidFill>
            <a:ln>
              <a:noFill/>
            </a:ln>
          </p:spPr>
          <p:txBody>
            <a:bodyPr rtlCol="0" anchor="ctr"/>
            <a:lstStyle/>
            <a:p>
              <a:pPr algn="ctr"/>
            </a:p>
          </p:txBody>
        </p:sp>
        <p:sp>
          <p:nvSpPr>
            <p:cNvPr id="37" name="Rectangle 36"/>
            <p:cNvSpPr/>
            <p:nvPr/>
          </p:nvSpPr>
          <p:spPr>
            <a:xfrm>
              <a:off x="2852928" y="3831336"/>
              <a:ext cx="54864" cy="365760"/>
            </a:xfrm>
            <a:prstGeom prst="rect">
              <a:avLst/>
            </a:prstGeom>
            <a:solidFill>
              <a:srgbClr val="6B5B4B"/>
            </a:solidFill>
            <a:ln>
              <a:noFill/>
            </a:ln>
          </p:spPr>
          <p:txBody>
            <a:bodyPr rtlCol="0" anchor="ctr"/>
            <a:lstStyle/>
            <a:p>
              <a:pPr algn="ctr"/>
            </a:p>
          </p:txBody>
        </p:sp>
        <p:sp>
          <p:nvSpPr>
            <p:cNvPr id="38" name="Rectangle 37"/>
            <p:cNvSpPr/>
            <p:nvPr/>
          </p:nvSpPr>
          <p:spPr>
            <a:xfrm>
              <a:off x="3172968" y="3831336"/>
              <a:ext cx="54864" cy="365760"/>
            </a:xfrm>
            <a:prstGeom prst="rect">
              <a:avLst/>
            </a:prstGeom>
            <a:solidFill>
              <a:srgbClr val="6B5B4B"/>
            </a:solidFill>
            <a:ln>
              <a:noFill/>
            </a:ln>
          </p:spPr>
          <p:txBody>
            <a:bodyPr rtlCol="0" anchor="ctr"/>
            <a:lstStyle/>
            <a:p>
              <a:pPr algn="ctr"/>
            </a:p>
          </p:txBody>
        </p:sp>
        <p:sp>
          <p:nvSpPr>
            <p:cNvPr id="39" name="Rectangle 38"/>
            <p:cNvSpPr/>
            <p:nvPr/>
          </p:nvSpPr>
          <p:spPr>
            <a:xfrm>
              <a:off x="3493008" y="3831336"/>
              <a:ext cx="54864" cy="365760"/>
            </a:xfrm>
            <a:prstGeom prst="rect">
              <a:avLst/>
            </a:prstGeom>
            <a:solidFill>
              <a:srgbClr val="6B5B4B"/>
            </a:solidFill>
            <a:ln>
              <a:noFill/>
            </a:ln>
          </p:spPr>
          <p:txBody>
            <a:bodyPr rtlCol="0" anchor="ctr"/>
            <a:lstStyle/>
            <a:p>
              <a:pPr algn="ctr"/>
            </a:p>
          </p:txBody>
        </p:sp>
        <p:sp>
          <p:nvSpPr>
            <p:cNvPr id="40" name="Rectangle 39"/>
            <p:cNvSpPr/>
            <p:nvPr/>
          </p:nvSpPr>
          <p:spPr>
            <a:xfrm>
              <a:off x="3813048" y="3831336"/>
              <a:ext cx="54864" cy="365760"/>
            </a:xfrm>
            <a:prstGeom prst="rect">
              <a:avLst/>
            </a:prstGeom>
            <a:solidFill>
              <a:srgbClr val="6B5B4B"/>
            </a:solidFill>
            <a:ln>
              <a:noFill/>
            </a:ln>
          </p:spPr>
          <p:txBody>
            <a:bodyPr rtlCol="0" anchor="ctr"/>
            <a:lstStyle/>
            <a:p>
              <a:pPr algn="ctr"/>
            </a:p>
          </p:txBody>
        </p:sp>
        <p:sp>
          <p:nvSpPr>
            <p:cNvPr id="41" name="Rectangle 40"/>
            <p:cNvSpPr/>
            <p:nvPr/>
          </p:nvSpPr>
          <p:spPr>
            <a:xfrm>
              <a:off x="4133088" y="3831336"/>
              <a:ext cx="54864" cy="365760"/>
            </a:xfrm>
            <a:prstGeom prst="rect">
              <a:avLst/>
            </a:prstGeom>
            <a:solidFill>
              <a:srgbClr val="6B5B4B"/>
            </a:solidFill>
            <a:ln>
              <a:noFill/>
            </a:ln>
          </p:spPr>
          <p:txBody>
            <a:bodyPr rtlCol="0" anchor="ctr"/>
            <a:lstStyle/>
            <a:p>
              <a:pPr algn="ctr"/>
            </a:p>
          </p:txBody>
        </p:sp>
        <p:sp>
          <p:nvSpPr>
            <p:cNvPr id="42" name="Rectangle 41"/>
            <p:cNvSpPr/>
            <p:nvPr/>
          </p:nvSpPr>
          <p:spPr>
            <a:xfrm>
              <a:off x="4453128" y="3831336"/>
              <a:ext cx="54864" cy="365760"/>
            </a:xfrm>
            <a:prstGeom prst="rect">
              <a:avLst/>
            </a:prstGeom>
            <a:solidFill>
              <a:srgbClr val="6B5B4B"/>
            </a:solidFill>
            <a:ln>
              <a:noFill/>
            </a:ln>
          </p:spPr>
          <p:txBody>
            <a:bodyPr rtlCol="0" anchor="ctr"/>
            <a:lstStyle/>
            <a:p>
              <a:pPr algn="ctr"/>
            </a:p>
          </p:txBody>
        </p:sp>
        <p:sp>
          <p:nvSpPr>
            <p:cNvPr id="43" name="Rectangle 42"/>
            <p:cNvSpPr/>
            <p:nvPr/>
          </p:nvSpPr>
          <p:spPr>
            <a:xfrm>
              <a:off x="4773168" y="3831336"/>
              <a:ext cx="54864" cy="365760"/>
            </a:xfrm>
            <a:prstGeom prst="rect">
              <a:avLst/>
            </a:prstGeom>
            <a:solidFill>
              <a:srgbClr val="6B5B4B"/>
            </a:solidFill>
            <a:ln>
              <a:noFill/>
            </a:ln>
          </p:spPr>
          <p:txBody>
            <a:bodyPr rtlCol="0" anchor="ctr"/>
            <a:lstStyle/>
            <a:p>
              <a:pPr algn="ctr"/>
            </a:p>
          </p:txBody>
        </p:sp>
        <p:sp>
          <p:nvSpPr>
            <p:cNvPr id="44" name="Rectangle 43"/>
            <p:cNvSpPr/>
            <p:nvPr/>
          </p:nvSpPr>
          <p:spPr>
            <a:xfrm>
              <a:off x="5093208" y="3831336"/>
              <a:ext cx="54864" cy="365760"/>
            </a:xfrm>
            <a:prstGeom prst="rect">
              <a:avLst/>
            </a:prstGeom>
            <a:solidFill>
              <a:srgbClr val="6B5B4B"/>
            </a:solidFill>
            <a:ln>
              <a:noFill/>
            </a:ln>
          </p:spPr>
          <p:txBody>
            <a:bodyPr rtlCol="0" anchor="ctr"/>
            <a:lstStyle/>
            <a:p>
              <a:pPr algn="ctr"/>
            </a:p>
          </p:txBody>
        </p:sp>
        <p:sp>
          <p:nvSpPr>
            <p:cNvPr id="45" name="Rectangle 44"/>
            <p:cNvSpPr/>
            <p:nvPr/>
          </p:nvSpPr>
          <p:spPr>
            <a:xfrm>
              <a:off x="5413248" y="3831336"/>
              <a:ext cx="54864" cy="365760"/>
            </a:xfrm>
            <a:prstGeom prst="rect">
              <a:avLst/>
            </a:prstGeom>
            <a:solidFill>
              <a:srgbClr val="6B5B4B"/>
            </a:solidFill>
            <a:ln>
              <a:noFill/>
            </a:ln>
          </p:spPr>
          <p:txBody>
            <a:bodyPr rtlCol="0" anchor="ctr"/>
            <a:lstStyle/>
            <a:p>
              <a:pPr algn="ctr"/>
            </a:p>
          </p:txBody>
        </p:sp>
        <p:sp>
          <p:nvSpPr>
            <p:cNvPr id="46" name="Rectangle 45"/>
            <p:cNvSpPr/>
            <p:nvPr/>
          </p:nvSpPr>
          <p:spPr>
            <a:xfrm>
              <a:off x="5733288" y="3831336"/>
              <a:ext cx="54864" cy="365760"/>
            </a:xfrm>
            <a:prstGeom prst="rect">
              <a:avLst/>
            </a:prstGeom>
            <a:solidFill>
              <a:srgbClr val="6B5B4B"/>
            </a:solidFill>
            <a:ln>
              <a:noFill/>
            </a:ln>
          </p:spPr>
          <p:txBody>
            <a:bodyPr rtlCol="0" anchor="ctr"/>
            <a:lstStyle/>
            <a:p>
              <a:pPr algn="ctr"/>
            </a:p>
          </p:txBody>
        </p:sp>
        <p:sp>
          <p:nvSpPr>
            <p:cNvPr id="47" name="Rectangle 46"/>
            <p:cNvSpPr/>
            <p:nvPr/>
          </p:nvSpPr>
          <p:spPr>
            <a:xfrm>
              <a:off x="6053328" y="3831336"/>
              <a:ext cx="54864" cy="365760"/>
            </a:xfrm>
            <a:prstGeom prst="rect">
              <a:avLst/>
            </a:prstGeom>
            <a:solidFill>
              <a:srgbClr val="6B5B4B"/>
            </a:solidFill>
            <a:ln>
              <a:noFill/>
            </a:ln>
          </p:spPr>
          <p:txBody>
            <a:bodyPr rtlCol="0" anchor="ctr"/>
            <a:lstStyle/>
            <a:p>
              <a:pPr algn="ctr"/>
            </a:p>
          </p:txBody>
        </p:sp>
        <p:sp>
          <p:nvSpPr>
            <p:cNvPr id="48" name="Rectangle 47"/>
            <p:cNvSpPr/>
            <p:nvPr/>
          </p:nvSpPr>
          <p:spPr>
            <a:xfrm>
              <a:off x="6373368" y="3831336"/>
              <a:ext cx="54864" cy="365760"/>
            </a:xfrm>
            <a:prstGeom prst="rect">
              <a:avLst/>
            </a:prstGeom>
            <a:solidFill>
              <a:srgbClr val="6B5B4B"/>
            </a:solidFill>
            <a:ln>
              <a:noFill/>
            </a:ln>
          </p:spPr>
          <p:txBody>
            <a:bodyPr rtlCol="0" anchor="ctr"/>
            <a:lstStyle/>
            <a:p>
              <a:pPr algn="ctr"/>
            </a:p>
          </p:txBody>
        </p:sp>
        <p:sp>
          <p:nvSpPr>
            <p:cNvPr id="49" name="Rectangle 48"/>
            <p:cNvSpPr/>
            <p:nvPr/>
          </p:nvSpPr>
          <p:spPr>
            <a:xfrm>
              <a:off x="6693408" y="3831336"/>
              <a:ext cx="54864" cy="365760"/>
            </a:xfrm>
            <a:prstGeom prst="rect">
              <a:avLst/>
            </a:prstGeom>
            <a:solidFill>
              <a:srgbClr val="6B5B4B"/>
            </a:solidFill>
            <a:ln>
              <a:noFill/>
            </a:ln>
          </p:spPr>
          <p:txBody>
            <a:bodyPr rtlCol="0" anchor="ctr"/>
            <a:lstStyle/>
            <a:p>
              <a:pPr algn="ctr"/>
            </a:p>
          </p:txBody>
        </p:sp>
        <p:sp>
          <p:nvSpPr>
            <p:cNvPr id="50" name="Rectangle 49"/>
            <p:cNvSpPr/>
            <p:nvPr/>
          </p:nvSpPr>
          <p:spPr>
            <a:xfrm>
              <a:off x="7013448" y="3831336"/>
              <a:ext cx="54864" cy="365760"/>
            </a:xfrm>
            <a:prstGeom prst="rect">
              <a:avLst/>
            </a:prstGeom>
            <a:solidFill>
              <a:srgbClr val="6B5B4B"/>
            </a:solidFill>
            <a:ln>
              <a:noFill/>
            </a:ln>
          </p:spPr>
          <p:txBody>
            <a:bodyPr rtlCol="0" anchor="ctr"/>
            <a:lstStyle/>
            <a:p>
              <a:pPr algn="ctr"/>
            </a:p>
          </p:txBody>
        </p:sp>
        <p:sp>
          <p:nvSpPr>
            <p:cNvPr id="51" name="Rectangle 50"/>
            <p:cNvSpPr/>
            <p:nvPr/>
          </p:nvSpPr>
          <p:spPr>
            <a:xfrm>
              <a:off x="7333488" y="3831336"/>
              <a:ext cx="54864" cy="365760"/>
            </a:xfrm>
            <a:prstGeom prst="rect">
              <a:avLst/>
            </a:prstGeom>
            <a:solidFill>
              <a:srgbClr val="6B5B4B"/>
            </a:solidFill>
            <a:ln>
              <a:noFill/>
            </a:ln>
          </p:spPr>
          <p:txBody>
            <a:bodyPr rtlCol="0" anchor="ctr"/>
            <a:lstStyle/>
            <a:p>
              <a:pPr algn="ctr"/>
            </a:p>
          </p:txBody>
        </p:sp>
        <p:sp>
          <p:nvSpPr>
            <p:cNvPr id="52" name="Rectangle 51"/>
            <p:cNvSpPr/>
            <p:nvPr/>
          </p:nvSpPr>
          <p:spPr>
            <a:xfrm>
              <a:off x="7653528" y="3831336"/>
              <a:ext cx="54864" cy="365760"/>
            </a:xfrm>
            <a:prstGeom prst="rect">
              <a:avLst/>
            </a:prstGeom>
            <a:solidFill>
              <a:srgbClr val="6B5B4B"/>
            </a:solidFill>
            <a:ln>
              <a:noFill/>
            </a:ln>
          </p:spPr>
          <p:txBody>
            <a:bodyPr rtlCol="0" anchor="ctr"/>
            <a:lstStyle/>
            <a:p>
              <a:pPr algn="ctr"/>
            </a:p>
          </p:txBody>
        </p:sp>
        <p:sp>
          <p:nvSpPr>
            <p:cNvPr id="53" name="Rectangle 52"/>
            <p:cNvSpPr/>
            <p:nvPr/>
          </p:nvSpPr>
          <p:spPr>
            <a:xfrm>
              <a:off x="7973568" y="3831336"/>
              <a:ext cx="54864" cy="365760"/>
            </a:xfrm>
            <a:prstGeom prst="rect">
              <a:avLst/>
            </a:prstGeom>
            <a:solidFill>
              <a:srgbClr val="6B5B4B"/>
            </a:solidFill>
            <a:ln>
              <a:noFill/>
            </a:ln>
          </p:spPr>
          <p:txBody>
            <a:bodyPr rtlCol="0" anchor="ctr"/>
            <a:lstStyle/>
            <a:p>
              <a:pPr algn="ctr"/>
            </a:p>
          </p:txBody>
        </p:sp>
        <p:sp>
          <p:nvSpPr>
            <p:cNvPr id="54" name="Rectangle 53"/>
            <p:cNvSpPr/>
            <p:nvPr/>
          </p:nvSpPr>
          <p:spPr>
            <a:xfrm>
              <a:off x="8293608" y="3831336"/>
              <a:ext cx="54864" cy="365760"/>
            </a:xfrm>
            <a:prstGeom prst="rect">
              <a:avLst/>
            </a:prstGeom>
            <a:solidFill>
              <a:srgbClr val="6B5B4B"/>
            </a:solidFill>
            <a:ln>
              <a:noFill/>
            </a:ln>
          </p:spPr>
          <p:txBody>
            <a:bodyPr rtlCol="0" anchor="ctr"/>
            <a:lstStyle/>
            <a:p>
              <a:pPr algn="ctr"/>
            </a:p>
          </p:txBody>
        </p:sp>
        <p:sp>
          <p:nvSpPr>
            <p:cNvPr id="55" name="Rectangle 54"/>
            <p:cNvSpPr/>
            <p:nvPr/>
          </p:nvSpPr>
          <p:spPr>
            <a:xfrm>
              <a:off x="8613648" y="3831336"/>
              <a:ext cx="54864" cy="365760"/>
            </a:xfrm>
            <a:prstGeom prst="rect">
              <a:avLst/>
            </a:prstGeom>
            <a:solidFill>
              <a:srgbClr val="6B5B4B"/>
            </a:solidFill>
            <a:ln>
              <a:noFill/>
            </a:ln>
          </p:spPr>
          <p:txBody>
            <a:bodyPr rtlCol="0" anchor="ctr"/>
            <a:lstStyle/>
            <a:p>
              <a:pPr algn="ctr"/>
            </a:p>
          </p:txBody>
        </p:sp>
        <p:sp>
          <p:nvSpPr>
            <p:cNvPr id="56" name="Rectangle 55"/>
            <p:cNvSpPr/>
            <p:nvPr/>
          </p:nvSpPr>
          <p:spPr>
            <a:xfrm>
              <a:off x="8933688" y="3831336"/>
              <a:ext cx="54864" cy="365760"/>
            </a:xfrm>
            <a:prstGeom prst="rect">
              <a:avLst/>
            </a:prstGeom>
            <a:solidFill>
              <a:srgbClr val="6B5B4B"/>
            </a:solidFill>
            <a:ln>
              <a:noFill/>
            </a:ln>
          </p:spPr>
          <p:txBody>
            <a:bodyPr rtlCol="0" anchor="ctr"/>
            <a:lstStyle/>
            <a:p>
              <a:pPr algn="ctr"/>
            </a:p>
          </p:txBody>
        </p:sp>
        <p:sp>
          <p:nvSpPr>
            <p:cNvPr id="57" name="Rectangle 56"/>
            <p:cNvSpPr/>
            <p:nvPr/>
          </p:nvSpPr>
          <p:spPr>
            <a:xfrm>
              <a:off x="9253728" y="3831336"/>
              <a:ext cx="54864" cy="365760"/>
            </a:xfrm>
            <a:prstGeom prst="rect">
              <a:avLst/>
            </a:prstGeom>
            <a:solidFill>
              <a:srgbClr val="6B5B4B"/>
            </a:solidFill>
            <a:ln>
              <a:noFill/>
            </a:ln>
          </p:spPr>
          <p:txBody>
            <a:bodyPr rtlCol="0" anchor="ctr"/>
            <a:lstStyle/>
            <a:p>
              <a:pPr algn="ctr"/>
            </a:p>
          </p:txBody>
        </p:sp>
        <p:sp>
          <p:nvSpPr>
            <p:cNvPr id="58" name="Rectangle 57"/>
            <p:cNvSpPr/>
            <p:nvPr/>
          </p:nvSpPr>
          <p:spPr>
            <a:xfrm>
              <a:off x="9573768" y="3831336"/>
              <a:ext cx="54864" cy="365760"/>
            </a:xfrm>
            <a:prstGeom prst="rect">
              <a:avLst/>
            </a:prstGeom>
            <a:solidFill>
              <a:srgbClr val="6B5B4B"/>
            </a:solidFill>
            <a:ln>
              <a:noFill/>
            </a:ln>
          </p:spPr>
          <p:txBody>
            <a:bodyPr rtlCol="0" anchor="ctr"/>
            <a:lstStyle/>
            <a:p>
              <a:pPr algn="ctr"/>
            </a:p>
          </p:txBody>
        </p:sp>
        <p:sp>
          <p:nvSpPr>
            <p:cNvPr id="59" name="Rectangle 58"/>
            <p:cNvSpPr/>
            <p:nvPr/>
          </p:nvSpPr>
          <p:spPr>
            <a:xfrm>
              <a:off x="9893808" y="3831336"/>
              <a:ext cx="54864" cy="365760"/>
            </a:xfrm>
            <a:prstGeom prst="rect">
              <a:avLst/>
            </a:prstGeom>
            <a:solidFill>
              <a:srgbClr val="6B5B4B"/>
            </a:solidFill>
            <a:ln>
              <a:noFill/>
            </a:ln>
          </p:spPr>
          <p:txBody>
            <a:bodyPr rtlCol="0" anchor="ctr"/>
            <a:lstStyle/>
            <a:p>
              <a:pPr algn="ctr"/>
            </a:p>
          </p:txBody>
        </p:sp>
        <p:sp>
          <p:nvSpPr>
            <p:cNvPr id="60" name="Rectangle 59"/>
            <p:cNvSpPr/>
            <p:nvPr/>
          </p:nvSpPr>
          <p:spPr>
            <a:xfrm>
              <a:off x="10213848" y="3831336"/>
              <a:ext cx="54864" cy="365760"/>
            </a:xfrm>
            <a:prstGeom prst="rect">
              <a:avLst/>
            </a:prstGeom>
            <a:solidFill>
              <a:srgbClr val="6B5B4B"/>
            </a:solidFill>
            <a:ln>
              <a:noFill/>
            </a:ln>
          </p:spPr>
          <p:txBody>
            <a:bodyPr rtlCol="0" anchor="ctr"/>
            <a:lstStyle/>
            <a:p>
              <a:pPr algn="ctr"/>
            </a:p>
          </p:txBody>
        </p:sp>
        <p:sp>
          <p:nvSpPr>
            <p:cNvPr id="61" name="Rectangle 60"/>
            <p:cNvSpPr/>
            <p:nvPr/>
          </p:nvSpPr>
          <p:spPr>
            <a:xfrm>
              <a:off x="10533888" y="3831336"/>
              <a:ext cx="54864" cy="365760"/>
            </a:xfrm>
            <a:prstGeom prst="rect">
              <a:avLst/>
            </a:prstGeom>
            <a:solidFill>
              <a:srgbClr val="6B5B4B"/>
            </a:solidFill>
            <a:ln>
              <a:noFill/>
            </a:ln>
          </p:spPr>
          <p:txBody>
            <a:bodyPr rtlCol="0" anchor="ctr"/>
            <a:lstStyle/>
            <a:p>
              <a:pPr algn="ctr"/>
            </a:p>
          </p:txBody>
        </p:sp>
        <p:sp>
          <p:nvSpPr>
            <p:cNvPr id="62" name="Rectangle 61"/>
            <p:cNvSpPr/>
            <p:nvPr/>
          </p:nvSpPr>
          <p:spPr>
            <a:xfrm>
              <a:off x="10853928" y="3831336"/>
              <a:ext cx="54864" cy="365760"/>
            </a:xfrm>
            <a:prstGeom prst="rect">
              <a:avLst/>
            </a:prstGeom>
            <a:solidFill>
              <a:srgbClr val="6B5B4B"/>
            </a:solidFill>
            <a:ln>
              <a:noFill/>
            </a:ln>
          </p:spPr>
          <p:txBody>
            <a:bodyPr rtlCol="0" anchor="ctr"/>
            <a:lstStyle/>
            <a:p>
              <a:pPr algn="ctr"/>
            </a:p>
          </p:txBody>
        </p:sp>
        <p:sp>
          <p:nvSpPr>
            <p:cNvPr id="63" name="Rectangle 62"/>
            <p:cNvSpPr/>
            <p:nvPr/>
          </p:nvSpPr>
          <p:spPr>
            <a:xfrm>
              <a:off x="11173968" y="3831336"/>
              <a:ext cx="54864" cy="365760"/>
            </a:xfrm>
            <a:prstGeom prst="rect">
              <a:avLst/>
            </a:prstGeom>
            <a:solidFill>
              <a:srgbClr val="6B5B4B"/>
            </a:solidFill>
            <a:ln>
              <a:noFill/>
            </a:ln>
          </p:spPr>
          <p:txBody>
            <a:bodyPr rtlCol="0" anchor="ctr"/>
            <a:lstStyle/>
            <a:p>
              <a:pPr algn="ctr"/>
            </a:p>
          </p:txBody>
        </p:sp>
        <p:sp>
          <p:nvSpPr>
            <p:cNvPr id="64" name="Rectangle 63"/>
            <p:cNvSpPr/>
            <p:nvPr/>
          </p:nvSpPr>
          <p:spPr>
            <a:xfrm>
              <a:off x="731520" y="3858768"/>
              <a:ext cx="10698480" cy="54864"/>
            </a:xfrm>
            <a:prstGeom prst="rect">
              <a:avLst/>
            </a:prstGeom>
            <a:solidFill>
              <a:srgbClr val="9AA0A6"/>
            </a:solidFill>
            <a:ln>
              <a:noFill/>
            </a:ln>
          </p:spPr>
          <p:txBody>
            <a:bodyPr rtlCol="0" anchor="ctr"/>
            <a:lstStyle/>
            <a:p>
              <a:pPr algn="ctr"/>
            </a:p>
          </p:txBody>
        </p:sp>
        <p:sp>
          <p:nvSpPr>
            <p:cNvPr id="65" name="Rectangle 64"/>
            <p:cNvSpPr/>
            <p:nvPr/>
          </p:nvSpPr>
          <p:spPr>
            <a:xfrm>
              <a:off x="731520" y="4114800"/>
              <a:ext cx="10698480" cy="54864"/>
            </a:xfrm>
            <a:prstGeom prst="rect">
              <a:avLst/>
            </a:prstGeom>
            <a:solidFill>
              <a:srgbClr val="9AA0A6"/>
            </a:solidFill>
            <a:ln>
              <a:noFill/>
            </a:ln>
          </p:spPr>
          <p:txBody>
            <a:bodyPr rtlCol="0" anchor="ctr"/>
            <a:lstStyle/>
            <a:p>
              <a:pPr algn="ctr"/>
            </a:p>
          </p:txBody>
        </p:sp>
        <p:sp>
          <p:nvSpPr>
            <p:cNvPr id="66" name="Rectangle 65"/>
            <p:cNvSpPr/>
            <p:nvPr/>
          </p:nvSpPr>
          <p:spPr>
            <a:xfrm>
              <a:off x="768096" y="4553712"/>
              <a:ext cx="3401568" cy="310896"/>
            </a:xfrm>
            <a:prstGeom prst="rect">
              <a:avLst/>
            </a:prstGeom>
            <a:solidFill>
              <a:srgbClr val="343A43"/>
            </a:solidFill>
            <a:ln w="12700">
              <a:solidFill>
                <a:srgbClr val="9AA0A6"/>
              </a:solidFill>
            </a:ln>
          </p:spPr>
          <p:txBody>
            <a:bodyPr rtlCol="0" anchor="ctr" wrap="square" lIns="73152" tIns="36576" rIns="73152" bIns="36576">
              <a:noAutofit/>
            </a:bodyPr>
            <a:lstStyle/>
            <a:p>
              <a:pPr algn="ctr"/>
              <a:r>
                <a:rPr sz="1400" b="1" i="0" lang="en-GB">
                  <a:solidFill>
                    <a:srgbClr val="F2F2F2"/>
                  </a:solidFill>
                  <a:latin typeface="Arial"/>
                </a:rPr>
                <a:t>Block 1</a:t>
              </a:r>
            </a:p>
          </p:txBody>
        </p:sp>
        <p:sp>
          <p:nvSpPr>
            <p:cNvPr id="67" name="Rectangle 66"/>
            <p:cNvSpPr/>
            <p:nvPr/>
          </p:nvSpPr>
          <p:spPr>
            <a:xfrm>
              <a:off x="4242816" y="4553712"/>
              <a:ext cx="2670048" cy="310896"/>
            </a:xfrm>
            <a:prstGeom prst="rect">
              <a:avLst/>
            </a:prstGeom>
            <a:solidFill>
              <a:srgbClr val="343A43"/>
            </a:solidFill>
            <a:ln w="12700">
              <a:solidFill>
                <a:srgbClr val="9AA0A6"/>
              </a:solidFill>
            </a:ln>
          </p:spPr>
          <p:txBody>
            <a:bodyPr rtlCol="0" anchor="ctr" wrap="square" lIns="73152" tIns="36576" rIns="73152" bIns="36576">
              <a:noAutofit/>
            </a:bodyPr>
            <a:lstStyle/>
            <a:p>
              <a:pPr algn="ctr"/>
              <a:r>
                <a:rPr sz="1400" b="1" i="0" lang="en-GB">
                  <a:solidFill>
                    <a:srgbClr val="F2F2F2"/>
                  </a:solidFill>
                  <a:latin typeface="Arial"/>
                </a:rPr>
                <a:t>Block 2</a:t>
              </a:r>
            </a:p>
          </p:txBody>
        </p:sp>
        <p:sp>
          <p:nvSpPr>
            <p:cNvPr id="68" name="Rectangle 67"/>
            <p:cNvSpPr/>
            <p:nvPr/>
          </p:nvSpPr>
          <p:spPr>
            <a:xfrm>
              <a:off x="6986016" y="4553712"/>
              <a:ext cx="2487168" cy="310896"/>
            </a:xfrm>
            <a:prstGeom prst="rect">
              <a:avLst/>
            </a:prstGeom>
            <a:solidFill>
              <a:srgbClr val="343A43"/>
            </a:solidFill>
            <a:ln w="12700">
              <a:solidFill>
                <a:srgbClr val="9AA0A6"/>
              </a:solidFill>
            </a:ln>
          </p:spPr>
          <p:txBody>
            <a:bodyPr rtlCol="0" anchor="ctr" wrap="square" lIns="73152" tIns="36576" rIns="73152" bIns="36576">
              <a:noAutofit/>
            </a:bodyPr>
            <a:lstStyle/>
            <a:p>
              <a:pPr algn="ctr"/>
              <a:r>
                <a:rPr sz="1400" b="1" i="0" lang="en-GB">
                  <a:solidFill>
                    <a:srgbClr val="F2F2F2"/>
                  </a:solidFill>
                  <a:latin typeface="Arial"/>
                </a:rPr>
                <a:t>Block 3</a:t>
              </a:r>
            </a:p>
          </p:txBody>
        </p:sp>
        <p:grpSp>
          <p:nvGrpSpPr>
            <p:cNvPr id="69" name="Train in block 2" descr="A steam train: an engine pulling wagons."/>
            <p:cNvGrpSpPr/>
            <p:nvPr/>
          </p:nvGrpSpPr>
          <p:grpSpPr>
            <a:xfrm>
              <a:off x="4389120" y="3223757"/>
              <a:ext cx="1965960" cy="662443"/>
              <a:chOff x="4389120" y="3223757"/>
              <a:chExt cx="1965960" cy="662443"/>
            </a:xfrm>
          </p:grpSpPr>
          <p:sp>
            <p:nvSpPr>
              <p:cNvPr id="70" name="Rectangle 69"/>
              <p:cNvSpPr/>
              <p:nvPr/>
            </p:nvSpPr>
            <p:spPr>
              <a:xfrm>
                <a:off x="4389120" y="3480187"/>
                <a:ext cx="569843" cy="320537"/>
              </a:xfrm>
              <a:prstGeom prst="rect">
                <a:avLst/>
              </a:prstGeom>
              <a:solidFill>
                <a:srgbClr val="6C7480"/>
              </a:solidFill>
              <a:ln w="9525">
                <a:solidFill>
                  <a:srgbClr val="101418"/>
                </a:solidFill>
              </a:ln>
            </p:spPr>
            <p:txBody>
              <a:bodyPr rtlCol="0" anchor="ctr"/>
              <a:lstStyle/>
              <a:p>
                <a:pPr algn="ctr"/>
              </a:p>
            </p:txBody>
          </p:sp>
          <p:sp>
            <p:nvSpPr>
              <p:cNvPr id="71" name="Oval 70"/>
              <p:cNvSpPr/>
              <p:nvPr/>
            </p:nvSpPr>
            <p:spPr>
              <a:xfrm>
                <a:off x="4460350" y="3743739"/>
                <a:ext cx="142461" cy="142461"/>
              </a:xfrm>
              <a:prstGeom prst="ellipse">
                <a:avLst/>
              </a:prstGeom>
              <a:solidFill>
                <a:srgbClr val="1B1D21"/>
              </a:solidFill>
              <a:ln w="12700">
                <a:solidFill>
                  <a:srgbClr val="9AA0A6"/>
                </a:solidFill>
              </a:ln>
            </p:spPr>
            <p:txBody>
              <a:bodyPr rtlCol="0" anchor="ctr"/>
              <a:lstStyle/>
              <a:p>
                <a:pPr algn="ctr"/>
              </a:p>
            </p:txBody>
          </p:sp>
          <p:sp>
            <p:nvSpPr>
              <p:cNvPr id="72" name="Oval 71"/>
              <p:cNvSpPr/>
              <p:nvPr/>
            </p:nvSpPr>
            <p:spPr>
              <a:xfrm>
                <a:off x="4745272" y="3743739"/>
                <a:ext cx="142461" cy="142461"/>
              </a:xfrm>
              <a:prstGeom prst="ellipse">
                <a:avLst/>
              </a:prstGeom>
              <a:solidFill>
                <a:srgbClr val="1B1D21"/>
              </a:solidFill>
              <a:ln w="12700">
                <a:solidFill>
                  <a:srgbClr val="9AA0A6"/>
                </a:solidFill>
              </a:ln>
            </p:spPr>
            <p:txBody>
              <a:bodyPr rtlCol="0" anchor="ctr"/>
              <a:lstStyle/>
              <a:p>
                <a:pPr algn="ctr"/>
              </a:p>
            </p:txBody>
          </p:sp>
          <p:sp>
            <p:nvSpPr>
              <p:cNvPr id="73" name="Rectangle 72"/>
              <p:cNvSpPr/>
              <p:nvPr/>
            </p:nvSpPr>
            <p:spPr>
              <a:xfrm>
                <a:off x="4958963" y="3708124"/>
                <a:ext cx="56984" cy="35615"/>
              </a:xfrm>
              <a:prstGeom prst="rect">
                <a:avLst/>
              </a:prstGeom>
              <a:solidFill>
                <a:srgbClr val="9AA0A6"/>
              </a:solidFill>
              <a:ln>
                <a:noFill/>
              </a:ln>
            </p:spPr>
            <p:txBody>
              <a:bodyPr rtlCol="0" anchor="ctr"/>
              <a:lstStyle/>
              <a:p>
                <a:pPr algn="ctr"/>
              </a:p>
            </p:txBody>
          </p:sp>
          <p:sp>
            <p:nvSpPr>
              <p:cNvPr id="74" name="Rectangle 73"/>
              <p:cNvSpPr/>
              <p:nvPr/>
            </p:nvSpPr>
            <p:spPr>
              <a:xfrm>
                <a:off x="5015948" y="3480187"/>
                <a:ext cx="569843" cy="320537"/>
              </a:xfrm>
              <a:prstGeom prst="rect">
                <a:avLst/>
              </a:prstGeom>
              <a:solidFill>
                <a:srgbClr val="6C7480"/>
              </a:solidFill>
              <a:ln w="9525">
                <a:solidFill>
                  <a:srgbClr val="101418"/>
                </a:solidFill>
              </a:ln>
            </p:spPr>
            <p:txBody>
              <a:bodyPr rtlCol="0" anchor="ctr"/>
              <a:lstStyle/>
              <a:p>
                <a:pPr algn="ctr"/>
              </a:p>
            </p:txBody>
          </p:sp>
          <p:sp>
            <p:nvSpPr>
              <p:cNvPr id="75" name="Oval 74"/>
              <p:cNvSpPr/>
              <p:nvPr/>
            </p:nvSpPr>
            <p:spPr>
              <a:xfrm>
                <a:off x="5087178" y="3743739"/>
                <a:ext cx="142461" cy="142461"/>
              </a:xfrm>
              <a:prstGeom prst="ellipse">
                <a:avLst/>
              </a:prstGeom>
              <a:solidFill>
                <a:srgbClr val="1B1D21"/>
              </a:solidFill>
              <a:ln w="12700">
                <a:solidFill>
                  <a:srgbClr val="9AA0A6"/>
                </a:solidFill>
              </a:ln>
            </p:spPr>
            <p:txBody>
              <a:bodyPr rtlCol="0" anchor="ctr"/>
              <a:lstStyle/>
              <a:p>
                <a:pPr algn="ctr"/>
              </a:p>
            </p:txBody>
          </p:sp>
          <p:sp>
            <p:nvSpPr>
              <p:cNvPr id="76" name="Oval 75"/>
              <p:cNvSpPr/>
              <p:nvPr/>
            </p:nvSpPr>
            <p:spPr>
              <a:xfrm>
                <a:off x="5372100" y="3743739"/>
                <a:ext cx="142461" cy="142461"/>
              </a:xfrm>
              <a:prstGeom prst="ellipse">
                <a:avLst/>
              </a:prstGeom>
              <a:solidFill>
                <a:srgbClr val="1B1D21"/>
              </a:solidFill>
              <a:ln w="12700">
                <a:solidFill>
                  <a:srgbClr val="9AA0A6"/>
                </a:solidFill>
              </a:ln>
            </p:spPr>
            <p:txBody>
              <a:bodyPr rtlCol="0" anchor="ctr"/>
              <a:lstStyle/>
              <a:p>
                <a:pPr algn="ctr"/>
              </a:p>
            </p:txBody>
          </p:sp>
          <p:sp>
            <p:nvSpPr>
              <p:cNvPr id="77" name="Rectangle 76"/>
              <p:cNvSpPr/>
              <p:nvPr/>
            </p:nvSpPr>
            <p:spPr>
              <a:xfrm>
                <a:off x="5585791" y="3708124"/>
                <a:ext cx="56984" cy="35615"/>
              </a:xfrm>
              <a:prstGeom prst="rect">
                <a:avLst/>
              </a:prstGeom>
              <a:solidFill>
                <a:srgbClr val="9AA0A6"/>
              </a:solidFill>
              <a:ln>
                <a:noFill/>
              </a:ln>
            </p:spPr>
            <p:txBody>
              <a:bodyPr rtlCol="0" anchor="ctr"/>
              <a:lstStyle/>
              <a:p>
                <a:pPr algn="ctr"/>
              </a:p>
            </p:txBody>
          </p:sp>
          <p:sp>
            <p:nvSpPr>
              <p:cNvPr id="78" name="Rectangle 77"/>
              <p:cNvSpPr/>
              <p:nvPr/>
            </p:nvSpPr>
            <p:spPr>
              <a:xfrm>
                <a:off x="5642776" y="3423202"/>
                <a:ext cx="712304" cy="391767"/>
              </a:xfrm>
              <a:prstGeom prst="rect">
                <a:avLst/>
              </a:prstGeom>
              <a:solidFill>
                <a:srgbClr val="F28C28"/>
              </a:solidFill>
              <a:ln w="9525">
                <a:solidFill>
                  <a:srgbClr val="101418"/>
                </a:solidFill>
              </a:ln>
            </p:spPr>
            <p:txBody>
              <a:bodyPr rtlCol="0" anchor="ctr"/>
              <a:lstStyle/>
              <a:p>
                <a:pPr algn="ctr"/>
              </a:p>
            </p:txBody>
          </p:sp>
          <p:sp>
            <p:nvSpPr>
              <p:cNvPr id="79" name="Bunker"/>
              <p:cNvSpPr/>
              <p:nvPr/>
            </p:nvSpPr>
            <p:spPr>
              <a:xfrm>
                <a:off x="5664145" y="3444571"/>
                <a:ext cx="185199" cy="142461"/>
              </a:xfrm>
              <a:prstGeom prst="rect">
                <a:avLst/>
              </a:prstGeom>
              <a:solidFill>
                <a:srgbClr val="1B1D21"/>
              </a:solidFill>
              <a:ln>
                <a:noFill/>
              </a:ln>
            </p:spPr>
            <p:txBody>
              <a:bodyPr rtlCol="0" anchor="ctr"/>
              <a:lstStyle/>
              <a:p>
                <a:pPr algn="ctr"/>
              </a:p>
            </p:txBody>
          </p:sp>
          <p:sp>
            <p:nvSpPr>
              <p:cNvPr id="80" name="Rectangle 79"/>
              <p:cNvSpPr/>
              <p:nvPr/>
            </p:nvSpPr>
            <p:spPr>
              <a:xfrm>
                <a:off x="5884959" y="3473063"/>
                <a:ext cx="99723" cy="99723"/>
              </a:xfrm>
              <a:prstGeom prst="rect">
                <a:avLst/>
              </a:prstGeom>
              <a:solidFill>
                <a:srgbClr val="2B2F36"/>
              </a:solidFill>
              <a:ln>
                <a:noFill/>
              </a:ln>
            </p:spPr>
            <p:txBody>
              <a:bodyPr rtlCol="0" anchor="ctr"/>
              <a:lstStyle/>
              <a:p>
                <a:pPr algn="ctr"/>
              </a:p>
            </p:txBody>
          </p:sp>
          <p:sp>
            <p:nvSpPr>
              <p:cNvPr id="81" name="Chimney"/>
              <p:cNvSpPr/>
              <p:nvPr/>
            </p:nvSpPr>
            <p:spPr>
              <a:xfrm>
                <a:off x="6198373" y="3223757"/>
                <a:ext cx="106846" cy="213691"/>
              </a:xfrm>
              <a:prstGeom prst="rect">
                <a:avLst/>
              </a:prstGeom>
              <a:solidFill>
                <a:srgbClr val="1B1D21"/>
              </a:solidFill>
              <a:ln>
                <a:noFill/>
              </a:ln>
            </p:spPr>
            <p:txBody>
              <a:bodyPr rtlCol="0" anchor="ctr"/>
              <a:lstStyle/>
              <a:p>
                <a:pPr algn="ctr"/>
              </a:p>
            </p:txBody>
          </p:sp>
          <p:sp>
            <p:nvSpPr>
              <p:cNvPr id="82" name="Oval 81"/>
              <p:cNvSpPr/>
              <p:nvPr/>
            </p:nvSpPr>
            <p:spPr>
              <a:xfrm>
                <a:off x="5714006" y="3743739"/>
                <a:ext cx="142461" cy="142461"/>
              </a:xfrm>
              <a:prstGeom prst="ellipse">
                <a:avLst/>
              </a:prstGeom>
              <a:solidFill>
                <a:srgbClr val="1B1D21"/>
              </a:solidFill>
              <a:ln w="12700">
                <a:solidFill>
                  <a:srgbClr val="9AA0A6"/>
                </a:solidFill>
              </a:ln>
            </p:spPr>
            <p:txBody>
              <a:bodyPr rtlCol="0" anchor="ctr"/>
              <a:lstStyle/>
              <a:p>
                <a:pPr algn="ctr"/>
              </a:p>
            </p:txBody>
          </p:sp>
          <p:sp>
            <p:nvSpPr>
              <p:cNvPr id="83" name="Oval 82"/>
              <p:cNvSpPr/>
              <p:nvPr/>
            </p:nvSpPr>
            <p:spPr>
              <a:xfrm>
                <a:off x="5927697" y="3743739"/>
                <a:ext cx="142461" cy="142461"/>
              </a:xfrm>
              <a:prstGeom prst="ellipse">
                <a:avLst/>
              </a:prstGeom>
              <a:solidFill>
                <a:srgbClr val="1B1D21"/>
              </a:solidFill>
              <a:ln w="12700">
                <a:solidFill>
                  <a:srgbClr val="9AA0A6"/>
                </a:solidFill>
              </a:ln>
            </p:spPr>
            <p:txBody>
              <a:bodyPr rtlCol="0" anchor="ctr"/>
              <a:lstStyle/>
              <a:p>
                <a:pPr algn="ctr"/>
              </a:p>
            </p:txBody>
          </p:sp>
          <p:sp>
            <p:nvSpPr>
              <p:cNvPr id="84" name="Oval 83"/>
              <p:cNvSpPr/>
              <p:nvPr/>
            </p:nvSpPr>
            <p:spPr>
              <a:xfrm>
                <a:off x="6141389" y="3743739"/>
                <a:ext cx="142461" cy="142461"/>
              </a:xfrm>
              <a:prstGeom prst="ellipse">
                <a:avLst/>
              </a:prstGeom>
              <a:solidFill>
                <a:srgbClr val="1B1D21"/>
              </a:solidFill>
              <a:ln w="12700">
                <a:solidFill>
                  <a:srgbClr val="9AA0A6"/>
                </a:solidFill>
              </a:ln>
            </p:spPr>
            <p:txBody>
              <a:bodyPr rtlCol="0" anchor="ctr"/>
              <a:lstStyle/>
              <a:p>
                <a:pPr algn="ctr"/>
              </a:p>
            </p:txBody>
          </p:sp>
        </p:grpSp>
        <p:sp>
          <p:nvSpPr>
            <p:cNvPr id="85" name="Freeform 84"/>
            <p:cNvSpPr/>
            <p:nvPr/>
          </p:nvSpPr>
          <p:spPr>
            <a:xfrm>
              <a:off x="3063240" y="2697480"/>
              <a:ext cx="1033272" cy="1563624"/>
            </a:xfrm>
            <a:custGeom>
              <a:avLst/>
              <a:gdLst/>
              <a:ahLst/>
              <a:cxnLst/>
              <a:rect l="l" t="t" r="r" b="b"/>
              <a:pathLst>
                <a:path w="1033272" h="1563624">
                  <a:moveTo>
                    <a:pt x="0" y="0"/>
                  </a:moveTo>
                  <a:lnTo>
                    <a:pt x="228600" y="0"/>
                  </a:lnTo>
                  <a:lnTo>
                    <a:pt x="228600" y="1563624"/>
                  </a:lnTo>
                  <a:lnTo>
                    <a:pt x="1033272" y="1563624"/>
                  </a:lnTo>
                </a:path>
              </a:pathLst>
            </a:custGeom>
            <a:noFill/>
            <a:ln w="28575">
              <a:solidFill>
                <a:srgbClr val="F28C28"/>
              </a:solidFill>
              <a:prstDash val="dash"/>
            </a:ln>
          </p:spPr>
          <p:txBody>
            <a:bodyPr rtlCol="0" anchor="ctr"/>
            <a:lstStyle/>
            <a:p>
              <a:pPr algn="ctr"/>
            </a:p>
          </p:txBody>
        </p:sp>
        <p:sp>
          <p:nvSpPr>
            <p:cNvPr id="86" name="Rectangle 85"/>
            <p:cNvSpPr/>
            <p:nvPr/>
          </p:nvSpPr>
          <p:spPr>
            <a:xfrm>
              <a:off x="3968496" y="4197096"/>
              <a:ext cx="128016" cy="128016"/>
            </a:xfrm>
            <a:prstGeom prst="rect">
              <a:avLst/>
            </a:prstGeom>
            <a:solidFill>
              <a:srgbClr val="9AA0A6"/>
            </a:solidFill>
            <a:ln w="9525">
              <a:solidFill>
                <a:srgbClr val="101418"/>
              </a:solidFill>
            </a:ln>
          </p:spPr>
          <p:txBody>
            <a:bodyPr rtlCol="0" anchor="ctr"/>
            <a:lstStyle/>
            <a:p>
              <a:pPr algn="ctr"/>
            </a:p>
          </p:txBody>
        </p:sp>
        <p:grpSp>
          <p:nvGrpSpPr>
            <p:cNvPr id="87" name="Signal stop" descr="Semaphore stop signal, arm flat: STOP."/>
            <p:cNvGrpSpPr/>
            <p:nvPr/>
          </p:nvGrpSpPr>
          <p:grpSpPr>
            <a:xfrm>
              <a:off x="3511296" y="2926080"/>
              <a:ext cx="1764792" cy="1389888"/>
              <a:chOff x="3511296" y="2926080"/>
              <a:chExt cx="1764792" cy="1389888"/>
            </a:xfrm>
          </p:grpSpPr>
          <p:sp>
            <p:nvSpPr>
              <p:cNvPr id="88" name="Rectangle 87"/>
              <p:cNvSpPr/>
              <p:nvPr/>
            </p:nvSpPr>
            <p:spPr>
              <a:xfrm>
                <a:off x="4050792" y="4251960"/>
                <a:ext cx="310896" cy="64008"/>
              </a:xfrm>
              <a:prstGeom prst="rect">
                <a:avLst/>
              </a:prstGeom>
              <a:solidFill>
                <a:srgbClr val="9AA0A6"/>
              </a:solidFill>
              <a:ln>
                <a:noFill/>
              </a:ln>
            </p:spPr>
            <p:txBody>
              <a:bodyPr rtlCol="0" anchor="ctr"/>
              <a:lstStyle/>
              <a:p>
                <a:pPr algn="ctr"/>
              </a:p>
            </p:txBody>
          </p:sp>
          <p:sp>
            <p:nvSpPr>
              <p:cNvPr id="89" name="Rectangle 88"/>
              <p:cNvSpPr/>
              <p:nvPr/>
            </p:nvSpPr>
            <p:spPr>
              <a:xfrm>
                <a:off x="4151376" y="3310128"/>
                <a:ext cx="109728" cy="1005840"/>
              </a:xfrm>
              <a:prstGeom prst="rect">
                <a:avLst/>
              </a:prstGeom>
              <a:solidFill>
                <a:srgbClr val="E8E8E8"/>
              </a:solidFill>
              <a:ln>
                <a:noFill/>
              </a:ln>
            </p:spPr>
            <p:txBody>
              <a:bodyPr rtlCol="0" anchor="ctr"/>
              <a:lstStyle/>
              <a:p>
                <a:pPr algn="ctr"/>
              </a:p>
            </p:txBody>
          </p:sp>
          <p:sp>
            <p:nvSpPr>
              <p:cNvPr id="90" name="Oval 89"/>
              <p:cNvSpPr/>
              <p:nvPr/>
            </p:nvSpPr>
            <p:spPr>
              <a:xfrm>
                <a:off x="4142232" y="3209544"/>
                <a:ext cx="128016" cy="128016"/>
              </a:xfrm>
              <a:prstGeom prst="ellipse">
                <a:avLst/>
              </a:prstGeom>
              <a:solidFill>
                <a:srgbClr val="E8E8E8"/>
              </a:solidFill>
              <a:ln>
                <a:noFill/>
              </a:ln>
            </p:spPr>
            <p:txBody>
              <a:bodyPr rtlCol="0" anchor="ctr"/>
              <a:lstStyle/>
              <a:p>
                <a:pPr algn="ctr"/>
              </a:p>
            </p:txBody>
          </p:sp>
          <p:sp>
            <p:nvSpPr>
              <p:cNvPr id="91" name="Freeform 90"/>
              <p:cNvSpPr/>
              <p:nvPr/>
            </p:nvSpPr>
            <p:spPr>
              <a:xfrm>
                <a:off x="3511296" y="3456432"/>
                <a:ext cx="640080" cy="128016"/>
              </a:xfrm>
              <a:custGeom>
                <a:avLst/>
                <a:gdLst/>
                <a:ahLst/>
                <a:cxnLst/>
                <a:rect l="l" t="t" r="r" b="b"/>
                <a:pathLst>
                  <a:path w="640080" h="128016">
                    <a:moveTo>
                      <a:pt x="640080" y="0"/>
                    </a:moveTo>
                    <a:lnTo>
                      <a:pt x="0" y="0"/>
                    </a:lnTo>
                    <a:lnTo>
                      <a:pt x="0" y="128016"/>
                    </a:lnTo>
                    <a:lnTo>
                      <a:pt x="640080" y="128016"/>
                    </a:lnTo>
                    <a:close/>
                  </a:path>
                </a:pathLst>
              </a:custGeom>
              <a:solidFill>
                <a:srgbClr val="E5484D"/>
              </a:solidFill>
              <a:ln w="9525">
                <a:solidFill>
                  <a:srgbClr val="101418"/>
                </a:solidFill>
              </a:ln>
            </p:spPr>
            <p:txBody>
              <a:bodyPr rtlCol="0" anchor="ctr"/>
              <a:lstStyle/>
              <a:p>
                <a:pPr algn="ctr"/>
              </a:p>
            </p:txBody>
          </p:sp>
          <p:sp>
            <p:nvSpPr>
              <p:cNvPr id="92" name="Freeform 91"/>
              <p:cNvSpPr/>
              <p:nvPr/>
            </p:nvSpPr>
            <p:spPr>
              <a:xfrm>
                <a:off x="3677717" y="3456432"/>
                <a:ext cx="76809" cy="128016"/>
              </a:xfrm>
              <a:custGeom>
                <a:avLst/>
                <a:gdLst/>
                <a:ahLst/>
                <a:cxnLst/>
                <a:rect l="l" t="t" r="r" b="b"/>
                <a:pathLst>
                  <a:path w="76809" h="128016">
                    <a:moveTo>
                      <a:pt x="76809" y="0"/>
                    </a:moveTo>
                    <a:lnTo>
                      <a:pt x="0" y="0"/>
                    </a:lnTo>
                    <a:lnTo>
                      <a:pt x="0" y="128016"/>
                    </a:lnTo>
                    <a:lnTo>
                      <a:pt x="76809" y="128016"/>
                    </a:lnTo>
                    <a:close/>
                  </a:path>
                </a:pathLst>
              </a:custGeom>
              <a:solidFill>
                <a:srgbClr val="FFFFFF"/>
              </a:solidFill>
              <a:ln>
                <a:noFill/>
              </a:ln>
            </p:spPr>
            <p:txBody>
              <a:bodyPr rtlCol="0" anchor="ctr"/>
              <a:lstStyle/>
              <a:p>
                <a:pPr algn="ctr"/>
              </a:p>
            </p:txBody>
          </p:sp>
          <p:sp>
            <p:nvSpPr>
              <p:cNvPr id="93" name="Oval 92"/>
              <p:cNvSpPr/>
              <p:nvPr/>
            </p:nvSpPr>
            <p:spPr>
              <a:xfrm>
                <a:off x="4283964" y="3442716"/>
                <a:ext cx="155448" cy="155448"/>
              </a:xfrm>
              <a:prstGeom prst="ellipse">
                <a:avLst/>
              </a:prstGeom>
              <a:solidFill>
                <a:srgbClr val="E5484D"/>
              </a:solidFill>
              <a:ln w="9525">
                <a:solidFill>
                  <a:srgbClr val="101418"/>
                </a:solidFill>
              </a:ln>
            </p:spPr>
            <p:txBody>
              <a:bodyPr rtlCol="0" anchor="ctr"/>
              <a:lstStyle/>
              <a:p>
                <a:pPr algn="ctr"/>
              </a:p>
            </p:txBody>
          </p:sp>
          <p:sp>
            <p:nvSpPr>
              <p:cNvPr id="94" name="Rounded Rectangle 93"/>
              <p:cNvSpPr/>
              <p:nvPr/>
            </p:nvSpPr>
            <p:spPr>
              <a:xfrm>
                <a:off x="4407408" y="2926080"/>
                <a:ext cx="868680" cy="329184"/>
              </a:xfrm>
              <a:prstGeom prst="roundRect">
                <a:avLst>
                  <a:gd name="adj" fmla="val 50000"/>
                </a:avLst>
              </a:prstGeom>
              <a:solidFill>
                <a:srgbClr val="B3262B"/>
              </a:solidFill>
              <a:ln>
                <a:noFill/>
              </a:ln>
            </p:spPr>
            <p:txBody>
              <a:bodyPr rtlCol="0" anchor="ctr" wrap="square" lIns="54864" tIns="18288" rIns="54864" bIns="18288">
                <a:noAutofit/>
              </a:bodyPr>
              <a:lstStyle/>
              <a:p>
                <a:pPr algn="ctr"/>
                <a:r>
                  <a:rPr sz="1400" b="1" i="0" lang="en-GB">
                    <a:solidFill>
                      <a:srgbClr val="F2F2F2"/>
                    </a:solidFill>
                    <a:latin typeface="Arial"/>
                  </a:rPr>
                  <a:t>STOP</a:t>
                </a:r>
              </a:p>
            </p:txBody>
          </p:sp>
        </p:grpSp>
        <p:sp>
          <p:nvSpPr>
            <p:cNvPr id="95" name="Freeform 94"/>
            <p:cNvSpPr/>
            <p:nvPr/>
          </p:nvSpPr>
          <p:spPr>
            <a:xfrm>
              <a:off x="3063240" y="2926080"/>
              <a:ext cx="3776472" cy="1412748"/>
            </a:xfrm>
            <a:custGeom>
              <a:avLst/>
              <a:gdLst/>
              <a:ahLst/>
              <a:cxnLst/>
              <a:rect l="l" t="t" r="r" b="b"/>
              <a:pathLst>
                <a:path w="3776472" h="1412748">
                  <a:moveTo>
                    <a:pt x="0" y="0"/>
                  </a:moveTo>
                  <a:lnTo>
                    <a:pt x="338328" y="0"/>
                  </a:lnTo>
                  <a:lnTo>
                    <a:pt x="338328" y="1412748"/>
                  </a:lnTo>
                  <a:lnTo>
                    <a:pt x="3776472" y="1412748"/>
                  </a:lnTo>
                </a:path>
              </a:pathLst>
            </a:custGeom>
            <a:noFill/>
            <a:ln w="28575">
              <a:solidFill>
                <a:srgbClr val="F28C28"/>
              </a:solidFill>
              <a:prstDash val="dash"/>
            </a:ln>
          </p:spPr>
          <p:txBody>
            <a:bodyPr rtlCol="0" anchor="ctr"/>
            <a:lstStyle/>
            <a:p>
              <a:pPr algn="ctr"/>
            </a:p>
          </p:txBody>
        </p:sp>
        <p:sp>
          <p:nvSpPr>
            <p:cNvPr id="96" name="Rectangle 95"/>
            <p:cNvSpPr/>
            <p:nvPr/>
          </p:nvSpPr>
          <p:spPr>
            <a:xfrm>
              <a:off x="6711696" y="4274820"/>
              <a:ext cx="128016" cy="128016"/>
            </a:xfrm>
            <a:prstGeom prst="rect">
              <a:avLst/>
            </a:prstGeom>
            <a:solidFill>
              <a:srgbClr val="9AA0A6"/>
            </a:solidFill>
            <a:ln w="9525">
              <a:solidFill>
                <a:srgbClr val="101418"/>
              </a:solidFill>
            </a:ln>
          </p:spPr>
          <p:txBody>
            <a:bodyPr rtlCol="0" anchor="ctr"/>
            <a:lstStyle/>
            <a:p>
              <a:pPr algn="ctr"/>
            </a:p>
          </p:txBody>
        </p:sp>
        <p:grpSp>
          <p:nvGrpSpPr>
            <p:cNvPr id="97" name="Signal clear" descr="Semaphore stop signal, arm raised: CLEAR."/>
            <p:cNvGrpSpPr/>
            <p:nvPr/>
          </p:nvGrpSpPr>
          <p:grpSpPr>
            <a:xfrm>
              <a:off x="6396711" y="2926080"/>
              <a:ext cx="1622577" cy="1389888"/>
              <a:chOff x="6396711" y="2926080"/>
              <a:chExt cx="1622577" cy="1389888"/>
            </a:xfrm>
          </p:grpSpPr>
          <p:sp>
            <p:nvSpPr>
              <p:cNvPr id="98" name="Rectangle 97"/>
              <p:cNvSpPr/>
              <p:nvPr/>
            </p:nvSpPr>
            <p:spPr>
              <a:xfrm>
                <a:off x="6793992" y="4251960"/>
                <a:ext cx="310896" cy="64008"/>
              </a:xfrm>
              <a:prstGeom prst="rect">
                <a:avLst/>
              </a:prstGeom>
              <a:solidFill>
                <a:srgbClr val="9AA0A6"/>
              </a:solidFill>
              <a:ln>
                <a:noFill/>
              </a:ln>
            </p:spPr>
            <p:txBody>
              <a:bodyPr rtlCol="0" anchor="ctr"/>
              <a:lstStyle/>
              <a:p>
                <a:pPr algn="ctr"/>
              </a:p>
            </p:txBody>
          </p:sp>
          <p:sp>
            <p:nvSpPr>
              <p:cNvPr id="99" name="Rectangle 98"/>
              <p:cNvSpPr/>
              <p:nvPr/>
            </p:nvSpPr>
            <p:spPr>
              <a:xfrm>
                <a:off x="6894576" y="3310128"/>
                <a:ext cx="109728" cy="1005840"/>
              </a:xfrm>
              <a:prstGeom prst="rect">
                <a:avLst/>
              </a:prstGeom>
              <a:solidFill>
                <a:srgbClr val="E8E8E8"/>
              </a:solidFill>
              <a:ln>
                <a:noFill/>
              </a:ln>
            </p:spPr>
            <p:txBody>
              <a:bodyPr rtlCol="0" anchor="ctr"/>
              <a:lstStyle/>
              <a:p>
                <a:pPr algn="ctr"/>
              </a:p>
            </p:txBody>
          </p:sp>
          <p:sp>
            <p:nvSpPr>
              <p:cNvPr id="100" name="Oval 99"/>
              <p:cNvSpPr/>
              <p:nvPr/>
            </p:nvSpPr>
            <p:spPr>
              <a:xfrm>
                <a:off x="6885432" y="3209544"/>
                <a:ext cx="128016" cy="128016"/>
              </a:xfrm>
              <a:prstGeom prst="ellipse">
                <a:avLst/>
              </a:prstGeom>
              <a:solidFill>
                <a:srgbClr val="E8E8E8"/>
              </a:solidFill>
              <a:ln>
                <a:noFill/>
              </a:ln>
            </p:spPr>
            <p:txBody>
              <a:bodyPr rtlCol="0" anchor="ctr"/>
              <a:lstStyle/>
              <a:p>
                <a:pPr algn="ctr"/>
              </a:p>
            </p:txBody>
          </p:sp>
          <p:sp>
            <p:nvSpPr>
              <p:cNvPr id="101" name="Freeform 100"/>
              <p:cNvSpPr/>
              <p:nvPr/>
            </p:nvSpPr>
            <p:spPr>
              <a:xfrm>
                <a:off x="6396711" y="3022575"/>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p>
            </p:txBody>
          </p:sp>
          <p:sp>
            <p:nvSpPr>
              <p:cNvPr id="102" name="Freeform 101"/>
              <p:cNvSpPr/>
              <p:nvPr/>
            </p:nvSpPr>
            <p:spPr>
              <a:xfrm>
                <a:off x="6514388" y="3140252"/>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p>
            </p:txBody>
          </p:sp>
          <p:sp>
            <p:nvSpPr>
              <p:cNvPr id="103" name="Oval 102"/>
              <p:cNvSpPr/>
              <p:nvPr/>
            </p:nvSpPr>
            <p:spPr>
              <a:xfrm>
                <a:off x="7027164" y="3442716"/>
                <a:ext cx="155448" cy="155448"/>
              </a:xfrm>
              <a:prstGeom prst="ellipse">
                <a:avLst/>
              </a:prstGeom>
              <a:solidFill>
                <a:srgbClr val="3FB950"/>
              </a:solidFill>
              <a:ln w="9525">
                <a:solidFill>
                  <a:srgbClr val="101418"/>
                </a:solidFill>
              </a:ln>
            </p:spPr>
            <p:txBody>
              <a:bodyPr rtlCol="0" anchor="ctr"/>
              <a:lstStyle/>
              <a:p>
                <a:pPr algn="ctr"/>
              </a:p>
            </p:txBody>
          </p:sp>
          <p:sp>
            <p:nvSpPr>
              <p:cNvPr id="104" name="Rounded Rectangle 103"/>
              <p:cNvSpPr/>
              <p:nvPr/>
            </p:nvSpPr>
            <p:spPr>
              <a:xfrm>
                <a:off x="7150608" y="2926080"/>
                <a:ext cx="86868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CLEAR</a:t>
                </a:r>
              </a:p>
            </p:txBody>
          </p:sp>
        </p:grpSp>
        <p:sp>
          <p:nvSpPr>
            <p:cNvPr id="105" name="Freeform 104"/>
            <p:cNvSpPr/>
            <p:nvPr/>
          </p:nvSpPr>
          <p:spPr>
            <a:xfrm>
              <a:off x="3063240" y="3154680"/>
              <a:ext cx="6336792" cy="1261872"/>
            </a:xfrm>
            <a:custGeom>
              <a:avLst/>
              <a:gdLst/>
              <a:ahLst/>
              <a:cxnLst/>
              <a:rect l="l" t="t" r="r" b="b"/>
              <a:pathLst>
                <a:path w="6336792" h="1261872">
                  <a:moveTo>
                    <a:pt x="0" y="0"/>
                  </a:moveTo>
                  <a:lnTo>
                    <a:pt x="448056" y="0"/>
                  </a:lnTo>
                  <a:lnTo>
                    <a:pt x="448056" y="1261872"/>
                  </a:lnTo>
                  <a:lnTo>
                    <a:pt x="6336792" y="1261872"/>
                  </a:lnTo>
                </a:path>
              </a:pathLst>
            </a:custGeom>
            <a:noFill/>
            <a:ln w="28575">
              <a:solidFill>
                <a:srgbClr val="F28C28"/>
              </a:solidFill>
              <a:prstDash val="dash"/>
            </a:ln>
          </p:spPr>
          <p:txBody>
            <a:bodyPr rtlCol="0" anchor="ctr"/>
            <a:lstStyle/>
            <a:p>
              <a:pPr algn="ctr"/>
            </a:p>
          </p:txBody>
        </p:sp>
        <p:sp>
          <p:nvSpPr>
            <p:cNvPr id="106" name="Rectangle 105"/>
            <p:cNvSpPr/>
            <p:nvPr/>
          </p:nvSpPr>
          <p:spPr>
            <a:xfrm>
              <a:off x="9272016" y="4352544"/>
              <a:ext cx="128016" cy="128016"/>
            </a:xfrm>
            <a:prstGeom prst="rect">
              <a:avLst/>
            </a:prstGeom>
            <a:solidFill>
              <a:srgbClr val="9AA0A6"/>
            </a:solidFill>
            <a:ln w="9525">
              <a:solidFill>
                <a:srgbClr val="101418"/>
              </a:solidFill>
            </a:ln>
          </p:spPr>
          <p:txBody>
            <a:bodyPr rtlCol="0" anchor="ctr"/>
            <a:lstStyle/>
            <a:p>
              <a:pPr algn="ctr"/>
            </a:p>
          </p:txBody>
        </p:sp>
        <p:grpSp>
          <p:nvGrpSpPr>
            <p:cNvPr id="107" name="Signal clear" descr="Semaphore stop signal, arm raised: CLEAR."/>
            <p:cNvGrpSpPr/>
            <p:nvPr/>
          </p:nvGrpSpPr>
          <p:grpSpPr>
            <a:xfrm>
              <a:off x="8957031" y="2926080"/>
              <a:ext cx="1622577" cy="1389888"/>
              <a:chOff x="8957031" y="2926080"/>
              <a:chExt cx="1622577" cy="1389888"/>
            </a:xfrm>
          </p:grpSpPr>
          <p:sp>
            <p:nvSpPr>
              <p:cNvPr id="108" name="Rectangle 107"/>
              <p:cNvSpPr/>
              <p:nvPr/>
            </p:nvSpPr>
            <p:spPr>
              <a:xfrm>
                <a:off x="9354312" y="4251960"/>
                <a:ext cx="310896" cy="64008"/>
              </a:xfrm>
              <a:prstGeom prst="rect">
                <a:avLst/>
              </a:prstGeom>
              <a:solidFill>
                <a:srgbClr val="9AA0A6"/>
              </a:solidFill>
              <a:ln>
                <a:noFill/>
              </a:ln>
            </p:spPr>
            <p:txBody>
              <a:bodyPr rtlCol="0" anchor="ctr"/>
              <a:lstStyle/>
              <a:p>
                <a:pPr algn="ctr"/>
              </a:p>
            </p:txBody>
          </p:sp>
          <p:sp>
            <p:nvSpPr>
              <p:cNvPr id="109" name="Rectangle 108"/>
              <p:cNvSpPr/>
              <p:nvPr/>
            </p:nvSpPr>
            <p:spPr>
              <a:xfrm>
                <a:off x="9454896" y="3310128"/>
                <a:ext cx="109728" cy="1005840"/>
              </a:xfrm>
              <a:prstGeom prst="rect">
                <a:avLst/>
              </a:prstGeom>
              <a:solidFill>
                <a:srgbClr val="E8E8E8"/>
              </a:solidFill>
              <a:ln>
                <a:noFill/>
              </a:ln>
            </p:spPr>
            <p:txBody>
              <a:bodyPr rtlCol="0" anchor="ctr"/>
              <a:lstStyle/>
              <a:p>
                <a:pPr algn="ctr"/>
              </a:p>
            </p:txBody>
          </p:sp>
          <p:sp>
            <p:nvSpPr>
              <p:cNvPr id="110" name="Oval 109"/>
              <p:cNvSpPr/>
              <p:nvPr/>
            </p:nvSpPr>
            <p:spPr>
              <a:xfrm>
                <a:off x="9445752" y="3209544"/>
                <a:ext cx="128016" cy="128016"/>
              </a:xfrm>
              <a:prstGeom prst="ellipse">
                <a:avLst/>
              </a:prstGeom>
              <a:solidFill>
                <a:srgbClr val="E8E8E8"/>
              </a:solidFill>
              <a:ln>
                <a:noFill/>
              </a:ln>
            </p:spPr>
            <p:txBody>
              <a:bodyPr rtlCol="0" anchor="ctr"/>
              <a:lstStyle/>
              <a:p>
                <a:pPr algn="ctr"/>
              </a:p>
            </p:txBody>
          </p:sp>
          <p:sp>
            <p:nvSpPr>
              <p:cNvPr id="111" name="Freeform 110"/>
              <p:cNvSpPr/>
              <p:nvPr/>
            </p:nvSpPr>
            <p:spPr>
              <a:xfrm>
                <a:off x="8957031" y="3022575"/>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p>
            </p:txBody>
          </p:sp>
          <p:sp>
            <p:nvSpPr>
              <p:cNvPr id="112" name="Freeform 111"/>
              <p:cNvSpPr/>
              <p:nvPr/>
            </p:nvSpPr>
            <p:spPr>
              <a:xfrm>
                <a:off x="9074708" y="3140252"/>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p>
            </p:txBody>
          </p:sp>
          <p:sp>
            <p:nvSpPr>
              <p:cNvPr id="113" name="Oval 112"/>
              <p:cNvSpPr/>
              <p:nvPr/>
            </p:nvSpPr>
            <p:spPr>
              <a:xfrm>
                <a:off x="9587484" y="3442716"/>
                <a:ext cx="155448" cy="155448"/>
              </a:xfrm>
              <a:prstGeom prst="ellipse">
                <a:avLst/>
              </a:prstGeom>
              <a:solidFill>
                <a:srgbClr val="3FB950"/>
              </a:solidFill>
              <a:ln w="9525">
                <a:solidFill>
                  <a:srgbClr val="101418"/>
                </a:solidFill>
              </a:ln>
            </p:spPr>
            <p:txBody>
              <a:bodyPr rtlCol="0" anchor="ctr"/>
              <a:lstStyle/>
              <a:p>
                <a:pPr algn="ctr"/>
              </a:p>
            </p:txBody>
          </p:sp>
          <p:sp>
            <p:nvSpPr>
              <p:cNvPr id="114" name="Rounded Rectangle 113"/>
              <p:cNvSpPr/>
              <p:nvPr/>
            </p:nvSpPr>
            <p:spPr>
              <a:xfrm>
                <a:off x="9710928" y="2926080"/>
                <a:ext cx="86868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CLEAR</a:t>
                </a:r>
              </a:p>
            </p:txBody>
          </p:sp>
        </p:grpSp>
      </p:grpSp>
      <p:grpSp>
        <p:nvGrpSpPr>
          <p:cNvPr id="115" name="Steps" descr="Four steps: 1, the train is in the block. 2, the signaller keeps the signal behind it at stop. 3, the train leaves and the block is free. 4, the signaller pulls the lever and the arm lifts."/>
          <p:cNvGrpSpPr/>
          <p:nvPr/>
        </p:nvGrpSpPr>
        <p:grpSpPr>
          <a:xfrm>
            <a:off x="566928" y="4983480"/>
            <a:ext cx="11091672" cy="365760"/>
            <a:chOff x="566928" y="4983480"/>
            <a:chExt cx="11091672" cy="365760"/>
          </a:xfrm>
        </p:grpSpPr>
        <p:sp>
          <p:nvSpPr>
            <p:cNvPr id="116" name="Badge 1"/>
            <p:cNvSpPr/>
            <p:nvPr/>
          </p:nvSpPr>
          <p:spPr>
            <a:xfrm>
              <a:off x="566928" y="498348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1</a:t>
              </a:r>
            </a:p>
          </p:txBody>
        </p:sp>
        <p:sp>
          <p:nvSpPr>
            <p:cNvPr id="117" name="TextBox 116"/>
            <p:cNvSpPr txBox="1"/>
            <p:nvPr/>
          </p:nvSpPr>
          <p:spPr>
            <a:xfrm>
              <a:off x="1005840" y="4983480"/>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Train in block</a:t>
              </a:r>
            </a:p>
          </p:txBody>
        </p:sp>
        <p:sp>
          <p:nvSpPr>
            <p:cNvPr id="118" name="Badge 2"/>
            <p:cNvSpPr/>
            <p:nvPr/>
          </p:nvSpPr>
          <p:spPr>
            <a:xfrm>
              <a:off x="3355848" y="498348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2</a:t>
              </a:r>
            </a:p>
          </p:txBody>
        </p:sp>
        <p:sp>
          <p:nvSpPr>
            <p:cNvPr id="119" name="TextBox 118"/>
            <p:cNvSpPr txBox="1"/>
            <p:nvPr/>
          </p:nvSpPr>
          <p:spPr>
            <a:xfrm>
              <a:off x="3794760" y="4983480"/>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Signal at STOP</a:t>
              </a:r>
            </a:p>
          </p:txBody>
        </p:sp>
        <p:sp>
          <p:nvSpPr>
            <p:cNvPr id="120" name="Badge 3"/>
            <p:cNvSpPr/>
            <p:nvPr/>
          </p:nvSpPr>
          <p:spPr>
            <a:xfrm>
              <a:off x="6144768" y="498348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3</a:t>
              </a:r>
            </a:p>
          </p:txBody>
        </p:sp>
        <p:sp>
          <p:nvSpPr>
            <p:cNvPr id="121" name="TextBox 120"/>
            <p:cNvSpPr txBox="1"/>
            <p:nvPr/>
          </p:nvSpPr>
          <p:spPr>
            <a:xfrm>
              <a:off x="6583680" y="4983480"/>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Train leaves</a:t>
              </a:r>
            </a:p>
          </p:txBody>
        </p:sp>
        <p:sp>
          <p:nvSpPr>
            <p:cNvPr id="122" name="Badge 4"/>
            <p:cNvSpPr/>
            <p:nvPr/>
          </p:nvSpPr>
          <p:spPr>
            <a:xfrm>
              <a:off x="8933688" y="4983480"/>
              <a:ext cx="365760" cy="365760"/>
            </a:xfrm>
            <a:prstGeom prst="ellipse">
              <a:avLst/>
            </a:prstGeom>
            <a:solidFill>
              <a:srgbClr val="F28C28"/>
            </a:solidFill>
            <a:ln>
              <a:noFill/>
            </a:ln>
          </p:spPr>
          <p:txBody>
            <a:bodyPr rtlCol="0" anchor="ctr" wrap="square" lIns="0" tIns="0" rIns="0" bIns="0">
              <a:noAutofit/>
            </a:bodyPr>
            <a:lstStyle/>
            <a:p>
              <a:pPr algn="ctr"/>
              <a:r>
                <a:rPr sz="1600" b="1" i="0" lang="en-GB">
                  <a:solidFill>
                    <a:srgbClr val="101418"/>
                  </a:solidFill>
                  <a:latin typeface="Arial"/>
                </a:rPr>
                <a:t>4</a:t>
              </a:r>
            </a:p>
          </p:txBody>
        </p:sp>
        <p:sp>
          <p:nvSpPr>
            <p:cNvPr id="123" name="TextBox 122"/>
            <p:cNvSpPr txBox="1"/>
            <p:nvPr/>
          </p:nvSpPr>
          <p:spPr>
            <a:xfrm>
              <a:off x="9372600" y="4983480"/>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Lever pulled: arm lifts</a:t>
              </a:r>
            </a:p>
          </p:txBody>
        </p:sp>
      </p:grpSp>
      <p:sp>
        <p:nvSpPr>
          <p:cNvPr id="124" name="In the mod"/>
          <p:cNvSpPr/>
          <p:nvPr/>
        </p:nvSpPr>
        <p:spPr>
          <a:xfrm>
            <a:off x="548640" y="5413248"/>
            <a:ext cx="11091672" cy="310896"/>
          </a:xfrm>
          <a:prstGeom prst="roundRect">
            <a:avLst>
              <a:gd name="adj" fmla="val 17647"/>
            </a:avLst>
          </a:prstGeom>
          <a:solidFill>
            <a:srgbClr val="F2C14E"/>
          </a:solidFill>
          <a:ln>
            <a:noFill/>
          </a:ln>
        </p:spPr>
        <p:txBody>
          <a:bodyPr rtlCol="0" anchor="ctr" wrap="square" lIns="182880" tIns="0" bIns="0">
            <a:noAutofit/>
          </a:bodyPr>
          <a:lstStyle/>
          <a:p>
            <a:pPr algn="l"/>
            <a:r>
              <a:rPr sz="1600" b="1" i="0" lang="en-GB">
                <a:solidFill>
                  <a:srgbClr val="101418"/>
                </a:solidFill>
                <a:latin typeface="Arial"/>
              </a:rPr>
              <a:t>In the mod: no player wiring.</a:t>
            </a:r>
          </a:p>
        </p:txBody>
      </p:sp>
      <p:sp>
        <p:nvSpPr>
          <p:cNvPr id="125" name="Inline chip Agreed"/>
          <p:cNvSpPr/>
          <p:nvPr/>
        </p:nvSpPr>
        <p:spPr>
          <a:xfrm>
            <a:off x="3771761" y="5413248"/>
            <a:ext cx="1126470" cy="310896"/>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The signaller watches the blocks, sets the signals and keeps trains apart.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Early limits</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grpSp>
        <p:nvGrpSpPr>
          <p:cNvPr id="8" name="Early limits tiles" descr="Four provisional limits: block length about 400 to 500 m; speed cap about 60 km/h; 6 to 8 signals for a station box and 12 to 16 for a dedicated box; box reach about 1 to 1.5 km of track."/>
          <p:cNvGrpSpPr/>
          <p:nvPr/>
        </p:nvGrpSpPr>
        <p:grpSpPr>
          <a:xfrm>
            <a:off x="548640" y="1371600"/>
            <a:ext cx="11091672" cy="2011680"/>
            <a:chOff x="548640" y="1371600"/>
            <a:chExt cx="11091672" cy="2011680"/>
          </a:xfrm>
        </p:grpSpPr>
        <p:sp>
          <p:nvSpPr>
            <p:cNvPr id="9" name="Rounded Rectangle 8"/>
            <p:cNvSpPr/>
            <p:nvPr/>
          </p:nvSpPr>
          <p:spPr>
            <a:xfrm>
              <a:off x="548640" y="1371600"/>
              <a:ext cx="2560320" cy="2011680"/>
            </a:xfrm>
            <a:prstGeom prst="roundRect">
              <a:avLst>
                <a:gd name="adj" fmla="val 4545"/>
              </a:avLst>
            </a:prstGeom>
            <a:solidFill>
              <a:srgbClr val="2B2F36"/>
            </a:solidFill>
            <a:ln>
              <a:noFill/>
            </a:ln>
          </p:spPr>
          <p:txBody>
            <a:bodyPr rtlCol="0" anchor="ctr"/>
            <a:lstStyle/>
            <a:p>
              <a:pPr algn="ctr"/>
            </a:p>
          </p:txBody>
        </p:sp>
        <p:sp>
          <p:nvSpPr>
            <p:cNvPr id="10" name="TextBox 9"/>
            <p:cNvSpPr txBox="1"/>
            <p:nvPr/>
          </p:nvSpPr>
          <p:spPr>
            <a:xfrm>
              <a:off x="713232" y="1481328"/>
              <a:ext cx="2286000" cy="329184"/>
            </a:xfrm>
            <a:prstGeom prst="rect">
              <a:avLst/>
            </a:prstGeom>
            <a:noFill/>
          </p:spPr>
          <p:txBody>
            <a:bodyPr wrap="square" lIns="0" tIns="0" rIns="0" bIns="0" anchor="t">
              <a:noAutofit/>
            </a:bodyPr>
            <a:lstStyle/>
            <a:p>
              <a:pPr algn="l"/>
              <a:r>
                <a:rPr sz="1800" b="1" i="0" lang="en-GB">
                  <a:solidFill>
                    <a:srgbClr val="F28C28"/>
                  </a:solidFill>
                  <a:latin typeface="Arial"/>
                </a:rPr>
                <a:t>Block length</a:t>
              </a:r>
            </a:p>
          </p:txBody>
        </p:sp>
        <p:sp>
          <p:nvSpPr>
            <p:cNvPr id="11" name="TextBox 10"/>
            <p:cNvSpPr txBox="1"/>
            <p:nvPr/>
          </p:nvSpPr>
          <p:spPr>
            <a:xfrm>
              <a:off x="713232" y="1828800"/>
              <a:ext cx="2286000" cy="1005840"/>
            </a:xfrm>
            <a:prstGeom prst="rect">
              <a:avLst/>
            </a:prstGeom>
            <a:noFill/>
          </p:spPr>
          <p:txBody>
            <a:bodyPr wrap="square" lIns="0" tIns="0" rIns="0" bIns="0" anchor="t">
              <a:noAutofit/>
            </a:bodyPr>
            <a:lstStyle/>
            <a:p>
              <a:pPr algn="l"/>
              <a:r>
                <a:rPr sz="1800" b="1" i="0" lang="en-GB">
                  <a:solidFill>
                    <a:srgbClr val="F2F2F2"/>
                  </a:solidFill>
                  <a:latin typeface="Arial"/>
                </a:rPr>
                <a:t>about 400 to 500 m</a:t>
              </a:r>
            </a:p>
          </p:txBody>
        </p:sp>
        <p:sp>
          <p:nvSpPr>
            <p:cNvPr id="12" name="Inline chip Provisional"/>
            <p:cNvSpPr/>
            <p:nvPr/>
          </p:nvSpPr>
          <p:spPr>
            <a:xfrm>
              <a:off x="713232" y="2907792"/>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13" name="Rounded Rectangle 12"/>
            <p:cNvSpPr/>
            <p:nvPr/>
          </p:nvSpPr>
          <p:spPr>
            <a:xfrm>
              <a:off x="3392424" y="1371600"/>
              <a:ext cx="2560320" cy="2011680"/>
            </a:xfrm>
            <a:prstGeom prst="roundRect">
              <a:avLst>
                <a:gd name="adj" fmla="val 4545"/>
              </a:avLst>
            </a:prstGeom>
            <a:solidFill>
              <a:srgbClr val="2B2F36"/>
            </a:solidFill>
            <a:ln>
              <a:noFill/>
            </a:ln>
          </p:spPr>
          <p:txBody>
            <a:bodyPr rtlCol="0" anchor="ctr"/>
            <a:lstStyle/>
            <a:p>
              <a:pPr algn="ctr"/>
            </a:p>
          </p:txBody>
        </p:sp>
        <p:sp>
          <p:nvSpPr>
            <p:cNvPr id="14" name="TextBox 13"/>
            <p:cNvSpPr txBox="1"/>
            <p:nvPr/>
          </p:nvSpPr>
          <p:spPr>
            <a:xfrm>
              <a:off x="3557016" y="1481328"/>
              <a:ext cx="2286000" cy="329184"/>
            </a:xfrm>
            <a:prstGeom prst="rect">
              <a:avLst/>
            </a:prstGeom>
            <a:noFill/>
          </p:spPr>
          <p:txBody>
            <a:bodyPr wrap="square" lIns="0" tIns="0" rIns="0" bIns="0" anchor="t">
              <a:noAutofit/>
            </a:bodyPr>
            <a:lstStyle/>
            <a:p>
              <a:pPr algn="l"/>
              <a:r>
                <a:rPr sz="1800" b="1" i="0" lang="en-GB">
                  <a:solidFill>
                    <a:srgbClr val="F28C28"/>
                  </a:solidFill>
                  <a:latin typeface="Arial"/>
                </a:rPr>
                <a:t>Speed cap</a:t>
              </a:r>
            </a:p>
          </p:txBody>
        </p:sp>
        <p:sp>
          <p:nvSpPr>
            <p:cNvPr id="15" name="TextBox 14"/>
            <p:cNvSpPr txBox="1"/>
            <p:nvPr/>
          </p:nvSpPr>
          <p:spPr>
            <a:xfrm>
              <a:off x="3557016" y="1828800"/>
              <a:ext cx="2286000" cy="1005840"/>
            </a:xfrm>
            <a:prstGeom prst="rect">
              <a:avLst/>
            </a:prstGeom>
            <a:noFill/>
          </p:spPr>
          <p:txBody>
            <a:bodyPr wrap="square" lIns="0" tIns="0" rIns="0" bIns="0" anchor="t">
              <a:noAutofit/>
            </a:bodyPr>
            <a:lstStyle/>
            <a:p>
              <a:pPr algn="l"/>
              <a:r>
                <a:rPr sz="1800" b="1" i="0" lang="en-GB">
                  <a:solidFill>
                    <a:srgbClr val="F2F2F2"/>
                  </a:solidFill>
                  <a:latin typeface="Arial"/>
                </a:rPr>
                <a:t>about 60 km/h</a:t>
              </a:r>
            </a:p>
          </p:txBody>
        </p:sp>
        <p:sp>
          <p:nvSpPr>
            <p:cNvPr id="16" name="Inline chip Provisional"/>
            <p:cNvSpPr/>
            <p:nvPr/>
          </p:nvSpPr>
          <p:spPr>
            <a:xfrm>
              <a:off x="3557016" y="2907792"/>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17" name="Rounded Rectangle 16"/>
            <p:cNvSpPr/>
            <p:nvPr/>
          </p:nvSpPr>
          <p:spPr>
            <a:xfrm>
              <a:off x="6236208" y="1371600"/>
              <a:ext cx="2560320" cy="2011680"/>
            </a:xfrm>
            <a:prstGeom prst="roundRect">
              <a:avLst>
                <a:gd name="adj" fmla="val 4545"/>
              </a:avLst>
            </a:prstGeom>
            <a:solidFill>
              <a:srgbClr val="2B2F36"/>
            </a:solidFill>
            <a:ln>
              <a:noFill/>
            </a:ln>
          </p:spPr>
          <p:txBody>
            <a:bodyPr rtlCol="0" anchor="ctr"/>
            <a:lstStyle/>
            <a:p>
              <a:pPr algn="ctr"/>
            </a:p>
          </p:txBody>
        </p:sp>
        <p:sp>
          <p:nvSpPr>
            <p:cNvPr id="18" name="TextBox 17"/>
            <p:cNvSpPr txBox="1"/>
            <p:nvPr/>
          </p:nvSpPr>
          <p:spPr>
            <a:xfrm>
              <a:off x="6400800" y="1481328"/>
              <a:ext cx="2286000" cy="329184"/>
            </a:xfrm>
            <a:prstGeom prst="rect">
              <a:avLst/>
            </a:prstGeom>
            <a:noFill/>
          </p:spPr>
          <p:txBody>
            <a:bodyPr wrap="square" lIns="0" tIns="0" rIns="0" bIns="0" anchor="t">
              <a:noAutofit/>
            </a:bodyPr>
            <a:lstStyle/>
            <a:p>
              <a:pPr algn="l"/>
              <a:r>
                <a:rPr sz="1800" b="1" i="0" lang="en-GB">
                  <a:solidFill>
                    <a:srgbClr val="F28C28"/>
                  </a:solidFill>
                  <a:latin typeface="Arial"/>
                </a:rPr>
                <a:t>Signals per box</a:t>
              </a:r>
            </a:p>
          </p:txBody>
        </p:sp>
        <p:sp>
          <p:nvSpPr>
            <p:cNvPr id="19" name="TextBox 18"/>
            <p:cNvSpPr txBox="1"/>
            <p:nvPr/>
          </p:nvSpPr>
          <p:spPr>
            <a:xfrm>
              <a:off x="6400800" y="1828800"/>
              <a:ext cx="2286000" cy="1005840"/>
            </a:xfrm>
            <a:prstGeom prst="rect">
              <a:avLst/>
            </a:prstGeom>
            <a:noFill/>
          </p:spPr>
          <p:txBody>
            <a:bodyPr wrap="square" lIns="0" tIns="0" rIns="0" bIns="0" anchor="t">
              <a:noAutofit/>
            </a:bodyPr>
            <a:lstStyle/>
            <a:p>
              <a:pPr algn="l"/>
              <a:r>
                <a:rPr sz="1800" b="1" i="0" lang="en-GB">
                  <a:solidFill>
                    <a:srgbClr val="F2F2F2"/>
                  </a:solidFill>
                  <a:latin typeface="Arial"/>
                </a:rPr>
                <a:t>6 to 8 (station box), 12 to 16 (dedicated box)</a:t>
              </a:r>
            </a:p>
          </p:txBody>
        </p:sp>
        <p:sp>
          <p:nvSpPr>
            <p:cNvPr id="20" name="Inline chip Provisional"/>
            <p:cNvSpPr/>
            <p:nvPr/>
          </p:nvSpPr>
          <p:spPr>
            <a:xfrm>
              <a:off x="6400800" y="2907792"/>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21" name="Rounded Rectangle 20"/>
            <p:cNvSpPr/>
            <p:nvPr/>
          </p:nvSpPr>
          <p:spPr>
            <a:xfrm>
              <a:off x="9079992" y="1371600"/>
              <a:ext cx="2560320" cy="2011680"/>
            </a:xfrm>
            <a:prstGeom prst="roundRect">
              <a:avLst>
                <a:gd name="adj" fmla="val 4545"/>
              </a:avLst>
            </a:prstGeom>
            <a:solidFill>
              <a:srgbClr val="2B2F36"/>
            </a:solidFill>
            <a:ln>
              <a:noFill/>
            </a:ln>
          </p:spPr>
          <p:txBody>
            <a:bodyPr rtlCol="0" anchor="ctr"/>
            <a:lstStyle/>
            <a:p>
              <a:pPr algn="ctr"/>
            </a:p>
          </p:txBody>
        </p:sp>
        <p:sp>
          <p:nvSpPr>
            <p:cNvPr id="22" name="TextBox 21"/>
            <p:cNvSpPr txBox="1"/>
            <p:nvPr/>
          </p:nvSpPr>
          <p:spPr>
            <a:xfrm>
              <a:off x="9244584" y="1481328"/>
              <a:ext cx="2286000" cy="329184"/>
            </a:xfrm>
            <a:prstGeom prst="rect">
              <a:avLst/>
            </a:prstGeom>
            <a:noFill/>
          </p:spPr>
          <p:txBody>
            <a:bodyPr wrap="square" lIns="0" tIns="0" rIns="0" bIns="0" anchor="t">
              <a:noAutofit/>
            </a:bodyPr>
            <a:lstStyle/>
            <a:p>
              <a:pPr algn="l"/>
              <a:r>
                <a:rPr sz="1800" b="1" i="0" lang="en-GB">
                  <a:solidFill>
                    <a:srgbClr val="F28C28"/>
                  </a:solidFill>
                  <a:latin typeface="Arial"/>
                </a:rPr>
                <a:t>Box reach</a:t>
              </a:r>
            </a:p>
          </p:txBody>
        </p:sp>
        <p:sp>
          <p:nvSpPr>
            <p:cNvPr id="23" name="TextBox 22"/>
            <p:cNvSpPr txBox="1"/>
            <p:nvPr/>
          </p:nvSpPr>
          <p:spPr>
            <a:xfrm>
              <a:off x="9244584" y="1828800"/>
              <a:ext cx="2286000" cy="1005840"/>
            </a:xfrm>
            <a:prstGeom prst="rect">
              <a:avLst/>
            </a:prstGeom>
            <a:noFill/>
          </p:spPr>
          <p:txBody>
            <a:bodyPr wrap="square" lIns="0" tIns="0" rIns="0" bIns="0" anchor="t">
              <a:noAutofit/>
            </a:bodyPr>
            <a:lstStyle/>
            <a:p>
              <a:pPr algn="l"/>
              <a:r>
                <a:rPr sz="1800" b="1" i="0" lang="en-GB">
                  <a:solidFill>
                    <a:srgbClr val="F2F2F2"/>
                  </a:solidFill>
                  <a:latin typeface="Arial"/>
                </a:rPr>
                <a:t>about 1 to 1.5 km of track</a:t>
              </a:r>
            </a:p>
          </p:txBody>
        </p:sp>
        <p:sp>
          <p:nvSpPr>
            <p:cNvPr id="24" name="Inline chip Provisional"/>
            <p:cNvSpPr/>
            <p:nvPr/>
          </p:nvSpPr>
          <p:spPr>
            <a:xfrm>
              <a:off x="9244584" y="2907792"/>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grpSp>
      <p:grpSp>
        <p:nvGrpSpPr>
          <p:cNvPr id="25" name="Ruler" descr="A ruler under the track with a signal about every 450 metres, for illustration."/>
          <p:cNvGrpSpPr/>
          <p:nvPr/>
        </p:nvGrpSpPr>
        <p:grpSpPr>
          <a:xfrm>
            <a:off x="457200" y="3770986"/>
            <a:ext cx="10972800" cy="1121054"/>
            <a:chOff x="457200" y="3770986"/>
            <a:chExt cx="10972800" cy="1121054"/>
          </a:xfrm>
        </p:grpSpPr>
        <p:sp>
          <p:nvSpPr>
            <p:cNvPr id="26" name="Rectangle 25"/>
            <p:cNvSpPr/>
            <p:nvPr/>
          </p:nvSpPr>
          <p:spPr>
            <a:xfrm>
              <a:off x="1092708" y="4014216"/>
              <a:ext cx="54864" cy="365760"/>
            </a:xfrm>
            <a:prstGeom prst="rect">
              <a:avLst/>
            </a:prstGeom>
            <a:solidFill>
              <a:srgbClr val="6B5B4B"/>
            </a:solidFill>
            <a:ln>
              <a:noFill/>
            </a:ln>
          </p:spPr>
          <p:txBody>
            <a:bodyPr rtlCol="0" anchor="ctr"/>
            <a:lstStyle/>
            <a:p>
              <a:pPr algn="ctr"/>
            </a:p>
          </p:txBody>
        </p:sp>
        <p:sp>
          <p:nvSpPr>
            <p:cNvPr id="27" name="Rectangle 26"/>
            <p:cNvSpPr/>
            <p:nvPr/>
          </p:nvSpPr>
          <p:spPr>
            <a:xfrm>
              <a:off x="1412748" y="4014216"/>
              <a:ext cx="54864" cy="365760"/>
            </a:xfrm>
            <a:prstGeom prst="rect">
              <a:avLst/>
            </a:prstGeom>
            <a:solidFill>
              <a:srgbClr val="6B5B4B"/>
            </a:solidFill>
            <a:ln>
              <a:noFill/>
            </a:ln>
          </p:spPr>
          <p:txBody>
            <a:bodyPr rtlCol="0" anchor="ctr"/>
            <a:lstStyle/>
            <a:p>
              <a:pPr algn="ctr"/>
            </a:p>
          </p:txBody>
        </p:sp>
        <p:sp>
          <p:nvSpPr>
            <p:cNvPr id="28" name="Rectangle 27"/>
            <p:cNvSpPr/>
            <p:nvPr/>
          </p:nvSpPr>
          <p:spPr>
            <a:xfrm>
              <a:off x="1732788" y="4014216"/>
              <a:ext cx="54864" cy="365760"/>
            </a:xfrm>
            <a:prstGeom prst="rect">
              <a:avLst/>
            </a:prstGeom>
            <a:solidFill>
              <a:srgbClr val="6B5B4B"/>
            </a:solidFill>
            <a:ln>
              <a:noFill/>
            </a:ln>
          </p:spPr>
          <p:txBody>
            <a:bodyPr rtlCol="0" anchor="ctr"/>
            <a:lstStyle/>
            <a:p>
              <a:pPr algn="ctr"/>
            </a:p>
          </p:txBody>
        </p:sp>
        <p:sp>
          <p:nvSpPr>
            <p:cNvPr id="29" name="Rectangle 28"/>
            <p:cNvSpPr/>
            <p:nvPr/>
          </p:nvSpPr>
          <p:spPr>
            <a:xfrm>
              <a:off x="2052828" y="4014216"/>
              <a:ext cx="54864" cy="365760"/>
            </a:xfrm>
            <a:prstGeom prst="rect">
              <a:avLst/>
            </a:prstGeom>
            <a:solidFill>
              <a:srgbClr val="6B5B4B"/>
            </a:solidFill>
            <a:ln>
              <a:noFill/>
            </a:ln>
          </p:spPr>
          <p:txBody>
            <a:bodyPr rtlCol="0" anchor="ctr"/>
            <a:lstStyle/>
            <a:p>
              <a:pPr algn="ctr"/>
            </a:p>
          </p:txBody>
        </p:sp>
        <p:sp>
          <p:nvSpPr>
            <p:cNvPr id="30" name="Rectangle 29"/>
            <p:cNvSpPr/>
            <p:nvPr/>
          </p:nvSpPr>
          <p:spPr>
            <a:xfrm>
              <a:off x="2372868" y="4014216"/>
              <a:ext cx="54864" cy="365760"/>
            </a:xfrm>
            <a:prstGeom prst="rect">
              <a:avLst/>
            </a:prstGeom>
            <a:solidFill>
              <a:srgbClr val="6B5B4B"/>
            </a:solidFill>
            <a:ln>
              <a:noFill/>
            </a:ln>
          </p:spPr>
          <p:txBody>
            <a:bodyPr rtlCol="0" anchor="ctr"/>
            <a:lstStyle/>
            <a:p>
              <a:pPr algn="ctr"/>
            </a:p>
          </p:txBody>
        </p:sp>
        <p:sp>
          <p:nvSpPr>
            <p:cNvPr id="31" name="Rectangle 30"/>
            <p:cNvSpPr/>
            <p:nvPr/>
          </p:nvSpPr>
          <p:spPr>
            <a:xfrm>
              <a:off x="2692908" y="4014216"/>
              <a:ext cx="54864" cy="365760"/>
            </a:xfrm>
            <a:prstGeom prst="rect">
              <a:avLst/>
            </a:prstGeom>
            <a:solidFill>
              <a:srgbClr val="6B5B4B"/>
            </a:solidFill>
            <a:ln>
              <a:noFill/>
            </a:ln>
          </p:spPr>
          <p:txBody>
            <a:bodyPr rtlCol="0" anchor="ctr"/>
            <a:lstStyle/>
            <a:p>
              <a:pPr algn="ctr"/>
            </a:p>
          </p:txBody>
        </p:sp>
        <p:sp>
          <p:nvSpPr>
            <p:cNvPr id="32" name="Rectangle 31"/>
            <p:cNvSpPr/>
            <p:nvPr/>
          </p:nvSpPr>
          <p:spPr>
            <a:xfrm>
              <a:off x="3012948" y="4014216"/>
              <a:ext cx="54864" cy="365760"/>
            </a:xfrm>
            <a:prstGeom prst="rect">
              <a:avLst/>
            </a:prstGeom>
            <a:solidFill>
              <a:srgbClr val="6B5B4B"/>
            </a:solidFill>
            <a:ln>
              <a:noFill/>
            </a:ln>
          </p:spPr>
          <p:txBody>
            <a:bodyPr rtlCol="0" anchor="ctr"/>
            <a:lstStyle/>
            <a:p>
              <a:pPr algn="ctr"/>
            </a:p>
          </p:txBody>
        </p:sp>
        <p:sp>
          <p:nvSpPr>
            <p:cNvPr id="33" name="Rectangle 32"/>
            <p:cNvSpPr/>
            <p:nvPr/>
          </p:nvSpPr>
          <p:spPr>
            <a:xfrm>
              <a:off x="3332988" y="4014216"/>
              <a:ext cx="54864" cy="365760"/>
            </a:xfrm>
            <a:prstGeom prst="rect">
              <a:avLst/>
            </a:prstGeom>
            <a:solidFill>
              <a:srgbClr val="6B5B4B"/>
            </a:solidFill>
            <a:ln>
              <a:noFill/>
            </a:ln>
          </p:spPr>
          <p:txBody>
            <a:bodyPr rtlCol="0" anchor="ctr"/>
            <a:lstStyle/>
            <a:p>
              <a:pPr algn="ctr"/>
            </a:p>
          </p:txBody>
        </p:sp>
        <p:sp>
          <p:nvSpPr>
            <p:cNvPr id="34" name="Rectangle 33"/>
            <p:cNvSpPr/>
            <p:nvPr/>
          </p:nvSpPr>
          <p:spPr>
            <a:xfrm>
              <a:off x="3653028" y="4014216"/>
              <a:ext cx="54864" cy="365760"/>
            </a:xfrm>
            <a:prstGeom prst="rect">
              <a:avLst/>
            </a:prstGeom>
            <a:solidFill>
              <a:srgbClr val="6B5B4B"/>
            </a:solidFill>
            <a:ln>
              <a:noFill/>
            </a:ln>
          </p:spPr>
          <p:txBody>
            <a:bodyPr rtlCol="0" anchor="ctr"/>
            <a:lstStyle/>
            <a:p>
              <a:pPr algn="ctr"/>
            </a:p>
          </p:txBody>
        </p:sp>
        <p:sp>
          <p:nvSpPr>
            <p:cNvPr id="35" name="Rectangle 34"/>
            <p:cNvSpPr/>
            <p:nvPr/>
          </p:nvSpPr>
          <p:spPr>
            <a:xfrm>
              <a:off x="3973068" y="4014216"/>
              <a:ext cx="54864" cy="365760"/>
            </a:xfrm>
            <a:prstGeom prst="rect">
              <a:avLst/>
            </a:prstGeom>
            <a:solidFill>
              <a:srgbClr val="6B5B4B"/>
            </a:solidFill>
            <a:ln>
              <a:noFill/>
            </a:ln>
          </p:spPr>
          <p:txBody>
            <a:bodyPr rtlCol="0" anchor="ctr"/>
            <a:lstStyle/>
            <a:p>
              <a:pPr algn="ctr"/>
            </a:p>
          </p:txBody>
        </p:sp>
        <p:sp>
          <p:nvSpPr>
            <p:cNvPr id="36" name="Rectangle 35"/>
            <p:cNvSpPr/>
            <p:nvPr/>
          </p:nvSpPr>
          <p:spPr>
            <a:xfrm>
              <a:off x="4293108" y="4014216"/>
              <a:ext cx="54864" cy="365760"/>
            </a:xfrm>
            <a:prstGeom prst="rect">
              <a:avLst/>
            </a:prstGeom>
            <a:solidFill>
              <a:srgbClr val="6B5B4B"/>
            </a:solidFill>
            <a:ln>
              <a:noFill/>
            </a:ln>
          </p:spPr>
          <p:txBody>
            <a:bodyPr rtlCol="0" anchor="ctr"/>
            <a:lstStyle/>
            <a:p>
              <a:pPr algn="ctr"/>
            </a:p>
          </p:txBody>
        </p:sp>
        <p:sp>
          <p:nvSpPr>
            <p:cNvPr id="37" name="Rectangle 36"/>
            <p:cNvSpPr/>
            <p:nvPr/>
          </p:nvSpPr>
          <p:spPr>
            <a:xfrm>
              <a:off x="4613148" y="4014216"/>
              <a:ext cx="54864" cy="365760"/>
            </a:xfrm>
            <a:prstGeom prst="rect">
              <a:avLst/>
            </a:prstGeom>
            <a:solidFill>
              <a:srgbClr val="6B5B4B"/>
            </a:solidFill>
            <a:ln>
              <a:noFill/>
            </a:ln>
          </p:spPr>
          <p:txBody>
            <a:bodyPr rtlCol="0" anchor="ctr"/>
            <a:lstStyle/>
            <a:p>
              <a:pPr algn="ctr"/>
            </a:p>
          </p:txBody>
        </p:sp>
        <p:sp>
          <p:nvSpPr>
            <p:cNvPr id="38" name="Rectangle 37"/>
            <p:cNvSpPr/>
            <p:nvPr/>
          </p:nvSpPr>
          <p:spPr>
            <a:xfrm>
              <a:off x="4933188" y="4014216"/>
              <a:ext cx="54864" cy="365760"/>
            </a:xfrm>
            <a:prstGeom prst="rect">
              <a:avLst/>
            </a:prstGeom>
            <a:solidFill>
              <a:srgbClr val="6B5B4B"/>
            </a:solidFill>
            <a:ln>
              <a:noFill/>
            </a:ln>
          </p:spPr>
          <p:txBody>
            <a:bodyPr rtlCol="0" anchor="ctr"/>
            <a:lstStyle/>
            <a:p>
              <a:pPr algn="ctr"/>
            </a:p>
          </p:txBody>
        </p:sp>
        <p:sp>
          <p:nvSpPr>
            <p:cNvPr id="39" name="Rectangle 38"/>
            <p:cNvSpPr/>
            <p:nvPr/>
          </p:nvSpPr>
          <p:spPr>
            <a:xfrm>
              <a:off x="5253228" y="4014216"/>
              <a:ext cx="54864" cy="365760"/>
            </a:xfrm>
            <a:prstGeom prst="rect">
              <a:avLst/>
            </a:prstGeom>
            <a:solidFill>
              <a:srgbClr val="6B5B4B"/>
            </a:solidFill>
            <a:ln>
              <a:noFill/>
            </a:ln>
          </p:spPr>
          <p:txBody>
            <a:bodyPr rtlCol="0" anchor="ctr"/>
            <a:lstStyle/>
            <a:p>
              <a:pPr algn="ctr"/>
            </a:p>
          </p:txBody>
        </p:sp>
        <p:sp>
          <p:nvSpPr>
            <p:cNvPr id="40" name="Rectangle 39"/>
            <p:cNvSpPr/>
            <p:nvPr/>
          </p:nvSpPr>
          <p:spPr>
            <a:xfrm>
              <a:off x="5573268" y="4014216"/>
              <a:ext cx="54864" cy="365760"/>
            </a:xfrm>
            <a:prstGeom prst="rect">
              <a:avLst/>
            </a:prstGeom>
            <a:solidFill>
              <a:srgbClr val="6B5B4B"/>
            </a:solidFill>
            <a:ln>
              <a:noFill/>
            </a:ln>
          </p:spPr>
          <p:txBody>
            <a:bodyPr rtlCol="0" anchor="ctr"/>
            <a:lstStyle/>
            <a:p>
              <a:pPr algn="ctr"/>
            </a:p>
          </p:txBody>
        </p:sp>
        <p:sp>
          <p:nvSpPr>
            <p:cNvPr id="41" name="Rectangle 40"/>
            <p:cNvSpPr/>
            <p:nvPr/>
          </p:nvSpPr>
          <p:spPr>
            <a:xfrm>
              <a:off x="5893308" y="4014216"/>
              <a:ext cx="54864" cy="365760"/>
            </a:xfrm>
            <a:prstGeom prst="rect">
              <a:avLst/>
            </a:prstGeom>
            <a:solidFill>
              <a:srgbClr val="6B5B4B"/>
            </a:solidFill>
            <a:ln>
              <a:noFill/>
            </a:ln>
          </p:spPr>
          <p:txBody>
            <a:bodyPr rtlCol="0" anchor="ctr"/>
            <a:lstStyle/>
            <a:p>
              <a:pPr algn="ctr"/>
            </a:p>
          </p:txBody>
        </p:sp>
        <p:sp>
          <p:nvSpPr>
            <p:cNvPr id="42" name="Rectangle 41"/>
            <p:cNvSpPr/>
            <p:nvPr/>
          </p:nvSpPr>
          <p:spPr>
            <a:xfrm>
              <a:off x="6213348" y="4014216"/>
              <a:ext cx="54864" cy="365760"/>
            </a:xfrm>
            <a:prstGeom prst="rect">
              <a:avLst/>
            </a:prstGeom>
            <a:solidFill>
              <a:srgbClr val="6B5B4B"/>
            </a:solidFill>
            <a:ln>
              <a:noFill/>
            </a:ln>
          </p:spPr>
          <p:txBody>
            <a:bodyPr rtlCol="0" anchor="ctr"/>
            <a:lstStyle/>
            <a:p>
              <a:pPr algn="ctr"/>
            </a:p>
          </p:txBody>
        </p:sp>
        <p:sp>
          <p:nvSpPr>
            <p:cNvPr id="43" name="Rectangle 42"/>
            <p:cNvSpPr/>
            <p:nvPr/>
          </p:nvSpPr>
          <p:spPr>
            <a:xfrm>
              <a:off x="6533388" y="4014216"/>
              <a:ext cx="54864" cy="365760"/>
            </a:xfrm>
            <a:prstGeom prst="rect">
              <a:avLst/>
            </a:prstGeom>
            <a:solidFill>
              <a:srgbClr val="6B5B4B"/>
            </a:solidFill>
            <a:ln>
              <a:noFill/>
            </a:ln>
          </p:spPr>
          <p:txBody>
            <a:bodyPr rtlCol="0" anchor="ctr"/>
            <a:lstStyle/>
            <a:p>
              <a:pPr algn="ctr"/>
            </a:p>
          </p:txBody>
        </p:sp>
        <p:sp>
          <p:nvSpPr>
            <p:cNvPr id="44" name="Rectangle 43"/>
            <p:cNvSpPr/>
            <p:nvPr/>
          </p:nvSpPr>
          <p:spPr>
            <a:xfrm>
              <a:off x="6853428" y="4014216"/>
              <a:ext cx="54864" cy="365760"/>
            </a:xfrm>
            <a:prstGeom prst="rect">
              <a:avLst/>
            </a:prstGeom>
            <a:solidFill>
              <a:srgbClr val="6B5B4B"/>
            </a:solidFill>
            <a:ln>
              <a:noFill/>
            </a:ln>
          </p:spPr>
          <p:txBody>
            <a:bodyPr rtlCol="0" anchor="ctr"/>
            <a:lstStyle/>
            <a:p>
              <a:pPr algn="ctr"/>
            </a:p>
          </p:txBody>
        </p:sp>
        <p:sp>
          <p:nvSpPr>
            <p:cNvPr id="45" name="Rectangle 44"/>
            <p:cNvSpPr/>
            <p:nvPr/>
          </p:nvSpPr>
          <p:spPr>
            <a:xfrm>
              <a:off x="7173468" y="4014216"/>
              <a:ext cx="54864" cy="365760"/>
            </a:xfrm>
            <a:prstGeom prst="rect">
              <a:avLst/>
            </a:prstGeom>
            <a:solidFill>
              <a:srgbClr val="6B5B4B"/>
            </a:solidFill>
            <a:ln>
              <a:noFill/>
            </a:ln>
          </p:spPr>
          <p:txBody>
            <a:bodyPr rtlCol="0" anchor="ctr"/>
            <a:lstStyle/>
            <a:p>
              <a:pPr algn="ctr"/>
            </a:p>
          </p:txBody>
        </p:sp>
        <p:sp>
          <p:nvSpPr>
            <p:cNvPr id="46" name="Rectangle 45"/>
            <p:cNvSpPr/>
            <p:nvPr/>
          </p:nvSpPr>
          <p:spPr>
            <a:xfrm>
              <a:off x="7493508" y="4014216"/>
              <a:ext cx="54864" cy="365760"/>
            </a:xfrm>
            <a:prstGeom prst="rect">
              <a:avLst/>
            </a:prstGeom>
            <a:solidFill>
              <a:srgbClr val="6B5B4B"/>
            </a:solidFill>
            <a:ln>
              <a:noFill/>
            </a:ln>
          </p:spPr>
          <p:txBody>
            <a:bodyPr rtlCol="0" anchor="ctr"/>
            <a:lstStyle/>
            <a:p>
              <a:pPr algn="ctr"/>
            </a:p>
          </p:txBody>
        </p:sp>
        <p:sp>
          <p:nvSpPr>
            <p:cNvPr id="47" name="Rectangle 46"/>
            <p:cNvSpPr/>
            <p:nvPr/>
          </p:nvSpPr>
          <p:spPr>
            <a:xfrm>
              <a:off x="7813548" y="4014216"/>
              <a:ext cx="54864" cy="365760"/>
            </a:xfrm>
            <a:prstGeom prst="rect">
              <a:avLst/>
            </a:prstGeom>
            <a:solidFill>
              <a:srgbClr val="6B5B4B"/>
            </a:solidFill>
            <a:ln>
              <a:noFill/>
            </a:ln>
          </p:spPr>
          <p:txBody>
            <a:bodyPr rtlCol="0" anchor="ctr"/>
            <a:lstStyle/>
            <a:p>
              <a:pPr algn="ctr"/>
            </a:p>
          </p:txBody>
        </p:sp>
        <p:sp>
          <p:nvSpPr>
            <p:cNvPr id="48" name="Rectangle 47"/>
            <p:cNvSpPr/>
            <p:nvPr/>
          </p:nvSpPr>
          <p:spPr>
            <a:xfrm>
              <a:off x="8133588" y="4014216"/>
              <a:ext cx="54864" cy="365760"/>
            </a:xfrm>
            <a:prstGeom prst="rect">
              <a:avLst/>
            </a:prstGeom>
            <a:solidFill>
              <a:srgbClr val="6B5B4B"/>
            </a:solidFill>
            <a:ln>
              <a:noFill/>
            </a:ln>
          </p:spPr>
          <p:txBody>
            <a:bodyPr rtlCol="0" anchor="ctr"/>
            <a:lstStyle/>
            <a:p>
              <a:pPr algn="ctr"/>
            </a:p>
          </p:txBody>
        </p:sp>
        <p:sp>
          <p:nvSpPr>
            <p:cNvPr id="49" name="Rectangle 48"/>
            <p:cNvSpPr/>
            <p:nvPr/>
          </p:nvSpPr>
          <p:spPr>
            <a:xfrm>
              <a:off x="8453628" y="4014216"/>
              <a:ext cx="54864" cy="365760"/>
            </a:xfrm>
            <a:prstGeom prst="rect">
              <a:avLst/>
            </a:prstGeom>
            <a:solidFill>
              <a:srgbClr val="6B5B4B"/>
            </a:solidFill>
            <a:ln>
              <a:noFill/>
            </a:ln>
          </p:spPr>
          <p:txBody>
            <a:bodyPr rtlCol="0" anchor="ctr"/>
            <a:lstStyle/>
            <a:p>
              <a:pPr algn="ctr"/>
            </a:p>
          </p:txBody>
        </p:sp>
        <p:sp>
          <p:nvSpPr>
            <p:cNvPr id="50" name="Rectangle 49"/>
            <p:cNvSpPr/>
            <p:nvPr/>
          </p:nvSpPr>
          <p:spPr>
            <a:xfrm>
              <a:off x="8773668" y="4014216"/>
              <a:ext cx="54864" cy="365760"/>
            </a:xfrm>
            <a:prstGeom prst="rect">
              <a:avLst/>
            </a:prstGeom>
            <a:solidFill>
              <a:srgbClr val="6B5B4B"/>
            </a:solidFill>
            <a:ln>
              <a:noFill/>
            </a:ln>
          </p:spPr>
          <p:txBody>
            <a:bodyPr rtlCol="0" anchor="ctr"/>
            <a:lstStyle/>
            <a:p>
              <a:pPr algn="ctr"/>
            </a:p>
          </p:txBody>
        </p:sp>
        <p:sp>
          <p:nvSpPr>
            <p:cNvPr id="51" name="Rectangle 50"/>
            <p:cNvSpPr/>
            <p:nvPr/>
          </p:nvSpPr>
          <p:spPr>
            <a:xfrm>
              <a:off x="9093708" y="4014216"/>
              <a:ext cx="54864" cy="365760"/>
            </a:xfrm>
            <a:prstGeom prst="rect">
              <a:avLst/>
            </a:prstGeom>
            <a:solidFill>
              <a:srgbClr val="6B5B4B"/>
            </a:solidFill>
            <a:ln>
              <a:noFill/>
            </a:ln>
          </p:spPr>
          <p:txBody>
            <a:bodyPr rtlCol="0" anchor="ctr"/>
            <a:lstStyle/>
            <a:p>
              <a:pPr algn="ctr"/>
            </a:p>
          </p:txBody>
        </p:sp>
        <p:sp>
          <p:nvSpPr>
            <p:cNvPr id="52" name="Rectangle 51"/>
            <p:cNvSpPr/>
            <p:nvPr/>
          </p:nvSpPr>
          <p:spPr>
            <a:xfrm>
              <a:off x="9413748" y="4014216"/>
              <a:ext cx="54864" cy="365760"/>
            </a:xfrm>
            <a:prstGeom prst="rect">
              <a:avLst/>
            </a:prstGeom>
            <a:solidFill>
              <a:srgbClr val="6B5B4B"/>
            </a:solidFill>
            <a:ln>
              <a:noFill/>
            </a:ln>
          </p:spPr>
          <p:txBody>
            <a:bodyPr rtlCol="0" anchor="ctr"/>
            <a:lstStyle/>
            <a:p>
              <a:pPr algn="ctr"/>
            </a:p>
          </p:txBody>
        </p:sp>
        <p:sp>
          <p:nvSpPr>
            <p:cNvPr id="53" name="Rectangle 52"/>
            <p:cNvSpPr/>
            <p:nvPr/>
          </p:nvSpPr>
          <p:spPr>
            <a:xfrm>
              <a:off x="9733788" y="4014216"/>
              <a:ext cx="54864" cy="365760"/>
            </a:xfrm>
            <a:prstGeom prst="rect">
              <a:avLst/>
            </a:prstGeom>
            <a:solidFill>
              <a:srgbClr val="6B5B4B"/>
            </a:solidFill>
            <a:ln>
              <a:noFill/>
            </a:ln>
          </p:spPr>
          <p:txBody>
            <a:bodyPr rtlCol="0" anchor="ctr"/>
            <a:lstStyle/>
            <a:p>
              <a:pPr algn="ctr"/>
            </a:p>
          </p:txBody>
        </p:sp>
        <p:sp>
          <p:nvSpPr>
            <p:cNvPr id="54" name="Rectangle 53"/>
            <p:cNvSpPr/>
            <p:nvPr/>
          </p:nvSpPr>
          <p:spPr>
            <a:xfrm>
              <a:off x="10053828" y="4014216"/>
              <a:ext cx="54864" cy="365760"/>
            </a:xfrm>
            <a:prstGeom prst="rect">
              <a:avLst/>
            </a:prstGeom>
            <a:solidFill>
              <a:srgbClr val="6B5B4B"/>
            </a:solidFill>
            <a:ln>
              <a:noFill/>
            </a:ln>
          </p:spPr>
          <p:txBody>
            <a:bodyPr rtlCol="0" anchor="ctr"/>
            <a:lstStyle/>
            <a:p>
              <a:pPr algn="ctr"/>
            </a:p>
          </p:txBody>
        </p:sp>
        <p:sp>
          <p:nvSpPr>
            <p:cNvPr id="55" name="Rectangle 54"/>
            <p:cNvSpPr/>
            <p:nvPr/>
          </p:nvSpPr>
          <p:spPr>
            <a:xfrm>
              <a:off x="10373868" y="4014216"/>
              <a:ext cx="54864" cy="365760"/>
            </a:xfrm>
            <a:prstGeom prst="rect">
              <a:avLst/>
            </a:prstGeom>
            <a:solidFill>
              <a:srgbClr val="6B5B4B"/>
            </a:solidFill>
            <a:ln>
              <a:noFill/>
            </a:ln>
          </p:spPr>
          <p:txBody>
            <a:bodyPr rtlCol="0" anchor="ctr"/>
            <a:lstStyle/>
            <a:p>
              <a:pPr algn="ctr"/>
            </a:p>
          </p:txBody>
        </p:sp>
        <p:sp>
          <p:nvSpPr>
            <p:cNvPr id="56" name="Rectangle 55"/>
            <p:cNvSpPr/>
            <p:nvPr/>
          </p:nvSpPr>
          <p:spPr>
            <a:xfrm>
              <a:off x="10693908" y="4014216"/>
              <a:ext cx="54864" cy="365760"/>
            </a:xfrm>
            <a:prstGeom prst="rect">
              <a:avLst/>
            </a:prstGeom>
            <a:solidFill>
              <a:srgbClr val="6B5B4B"/>
            </a:solidFill>
            <a:ln>
              <a:noFill/>
            </a:ln>
          </p:spPr>
          <p:txBody>
            <a:bodyPr rtlCol="0" anchor="ctr"/>
            <a:lstStyle/>
            <a:p>
              <a:pPr algn="ctr"/>
            </a:p>
          </p:txBody>
        </p:sp>
        <p:sp>
          <p:nvSpPr>
            <p:cNvPr id="57" name="Rectangle 56"/>
            <p:cNvSpPr/>
            <p:nvPr/>
          </p:nvSpPr>
          <p:spPr>
            <a:xfrm>
              <a:off x="11013948" y="4014216"/>
              <a:ext cx="54864" cy="365760"/>
            </a:xfrm>
            <a:prstGeom prst="rect">
              <a:avLst/>
            </a:prstGeom>
            <a:solidFill>
              <a:srgbClr val="6B5B4B"/>
            </a:solidFill>
            <a:ln>
              <a:noFill/>
            </a:ln>
          </p:spPr>
          <p:txBody>
            <a:bodyPr rtlCol="0" anchor="ctr"/>
            <a:lstStyle/>
            <a:p>
              <a:pPr algn="ctr"/>
            </a:p>
          </p:txBody>
        </p:sp>
        <p:sp>
          <p:nvSpPr>
            <p:cNvPr id="58" name="Rectangle 57"/>
            <p:cNvSpPr/>
            <p:nvPr/>
          </p:nvSpPr>
          <p:spPr>
            <a:xfrm>
              <a:off x="822960" y="4041648"/>
              <a:ext cx="10515600" cy="54864"/>
            </a:xfrm>
            <a:prstGeom prst="rect">
              <a:avLst/>
            </a:prstGeom>
            <a:solidFill>
              <a:srgbClr val="9AA0A6"/>
            </a:solidFill>
            <a:ln>
              <a:noFill/>
            </a:ln>
          </p:spPr>
          <p:txBody>
            <a:bodyPr rtlCol="0" anchor="ctr"/>
            <a:lstStyle/>
            <a:p>
              <a:pPr algn="ctr"/>
            </a:p>
          </p:txBody>
        </p:sp>
        <p:sp>
          <p:nvSpPr>
            <p:cNvPr id="59" name="Rectangle 58"/>
            <p:cNvSpPr/>
            <p:nvPr/>
          </p:nvSpPr>
          <p:spPr>
            <a:xfrm>
              <a:off x="822960" y="4297680"/>
              <a:ext cx="10515600" cy="54864"/>
            </a:xfrm>
            <a:prstGeom prst="rect">
              <a:avLst/>
            </a:prstGeom>
            <a:solidFill>
              <a:srgbClr val="9AA0A6"/>
            </a:solidFill>
            <a:ln>
              <a:noFill/>
            </a:ln>
          </p:spPr>
          <p:txBody>
            <a:bodyPr rtlCol="0" anchor="ctr"/>
            <a:lstStyle/>
            <a:p>
              <a:pPr algn="ctr"/>
            </a:p>
          </p:txBody>
        </p:sp>
        <p:grpSp>
          <p:nvGrpSpPr>
            <p:cNvPr id="60" name="Signal stop" descr="Semaphore stop signal, arm flat: STOP."/>
            <p:cNvGrpSpPr/>
            <p:nvPr/>
          </p:nvGrpSpPr>
          <p:grpSpPr>
            <a:xfrm>
              <a:off x="588874" y="3770986"/>
              <a:ext cx="556869" cy="663854"/>
              <a:chOff x="588874" y="3770986"/>
              <a:chExt cx="556869" cy="663854"/>
            </a:xfrm>
          </p:grpSpPr>
          <p:sp>
            <p:nvSpPr>
              <p:cNvPr id="61" name="Rectangle 60"/>
              <p:cNvSpPr/>
              <p:nvPr/>
            </p:nvSpPr>
            <p:spPr>
              <a:xfrm>
                <a:off x="912571" y="4396435"/>
                <a:ext cx="186538" cy="38405"/>
              </a:xfrm>
              <a:prstGeom prst="rect">
                <a:avLst/>
              </a:prstGeom>
              <a:solidFill>
                <a:srgbClr val="9AA0A6"/>
              </a:solidFill>
              <a:ln>
                <a:noFill/>
              </a:ln>
            </p:spPr>
            <p:txBody>
              <a:bodyPr rtlCol="0" anchor="ctr"/>
              <a:lstStyle/>
              <a:p>
                <a:pPr algn="ctr"/>
              </a:p>
            </p:txBody>
          </p:sp>
          <p:sp>
            <p:nvSpPr>
              <p:cNvPr id="62" name="Rectangle 61"/>
              <p:cNvSpPr/>
              <p:nvPr/>
            </p:nvSpPr>
            <p:spPr>
              <a:xfrm>
                <a:off x="972922" y="3831336"/>
                <a:ext cx="65837" cy="603504"/>
              </a:xfrm>
              <a:prstGeom prst="rect">
                <a:avLst/>
              </a:prstGeom>
              <a:solidFill>
                <a:srgbClr val="E8E8E8"/>
              </a:solidFill>
              <a:ln>
                <a:noFill/>
              </a:ln>
            </p:spPr>
            <p:txBody>
              <a:bodyPr rtlCol="0" anchor="ctr"/>
              <a:lstStyle/>
              <a:p>
                <a:pPr algn="ctr"/>
              </a:p>
            </p:txBody>
          </p:sp>
          <p:sp>
            <p:nvSpPr>
              <p:cNvPr id="63" name="Oval 62"/>
              <p:cNvSpPr/>
              <p:nvPr/>
            </p:nvSpPr>
            <p:spPr>
              <a:xfrm>
                <a:off x="967435" y="3770986"/>
                <a:ext cx="76810" cy="76810"/>
              </a:xfrm>
              <a:prstGeom prst="ellipse">
                <a:avLst/>
              </a:prstGeom>
              <a:solidFill>
                <a:srgbClr val="E8E8E8"/>
              </a:solidFill>
              <a:ln>
                <a:noFill/>
              </a:ln>
            </p:spPr>
            <p:txBody>
              <a:bodyPr rtlCol="0" anchor="ctr"/>
              <a:lstStyle/>
              <a:p>
                <a:pPr algn="ctr"/>
              </a:p>
            </p:txBody>
          </p:sp>
          <p:sp>
            <p:nvSpPr>
              <p:cNvPr id="64" name="Freeform 63"/>
              <p:cNvSpPr/>
              <p:nvPr/>
            </p:nvSpPr>
            <p:spPr>
              <a:xfrm>
                <a:off x="588874"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65" name="Freeform 64"/>
              <p:cNvSpPr/>
              <p:nvPr/>
            </p:nvSpPr>
            <p:spPr>
              <a:xfrm>
                <a:off x="688726"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66" name="Oval 65"/>
              <p:cNvSpPr/>
              <p:nvPr/>
            </p:nvSpPr>
            <p:spPr>
              <a:xfrm>
                <a:off x="1052474" y="3910889"/>
                <a:ext cx="93269" cy="93269"/>
              </a:xfrm>
              <a:prstGeom prst="ellipse">
                <a:avLst/>
              </a:prstGeom>
              <a:solidFill>
                <a:srgbClr val="E5484D"/>
              </a:solidFill>
              <a:ln w="9525">
                <a:solidFill>
                  <a:srgbClr val="101418"/>
                </a:solidFill>
              </a:ln>
            </p:spPr>
            <p:txBody>
              <a:bodyPr rtlCol="0" anchor="ctr"/>
              <a:lstStyle/>
              <a:p>
                <a:pPr algn="ctr"/>
              </a:p>
            </p:txBody>
          </p:sp>
        </p:grpSp>
        <p:cxnSp>
          <p:nvCxnSpPr>
            <p:cNvPr id="67" name="Connector 66"/>
            <p:cNvCxnSpPr/>
            <p:nvPr/>
          </p:nvCxnSpPr>
          <p:spPr>
            <a:xfrm>
              <a:off x="1005840" y="4480560"/>
              <a:ext cx="0" cy="137160"/>
            </a:xfrm>
            <a:prstGeom prst="line">
              <a:avLst/>
            </a:prstGeom>
            <a:ln w="19050">
              <a:solidFill>
                <a:srgbClr val="A9B0B8"/>
              </a:solidFill>
            </a:ln>
          </p:spPr>
        </p:cxnSp>
        <p:sp>
          <p:nvSpPr>
            <p:cNvPr id="68" name="TextBox 67"/>
            <p:cNvSpPr txBox="1"/>
            <p:nvPr/>
          </p:nvSpPr>
          <p:spPr>
            <a:xfrm>
              <a:off x="457200" y="4617720"/>
              <a:ext cx="1097280" cy="274320"/>
            </a:xfrm>
            <a:prstGeom prst="rect">
              <a:avLst/>
            </a:prstGeom>
            <a:noFill/>
          </p:spPr>
          <p:txBody>
            <a:bodyPr wrap="square" lIns="0" tIns="0" rIns="0" bIns="0" anchor="t">
              <a:noAutofit/>
            </a:bodyPr>
            <a:lstStyle/>
            <a:p>
              <a:pPr algn="ctr"/>
              <a:r>
                <a:rPr sz="1400" b="0" i="0" lang="en-GB">
                  <a:solidFill>
                    <a:srgbClr val="A9B0B8"/>
                  </a:solidFill>
                  <a:latin typeface="Arial"/>
                </a:rPr>
                <a:t>0 m</a:t>
              </a:r>
            </a:p>
          </p:txBody>
        </p:sp>
        <p:grpSp>
          <p:nvGrpSpPr>
            <p:cNvPr id="69" name="Signal stop" descr="Semaphore stop signal, arm flat: STOP."/>
            <p:cNvGrpSpPr/>
            <p:nvPr/>
          </p:nvGrpSpPr>
          <p:grpSpPr>
            <a:xfrm>
              <a:off x="2563978" y="3770986"/>
              <a:ext cx="556869" cy="663854"/>
              <a:chOff x="2563978" y="3770986"/>
              <a:chExt cx="556869" cy="663854"/>
            </a:xfrm>
          </p:grpSpPr>
          <p:sp>
            <p:nvSpPr>
              <p:cNvPr id="70" name="Rectangle 69"/>
              <p:cNvSpPr/>
              <p:nvPr/>
            </p:nvSpPr>
            <p:spPr>
              <a:xfrm>
                <a:off x="2887675" y="4396435"/>
                <a:ext cx="186538" cy="38405"/>
              </a:xfrm>
              <a:prstGeom prst="rect">
                <a:avLst/>
              </a:prstGeom>
              <a:solidFill>
                <a:srgbClr val="9AA0A6"/>
              </a:solidFill>
              <a:ln>
                <a:noFill/>
              </a:ln>
            </p:spPr>
            <p:txBody>
              <a:bodyPr rtlCol="0" anchor="ctr"/>
              <a:lstStyle/>
              <a:p>
                <a:pPr algn="ctr"/>
              </a:p>
            </p:txBody>
          </p:sp>
          <p:sp>
            <p:nvSpPr>
              <p:cNvPr id="71" name="Rectangle 70"/>
              <p:cNvSpPr/>
              <p:nvPr/>
            </p:nvSpPr>
            <p:spPr>
              <a:xfrm>
                <a:off x="2948026" y="3831336"/>
                <a:ext cx="65837" cy="603504"/>
              </a:xfrm>
              <a:prstGeom prst="rect">
                <a:avLst/>
              </a:prstGeom>
              <a:solidFill>
                <a:srgbClr val="E8E8E8"/>
              </a:solidFill>
              <a:ln>
                <a:noFill/>
              </a:ln>
            </p:spPr>
            <p:txBody>
              <a:bodyPr rtlCol="0" anchor="ctr"/>
              <a:lstStyle/>
              <a:p>
                <a:pPr algn="ctr"/>
              </a:p>
            </p:txBody>
          </p:sp>
          <p:sp>
            <p:nvSpPr>
              <p:cNvPr id="72" name="Oval 71"/>
              <p:cNvSpPr/>
              <p:nvPr/>
            </p:nvSpPr>
            <p:spPr>
              <a:xfrm>
                <a:off x="2942539" y="3770986"/>
                <a:ext cx="76810" cy="76810"/>
              </a:xfrm>
              <a:prstGeom prst="ellipse">
                <a:avLst/>
              </a:prstGeom>
              <a:solidFill>
                <a:srgbClr val="E8E8E8"/>
              </a:solidFill>
              <a:ln>
                <a:noFill/>
              </a:ln>
            </p:spPr>
            <p:txBody>
              <a:bodyPr rtlCol="0" anchor="ctr"/>
              <a:lstStyle/>
              <a:p>
                <a:pPr algn="ctr"/>
              </a:p>
            </p:txBody>
          </p:sp>
          <p:sp>
            <p:nvSpPr>
              <p:cNvPr id="73" name="Freeform 72"/>
              <p:cNvSpPr/>
              <p:nvPr/>
            </p:nvSpPr>
            <p:spPr>
              <a:xfrm>
                <a:off x="2563978"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74" name="Freeform 73"/>
              <p:cNvSpPr/>
              <p:nvPr/>
            </p:nvSpPr>
            <p:spPr>
              <a:xfrm>
                <a:off x="2663830"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75" name="Oval 74"/>
              <p:cNvSpPr/>
              <p:nvPr/>
            </p:nvSpPr>
            <p:spPr>
              <a:xfrm>
                <a:off x="3027578" y="3910889"/>
                <a:ext cx="93269" cy="93269"/>
              </a:xfrm>
              <a:prstGeom prst="ellipse">
                <a:avLst/>
              </a:prstGeom>
              <a:solidFill>
                <a:srgbClr val="E5484D"/>
              </a:solidFill>
              <a:ln w="9525">
                <a:solidFill>
                  <a:srgbClr val="101418"/>
                </a:solidFill>
              </a:ln>
            </p:spPr>
            <p:txBody>
              <a:bodyPr rtlCol="0" anchor="ctr"/>
              <a:lstStyle/>
              <a:p>
                <a:pPr algn="ctr"/>
              </a:p>
            </p:txBody>
          </p:sp>
        </p:grpSp>
        <p:cxnSp>
          <p:nvCxnSpPr>
            <p:cNvPr id="76" name="Connector 75"/>
            <p:cNvCxnSpPr/>
            <p:nvPr/>
          </p:nvCxnSpPr>
          <p:spPr>
            <a:xfrm>
              <a:off x="2980944" y="4480560"/>
              <a:ext cx="0" cy="137160"/>
            </a:xfrm>
            <a:prstGeom prst="line">
              <a:avLst/>
            </a:prstGeom>
            <a:ln w="19050">
              <a:solidFill>
                <a:srgbClr val="A9B0B8"/>
              </a:solidFill>
            </a:ln>
          </p:spPr>
        </p:cxnSp>
        <p:sp>
          <p:nvSpPr>
            <p:cNvPr id="77" name="TextBox 76"/>
            <p:cNvSpPr txBox="1"/>
            <p:nvPr/>
          </p:nvSpPr>
          <p:spPr>
            <a:xfrm>
              <a:off x="2432304" y="4617720"/>
              <a:ext cx="1097280" cy="274320"/>
            </a:xfrm>
            <a:prstGeom prst="rect">
              <a:avLst/>
            </a:prstGeom>
            <a:noFill/>
          </p:spPr>
          <p:txBody>
            <a:bodyPr wrap="square" lIns="0" tIns="0" rIns="0" bIns="0" anchor="t">
              <a:noAutofit/>
            </a:bodyPr>
            <a:lstStyle/>
            <a:p>
              <a:pPr algn="ctr"/>
              <a:r>
                <a:rPr sz="1400" b="0" i="0" lang="en-GB">
                  <a:solidFill>
                    <a:srgbClr val="A9B0B8"/>
                  </a:solidFill>
                  <a:latin typeface="Arial"/>
                </a:rPr>
                <a:t>450 m</a:t>
              </a:r>
            </a:p>
          </p:txBody>
        </p:sp>
        <p:grpSp>
          <p:nvGrpSpPr>
            <p:cNvPr id="78" name="Signal stop" descr="Semaphore stop signal, arm flat: STOP."/>
            <p:cNvGrpSpPr/>
            <p:nvPr/>
          </p:nvGrpSpPr>
          <p:grpSpPr>
            <a:xfrm>
              <a:off x="4539082" y="3770986"/>
              <a:ext cx="556869" cy="663854"/>
              <a:chOff x="4539082" y="3770986"/>
              <a:chExt cx="556869" cy="663854"/>
            </a:xfrm>
          </p:grpSpPr>
          <p:sp>
            <p:nvSpPr>
              <p:cNvPr id="79" name="Rectangle 78"/>
              <p:cNvSpPr/>
              <p:nvPr/>
            </p:nvSpPr>
            <p:spPr>
              <a:xfrm>
                <a:off x="4862779" y="4396435"/>
                <a:ext cx="186538" cy="38405"/>
              </a:xfrm>
              <a:prstGeom prst="rect">
                <a:avLst/>
              </a:prstGeom>
              <a:solidFill>
                <a:srgbClr val="9AA0A6"/>
              </a:solidFill>
              <a:ln>
                <a:noFill/>
              </a:ln>
            </p:spPr>
            <p:txBody>
              <a:bodyPr rtlCol="0" anchor="ctr"/>
              <a:lstStyle/>
              <a:p>
                <a:pPr algn="ctr"/>
              </a:p>
            </p:txBody>
          </p:sp>
          <p:sp>
            <p:nvSpPr>
              <p:cNvPr id="80" name="Rectangle 79"/>
              <p:cNvSpPr/>
              <p:nvPr/>
            </p:nvSpPr>
            <p:spPr>
              <a:xfrm>
                <a:off x="4923130" y="3831336"/>
                <a:ext cx="65837" cy="603504"/>
              </a:xfrm>
              <a:prstGeom prst="rect">
                <a:avLst/>
              </a:prstGeom>
              <a:solidFill>
                <a:srgbClr val="E8E8E8"/>
              </a:solidFill>
              <a:ln>
                <a:noFill/>
              </a:ln>
            </p:spPr>
            <p:txBody>
              <a:bodyPr rtlCol="0" anchor="ctr"/>
              <a:lstStyle/>
              <a:p>
                <a:pPr algn="ctr"/>
              </a:p>
            </p:txBody>
          </p:sp>
          <p:sp>
            <p:nvSpPr>
              <p:cNvPr id="81" name="Oval 80"/>
              <p:cNvSpPr/>
              <p:nvPr/>
            </p:nvSpPr>
            <p:spPr>
              <a:xfrm>
                <a:off x="4917643" y="3770986"/>
                <a:ext cx="76810" cy="76810"/>
              </a:xfrm>
              <a:prstGeom prst="ellipse">
                <a:avLst/>
              </a:prstGeom>
              <a:solidFill>
                <a:srgbClr val="E8E8E8"/>
              </a:solidFill>
              <a:ln>
                <a:noFill/>
              </a:ln>
            </p:spPr>
            <p:txBody>
              <a:bodyPr rtlCol="0" anchor="ctr"/>
              <a:lstStyle/>
              <a:p>
                <a:pPr algn="ctr"/>
              </a:p>
            </p:txBody>
          </p:sp>
          <p:sp>
            <p:nvSpPr>
              <p:cNvPr id="82" name="Freeform 81"/>
              <p:cNvSpPr/>
              <p:nvPr/>
            </p:nvSpPr>
            <p:spPr>
              <a:xfrm>
                <a:off x="4539082"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83" name="Freeform 82"/>
              <p:cNvSpPr/>
              <p:nvPr/>
            </p:nvSpPr>
            <p:spPr>
              <a:xfrm>
                <a:off x="4638934"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84" name="Oval 83"/>
              <p:cNvSpPr/>
              <p:nvPr/>
            </p:nvSpPr>
            <p:spPr>
              <a:xfrm>
                <a:off x="5002682" y="3910889"/>
                <a:ext cx="93269" cy="93269"/>
              </a:xfrm>
              <a:prstGeom prst="ellipse">
                <a:avLst/>
              </a:prstGeom>
              <a:solidFill>
                <a:srgbClr val="E5484D"/>
              </a:solidFill>
              <a:ln w="9525">
                <a:solidFill>
                  <a:srgbClr val="101418"/>
                </a:solidFill>
              </a:ln>
            </p:spPr>
            <p:txBody>
              <a:bodyPr rtlCol="0" anchor="ctr"/>
              <a:lstStyle/>
              <a:p>
                <a:pPr algn="ctr"/>
              </a:p>
            </p:txBody>
          </p:sp>
        </p:grpSp>
        <p:cxnSp>
          <p:nvCxnSpPr>
            <p:cNvPr id="85" name="Connector 84"/>
            <p:cNvCxnSpPr/>
            <p:nvPr/>
          </p:nvCxnSpPr>
          <p:spPr>
            <a:xfrm>
              <a:off x="4956048" y="4480560"/>
              <a:ext cx="0" cy="137160"/>
            </a:xfrm>
            <a:prstGeom prst="line">
              <a:avLst/>
            </a:prstGeom>
            <a:ln w="19050">
              <a:solidFill>
                <a:srgbClr val="A9B0B8"/>
              </a:solidFill>
            </a:ln>
          </p:spPr>
        </p:cxnSp>
        <p:sp>
          <p:nvSpPr>
            <p:cNvPr id="86" name="TextBox 85"/>
            <p:cNvSpPr txBox="1"/>
            <p:nvPr/>
          </p:nvSpPr>
          <p:spPr>
            <a:xfrm>
              <a:off x="4407408" y="4617720"/>
              <a:ext cx="1097280" cy="274320"/>
            </a:xfrm>
            <a:prstGeom prst="rect">
              <a:avLst/>
            </a:prstGeom>
            <a:noFill/>
          </p:spPr>
          <p:txBody>
            <a:bodyPr wrap="square" lIns="0" tIns="0" rIns="0" bIns="0" anchor="t">
              <a:noAutofit/>
            </a:bodyPr>
            <a:lstStyle/>
            <a:p>
              <a:pPr algn="ctr"/>
              <a:r>
                <a:rPr sz="1400" b="0" i="0" lang="en-GB">
                  <a:solidFill>
                    <a:srgbClr val="A9B0B8"/>
                  </a:solidFill>
                  <a:latin typeface="Arial"/>
                </a:rPr>
                <a:t>900 m</a:t>
              </a:r>
            </a:p>
          </p:txBody>
        </p:sp>
        <p:grpSp>
          <p:nvGrpSpPr>
            <p:cNvPr id="87" name="Signal stop" descr="Semaphore stop signal, arm flat: STOP."/>
            <p:cNvGrpSpPr/>
            <p:nvPr/>
          </p:nvGrpSpPr>
          <p:grpSpPr>
            <a:xfrm>
              <a:off x="6514186" y="3770986"/>
              <a:ext cx="556869" cy="663854"/>
              <a:chOff x="6514186" y="3770986"/>
              <a:chExt cx="556869" cy="663854"/>
            </a:xfrm>
          </p:grpSpPr>
          <p:sp>
            <p:nvSpPr>
              <p:cNvPr id="88" name="Rectangle 87"/>
              <p:cNvSpPr/>
              <p:nvPr/>
            </p:nvSpPr>
            <p:spPr>
              <a:xfrm>
                <a:off x="6837883" y="4396435"/>
                <a:ext cx="186538" cy="38405"/>
              </a:xfrm>
              <a:prstGeom prst="rect">
                <a:avLst/>
              </a:prstGeom>
              <a:solidFill>
                <a:srgbClr val="9AA0A6"/>
              </a:solidFill>
              <a:ln>
                <a:noFill/>
              </a:ln>
            </p:spPr>
            <p:txBody>
              <a:bodyPr rtlCol="0" anchor="ctr"/>
              <a:lstStyle/>
              <a:p>
                <a:pPr algn="ctr"/>
              </a:p>
            </p:txBody>
          </p:sp>
          <p:sp>
            <p:nvSpPr>
              <p:cNvPr id="89" name="Rectangle 88"/>
              <p:cNvSpPr/>
              <p:nvPr/>
            </p:nvSpPr>
            <p:spPr>
              <a:xfrm>
                <a:off x="6898234" y="3831336"/>
                <a:ext cx="65837" cy="603504"/>
              </a:xfrm>
              <a:prstGeom prst="rect">
                <a:avLst/>
              </a:prstGeom>
              <a:solidFill>
                <a:srgbClr val="E8E8E8"/>
              </a:solidFill>
              <a:ln>
                <a:noFill/>
              </a:ln>
            </p:spPr>
            <p:txBody>
              <a:bodyPr rtlCol="0" anchor="ctr"/>
              <a:lstStyle/>
              <a:p>
                <a:pPr algn="ctr"/>
              </a:p>
            </p:txBody>
          </p:sp>
          <p:sp>
            <p:nvSpPr>
              <p:cNvPr id="90" name="Oval 89"/>
              <p:cNvSpPr/>
              <p:nvPr/>
            </p:nvSpPr>
            <p:spPr>
              <a:xfrm>
                <a:off x="6892747" y="3770986"/>
                <a:ext cx="76810" cy="76810"/>
              </a:xfrm>
              <a:prstGeom prst="ellipse">
                <a:avLst/>
              </a:prstGeom>
              <a:solidFill>
                <a:srgbClr val="E8E8E8"/>
              </a:solidFill>
              <a:ln>
                <a:noFill/>
              </a:ln>
            </p:spPr>
            <p:txBody>
              <a:bodyPr rtlCol="0" anchor="ctr"/>
              <a:lstStyle/>
              <a:p>
                <a:pPr algn="ctr"/>
              </a:p>
            </p:txBody>
          </p:sp>
          <p:sp>
            <p:nvSpPr>
              <p:cNvPr id="91" name="Freeform 90"/>
              <p:cNvSpPr/>
              <p:nvPr/>
            </p:nvSpPr>
            <p:spPr>
              <a:xfrm>
                <a:off x="6514186"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92" name="Freeform 91"/>
              <p:cNvSpPr/>
              <p:nvPr/>
            </p:nvSpPr>
            <p:spPr>
              <a:xfrm>
                <a:off x="6614038"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93" name="Oval 92"/>
              <p:cNvSpPr/>
              <p:nvPr/>
            </p:nvSpPr>
            <p:spPr>
              <a:xfrm>
                <a:off x="6977786" y="3910889"/>
                <a:ext cx="93269" cy="93269"/>
              </a:xfrm>
              <a:prstGeom prst="ellipse">
                <a:avLst/>
              </a:prstGeom>
              <a:solidFill>
                <a:srgbClr val="E5484D"/>
              </a:solidFill>
              <a:ln w="9525">
                <a:solidFill>
                  <a:srgbClr val="101418"/>
                </a:solidFill>
              </a:ln>
            </p:spPr>
            <p:txBody>
              <a:bodyPr rtlCol="0" anchor="ctr"/>
              <a:lstStyle/>
              <a:p>
                <a:pPr algn="ctr"/>
              </a:p>
            </p:txBody>
          </p:sp>
        </p:grpSp>
        <p:cxnSp>
          <p:nvCxnSpPr>
            <p:cNvPr id="94" name="Connector 93"/>
            <p:cNvCxnSpPr/>
            <p:nvPr/>
          </p:nvCxnSpPr>
          <p:spPr>
            <a:xfrm>
              <a:off x="6931152" y="4480560"/>
              <a:ext cx="0" cy="137160"/>
            </a:xfrm>
            <a:prstGeom prst="line">
              <a:avLst/>
            </a:prstGeom>
            <a:ln w="19050">
              <a:solidFill>
                <a:srgbClr val="A9B0B8"/>
              </a:solidFill>
            </a:ln>
          </p:spPr>
        </p:cxnSp>
        <p:sp>
          <p:nvSpPr>
            <p:cNvPr id="95" name="TextBox 94"/>
            <p:cNvSpPr txBox="1"/>
            <p:nvPr/>
          </p:nvSpPr>
          <p:spPr>
            <a:xfrm>
              <a:off x="6382512" y="4617720"/>
              <a:ext cx="1097280" cy="274320"/>
            </a:xfrm>
            <a:prstGeom prst="rect">
              <a:avLst/>
            </a:prstGeom>
            <a:noFill/>
          </p:spPr>
          <p:txBody>
            <a:bodyPr wrap="square" lIns="0" tIns="0" rIns="0" bIns="0" anchor="t">
              <a:noAutofit/>
            </a:bodyPr>
            <a:lstStyle/>
            <a:p>
              <a:pPr algn="ctr"/>
              <a:r>
                <a:rPr sz="1400" b="0" i="0" lang="en-GB">
                  <a:solidFill>
                    <a:srgbClr val="A9B0B8"/>
                  </a:solidFill>
                  <a:latin typeface="Arial"/>
                </a:rPr>
                <a:t>1,350 m</a:t>
              </a:r>
            </a:p>
          </p:txBody>
        </p:sp>
        <p:grpSp>
          <p:nvGrpSpPr>
            <p:cNvPr id="96" name="Signal stop" descr="Semaphore stop signal, arm flat: STOP."/>
            <p:cNvGrpSpPr/>
            <p:nvPr/>
          </p:nvGrpSpPr>
          <p:grpSpPr>
            <a:xfrm>
              <a:off x="8489290" y="3770986"/>
              <a:ext cx="556869" cy="663854"/>
              <a:chOff x="8489290" y="3770986"/>
              <a:chExt cx="556869" cy="663854"/>
            </a:xfrm>
          </p:grpSpPr>
          <p:sp>
            <p:nvSpPr>
              <p:cNvPr id="97" name="Rectangle 96"/>
              <p:cNvSpPr/>
              <p:nvPr/>
            </p:nvSpPr>
            <p:spPr>
              <a:xfrm>
                <a:off x="8812987" y="4396435"/>
                <a:ext cx="186538" cy="38405"/>
              </a:xfrm>
              <a:prstGeom prst="rect">
                <a:avLst/>
              </a:prstGeom>
              <a:solidFill>
                <a:srgbClr val="9AA0A6"/>
              </a:solidFill>
              <a:ln>
                <a:noFill/>
              </a:ln>
            </p:spPr>
            <p:txBody>
              <a:bodyPr rtlCol="0" anchor="ctr"/>
              <a:lstStyle/>
              <a:p>
                <a:pPr algn="ctr"/>
              </a:p>
            </p:txBody>
          </p:sp>
          <p:sp>
            <p:nvSpPr>
              <p:cNvPr id="98" name="Rectangle 97"/>
              <p:cNvSpPr/>
              <p:nvPr/>
            </p:nvSpPr>
            <p:spPr>
              <a:xfrm>
                <a:off x="8873338" y="3831336"/>
                <a:ext cx="65837" cy="603504"/>
              </a:xfrm>
              <a:prstGeom prst="rect">
                <a:avLst/>
              </a:prstGeom>
              <a:solidFill>
                <a:srgbClr val="E8E8E8"/>
              </a:solidFill>
              <a:ln>
                <a:noFill/>
              </a:ln>
            </p:spPr>
            <p:txBody>
              <a:bodyPr rtlCol="0" anchor="ctr"/>
              <a:lstStyle/>
              <a:p>
                <a:pPr algn="ctr"/>
              </a:p>
            </p:txBody>
          </p:sp>
          <p:sp>
            <p:nvSpPr>
              <p:cNvPr id="99" name="Oval 98"/>
              <p:cNvSpPr/>
              <p:nvPr/>
            </p:nvSpPr>
            <p:spPr>
              <a:xfrm>
                <a:off x="8867851" y="3770986"/>
                <a:ext cx="76810" cy="76810"/>
              </a:xfrm>
              <a:prstGeom prst="ellipse">
                <a:avLst/>
              </a:prstGeom>
              <a:solidFill>
                <a:srgbClr val="E8E8E8"/>
              </a:solidFill>
              <a:ln>
                <a:noFill/>
              </a:ln>
            </p:spPr>
            <p:txBody>
              <a:bodyPr rtlCol="0" anchor="ctr"/>
              <a:lstStyle/>
              <a:p>
                <a:pPr algn="ctr"/>
              </a:p>
            </p:txBody>
          </p:sp>
          <p:sp>
            <p:nvSpPr>
              <p:cNvPr id="100" name="Freeform 99"/>
              <p:cNvSpPr/>
              <p:nvPr/>
            </p:nvSpPr>
            <p:spPr>
              <a:xfrm>
                <a:off x="8489290"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101" name="Freeform 100"/>
              <p:cNvSpPr/>
              <p:nvPr/>
            </p:nvSpPr>
            <p:spPr>
              <a:xfrm>
                <a:off x="8589142"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102" name="Oval 101"/>
              <p:cNvSpPr/>
              <p:nvPr/>
            </p:nvSpPr>
            <p:spPr>
              <a:xfrm>
                <a:off x="8952890" y="3910889"/>
                <a:ext cx="93269" cy="93269"/>
              </a:xfrm>
              <a:prstGeom prst="ellipse">
                <a:avLst/>
              </a:prstGeom>
              <a:solidFill>
                <a:srgbClr val="E5484D"/>
              </a:solidFill>
              <a:ln w="9525">
                <a:solidFill>
                  <a:srgbClr val="101418"/>
                </a:solidFill>
              </a:ln>
            </p:spPr>
            <p:txBody>
              <a:bodyPr rtlCol="0" anchor="ctr"/>
              <a:lstStyle/>
              <a:p>
                <a:pPr algn="ctr"/>
              </a:p>
            </p:txBody>
          </p:sp>
        </p:grpSp>
        <p:cxnSp>
          <p:nvCxnSpPr>
            <p:cNvPr id="103" name="Connector 102"/>
            <p:cNvCxnSpPr/>
            <p:nvPr/>
          </p:nvCxnSpPr>
          <p:spPr>
            <a:xfrm>
              <a:off x="8906256" y="4480560"/>
              <a:ext cx="0" cy="137160"/>
            </a:xfrm>
            <a:prstGeom prst="line">
              <a:avLst/>
            </a:prstGeom>
            <a:ln w="19050">
              <a:solidFill>
                <a:srgbClr val="A9B0B8"/>
              </a:solidFill>
            </a:ln>
          </p:spPr>
        </p:cxnSp>
        <p:sp>
          <p:nvSpPr>
            <p:cNvPr id="104" name="TextBox 103"/>
            <p:cNvSpPr txBox="1"/>
            <p:nvPr/>
          </p:nvSpPr>
          <p:spPr>
            <a:xfrm>
              <a:off x="8357616" y="4617720"/>
              <a:ext cx="1097280" cy="274320"/>
            </a:xfrm>
            <a:prstGeom prst="rect">
              <a:avLst/>
            </a:prstGeom>
            <a:noFill/>
          </p:spPr>
          <p:txBody>
            <a:bodyPr wrap="square" lIns="0" tIns="0" rIns="0" bIns="0" anchor="t">
              <a:noAutofit/>
            </a:bodyPr>
            <a:lstStyle/>
            <a:p>
              <a:pPr algn="ctr"/>
              <a:r>
                <a:rPr sz="1400" b="0" i="0" lang="en-GB">
                  <a:solidFill>
                    <a:srgbClr val="A9B0B8"/>
                  </a:solidFill>
                  <a:latin typeface="Arial"/>
                </a:rPr>
                <a:t>1,800 m</a:t>
              </a:r>
            </a:p>
          </p:txBody>
        </p:sp>
        <p:grpSp>
          <p:nvGrpSpPr>
            <p:cNvPr id="105" name="Signal stop" descr="Semaphore stop signal, arm flat: STOP."/>
            <p:cNvGrpSpPr/>
            <p:nvPr/>
          </p:nvGrpSpPr>
          <p:grpSpPr>
            <a:xfrm>
              <a:off x="10464394" y="3770986"/>
              <a:ext cx="556869" cy="663854"/>
              <a:chOff x="10464394" y="3770986"/>
              <a:chExt cx="556869" cy="663854"/>
            </a:xfrm>
          </p:grpSpPr>
          <p:sp>
            <p:nvSpPr>
              <p:cNvPr id="106" name="Rectangle 105"/>
              <p:cNvSpPr/>
              <p:nvPr/>
            </p:nvSpPr>
            <p:spPr>
              <a:xfrm>
                <a:off x="10788091" y="4396435"/>
                <a:ext cx="186538" cy="38405"/>
              </a:xfrm>
              <a:prstGeom prst="rect">
                <a:avLst/>
              </a:prstGeom>
              <a:solidFill>
                <a:srgbClr val="9AA0A6"/>
              </a:solidFill>
              <a:ln>
                <a:noFill/>
              </a:ln>
            </p:spPr>
            <p:txBody>
              <a:bodyPr rtlCol="0" anchor="ctr"/>
              <a:lstStyle/>
              <a:p>
                <a:pPr algn="ctr"/>
              </a:p>
            </p:txBody>
          </p:sp>
          <p:sp>
            <p:nvSpPr>
              <p:cNvPr id="107" name="Rectangle 106"/>
              <p:cNvSpPr/>
              <p:nvPr/>
            </p:nvSpPr>
            <p:spPr>
              <a:xfrm>
                <a:off x="10848442" y="3831336"/>
                <a:ext cx="65837" cy="603504"/>
              </a:xfrm>
              <a:prstGeom prst="rect">
                <a:avLst/>
              </a:prstGeom>
              <a:solidFill>
                <a:srgbClr val="E8E8E8"/>
              </a:solidFill>
              <a:ln>
                <a:noFill/>
              </a:ln>
            </p:spPr>
            <p:txBody>
              <a:bodyPr rtlCol="0" anchor="ctr"/>
              <a:lstStyle/>
              <a:p>
                <a:pPr algn="ctr"/>
              </a:p>
            </p:txBody>
          </p:sp>
          <p:sp>
            <p:nvSpPr>
              <p:cNvPr id="108" name="Oval 107"/>
              <p:cNvSpPr/>
              <p:nvPr/>
            </p:nvSpPr>
            <p:spPr>
              <a:xfrm>
                <a:off x="10842955" y="3770986"/>
                <a:ext cx="76810" cy="76810"/>
              </a:xfrm>
              <a:prstGeom prst="ellipse">
                <a:avLst/>
              </a:prstGeom>
              <a:solidFill>
                <a:srgbClr val="E8E8E8"/>
              </a:solidFill>
              <a:ln>
                <a:noFill/>
              </a:ln>
            </p:spPr>
            <p:txBody>
              <a:bodyPr rtlCol="0" anchor="ctr"/>
              <a:lstStyle/>
              <a:p>
                <a:pPr algn="ctr"/>
              </a:p>
            </p:txBody>
          </p:sp>
          <p:sp>
            <p:nvSpPr>
              <p:cNvPr id="109" name="Freeform 108"/>
              <p:cNvSpPr/>
              <p:nvPr/>
            </p:nvSpPr>
            <p:spPr>
              <a:xfrm>
                <a:off x="10464394"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p>
            </p:txBody>
          </p:sp>
          <p:sp>
            <p:nvSpPr>
              <p:cNvPr id="110" name="Freeform 109"/>
              <p:cNvSpPr/>
              <p:nvPr/>
            </p:nvSpPr>
            <p:spPr>
              <a:xfrm>
                <a:off x="10564246"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p>
            </p:txBody>
          </p:sp>
          <p:sp>
            <p:nvSpPr>
              <p:cNvPr id="111" name="Oval 110"/>
              <p:cNvSpPr/>
              <p:nvPr/>
            </p:nvSpPr>
            <p:spPr>
              <a:xfrm>
                <a:off x="10927994" y="3910889"/>
                <a:ext cx="93269" cy="93269"/>
              </a:xfrm>
              <a:prstGeom prst="ellipse">
                <a:avLst/>
              </a:prstGeom>
              <a:solidFill>
                <a:srgbClr val="E5484D"/>
              </a:solidFill>
              <a:ln w="9525">
                <a:solidFill>
                  <a:srgbClr val="101418"/>
                </a:solidFill>
              </a:ln>
            </p:spPr>
            <p:txBody>
              <a:bodyPr rtlCol="0" anchor="ctr"/>
              <a:lstStyle/>
              <a:p>
                <a:pPr algn="ctr"/>
              </a:p>
            </p:txBody>
          </p:sp>
        </p:grpSp>
        <p:cxnSp>
          <p:nvCxnSpPr>
            <p:cNvPr id="112" name="Connector 111"/>
            <p:cNvCxnSpPr/>
            <p:nvPr/>
          </p:nvCxnSpPr>
          <p:spPr>
            <a:xfrm>
              <a:off x="10881360" y="4480560"/>
              <a:ext cx="0" cy="137160"/>
            </a:xfrm>
            <a:prstGeom prst="line">
              <a:avLst/>
            </a:prstGeom>
            <a:ln w="19050">
              <a:solidFill>
                <a:srgbClr val="A9B0B8"/>
              </a:solidFill>
            </a:ln>
          </p:spPr>
        </p:cxnSp>
        <p:sp>
          <p:nvSpPr>
            <p:cNvPr id="113" name="TextBox 112"/>
            <p:cNvSpPr txBox="1"/>
            <p:nvPr/>
          </p:nvSpPr>
          <p:spPr>
            <a:xfrm>
              <a:off x="10332720" y="4617720"/>
              <a:ext cx="1097280" cy="274320"/>
            </a:xfrm>
            <a:prstGeom prst="rect">
              <a:avLst/>
            </a:prstGeom>
            <a:noFill/>
          </p:spPr>
          <p:txBody>
            <a:bodyPr wrap="square" lIns="0" tIns="0" rIns="0" bIns="0" anchor="t">
              <a:noAutofit/>
            </a:bodyPr>
            <a:lstStyle/>
            <a:p>
              <a:pPr algn="ctr"/>
              <a:r>
                <a:rPr sz="1400" b="0" i="0" lang="en-GB">
                  <a:solidFill>
                    <a:srgbClr val="A9B0B8"/>
                  </a:solidFill>
                  <a:latin typeface="Arial"/>
                </a:rPr>
                <a:t>2,250 m</a:t>
              </a:r>
            </a:p>
          </p:txBody>
        </p:sp>
      </p:grpSp>
      <p:sp>
        <p:nvSpPr>
          <p:cNvPr id="114" name="TextBox 113"/>
          <p:cNvSpPr txBox="1"/>
          <p:nvPr/>
        </p:nvSpPr>
        <p:spPr>
          <a:xfrm>
            <a:off x="548640" y="5074920"/>
            <a:ext cx="3657600" cy="329184"/>
          </a:xfrm>
          <a:prstGeom prst="rect">
            <a:avLst/>
          </a:prstGeom>
          <a:noFill/>
        </p:spPr>
        <p:txBody>
          <a:bodyPr wrap="square" lIns="0" tIns="0" rIns="0" bIns="0" anchor="ctr">
            <a:noAutofit/>
          </a:bodyPr>
          <a:lstStyle/>
          <a:p>
            <a:pPr algn="l"/>
            <a:r>
              <a:rPr sz="1600" b="0" i="0" lang="en-GB">
                <a:solidFill>
                  <a:srgbClr val="F2F2F2"/>
                </a:solidFill>
                <a:latin typeface="Arial"/>
              </a:rPr>
              <a:t>Block lengths and speed caps:</a:t>
            </a:r>
          </a:p>
        </p:txBody>
      </p:sp>
      <p:sp>
        <p:nvSpPr>
          <p:cNvPr id="115" name="Inline chip Undecided"/>
          <p:cNvSpPr/>
          <p:nvPr/>
        </p:nvSpPr>
        <p:spPr>
          <a:xfrm>
            <a:off x="3442097" y="5074920"/>
            <a:ext cx="2064980"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 (OQ03)</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Early signals have limits: short blocks, a speed cap and a limited number per box. Numbers are provisional.</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No wiring for you</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8" name="Inline chip Undecided"/>
          <p:cNvSpPr/>
          <p:nvPr/>
        </p:nvSpPr>
        <p:spPr>
          <a:xfrm>
            <a:off x="7681558" y="896112"/>
            <a:ext cx="396149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ROD OR WIRE LOOK: UNDECIDED (OQ04)</a:t>
            </a:r>
          </a:p>
        </p:txBody>
      </p:sp>
      <p:pic>
        <p:nvPicPr>
          <p:cNvPr id="9" name="Picture P16" descr="Pulleys, rods and wires of mechanical signal linkage beside the track at Williton station."/>
          <p:cNvPicPr>
            <a:picLocks noChangeAspect="1"/>
          </p:cNvPicPr>
          <p:nvPr/>
        </p:nvPicPr>
        <p:blipFill>
          <a:blip r:embed="rId2"/>
          <a:srcRect l="68" r="68"/>
          <a:stretch>
            <a:fillRect/>
          </a:stretch>
        </p:blipFill>
        <p:spPr>
          <a:xfrm>
            <a:off x="548640" y="1371600"/>
            <a:ext cx="4754880" cy="3172968"/>
          </a:xfrm>
          <a:prstGeom prst="roundRect">
            <a:avLst>
              <a:gd name="adj" fmla="val 2305"/>
            </a:avLst>
          </a:prstGeom>
        </p:spPr>
      </p:pic>
      <p:sp>
        <p:nvSpPr>
          <p:cNvPr id="10" name="Credit"/>
          <p:cNvSpPr txBox="1"/>
          <p:nvPr/>
        </p:nvSpPr>
        <p:spPr>
          <a:xfrm>
            <a:off x="548640" y="4572000"/>
            <a:ext cx="4754880" cy="182880"/>
          </a:xfrm>
          <a:prstGeom prst="rect">
            <a:avLst/>
          </a:prstGeom>
          <a:noFill/>
        </p:spPr>
        <p:txBody>
          <a:bodyPr wrap="square" lIns="0" tIns="0" rIns="0" bIns="0" anchor="t">
            <a:noAutofit/>
          </a:bodyPr>
          <a:lstStyle/>
          <a:p>
            <a:pPr algn="l"/>
            <a:r>
              <a:rPr sz="1000" b="0" i="0" lang="en-GB">
                <a:solidFill>
                  <a:srgbClr val="A9B0B8"/>
                </a:solidFill>
                <a:latin typeface="Arial"/>
              </a:rPr>
              <a:t>Photo: mattbuck (category), CC BY-SA 3.0, Wikimedia Commons.</a:t>
            </a:r>
          </a:p>
        </p:txBody>
      </p:sp>
      <p:grpSp>
        <p:nvGrpSpPr>
          <p:cNvPr id="11" name="Steps" descr="Three steps: place a signal on connected track; a box with room takes control; rods and wires draw themselves and update."/>
          <p:cNvGrpSpPr/>
          <p:nvPr/>
        </p:nvGrpSpPr>
        <p:grpSpPr>
          <a:xfrm>
            <a:off x="5669280" y="1417320"/>
            <a:ext cx="5971032" cy="2468880"/>
            <a:chOff x="5669280" y="1417320"/>
            <a:chExt cx="5971032" cy="2468880"/>
          </a:xfrm>
        </p:grpSpPr>
        <p:sp>
          <p:nvSpPr>
            <p:cNvPr id="12" name="Rounded Rectangle 11"/>
            <p:cNvSpPr/>
            <p:nvPr/>
          </p:nvSpPr>
          <p:spPr>
            <a:xfrm>
              <a:off x="5669280" y="1417320"/>
              <a:ext cx="5971032" cy="731520"/>
            </a:xfrm>
            <a:prstGeom prst="roundRect">
              <a:avLst>
                <a:gd name="adj" fmla="val 10000"/>
              </a:avLst>
            </a:prstGeom>
            <a:solidFill>
              <a:srgbClr val="2B2F36"/>
            </a:solidFill>
            <a:ln>
              <a:noFill/>
            </a:ln>
          </p:spPr>
          <p:txBody>
            <a:bodyPr rtlCol="0" anchor="ctr"/>
            <a:lstStyle/>
            <a:p>
              <a:pPr algn="ctr"/>
            </a:p>
          </p:txBody>
        </p:sp>
        <p:sp>
          <p:nvSpPr>
            <p:cNvPr id="13" name="Badge 1"/>
            <p:cNvSpPr/>
            <p:nvPr/>
          </p:nvSpPr>
          <p:spPr>
            <a:xfrm>
              <a:off x="5824728" y="1572768"/>
              <a:ext cx="420624" cy="420624"/>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1</a:t>
              </a:r>
            </a:p>
          </p:txBody>
        </p:sp>
        <p:sp>
          <p:nvSpPr>
            <p:cNvPr id="14" name="TextBox 13"/>
            <p:cNvSpPr txBox="1"/>
            <p:nvPr/>
          </p:nvSpPr>
          <p:spPr>
            <a:xfrm>
              <a:off x="6446520" y="1417320"/>
              <a:ext cx="5120640" cy="731520"/>
            </a:xfrm>
            <a:prstGeom prst="rect">
              <a:avLst/>
            </a:prstGeom>
            <a:noFill/>
          </p:spPr>
          <p:txBody>
            <a:bodyPr wrap="square" lIns="0" tIns="0" rIns="0" bIns="0" anchor="ctr">
              <a:noAutofit/>
            </a:bodyPr>
            <a:lstStyle/>
            <a:p>
              <a:pPr algn="l"/>
              <a:r>
                <a:rPr sz="2000" b="0" i="0" lang="en-GB">
                  <a:solidFill>
                    <a:srgbClr val="F2F2F2"/>
                  </a:solidFill>
                  <a:latin typeface="Arial"/>
                </a:rPr>
                <a:t>Place signals on connected track</a:t>
              </a:r>
            </a:p>
          </p:txBody>
        </p:sp>
        <p:sp>
          <p:nvSpPr>
            <p:cNvPr id="15" name="Rounded Rectangle 14"/>
            <p:cNvSpPr/>
            <p:nvPr/>
          </p:nvSpPr>
          <p:spPr>
            <a:xfrm>
              <a:off x="5669280" y="2286000"/>
              <a:ext cx="5971032" cy="731520"/>
            </a:xfrm>
            <a:prstGeom prst="roundRect">
              <a:avLst>
                <a:gd name="adj" fmla="val 10000"/>
              </a:avLst>
            </a:prstGeom>
            <a:solidFill>
              <a:srgbClr val="2B2F36"/>
            </a:solidFill>
            <a:ln>
              <a:noFill/>
            </a:ln>
          </p:spPr>
          <p:txBody>
            <a:bodyPr rtlCol="0" anchor="ctr"/>
            <a:lstStyle/>
            <a:p>
              <a:pPr algn="ctr"/>
            </a:p>
          </p:txBody>
        </p:sp>
        <p:sp>
          <p:nvSpPr>
            <p:cNvPr id="16" name="Badge 2"/>
            <p:cNvSpPr/>
            <p:nvPr/>
          </p:nvSpPr>
          <p:spPr>
            <a:xfrm>
              <a:off x="5824728" y="2441448"/>
              <a:ext cx="420624" cy="420624"/>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2</a:t>
              </a:r>
            </a:p>
          </p:txBody>
        </p:sp>
        <p:sp>
          <p:nvSpPr>
            <p:cNvPr id="17" name="TextBox 16"/>
            <p:cNvSpPr txBox="1"/>
            <p:nvPr/>
          </p:nvSpPr>
          <p:spPr>
            <a:xfrm>
              <a:off x="6446520" y="2286000"/>
              <a:ext cx="5120640" cy="731520"/>
            </a:xfrm>
            <a:prstGeom prst="rect">
              <a:avLst/>
            </a:prstGeom>
            <a:noFill/>
          </p:spPr>
          <p:txBody>
            <a:bodyPr wrap="square" lIns="0" tIns="0" rIns="0" bIns="0" anchor="ctr">
              <a:noAutofit/>
            </a:bodyPr>
            <a:lstStyle/>
            <a:p>
              <a:pPr algn="l"/>
              <a:r>
                <a:rPr sz="2000" b="0" i="0" lang="en-GB">
                  <a:solidFill>
                    <a:srgbClr val="F2F2F2"/>
                  </a:solidFill>
                  <a:latin typeface="Arial"/>
                </a:rPr>
                <a:t>A box with room takes control</a:t>
              </a:r>
            </a:p>
          </p:txBody>
        </p:sp>
        <p:sp>
          <p:nvSpPr>
            <p:cNvPr id="18" name="Rounded Rectangle 17"/>
            <p:cNvSpPr/>
            <p:nvPr/>
          </p:nvSpPr>
          <p:spPr>
            <a:xfrm>
              <a:off x="5669280" y="3154680"/>
              <a:ext cx="5971032" cy="731520"/>
            </a:xfrm>
            <a:prstGeom prst="roundRect">
              <a:avLst>
                <a:gd name="adj" fmla="val 10000"/>
              </a:avLst>
            </a:prstGeom>
            <a:solidFill>
              <a:srgbClr val="2B2F36"/>
            </a:solidFill>
            <a:ln>
              <a:noFill/>
            </a:ln>
          </p:spPr>
          <p:txBody>
            <a:bodyPr rtlCol="0" anchor="ctr"/>
            <a:lstStyle/>
            <a:p>
              <a:pPr algn="ctr"/>
            </a:p>
          </p:txBody>
        </p:sp>
        <p:sp>
          <p:nvSpPr>
            <p:cNvPr id="19" name="Badge 3"/>
            <p:cNvSpPr/>
            <p:nvPr/>
          </p:nvSpPr>
          <p:spPr>
            <a:xfrm>
              <a:off x="5824728" y="3310128"/>
              <a:ext cx="420624" cy="420624"/>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3</a:t>
              </a:r>
            </a:p>
          </p:txBody>
        </p:sp>
        <p:sp>
          <p:nvSpPr>
            <p:cNvPr id="20" name="TextBox 19"/>
            <p:cNvSpPr txBox="1"/>
            <p:nvPr/>
          </p:nvSpPr>
          <p:spPr>
            <a:xfrm>
              <a:off x="6446520" y="3154680"/>
              <a:ext cx="5120640" cy="731520"/>
            </a:xfrm>
            <a:prstGeom prst="rect">
              <a:avLst/>
            </a:prstGeom>
            <a:noFill/>
          </p:spPr>
          <p:txBody>
            <a:bodyPr wrap="square" lIns="0" tIns="0" rIns="0" bIns="0" anchor="ctr">
              <a:noAutofit/>
            </a:bodyPr>
            <a:lstStyle/>
            <a:p>
              <a:pPr algn="l"/>
              <a:r>
                <a:rPr sz="2000" b="0" i="0" lang="en-GB">
                  <a:solidFill>
                    <a:srgbClr val="F2F2F2"/>
                  </a:solidFill>
                  <a:latin typeface="Arial"/>
                </a:rPr>
                <a:t>Rods and wires draw themselves</a:t>
              </a:r>
            </a:p>
          </p:txBody>
        </p:sp>
      </p:grpSp>
      <p:grpSp>
        <p:nvGrpSpPr>
          <p:cNvPr id="21" name="Box screen" descr="The box screen lists its signals, their state, capacity and reach."/>
          <p:cNvGrpSpPr/>
          <p:nvPr/>
        </p:nvGrpSpPr>
        <p:grpSpPr>
          <a:xfrm>
            <a:off x="5760720" y="4069080"/>
            <a:ext cx="5806440" cy="612648"/>
            <a:chOff x="5760720" y="4069080"/>
            <a:chExt cx="5806440" cy="612648"/>
          </a:xfrm>
        </p:grpSpPr>
        <p:sp>
          <p:nvSpPr>
            <p:cNvPr id="22" name="Rounded Rectangle 21"/>
            <p:cNvSpPr/>
            <p:nvPr/>
          </p:nvSpPr>
          <p:spPr>
            <a:xfrm>
              <a:off x="5760720" y="4114800"/>
              <a:ext cx="685800" cy="475488"/>
            </a:xfrm>
            <a:prstGeom prst="roundRect">
              <a:avLst>
                <a:gd name="adj" fmla="val 7692"/>
              </a:avLst>
            </a:prstGeom>
            <a:solidFill>
              <a:srgbClr val="343A43"/>
            </a:solidFill>
            <a:ln w="19050">
              <a:solidFill>
                <a:srgbClr val="9AA0A6"/>
              </a:solidFill>
            </a:ln>
          </p:spPr>
          <p:txBody>
            <a:bodyPr rtlCol="0" anchor="ctr"/>
            <a:lstStyle/>
            <a:p>
              <a:pPr algn="ctr"/>
            </a:p>
          </p:txBody>
        </p:sp>
        <p:sp>
          <p:nvSpPr>
            <p:cNvPr id="23" name="Rectangle 22"/>
            <p:cNvSpPr/>
            <p:nvPr/>
          </p:nvSpPr>
          <p:spPr>
            <a:xfrm>
              <a:off x="5852160" y="4187952"/>
              <a:ext cx="502920" cy="54864"/>
            </a:xfrm>
            <a:prstGeom prst="rect">
              <a:avLst/>
            </a:prstGeom>
            <a:solidFill>
              <a:srgbClr val="F28C28"/>
            </a:solidFill>
            <a:ln>
              <a:noFill/>
            </a:ln>
          </p:spPr>
          <p:txBody>
            <a:bodyPr rtlCol="0" anchor="ctr"/>
            <a:lstStyle/>
            <a:p>
              <a:pPr algn="ctr"/>
            </a:p>
          </p:txBody>
        </p:sp>
        <p:sp>
          <p:nvSpPr>
            <p:cNvPr id="24" name="Rectangle 23"/>
            <p:cNvSpPr/>
            <p:nvPr/>
          </p:nvSpPr>
          <p:spPr>
            <a:xfrm>
              <a:off x="5852160" y="4306824"/>
              <a:ext cx="502920" cy="54864"/>
            </a:xfrm>
            <a:prstGeom prst="rect">
              <a:avLst/>
            </a:prstGeom>
            <a:solidFill>
              <a:srgbClr val="9AA0A6"/>
            </a:solidFill>
            <a:ln>
              <a:noFill/>
            </a:ln>
          </p:spPr>
          <p:txBody>
            <a:bodyPr rtlCol="0" anchor="ctr"/>
            <a:lstStyle/>
            <a:p>
              <a:pPr algn="ctr"/>
            </a:p>
          </p:txBody>
        </p:sp>
        <p:sp>
          <p:nvSpPr>
            <p:cNvPr id="25" name="Rectangle 24"/>
            <p:cNvSpPr/>
            <p:nvPr/>
          </p:nvSpPr>
          <p:spPr>
            <a:xfrm>
              <a:off x="5852160" y="4425696"/>
              <a:ext cx="502920" cy="54864"/>
            </a:xfrm>
            <a:prstGeom prst="rect">
              <a:avLst/>
            </a:prstGeom>
            <a:solidFill>
              <a:srgbClr val="9AA0A6"/>
            </a:solidFill>
            <a:ln>
              <a:noFill/>
            </a:ln>
          </p:spPr>
          <p:txBody>
            <a:bodyPr rtlCol="0" anchor="ctr"/>
            <a:lstStyle/>
            <a:p>
              <a:pPr algn="ctr"/>
            </a:p>
          </p:txBody>
        </p:sp>
        <p:sp>
          <p:nvSpPr>
            <p:cNvPr id="26" name="Rectangle 25"/>
            <p:cNvSpPr/>
            <p:nvPr/>
          </p:nvSpPr>
          <p:spPr>
            <a:xfrm>
              <a:off x="6035040" y="4590288"/>
              <a:ext cx="137160" cy="91440"/>
            </a:xfrm>
            <a:prstGeom prst="rect">
              <a:avLst/>
            </a:prstGeom>
            <a:solidFill>
              <a:srgbClr val="9AA0A6"/>
            </a:solidFill>
            <a:ln>
              <a:noFill/>
            </a:ln>
          </p:spPr>
          <p:txBody>
            <a:bodyPr rtlCol="0" anchor="ctr"/>
            <a:lstStyle/>
            <a:p>
              <a:pPr algn="ctr"/>
            </a:p>
          </p:txBody>
        </p:sp>
        <p:sp>
          <p:nvSpPr>
            <p:cNvPr id="27" name="TextBox 26"/>
            <p:cNvSpPr txBox="1"/>
            <p:nvPr/>
          </p:nvSpPr>
          <p:spPr>
            <a:xfrm>
              <a:off x="6629400" y="4069080"/>
              <a:ext cx="4937760" cy="566928"/>
            </a:xfrm>
            <a:prstGeom prst="rect">
              <a:avLst/>
            </a:prstGeom>
            <a:noFill/>
          </p:spPr>
          <p:txBody>
            <a:bodyPr wrap="square" lIns="0" tIns="0" rIns="0" bIns="0" anchor="ctr">
              <a:noAutofit/>
            </a:bodyPr>
            <a:lstStyle/>
            <a:p>
              <a:pPr algn="l"/>
              <a:r>
                <a:rPr sz="1800" b="0" i="0" lang="en-GB">
                  <a:solidFill>
                    <a:srgbClr val="F2F2F2"/>
                  </a:solidFill>
                  <a:latin typeface="Arial"/>
                </a:rPr>
                <a:t>Box screen: signals, state, capacity, reach.</a:t>
              </a:r>
            </a:p>
          </p:txBody>
        </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Boxes take control of connected signals automatically. Rods and wires are drawn for you, as a visual layer.</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Later signals and manual control</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Signal timeline" descr="Timeline: start with semaphore blocks (agreed); later, better semaphores or interlocking (proposed); mature, electronic signals like vanilla (proposed)."/>
          <p:cNvGrpSpPr/>
          <p:nvPr/>
        </p:nvGrpSpPr>
        <p:grpSpPr>
          <a:xfrm>
            <a:off x="768096" y="1554480"/>
            <a:ext cx="5907024" cy="3346704"/>
            <a:chOff x="768096" y="1554480"/>
            <a:chExt cx="5907024" cy="3346704"/>
          </a:xfrm>
        </p:grpSpPr>
        <p:cxnSp>
          <p:nvCxnSpPr>
            <p:cNvPr id="9" name="Connector 8"/>
            <p:cNvCxnSpPr/>
            <p:nvPr/>
          </p:nvCxnSpPr>
          <p:spPr>
            <a:xfrm>
              <a:off x="960120" y="1783080"/>
              <a:ext cx="0" cy="2560320"/>
            </a:xfrm>
            <a:prstGeom prst="line">
              <a:avLst/>
            </a:prstGeom>
            <a:ln w="38100">
              <a:solidFill>
                <a:srgbClr val="9AA0A6"/>
              </a:solidFill>
            </a:ln>
          </p:spPr>
        </p:cxnSp>
        <p:sp>
          <p:nvSpPr>
            <p:cNvPr id="10" name="Oval 9"/>
            <p:cNvSpPr/>
            <p:nvPr/>
          </p:nvSpPr>
          <p:spPr>
            <a:xfrm>
              <a:off x="768096" y="1591056"/>
              <a:ext cx="384048" cy="384048"/>
            </a:xfrm>
            <a:prstGeom prst="ellipse">
              <a:avLst/>
            </a:prstGeom>
            <a:solidFill>
              <a:srgbClr val="F28C28"/>
            </a:solidFill>
            <a:ln w="38100">
              <a:solidFill>
                <a:srgbClr val="F28C28"/>
              </a:solidFill>
            </a:ln>
          </p:spPr>
          <p:txBody>
            <a:bodyPr rtlCol="0" anchor="ctr"/>
            <a:lstStyle/>
            <a:p>
              <a:pPr algn="ctr"/>
            </a:p>
          </p:txBody>
        </p:sp>
        <p:sp>
          <p:nvSpPr>
            <p:cNvPr id="11" name="TextBox 10"/>
            <p:cNvSpPr txBox="1"/>
            <p:nvPr/>
          </p:nvSpPr>
          <p:spPr>
            <a:xfrm>
              <a:off x="1371600" y="1554480"/>
              <a:ext cx="5303520" cy="411480"/>
            </a:xfrm>
            <a:prstGeom prst="rect">
              <a:avLst/>
            </a:prstGeom>
            <a:noFill/>
          </p:spPr>
          <p:txBody>
            <a:bodyPr wrap="square" lIns="0" tIns="0" rIns="0" bIns="0" anchor="ctr">
              <a:noAutofit/>
            </a:bodyPr>
            <a:lstStyle/>
            <a:p>
              <a:pPr algn="l"/>
              <a:r>
                <a:rPr sz="2000" b="0" i="0" lang="en-GB">
                  <a:solidFill>
                    <a:srgbClr val="F2F2F2"/>
                  </a:solidFill>
                  <a:latin typeface="Arial"/>
                </a:rPr>
                <a:t>Start: semaphore blocks</a:t>
              </a:r>
            </a:p>
          </p:txBody>
        </p:sp>
        <p:sp>
          <p:nvSpPr>
            <p:cNvPr id="12" name="Inline chip Agreed"/>
            <p:cNvSpPr/>
            <p:nvPr/>
          </p:nvSpPr>
          <p:spPr>
            <a:xfrm>
              <a:off x="1371600" y="2011680"/>
              <a:ext cx="112647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13" name="Oval 12"/>
            <p:cNvSpPr/>
            <p:nvPr/>
          </p:nvSpPr>
          <p:spPr>
            <a:xfrm>
              <a:off x="768096" y="2871216"/>
              <a:ext cx="384048" cy="384048"/>
            </a:xfrm>
            <a:prstGeom prst="ellipse">
              <a:avLst/>
            </a:prstGeom>
            <a:solidFill>
              <a:srgbClr val="1E2126"/>
            </a:solidFill>
            <a:ln w="38100">
              <a:solidFill>
                <a:srgbClr val="F28C28"/>
              </a:solidFill>
            </a:ln>
          </p:spPr>
          <p:txBody>
            <a:bodyPr rtlCol="0" anchor="ctr"/>
            <a:lstStyle/>
            <a:p>
              <a:pPr algn="ctr"/>
            </a:p>
          </p:txBody>
        </p:sp>
        <p:sp>
          <p:nvSpPr>
            <p:cNvPr id="14" name="TextBox 13"/>
            <p:cNvSpPr txBox="1"/>
            <p:nvPr/>
          </p:nvSpPr>
          <p:spPr>
            <a:xfrm>
              <a:off x="1371600" y="2834640"/>
              <a:ext cx="5303520" cy="411480"/>
            </a:xfrm>
            <a:prstGeom prst="rect">
              <a:avLst/>
            </a:prstGeom>
            <a:noFill/>
          </p:spPr>
          <p:txBody>
            <a:bodyPr wrap="square" lIns="0" tIns="0" rIns="0" bIns="0" anchor="ctr">
              <a:noAutofit/>
            </a:bodyPr>
            <a:lstStyle/>
            <a:p>
              <a:pPr algn="l"/>
              <a:r>
                <a:rPr sz="2000" b="0" i="0" lang="en-GB">
                  <a:solidFill>
                    <a:srgbClr val="F2F2F2"/>
                  </a:solidFill>
                  <a:latin typeface="Arial"/>
                </a:rPr>
                <a:t>Later: better semaphore or interlocking</a:t>
              </a:r>
            </a:p>
          </p:txBody>
        </p:sp>
        <p:sp>
          <p:nvSpPr>
            <p:cNvPr id="15" name="Inline chip Proposed"/>
            <p:cNvSpPr/>
            <p:nvPr/>
          </p:nvSpPr>
          <p:spPr>
            <a:xfrm>
              <a:off x="1371600" y="32918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16" name="Oval 15"/>
            <p:cNvSpPr/>
            <p:nvPr/>
          </p:nvSpPr>
          <p:spPr>
            <a:xfrm>
              <a:off x="768096" y="4151376"/>
              <a:ext cx="384048" cy="384048"/>
            </a:xfrm>
            <a:prstGeom prst="ellipse">
              <a:avLst/>
            </a:prstGeom>
            <a:solidFill>
              <a:srgbClr val="1E2126"/>
            </a:solidFill>
            <a:ln w="38100">
              <a:solidFill>
                <a:srgbClr val="F28C28"/>
              </a:solidFill>
            </a:ln>
          </p:spPr>
          <p:txBody>
            <a:bodyPr rtlCol="0" anchor="ctr"/>
            <a:lstStyle/>
            <a:p>
              <a:pPr algn="ctr"/>
            </a:p>
          </p:txBody>
        </p:sp>
        <p:sp>
          <p:nvSpPr>
            <p:cNvPr id="17" name="TextBox 16"/>
            <p:cNvSpPr txBox="1"/>
            <p:nvPr/>
          </p:nvSpPr>
          <p:spPr>
            <a:xfrm>
              <a:off x="1371600" y="4114800"/>
              <a:ext cx="5303520" cy="411480"/>
            </a:xfrm>
            <a:prstGeom prst="rect">
              <a:avLst/>
            </a:prstGeom>
            <a:noFill/>
          </p:spPr>
          <p:txBody>
            <a:bodyPr wrap="square" lIns="0" tIns="0" rIns="0" bIns="0" anchor="ctr">
              <a:noAutofit/>
            </a:bodyPr>
            <a:lstStyle/>
            <a:p>
              <a:pPr algn="l"/>
              <a:r>
                <a:rPr sz="2000" b="0" i="0" lang="en-GB">
                  <a:solidFill>
                    <a:srgbClr val="F2F2F2"/>
                  </a:solidFill>
                  <a:latin typeface="Arial"/>
                </a:rPr>
                <a:t>Mature: electronic signals like vanilla</a:t>
              </a:r>
            </a:p>
          </p:txBody>
        </p:sp>
        <p:sp>
          <p:nvSpPr>
            <p:cNvPr id="18" name="Inline chip Proposed"/>
            <p:cNvSpPr/>
            <p:nvPr/>
          </p:nvSpPr>
          <p:spPr>
            <a:xfrm>
              <a:off x="1371600" y="457200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grpSp>
        <p:nvGrpSpPr>
          <p:cNvPr id="19" name="Track diagram panel" descr="A dark track-diagram panel with mode buttons AUTO, YARD and MAINLINE. Lines and nodes show the network; the chosen route is bright orange and the other routes are grey."/>
          <p:cNvGrpSpPr/>
          <p:nvPr/>
        </p:nvGrpSpPr>
        <p:grpSpPr>
          <a:xfrm>
            <a:off x="7616952" y="1325880"/>
            <a:ext cx="4023360" cy="3017520"/>
            <a:chOff x="7616952" y="1325880"/>
            <a:chExt cx="4023360" cy="3017520"/>
          </a:xfrm>
        </p:grpSpPr>
        <p:sp>
          <p:nvSpPr>
            <p:cNvPr id="20" name="Rounded Rectangle 19"/>
            <p:cNvSpPr/>
            <p:nvPr/>
          </p:nvSpPr>
          <p:spPr>
            <a:xfrm>
              <a:off x="7616952" y="1325880"/>
              <a:ext cx="4023360" cy="3017520"/>
            </a:xfrm>
            <a:prstGeom prst="roundRect">
              <a:avLst>
                <a:gd name="adj" fmla="val 3636"/>
              </a:avLst>
            </a:prstGeom>
            <a:solidFill>
              <a:srgbClr val="1B1D21"/>
            </a:solidFill>
            <a:ln w="19050">
              <a:solidFill>
                <a:srgbClr val="9AA0A6"/>
              </a:solidFill>
            </a:ln>
          </p:spPr>
          <p:txBody>
            <a:bodyPr rtlCol="0" anchor="ctr"/>
            <a:lstStyle/>
            <a:p>
              <a:pPr algn="ctr"/>
            </a:p>
          </p:txBody>
        </p:sp>
        <p:sp>
          <p:nvSpPr>
            <p:cNvPr id="21" name="Rounded Rectangle 20"/>
            <p:cNvSpPr/>
            <p:nvPr/>
          </p:nvSpPr>
          <p:spPr>
            <a:xfrm>
              <a:off x="7845552" y="1508760"/>
              <a:ext cx="866219" cy="329184"/>
            </a:xfrm>
            <a:prstGeom prst="roundRect">
              <a:avLst>
                <a:gd name="adj" fmla="val 50000"/>
              </a:avLst>
            </a:prstGeom>
            <a:solidFill>
              <a:srgbClr val="343A43"/>
            </a:solidFill>
            <a:ln w="19050">
              <a:solidFill>
                <a:srgbClr val="9AA0A6"/>
              </a:solidFill>
            </a:ln>
          </p:spPr>
          <p:txBody>
            <a:bodyPr rtlCol="0" anchor="ctr" wrap="square" lIns="54864" tIns="18288" rIns="54864" bIns="18288">
              <a:noAutofit/>
            </a:bodyPr>
            <a:lstStyle/>
            <a:p>
              <a:pPr algn="ctr"/>
              <a:r>
                <a:rPr sz="1400" b="1" i="0" lang="en-GB">
                  <a:solidFill>
                    <a:srgbClr val="F2F2F2"/>
                  </a:solidFill>
                  <a:latin typeface="Arial"/>
                </a:rPr>
                <a:t>AUTO</a:t>
              </a:r>
            </a:p>
          </p:txBody>
        </p:sp>
        <p:sp>
          <p:nvSpPr>
            <p:cNvPr id="22" name="Rounded Rectangle 21"/>
            <p:cNvSpPr/>
            <p:nvPr/>
          </p:nvSpPr>
          <p:spPr>
            <a:xfrm>
              <a:off x="8821499" y="1508760"/>
              <a:ext cx="853222" cy="329184"/>
            </a:xfrm>
            <a:prstGeom prst="roundRect">
              <a:avLst>
                <a:gd name="adj" fmla="val 50000"/>
              </a:avLst>
            </a:prstGeom>
            <a:solidFill>
              <a:srgbClr val="343A43"/>
            </a:solidFill>
            <a:ln w="19050">
              <a:solidFill>
                <a:srgbClr val="9AA0A6"/>
              </a:solidFill>
            </a:ln>
          </p:spPr>
          <p:txBody>
            <a:bodyPr rtlCol="0" anchor="ctr" wrap="square" lIns="54864" tIns="18288" rIns="54864" bIns="18288">
              <a:noAutofit/>
            </a:bodyPr>
            <a:lstStyle/>
            <a:p>
              <a:pPr algn="ctr"/>
              <a:r>
                <a:rPr sz="1400" b="1" i="0" lang="en-GB">
                  <a:solidFill>
                    <a:srgbClr val="F2F2F2"/>
                  </a:solidFill>
                  <a:latin typeface="Arial"/>
                </a:rPr>
                <a:t>YARD</a:t>
              </a:r>
            </a:p>
          </p:txBody>
        </p:sp>
        <p:sp>
          <p:nvSpPr>
            <p:cNvPr id="23" name="Rounded Rectangle 22"/>
            <p:cNvSpPr/>
            <p:nvPr/>
          </p:nvSpPr>
          <p:spPr>
            <a:xfrm>
              <a:off x="9784449" y="1508760"/>
              <a:ext cx="1225094" cy="329184"/>
            </a:xfrm>
            <a:prstGeom prst="roundRect">
              <a:avLst>
                <a:gd name="adj" fmla="val 50000"/>
              </a:avLst>
            </a:prstGeom>
            <a:solidFill>
              <a:srgbClr val="343A43"/>
            </a:solidFill>
            <a:ln w="19050">
              <a:solidFill>
                <a:srgbClr val="9AA0A6"/>
              </a:solidFill>
            </a:ln>
          </p:spPr>
          <p:txBody>
            <a:bodyPr rtlCol="0" anchor="ctr" wrap="square" lIns="54864" tIns="18288" rIns="54864" bIns="18288">
              <a:noAutofit/>
            </a:bodyPr>
            <a:lstStyle/>
            <a:p>
              <a:pPr algn="ctr"/>
              <a:r>
                <a:rPr sz="1400" b="1" i="0" lang="en-GB">
                  <a:solidFill>
                    <a:srgbClr val="F2F2F2"/>
                  </a:solidFill>
                  <a:latin typeface="Arial"/>
                </a:rPr>
                <a:t>MAINLINE</a:t>
              </a:r>
            </a:p>
          </p:txBody>
        </p:sp>
        <p:cxnSp>
          <p:nvCxnSpPr>
            <p:cNvPr id="24" name="Connector 23"/>
            <p:cNvCxnSpPr/>
            <p:nvPr/>
          </p:nvCxnSpPr>
          <p:spPr>
            <a:xfrm>
              <a:off x="9034272" y="3154680"/>
              <a:ext cx="1097280" cy="0"/>
            </a:xfrm>
            <a:prstGeom prst="line">
              <a:avLst/>
            </a:prstGeom>
            <a:ln w="63500">
              <a:solidFill>
                <a:srgbClr val="4A515B"/>
              </a:solidFill>
            </a:ln>
          </p:spPr>
        </p:cxnSp>
        <p:cxnSp>
          <p:nvCxnSpPr>
            <p:cNvPr id="25" name="Connector 24"/>
            <p:cNvCxnSpPr/>
            <p:nvPr/>
          </p:nvCxnSpPr>
          <p:spPr>
            <a:xfrm>
              <a:off x="10131552" y="3154680"/>
              <a:ext cx="1097280" cy="0"/>
            </a:xfrm>
            <a:prstGeom prst="line">
              <a:avLst/>
            </a:prstGeom>
            <a:ln w="63500">
              <a:solidFill>
                <a:srgbClr val="4A515B"/>
              </a:solidFill>
            </a:ln>
          </p:spPr>
        </p:cxnSp>
        <p:cxnSp>
          <p:nvCxnSpPr>
            <p:cNvPr id="26" name="Connector 25"/>
            <p:cNvCxnSpPr/>
            <p:nvPr/>
          </p:nvCxnSpPr>
          <p:spPr>
            <a:xfrm>
              <a:off x="10131552" y="3154680"/>
              <a:ext cx="1097280" cy="731520"/>
            </a:xfrm>
            <a:prstGeom prst="line">
              <a:avLst/>
            </a:prstGeom>
            <a:ln w="63500">
              <a:solidFill>
                <a:srgbClr val="4A515B"/>
              </a:solidFill>
            </a:ln>
          </p:spPr>
        </p:cxnSp>
        <p:cxnSp>
          <p:nvCxnSpPr>
            <p:cNvPr id="27" name="Connector 26"/>
            <p:cNvCxnSpPr/>
            <p:nvPr/>
          </p:nvCxnSpPr>
          <p:spPr>
            <a:xfrm>
              <a:off x="8028432" y="3154680"/>
              <a:ext cx="1005840" cy="0"/>
            </a:xfrm>
            <a:prstGeom prst="line">
              <a:avLst/>
            </a:prstGeom>
            <a:ln w="76200">
              <a:solidFill>
                <a:srgbClr val="F28C28"/>
              </a:solidFill>
            </a:ln>
          </p:spPr>
        </p:cxnSp>
        <p:cxnSp>
          <p:nvCxnSpPr>
            <p:cNvPr id="28" name="Connector 27"/>
            <p:cNvCxnSpPr/>
            <p:nvPr/>
          </p:nvCxnSpPr>
          <p:spPr>
            <a:xfrm flipV="1">
              <a:off x="9034272" y="2423160"/>
              <a:ext cx="1097280" cy="731520"/>
            </a:xfrm>
            <a:prstGeom prst="line">
              <a:avLst/>
            </a:prstGeom>
            <a:ln w="76200">
              <a:solidFill>
                <a:srgbClr val="F28C28"/>
              </a:solidFill>
            </a:ln>
          </p:spPr>
        </p:cxnSp>
        <p:cxnSp>
          <p:nvCxnSpPr>
            <p:cNvPr id="29" name="Connector 28"/>
            <p:cNvCxnSpPr/>
            <p:nvPr/>
          </p:nvCxnSpPr>
          <p:spPr>
            <a:xfrm>
              <a:off x="10131552" y="2423160"/>
              <a:ext cx="1097280" cy="0"/>
            </a:xfrm>
            <a:prstGeom prst="line">
              <a:avLst/>
            </a:prstGeom>
            <a:ln w="76200">
              <a:solidFill>
                <a:srgbClr val="F28C28"/>
              </a:solidFill>
            </a:ln>
          </p:spPr>
        </p:cxnSp>
        <p:sp>
          <p:nvSpPr>
            <p:cNvPr id="30" name="Oval 29"/>
            <p:cNvSpPr/>
            <p:nvPr/>
          </p:nvSpPr>
          <p:spPr>
            <a:xfrm>
              <a:off x="7918704" y="3044952"/>
              <a:ext cx="219456" cy="219456"/>
            </a:xfrm>
            <a:prstGeom prst="ellipse">
              <a:avLst/>
            </a:prstGeom>
            <a:solidFill>
              <a:srgbClr val="F2F2F2"/>
            </a:solidFill>
            <a:ln w="12700">
              <a:solidFill>
                <a:srgbClr val="1B1D21"/>
              </a:solidFill>
            </a:ln>
          </p:spPr>
          <p:txBody>
            <a:bodyPr rtlCol="0" anchor="ctr"/>
            <a:lstStyle/>
            <a:p>
              <a:pPr algn="ctr"/>
            </a:p>
          </p:txBody>
        </p:sp>
        <p:sp>
          <p:nvSpPr>
            <p:cNvPr id="31" name="Oval 30"/>
            <p:cNvSpPr/>
            <p:nvPr/>
          </p:nvSpPr>
          <p:spPr>
            <a:xfrm>
              <a:off x="8924544" y="3044952"/>
              <a:ext cx="219456" cy="219456"/>
            </a:xfrm>
            <a:prstGeom prst="ellipse">
              <a:avLst/>
            </a:prstGeom>
            <a:solidFill>
              <a:srgbClr val="F2F2F2"/>
            </a:solidFill>
            <a:ln w="12700">
              <a:solidFill>
                <a:srgbClr val="1B1D21"/>
              </a:solidFill>
            </a:ln>
          </p:spPr>
          <p:txBody>
            <a:bodyPr rtlCol="0" anchor="ctr"/>
            <a:lstStyle/>
            <a:p>
              <a:pPr algn="ctr"/>
            </a:p>
          </p:txBody>
        </p:sp>
        <p:sp>
          <p:nvSpPr>
            <p:cNvPr id="32" name="Oval 31"/>
            <p:cNvSpPr/>
            <p:nvPr/>
          </p:nvSpPr>
          <p:spPr>
            <a:xfrm>
              <a:off x="10021824" y="2313432"/>
              <a:ext cx="219456" cy="219456"/>
            </a:xfrm>
            <a:prstGeom prst="ellipse">
              <a:avLst/>
            </a:prstGeom>
            <a:solidFill>
              <a:srgbClr val="F2F2F2"/>
            </a:solidFill>
            <a:ln w="12700">
              <a:solidFill>
                <a:srgbClr val="1B1D21"/>
              </a:solidFill>
            </a:ln>
          </p:spPr>
          <p:txBody>
            <a:bodyPr rtlCol="0" anchor="ctr"/>
            <a:lstStyle/>
            <a:p>
              <a:pPr algn="ctr"/>
            </a:p>
          </p:txBody>
        </p:sp>
        <p:sp>
          <p:nvSpPr>
            <p:cNvPr id="33" name="Oval 32"/>
            <p:cNvSpPr/>
            <p:nvPr/>
          </p:nvSpPr>
          <p:spPr>
            <a:xfrm>
              <a:off x="11119104" y="2313432"/>
              <a:ext cx="219456" cy="219456"/>
            </a:xfrm>
            <a:prstGeom prst="ellipse">
              <a:avLst/>
            </a:prstGeom>
            <a:solidFill>
              <a:srgbClr val="F2F2F2"/>
            </a:solidFill>
            <a:ln w="12700">
              <a:solidFill>
                <a:srgbClr val="1B1D21"/>
              </a:solidFill>
            </a:ln>
          </p:spPr>
          <p:txBody>
            <a:bodyPr rtlCol="0" anchor="ctr"/>
            <a:lstStyle/>
            <a:p>
              <a:pPr algn="ctr"/>
            </a:p>
          </p:txBody>
        </p:sp>
        <p:sp>
          <p:nvSpPr>
            <p:cNvPr id="34" name="Oval 33"/>
            <p:cNvSpPr/>
            <p:nvPr/>
          </p:nvSpPr>
          <p:spPr>
            <a:xfrm>
              <a:off x="10021824" y="3044952"/>
              <a:ext cx="219456" cy="219456"/>
            </a:xfrm>
            <a:prstGeom prst="ellipse">
              <a:avLst/>
            </a:prstGeom>
            <a:solidFill>
              <a:srgbClr val="F2F2F2"/>
            </a:solidFill>
            <a:ln w="12700">
              <a:solidFill>
                <a:srgbClr val="1B1D21"/>
              </a:solidFill>
            </a:ln>
          </p:spPr>
          <p:txBody>
            <a:bodyPr rtlCol="0" anchor="ctr"/>
            <a:lstStyle/>
            <a:p>
              <a:pPr algn="ctr"/>
            </a:p>
          </p:txBody>
        </p:sp>
        <p:sp>
          <p:nvSpPr>
            <p:cNvPr id="35" name="Oval 34"/>
            <p:cNvSpPr/>
            <p:nvPr/>
          </p:nvSpPr>
          <p:spPr>
            <a:xfrm>
              <a:off x="11119104" y="3044952"/>
              <a:ext cx="219456" cy="219456"/>
            </a:xfrm>
            <a:prstGeom prst="ellipse">
              <a:avLst/>
            </a:prstGeom>
            <a:solidFill>
              <a:srgbClr val="F2F2F2"/>
            </a:solidFill>
            <a:ln w="12700">
              <a:solidFill>
                <a:srgbClr val="1B1D21"/>
              </a:solidFill>
            </a:ln>
          </p:spPr>
          <p:txBody>
            <a:bodyPr rtlCol="0" anchor="ctr"/>
            <a:lstStyle/>
            <a:p>
              <a:pPr algn="ctr"/>
            </a:p>
          </p:txBody>
        </p:sp>
        <p:sp>
          <p:nvSpPr>
            <p:cNvPr id="36" name="Oval 35"/>
            <p:cNvSpPr/>
            <p:nvPr/>
          </p:nvSpPr>
          <p:spPr>
            <a:xfrm>
              <a:off x="11119104" y="3776472"/>
              <a:ext cx="219456" cy="219456"/>
            </a:xfrm>
            <a:prstGeom prst="ellipse">
              <a:avLst/>
            </a:prstGeom>
            <a:solidFill>
              <a:srgbClr val="F2F2F2"/>
            </a:solidFill>
            <a:ln w="12700">
              <a:solidFill>
                <a:srgbClr val="1B1D21"/>
              </a:solidFill>
            </a:ln>
          </p:spPr>
          <p:txBody>
            <a:bodyPr rtlCol="0" anchor="ctr"/>
            <a:lstStyle/>
            <a:p>
              <a:pPr algn="ctr"/>
            </a:p>
          </p:txBody>
        </p:sp>
        <p:sp>
          <p:nvSpPr>
            <p:cNvPr id="37" name="Freeform 36"/>
            <p:cNvSpPr/>
            <p:nvPr/>
          </p:nvSpPr>
          <p:spPr>
            <a:xfrm>
              <a:off x="7918704" y="2862072"/>
              <a:ext cx="219456" cy="146304"/>
            </a:xfrm>
            <a:custGeom>
              <a:avLst/>
              <a:gdLst/>
              <a:ahLst/>
              <a:cxnLst/>
              <a:rect l="l" t="t" r="r" b="b"/>
              <a:pathLst>
                <a:path w="219456" h="146304">
                  <a:moveTo>
                    <a:pt x="0" y="0"/>
                  </a:moveTo>
                  <a:lnTo>
                    <a:pt x="219456" y="0"/>
                  </a:lnTo>
                  <a:lnTo>
                    <a:pt x="109728" y="146304"/>
                  </a:lnTo>
                  <a:close/>
                </a:path>
              </a:pathLst>
            </a:custGeom>
            <a:solidFill>
              <a:srgbClr val="F28C28"/>
            </a:solidFill>
            <a:ln>
              <a:noFill/>
            </a:ln>
          </p:spPr>
          <p:txBody>
            <a:bodyPr rtlCol="0" anchor="ctr"/>
            <a:lstStyle/>
            <a:p>
              <a:pPr algn="ctr"/>
            </a:p>
          </p:txBody>
        </p:sp>
      </p:grpSp>
      <p:sp>
        <p:nvSpPr>
          <p:cNvPr id="38" name="TextBox 37"/>
          <p:cNvSpPr txBox="1"/>
          <p:nvPr/>
        </p:nvSpPr>
        <p:spPr>
          <a:xfrm>
            <a:off x="7616952" y="4434840"/>
            <a:ext cx="4023360" cy="566928"/>
          </a:xfrm>
          <a:prstGeom prst="rect">
            <a:avLst/>
          </a:prstGeom>
          <a:noFill/>
        </p:spPr>
        <p:txBody>
          <a:bodyPr wrap="square" lIns="0" tIns="0" rIns="0" bIns="0" anchor="t">
            <a:noAutofit/>
          </a:bodyPr>
          <a:lstStyle/>
          <a:p>
            <a:pPr algn="l"/>
            <a:r>
              <a:rPr sz="1800" b="0" i="0" lang="en-GB">
                <a:solidFill>
                  <a:srgbClr val="F2F2F2"/>
                </a:solidFill>
                <a:latin typeface="Arial"/>
              </a:rPr>
              <a:t>Pick a destination and let the game set points:</a:t>
            </a:r>
          </a:p>
        </p:txBody>
      </p:sp>
      <p:sp>
        <p:nvSpPr>
          <p:cNvPr id="39" name="Inline chip Proposed"/>
          <p:cNvSpPr/>
          <p:nvPr/>
        </p:nvSpPr>
        <p:spPr>
          <a:xfrm>
            <a:off x="7616952" y="502920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Better signals come later. Drivers can also set points from a simple track diagram.</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Upgrading to the monorail</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8" name="Right Arrow 7">
            <a:extLst>
              <a:ext uri="{C183D7F6-B498-43B3-948B-1728B52AA6E4}">
                <adec:decorative xmlns:adec="http://schemas.microsoft.com/office/drawing/2017/decorative" val="1"/>
              </a:ext>
            </a:extLst>
          </p:cNvPr>
          <p:cNvSpPr/>
          <p:nvPr/>
        </p:nvSpPr>
        <p:spPr>
          <a:xfrm>
            <a:off x="4041648" y="2743200"/>
            <a:ext cx="274320" cy="365760"/>
          </a:xfrm>
          <a:prstGeom prst="rightArrow">
            <a:avLst/>
          </a:prstGeom>
          <a:solidFill>
            <a:srgbClr val="F28C28"/>
          </a:solidFill>
          <a:ln>
            <a:noFill/>
          </a:ln>
        </p:spPr>
        <p:txBody>
          <a:bodyPr rtlCol="0" anchor="ctr"/>
          <a:lstStyle/>
          <a:p>
            <a:pPr algn="ctr"/>
          </a:p>
        </p:txBody>
      </p:sp>
      <p:sp>
        <p:nvSpPr>
          <p:cNvPr id="9" name="Right Arrow 8">
            <a:extLst>
              <a:ext uri="{C183D7F6-B498-43B3-948B-1728B52AA6E4}">
                <adec:decorative xmlns:adec="http://schemas.microsoft.com/office/drawing/2017/decorative" val="1"/>
              </a:ext>
            </a:extLst>
          </p:cNvPr>
          <p:cNvSpPr/>
          <p:nvPr/>
        </p:nvSpPr>
        <p:spPr>
          <a:xfrm>
            <a:off x="7872984" y="2743200"/>
            <a:ext cx="274320" cy="365760"/>
          </a:xfrm>
          <a:prstGeom prst="rightArrow">
            <a:avLst/>
          </a:prstGeom>
          <a:solidFill>
            <a:srgbClr val="F28C28"/>
          </a:solidFill>
          <a:ln>
            <a:noFill/>
          </a:ln>
        </p:spPr>
        <p:txBody>
          <a:bodyPr rtlCol="0" anchor="ctr"/>
          <a:lstStyle/>
          <a:p>
            <a:pPr algn="ctr"/>
          </a:p>
        </p:txBody>
      </p:sp>
      <p:grpSp>
        <p:nvGrpSpPr>
          <p:cNvPr id="10" name="Before" descr="Before: a steam route with a branch, all two-rail steam track, stations as circles."/>
          <p:cNvGrpSpPr/>
          <p:nvPr/>
        </p:nvGrpSpPr>
        <p:grpSpPr>
          <a:xfrm>
            <a:off x="548640" y="1371600"/>
            <a:ext cx="3429000" cy="3520440"/>
            <a:chOff x="548640" y="1371600"/>
            <a:chExt cx="3429000" cy="3520440"/>
          </a:xfrm>
        </p:grpSpPr>
        <p:sp>
          <p:nvSpPr>
            <p:cNvPr id="11" name="Rounded Rectangle 10"/>
            <p:cNvSpPr/>
            <p:nvPr/>
          </p:nvSpPr>
          <p:spPr>
            <a:xfrm>
              <a:off x="548640" y="1371600"/>
              <a:ext cx="3429000" cy="3520440"/>
            </a:xfrm>
            <a:prstGeom prst="roundRect">
              <a:avLst>
                <a:gd name="adj" fmla="val 2666"/>
              </a:avLst>
            </a:prstGeom>
            <a:solidFill>
              <a:srgbClr val="2B2F36"/>
            </a:solidFill>
            <a:ln>
              <a:noFill/>
            </a:ln>
          </p:spPr>
          <p:txBody>
            <a:bodyPr rtlCol="0" anchor="ctr"/>
            <a:lstStyle/>
            <a:p>
              <a:pPr algn="ctr"/>
            </a:p>
          </p:txBody>
        </p:sp>
        <p:sp>
          <p:nvSpPr>
            <p:cNvPr id="12" name="TextBox 11"/>
            <p:cNvSpPr txBox="1"/>
            <p:nvPr/>
          </p:nvSpPr>
          <p:spPr>
            <a:xfrm>
              <a:off x="731520" y="1481328"/>
              <a:ext cx="2286000" cy="384048"/>
            </a:xfrm>
            <a:prstGeom prst="rect">
              <a:avLst/>
            </a:prstGeom>
            <a:noFill/>
          </p:spPr>
          <p:txBody>
            <a:bodyPr wrap="square" lIns="0" tIns="0" rIns="0" bIns="0" anchor="t">
              <a:noAutofit/>
            </a:bodyPr>
            <a:lstStyle/>
            <a:p>
              <a:pPr algn="l"/>
              <a:r>
                <a:rPr sz="2000" b="1" i="0" lang="en-GB">
                  <a:solidFill>
                    <a:srgbClr val="F2F2F2"/>
                  </a:solidFill>
                  <a:latin typeface="Arial"/>
                </a:rPr>
                <a:t>Before</a:t>
              </a:r>
            </a:p>
          </p:txBody>
        </p:sp>
        <p:cxnSp>
          <p:nvCxnSpPr>
            <p:cNvPr id="13" name="Connector 12"/>
            <p:cNvCxnSpPr/>
            <p:nvPr/>
          </p:nvCxnSpPr>
          <p:spPr>
            <a:xfrm>
              <a:off x="960120" y="2980944"/>
              <a:ext cx="1188720" cy="0"/>
            </a:xfrm>
            <a:prstGeom prst="line">
              <a:avLst/>
            </a:prstGeom>
            <a:ln w="28575">
              <a:solidFill>
                <a:srgbClr val="F28C28"/>
              </a:solidFill>
            </a:ln>
          </p:spPr>
        </p:cxnSp>
        <p:cxnSp>
          <p:nvCxnSpPr>
            <p:cNvPr id="14" name="Connector 13"/>
            <p:cNvCxnSpPr/>
            <p:nvPr/>
          </p:nvCxnSpPr>
          <p:spPr>
            <a:xfrm>
              <a:off x="960120" y="2871216"/>
              <a:ext cx="1188720" cy="0"/>
            </a:xfrm>
            <a:prstGeom prst="line">
              <a:avLst/>
            </a:prstGeom>
            <a:ln w="28575">
              <a:solidFill>
                <a:srgbClr val="F28C28"/>
              </a:solidFill>
            </a:ln>
          </p:spPr>
        </p:cxnSp>
        <p:cxnSp>
          <p:nvCxnSpPr>
            <p:cNvPr id="15" name="Connector 14"/>
            <p:cNvCxnSpPr/>
            <p:nvPr/>
          </p:nvCxnSpPr>
          <p:spPr>
            <a:xfrm>
              <a:off x="2148840" y="2980944"/>
              <a:ext cx="1417320" cy="0"/>
            </a:xfrm>
            <a:prstGeom prst="line">
              <a:avLst/>
            </a:prstGeom>
            <a:ln w="28575">
              <a:solidFill>
                <a:srgbClr val="F28C28"/>
              </a:solidFill>
            </a:ln>
          </p:spPr>
        </p:cxnSp>
        <p:cxnSp>
          <p:nvCxnSpPr>
            <p:cNvPr id="16" name="Connector 15"/>
            <p:cNvCxnSpPr/>
            <p:nvPr/>
          </p:nvCxnSpPr>
          <p:spPr>
            <a:xfrm>
              <a:off x="2148840" y="2871216"/>
              <a:ext cx="1417320" cy="0"/>
            </a:xfrm>
            <a:prstGeom prst="line">
              <a:avLst/>
            </a:prstGeom>
            <a:ln w="28575">
              <a:solidFill>
                <a:srgbClr val="F28C28"/>
              </a:solidFill>
            </a:ln>
          </p:spPr>
        </p:cxnSp>
        <p:cxnSp>
          <p:nvCxnSpPr>
            <p:cNvPr id="17" name="Connector 16"/>
            <p:cNvCxnSpPr/>
            <p:nvPr/>
          </p:nvCxnSpPr>
          <p:spPr>
            <a:xfrm>
              <a:off x="2116571" y="2970450"/>
              <a:ext cx="1005840" cy="731520"/>
            </a:xfrm>
            <a:prstGeom prst="line">
              <a:avLst/>
            </a:prstGeom>
            <a:ln w="28575">
              <a:solidFill>
                <a:srgbClr val="F28C28"/>
              </a:solidFill>
            </a:ln>
          </p:spPr>
        </p:cxnSp>
        <p:cxnSp>
          <p:nvCxnSpPr>
            <p:cNvPr id="18" name="Connector 17"/>
            <p:cNvCxnSpPr/>
            <p:nvPr/>
          </p:nvCxnSpPr>
          <p:spPr>
            <a:xfrm>
              <a:off x="2181109" y="2881710"/>
              <a:ext cx="1005840" cy="731520"/>
            </a:xfrm>
            <a:prstGeom prst="line">
              <a:avLst/>
            </a:prstGeom>
            <a:ln w="28575">
              <a:solidFill>
                <a:srgbClr val="F28C28"/>
              </a:solidFill>
            </a:ln>
          </p:spPr>
        </p:cxnSp>
        <p:sp>
          <p:nvSpPr>
            <p:cNvPr id="19" name="Oval 18"/>
            <p:cNvSpPr/>
            <p:nvPr/>
          </p:nvSpPr>
          <p:spPr>
            <a:xfrm>
              <a:off x="822960" y="2788920"/>
              <a:ext cx="274320" cy="274320"/>
            </a:xfrm>
            <a:prstGeom prst="ellipse">
              <a:avLst/>
            </a:prstGeom>
            <a:solidFill>
              <a:srgbClr val="1E2126"/>
            </a:solidFill>
            <a:ln w="25400">
              <a:solidFill>
                <a:srgbClr val="F2F2F2"/>
              </a:solidFill>
            </a:ln>
          </p:spPr>
          <p:txBody>
            <a:bodyPr rtlCol="0" anchor="ctr"/>
            <a:lstStyle/>
            <a:p>
              <a:pPr algn="ctr"/>
            </a:p>
          </p:txBody>
        </p:sp>
        <p:sp>
          <p:nvSpPr>
            <p:cNvPr id="20" name="Oval 19"/>
            <p:cNvSpPr/>
            <p:nvPr/>
          </p:nvSpPr>
          <p:spPr>
            <a:xfrm>
              <a:off x="2011680" y="2788920"/>
              <a:ext cx="274320" cy="274320"/>
            </a:xfrm>
            <a:prstGeom prst="ellipse">
              <a:avLst/>
            </a:prstGeom>
            <a:solidFill>
              <a:srgbClr val="1E2126"/>
            </a:solidFill>
            <a:ln w="25400">
              <a:solidFill>
                <a:srgbClr val="F2F2F2"/>
              </a:solidFill>
            </a:ln>
          </p:spPr>
          <p:txBody>
            <a:bodyPr rtlCol="0" anchor="ctr"/>
            <a:lstStyle/>
            <a:p>
              <a:pPr algn="ctr"/>
            </a:p>
          </p:txBody>
        </p:sp>
        <p:sp>
          <p:nvSpPr>
            <p:cNvPr id="21" name="Oval 20"/>
            <p:cNvSpPr/>
            <p:nvPr/>
          </p:nvSpPr>
          <p:spPr>
            <a:xfrm>
              <a:off x="3429000" y="2788920"/>
              <a:ext cx="274320" cy="274320"/>
            </a:xfrm>
            <a:prstGeom prst="ellipse">
              <a:avLst/>
            </a:prstGeom>
            <a:solidFill>
              <a:srgbClr val="1E2126"/>
            </a:solidFill>
            <a:ln w="25400">
              <a:solidFill>
                <a:srgbClr val="F2F2F2"/>
              </a:solidFill>
            </a:ln>
          </p:spPr>
          <p:txBody>
            <a:bodyPr rtlCol="0" anchor="ctr"/>
            <a:lstStyle/>
            <a:p>
              <a:pPr algn="ctr"/>
            </a:p>
          </p:txBody>
        </p:sp>
        <p:sp>
          <p:nvSpPr>
            <p:cNvPr id="22" name="Oval 21"/>
            <p:cNvSpPr/>
            <p:nvPr/>
          </p:nvSpPr>
          <p:spPr>
            <a:xfrm>
              <a:off x="3017520" y="3520440"/>
              <a:ext cx="274320" cy="274320"/>
            </a:xfrm>
            <a:prstGeom prst="ellipse">
              <a:avLst/>
            </a:prstGeom>
            <a:solidFill>
              <a:srgbClr val="1E2126"/>
            </a:solidFill>
            <a:ln w="25400">
              <a:solidFill>
                <a:srgbClr val="F2F2F2"/>
              </a:solidFill>
            </a:ln>
          </p:spPr>
          <p:txBody>
            <a:bodyPr rtlCol="0" anchor="ctr"/>
            <a:lstStyle/>
            <a:p>
              <a:pPr algn="ctr"/>
            </a:p>
          </p:txBody>
        </p:sp>
      </p:grpSp>
      <p:grpSp>
        <p:nvGrpSpPr>
          <p:cNvPr id="23" name="Upgrade" descr="Upgrade: one section shows a translucent blue hologram of monorail with small pylons, and an amber warning that steam trains cannot use this section (proposed)."/>
          <p:cNvGrpSpPr/>
          <p:nvPr/>
        </p:nvGrpSpPr>
        <p:grpSpPr>
          <a:xfrm>
            <a:off x="4379976" y="1371600"/>
            <a:ext cx="3429000" cy="3520440"/>
            <a:chOff x="4379976" y="1371600"/>
            <a:chExt cx="3429000" cy="3520440"/>
          </a:xfrm>
        </p:grpSpPr>
        <p:sp>
          <p:nvSpPr>
            <p:cNvPr id="24" name="Rounded Rectangle 23"/>
            <p:cNvSpPr/>
            <p:nvPr/>
          </p:nvSpPr>
          <p:spPr>
            <a:xfrm>
              <a:off x="4379976" y="1371600"/>
              <a:ext cx="3429000" cy="3520440"/>
            </a:xfrm>
            <a:prstGeom prst="roundRect">
              <a:avLst>
                <a:gd name="adj" fmla="val 2666"/>
              </a:avLst>
            </a:prstGeom>
            <a:solidFill>
              <a:srgbClr val="2B2F36"/>
            </a:solidFill>
            <a:ln>
              <a:noFill/>
            </a:ln>
          </p:spPr>
          <p:txBody>
            <a:bodyPr rtlCol="0" anchor="ctr"/>
            <a:lstStyle/>
            <a:p>
              <a:pPr algn="ctr"/>
            </a:p>
          </p:txBody>
        </p:sp>
        <p:sp>
          <p:nvSpPr>
            <p:cNvPr id="25" name="TextBox 24"/>
            <p:cNvSpPr txBox="1"/>
            <p:nvPr/>
          </p:nvSpPr>
          <p:spPr>
            <a:xfrm>
              <a:off x="4562856" y="1481328"/>
              <a:ext cx="2286000" cy="384048"/>
            </a:xfrm>
            <a:prstGeom prst="rect">
              <a:avLst/>
            </a:prstGeom>
            <a:noFill/>
          </p:spPr>
          <p:txBody>
            <a:bodyPr wrap="square" lIns="0" tIns="0" rIns="0" bIns="0" anchor="t">
              <a:noAutofit/>
            </a:bodyPr>
            <a:lstStyle/>
            <a:p>
              <a:pPr algn="l"/>
              <a:r>
                <a:rPr sz="2000" b="1" i="0" lang="en-GB">
                  <a:solidFill>
                    <a:srgbClr val="F2F2F2"/>
                  </a:solidFill>
                  <a:latin typeface="Arial"/>
                </a:rPr>
                <a:t>Upgrade</a:t>
              </a:r>
            </a:p>
          </p:txBody>
        </p:sp>
        <p:cxnSp>
          <p:nvCxnSpPr>
            <p:cNvPr id="26" name="Connector 25"/>
            <p:cNvCxnSpPr/>
            <p:nvPr/>
          </p:nvCxnSpPr>
          <p:spPr>
            <a:xfrm>
              <a:off x="4791456" y="2980944"/>
              <a:ext cx="1188720" cy="0"/>
            </a:xfrm>
            <a:prstGeom prst="line">
              <a:avLst/>
            </a:prstGeom>
            <a:ln w="28575">
              <a:solidFill>
                <a:srgbClr val="F28C28"/>
              </a:solidFill>
            </a:ln>
          </p:spPr>
        </p:cxnSp>
        <p:cxnSp>
          <p:nvCxnSpPr>
            <p:cNvPr id="27" name="Connector 26"/>
            <p:cNvCxnSpPr/>
            <p:nvPr/>
          </p:nvCxnSpPr>
          <p:spPr>
            <a:xfrm>
              <a:off x="4791456" y="2871216"/>
              <a:ext cx="1188720" cy="0"/>
            </a:xfrm>
            <a:prstGeom prst="line">
              <a:avLst/>
            </a:prstGeom>
            <a:ln w="28575">
              <a:solidFill>
                <a:srgbClr val="F28C28"/>
              </a:solidFill>
            </a:ln>
          </p:spPr>
        </p:cxnSp>
        <p:cxnSp>
          <p:nvCxnSpPr>
            <p:cNvPr id="28" name="Connector 27"/>
            <p:cNvCxnSpPr/>
            <p:nvPr/>
          </p:nvCxnSpPr>
          <p:spPr>
            <a:xfrm>
              <a:off x="5980176" y="2980944"/>
              <a:ext cx="1417320" cy="0"/>
            </a:xfrm>
            <a:prstGeom prst="line">
              <a:avLst/>
            </a:prstGeom>
            <a:ln w="28575">
              <a:solidFill>
                <a:srgbClr val="F28C28"/>
              </a:solidFill>
            </a:ln>
          </p:spPr>
        </p:cxnSp>
        <p:cxnSp>
          <p:nvCxnSpPr>
            <p:cNvPr id="29" name="Connector 28"/>
            <p:cNvCxnSpPr/>
            <p:nvPr/>
          </p:nvCxnSpPr>
          <p:spPr>
            <a:xfrm>
              <a:off x="5980176" y="2871216"/>
              <a:ext cx="1417320" cy="0"/>
            </a:xfrm>
            <a:prstGeom prst="line">
              <a:avLst/>
            </a:prstGeom>
            <a:ln w="28575">
              <a:solidFill>
                <a:srgbClr val="F28C28"/>
              </a:solidFill>
            </a:ln>
          </p:spPr>
        </p:cxnSp>
        <p:cxnSp>
          <p:nvCxnSpPr>
            <p:cNvPr id="30" name="Connector 29"/>
            <p:cNvCxnSpPr/>
            <p:nvPr/>
          </p:nvCxnSpPr>
          <p:spPr>
            <a:xfrm>
              <a:off x="5947907" y="2970450"/>
              <a:ext cx="1005840" cy="731520"/>
            </a:xfrm>
            <a:prstGeom prst="line">
              <a:avLst/>
            </a:prstGeom>
            <a:ln w="28575">
              <a:solidFill>
                <a:srgbClr val="F28C28"/>
              </a:solidFill>
            </a:ln>
          </p:spPr>
        </p:cxnSp>
        <p:cxnSp>
          <p:nvCxnSpPr>
            <p:cNvPr id="31" name="Connector 30"/>
            <p:cNvCxnSpPr/>
            <p:nvPr/>
          </p:nvCxnSpPr>
          <p:spPr>
            <a:xfrm>
              <a:off x="6012445" y="2881710"/>
              <a:ext cx="1005840" cy="731520"/>
            </a:xfrm>
            <a:prstGeom prst="line">
              <a:avLst/>
            </a:prstGeom>
            <a:ln w="28575">
              <a:solidFill>
                <a:srgbClr val="F28C28"/>
              </a:solidFill>
            </a:ln>
          </p:spPr>
        </p:cxnSp>
        <p:sp>
          <p:nvSpPr>
            <p:cNvPr id="32" name="Rounded Rectangle 31"/>
            <p:cNvSpPr/>
            <p:nvPr/>
          </p:nvSpPr>
          <p:spPr>
            <a:xfrm>
              <a:off x="4700016" y="2770632"/>
              <a:ext cx="1371600" cy="310896"/>
            </a:xfrm>
            <a:prstGeom prst="roundRect">
              <a:avLst>
                <a:gd name="adj" fmla="val 23529"/>
              </a:avLst>
            </a:prstGeom>
            <a:solidFill>
              <a:srgbClr val="455C78"/>
            </a:solidFill>
            <a:ln w="12700">
              <a:solidFill>
                <a:srgbClr val="6CA0DC"/>
              </a:solidFill>
            </a:ln>
          </p:spPr>
          <p:txBody>
            <a:bodyPr rtlCol="0" anchor="ctr"/>
            <a:lstStyle/>
            <a:p>
              <a:pPr algn="ctr"/>
            </a:p>
          </p:txBody>
        </p:sp>
        <p:cxnSp>
          <p:nvCxnSpPr>
            <p:cNvPr id="33" name="Connector 32"/>
            <p:cNvCxnSpPr/>
            <p:nvPr/>
          </p:nvCxnSpPr>
          <p:spPr>
            <a:xfrm flipV="1">
              <a:off x="5065776" y="2514600"/>
              <a:ext cx="0" cy="256032"/>
            </a:xfrm>
            <a:prstGeom prst="line">
              <a:avLst/>
            </a:prstGeom>
            <a:ln w="25400">
              <a:solidFill>
                <a:srgbClr val="6CA0DC"/>
              </a:solidFill>
            </a:ln>
          </p:spPr>
        </p:cxnSp>
        <p:cxnSp>
          <p:nvCxnSpPr>
            <p:cNvPr id="34" name="Connector 33"/>
            <p:cNvCxnSpPr/>
            <p:nvPr/>
          </p:nvCxnSpPr>
          <p:spPr>
            <a:xfrm>
              <a:off x="4974336" y="2514600"/>
              <a:ext cx="182880" cy="0"/>
            </a:xfrm>
            <a:prstGeom prst="line">
              <a:avLst/>
            </a:prstGeom>
            <a:ln w="25400">
              <a:solidFill>
                <a:srgbClr val="6CA0DC"/>
              </a:solidFill>
            </a:ln>
          </p:spPr>
        </p:cxnSp>
        <p:cxnSp>
          <p:nvCxnSpPr>
            <p:cNvPr id="35" name="Connector 34"/>
            <p:cNvCxnSpPr/>
            <p:nvPr/>
          </p:nvCxnSpPr>
          <p:spPr>
            <a:xfrm flipV="1">
              <a:off x="5413248" y="2514600"/>
              <a:ext cx="0" cy="256032"/>
            </a:xfrm>
            <a:prstGeom prst="line">
              <a:avLst/>
            </a:prstGeom>
            <a:ln w="25400">
              <a:solidFill>
                <a:srgbClr val="6CA0DC"/>
              </a:solidFill>
            </a:ln>
          </p:spPr>
        </p:cxnSp>
        <p:cxnSp>
          <p:nvCxnSpPr>
            <p:cNvPr id="36" name="Connector 35"/>
            <p:cNvCxnSpPr/>
            <p:nvPr/>
          </p:nvCxnSpPr>
          <p:spPr>
            <a:xfrm>
              <a:off x="5321808" y="2514600"/>
              <a:ext cx="182880" cy="0"/>
            </a:xfrm>
            <a:prstGeom prst="line">
              <a:avLst/>
            </a:prstGeom>
            <a:ln w="25400">
              <a:solidFill>
                <a:srgbClr val="6CA0DC"/>
              </a:solidFill>
            </a:ln>
          </p:spPr>
        </p:cxnSp>
        <p:cxnSp>
          <p:nvCxnSpPr>
            <p:cNvPr id="37" name="Connector 36"/>
            <p:cNvCxnSpPr/>
            <p:nvPr/>
          </p:nvCxnSpPr>
          <p:spPr>
            <a:xfrm flipV="1">
              <a:off x="5760720" y="2514600"/>
              <a:ext cx="0" cy="256032"/>
            </a:xfrm>
            <a:prstGeom prst="line">
              <a:avLst/>
            </a:prstGeom>
            <a:ln w="25400">
              <a:solidFill>
                <a:srgbClr val="6CA0DC"/>
              </a:solidFill>
            </a:ln>
          </p:spPr>
        </p:cxnSp>
        <p:cxnSp>
          <p:nvCxnSpPr>
            <p:cNvPr id="38" name="Connector 37"/>
            <p:cNvCxnSpPr/>
            <p:nvPr/>
          </p:nvCxnSpPr>
          <p:spPr>
            <a:xfrm>
              <a:off x="5669280" y="2514600"/>
              <a:ext cx="182880" cy="0"/>
            </a:xfrm>
            <a:prstGeom prst="line">
              <a:avLst/>
            </a:prstGeom>
            <a:ln w="25400">
              <a:solidFill>
                <a:srgbClr val="6CA0DC"/>
              </a:solidFill>
            </a:ln>
          </p:spPr>
        </p:cxnSp>
        <p:sp>
          <p:nvSpPr>
            <p:cNvPr id="39" name="Oval 38"/>
            <p:cNvSpPr/>
            <p:nvPr/>
          </p:nvSpPr>
          <p:spPr>
            <a:xfrm>
              <a:off x="4654296" y="2788920"/>
              <a:ext cx="274320" cy="274320"/>
            </a:xfrm>
            <a:prstGeom prst="ellipse">
              <a:avLst/>
            </a:prstGeom>
            <a:solidFill>
              <a:srgbClr val="1E2126"/>
            </a:solidFill>
            <a:ln w="25400">
              <a:solidFill>
                <a:srgbClr val="F2F2F2"/>
              </a:solidFill>
            </a:ln>
          </p:spPr>
          <p:txBody>
            <a:bodyPr rtlCol="0" anchor="ctr"/>
            <a:lstStyle/>
            <a:p>
              <a:pPr algn="ctr"/>
            </a:p>
          </p:txBody>
        </p:sp>
        <p:sp>
          <p:nvSpPr>
            <p:cNvPr id="40" name="Oval 39"/>
            <p:cNvSpPr/>
            <p:nvPr/>
          </p:nvSpPr>
          <p:spPr>
            <a:xfrm>
              <a:off x="5843016" y="2788920"/>
              <a:ext cx="274320" cy="274320"/>
            </a:xfrm>
            <a:prstGeom prst="ellipse">
              <a:avLst/>
            </a:prstGeom>
            <a:solidFill>
              <a:srgbClr val="1E2126"/>
            </a:solidFill>
            <a:ln w="25400">
              <a:solidFill>
                <a:srgbClr val="F2F2F2"/>
              </a:solidFill>
            </a:ln>
          </p:spPr>
          <p:txBody>
            <a:bodyPr rtlCol="0" anchor="ctr"/>
            <a:lstStyle/>
            <a:p>
              <a:pPr algn="ctr"/>
            </a:p>
          </p:txBody>
        </p:sp>
        <p:sp>
          <p:nvSpPr>
            <p:cNvPr id="41" name="Oval 40"/>
            <p:cNvSpPr/>
            <p:nvPr/>
          </p:nvSpPr>
          <p:spPr>
            <a:xfrm>
              <a:off x="7260336" y="2788920"/>
              <a:ext cx="274320" cy="274320"/>
            </a:xfrm>
            <a:prstGeom prst="ellipse">
              <a:avLst/>
            </a:prstGeom>
            <a:solidFill>
              <a:srgbClr val="1E2126"/>
            </a:solidFill>
            <a:ln w="25400">
              <a:solidFill>
                <a:srgbClr val="F2F2F2"/>
              </a:solidFill>
            </a:ln>
          </p:spPr>
          <p:txBody>
            <a:bodyPr rtlCol="0" anchor="ctr"/>
            <a:lstStyle/>
            <a:p>
              <a:pPr algn="ctr"/>
            </a:p>
          </p:txBody>
        </p:sp>
        <p:sp>
          <p:nvSpPr>
            <p:cNvPr id="42" name="Oval 41"/>
            <p:cNvSpPr/>
            <p:nvPr/>
          </p:nvSpPr>
          <p:spPr>
            <a:xfrm>
              <a:off x="6848856" y="3520440"/>
              <a:ext cx="274320" cy="274320"/>
            </a:xfrm>
            <a:prstGeom prst="ellipse">
              <a:avLst/>
            </a:prstGeom>
            <a:solidFill>
              <a:srgbClr val="1E2126"/>
            </a:solidFill>
            <a:ln w="25400">
              <a:solidFill>
                <a:srgbClr val="F2F2F2"/>
              </a:solidFill>
            </a:ln>
          </p:spPr>
          <p:txBody>
            <a:bodyPr rtlCol="0" anchor="ctr"/>
            <a:lstStyle/>
            <a:p>
              <a:pPr algn="ctr"/>
            </a:p>
          </p:txBody>
        </p:sp>
        <p:sp>
          <p:nvSpPr>
            <p:cNvPr id="43" name="Freeform 42"/>
            <p:cNvSpPr/>
            <p:nvPr/>
          </p:nvSpPr>
          <p:spPr>
            <a:xfrm>
              <a:off x="4608576" y="4251960"/>
              <a:ext cx="457200" cy="429768"/>
            </a:xfrm>
            <a:custGeom>
              <a:avLst/>
              <a:gdLst/>
              <a:ahLst/>
              <a:cxnLst/>
              <a:rect l="l" t="t" r="r" b="b"/>
              <a:pathLst>
                <a:path w="457200" h="429768">
                  <a:moveTo>
                    <a:pt x="0" y="429768"/>
                  </a:moveTo>
                  <a:lnTo>
                    <a:pt x="457200" y="429768"/>
                  </a:lnTo>
                  <a:lnTo>
                    <a:pt x="228600" y="0"/>
                  </a:lnTo>
                  <a:close/>
                </a:path>
              </a:pathLst>
            </a:custGeom>
            <a:solidFill>
              <a:srgbClr val="F2C14E"/>
            </a:solidFill>
            <a:ln w="12700">
              <a:solidFill>
                <a:srgbClr val="101418"/>
              </a:solidFill>
            </a:ln>
          </p:spPr>
          <p:txBody>
            <a:bodyPr rtlCol="0" anchor="ctr"/>
            <a:lstStyle/>
            <a:p>
              <a:pPr algn="ctr"/>
            </a:p>
          </p:txBody>
        </p:sp>
        <p:sp>
          <p:nvSpPr>
            <p:cNvPr id="44" name="Rectangle 43"/>
            <p:cNvSpPr/>
            <p:nvPr/>
          </p:nvSpPr>
          <p:spPr>
            <a:xfrm>
              <a:off x="4809744" y="4389120"/>
              <a:ext cx="54864" cy="164592"/>
            </a:xfrm>
            <a:prstGeom prst="rect">
              <a:avLst/>
            </a:prstGeom>
            <a:solidFill>
              <a:srgbClr val="101418"/>
            </a:solidFill>
            <a:ln>
              <a:noFill/>
            </a:ln>
          </p:spPr>
          <p:txBody>
            <a:bodyPr rtlCol="0" anchor="ctr"/>
            <a:lstStyle/>
            <a:p>
              <a:pPr algn="ctr"/>
            </a:p>
          </p:txBody>
        </p:sp>
        <p:sp>
          <p:nvSpPr>
            <p:cNvPr id="45" name="Oval 44"/>
            <p:cNvSpPr/>
            <p:nvPr/>
          </p:nvSpPr>
          <p:spPr>
            <a:xfrm>
              <a:off x="4809744" y="4581144"/>
              <a:ext cx="54864" cy="54864"/>
            </a:xfrm>
            <a:prstGeom prst="ellipse">
              <a:avLst/>
            </a:prstGeom>
            <a:solidFill>
              <a:srgbClr val="101418"/>
            </a:solidFill>
            <a:ln>
              <a:noFill/>
            </a:ln>
          </p:spPr>
          <p:txBody>
            <a:bodyPr rtlCol="0" anchor="ctr"/>
            <a:lstStyle/>
            <a:p>
              <a:pPr algn="ctr"/>
            </a:p>
          </p:txBody>
        </p:sp>
        <p:sp>
          <p:nvSpPr>
            <p:cNvPr id="46" name="TextBox 45"/>
            <p:cNvSpPr txBox="1"/>
            <p:nvPr/>
          </p:nvSpPr>
          <p:spPr>
            <a:xfrm>
              <a:off x="5157216" y="4069080"/>
              <a:ext cx="2560320" cy="640080"/>
            </a:xfrm>
            <a:prstGeom prst="rect">
              <a:avLst/>
            </a:prstGeom>
            <a:noFill/>
          </p:spPr>
          <p:txBody>
            <a:bodyPr wrap="square" lIns="0" tIns="0" rIns="0" bIns="0" anchor="ctr">
              <a:noAutofit/>
            </a:bodyPr>
            <a:lstStyle/>
            <a:p>
              <a:pPr algn="l"/>
              <a:r>
                <a:rPr sz="1600" b="0" i="0" lang="en-GB">
                  <a:solidFill>
                    <a:srgbClr val="F2F2F2"/>
                  </a:solidFill>
                  <a:latin typeface="Arial"/>
                </a:rPr>
                <a:t>Steam trains cannot use this section</a:t>
              </a:r>
            </a:p>
          </p:txBody>
        </p:sp>
        <p:sp>
          <p:nvSpPr>
            <p:cNvPr id="47" name="Inline chip Proposed"/>
            <p:cNvSpPr/>
            <p:nvPr/>
          </p:nvSpPr>
          <p:spPr>
            <a:xfrm>
              <a:off x="6325624" y="150876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grpSp>
        <p:nvGrpSpPr>
          <p:cNvPr id="48" name="Mixed network" descr="Mixed network (proposed): an electric monorail trunk with steam branches; at the junction an interchange where cargo moves between the two. A Transfer Station is possible but undecided."/>
          <p:cNvGrpSpPr/>
          <p:nvPr/>
        </p:nvGrpSpPr>
        <p:grpSpPr>
          <a:xfrm>
            <a:off x="8211312" y="1371600"/>
            <a:ext cx="3429000" cy="3520440"/>
            <a:chOff x="8211312" y="1371600"/>
            <a:chExt cx="3429000" cy="3520440"/>
          </a:xfrm>
        </p:grpSpPr>
        <p:sp>
          <p:nvSpPr>
            <p:cNvPr id="49" name="Rounded Rectangle 48"/>
            <p:cNvSpPr/>
            <p:nvPr/>
          </p:nvSpPr>
          <p:spPr>
            <a:xfrm>
              <a:off x="8211312" y="1371600"/>
              <a:ext cx="3429000" cy="3520440"/>
            </a:xfrm>
            <a:prstGeom prst="roundRect">
              <a:avLst>
                <a:gd name="adj" fmla="val 2666"/>
              </a:avLst>
            </a:prstGeom>
            <a:solidFill>
              <a:srgbClr val="2B2F36"/>
            </a:solidFill>
            <a:ln>
              <a:noFill/>
            </a:ln>
          </p:spPr>
          <p:txBody>
            <a:bodyPr rtlCol="0" anchor="ctr"/>
            <a:lstStyle/>
            <a:p>
              <a:pPr algn="ctr"/>
            </a:p>
          </p:txBody>
        </p:sp>
        <p:sp>
          <p:nvSpPr>
            <p:cNvPr id="50" name="TextBox 49"/>
            <p:cNvSpPr txBox="1"/>
            <p:nvPr/>
          </p:nvSpPr>
          <p:spPr>
            <a:xfrm>
              <a:off x="8394192" y="1481328"/>
              <a:ext cx="2377440" cy="384048"/>
            </a:xfrm>
            <a:prstGeom prst="rect">
              <a:avLst/>
            </a:prstGeom>
            <a:noFill/>
          </p:spPr>
          <p:txBody>
            <a:bodyPr wrap="square" lIns="0" tIns="0" rIns="0" bIns="0" anchor="t">
              <a:noAutofit/>
            </a:bodyPr>
            <a:lstStyle/>
            <a:p>
              <a:pPr algn="l"/>
              <a:r>
                <a:rPr sz="2000" b="1" i="0" lang="en-GB">
                  <a:solidFill>
                    <a:srgbClr val="F2F2F2"/>
                  </a:solidFill>
                  <a:latin typeface="Arial"/>
                </a:rPr>
                <a:t>Mixed network</a:t>
              </a:r>
            </a:p>
          </p:txBody>
        </p:sp>
        <p:sp>
          <p:nvSpPr>
            <p:cNvPr id="51" name="Inline chip Proposed"/>
            <p:cNvSpPr/>
            <p:nvPr/>
          </p:nvSpPr>
          <p:spPr>
            <a:xfrm>
              <a:off x="8394192" y="19202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cxnSp>
          <p:nvCxnSpPr>
            <p:cNvPr id="52" name="Connector 51"/>
            <p:cNvCxnSpPr/>
            <p:nvPr/>
          </p:nvCxnSpPr>
          <p:spPr>
            <a:xfrm>
              <a:off x="8622792" y="2926080"/>
              <a:ext cx="1188720" cy="0"/>
            </a:xfrm>
            <a:prstGeom prst="line">
              <a:avLst/>
            </a:prstGeom>
            <a:ln w="88900">
              <a:solidFill>
                <a:srgbClr val="6CA0DC"/>
              </a:solidFill>
            </a:ln>
          </p:spPr>
        </p:cxnSp>
        <p:cxnSp>
          <p:nvCxnSpPr>
            <p:cNvPr id="53" name="Connector 52"/>
            <p:cNvCxnSpPr/>
            <p:nvPr/>
          </p:nvCxnSpPr>
          <p:spPr>
            <a:xfrm>
              <a:off x="9811512" y="2980944"/>
              <a:ext cx="1417320" cy="0"/>
            </a:xfrm>
            <a:prstGeom prst="line">
              <a:avLst/>
            </a:prstGeom>
            <a:ln w="28575">
              <a:solidFill>
                <a:srgbClr val="F28C28"/>
              </a:solidFill>
            </a:ln>
          </p:spPr>
        </p:cxnSp>
        <p:cxnSp>
          <p:nvCxnSpPr>
            <p:cNvPr id="54" name="Connector 53"/>
            <p:cNvCxnSpPr/>
            <p:nvPr/>
          </p:nvCxnSpPr>
          <p:spPr>
            <a:xfrm>
              <a:off x="9811512" y="2871216"/>
              <a:ext cx="1417320" cy="0"/>
            </a:xfrm>
            <a:prstGeom prst="line">
              <a:avLst/>
            </a:prstGeom>
            <a:ln w="28575">
              <a:solidFill>
                <a:srgbClr val="F28C28"/>
              </a:solidFill>
            </a:ln>
          </p:spPr>
        </p:cxnSp>
        <p:cxnSp>
          <p:nvCxnSpPr>
            <p:cNvPr id="55" name="Connector 54"/>
            <p:cNvCxnSpPr/>
            <p:nvPr/>
          </p:nvCxnSpPr>
          <p:spPr>
            <a:xfrm>
              <a:off x="9779243" y="2970450"/>
              <a:ext cx="1005840" cy="731520"/>
            </a:xfrm>
            <a:prstGeom prst="line">
              <a:avLst/>
            </a:prstGeom>
            <a:ln w="28575">
              <a:solidFill>
                <a:srgbClr val="F28C28"/>
              </a:solidFill>
            </a:ln>
          </p:spPr>
        </p:cxnSp>
        <p:cxnSp>
          <p:nvCxnSpPr>
            <p:cNvPr id="56" name="Connector 55"/>
            <p:cNvCxnSpPr/>
            <p:nvPr/>
          </p:nvCxnSpPr>
          <p:spPr>
            <a:xfrm>
              <a:off x="9843781" y="2881710"/>
              <a:ext cx="1005840" cy="731520"/>
            </a:xfrm>
            <a:prstGeom prst="line">
              <a:avLst/>
            </a:prstGeom>
            <a:ln w="28575">
              <a:solidFill>
                <a:srgbClr val="F28C28"/>
              </a:solidFill>
            </a:ln>
          </p:spPr>
        </p:cxnSp>
        <p:sp>
          <p:nvSpPr>
            <p:cNvPr id="57" name="Oval 56"/>
            <p:cNvSpPr/>
            <p:nvPr/>
          </p:nvSpPr>
          <p:spPr>
            <a:xfrm>
              <a:off x="8485632" y="2788920"/>
              <a:ext cx="274320" cy="274320"/>
            </a:xfrm>
            <a:prstGeom prst="ellipse">
              <a:avLst/>
            </a:prstGeom>
            <a:solidFill>
              <a:srgbClr val="1E2126"/>
            </a:solidFill>
            <a:ln w="25400">
              <a:solidFill>
                <a:srgbClr val="F2F2F2"/>
              </a:solidFill>
            </a:ln>
          </p:spPr>
          <p:txBody>
            <a:bodyPr rtlCol="0" anchor="ctr"/>
            <a:lstStyle/>
            <a:p>
              <a:pPr algn="ctr"/>
            </a:p>
          </p:txBody>
        </p:sp>
        <p:sp>
          <p:nvSpPr>
            <p:cNvPr id="58" name="Oval 57"/>
            <p:cNvSpPr/>
            <p:nvPr/>
          </p:nvSpPr>
          <p:spPr>
            <a:xfrm>
              <a:off x="11091672" y="2788920"/>
              <a:ext cx="274320" cy="274320"/>
            </a:xfrm>
            <a:prstGeom prst="ellipse">
              <a:avLst/>
            </a:prstGeom>
            <a:solidFill>
              <a:srgbClr val="1E2126"/>
            </a:solidFill>
            <a:ln w="25400">
              <a:solidFill>
                <a:srgbClr val="F2F2F2"/>
              </a:solidFill>
            </a:ln>
          </p:spPr>
          <p:txBody>
            <a:bodyPr rtlCol="0" anchor="ctr"/>
            <a:lstStyle/>
            <a:p>
              <a:pPr algn="ctr"/>
            </a:p>
          </p:txBody>
        </p:sp>
        <p:sp>
          <p:nvSpPr>
            <p:cNvPr id="59" name="Oval 58"/>
            <p:cNvSpPr/>
            <p:nvPr/>
          </p:nvSpPr>
          <p:spPr>
            <a:xfrm>
              <a:off x="10680192" y="3520440"/>
              <a:ext cx="274320" cy="274320"/>
            </a:xfrm>
            <a:prstGeom prst="ellipse">
              <a:avLst/>
            </a:prstGeom>
            <a:solidFill>
              <a:srgbClr val="1E2126"/>
            </a:solidFill>
            <a:ln w="25400">
              <a:solidFill>
                <a:srgbClr val="F2F2F2"/>
              </a:solidFill>
            </a:ln>
          </p:spPr>
          <p:txBody>
            <a:bodyPr rtlCol="0" anchor="ctr"/>
            <a:lstStyle/>
            <a:p>
              <a:pPr algn="ctr"/>
            </a:p>
          </p:txBody>
        </p:sp>
        <p:sp>
          <p:nvSpPr>
            <p:cNvPr id="60" name="Rectangle 59"/>
            <p:cNvSpPr/>
            <p:nvPr/>
          </p:nvSpPr>
          <p:spPr>
            <a:xfrm>
              <a:off x="9610344" y="2724912"/>
              <a:ext cx="402336" cy="402336"/>
            </a:xfrm>
            <a:prstGeom prst="rect">
              <a:avLst/>
            </a:prstGeom>
            <a:solidFill>
              <a:srgbClr val="343A43"/>
            </a:solidFill>
            <a:ln w="31750">
              <a:solidFill>
                <a:srgbClr val="F2C14E"/>
              </a:solidFill>
            </a:ln>
          </p:spPr>
          <p:txBody>
            <a:bodyPr rtlCol="0" anchor="ctr"/>
            <a:lstStyle/>
            <a:p>
              <a:pPr algn="ctr"/>
            </a:p>
          </p:txBody>
        </p:sp>
        <p:sp>
          <p:nvSpPr>
            <p:cNvPr id="61" name="Rectangle 60"/>
            <p:cNvSpPr/>
            <p:nvPr/>
          </p:nvSpPr>
          <p:spPr>
            <a:xfrm>
              <a:off x="9509760" y="2240280"/>
              <a:ext cx="201168" cy="182880"/>
            </a:xfrm>
            <a:prstGeom prst="rect">
              <a:avLst/>
            </a:prstGeom>
            <a:solidFill>
              <a:srgbClr val="6B5B4B"/>
            </a:solidFill>
            <a:ln w="12700">
              <a:solidFill>
                <a:srgbClr val="F2C14E"/>
              </a:solidFill>
            </a:ln>
          </p:spPr>
          <p:txBody>
            <a:bodyPr rtlCol="0" anchor="ctr"/>
            <a:lstStyle/>
            <a:p>
              <a:pPr algn="ctr"/>
            </a:p>
          </p:txBody>
        </p:sp>
        <p:cxnSp>
          <p:nvCxnSpPr>
            <p:cNvPr id="62" name="Connector 61"/>
            <p:cNvCxnSpPr/>
            <p:nvPr/>
          </p:nvCxnSpPr>
          <p:spPr>
            <a:xfrm>
              <a:off x="9738360" y="2331720"/>
              <a:ext cx="393192" cy="0"/>
            </a:xfrm>
            <a:prstGeom prst="line">
              <a:avLst/>
            </a:prstGeom>
            <a:ln w="25400">
              <a:solidFill>
                <a:srgbClr val="F2C14E"/>
              </a:solidFill>
              <a:tailEnd type="triangle" w="lg" len="lg"/>
            </a:ln>
          </p:spPr>
        </p:cxnSp>
        <p:sp>
          <p:nvSpPr>
            <p:cNvPr id="63" name="TextBox 62"/>
            <p:cNvSpPr txBox="1"/>
            <p:nvPr/>
          </p:nvSpPr>
          <p:spPr>
            <a:xfrm>
              <a:off x="8394192" y="3977640"/>
              <a:ext cx="3063240" cy="329184"/>
            </a:xfrm>
            <a:prstGeom prst="rect">
              <a:avLst/>
            </a:prstGeom>
            <a:noFill/>
          </p:spPr>
          <p:txBody>
            <a:bodyPr wrap="square" lIns="0" tIns="0" rIns="0" bIns="0" anchor="t">
              <a:noAutofit/>
            </a:bodyPr>
            <a:lstStyle/>
            <a:p>
              <a:pPr algn="l"/>
              <a:r>
                <a:rPr sz="1600" b="1" i="0" lang="en-GB">
                  <a:solidFill>
                    <a:srgbClr val="F2F2F2"/>
                  </a:solidFill>
                  <a:latin typeface="Arial"/>
                </a:rPr>
                <a:t>Interchange</a:t>
              </a:r>
            </a:p>
          </p:txBody>
        </p:sp>
        <p:sp>
          <p:nvSpPr>
            <p:cNvPr id="64" name="TextBox 63"/>
            <p:cNvSpPr txBox="1"/>
            <p:nvPr/>
          </p:nvSpPr>
          <p:spPr>
            <a:xfrm>
              <a:off x="8394192" y="4297680"/>
              <a:ext cx="3063240" cy="502920"/>
            </a:xfrm>
            <a:prstGeom prst="rect">
              <a:avLst/>
            </a:prstGeom>
            <a:noFill/>
          </p:spPr>
          <p:txBody>
            <a:bodyPr wrap="square" lIns="0" tIns="0" rIns="0" bIns="0" anchor="t">
              <a:noAutofit/>
            </a:bodyPr>
            <a:lstStyle/>
            <a:p>
              <a:pPr algn="l"/>
              <a:r>
                <a:rPr sz="1400" b="0" i="0" lang="en-GB">
                  <a:solidFill>
                    <a:srgbClr val="F2F2F2"/>
                  </a:solidFill>
                  <a:latin typeface="Arial"/>
                </a:rPr>
                <a:t>(possible Transfer Station: undecided)</a:t>
              </a:r>
            </a:p>
          </p:txBody>
        </p:sp>
      </p:grpSp>
      <p:sp>
        <p:nvSpPr>
          <p:cNvPr id="65" name="TextBox 64"/>
          <p:cNvSpPr txBox="1"/>
          <p:nvPr/>
        </p:nvSpPr>
        <p:spPr>
          <a:xfrm>
            <a:off x="548640" y="5029200"/>
            <a:ext cx="8686800" cy="329184"/>
          </a:xfrm>
          <a:prstGeom prst="rect">
            <a:avLst/>
          </a:prstGeom>
          <a:noFill/>
        </p:spPr>
        <p:txBody>
          <a:bodyPr wrap="square" lIns="0" tIns="0" rIns="0" bIns="0" anchor="ctr">
            <a:noAutofit/>
          </a:bodyPr>
          <a:lstStyle/>
          <a:p>
            <a:pPr algn="l"/>
            <a:r>
              <a:rPr sz="1800" b="0" i="0" lang="en-GB">
                <a:solidFill>
                  <a:srgbClr val="F2F2F2"/>
                </a:solidFill>
                <a:latin typeface="Arial"/>
              </a:rPr>
              <a:t>Steam trains cannot move directly between the two track types.</a:t>
            </a:r>
          </a:p>
        </p:txBody>
      </p:sp>
      <p:sp>
        <p:nvSpPr>
          <p:cNvPr id="66" name="Inline chip Agreed"/>
          <p:cNvSpPr/>
          <p:nvPr/>
        </p:nvSpPr>
        <p:spPr>
          <a:xfrm>
            <a:off x="7135594" y="5029200"/>
            <a:ext cx="112647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Upgrade steam track in place. The route stays. Steam trains cannot use the converted part.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LATER</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After launch</a:t>
            </a:r>
          </a:p>
        </p:txBody>
      </p:sp>
      <p:sp>
        <p:nvSpPr>
          <p:cNvPr id="3" name="Status chip"/>
          <p:cNvSpPr/>
          <p:nvPr/>
        </p:nvSpPr>
        <p:spPr>
          <a:xfrm>
            <a:off x="10088575" y="457200"/>
            <a:ext cx="1554480" cy="365760"/>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nvGrpSpPr>
          <p:cNvPr id="8" name="Pack stack" descr="A stack of blocks: a solid base, Core 1.0, a complete game (agreed); above it four dashed proposed blocks: regional packs, more locomotives, late-steam infrastructure and advanced manual driving (optional)."/>
          <p:cNvGrpSpPr/>
          <p:nvPr/>
        </p:nvGrpSpPr>
        <p:grpSpPr>
          <a:xfrm>
            <a:off x="548640" y="1417320"/>
            <a:ext cx="6766560" cy="3017520"/>
            <a:chOff x="548640" y="1417320"/>
            <a:chExt cx="6766560" cy="3017520"/>
          </a:xfrm>
        </p:grpSpPr>
        <p:sp>
          <p:nvSpPr>
            <p:cNvPr id="9" name="Rounded Rectangle 8"/>
            <p:cNvSpPr/>
            <p:nvPr/>
          </p:nvSpPr>
          <p:spPr>
            <a:xfrm>
              <a:off x="548640" y="3657600"/>
              <a:ext cx="6766560" cy="777240"/>
            </a:xfrm>
            <a:prstGeom prst="roundRect">
              <a:avLst>
                <a:gd name="adj" fmla="val 9411"/>
              </a:avLst>
            </a:prstGeom>
            <a:solidFill>
              <a:srgbClr val="F28C28"/>
            </a:solidFill>
            <a:ln>
              <a:noFill/>
            </a:ln>
          </p:spPr>
          <p:txBody>
            <a:bodyPr rtlCol="0" anchor="ctr" wrap="square" lIns="228600" tIns="18288" bIns="18288">
              <a:noAutofit/>
            </a:bodyPr>
            <a:lstStyle/>
            <a:p>
              <a:pPr algn="l"/>
              <a:r>
                <a:rPr sz="2200" b="1" i="0" lang="en-GB">
                  <a:solidFill>
                    <a:srgbClr val="101418"/>
                  </a:solidFill>
                  <a:latin typeface="Arial"/>
                </a:rPr>
                <a:t>Core 1.0: a complete game</a:t>
              </a:r>
            </a:p>
          </p:txBody>
        </p:sp>
        <p:sp>
          <p:nvSpPr>
            <p:cNvPr id="10" name="Inline chip Agreed"/>
            <p:cNvSpPr/>
            <p:nvPr/>
          </p:nvSpPr>
          <p:spPr>
            <a:xfrm>
              <a:off x="6005850" y="3881628"/>
              <a:ext cx="1126470" cy="329184"/>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sp>
          <p:nvSpPr>
            <p:cNvPr id="11" name="Rounded Rectangle 10"/>
            <p:cNvSpPr/>
            <p:nvPr/>
          </p:nvSpPr>
          <p:spPr>
            <a:xfrm>
              <a:off x="548640" y="2514600"/>
              <a:ext cx="3337560" cy="960120"/>
            </a:xfrm>
            <a:prstGeom prst="roundRect">
              <a:avLst>
                <a:gd name="adj" fmla="val 7619"/>
              </a:avLst>
            </a:prstGeom>
            <a:solidFill>
              <a:srgbClr val="2B2F36"/>
            </a:solidFill>
            <a:ln w="25400">
              <a:solidFill>
                <a:srgbClr val="B084F5"/>
              </a:solidFill>
              <a:prstDash val="dash"/>
            </a:ln>
          </p:spPr>
          <p:txBody>
            <a:bodyPr rtlCol="0" anchor="ctr"/>
            <a:lstStyle/>
            <a:p>
              <a:pPr algn="ctr"/>
            </a:p>
          </p:txBody>
        </p:sp>
        <p:sp>
          <p:nvSpPr>
            <p:cNvPr id="12" name="TextBox 11"/>
            <p:cNvSpPr txBox="1"/>
            <p:nvPr/>
          </p:nvSpPr>
          <p:spPr>
            <a:xfrm>
              <a:off x="731520" y="2898648"/>
              <a:ext cx="3017520" cy="548640"/>
            </a:xfrm>
            <a:prstGeom prst="rect">
              <a:avLst/>
            </a:prstGeom>
            <a:noFill/>
          </p:spPr>
          <p:txBody>
            <a:bodyPr wrap="square" lIns="0" tIns="0" rIns="0" bIns="0" anchor="ctr">
              <a:noAutofit/>
            </a:bodyPr>
            <a:lstStyle/>
            <a:p>
              <a:pPr algn="l"/>
              <a:r>
                <a:rPr sz="1800" b="0" i="0" lang="en-GB">
                  <a:solidFill>
                    <a:srgbClr val="F2F2F2"/>
                  </a:solidFill>
                  <a:latin typeface="Arial"/>
                </a:rPr>
                <a:t>Regional packs</a:t>
              </a:r>
            </a:p>
          </p:txBody>
        </p:sp>
        <p:sp>
          <p:nvSpPr>
            <p:cNvPr id="13" name="Inline chip Proposed"/>
            <p:cNvSpPr/>
            <p:nvPr/>
          </p:nvSpPr>
          <p:spPr>
            <a:xfrm>
              <a:off x="731520" y="2606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14" name="Rounded Rectangle 13"/>
            <p:cNvSpPr/>
            <p:nvPr/>
          </p:nvSpPr>
          <p:spPr>
            <a:xfrm>
              <a:off x="3977640" y="2514600"/>
              <a:ext cx="3337560" cy="960120"/>
            </a:xfrm>
            <a:prstGeom prst="roundRect">
              <a:avLst>
                <a:gd name="adj" fmla="val 7619"/>
              </a:avLst>
            </a:prstGeom>
            <a:solidFill>
              <a:srgbClr val="2B2F36"/>
            </a:solidFill>
            <a:ln w="25400">
              <a:solidFill>
                <a:srgbClr val="B084F5"/>
              </a:solidFill>
              <a:prstDash val="dash"/>
            </a:ln>
          </p:spPr>
          <p:txBody>
            <a:bodyPr rtlCol="0" anchor="ctr"/>
            <a:lstStyle/>
            <a:p>
              <a:pPr algn="ctr"/>
            </a:p>
          </p:txBody>
        </p:sp>
        <p:sp>
          <p:nvSpPr>
            <p:cNvPr id="15" name="TextBox 14"/>
            <p:cNvSpPr txBox="1"/>
            <p:nvPr/>
          </p:nvSpPr>
          <p:spPr>
            <a:xfrm>
              <a:off x="4160520" y="2898648"/>
              <a:ext cx="3017520" cy="548640"/>
            </a:xfrm>
            <a:prstGeom prst="rect">
              <a:avLst/>
            </a:prstGeom>
            <a:noFill/>
          </p:spPr>
          <p:txBody>
            <a:bodyPr wrap="square" lIns="0" tIns="0" rIns="0" bIns="0" anchor="ctr">
              <a:noAutofit/>
            </a:bodyPr>
            <a:lstStyle/>
            <a:p>
              <a:pPr algn="l"/>
              <a:r>
                <a:rPr sz="1800" b="0" i="0" lang="en-GB">
                  <a:solidFill>
                    <a:srgbClr val="F2F2F2"/>
                  </a:solidFill>
                  <a:latin typeface="Arial"/>
                </a:rPr>
                <a:t>More locomotives</a:t>
              </a:r>
            </a:p>
          </p:txBody>
        </p:sp>
        <p:sp>
          <p:nvSpPr>
            <p:cNvPr id="16" name="Inline chip Proposed"/>
            <p:cNvSpPr/>
            <p:nvPr/>
          </p:nvSpPr>
          <p:spPr>
            <a:xfrm>
              <a:off x="4160520" y="2606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17" name="Rounded Rectangle 16"/>
            <p:cNvSpPr/>
            <p:nvPr/>
          </p:nvSpPr>
          <p:spPr>
            <a:xfrm>
              <a:off x="548640" y="1417320"/>
              <a:ext cx="3337560" cy="960120"/>
            </a:xfrm>
            <a:prstGeom prst="roundRect">
              <a:avLst>
                <a:gd name="adj" fmla="val 7619"/>
              </a:avLst>
            </a:prstGeom>
            <a:solidFill>
              <a:srgbClr val="2B2F36"/>
            </a:solidFill>
            <a:ln w="25400">
              <a:solidFill>
                <a:srgbClr val="B084F5"/>
              </a:solidFill>
              <a:prstDash val="dash"/>
            </a:ln>
          </p:spPr>
          <p:txBody>
            <a:bodyPr rtlCol="0" anchor="ctr"/>
            <a:lstStyle/>
            <a:p>
              <a:pPr algn="ctr"/>
            </a:p>
          </p:txBody>
        </p:sp>
        <p:sp>
          <p:nvSpPr>
            <p:cNvPr id="18" name="TextBox 17"/>
            <p:cNvSpPr txBox="1"/>
            <p:nvPr/>
          </p:nvSpPr>
          <p:spPr>
            <a:xfrm>
              <a:off x="731520" y="1801368"/>
              <a:ext cx="3017520" cy="548640"/>
            </a:xfrm>
            <a:prstGeom prst="rect">
              <a:avLst/>
            </a:prstGeom>
            <a:noFill/>
          </p:spPr>
          <p:txBody>
            <a:bodyPr wrap="square" lIns="0" tIns="0" rIns="0" bIns="0" anchor="ctr">
              <a:noAutofit/>
            </a:bodyPr>
            <a:lstStyle/>
            <a:p>
              <a:pPr algn="l"/>
              <a:r>
                <a:rPr sz="1800" b="0" i="0" lang="en-GB">
                  <a:solidFill>
                    <a:srgbClr val="F2F2F2"/>
                  </a:solidFill>
                  <a:latin typeface="Arial"/>
                </a:rPr>
                <a:t>Late-steam infrastructure</a:t>
              </a:r>
            </a:p>
          </p:txBody>
        </p:sp>
        <p:sp>
          <p:nvSpPr>
            <p:cNvPr id="19" name="Inline chip Proposed"/>
            <p:cNvSpPr/>
            <p:nvPr/>
          </p:nvSpPr>
          <p:spPr>
            <a:xfrm>
              <a:off x="731520" y="150876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20" name="Rounded Rectangle 19"/>
            <p:cNvSpPr/>
            <p:nvPr/>
          </p:nvSpPr>
          <p:spPr>
            <a:xfrm>
              <a:off x="3977640" y="1417320"/>
              <a:ext cx="3337560" cy="960120"/>
            </a:xfrm>
            <a:prstGeom prst="roundRect">
              <a:avLst>
                <a:gd name="adj" fmla="val 7619"/>
              </a:avLst>
            </a:prstGeom>
            <a:solidFill>
              <a:srgbClr val="2B2F36"/>
            </a:solidFill>
            <a:ln w="25400">
              <a:solidFill>
                <a:srgbClr val="B084F5"/>
              </a:solidFill>
              <a:prstDash val="dash"/>
            </a:ln>
          </p:spPr>
          <p:txBody>
            <a:bodyPr rtlCol="0" anchor="ctr"/>
            <a:lstStyle/>
            <a:p>
              <a:pPr algn="ctr"/>
            </a:p>
          </p:txBody>
        </p:sp>
        <p:sp>
          <p:nvSpPr>
            <p:cNvPr id="21" name="TextBox 20"/>
            <p:cNvSpPr txBox="1"/>
            <p:nvPr/>
          </p:nvSpPr>
          <p:spPr>
            <a:xfrm>
              <a:off x="4160520" y="1801368"/>
              <a:ext cx="3017520" cy="548640"/>
            </a:xfrm>
            <a:prstGeom prst="rect">
              <a:avLst/>
            </a:prstGeom>
            <a:noFill/>
          </p:spPr>
          <p:txBody>
            <a:bodyPr wrap="square" lIns="0" tIns="0" rIns="0" bIns="0" anchor="ctr">
              <a:noAutofit/>
            </a:bodyPr>
            <a:lstStyle/>
            <a:p>
              <a:pPr algn="l"/>
              <a:r>
                <a:rPr sz="1800" b="0" i="0" lang="en-GB">
                  <a:solidFill>
                    <a:srgbClr val="F2F2F2"/>
                  </a:solidFill>
                  <a:latin typeface="Arial"/>
                </a:rPr>
                <a:t>Advanced manual driving (optional)</a:t>
              </a:r>
            </a:p>
          </p:txBody>
        </p:sp>
        <p:sp>
          <p:nvSpPr>
            <p:cNvPr id="22" name="Inline chip Proposed"/>
            <p:cNvSpPr/>
            <p:nvPr/>
          </p:nvSpPr>
          <p:spPr>
            <a:xfrm>
              <a:off x="4160520" y="150876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grpSp>
      <p:pic>
        <p:nvPicPr>
          <p:cNvPr id="23" name="Picture P19" descr="Southern Railway West Country class No. 34007, side three-quarter view."/>
          <p:cNvPicPr>
            <a:picLocks noChangeAspect="1"/>
          </p:cNvPicPr>
          <p:nvPr/>
        </p:nvPicPr>
        <p:blipFill>
          <a:blip r:embed="rId2"/>
          <a:srcRect t="35" b="35"/>
          <a:stretch>
            <a:fillRect/>
          </a:stretch>
        </p:blipFill>
        <p:spPr>
          <a:xfrm>
            <a:off x="8165592" y="1417320"/>
            <a:ext cx="3474720" cy="2313432"/>
          </a:xfrm>
          <a:prstGeom prst="roundRect">
            <a:avLst>
              <a:gd name="adj" fmla="val 3162"/>
            </a:avLst>
          </a:prstGeom>
        </p:spPr>
      </p:pic>
      <p:sp>
        <p:nvSpPr>
          <p:cNvPr id="24" name="Credit"/>
          <p:cNvSpPr txBox="1"/>
          <p:nvPr/>
        </p:nvSpPr>
        <p:spPr>
          <a:xfrm>
            <a:off x="8165592" y="3758184"/>
            <a:ext cx="3474720" cy="182880"/>
          </a:xfrm>
          <a:prstGeom prst="rect">
            <a:avLst/>
          </a:prstGeom>
          <a:noFill/>
        </p:spPr>
        <p:txBody>
          <a:bodyPr wrap="square" lIns="0" tIns="0" rIns="0" bIns="0" anchor="t">
            <a:noAutofit/>
          </a:bodyPr>
          <a:lstStyle/>
          <a:p>
            <a:pPr algn="l"/>
            <a:r>
              <a:rPr sz="1000" b="0" i="0" lang="en-GB">
                <a:solidFill>
                  <a:srgbClr val="A9B0B8"/>
                </a:solidFill>
                <a:latin typeface="Arial"/>
              </a:rPr>
              <a:t>Photo: Ben Salter, CC BY 2.0, Wikimedia Commons.</a:t>
            </a:r>
          </a:p>
        </p:txBody>
      </p:sp>
      <p:sp>
        <p:nvSpPr>
          <p:cNvPr id="25" name="TextBox 24"/>
          <p:cNvSpPr txBox="1"/>
          <p:nvPr/>
        </p:nvSpPr>
        <p:spPr>
          <a:xfrm>
            <a:off x="8165592" y="4096512"/>
            <a:ext cx="3474720" cy="566928"/>
          </a:xfrm>
          <a:prstGeom prst="rect">
            <a:avLst/>
          </a:prstGeom>
          <a:noFill/>
        </p:spPr>
        <p:txBody>
          <a:bodyPr wrap="square" lIns="0" tIns="0" rIns="0" bIns="0" anchor="t">
            <a:noAutofit/>
          </a:bodyPr>
          <a:lstStyle/>
          <a:p>
            <a:pPr algn="l"/>
            <a:r>
              <a:rPr sz="1600" b="0" i="0" lang="en-GB">
                <a:solidFill>
                  <a:srgbClr val="F2F2F2"/>
                </a:solidFill>
                <a:latin typeface="Arial"/>
              </a:rPr>
              <a:t>Real British locomotives like this could appear.</a:t>
            </a:r>
          </a:p>
        </p:txBody>
      </p:sp>
      <p:sp>
        <p:nvSpPr>
          <p:cNvPr id="26" name="TextBox 25"/>
          <p:cNvSpPr txBox="1"/>
          <p:nvPr/>
        </p:nvSpPr>
        <p:spPr>
          <a:xfrm>
            <a:off x="548640" y="4754880"/>
            <a:ext cx="2743200" cy="329184"/>
          </a:xfrm>
          <a:prstGeom prst="rect">
            <a:avLst/>
          </a:prstGeom>
          <a:noFill/>
        </p:spPr>
        <p:txBody>
          <a:bodyPr wrap="square" lIns="0" tIns="0" rIns="0" bIns="0" anchor="ctr">
            <a:noAutofit/>
          </a:bodyPr>
          <a:lstStyle/>
          <a:p>
            <a:pPr algn="l"/>
            <a:r>
              <a:rPr sz="1800" b="0" i="0" lang="en-GB">
                <a:solidFill>
                  <a:srgbClr val="F2F2F2"/>
                </a:solidFill>
                <a:latin typeface="Arial"/>
              </a:rPr>
              <a:t>Which locomotives:</a:t>
            </a:r>
          </a:p>
        </p:txBody>
      </p:sp>
      <p:sp>
        <p:nvSpPr>
          <p:cNvPr id="27" name="Inline chip Undecided"/>
          <p:cNvSpPr/>
          <p:nvPr/>
        </p:nvSpPr>
        <p:spPr>
          <a:xfrm>
            <a:off x="2654995" y="4754880"/>
            <a:ext cx="2064980"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 (OQ20)</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After launch, optional packs could add locomotives, regional looks and deeper driving. The core game stays complete.</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LATER</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Regions and running numbers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Regional styles" descr="Three example regional styles: British, North American and Continental European. Examples only; launch regions are undecided."/>
          <p:cNvGrpSpPr/>
          <p:nvPr/>
        </p:nvGrpSpPr>
        <p:grpSpPr>
          <a:xfrm>
            <a:off x="548640" y="1463040"/>
            <a:ext cx="4206240" cy="1975104"/>
            <a:chOff x="548640" y="1463040"/>
            <a:chExt cx="4206240" cy="1975104"/>
          </a:xfrm>
        </p:grpSpPr>
        <p:sp>
          <p:nvSpPr>
            <p:cNvPr id="9" name="Rounded Rectangle 8"/>
            <p:cNvSpPr/>
            <p:nvPr/>
          </p:nvSpPr>
          <p:spPr>
            <a:xfrm>
              <a:off x="548640" y="1463040"/>
              <a:ext cx="4206240" cy="548640"/>
            </a:xfrm>
            <a:prstGeom prst="roundRect">
              <a:avLst>
                <a:gd name="adj" fmla="val 50000"/>
              </a:avLst>
            </a:prstGeom>
            <a:solidFill>
              <a:srgbClr val="2B2F36"/>
            </a:solidFill>
            <a:ln w="25400">
              <a:solidFill>
                <a:srgbClr val="F28C28"/>
              </a:solidFill>
            </a:ln>
          </p:spPr>
          <p:txBody>
            <a:bodyPr rtlCol="0" anchor="ctr" wrap="square" lIns="54864" tIns="18288" rIns="54864" bIns="18288">
              <a:noAutofit/>
            </a:bodyPr>
            <a:lstStyle/>
            <a:p>
              <a:pPr algn="ctr"/>
              <a:r>
                <a:rPr sz="2000" b="1" i="0" lang="en-GB">
                  <a:solidFill>
                    <a:srgbClr val="F2F2F2"/>
                  </a:solidFill>
                  <a:latin typeface="Arial"/>
                </a:rPr>
                <a:t>British</a:t>
              </a:r>
            </a:p>
          </p:txBody>
        </p:sp>
        <p:sp>
          <p:nvSpPr>
            <p:cNvPr id="10" name="Rounded Rectangle 9"/>
            <p:cNvSpPr/>
            <p:nvPr/>
          </p:nvSpPr>
          <p:spPr>
            <a:xfrm>
              <a:off x="548640" y="2176272"/>
              <a:ext cx="4206240" cy="548640"/>
            </a:xfrm>
            <a:prstGeom prst="roundRect">
              <a:avLst>
                <a:gd name="adj" fmla="val 50000"/>
              </a:avLst>
            </a:prstGeom>
            <a:solidFill>
              <a:srgbClr val="2B2F36"/>
            </a:solidFill>
            <a:ln w="25400">
              <a:solidFill>
                <a:srgbClr val="F28C28"/>
              </a:solidFill>
            </a:ln>
          </p:spPr>
          <p:txBody>
            <a:bodyPr rtlCol="0" anchor="ctr" wrap="square" lIns="54864" tIns="18288" rIns="54864" bIns="18288">
              <a:noAutofit/>
            </a:bodyPr>
            <a:lstStyle/>
            <a:p>
              <a:pPr algn="ctr"/>
              <a:r>
                <a:rPr sz="2000" b="1" i="0" lang="en-GB">
                  <a:solidFill>
                    <a:srgbClr val="F2F2F2"/>
                  </a:solidFill>
                  <a:latin typeface="Arial"/>
                </a:rPr>
                <a:t>North American</a:t>
              </a:r>
            </a:p>
          </p:txBody>
        </p:sp>
        <p:sp>
          <p:nvSpPr>
            <p:cNvPr id="11" name="Rounded Rectangle 10"/>
            <p:cNvSpPr/>
            <p:nvPr/>
          </p:nvSpPr>
          <p:spPr>
            <a:xfrm>
              <a:off x="548640" y="2889504"/>
              <a:ext cx="4206240" cy="548640"/>
            </a:xfrm>
            <a:prstGeom prst="roundRect">
              <a:avLst>
                <a:gd name="adj" fmla="val 50000"/>
              </a:avLst>
            </a:prstGeom>
            <a:solidFill>
              <a:srgbClr val="2B2F36"/>
            </a:solidFill>
            <a:ln w="25400">
              <a:solidFill>
                <a:srgbClr val="F28C28"/>
              </a:solidFill>
            </a:ln>
          </p:spPr>
          <p:txBody>
            <a:bodyPr rtlCol="0" anchor="ctr" wrap="square" lIns="54864" tIns="18288" rIns="54864" bIns="18288">
              <a:noAutofit/>
            </a:bodyPr>
            <a:lstStyle/>
            <a:p>
              <a:pPr algn="ctr"/>
              <a:r>
                <a:rPr sz="2000" b="1" i="0" lang="en-GB">
                  <a:solidFill>
                    <a:srgbClr val="F2F2F2"/>
                  </a:solidFill>
                  <a:latin typeface="Arial"/>
                </a:rPr>
                <a:t>Continental European</a:t>
              </a:r>
            </a:p>
          </p:txBody>
        </p:sp>
      </p:grpSp>
      <p:sp>
        <p:nvSpPr>
          <p:cNvPr id="12" name="TextBox 11"/>
          <p:cNvSpPr txBox="1"/>
          <p:nvPr/>
        </p:nvSpPr>
        <p:spPr>
          <a:xfrm>
            <a:off x="548640" y="3657600"/>
            <a:ext cx="3657600" cy="365760"/>
          </a:xfrm>
          <a:prstGeom prst="rect">
            <a:avLst/>
          </a:prstGeom>
          <a:noFill/>
        </p:spPr>
        <p:txBody>
          <a:bodyPr wrap="square" lIns="0" tIns="0" rIns="0" bIns="0" anchor="ctr">
            <a:noAutofit/>
          </a:bodyPr>
          <a:lstStyle/>
          <a:p>
            <a:pPr algn="l"/>
            <a:r>
              <a:rPr sz="1800" b="0" i="0" lang="en-GB">
                <a:solidFill>
                  <a:srgbClr val="F2F2F2"/>
                </a:solidFill>
                <a:latin typeface="Arial"/>
              </a:rPr>
              <a:t>Examples only. Launch regions:</a:t>
            </a:r>
          </a:p>
        </p:txBody>
      </p:sp>
      <p:sp>
        <p:nvSpPr>
          <p:cNvPr id="13" name="Inline chip Undecided"/>
          <p:cNvSpPr/>
          <p:nvPr/>
        </p:nvSpPr>
        <p:spPr>
          <a:xfrm>
            <a:off x="548640" y="4069080"/>
            <a:ext cx="2064980"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 (OQ06)</a:t>
            </a:r>
          </a:p>
        </p:txBody>
      </p:sp>
      <p:grpSp>
        <p:nvGrpSpPr>
          <p:cNvPr id="14" name="Number plate" descr="A locomotive number plate reading No. 1234: the visible running number, which you can change. Under it, a small hidden Fleet ID that never changes."/>
          <p:cNvGrpSpPr/>
          <p:nvPr/>
        </p:nvGrpSpPr>
        <p:grpSpPr>
          <a:xfrm>
            <a:off x="5760720" y="1417320"/>
            <a:ext cx="5879592" cy="3108960"/>
            <a:chOff x="5760720" y="1417320"/>
            <a:chExt cx="5879592" cy="3108960"/>
          </a:xfrm>
        </p:grpSpPr>
        <p:sp>
          <p:nvSpPr>
            <p:cNvPr id="15" name="Rounded Rectangle 14"/>
            <p:cNvSpPr/>
            <p:nvPr/>
          </p:nvSpPr>
          <p:spPr>
            <a:xfrm>
              <a:off x="5760720" y="1417320"/>
              <a:ext cx="5879592" cy="3108960"/>
            </a:xfrm>
            <a:prstGeom prst="roundRect">
              <a:avLst>
                <a:gd name="adj" fmla="val 3529"/>
              </a:avLst>
            </a:prstGeom>
            <a:solidFill>
              <a:srgbClr val="2B2F36"/>
            </a:solidFill>
            <a:ln>
              <a:noFill/>
            </a:ln>
          </p:spPr>
          <p:txBody>
            <a:bodyPr rtlCol="0" anchor="ctr"/>
            <a:lstStyle/>
            <a:p>
              <a:pPr algn="ctr"/>
            </a:p>
          </p:txBody>
        </p:sp>
        <p:sp>
          <p:nvSpPr>
            <p:cNvPr id="16" name="Rounded Rectangle 15"/>
            <p:cNvSpPr/>
            <p:nvPr/>
          </p:nvSpPr>
          <p:spPr>
            <a:xfrm>
              <a:off x="6583680" y="1691640"/>
              <a:ext cx="4206240" cy="1325880"/>
            </a:xfrm>
            <a:prstGeom prst="roundRect">
              <a:avLst>
                <a:gd name="adj" fmla="val 13793"/>
              </a:avLst>
            </a:prstGeom>
            <a:solidFill>
              <a:srgbClr val="1B1D21"/>
            </a:solidFill>
            <a:ln w="50800">
              <a:solidFill>
                <a:srgbClr val="F28C28"/>
              </a:solidFill>
            </a:ln>
          </p:spPr>
          <p:txBody>
            <a:bodyPr rtlCol="0" anchor="ctr" wrap="square" lIns="73152" tIns="36576" rIns="73152" bIns="36576">
              <a:noAutofit/>
            </a:bodyPr>
            <a:lstStyle/>
            <a:p>
              <a:pPr algn="ctr"/>
              <a:r>
                <a:rPr sz="5400" b="1" i="0" lang="en-GB">
                  <a:solidFill>
                    <a:srgbClr val="F28C28"/>
                  </a:solidFill>
                  <a:latin typeface="Arial"/>
                </a:rPr>
                <a:t>No. 1234</a:t>
              </a:r>
            </a:p>
          </p:txBody>
        </p:sp>
        <p:sp>
          <p:nvSpPr>
            <p:cNvPr id="17" name="TextBox 16"/>
            <p:cNvSpPr txBox="1"/>
            <p:nvPr/>
          </p:nvSpPr>
          <p:spPr>
            <a:xfrm>
              <a:off x="6583680" y="3072384"/>
              <a:ext cx="4206240" cy="384048"/>
            </a:xfrm>
            <a:prstGeom prst="rect">
              <a:avLst/>
            </a:prstGeom>
            <a:noFill/>
          </p:spPr>
          <p:txBody>
            <a:bodyPr wrap="square" lIns="0" tIns="0" rIns="0" bIns="0" anchor="t">
              <a:noAutofit/>
            </a:bodyPr>
            <a:lstStyle/>
            <a:p>
              <a:pPr algn="ctr"/>
              <a:r>
                <a:rPr sz="1800" b="1" i="0" lang="en-GB">
                  <a:solidFill>
                    <a:srgbClr val="F2F2F2"/>
                  </a:solidFill>
                  <a:latin typeface="Arial"/>
                </a:rPr>
                <a:t>Visible number</a:t>
              </a:r>
            </a:p>
          </p:txBody>
        </p:sp>
        <p:sp>
          <p:nvSpPr>
            <p:cNvPr id="18" name="Rounded Rectangle 17"/>
            <p:cNvSpPr/>
            <p:nvPr/>
          </p:nvSpPr>
          <p:spPr>
            <a:xfrm>
              <a:off x="6583680" y="3657600"/>
              <a:ext cx="4206240" cy="502920"/>
            </a:xfrm>
            <a:prstGeom prst="roundRect">
              <a:avLst>
                <a:gd name="adj" fmla="val 14545"/>
              </a:avLst>
            </a:prstGeom>
            <a:solidFill>
              <a:srgbClr val="343A43"/>
            </a:solidFill>
            <a:ln w="12700">
              <a:solidFill>
                <a:srgbClr val="4A515B"/>
              </a:solidFill>
              <a:prstDash val="dash"/>
            </a:ln>
          </p:spPr>
          <p:txBody>
            <a:bodyPr rtlCol="0" anchor="ctr" wrap="square" lIns="73152" tIns="36576" rIns="73152" bIns="36576">
              <a:noAutofit/>
            </a:bodyPr>
            <a:lstStyle/>
            <a:p>
              <a:pPr algn="ctr"/>
              <a:r>
                <a:rPr sz="1600" b="0" i="0" lang="en-GB">
                  <a:solidFill>
                    <a:srgbClr val="F2F2F2"/>
                  </a:solidFill>
                  <a:latin typeface="Arial"/>
                </a:rPr>
                <a:t>Fleet ID: hidden, never changes</a:t>
              </a:r>
            </a:p>
          </p:txBody>
        </p:sp>
      </p:grpSp>
      <p:sp>
        <p:nvSpPr>
          <p:cNvPr id="19" name="TextBox 18"/>
          <p:cNvSpPr txBox="1"/>
          <p:nvPr/>
        </p:nvSpPr>
        <p:spPr>
          <a:xfrm>
            <a:off x="548640" y="4800600"/>
            <a:ext cx="6400800" cy="365760"/>
          </a:xfrm>
          <a:prstGeom prst="rect">
            <a:avLst/>
          </a:prstGeom>
          <a:noFill/>
        </p:spPr>
        <p:txBody>
          <a:bodyPr wrap="square" lIns="0" tIns="0" rIns="0" bIns="0" anchor="ctr">
            <a:noAutofit/>
          </a:bodyPr>
          <a:lstStyle/>
          <a:p>
            <a:pPr algn="l"/>
            <a:r>
              <a:rPr sz="1800" b="0" i="0" lang="en-GB">
                <a:solidFill>
                  <a:srgbClr val="F2F2F2"/>
                </a:solidFill>
                <a:latin typeface="Arial"/>
              </a:rPr>
              <a:t>Changing region restyles Core stock. Migration:</a:t>
            </a:r>
          </a:p>
        </p:txBody>
      </p:sp>
      <p:sp>
        <p:nvSpPr>
          <p:cNvPr id="20" name="Inline chip Undecided"/>
          <p:cNvSpPr/>
          <p:nvPr/>
        </p:nvSpPr>
        <p:spPr>
          <a:xfrm>
            <a:off x="5501680" y="4818888"/>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The world picks a regional style. Each engine has a hidden permanent ID and a number you can change.</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EXTRAS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Your railway guide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rtlCol="0" anchor="ctr" wrap="square" lIns="54864" tIns="18288" rIns="54864" bIns="18288">
            <a:noAutofit/>
          </a:bodyPr>
          <a:lstStyle/>
          <a:p>
            <a:pPr algn="ctr"/>
            <a:r>
              <a:rPr sz="1400" b="1" i="0" lang="en-GB">
                <a:solidFill>
                  <a:srgbClr val="101418"/>
                </a:solidFill>
                <a:latin typeface="Arial"/>
              </a:rPr>
              <a:t>AGREED</a:t>
            </a:r>
          </a:p>
        </p:txBody>
      </p:sp>
      <p:grpSp>
        <p:nvGrpSpPr>
          <p:cNvPr id="8" name="Lesson table" descr="A miniature lesson scene on a clean white model-railway table: an oval of track, a tiny train, a semaphore and a signal box, with a caption bubble and playback controls (pause, replay, back, next)."/>
          <p:cNvGrpSpPr/>
          <p:nvPr/>
        </p:nvGrpSpPr>
        <p:grpSpPr>
          <a:xfrm>
            <a:off x="548640" y="1371600"/>
            <a:ext cx="6949440" cy="3931920"/>
            <a:chOff x="548640" y="1371600"/>
            <a:chExt cx="6949440" cy="3931920"/>
          </a:xfrm>
        </p:grpSpPr>
        <p:sp>
          <p:nvSpPr>
            <p:cNvPr id="9" name="Rounded Rectangle 8"/>
            <p:cNvSpPr/>
            <p:nvPr/>
          </p:nvSpPr>
          <p:spPr>
            <a:xfrm>
              <a:off x="548640" y="1371600"/>
              <a:ext cx="6949440" cy="3200400"/>
            </a:xfrm>
            <a:prstGeom prst="roundRect">
              <a:avLst>
                <a:gd name="adj" fmla="val 4285"/>
              </a:avLst>
            </a:prstGeom>
            <a:solidFill>
              <a:srgbClr val="F2F2F2"/>
            </a:solidFill>
            <a:ln>
              <a:noFill/>
            </a:ln>
          </p:spPr>
          <p:txBody>
            <a:bodyPr rtlCol="0" anchor="ctr"/>
            <a:lstStyle/>
            <a:p>
              <a:pPr algn="ctr"/>
            </a:p>
          </p:txBody>
        </p:sp>
        <p:sp>
          <p:nvSpPr>
            <p:cNvPr id="10" name="Oval 9"/>
            <p:cNvSpPr/>
            <p:nvPr/>
          </p:nvSpPr>
          <p:spPr>
            <a:xfrm>
              <a:off x="1600200" y="2034540"/>
              <a:ext cx="4846320" cy="2240280"/>
            </a:xfrm>
            <a:prstGeom prst="ellipse">
              <a:avLst/>
            </a:prstGeom>
            <a:noFill/>
            <a:ln w="38100">
              <a:solidFill>
                <a:srgbClr val="5A6068"/>
              </a:solidFill>
            </a:ln>
          </p:spPr>
          <p:txBody>
            <a:bodyPr rtlCol="0" anchor="ctr"/>
            <a:lstStyle/>
            <a:p>
              <a:pPr algn="ctr"/>
            </a:p>
          </p:txBody>
        </p:sp>
        <p:sp>
          <p:nvSpPr>
            <p:cNvPr id="11" name="Oval 10"/>
            <p:cNvSpPr/>
            <p:nvPr/>
          </p:nvSpPr>
          <p:spPr>
            <a:xfrm>
              <a:off x="1828800" y="2263140"/>
              <a:ext cx="4389120" cy="1783080"/>
            </a:xfrm>
            <a:prstGeom prst="ellipse">
              <a:avLst/>
            </a:prstGeom>
            <a:noFill/>
            <a:ln w="38100">
              <a:solidFill>
                <a:srgbClr val="5A6068"/>
              </a:solidFill>
            </a:ln>
          </p:spPr>
          <p:txBody>
            <a:bodyPr rtlCol="0" anchor="ctr"/>
            <a:lstStyle/>
            <a:p>
              <a:pPr algn="ctr"/>
            </a:p>
          </p:txBody>
        </p:sp>
        <p:grpSp>
          <p:nvGrpSpPr>
            <p:cNvPr id="12" name="Tiny train" descr="A steam train: an engine pulling wagons."/>
            <p:cNvGrpSpPr/>
            <p:nvPr/>
          </p:nvGrpSpPr>
          <p:grpSpPr>
            <a:xfrm>
              <a:off x="3246120" y="3756812"/>
              <a:ext cx="945490" cy="467716"/>
              <a:chOff x="3246120" y="3756812"/>
              <a:chExt cx="945490" cy="467716"/>
            </a:xfrm>
          </p:grpSpPr>
          <p:sp>
            <p:nvSpPr>
              <p:cNvPr id="13" name="Rectangle 12"/>
              <p:cNvSpPr/>
              <p:nvPr/>
            </p:nvSpPr>
            <p:spPr>
              <a:xfrm>
                <a:off x="3246120" y="3937864"/>
                <a:ext cx="402336" cy="226314"/>
              </a:xfrm>
              <a:prstGeom prst="rect">
                <a:avLst/>
              </a:prstGeom>
              <a:solidFill>
                <a:srgbClr val="6C7480"/>
              </a:solidFill>
              <a:ln w="9525">
                <a:solidFill>
                  <a:srgbClr val="101418"/>
                </a:solidFill>
              </a:ln>
            </p:spPr>
            <p:txBody>
              <a:bodyPr rtlCol="0" anchor="ctr"/>
              <a:lstStyle/>
              <a:p>
                <a:pPr algn="ctr"/>
              </a:p>
            </p:txBody>
          </p:sp>
          <p:sp>
            <p:nvSpPr>
              <p:cNvPr id="14" name="Oval 13"/>
              <p:cNvSpPr/>
              <p:nvPr/>
            </p:nvSpPr>
            <p:spPr>
              <a:xfrm>
                <a:off x="3296412" y="4123944"/>
                <a:ext cx="100584" cy="100584"/>
              </a:xfrm>
              <a:prstGeom prst="ellipse">
                <a:avLst/>
              </a:prstGeom>
              <a:solidFill>
                <a:srgbClr val="1B1D21"/>
              </a:solidFill>
              <a:ln w="12700">
                <a:solidFill>
                  <a:srgbClr val="9AA0A6"/>
                </a:solidFill>
              </a:ln>
            </p:spPr>
            <p:txBody>
              <a:bodyPr rtlCol="0" anchor="ctr"/>
              <a:lstStyle/>
              <a:p>
                <a:pPr algn="ctr"/>
              </a:p>
            </p:txBody>
          </p:sp>
          <p:sp>
            <p:nvSpPr>
              <p:cNvPr id="15" name="Oval 14"/>
              <p:cNvSpPr/>
              <p:nvPr/>
            </p:nvSpPr>
            <p:spPr>
              <a:xfrm>
                <a:off x="3497580" y="4123944"/>
                <a:ext cx="100584" cy="100584"/>
              </a:xfrm>
              <a:prstGeom prst="ellipse">
                <a:avLst/>
              </a:prstGeom>
              <a:solidFill>
                <a:srgbClr val="1B1D21"/>
              </a:solidFill>
              <a:ln w="12700">
                <a:solidFill>
                  <a:srgbClr val="9AA0A6"/>
                </a:solidFill>
              </a:ln>
            </p:spPr>
            <p:txBody>
              <a:bodyPr rtlCol="0" anchor="ctr"/>
              <a:lstStyle/>
              <a:p>
                <a:pPr algn="ctr"/>
              </a:p>
            </p:txBody>
          </p:sp>
          <p:sp>
            <p:nvSpPr>
              <p:cNvPr id="16" name="Rectangle 15"/>
              <p:cNvSpPr/>
              <p:nvPr/>
            </p:nvSpPr>
            <p:spPr>
              <a:xfrm>
                <a:off x="3648456" y="4098798"/>
                <a:ext cx="40234" cy="25146"/>
              </a:xfrm>
              <a:prstGeom prst="rect">
                <a:avLst/>
              </a:prstGeom>
              <a:solidFill>
                <a:srgbClr val="9AA0A6"/>
              </a:solidFill>
              <a:ln>
                <a:noFill/>
              </a:ln>
            </p:spPr>
            <p:txBody>
              <a:bodyPr rtlCol="0" anchor="ctr"/>
              <a:lstStyle/>
              <a:p>
                <a:pPr algn="ctr"/>
              </a:p>
            </p:txBody>
          </p:sp>
          <p:sp>
            <p:nvSpPr>
              <p:cNvPr id="17" name="Rectangle 16"/>
              <p:cNvSpPr/>
              <p:nvPr/>
            </p:nvSpPr>
            <p:spPr>
              <a:xfrm>
                <a:off x="3688690" y="3897630"/>
                <a:ext cx="502920" cy="276606"/>
              </a:xfrm>
              <a:prstGeom prst="rect">
                <a:avLst/>
              </a:prstGeom>
              <a:solidFill>
                <a:srgbClr val="F28C28"/>
              </a:solidFill>
              <a:ln w="9525">
                <a:solidFill>
                  <a:srgbClr val="101418"/>
                </a:solidFill>
              </a:ln>
            </p:spPr>
            <p:txBody>
              <a:bodyPr rtlCol="0" anchor="ctr"/>
              <a:lstStyle/>
              <a:p>
                <a:pPr algn="ctr"/>
              </a:p>
            </p:txBody>
          </p:sp>
          <p:sp>
            <p:nvSpPr>
              <p:cNvPr id="18" name="Bunker"/>
              <p:cNvSpPr/>
              <p:nvPr/>
            </p:nvSpPr>
            <p:spPr>
              <a:xfrm>
                <a:off x="3703777" y="3912718"/>
                <a:ext cx="130759" cy="100584"/>
              </a:xfrm>
              <a:prstGeom prst="rect">
                <a:avLst/>
              </a:prstGeom>
              <a:solidFill>
                <a:srgbClr val="1B1D21"/>
              </a:solidFill>
              <a:ln>
                <a:noFill/>
              </a:ln>
            </p:spPr>
            <p:txBody>
              <a:bodyPr rtlCol="0" anchor="ctr"/>
              <a:lstStyle/>
              <a:p>
                <a:pPr algn="ctr"/>
              </a:p>
            </p:txBody>
          </p:sp>
          <p:sp>
            <p:nvSpPr>
              <p:cNvPr id="19" name="Rectangle 18"/>
              <p:cNvSpPr/>
              <p:nvPr/>
            </p:nvSpPr>
            <p:spPr>
              <a:xfrm>
                <a:off x="3859682" y="3932834"/>
                <a:ext cx="70409" cy="70409"/>
              </a:xfrm>
              <a:prstGeom prst="rect">
                <a:avLst/>
              </a:prstGeom>
              <a:solidFill>
                <a:srgbClr val="2B2F36"/>
              </a:solidFill>
              <a:ln>
                <a:noFill/>
              </a:ln>
            </p:spPr>
            <p:txBody>
              <a:bodyPr rtlCol="0" anchor="ctr"/>
              <a:lstStyle/>
              <a:p>
                <a:pPr algn="ctr"/>
              </a:p>
            </p:txBody>
          </p:sp>
          <p:sp>
            <p:nvSpPr>
              <p:cNvPr id="20" name="Chimney"/>
              <p:cNvSpPr/>
              <p:nvPr/>
            </p:nvSpPr>
            <p:spPr>
              <a:xfrm>
                <a:off x="4080967" y="3756812"/>
                <a:ext cx="75438" cy="150876"/>
              </a:xfrm>
              <a:prstGeom prst="rect">
                <a:avLst/>
              </a:prstGeom>
              <a:solidFill>
                <a:srgbClr val="1B1D21"/>
              </a:solidFill>
              <a:ln>
                <a:noFill/>
              </a:ln>
            </p:spPr>
            <p:txBody>
              <a:bodyPr rtlCol="0" anchor="ctr"/>
              <a:lstStyle/>
              <a:p>
                <a:pPr algn="ctr"/>
              </a:p>
            </p:txBody>
          </p:sp>
          <p:sp>
            <p:nvSpPr>
              <p:cNvPr id="21" name="Oval 20"/>
              <p:cNvSpPr/>
              <p:nvPr/>
            </p:nvSpPr>
            <p:spPr>
              <a:xfrm>
                <a:off x="3738982" y="4123944"/>
                <a:ext cx="100584" cy="100584"/>
              </a:xfrm>
              <a:prstGeom prst="ellipse">
                <a:avLst/>
              </a:prstGeom>
              <a:solidFill>
                <a:srgbClr val="1B1D21"/>
              </a:solidFill>
              <a:ln w="12700">
                <a:solidFill>
                  <a:srgbClr val="9AA0A6"/>
                </a:solidFill>
              </a:ln>
            </p:spPr>
            <p:txBody>
              <a:bodyPr rtlCol="0" anchor="ctr"/>
              <a:lstStyle/>
              <a:p>
                <a:pPr algn="ctr"/>
              </a:p>
            </p:txBody>
          </p:sp>
          <p:sp>
            <p:nvSpPr>
              <p:cNvPr id="22" name="Oval 21"/>
              <p:cNvSpPr/>
              <p:nvPr/>
            </p:nvSpPr>
            <p:spPr>
              <a:xfrm>
                <a:off x="3889858" y="4123944"/>
                <a:ext cx="100584" cy="100584"/>
              </a:xfrm>
              <a:prstGeom prst="ellipse">
                <a:avLst/>
              </a:prstGeom>
              <a:solidFill>
                <a:srgbClr val="1B1D21"/>
              </a:solidFill>
              <a:ln w="12700">
                <a:solidFill>
                  <a:srgbClr val="9AA0A6"/>
                </a:solidFill>
              </a:ln>
            </p:spPr>
            <p:txBody>
              <a:bodyPr rtlCol="0" anchor="ctr"/>
              <a:lstStyle/>
              <a:p>
                <a:pPr algn="ctr"/>
              </a:p>
            </p:txBody>
          </p:sp>
          <p:sp>
            <p:nvSpPr>
              <p:cNvPr id="23" name="Oval 22"/>
              <p:cNvSpPr/>
              <p:nvPr/>
            </p:nvSpPr>
            <p:spPr>
              <a:xfrm>
                <a:off x="4040734" y="4123944"/>
                <a:ext cx="100584" cy="100584"/>
              </a:xfrm>
              <a:prstGeom prst="ellipse">
                <a:avLst/>
              </a:prstGeom>
              <a:solidFill>
                <a:srgbClr val="1B1D21"/>
              </a:solidFill>
              <a:ln w="12700">
                <a:solidFill>
                  <a:srgbClr val="9AA0A6"/>
                </a:solidFill>
              </a:ln>
            </p:spPr>
            <p:txBody>
              <a:bodyPr rtlCol="0" anchor="ctr"/>
              <a:lstStyle/>
              <a:p>
                <a:pPr algn="ctr"/>
              </a:p>
            </p:txBody>
          </p:sp>
        </p:grpSp>
        <p:grpSp>
          <p:nvGrpSpPr>
            <p:cNvPr id="24" name="Signal clear" descr="Semaphore stop signal, arm raised: CLEAR."/>
            <p:cNvGrpSpPr/>
            <p:nvPr/>
          </p:nvGrpSpPr>
          <p:grpSpPr>
            <a:xfrm>
              <a:off x="6534893" y="2550395"/>
              <a:ext cx="589426" cy="970045"/>
              <a:chOff x="6534893" y="2550395"/>
              <a:chExt cx="589426" cy="970045"/>
            </a:xfrm>
          </p:grpSpPr>
          <p:sp>
            <p:nvSpPr>
              <p:cNvPr id="25" name="Rectangle 24"/>
              <p:cNvSpPr/>
              <p:nvPr/>
            </p:nvSpPr>
            <p:spPr>
              <a:xfrm>
                <a:off x="6832854" y="3472434"/>
                <a:ext cx="233172" cy="48006"/>
              </a:xfrm>
              <a:prstGeom prst="rect">
                <a:avLst/>
              </a:prstGeom>
              <a:solidFill>
                <a:srgbClr val="9AA0A6"/>
              </a:solidFill>
              <a:ln>
                <a:noFill/>
              </a:ln>
            </p:spPr>
            <p:txBody>
              <a:bodyPr rtlCol="0" anchor="ctr"/>
              <a:lstStyle/>
              <a:p>
                <a:pPr algn="ctr"/>
              </a:p>
            </p:txBody>
          </p:sp>
          <p:sp>
            <p:nvSpPr>
              <p:cNvPr id="26" name="Rectangle 25"/>
              <p:cNvSpPr/>
              <p:nvPr/>
            </p:nvSpPr>
            <p:spPr>
              <a:xfrm>
                <a:off x="6908292" y="2766060"/>
                <a:ext cx="82296" cy="754380"/>
              </a:xfrm>
              <a:prstGeom prst="rect">
                <a:avLst/>
              </a:prstGeom>
              <a:solidFill>
                <a:srgbClr val="5A6068"/>
              </a:solidFill>
              <a:ln>
                <a:noFill/>
              </a:ln>
            </p:spPr>
            <p:txBody>
              <a:bodyPr rtlCol="0" anchor="ctr"/>
              <a:lstStyle/>
              <a:p>
                <a:pPr algn="ctr"/>
              </a:p>
            </p:txBody>
          </p:sp>
          <p:sp>
            <p:nvSpPr>
              <p:cNvPr id="27" name="Oval 26"/>
              <p:cNvSpPr/>
              <p:nvPr/>
            </p:nvSpPr>
            <p:spPr>
              <a:xfrm>
                <a:off x="6901434" y="2690622"/>
                <a:ext cx="96012" cy="96012"/>
              </a:xfrm>
              <a:prstGeom prst="ellipse">
                <a:avLst/>
              </a:prstGeom>
              <a:solidFill>
                <a:srgbClr val="5A6068"/>
              </a:solidFill>
              <a:ln>
                <a:noFill/>
              </a:ln>
            </p:spPr>
            <p:txBody>
              <a:bodyPr rtlCol="0" anchor="ctr"/>
              <a:lstStyle/>
              <a:p>
                <a:pPr algn="ctr"/>
              </a:p>
            </p:txBody>
          </p:sp>
          <p:sp>
            <p:nvSpPr>
              <p:cNvPr id="28" name="Freeform 27"/>
              <p:cNvSpPr/>
              <p:nvPr/>
            </p:nvSpPr>
            <p:spPr>
              <a:xfrm>
                <a:off x="6534893" y="2550395"/>
                <a:ext cx="407344" cy="407344"/>
              </a:xfrm>
              <a:custGeom>
                <a:avLst/>
                <a:gdLst/>
                <a:ahLst/>
                <a:cxnLst/>
                <a:rect l="l" t="t" r="r" b="b"/>
                <a:pathLst>
                  <a:path w="407344" h="407344">
                    <a:moveTo>
                      <a:pt x="407344" y="339454"/>
                    </a:moveTo>
                    <a:lnTo>
                      <a:pt x="67891" y="0"/>
                    </a:lnTo>
                    <a:lnTo>
                      <a:pt x="0" y="67891"/>
                    </a:lnTo>
                    <a:lnTo>
                      <a:pt x="339454" y="407344"/>
                    </a:lnTo>
                    <a:close/>
                  </a:path>
                </a:pathLst>
              </a:custGeom>
              <a:solidFill>
                <a:srgbClr val="E5484D"/>
              </a:solidFill>
              <a:ln w="9525">
                <a:solidFill>
                  <a:srgbClr val="101418"/>
                </a:solidFill>
              </a:ln>
            </p:spPr>
            <p:txBody>
              <a:bodyPr rtlCol="0" anchor="ctr"/>
              <a:lstStyle/>
              <a:p>
                <a:pPr algn="ctr"/>
              </a:p>
            </p:txBody>
          </p:sp>
          <p:sp>
            <p:nvSpPr>
              <p:cNvPr id="29" name="Freeform 28"/>
              <p:cNvSpPr/>
              <p:nvPr/>
            </p:nvSpPr>
            <p:spPr>
              <a:xfrm>
                <a:off x="6623151" y="2638653"/>
                <a:ext cx="108625" cy="108625"/>
              </a:xfrm>
              <a:custGeom>
                <a:avLst/>
                <a:gdLst/>
                <a:ahLst/>
                <a:cxnLst/>
                <a:rect l="l" t="t" r="r" b="b"/>
                <a:pathLst>
                  <a:path w="108625" h="108625">
                    <a:moveTo>
                      <a:pt x="108625" y="40734"/>
                    </a:moveTo>
                    <a:lnTo>
                      <a:pt x="67891" y="0"/>
                    </a:lnTo>
                    <a:lnTo>
                      <a:pt x="0" y="67891"/>
                    </a:lnTo>
                    <a:lnTo>
                      <a:pt x="40734" y="108625"/>
                    </a:lnTo>
                    <a:close/>
                  </a:path>
                </a:pathLst>
              </a:custGeom>
              <a:solidFill>
                <a:srgbClr val="FFFFFF"/>
              </a:solidFill>
              <a:ln>
                <a:noFill/>
              </a:ln>
            </p:spPr>
            <p:txBody>
              <a:bodyPr rtlCol="0" anchor="ctr"/>
              <a:lstStyle/>
              <a:p>
                <a:pPr algn="ctr"/>
              </a:p>
            </p:txBody>
          </p:sp>
          <p:sp>
            <p:nvSpPr>
              <p:cNvPr id="30" name="Oval 29"/>
              <p:cNvSpPr/>
              <p:nvPr/>
            </p:nvSpPr>
            <p:spPr>
              <a:xfrm>
                <a:off x="7007733" y="2865501"/>
                <a:ext cx="116586" cy="116586"/>
              </a:xfrm>
              <a:prstGeom prst="ellipse">
                <a:avLst/>
              </a:prstGeom>
              <a:solidFill>
                <a:srgbClr val="3FB950"/>
              </a:solidFill>
              <a:ln w="9525">
                <a:solidFill>
                  <a:srgbClr val="101418"/>
                </a:solidFill>
              </a:ln>
            </p:spPr>
            <p:txBody>
              <a:bodyPr rtlCol="0" anchor="ctr"/>
              <a:lstStyle/>
              <a:p>
                <a:pPr algn="ctr"/>
              </a:p>
            </p:txBody>
          </p:sp>
        </p:grpSp>
        <p:sp>
          <p:nvSpPr>
            <p:cNvPr id="31" name="Freeform 30"/>
            <p:cNvSpPr/>
            <p:nvPr/>
          </p:nvSpPr>
          <p:spPr>
            <a:xfrm>
              <a:off x="960120" y="1997964"/>
              <a:ext cx="914400" cy="150876"/>
            </a:xfrm>
            <a:custGeom>
              <a:avLst/>
              <a:gdLst/>
              <a:ahLst/>
              <a:cxnLst/>
              <a:rect l="l" t="t" r="r" b="b"/>
              <a:pathLst>
                <a:path w="914400" h="150876">
                  <a:moveTo>
                    <a:pt x="0" y="150876"/>
                  </a:moveTo>
                  <a:lnTo>
                    <a:pt x="457200" y="0"/>
                  </a:lnTo>
                  <a:lnTo>
                    <a:pt x="914400" y="150876"/>
                  </a:lnTo>
                  <a:close/>
                </a:path>
              </a:pathLst>
            </a:custGeom>
            <a:solidFill>
              <a:srgbClr val="4A515B"/>
            </a:solidFill>
            <a:ln w="19050">
              <a:solidFill>
                <a:srgbClr val="F28C28"/>
              </a:solidFill>
            </a:ln>
          </p:spPr>
          <p:txBody>
            <a:bodyPr rtlCol="0" anchor="ctr"/>
            <a:lstStyle/>
            <a:p>
              <a:pPr algn="ctr"/>
            </a:p>
          </p:txBody>
        </p:sp>
        <p:sp>
          <p:nvSpPr>
            <p:cNvPr id="32" name="Rectangle 31"/>
            <p:cNvSpPr/>
            <p:nvPr/>
          </p:nvSpPr>
          <p:spPr>
            <a:xfrm>
              <a:off x="1051560" y="2148840"/>
              <a:ext cx="731520" cy="502920"/>
            </a:xfrm>
            <a:prstGeom prst="rect">
              <a:avLst/>
            </a:prstGeom>
            <a:solidFill>
              <a:srgbClr val="2B2F36"/>
            </a:solidFill>
            <a:ln w="19050">
              <a:solidFill>
                <a:srgbClr val="F28C28"/>
              </a:solidFill>
            </a:ln>
          </p:spPr>
          <p:txBody>
            <a:bodyPr rtlCol="0" anchor="ctr"/>
            <a:lstStyle/>
            <a:p>
              <a:pPr algn="ctr"/>
            </a:p>
          </p:txBody>
        </p:sp>
        <p:sp>
          <p:nvSpPr>
            <p:cNvPr id="33" name="Rectangle 32"/>
            <p:cNvSpPr/>
            <p:nvPr/>
          </p:nvSpPr>
          <p:spPr>
            <a:xfrm>
              <a:off x="1143000" y="2258568"/>
              <a:ext cx="548640" cy="140818"/>
            </a:xfrm>
            <a:prstGeom prst="rect">
              <a:avLst/>
            </a:prstGeom>
            <a:solidFill>
              <a:srgbClr val="37587C"/>
            </a:solidFill>
            <a:ln w="9525">
              <a:solidFill>
                <a:srgbClr val="9AA0A6"/>
              </a:solidFill>
            </a:ln>
          </p:spPr>
          <p:txBody>
            <a:bodyPr rtlCol="0" anchor="ctr"/>
            <a:lstStyle/>
            <a:p>
              <a:pPr algn="ctr"/>
            </a:p>
          </p:txBody>
        </p:sp>
        <p:sp>
          <p:nvSpPr>
            <p:cNvPr id="34" name="Rounded Rectangular Callout 33"/>
            <p:cNvSpPr/>
            <p:nvPr/>
          </p:nvSpPr>
          <p:spPr>
            <a:xfrm>
              <a:off x="2377440" y="1572768"/>
              <a:ext cx="3291840" cy="502920"/>
            </a:xfrm>
            <a:prstGeom prst="wedgeRoundRectCallout">
              <a:avLst/>
            </a:prstGeom>
            <a:solidFill>
              <a:srgbClr val="2B2F36"/>
            </a:solidFill>
            <a:ln w="19050">
              <a:solidFill>
                <a:srgbClr val="F28C28"/>
              </a:solidFill>
            </a:ln>
          </p:spPr>
          <p:txBody>
            <a:bodyPr rtlCol="0" anchor="ctr" wrap="square" lIns="73152" tIns="36576" rIns="73152" bIns="36576">
              <a:noAutofit/>
            </a:bodyPr>
            <a:lstStyle/>
            <a:p>
              <a:pPr algn="ctr"/>
              <a:r>
                <a:rPr sz="1600" b="0" i="0" lang="en-GB">
                  <a:solidFill>
                    <a:srgbClr val="F2F2F2"/>
                  </a:solidFill>
                  <a:latin typeface="Arial"/>
                </a:rPr>
                <a:t>Short caption here</a:t>
              </a:r>
            </a:p>
          </p:txBody>
        </p:sp>
        <p:sp>
          <p:nvSpPr>
            <p:cNvPr id="35" name="Rounded Rectangle 34"/>
            <p:cNvSpPr/>
            <p:nvPr/>
          </p:nvSpPr>
          <p:spPr>
            <a:xfrm>
              <a:off x="548640" y="4681728"/>
              <a:ext cx="6949440" cy="621792"/>
            </a:xfrm>
            <a:prstGeom prst="roundRect">
              <a:avLst>
                <a:gd name="adj" fmla="val 14705"/>
              </a:avLst>
            </a:prstGeom>
            <a:solidFill>
              <a:srgbClr val="2B2F36"/>
            </a:solidFill>
            <a:ln>
              <a:noFill/>
            </a:ln>
          </p:spPr>
          <p:txBody>
            <a:bodyPr rtlCol="0" anchor="ctr"/>
            <a:lstStyle/>
            <a:p>
              <a:pPr algn="ctr"/>
            </a:p>
          </p:txBody>
        </p:sp>
        <p:sp>
          <p:nvSpPr>
            <p:cNvPr id="36" name="Oval 35"/>
            <p:cNvSpPr/>
            <p:nvPr/>
          </p:nvSpPr>
          <p:spPr>
            <a:xfrm>
              <a:off x="1965960" y="4764024"/>
              <a:ext cx="457200" cy="457200"/>
            </a:xfrm>
            <a:prstGeom prst="ellipse">
              <a:avLst/>
            </a:prstGeom>
            <a:solidFill>
              <a:srgbClr val="343A43"/>
            </a:solidFill>
            <a:ln w="19050">
              <a:solidFill>
                <a:srgbClr val="9AA0A6"/>
              </a:solidFill>
            </a:ln>
          </p:spPr>
          <p:txBody>
            <a:bodyPr rtlCol="0" anchor="ctr"/>
            <a:lstStyle/>
            <a:p>
              <a:pPr algn="ctr"/>
            </a:p>
          </p:txBody>
        </p:sp>
        <p:sp>
          <p:nvSpPr>
            <p:cNvPr id="37" name="Rectangle 36"/>
            <p:cNvSpPr/>
            <p:nvPr/>
          </p:nvSpPr>
          <p:spPr>
            <a:xfrm>
              <a:off x="2103120" y="4882896"/>
              <a:ext cx="64008" cy="219456"/>
            </a:xfrm>
            <a:prstGeom prst="rect">
              <a:avLst/>
            </a:prstGeom>
            <a:solidFill>
              <a:srgbClr val="F2F2F2"/>
            </a:solidFill>
            <a:ln>
              <a:noFill/>
            </a:ln>
          </p:spPr>
          <p:txBody>
            <a:bodyPr rtlCol="0" anchor="ctr"/>
            <a:lstStyle/>
            <a:p>
              <a:pPr algn="ctr"/>
            </a:p>
          </p:txBody>
        </p:sp>
        <p:sp>
          <p:nvSpPr>
            <p:cNvPr id="38" name="Rectangle 37"/>
            <p:cNvSpPr/>
            <p:nvPr/>
          </p:nvSpPr>
          <p:spPr>
            <a:xfrm>
              <a:off x="2221992" y="4882896"/>
              <a:ext cx="64008" cy="219456"/>
            </a:xfrm>
            <a:prstGeom prst="rect">
              <a:avLst/>
            </a:prstGeom>
            <a:solidFill>
              <a:srgbClr val="F2F2F2"/>
            </a:solidFill>
            <a:ln>
              <a:noFill/>
            </a:ln>
          </p:spPr>
          <p:txBody>
            <a:bodyPr rtlCol="0" anchor="ctr"/>
            <a:lstStyle/>
            <a:p>
              <a:pPr algn="ctr"/>
            </a:p>
          </p:txBody>
        </p:sp>
        <p:sp>
          <p:nvSpPr>
            <p:cNvPr id="39" name="Oval 38"/>
            <p:cNvSpPr/>
            <p:nvPr/>
          </p:nvSpPr>
          <p:spPr>
            <a:xfrm>
              <a:off x="3154680" y="4764024"/>
              <a:ext cx="457200" cy="457200"/>
            </a:xfrm>
            <a:prstGeom prst="ellipse">
              <a:avLst/>
            </a:prstGeom>
            <a:solidFill>
              <a:srgbClr val="343A43"/>
            </a:solidFill>
            <a:ln w="19050">
              <a:solidFill>
                <a:srgbClr val="9AA0A6"/>
              </a:solidFill>
            </a:ln>
          </p:spPr>
          <p:txBody>
            <a:bodyPr rtlCol="0" anchor="ctr"/>
            <a:lstStyle/>
            <a:p>
              <a:pPr algn="ctr"/>
            </a:p>
          </p:txBody>
        </p:sp>
        <p:sp>
          <p:nvSpPr>
            <p:cNvPr id="40" name="Freeform 39"/>
            <p:cNvSpPr/>
            <p:nvPr/>
          </p:nvSpPr>
          <p:spPr>
            <a:xfrm>
              <a:off x="3273787" y="4897597"/>
              <a:ext cx="218986" cy="204755"/>
            </a:xfrm>
            <a:custGeom>
              <a:avLst/>
              <a:gdLst/>
              <a:ahLst/>
              <a:cxnLst/>
              <a:rect l="l" t="t" r="r" b="b"/>
              <a:pathLst>
                <a:path w="218986" h="204755">
                  <a:moveTo>
                    <a:pt x="54629" y="0"/>
                  </a:moveTo>
                  <a:lnTo>
                    <a:pt x="26995" y="22678"/>
                  </a:lnTo>
                  <a:lnTo>
                    <a:pt x="8118" y="53036"/>
                  </a:lnTo>
                  <a:lnTo>
                    <a:pt x="0" y="87850"/>
                  </a:lnTo>
                  <a:lnTo>
                    <a:pt x="3504" y="123427"/>
                  </a:lnTo>
                  <a:lnTo>
                    <a:pt x="18258" y="155989"/>
                  </a:lnTo>
                  <a:lnTo>
                    <a:pt x="42695" y="182080"/>
                  </a:lnTo>
                  <a:lnTo>
                    <a:pt x="74222" y="198932"/>
                  </a:lnTo>
                  <a:lnTo>
                    <a:pt x="109493" y="204755"/>
                  </a:lnTo>
                  <a:lnTo>
                    <a:pt x="144764" y="198932"/>
                  </a:lnTo>
                  <a:lnTo>
                    <a:pt x="176291" y="182080"/>
                  </a:lnTo>
                  <a:lnTo>
                    <a:pt x="200728" y="155989"/>
                  </a:lnTo>
                  <a:lnTo>
                    <a:pt x="215482" y="123427"/>
                  </a:lnTo>
                  <a:lnTo>
                    <a:pt x="218986" y="87850"/>
                  </a:lnTo>
                  <a:lnTo>
                    <a:pt x="210868" y="53036"/>
                  </a:lnTo>
                  <a:lnTo>
                    <a:pt x="191991" y="22678"/>
                  </a:lnTo>
                  <a:lnTo>
                    <a:pt x="164357" y="0"/>
                  </a:lnTo>
                </a:path>
              </a:pathLst>
            </a:custGeom>
            <a:noFill/>
            <a:ln w="25400">
              <a:solidFill>
                <a:srgbClr val="F2F2F2"/>
              </a:solidFill>
              <a:tailEnd type="triangle" w="med" len="med"/>
            </a:ln>
          </p:spPr>
          <p:txBody>
            <a:bodyPr rtlCol="0" anchor="ctr"/>
            <a:lstStyle/>
            <a:p>
              <a:pPr algn="ctr"/>
            </a:p>
          </p:txBody>
        </p:sp>
        <p:sp>
          <p:nvSpPr>
            <p:cNvPr id="41" name="Oval 40"/>
            <p:cNvSpPr/>
            <p:nvPr/>
          </p:nvSpPr>
          <p:spPr>
            <a:xfrm>
              <a:off x="4343400" y="4764024"/>
              <a:ext cx="457200" cy="457200"/>
            </a:xfrm>
            <a:prstGeom prst="ellipse">
              <a:avLst/>
            </a:prstGeom>
            <a:solidFill>
              <a:srgbClr val="343A43"/>
            </a:solidFill>
            <a:ln w="19050">
              <a:solidFill>
                <a:srgbClr val="9AA0A6"/>
              </a:solidFill>
            </a:ln>
          </p:spPr>
          <p:txBody>
            <a:bodyPr rtlCol="0" anchor="ctr"/>
            <a:lstStyle/>
            <a:p>
              <a:pPr algn="ctr"/>
            </a:p>
          </p:txBody>
        </p:sp>
        <p:sp>
          <p:nvSpPr>
            <p:cNvPr id="42" name="Rectangle 41"/>
            <p:cNvSpPr/>
            <p:nvPr/>
          </p:nvSpPr>
          <p:spPr>
            <a:xfrm>
              <a:off x="4462272" y="4892040"/>
              <a:ext cx="36576" cy="201168"/>
            </a:xfrm>
            <a:prstGeom prst="rect">
              <a:avLst/>
            </a:prstGeom>
            <a:solidFill>
              <a:srgbClr val="F2F2F2"/>
            </a:solidFill>
            <a:ln>
              <a:noFill/>
            </a:ln>
          </p:spPr>
          <p:txBody>
            <a:bodyPr rtlCol="0" anchor="ctr"/>
            <a:lstStyle/>
            <a:p>
              <a:pPr algn="ctr"/>
            </a:p>
          </p:txBody>
        </p:sp>
        <p:sp>
          <p:nvSpPr>
            <p:cNvPr id="43" name="Freeform 42"/>
            <p:cNvSpPr/>
            <p:nvPr/>
          </p:nvSpPr>
          <p:spPr>
            <a:xfrm>
              <a:off x="4517136" y="4892040"/>
              <a:ext cx="155448" cy="201168"/>
            </a:xfrm>
            <a:custGeom>
              <a:avLst/>
              <a:gdLst/>
              <a:ahLst/>
              <a:cxnLst/>
              <a:rect l="l" t="t" r="r" b="b"/>
              <a:pathLst>
                <a:path w="155448" h="201168">
                  <a:moveTo>
                    <a:pt x="155448" y="0"/>
                  </a:moveTo>
                  <a:lnTo>
                    <a:pt x="155448" y="201168"/>
                  </a:lnTo>
                  <a:lnTo>
                    <a:pt x="0" y="100584"/>
                  </a:lnTo>
                  <a:close/>
                </a:path>
              </a:pathLst>
            </a:custGeom>
            <a:solidFill>
              <a:srgbClr val="F2F2F2"/>
            </a:solidFill>
            <a:ln>
              <a:noFill/>
            </a:ln>
          </p:spPr>
          <p:txBody>
            <a:bodyPr rtlCol="0" anchor="ctr"/>
            <a:lstStyle/>
            <a:p>
              <a:pPr algn="ctr"/>
            </a:p>
          </p:txBody>
        </p:sp>
        <p:sp>
          <p:nvSpPr>
            <p:cNvPr id="44" name="Oval 43"/>
            <p:cNvSpPr/>
            <p:nvPr/>
          </p:nvSpPr>
          <p:spPr>
            <a:xfrm>
              <a:off x="5532120" y="4764024"/>
              <a:ext cx="457200" cy="457200"/>
            </a:xfrm>
            <a:prstGeom prst="ellipse">
              <a:avLst/>
            </a:prstGeom>
            <a:solidFill>
              <a:srgbClr val="343A43"/>
            </a:solidFill>
            <a:ln w="19050">
              <a:solidFill>
                <a:srgbClr val="9AA0A6"/>
              </a:solidFill>
            </a:ln>
          </p:spPr>
          <p:txBody>
            <a:bodyPr rtlCol="0" anchor="ctr"/>
            <a:lstStyle/>
            <a:p>
              <a:pPr algn="ctr"/>
            </a:p>
          </p:txBody>
        </p:sp>
        <p:sp>
          <p:nvSpPr>
            <p:cNvPr id="45" name="Rectangle 44"/>
            <p:cNvSpPr/>
            <p:nvPr/>
          </p:nvSpPr>
          <p:spPr>
            <a:xfrm>
              <a:off x="5833872" y="4892040"/>
              <a:ext cx="36576" cy="201168"/>
            </a:xfrm>
            <a:prstGeom prst="rect">
              <a:avLst/>
            </a:prstGeom>
            <a:solidFill>
              <a:srgbClr val="F2F2F2"/>
            </a:solidFill>
            <a:ln>
              <a:noFill/>
            </a:ln>
          </p:spPr>
          <p:txBody>
            <a:bodyPr rtlCol="0" anchor="ctr"/>
            <a:lstStyle/>
            <a:p>
              <a:pPr algn="ctr"/>
            </a:p>
          </p:txBody>
        </p:sp>
        <p:sp>
          <p:nvSpPr>
            <p:cNvPr id="46" name="Freeform 45"/>
            <p:cNvSpPr/>
            <p:nvPr/>
          </p:nvSpPr>
          <p:spPr>
            <a:xfrm>
              <a:off x="5660136" y="4892040"/>
              <a:ext cx="155448" cy="201168"/>
            </a:xfrm>
            <a:custGeom>
              <a:avLst/>
              <a:gdLst/>
              <a:ahLst/>
              <a:cxnLst/>
              <a:rect l="l" t="t" r="r" b="b"/>
              <a:pathLst>
                <a:path w="155448" h="201168">
                  <a:moveTo>
                    <a:pt x="0" y="0"/>
                  </a:moveTo>
                  <a:lnTo>
                    <a:pt x="0" y="201168"/>
                  </a:lnTo>
                  <a:lnTo>
                    <a:pt x="155448" y="100584"/>
                  </a:lnTo>
                  <a:close/>
                </a:path>
              </a:pathLst>
            </a:custGeom>
            <a:solidFill>
              <a:srgbClr val="F2F2F2"/>
            </a:solidFill>
            <a:ln>
              <a:noFill/>
            </a:ln>
          </p:spPr>
          <p:txBody>
            <a:bodyPr rtlCol="0" anchor="ctr"/>
            <a:lstStyle/>
            <a:p>
              <a:pPr algn="ctr"/>
            </a:p>
          </p:txBody>
        </p:sp>
      </p:grpSp>
      <p:sp>
        <p:nvSpPr>
          <p:cNvPr id="47" name="Inline chip Proposed"/>
          <p:cNvSpPr/>
          <p:nvPr/>
        </p:nvSpPr>
        <p:spPr>
          <a:xfrm>
            <a:off x="7955280" y="1463040"/>
            <a:ext cx="1373624" cy="329184"/>
          </a:xfrm>
          <a:prstGeom prst="roundRect">
            <a:avLst>
              <a:gd name="adj" fmla="val 50000"/>
            </a:avLst>
          </a:prstGeom>
          <a:solidFill>
            <a:srgbClr val="B084F5"/>
          </a:solidFill>
          <a:ln>
            <a:noFill/>
          </a:ln>
        </p:spPr>
        <p:txBody>
          <a:bodyPr rtlCol="0" anchor="ctr" wrap="square" lIns="54864" tIns="18288" rIns="54864" bIns="18288">
            <a:noAutofit/>
          </a:bodyPr>
          <a:lstStyle/>
          <a:p>
            <a:pPr algn="ctr"/>
            <a:r>
              <a:rPr sz="1400" b="1" i="0" lang="en-GB">
                <a:solidFill>
                  <a:srgbClr val="101418"/>
                </a:solidFill>
                <a:latin typeface="Arial"/>
              </a:rPr>
              <a:t>PROPOSED</a:t>
            </a:r>
          </a:p>
        </p:txBody>
      </p:sp>
      <p:sp>
        <p:nvSpPr>
          <p:cNvPr id="48" name="TextBox 47"/>
          <p:cNvSpPr txBox="1"/>
          <p:nvPr/>
        </p:nvSpPr>
        <p:spPr>
          <a:xfrm>
            <a:off x="7955280" y="1874520"/>
            <a:ext cx="3657600" cy="822960"/>
          </a:xfrm>
          <a:prstGeom prst="rect">
            <a:avLst/>
          </a:prstGeom>
          <a:noFill/>
        </p:spPr>
        <p:txBody>
          <a:bodyPr wrap="square" lIns="0" tIns="0" rIns="0" bIns="0" anchor="t">
            <a:noAutofit/>
          </a:bodyPr>
          <a:lstStyle/>
          <a:p>
            <a:pPr algn="l"/>
            <a:r>
              <a:rPr sz="2000" b="0" i="0" lang="en-GB">
                <a:solidFill>
                  <a:srgbClr val="F2F2F2"/>
                </a:solidFill>
                <a:latin typeface="Arial"/>
              </a:rPr>
              <a:t>A playful takeover when you first unlock rail</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friendly railway guide teaches with short animated lessons. Lessons are optional and can be replayed.</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EXTRAS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Where we are</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pic>
        <p:nvPicPr>
          <p:cNvPr id="8" name="Picture R01" descr="Early test model of a tank engine (a yellow 'visual probe') on a short length of track. Not final art."/>
          <p:cNvPicPr>
            <a:picLocks noChangeAspect="1"/>
          </p:cNvPicPr>
          <p:nvPr/>
        </p:nvPicPr>
        <p:blipFill>
          <a:blip r:embed="rId2"/>
          <a:srcRect l="4272" r="10272"/>
          <a:stretch>
            <a:fillRect/>
          </a:stretch>
        </p:blipFill>
        <p:spPr>
          <a:xfrm>
            <a:off x="548640" y="1371600"/>
            <a:ext cx="1828800" cy="1188720"/>
          </a:xfrm>
          <a:prstGeom prst="roundRect">
            <a:avLst>
              <a:gd name="adj" fmla="val 6154"/>
            </a:avLst>
          </a:prstGeom>
        </p:spPr>
      </p:pic>
      <p:sp>
        <p:nvSpPr>
          <p:cNvPr id="9" name="Credit"/>
          <p:cNvSpPr txBox="1"/>
          <p:nvPr/>
        </p:nvSpPr>
        <p:spPr>
          <a:xfrm>
            <a:off x="548640" y="2587752"/>
            <a:ext cx="1828800" cy="338328"/>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p:txBody>
      </p:sp>
      <p:pic>
        <p:nvPicPr>
          <p:cNvPr id="10" name="Picture R02" descr="High-detail render of the mod's two-rail track. Visual development only: not Unreal-tested, not production-ready."/>
          <p:cNvPicPr>
            <a:picLocks noChangeAspect="1"/>
          </p:cNvPicPr>
          <p:nvPr/>
        </p:nvPicPr>
        <p:blipFill>
          <a:blip r:embed="rId3"/>
          <a:srcRect l="6731" r="6731"/>
          <a:stretch>
            <a:fillRect/>
          </a:stretch>
        </p:blipFill>
        <p:spPr>
          <a:xfrm>
            <a:off x="2642616" y="1371600"/>
            <a:ext cx="1828800" cy="1188720"/>
          </a:xfrm>
          <a:prstGeom prst="roundRect">
            <a:avLst>
              <a:gd name="adj" fmla="val 6154"/>
            </a:avLst>
          </a:prstGeom>
        </p:spPr>
      </p:pic>
      <p:sp>
        <p:nvSpPr>
          <p:cNvPr id="11" name="Credit"/>
          <p:cNvSpPr txBox="1"/>
          <p:nvPr/>
        </p:nvSpPr>
        <p:spPr>
          <a:xfrm>
            <a:off x="2642616" y="2587752"/>
            <a:ext cx="1828800" cy="338328"/>
          </a:xfrm>
          <a:prstGeom prst="rect">
            <a:avLst/>
          </a:prstGeom>
          <a:noFill/>
        </p:spPr>
        <p:txBody>
          <a:bodyPr wrap="square" lIns="0" tIns="0" rIns="0" bIns="0" anchor="t">
            <a:noAutofit/>
          </a:bodyPr>
          <a:lstStyle/>
          <a:p>
            <a:pPr algn="l"/>
            <a:r>
              <a:rPr sz="1000" b="0" i="0" lang="en-GB">
                <a:solidFill>
                  <a:srgbClr val="A9B0B8"/>
                </a:solidFill>
                <a:latin typeface="Arial"/>
              </a:rPr>
              <a:t>Early Locomotion project render. Early test model, not final art.</a:t>
            </a:r>
          </a:p>
        </p:txBody>
      </p:sp>
      <p:grpSp>
        <p:nvGrpSpPr>
          <p:cNvPr id="12" name="Roadmap" descr="Roadmap: engine and track are under way; rolling stock, stations, signals, unlocks, tutorials and Release 1.0 for singleplayer are planned; multiplayer comes later."/>
          <p:cNvGrpSpPr/>
          <p:nvPr/>
        </p:nvGrpSpPr>
        <p:grpSpPr>
          <a:xfrm>
            <a:off x="448056" y="2944368"/>
            <a:ext cx="11192256" cy="1965960"/>
            <a:chOff x="448056" y="2944368"/>
            <a:chExt cx="11192256" cy="1965960"/>
          </a:xfrm>
        </p:grpSpPr>
        <p:cxnSp>
          <p:nvCxnSpPr>
            <p:cNvPr id="13" name="Connector 12"/>
            <p:cNvCxnSpPr/>
            <p:nvPr/>
          </p:nvCxnSpPr>
          <p:spPr>
            <a:xfrm>
              <a:off x="1051560" y="3794760"/>
              <a:ext cx="8769096" cy="0"/>
            </a:xfrm>
            <a:prstGeom prst="line">
              <a:avLst/>
            </a:prstGeom>
            <a:ln w="50800">
              <a:solidFill>
                <a:srgbClr val="9AA0A6"/>
              </a:solidFill>
            </a:ln>
          </p:spPr>
        </p:cxnSp>
        <p:cxnSp>
          <p:nvCxnSpPr>
            <p:cNvPr id="14" name="Connector 13"/>
            <p:cNvCxnSpPr/>
            <p:nvPr/>
          </p:nvCxnSpPr>
          <p:spPr>
            <a:xfrm>
              <a:off x="9820656" y="3794760"/>
              <a:ext cx="1335024" cy="0"/>
            </a:xfrm>
            <a:prstGeom prst="line">
              <a:avLst/>
            </a:prstGeom>
            <a:ln w="38100">
              <a:solidFill>
                <a:srgbClr val="9AA0A6"/>
              </a:solidFill>
              <a:prstDash val="dash"/>
            </a:ln>
          </p:spPr>
        </p:cxnSp>
        <p:cxnSp>
          <p:nvCxnSpPr>
            <p:cNvPr id="15" name="Connector 14"/>
            <p:cNvCxnSpPr/>
            <p:nvPr/>
          </p:nvCxnSpPr>
          <p:spPr>
            <a:xfrm flipH="1">
              <a:off x="1051560" y="2944368"/>
              <a:ext cx="411480" cy="621792"/>
            </a:xfrm>
            <a:prstGeom prst="line">
              <a:avLst/>
            </a:prstGeom>
            <a:ln w="19050">
              <a:solidFill>
                <a:srgbClr val="F28C28"/>
              </a:solidFill>
            </a:ln>
          </p:spPr>
        </p:cxnSp>
        <p:cxnSp>
          <p:nvCxnSpPr>
            <p:cNvPr id="16" name="Connector 15"/>
            <p:cNvCxnSpPr/>
            <p:nvPr/>
          </p:nvCxnSpPr>
          <p:spPr>
            <a:xfrm>
              <a:off x="3557016" y="2944368"/>
              <a:ext cx="0" cy="621792"/>
            </a:xfrm>
            <a:prstGeom prst="line">
              <a:avLst/>
            </a:prstGeom>
            <a:ln w="19050">
              <a:solidFill>
                <a:srgbClr val="F28C28"/>
              </a:solidFill>
            </a:ln>
          </p:spPr>
        </p:cxnSp>
        <p:sp>
          <p:nvSpPr>
            <p:cNvPr id="17" name="Oval 16"/>
            <p:cNvSpPr/>
            <p:nvPr/>
          </p:nvSpPr>
          <p:spPr>
            <a:xfrm>
              <a:off x="850392" y="3593592"/>
              <a:ext cx="402336" cy="402336"/>
            </a:xfrm>
            <a:prstGeom prst="ellipse">
              <a:avLst/>
            </a:prstGeom>
            <a:solidFill>
              <a:srgbClr val="F28C28"/>
            </a:solidFill>
            <a:ln w="31750">
              <a:solidFill>
                <a:srgbClr val="F28C28"/>
              </a:solidFill>
            </a:ln>
          </p:spPr>
          <p:txBody>
            <a:bodyPr rtlCol="0" anchor="ctr"/>
            <a:lstStyle/>
            <a:p>
              <a:pPr algn="ctr"/>
            </a:p>
          </p:txBody>
        </p:sp>
        <p:sp>
          <p:nvSpPr>
            <p:cNvPr id="18" name="TextBox 17"/>
            <p:cNvSpPr txBox="1"/>
            <p:nvPr/>
          </p:nvSpPr>
          <p:spPr>
            <a:xfrm>
              <a:off x="448056" y="4087368"/>
              <a:ext cx="1207008" cy="822960"/>
            </a:xfrm>
            <a:prstGeom prst="rect">
              <a:avLst/>
            </a:prstGeom>
            <a:noFill/>
          </p:spPr>
          <p:txBody>
            <a:bodyPr wrap="square" lIns="0" tIns="0" rIns="0" bIns="0" anchor="t">
              <a:noAutofit/>
            </a:bodyPr>
            <a:lstStyle/>
            <a:p>
              <a:pPr algn="ctr"/>
              <a:r>
                <a:rPr sz="1600" b="1" i="0" lang="en-GB">
                  <a:solidFill>
                    <a:srgbClr val="F2F2F2"/>
                  </a:solidFill>
                  <a:latin typeface="Arial"/>
                </a:rPr>
                <a:t>Engine</a:t>
              </a:r>
            </a:p>
          </p:txBody>
        </p:sp>
        <p:sp>
          <p:nvSpPr>
            <p:cNvPr id="19" name="Oval 18"/>
            <p:cNvSpPr/>
            <p:nvPr/>
          </p:nvSpPr>
          <p:spPr>
            <a:xfrm>
              <a:off x="2103120" y="3593592"/>
              <a:ext cx="402336" cy="402336"/>
            </a:xfrm>
            <a:prstGeom prst="ellipse">
              <a:avLst/>
            </a:prstGeom>
            <a:solidFill>
              <a:srgbClr val="1E2126"/>
            </a:solidFill>
            <a:ln w="31750">
              <a:solidFill>
                <a:srgbClr val="9AA0A6"/>
              </a:solidFill>
            </a:ln>
          </p:spPr>
          <p:txBody>
            <a:bodyPr rtlCol="0" anchor="ctr"/>
            <a:lstStyle/>
            <a:p>
              <a:pPr algn="ctr"/>
            </a:p>
          </p:txBody>
        </p:sp>
        <p:sp>
          <p:nvSpPr>
            <p:cNvPr id="20" name="TextBox 19"/>
            <p:cNvSpPr txBox="1"/>
            <p:nvPr/>
          </p:nvSpPr>
          <p:spPr>
            <a:xfrm>
              <a:off x="1700784" y="4087368"/>
              <a:ext cx="1207008" cy="822960"/>
            </a:xfrm>
            <a:prstGeom prst="rect">
              <a:avLst/>
            </a:prstGeom>
            <a:noFill/>
          </p:spPr>
          <p:txBody>
            <a:bodyPr wrap="square" lIns="0" tIns="0" rIns="0" bIns="0" anchor="t">
              <a:noAutofit/>
            </a:bodyPr>
            <a:lstStyle/>
            <a:p>
              <a:pPr algn="ctr"/>
              <a:r>
                <a:rPr sz="1600" b="0" i="0" lang="en-GB">
                  <a:solidFill>
                    <a:srgbClr val="F2F2F2"/>
                  </a:solidFill>
                  <a:latin typeface="Arial"/>
                </a:rPr>
                <a:t>Rolling stock</a:t>
              </a:r>
            </a:p>
          </p:txBody>
        </p:sp>
        <p:sp>
          <p:nvSpPr>
            <p:cNvPr id="21" name="Oval 20"/>
            <p:cNvSpPr/>
            <p:nvPr/>
          </p:nvSpPr>
          <p:spPr>
            <a:xfrm>
              <a:off x="3355848" y="3593592"/>
              <a:ext cx="402336" cy="402336"/>
            </a:xfrm>
            <a:prstGeom prst="ellipse">
              <a:avLst/>
            </a:prstGeom>
            <a:solidFill>
              <a:srgbClr val="F28C28"/>
            </a:solidFill>
            <a:ln w="31750">
              <a:solidFill>
                <a:srgbClr val="F28C28"/>
              </a:solidFill>
            </a:ln>
          </p:spPr>
          <p:txBody>
            <a:bodyPr rtlCol="0" anchor="ctr"/>
            <a:lstStyle/>
            <a:p>
              <a:pPr algn="ctr"/>
            </a:p>
          </p:txBody>
        </p:sp>
        <p:sp>
          <p:nvSpPr>
            <p:cNvPr id="22" name="TextBox 21"/>
            <p:cNvSpPr txBox="1"/>
            <p:nvPr/>
          </p:nvSpPr>
          <p:spPr>
            <a:xfrm>
              <a:off x="2953512" y="4087368"/>
              <a:ext cx="1207008" cy="822960"/>
            </a:xfrm>
            <a:prstGeom prst="rect">
              <a:avLst/>
            </a:prstGeom>
            <a:noFill/>
          </p:spPr>
          <p:txBody>
            <a:bodyPr wrap="square" lIns="0" tIns="0" rIns="0" bIns="0" anchor="t">
              <a:noAutofit/>
            </a:bodyPr>
            <a:lstStyle/>
            <a:p>
              <a:pPr algn="ctr"/>
              <a:r>
                <a:rPr sz="1600" b="1" i="0" lang="en-GB">
                  <a:solidFill>
                    <a:srgbClr val="F2F2F2"/>
                  </a:solidFill>
                  <a:latin typeface="Arial"/>
                </a:rPr>
                <a:t>Track</a:t>
              </a:r>
            </a:p>
          </p:txBody>
        </p:sp>
        <p:sp>
          <p:nvSpPr>
            <p:cNvPr id="23" name="Oval 22"/>
            <p:cNvSpPr/>
            <p:nvPr/>
          </p:nvSpPr>
          <p:spPr>
            <a:xfrm>
              <a:off x="4608576" y="3593592"/>
              <a:ext cx="402336" cy="402336"/>
            </a:xfrm>
            <a:prstGeom prst="ellipse">
              <a:avLst/>
            </a:prstGeom>
            <a:solidFill>
              <a:srgbClr val="1E2126"/>
            </a:solidFill>
            <a:ln w="31750">
              <a:solidFill>
                <a:srgbClr val="9AA0A6"/>
              </a:solidFill>
            </a:ln>
          </p:spPr>
          <p:txBody>
            <a:bodyPr rtlCol="0" anchor="ctr"/>
            <a:lstStyle/>
            <a:p>
              <a:pPr algn="ctr"/>
            </a:p>
          </p:txBody>
        </p:sp>
        <p:sp>
          <p:nvSpPr>
            <p:cNvPr id="24" name="TextBox 23"/>
            <p:cNvSpPr txBox="1"/>
            <p:nvPr/>
          </p:nvSpPr>
          <p:spPr>
            <a:xfrm>
              <a:off x="4206240" y="4087368"/>
              <a:ext cx="1207008" cy="822960"/>
            </a:xfrm>
            <a:prstGeom prst="rect">
              <a:avLst/>
            </a:prstGeom>
            <a:noFill/>
          </p:spPr>
          <p:txBody>
            <a:bodyPr wrap="square" lIns="0" tIns="0" rIns="0" bIns="0" anchor="t">
              <a:noAutofit/>
            </a:bodyPr>
            <a:lstStyle/>
            <a:p>
              <a:pPr algn="ctr"/>
              <a:r>
                <a:rPr sz="1600" b="0" i="0" lang="en-GB">
                  <a:solidFill>
                    <a:srgbClr val="F2F2F2"/>
                  </a:solidFill>
                  <a:latin typeface="Arial"/>
                </a:rPr>
                <a:t>Stations</a:t>
              </a:r>
            </a:p>
          </p:txBody>
        </p:sp>
        <p:sp>
          <p:nvSpPr>
            <p:cNvPr id="25" name="Oval 24"/>
            <p:cNvSpPr/>
            <p:nvPr/>
          </p:nvSpPr>
          <p:spPr>
            <a:xfrm>
              <a:off x="5861304" y="3593592"/>
              <a:ext cx="402336" cy="402336"/>
            </a:xfrm>
            <a:prstGeom prst="ellipse">
              <a:avLst/>
            </a:prstGeom>
            <a:solidFill>
              <a:srgbClr val="1E2126"/>
            </a:solidFill>
            <a:ln w="31750">
              <a:solidFill>
                <a:srgbClr val="9AA0A6"/>
              </a:solidFill>
            </a:ln>
          </p:spPr>
          <p:txBody>
            <a:bodyPr rtlCol="0" anchor="ctr"/>
            <a:lstStyle/>
            <a:p>
              <a:pPr algn="ctr"/>
            </a:p>
          </p:txBody>
        </p:sp>
        <p:sp>
          <p:nvSpPr>
            <p:cNvPr id="26" name="TextBox 25"/>
            <p:cNvSpPr txBox="1"/>
            <p:nvPr/>
          </p:nvSpPr>
          <p:spPr>
            <a:xfrm>
              <a:off x="5458968" y="4087368"/>
              <a:ext cx="1207008" cy="822960"/>
            </a:xfrm>
            <a:prstGeom prst="rect">
              <a:avLst/>
            </a:prstGeom>
            <a:noFill/>
          </p:spPr>
          <p:txBody>
            <a:bodyPr wrap="square" lIns="0" tIns="0" rIns="0" bIns="0" anchor="t">
              <a:noAutofit/>
            </a:bodyPr>
            <a:lstStyle/>
            <a:p>
              <a:pPr algn="ctr"/>
              <a:r>
                <a:rPr sz="1600" b="0" i="0" lang="en-GB">
                  <a:solidFill>
                    <a:srgbClr val="F2F2F2"/>
                  </a:solidFill>
                  <a:latin typeface="Arial"/>
                </a:rPr>
                <a:t>Signals</a:t>
              </a:r>
            </a:p>
          </p:txBody>
        </p:sp>
        <p:sp>
          <p:nvSpPr>
            <p:cNvPr id="27" name="Oval 26"/>
            <p:cNvSpPr/>
            <p:nvPr/>
          </p:nvSpPr>
          <p:spPr>
            <a:xfrm>
              <a:off x="7114032" y="3593592"/>
              <a:ext cx="402336" cy="402336"/>
            </a:xfrm>
            <a:prstGeom prst="ellipse">
              <a:avLst/>
            </a:prstGeom>
            <a:solidFill>
              <a:srgbClr val="1E2126"/>
            </a:solidFill>
            <a:ln w="31750">
              <a:solidFill>
                <a:srgbClr val="9AA0A6"/>
              </a:solidFill>
            </a:ln>
          </p:spPr>
          <p:txBody>
            <a:bodyPr rtlCol="0" anchor="ctr"/>
            <a:lstStyle/>
            <a:p>
              <a:pPr algn="ctr"/>
            </a:p>
          </p:txBody>
        </p:sp>
        <p:sp>
          <p:nvSpPr>
            <p:cNvPr id="28" name="TextBox 27"/>
            <p:cNvSpPr txBox="1"/>
            <p:nvPr/>
          </p:nvSpPr>
          <p:spPr>
            <a:xfrm>
              <a:off x="6711696" y="4087368"/>
              <a:ext cx="1207008" cy="822960"/>
            </a:xfrm>
            <a:prstGeom prst="rect">
              <a:avLst/>
            </a:prstGeom>
            <a:noFill/>
          </p:spPr>
          <p:txBody>
            <a:bodyPr wrap="square" lIns="0" tIns="0" rIns="0" bIns="0" anchor="t">
              <a:noAutofit/>
            </a:bodyPr>
            <a:lstStyle/>
            <a:p>
              <a:pPr algn="ctr"/>
              <a:r>
                <a:rPr sz="1600" b="0" i="0" lang="en-GB">
                  <a:solidFill>
                    <a:srgbClr val="F2F2F2"/>
                  </a:solidFill>
                  <a:latin typeface="Arial"/>
                </a:rPr>
                <a:t>Unlocks</a:t>
              </a:r>
            </a:p>
          </p:txBody>
        </p:sp>
        <p:sp>
          <p:nvSpPr>
            <p:cNvPr id="29" name="Oval 28"/>
            <p:cNvSpPr/>
            <p:nvPr/>
          </p:nvSpPr>
          <p:spPr>
            <a:xfrm>
              <a:off x="8366760" y="3593592"/>
              <a:ext cx="402336" cy="402336"/>
            </a:xfrm>
            <a:prstGeom prst="ellipse">
              <a:avLst/>
            </a:prstGeom>
            <a:solidFill>
              <a:srgbClr val="1E2126"/>
            </a:solidFill>
            <a:ln w="31750">
              <a:solidFill>
                <a:srgbClr val="9AA0A6"/>
              </a:solidFill>
            </a:ln>
          </p:spPr>
          <p:txBody>
            <a:bodyPr rtlCol="0" anchor="ctr"/>
            <a:lstStyle/>
            <a:p>
              <a:pPr algn="ctr"/>
            </a:p>
          </p:txBody>
        </p:sp>
        <p:sp>
          <p:nvSpPr>
            <p:cNvPr id="30" name="TextBox 29"/>
            <p:cNvSpPr txBox="1"/>
            <p:nvPr/>
          </p:nvSpPr>
          <p:spPr>
            <a:xfrm>
              <a:off x="7964424" y="4087368"/>
              <a:ext cx="1207008" cy="822960"/>
            </a:xfrm>
            <a:prstGeom prst="rect">
              <a:avLst/>
            </a:prstGeom>
            <a:noFill/>
          </p:spPr>
          <p:txBody>
            <a:bodyPr wrap="square" lIns="0" tIns="0" rIns="0" bIns="0" anchor="t">
              <a:noAutofit/>
            </a:bodyPr>
            <a:lstStyle/>
            <a:p>
              <a:pPr algn="ctr"/>
              <a:r>
                <a:rPr sz="1600" b="0" i="0" lang="en-GB">
                  <a:solidFill>
                    <a:srgbClr val="F2F2F2"/>
                  </a:solidFill>
                  <a:latin typeface="Arial"/>
                </a:rPr>
                <a:t>Tutorials</a:t>
              </a:r>
            </a:p>
          </p:txBody>
        </p:sp>
        <p:sp>
          <p:nvSpPr>
            <p:cNvPr id="31" name="Oval 30"/>
            <p:cNvSpPr/>
            <p:nvPr/>
          </p:nvSpPr>
          <p:spPr>
            <a:xfrm>
              <a:off x="9619488" y="3593592"/>
              <a:ext cx="402336" cy="402336"/>
            </a:xfrm>
            <a:prstGeom prst="ellipse">
              <a:avLst/>
            </a:prstGeom>
            <a:solidFill>
              <a:srgbClr val="1E2126"/>
            </a:solidFill>
            <a:ln w="31750">
              <a:solidFill>
                <a:srgbClr val="9AA0A6"/>
              </a:solidFill>
            </a:ln>
          </p:spPr>
          <p:txBody>
            <a:bodyPr rtlCol="0" anchor="ctr"/>
            <a:lstStyle/>
            <a:p>
              <a:pPr algn="ctr"/>
            </a:p>
          </p:txBody>
        </p:sp>
        <p:sp>
          <p:nvSpPr>
            <p:cNvPr id="32" name="TextBox 31"/>
            <p:cNvSpPr txBox="1"/>
            <p:nvPr/>
          </p:nvSpPr>
          <p:spPr>
            <a:xfrm>
              <a:off x="9217152" y="4087368"/>
              <a:ext cx="1207008" cy="822960"/>
            </a:xfrm>
            <a:prstGeom prst="rect">
              <a:avLst/>
            </a:prstGeom>
            <a:noFill/>
          </p:spPr>
          <p:txBody>
            <a:bodyPr wrap="square" lIns="0" tIns="0" rIns="0" bIns="0" anchor="t">
              <a:noAutofit/>
            </a:bodyPr>
            <a:lstStyle/>
            <a:p>
              <a:pPr algn="ctr"/>
              <a:r>
                <a:rPr sz="1600" b="0" i="0" lang="en-GB">
                  <a:solidFill>
                    <a:srgbClr val="F2F2F2"/>
                  </a:solidFill>
                  <a:latin typeface="Arial"/>
                </a:rPr>
                <a:t>Release 1.0: singleplayer</a:t>
              </a:r>
            </a:p>
          </p:txBody>
        </p:sp>
        <p:sp>
          <p:nvSpPr>
            <p:cNvPr id="33" name="Oval 32"/>
            <p:cNvSpPr/>
            <p:nvPr/>
          </p:nvSpPr>
          <p:spPr>
            <a:xfrm>
              <a:off x="10954512" y="3593592"/>
              <a:ext cx="402336" cy="402336"/>
            </a:xfrm>
            <a:prstGeom prst="ellipse">
              <a:avLst/>
            </a:prstGeom>
            <a:solidFill>
              <a:srgbClr val="1E2126"/>
            </a:solidFill>
            <a:ln w="31750">
              <a:solidFill>
                <a:srgbClr val="9AA0A6"/>
              </a:solidFill>
              <a:prstDash val="dash"/>
            </a:ln>
          </p:spPr>
          <p:txBody>
            <a:bodyPr rtlCol="0" anchor="ctr"/>
            <a:lstStyle/>
            <a:p>
              <a:pPr algn="ctr"/>
            </a:p>
          </p:txBody>
        </p:sp>
        <p:sp>
          <p:nvSpPr>
            <p:cNvPr id="34" name="TextBox 33"/>
            <p:cNvSpPr txBox="1"/>
            <p:nvPr/>
          </p:nvSpPr>
          <p:spPr>
            <a:xfrm>
              <a:off x="10607040" y="4087368"/>
              <a:ext cx="1033272" cy="822960"/>
            </a:xfrm>
            <a:prstGeom prst="rect">
              <a:avLst/>
            </a:prstGeom>
            <a:noFill/>
          </p:spPr>
          <p:txBody>
            <a:bodyPr wrap="square" lIns="0" tIns="0" rIns="0" bIns="0" anchor="t">
              <a:noAutofit/>
            </a:bodyPr>
            <a:lstStyle/>
            <a:p>
              <a:pPr algn="ctr"/>
              <a:r>
                <a:rPr sz="1600" b="0" i="0" lang="en-GB">
                  <a:solidFill>
                    <a:srgbClr val="F2F2F2"/>
                  </a:solidFill>
                  <a:latin typeface="Arial"/>
                </a:rPr>
                <a:t>Later: multiplayer</a:t>
              </a:r>
            </a:p>
          </p:txBody>
        </p:sp>
      </p:grpSp>
      <p:grpSp>
        <p:nvGrpSpPr>
          <p:cNvPr id="35" name="Legend" descr="Legend: a filled orange circle means under way; an empty grey circle means planned."/>
          <p:cNvGrpSpPr/>
          <p:nvPr/>
        </p:nvGrpSpPr>
        <p:grpSpPr>
          <a:xfrm>
            <a:off x="7927848" y="2029968"/>
            <a:ext cx="2724912" cy="822960"/>
            <a:chOff x="7927848" y="2029968"/>
            <a:chExt cx="2724912" cy="822960"/>
          </a:xfrm>
        </p:grpSpPr>
        <p:sp>
          <p:nvSpPr>
            <p:cNvPr id="36" name="Oval 35"/>
            <p:cNvSpPr/>
            <p:nvPr/>
          </p:nvSpPr>
          <p:spPr>
            <a:xfrm>
              <a:off x="7927848" y="2048256"/>
              <a:ext cx="329184" cy="329184"/>
            </a:xfrm>
            <a:prstGeom prst="ellipse">
              <a:avLst/>
            </a:prstGeom>
            <a:solidFill>
              <a:srgbClr val="F28C28"/>
            </a:solidFill>
            <a:ln w="31750">
              <a:solidFill>
                <a:srgbClr val="F28C28"/>
              </a:solidFill>
            </a:ln>
          </p:spPr>
          <p:txBody>
            <a:bodyPr rtlCol="0" anchor="ctr"/>
            <a:lstStyle/>
            <a:p>
              <a:pPr algn="ctr"/>
            </a:p>
          </p:txBody>
        </p:sp>
        <p:sp>
          <p:nvSpPr>
            <p:cNvPr id="37" name="TextBox 36"/>
            <p:cNvSpPr txBox="1"/>
            <p:nvPr/>
          </p:nvSpPr>
          <p:spPr>
            <a:xfrm>
              <a:off x="8366760" y="2029968"/>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Under way</a:t>
              </a:r>
            </a:p>
          </p:txBody>
        </p:sp>
        <p:sp>
          <p:nvSpPr>
            <p:cNvPr id="38" name="Oval 37"/>
            <p:cNvSpPr/>
            <p:nvPr/>
          </p:nvSpPr>
          <p:spPr>
            <a:xfrm>
              <a:off x="7927848" y="2505456"/>
              <a:ext cx="329184" cy="329184"/>
            </a:xfrm>
            <a:prstGeom prst="ellipse">
              <a:avLst/>
            </a:prstGeom>
            <a:solidFill>
              <a:srgbClr val="1E2126"/>
            </a:solidFill>
            <a:ln w="31750">
              <a:solidFill>
                <a:srgbClr val="9AA0A6"/>
              </a:solidFill>
            </a:ln>
          </p:spPr>
          <p:txBody>
            <a:bodyPr rtlCol="0" anchor="ctr"/>
            <a:lstStyle/>
            <a:p>
              <a:pPr algn="ctr"/>
            </a:p>
          </p:txBody>
        </p:sp>
        <p:sp>
          <p:nvSpPr>
            <p:cNvPr id="39" name="TextBox 38"/>
            <p:cNvSpPr txBox="1"/>
            <p:nvPr/>
          </p:nvSpPr>
          <p:spPr>
            <a:xfrm>
              <a:off x="8366760" y="2487168"/>
              <a:ext cx="2286000" cy="365760"/>
            </a:xfrm>
            <a:prstGeom prst="rect">
              <a:avLst/>
            </a:prstGeom>
            <a:noFill/>
          </p:spPr>
          <p:txBody>
            <a:bodyPr wrap="square" lIns="0" tIns="0" rIns="0" bIns="0" anchor="ctr">
              <a:noAutofit/>
            </a:bodyPr>
            <a:lstStyle/>
            <a:p>
              <a:pPr algn="l"/>
              <a:r>
                <a:rPr sz="1800" b="0" i="0" lang="en-GB">
                  <a:solidFill>
                    <a:srgbClr val="F2F2F2"/>
                  </a:solidFill>
                  <a:latin typeface="Arial"/>
                </a:rPr>
                <a:t>Planned</a:t>
              </a:r>
            </a:p>
          </p:txBody>
        </p:sp>
      </p:grpSp>
      <p:sp>
        <p:nvSpPr>
          <p:cNvPr id="40" name="TextBox 39"/>
          <p:cNvSpPr txBox="1"/>
          <p:nvPr/>
        </p:nvSpPr>
        <p:spPr>
          <a:xfrm>
            <a:off x="7909560" y="1371600"/>
            <a:ext cx="2377440" cy="365760"/>
          </a:xfrm>
          <a:prstGeom prst="rect">
            <a:avLst/>
          </a:prstGeom>
          <a:noFill/>
        </p:spPr>
        <p:txBody>
          <a:bodyPr wrap="square" lIns="0" tIns="0" rIns="0" bIns="0" anchor="ctr">
            <a:noAutofit/>
          </a:bodyPr>
          <a:lstStyle/>
          <a:p>
            <a:pPr algn="l"/>
            <a:r>
              <a:rPr sz="1800" b="0" i="0" lang="en-GB">
                <a:solidFill>
                  <a:srgbClr val="F2F2F2"/>
                </a:solidFill>
                <a:latin typeface="Arial"/>
              </a:rPr>
              <a:t>Plans can change.</a:t>
            </a:r>
          </a:p>
        </p:txBody>
      </p:sp>
      <p:sp>
        <p:nvSpPr>
          <p:cNvPr id="41" name="Inline chip Provisional"/>
          <p:cNvSpPr/>
          <p:nvPr/>
        </p:nvSpPr>
        <p:spPr>
          <a:xfrm>
            <a:off x="9927759" y="1389888"/>
            <a:ext cx="1590814" cy="329184"/>
          </a:xfrm>
          <a:prstGeom prst="roundRect">
            <a:avLst>
              <a:gd name="adj" fmla="val 50000"/>
            </a:avLst>
          </a:prstGeom>
          <a:solidFill>
            <a:srgbClr val="4DA3FF"/>
          </a:solidFill>
          <a:ln>
            <a:noFill/>
          </a:ln>
        </p:spPr>
        <p:txBody>
          <a:bodyPr rtlCol="0" anchor="ctr" wrap="square" lIns="54864" tIns="18288" rIns="54864" bIns="18288">
            <a:noAutofit/>
          </a:bodyPr>
          <a:lstStyle/>
          <a:p>
            <a:pPr algn="ctr"/>
            <a:r>
              <a:rPr sz="1400" b="1" i="0" lang="en-GB">
                <a:solidFill>
                  <a:srgbClr val="101418"/>
                </a:solidFill>
                <a:latin typeface="Arial"/>
              </a:rPr>
              <a:t>PROVISIONAL</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A test engine runs on the game's real rails. Next come the other railway pieces. Singleplayer first. Multiplayer after release.</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STATUS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sz="3600" b="1" i="0" lang="en-GB">
                <a:solidFill>
                  <a:srgbClr val="F2F2F2"/>
                </a:solidFill>
                <a:latin typeface="Arial"/>
              </a:rPr>
              <a:t>Still undecided</a:t>
            </a:r>
          </a:p>
        </p:txBody>
      </p:sp>
      <p:sp>
        <p:nvSpPr>
          <p:cNvPr id="3" name="Status chip"/>
          <p:cNvSpPr/>
          <p:nvPr/>
        </p:nvSpPr>
        <p:spPr>
          <a:xfrm>
            <a:off x="10088575" y="457200"/>
            <a:ext cx="1554480" cy="365760"/>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grpSp>
        <p:nvGrpSpPr>
          <p:cNvPr id="8" name="Open questions" descr="Eight open questions, none decided: Exact unlock tiers (OQ01); Longest track piece (OQ02); Block lengths and speed caps (OQ03); How boxes measure their reach (OQ04); Is Medium the fastest? (OQ05); Which regions at launch? (OQ06); Which extra locomotives? (OQ20); Pricing and release of packs (OQ26)."/>
          <p:cNvGrpSpPr/>
          <p:nvPr/>
        </p:nvGrpSpPr>
        <p:grpSpPr>
          <a:xfrm>
            <a:off x="548640" y="1463040"/>
            <a:ext cx="11092586" cy="3383280"/>
            <a:chOff x="548640" y="1463040"/>
            <a:chExt cx="11092586" cy="3383280"/>
          </a:xfrm>
        </p:grpSpPr>
        <p:sp>
          <p:nvSpPr>
            <p:cNvPr id="9" name="Rounded Rectangle 8"/>
            <p:cNvSpPr/>
            <p:nvPr/>
          </p:nvSpPr>
          <p:spPr>
            <a:xfrm>
              <a:off x="548640" y="1463040"/>
              <a:ext cx="2651760" cy="1600200"/>
            </a:xfrm>
            <a:prstGeom prst="roundRect">
              <a:avLst>
                <a:gd name="adj" fmla="val 5714"/>
              </a:avLst>
            </a:prstGeom>
            <a:solidFill>
              <a:srgbClr val="2B2F36"/>
            </a:solidFill>
            <a:ln>
              <a:noFill/>
            </a:ln>
          </p:spPr>
          <p:txBody>
            <a:bodyPr rtlCol="0" anchor="ctr"/>
            <a:lstStyle/>
            <a:p>
              <a:pPr algn="ctr"/>
            </a:p>
          </p:txBody>
        </p:sp>
        <p:sp>
          <p:nvSpPr>
            <p:cNvPr id="10" name="Inline chip Undecided"/>
            <p:cNvSpPr/>
            <p:nvPr/>
          </p:nvSpPr>
          <p:spPr>
            <a:xfrm>
              <a:off x="713232" y="162763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11" name="TextBox 10"/>
            <p:cNvSpPr txBox="1"/>
            <p:nvPr/>
          </p:nvSpPr>
          <p:spPr>
            <a:xfrm>
              <a:off x="713232" y="205740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Exact unlock tiers (OQ01)</a:t>
              </a:r>
            </a:p>
          </p:txBody>
        </p:sp>
        <p:sp>
          <p:nvSpPr>
            <p:cNvPr id="12" name="Rounded Rectangle 11"/>
            <p:cNvSpPr/>
            <p:nvPr/>
          </p:nvSpPr>
          <p:spPr>
            <a:xfrm>
              <a:off x="3362249" y="1463040"/>
              <a:ext cx="2651760" cy="1600200"/>
            </a:xfrm>
            <a:prstGeom prst="roundRect">
              <a:avLst>
                <a:gd name="adj" fmla="val 5714"/>
              </a:avLst>
            </a:prstGeom>
            <a:solidFill>
              <a:srgbClr val="2B2F36"/>
            </a:solidFill>
            <a:ln>
              <a:noFill/>
            </a:ln>
          </p:spPr>
          <p:txBody>
            <a:bodyPr rtlCol="0" anchor="ctr"/>
            <a:lstStyle/>
            <a:p>
              <a:pPr algn="ctr"/>
            </a:p>
          </p:txBody>
        </p:sp>
        <p:sp>
          <p:nvSpPr>
            <p:cNvPr id="13" name="Inline chip Undecided"/>
            <p:cNvSpPr/>
            <p:nvPr/>
          </p:nvSpPr>
          <p:spPr>
            <a:xfrm>
              <a:off x="3526841" y="162763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14" name="TextBox 13"/>
            <p:cNvSpPr txBox="1"/>
            <p:nvPr/>
          </p:nvSpPr>
          <p:spPr>
            <a:xfrm>
              <a:off x="3526841" y="205740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Longest track piece (OQ02)</a:t>
              </a:r>
            </a:p>
          </p:txBody>
        </p:sp>
        <p:sp>
          <p:nvSpPr>
            <p:cNvPr id="15" name="Rounded Rectangle 14"/>
            <p:cNvSpPr/>
            <p:nvPr/>
          </p:nvSpPr>
          <p:spPr>
            <a:xfrm>
              <a:off x="6175858" y="1463040"/>
              <a:ext cx="2651760" cy="1600200"/>
            </a:xfrm>
            <a:prstGeom prst="roundRect">
              <a:avLst>
                <a:gd name="adj" fmla="val 5714"/>
              </a:avLst>
            </a:prstGeom>
            <a:solidFill>
              <a:srgbClr val="2B2F36"/>
            </a:solidFill>
            <a:ln>
              <a:noFill/>
            </a:ln>
          </p:spPr>
          <p:txBody>
            <a:bodyPr rtlCol="0" anchor="ctr"/>
            <a:lstStyle/>
            <a:p>
              <a:pPr algn="ctr"/>
            </a:p>
          </p:txBody>
        </p:sp>
        <p:sp>
          <p:nvSpPr>
            <p:cNvPr id="16" name="Inline chip Undecided"/>
            <p:cNvSpPr/>
            <p:nvPr/>
          </p:nvSpPr>
          <p:spPr>
            <a:xfrm>
              <a:off x="6340450" y="162763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17" name="TextBox 16"/>
            <p:cNvSpPr txBox="1"/>
            <p:nvPr/>
          </p:nvSpPr>
          <p:spPr>
            <a:xfrm>
              <a:off x="6340450" y="205740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Block lengths and speed caps (OQ03)</a:t>
              </a:r>
            </a:p>
          </p:txBody>
        </p:sp>
        <p:sp>
          <p:nvSpPr>
            <p:cNvPr id="18" name="Rounded Rectangle 17"/>
            <p:cNvSpPr/>
            <p:nvPr/>
          </p:nvSpPr>
          <p:spPr>
            <a:xfrm>
              <a:off x="8989466" y="1463040"/>
              <a:ext cx="2651760" cy="1600200"/>
            </a:xfrm>
            <a:prstGeom prst="roundRect">
              <a:avLst>
                <a:gd name="adj" fmla="val 5714"/>
              </a:avLst>
            </a:prstGeom>
            <a:solidFill>
              <a:srgbClr val="2B2F36"/>
            </a:solidFill>
            <a:ln>
              <a:noFill/>
            </a:ln>
          </p:spPr>
          <p:txBody>
            <a:bodyPr rtlCol="0" anchor="ctr"/>
            <a:lstStyle/>
            <a:p>
              <a:pPr algn="ctr"/>
            </a:p>
          </p:txBody>
        </p:sp>
        <p:sp>
          <p:nvSpPr>
            <p:cNvPr id="19" name="Inline chip Undecided"/>
            <p:cNvSpPr/>
            <p:nvPr/>
          </p:nvSpPr>
          <p:spPr>
            <a:xfrm>
              <a:off x="9154058" y="162763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20" name="TextBox 19"/>
            <p:cNvSpPr txBox="1"/>
            <p:nvPr/>
          </p:nvSpPr>
          <p:spPr>
            <a:xfrm>
              <a:off x="9154058" y="205740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How boxes measure their reach (OQ04)</a:t>
              </a:r>
            </a:p>
          </p:txBody>
        </p:sp>
        <p:sp>
          <p:nvSpPr>
            <p:cNvPr id="21" name="Rounded Rectangle 20"/>
            <p:cNvSpPr/>
            <p:nvPr/>
          </p:nvSpPr>
          <p:spPr>
            <a:xfrm>
              <a:off x="548640" y="3246120"/>
              <a:ext cx="2651760" cy="1600200"/>
            </a:xfrm>
            <a:prstGeom prst="roundRect">
              <a:avLst>
                <a:gd name="adj" fmla="val 5714"/>
              </a:avLst>
            </a:prstGeom>
            <a:solidFill>
              <a:srgbClr val="2B2F36"/>
            </a:solidFill>
            <a:ln>
              <a:noFill/>
            </a:ln>
          </p:spPr>
          <p:txBody>
            <a:bodyPr rtlCol="0" anchor="ctr"/>
            <a:lstStyle/>
            <a:p>
              <a:pPr algn="ctr"/>
            </a:p>
          </p:txBody>
        </p:sp>
        <p:sp>
          <p:nvSpPr>
            <p:cNvPr id="22" name="Inline chip Undecided"/>
            <p:cNvSpPr/>
            <p:nvPr/>
          </p:nvSpPr>
          <p:spPr>
            <a:xfrm>
              <a:off x="713232" y="341071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23" name="TextBox 22"/>
            <p:cNvSpPr txBox="1"/>
            <p:nvPr/>
          </p:nvSpPr>
          <p:spPr>
            <a:xfrm>
              <a:off x="713232" y="384048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Is Medium the fastest? (OQ05)</a:t>
              </a:r>
            </a:p>
          </p:txBody>
        </p:sp>
        <p:sp>
          <p:nvSpPr>
            <p:cNvPr id="24" name="Rounded Rectangle 23"/>
            <p:cNvSpPr/>
            <p:nvPr/>
          </p:nvSpPr>
          <p:spPr>
            <a:xfrm>
              <a:off x="3362249" y="3246120"/>
              <a:ext cx="2651760" cy="1600200"/>
            </a:xfrm>
            <a:prstGeom prst="roundRect">
              <a:avLst>
                <a:gd name="adj" fmla="val 5714"/>
              </a:avLst>
            </a:prstGeom>
            <a:solidFill>
              <a:srgbClr val="2B2F36"/>
            </a:solidFill>
            <a:ln>
              <a:noFill/>
            </a:ln>
          </p:spPr>
          <p:txBody>
            <a:bodyPr rtlCol="0" anchor="ctr"/>
            <a:lstStyle/>
            <a:p>
              <a:pPr algn="ctr"/>
            </a:p>
          </p:txBody>
        </p:sp>
        <p:sp>
          <p:nvSpPr>
            <p:cNvPr id="25" name="Inline chip Undecided"/>
            <p:cNvSpPr/>
            <p:nvPr/>
          </p:nvSpPr>
          <p:spPr>
            <a:xfrm>
              <a:off x="3526841" y="341071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26" name="TextBox 25"/>
            <p:cNvSpPr txBox="1"/>
            <p:nvPr/>
          </p:nvSpPr>
          <p:spPr>
            <a:xfrm>
              <a:off x="3526841" y="384048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Which regions at launch? (OQ06)</a:t>
              </a:r>
            </a:p>
          </p:txBody>
        </p:sp>
        <p:sp>
          <p:nvSpPr>
            <p:cNvPr id="27" name="Rounded Rectangle 26"/>
            <p:cNvSpPr/>
            <p:nvPr/>
          </p:nvSpPr>
          <p:spPr>
            <a:xfrm>
              <a:off x="6175858" y="3246120"/>
              <a:ext cx="2651760" cy="1600200"/>
            </a:xfrm>
            <a:prstGeom prst="roundRect">
              <a:avLst>
                <a:gd name="adj" fmla="val 5714"/>
              </a:avLst>
            </a:prstGeom>
            <a:solidFill>
              <a:srgbClr val="2B2F36"/>
            </a:solidFill>
            <a:ln>
              <a:noFill/>
            </a:ln>
          </p:spPr>
          <p:txBody>
            <a:bodyPr rtlCol="0" anchor="ctr"/>
            <a:lstStyle/>
            <a:p>
              <a:pPr algn="ctr"/>
            </a:p>
          </p:txBody>
        </p:sp>
        <p:sp>
          <p:nvSpPr>
            <p:cNvPr id="28" name="Inline chip Undecided"/>
            <p:cNvSpPr/>
            <p:nvPr/>
          </p:nvSpPr>
          <p:spPr>
            <a:xfrm>
              <a:off x="6340450" y="341071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29" name="TextBox 28"/>
            <p:cNvSpPr txBox="1"/>
            <p:nvPr/>
          </p:nvSpPr>
          <p:spPr>
            <a:xfrm>
              <a:off x="6340450" y="384048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Which extra locomotives? (OQ20)</a:t>
              </a:r>
            </a:p>
          </p:txBody>
        </p:sp>
        <p:sp>
          <p:nvSpPr>
            <p:cNvPr id="30" name="Rounded Rectangle 29"/>
            <p:cNvSpPr/>
            <p:nvPr/>
          </p:nvSpPr>
          <p:spPr>
            <a:xfrm>
              <a:off x="8989466" y="3246120"/>
              <a:ext cx="2651760" cy="1600200"/>
            </a:xfrm>
            <a:prstGeom prst="roundRect">
              <a:avLst>
                <a:gd name="adj" fmla="val 5714"/>
              </a:avLst>
            </a:prstGeom>
            <a:solidFill>
              <a:srgbClr val="2B2F36"/>
            </a:solidFill>
            <a:ln>
              <a:noFill/>
            </a:ln>
          </p:spPr>
          <p:txBody>
            <a:bodyPr rtlCol="0" anchor="ctr"/>
            <a:lstStyle/>
            <a:p>
              <a:pPr algn="ctr"/>
            </a:p>
          </p:txBody>
        </p:sp>
        <p:sp>
          <p:nvSpPr>
            <p:cNvPr id="31" name="Inline chip Undecided"/>
            <p:cNvSpPr/>
            <p:nvPr/>
          </p:nvSpPr>
          <p:spPr>
            <a:xfrm>
              <a:off x="9154058" y="3410712"/>
              <a:ext cx="1422737" cy="329184"/>
            </a:xfrm>
            <a:prstGeom prst="roundRect">
              <a:avLst>
                <a:gd name="adj" fmla="val 50000"/>
              </a:avLst>
            </a:prstGeom>
            <a:noFill/>
            <a:ln w="25400">
              <a:solidFill>
                <a:srgbClr val="A9B0B8"/>
              </a:solidFill>
            </a:ln>
          </p:spPr>
          <p:txBody>
            <a:bodyPr rtlCol="0" anchor="ctr" wrap="square" lIns="54864" tIns="18288" rIns="54864" bIns="18288">
              <a:noAutofit/>
            </a:bodyPr>
            <a:lstStyle/>
            <a:p>
              <a:pPr algn="ctr"/>
              <a:r>
                <a:rPr sz="1400" b="1" i="0" lang="en-GB">
                  <a:solidFill>
                    <a:srgbClr val="F2F2F2"/>
                  </a:solidFill>
                  <a:latin typeface="Arial"/>
                </a:rPr>
                <a:t>UNDECIDED</a:t>
              </a:r>
            </a:p>
          </p:txBody>
        </p:sp>
        <p:sp>
          <p:nvSpPr>
            <p:cNvPr id="32" name="TextBox 31"/>
            <p:cNvSpPr txBox="1"/>
            <p:nvPr/>
          </p:nvSpPr>
          <p:spPr>
            <a:xfrm>
              <a:off x="9154058" y="3840480"/>
              <a:ext cx="2377440" cy="914400"/>
            </a:xfrm>
            <a:prstGeom prst="rect">
              <a:avLst/>
            </a:prstGeom>
            <a:noFill/>
          </p:spPr>
          <p:txBody>
            <a:bodyPr wrap="square" lIns="0" tIns="0" rIns="0" bIns="0" anchor="t">
              <a:noAutofit/>
            </a:bodyPr>
            <a:lstStyle/>
            <a:p>
              <a:pPr algn="l"/>
              <a:r>
                <a:rPr sz="1800" b="0" i="0" lang="en-GB">
                  <a:solidFill>
                    <a:srgbClr val="F2F2F2"/>
                  </a:solidFill>
                  <a:latin typeface="Arial"/>
                </a:rPr>
                <a:t>Pricing and release of packs (OQ26)</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These questions are open. Nothing here has been chosen yet.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STATUS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94415" cy="731520"/>
          </a:xfrm>
        </p:spPr>
        <p:txBody>
          <a:bodyPr wrap="square" lIns="0" tIns="0" rIns="0" bIns="0" anchor="ctr">
            <a:noAutofit/>
          </a:bodyPr>
          <a:lstStyle/>
          <a:p>
            <a:pPr algn="l"/>
            <a:r>
              <a:rPr sz="3600" b="1" i="0" lang="en-GB">
                <a:solidFill>
                  <a:srgbClr val="F2F2F2"/>
                </a:solidFill>
                <a:latin typeface="Arial"/>
              </a:rPr>
              <a:t>Image credits (1 of 2)</a:t>
            </a:r>
          </a:p>
        </p:txBody>
      </p:sp>
      <p:graphicFrame>
        <p:nvGraphicFramePr>
          <p:cNvPr id="7" name="Credit table" descr="Credit table for photographs P01 to P12: slot, slide, author, licence and a link to the source page on Wikimedia Commons."/>
          <p:cNvGraphicFramePr>
            <a:graphicFrameLocks noGrp="1"/>
          </p:cNvGraphicFramePr>
          <p:nvPr/>
        </p:nvGraphicFramePr>
        <p:xfrm>
          <a:off x="548640" y="1325880"/>
          <a:ext cx="11091672" cy="3625596"/>
        </p:xfrm>
        <a:graphic>
          <a:graphicData uri="http://schemas.openxmlformats.org/drawingml/2006/table">
            <a:tbl>
              <a:tblPr firstRow="1">
                <a:tableStyleId>{2D5ABB26-0587-4C30-8999-92F81FD0307C}</a:tableStyleId>
              </a:tblPr>
              <a:tblGrid>
                <a:gridCol w="685800"/>
                <a:gridCol w="960120"/>
                <a:gridCol w="4937760"/>
                <a:gridCol w="2194560"/>
                <a:gridCol w="2313432"/>
              </a:tblGrid>
              <a:tr h="278892">
                <a:tc>
                  <a:txBody>
                    <a:bodyPr wrap="square"/>
                    <a:lstStyle/>
                    <a:p>
                      <a:pPr algn="l"/>
                      <a:r>
                        <a:rPr sz="1100" b="1" lang="en-GB">
                          <a:solidFill>
                            <a:srgbClr val="F28C28"/>
                          </a:solidFill>
                          <a:latin typeface="Arial"/>
                        </a:rPr>
                        <a:t>Slot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Slide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Author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Source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r>
              <a:tr h="278892">
                <a:tc>
                  <a:txBody>
                    <a:bodyPr wrap="square"/>
                    <a:lstStyle/>
                    <a:p>
                      <a:pPr algn="l"/>
                      <a:r>
                        <a:rPr sz="1100" b="0" lang="en-GB">
                          <a:solidFill>
                            <a:srgbClr val="F2F2F2"/>
                          </a:solidFill>
                          <a:latin typeface="Arial"/>
                        </a:rPr>
                        <a:t>P01</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6</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Stephen Craven</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2"/>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P02</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James E. Petts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4.0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3"/>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P03</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Ben Salter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4"/>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P04</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www.mgaylard.co.uk</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5"/>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P05</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www.mgaylard.co.uk</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6"/>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P06</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Barry Skeates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7"/>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David Merrett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8"/>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P08</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11</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Gillett's Crossing</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9"/>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P09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11</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kitmasterbloke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4.0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10"/>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Duncan Harris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11"/>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P11</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kitmasterbloke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12"/>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P12</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21</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Tony Hisgett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13"/>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bl>
          </a:graphicData>
        </a:graphic>
      </p:graphicFrame>
      <p:sp>
        <p:nvSpPr>
          <p:cNvPr id="8" name="TextBox 7"/>
          <p:cNvSpPr txBox="1"/>
          <p:nvPr/>
        </p:nvSpPr>
        <p:spPr>
          <a:xfrm>
            <a:off x="548640" y="5061204"/>
            <a:ext cx="8229600" cy="292608"/>
          </a:xfrm>
          <a:prstGeom prst="rect">
            <a:avLst/>
          </a:prstGeom>
          <a:noFill/>
        </p:spPr>
        <p:txBody>
          <a:bodyPr wrap="square" lIns="0" tIns="0" rIns="0" bIns="0" anchor="t">
            <a:noAutofit/>
          </a:bodyPr>
          <a:lstStyle/>
          <a:p>
            <a:pPr algn="l"/>
            <a:r>
              <a:rPr sz="1400" b="0" i="0" lang="en-GB">
                <a:solidFill>
                  <a:srgbClr val="F2F2F2"/>
                </a:solidFill>
                <a:latin typeface="Arial"/>
              </a:rPr>
              <a:t>CC BY-SA photos are shown unmodified except for resizing.</a:t>
            </a:r>
          </a:p>
        </p:txBody>
      </p:sp>
      <p:sp>
        <p:nvSpPr>
          <p:cNvPr id="3"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Photographs come from Wikimedia Commons under Creative Commons licences.</a:t>
            </a:r>
          </a:p>
        </p:txBody>
      </p:sp>
      <p:sp>
        <p:nvSpPr>
          <p:cNvPr id="4"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5"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CREDITS</a:t>
            </a:r>
          </a:p>
        </p:txBody>
      </p:sp>
      <p:sp>
        <p:nvSpPr>
          <p:cNvPr id="6"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94415" cy="731520"/>
          </a:xfrm>
        </p:spPr>
        <p:txBody>
          <a:bodyPr wrap="square" lIns="0" tIns="0" rIns="0" bIns="0" anchor="ctr">
            <a:noAutofit/>
          </a:bodyPr>
          <a:lstStyle/>
          <a:p>
            <a:pPr algn="l"/>
            <a:r>
              <a:rPr sz="3600" b="1" i="0" lang="en-GB">
                <a:solidFill>
                  <a:srgbClr val="F2F2F2"/>
                </a:solidFill>
                <a:latin typeface="Arial"/>
              </a:rPr>
              <a:t>Image credits (2 of 2)</a:t>
            </a:r>
          </a:p>
        </p:txBody>
      </p:sp>
      <p:graphicFrame>
        <p:nvGraphicFramePr>
          <p:cNvPr id="7" name="Credit table" descr="Credit table for photographs P13 to P19 and project renders R01 to R05: slot, slide, author, licence and source."/>
          <p:cNvGraphicFramePr>
            <a:graphicFrameLocks noGrp="1"/>
          </p:cNvGraphicFramePr>
          <p:nvPr/>
        </p:nvGraphicFramePr>
        <p:xfrm>
          <a:off x="548640" y="1325880"/>
          <a:ext cx="11091672" cy="3625596"/>
        </p:xfrm>
        <a:graphic>
          <a:graphicData uri="http://schemas.openxmlformats.org/drawingml/2006/table">
            <a:tbl>
              <a:tblPr firstRow="1">
                <a:tableStyleId>{2D5ABB26-0587-4C30-8999-92F81FD0307C}</a:tableStyleId>
              </a:tblPr>
              <a:tblGrid>
                <a:gridCol w="685800"/>
                <a:gridCol w="960120"/>
                <a:gridCol w="4937760"/>
                <a:gridCol w="2194560"/>
                <a:gridCol w="2313432"/>
              </a:tblGrid>
              <a:tr h="278892">
                <a:tc>
                  <a:txBody>
                    <a:bodyPr wrap="square"/>
                    <a:lstStyle/>
                    <a:p>
                      <a:pPr algn="l"/>
                      <a:r>
                        <a:rPr sz="1100" b="1" lang="en-GB">
                          <a:solidFill>
                            <a:srgbClr val="F28C28"/>
                          </a:solidFill>
                          <a:latin typeface="Arial"/>
                        </a:rPr>
                        <a:t>Slot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Slide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Author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wrap="square"/>
                    <a:lstStyle/>
                    <a:p>
                      <a:pPr algn="l"/>
                      <a:r>
                        <a:rPr sz="1100" b="1" lang="en-GB">
                          <a:solidFill>
                            <a:srgbClr val="F28C28"/>
                          </a:solidFill>
                          <a:latin typeface="Arial"/>
                        </a:rPr>
                        <a:t>Source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r>
              <a:tr h="278892">
                <a:tc>
                  <a:txBody>
                    <a:bodyPr wrap="square"/>
                    <a:lstStyle/>
                    <a:p>
                      <a:pPr algn="l"/>
                      <a:r>
                        <a:rPr sz="1100" b="0" lang="en-GB">
                          <a:solidFill>
                            <a:srgbClr val="F2F2F2"/>
                          </a:solidFill>
                          <a:latin typeface="Arial"/>
                        </a:rPr>
                        <a:t>P13</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Richard Dunn</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2"/>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P14</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30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Reading Tom</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3"/>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P15</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30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Nigel Brown</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4"/>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P16</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33</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mattbuck (category)</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3.0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5"/>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25</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Rosser1954</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4.0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6"/>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P18</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24</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Geof Sheppard</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BY-SA 4.0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7"/>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P19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36</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Ben Salter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CC BY 2.0</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Wikimedia </a:t>
                      </a:r>
                      <a:r>
                        <a:rPr sz="1100" b="0" u="sng" lang="en-GB">
                          <a:solidFill>
                            <a:srgbClr val="7DB8FF"/>
                          </a:solidFill>
                          <a:latin typeface="Arial"/>
                          <a:hlinkClick r:id="rId8"/>
                        </a:rPr>
                        <a:t>Commons</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R01</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1, 3, 39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Early Locomotion project (test model, not final art)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No third-party 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Project render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R02</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17, 39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Early Locomotion project (test model, not final art)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No third-party 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Project render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R03</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Early Locomotion project (test model, not final art)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No third-party 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Project render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R04</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29</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Early Locomotion project (test model, not final art)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No third-party 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Project render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r h="278892">
                <a:tc>
                  <a:txBody>
                    <a:bodyPr wrap="square"/>
                    <a:lstStyle/>
                    <a:p>
                      <a:pPr algn="l"/>
                      <a:r>
                        <a:rPr sz="1100" b="0" lang="en-GB">
                          <a:solidFill>
                            <a:srgbClr val="F2F2F2"/>
                          </a:solidFill>
                          <a:latin typeface="Arial"/>
                        </a:rPr>
                        <a:t>R05</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17</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Early Locomotion project (test model, not final art)</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No third-party licence</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wrap="square"/>
                    <a:lstStyle/>
                    <a:p>
                      <a:pPr algn="l"/>
                      <a:r>
                        <a:rPr sz="1100" b="0" lang="en-GB">
                          <a:solidFill>
                            <a:srgbClr val="F2F2F2"/>
                          </a:solidFill>
                          <a:latin typeface="Arial"/>
                        </a:rPr>
                        <a:t>Project render</a:t>
                      </a:r>
                    </a:p>
                  </a:txBody>
                  <a:tcPr marL="91440" marR="91440"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r>
            </a:tbl>
          </a:graphicData>
        </a:graphic>
      </p:graphicFrame>
      <p:sp>
        <p:nvSpPr>
          <p:cNvPr id="8" name="TextBox 7"/>
          <p:cNvSpPr txBox="1"/>
          <p:nvPr/>
        </p:nvSpPr>
        <p:spPr>
          <a:xfrm>
            <a:off x="548640" y="5061204"/>
            <a:ext cx="8229600" cy="292608"/>
          </a:xfrm>
          <a:prstGeom prst="rect">
            <a:avLst/>
          </a:prstGeom>
          <a:noFill/>
        </p:spPr>
        <p:txBody>
          <a:bodyPr wrap="square" lIns="0" tIns="0" rIns="0" bIns="0" anchor="t">
            <a:noAutofit/>
          </a:bodyPr>
          <a:lstStyle/>
          <a:p>
            <a:pPr algn="l"/>
            <a:r>
              <a:rPr sz="1400" b="0" i="0" lang="en-GB">
                <a:solidFill>
                  <a:srgbClr val="F2F2F2"/>
                </a:solidFill>
                <a:latin typeface="Arial"/>
              </a:rPr>
              <a:t>CC BY-SA photos are shown unmodified except for resizing.</a:t>
            </a:r>
          </a:p>
        </p:txBody>
      </p:sp>
      <p:sp>
        <p:nvSpPr>
          <p:cNvPr id="3" name="Caption"/>
          <p:cNvSpPr/>
          <p:nvPr/>
        </p:nvSpPr>
        <p:spPr>
          <a:xfrm>
            <a:off x="548640" y="5852160"/>
            <a:ext cx="11091672" cy="548640"/>
          </a:xfrm>
          <a:prstGeom prst="roundRect">
            <a:avLst>
              <a:gd name="adj" fmla="val 13333"/>
            </a:avLst>
          </a:prstGeom>
          <a:solidFill>
            <a:srgbClr val="2B2F36"/>
          </a:solidFill>
          <a:ln>
            <a:noFill/>
          </a:ln>
        </p:spPr>
        <p:txBody>
          <a:bodyPr rtlCol="0" anchor="ctr" wrap="square" lIns="274320" tIns="27432" rIns="182880" bIns="27432">
            <a:noAutofit/>
          </a:bodyPr>
          <a:lstStyle/>
          <a:p>
            <a:pPr algn="l"/>
            <a:r>
              <a:rPr sz="2000" b="0" i="0" lang="en-GB">
                <a:solidFill>
                  <a:srgbClr val="F2F2F2"/>
                </a:solidFill>
                <a:latin typeface="Arial"/>
              </a:rPr>
              <a:t>Mod renders belong to the project. They show early test models.</a:t>
            </a:r>
          </a:p>
        </p:txBody>
      </p:sp>
      <p:sp>
        <p:nvSpPr>
          <p:cNvPr id="4"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p>
        </p:txBody>
      </p:sp>
      <p:sp>
        <p:nvSpPr>
          <p:cNvPr id="5" name="Section label"/>
          <p:cNvSpPr txBox="1"/>
          <p:nvPr/>
        </p:nvSpPr>
        <p:spPr>
          <a:xfrm>
            <a:off x="548640" y="118872"/>
            <a:ext cx="7315200" cy="274320"/>
          </a:xfrm>
          <a:prstGeom prst="rect">
            <a:avLst/>
          </a:prstGeom>
          <a:noFill/>
        </p:spPr>
        <p:txBody>
          <a:bodyPr wrap="square" lIns="0" tIns="0" rIns="0" bIns="0" anchor="t">
            <a:noAutofit/>
          </a:bodyPr>
          <a:lstStyle/>
          <a:p>
            <a:pPr algn="l"/>
            <a:r>
              <a:rPr sz="1400" b="0" i="0" lang="en-GB">
                <a:solidFill>
                  <a:srgbClr val="A9B0B8"/>
                </a:solidFill>
                <a:latin typeface="Arial"/>
              </a:rPr>
              <a:t>CREDITS</a:t>
            </a:r>
          </a:p>
        </p:txBody>
      </p:sp>
      <p:sp>
        <p:nvSpPr>
          <p:cNvPr id="6"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sz="1400" b="0" i="0" lang="en-GB">
                <a:solidFill>
                  <a:srgbClr val="A9B0B8"/>
                </a:solidFill>
                <a:latin typeface="Arial"/>
              </a:rPr>
              <a:t>42</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DB8FF"/>
      </a:hlink>
      <a:folHlink>
        <a:srgbClr val="C9A7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Locomotion, Explained</dc:title>
  <dc:subject>A read-alone explainer of the Early Locomotion steam railway mod for Satisfactory</dc:subject>
  <dc:creator>Early Locomotion project</dc:creator>
  <cp:keywords>Satisfactory; Early Locomotion; steam railway; explainer</cp:keywords>
  <dc:description>Plans, not a finished mod. Status tags follow Design/GAME_DESIGN.md.</dc:description>
  <cp:lastModifiedBy>Early Locomotion project</cp:lastModifiedBy>
  <cp:revision>1</cp:revision>
  <dcterms:created xsi:type="dcterms:W3CDTF">2013-01-27T09:14:16Z</dcterms:created>
  <dcterms:modified xsi:type="dcterms:W3CDTF">2013-01-27T09:15:58Z</dcterms:modified>
  <cp:category/>
  <dc:language>en-GB</dc:language>
</cp:coreProperties>
</file>