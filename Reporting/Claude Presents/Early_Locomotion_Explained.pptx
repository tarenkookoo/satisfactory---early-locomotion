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E212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image" Target="../media/image7.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1234440"/>
            <a:ext cx="5760720" cy="1920240"/>
          </a:xfrm>
        </p:spPr>
        <p:txBody>
          <a:bodyPr wrap="square" lIns="0" tIns="0" rIns="0" bIns="0" anchor="b">
            <a:noAutofit/>
          </a:bodyPr>
          <a:lstStyle/>
          <a:p>
            <a:pPr algn="l">
              <a:lnSpc>
                <a:spcPct val="90000"/>
              </a:lnSpc>
            </a:pPr>
            <a:r>
              <a:rPr sz="5400" b="1" i="0" lang="en-GB">
                <a:solidFill>
                  <a:srgbClr val="F2F2F2"/>
                </a:solidFill>
                <a:latin typeface="Arial"/>
              </a:rPr>
              <a:t>Early Locomotion</a:t>
            </a:r>
          </a:p>
        </p:txBody>
      </p:sp>
      <p:sp>
        <p:nvSpPr>
          <p:cNvPr id="3" name="Title rule">
            <a:extLst>
              <a:ext uri="{C183D7F6-B498-43B3-948B-1728B52AA6E4}">
                <adec:decorative xmlns:adec="http://schemas.microsoft.com/office/drawing/2017/decorative" val="1"/>
              </a:ext>
            </a:extLst>
          </p:cNvPr>
          <p:cNvSpPr/>
          <p:nvPr/>
        </p:nvSpPr>
        <p:spPr>
          <a:xfrm>
            <a:off x="548640" y="3337560"/>
            <a:ext cx="2377440" cy="91440"/>
          </a:xfrm>
          <a:prstGeom prst="rect">
            <a:avLst/>
          </a:prstGeom>
          <a:solidFill>
            <a:srgbClr val="F28C28"/>
          </a:solidFill>
          <a:ln>
            <a:noFill/>
          </a:ln>
        </p:spPr>
        <p:txBody>
          <a:bodyPr rtlCol="0" anchor="ctr"/>
          <a:lstStyle/>
          <a:p>
            <a:pPr algn="ctr"/>
          </a:p>
        </p:txBody>
      </p:sp>
      <p:sp>
        <p:nvSpPr>
          <p:cNvPr id="4" name="Caption"/>
          <p:cNvSpPr txBox="1"/>
          <p:nvPr/>
        </p:nvSpPr>
        <p:spPr>
          <a:xfrm>
            <a:off x="548640" y="3611880"/>
            <a:ext cx="5669280" cy="1645920"/>
          </a:xfrm>
          <a:prstGeom prst="rect">
            <a:avLst/>
          </a:prstGeom>
          <a:noFill/>
        </p:spPr>
        <p:txBody>
          <a:bodyPr wrap="square" lIns="0" tIns="0" rIns="0" bIns="0" anchor="t">
            <a:noAutofit/>
          </a:bodyPr>
          <a:lstStyle/>
          <a:p>
            <a:pPr algn="l">
              <a:lnSpc>
                <a:spcPct val="105000"/>
              </a:lnSpc>
            </a:pPr>
            <a:r>
              <a:rPr sz="2400" b="0" i="0" lang="en-GB">
                <a:solidFill>
                  <a:srgbClr val="F2F2F2"/>
                </a:solidFill>
                <a:latin typeface="Arial"/>
              </a:rPr>
              <a:t>A steam railway mod for Satisfactory, explained for newcomers. Everything here is a plan, not a finished mod.</a:t>
            </a:r>
          </a:p>
        </p:txBody>
      </p:sp>
      <p:pic>
        <p:nvPicPr>
          <p:cNvPr id="5" name="Picture R01" descr="Early test model of a tank engine (a yellow 'visual probe') on a short length of track. Not final art."/>
          <p:cNvPicPr>
            <a:picLocks noChangeAspect="1"/>
          </p:cNvPicPr>
          <p:nvPr/>
        </p:nvPicPr>
        <p:blipFill>
          <a:blip r:embed="rId2"/>
          <a:srcRect l="20413" r="26413"/>
          <a:stretch>
            <a:fillRect/>
          </a:stretch>
        </p:blipFill>
        <p:spPr>
          <a:xfrm>
            <a:off x="6519672" y="548640"/>
            <a:ext cx="5120640" cy="5349240"/>
          </a:xfrm>
          <a:prstGeom prst="roundRect">
            <a:avLst>
              <a:gd name="adj" fmla="val 1429"/>
            </a:avLst>
          </a:prstGeom>
        </p:spPr>
      </p:pic>
      <p:sp>
        <p:nvSpPr>
          <p:cNvPr id="6" name="Credit"/>
          <p:cNvSpPr txBox="1"/>
          <p:nvPr/>
        </p:nvSpPr>
        <p:spPr>
          <a:xfrm>
            <a:off x="6519672" y="592531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7"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8" name="Slide number"/>
          <p:cNvSpPr txBox="1"/>
          <p:nvPr/>
        </p:nvSpPr>
        <p:spPr>
          <a:xfrm>
            <a:off x="10728655" y="6455664"/>
            <a:ext cx="914400" cy="274320"/>
          </a:xfrm>
          <a:prstGeom prst="rect">
            <a:avLst/>
          </a:prstGeom>
          <a:noFill/>
        </p:spPr>
        <p:txBody>
          <a:bodyPr wrap="square" lIns="0" tIns="0" rIns="0" bIns="0" anchor="t">
            <a:noAutofit/>
          </a:bodyPr>
          <a:lstStyle/>
          <a:p>
            <a:pPr algn="r"/>
            <a:r>
              <a:rPr sz="1400" b="0" i="0" lang="en-GB">
                <a:solidFill>
                  <a:srgbClr val="A9B0B8"/>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How to read this guide</a:t>
            </a:r>
          </a:p>
        </p:txBody>
      </p:sp>
      <p:grpSp>
        <p:nvGrpSpPr>
          <p:cNvPr id="7" name="Tag legend" descr="Legend of the five tags used in this guide and what each means."/>
          <p:cNvGrpSpPr/>
          <p:nvPr/>
        </p:nvGrpSpPr>
        <p:grpSpPr>
          <a:xfrm>
            <a:off x="1280160" y="1463040"/>
            <a:ext cx="9628632" cy="3877056"/>
            <a:chOff x="1280160" y="1463040"/>
            <a:chExt cx="9628632" cy="3877056"/>
          </a:xfrm>
        </p:grpSpPr>
        <p:sp>
          <p:nvSpPr>
            <p:cNvPr id="8" name="Rounded Rectangle 7"/>
            <p:cNvSpPr/>
            <p:nvPr/>
          </p:nvSpPr>
          <p:spPr>
            <a:xfrm>
              <a:off x="1280160" y="1463040"/>
              <a:ext cx="9628632" cy="658368"/>
            </a:xfrm>
            <a:prstGeom prst="roundRect">
              <a:avLst>
                <a:gd name="adj" fmla="val 11111"/>
              </a:avLst>
            </a:prstGeom>
            <a:solidFill>
              <a:srgbClr val="2B2F36"/>
            </a:solidFill>
            <a:ln>
              <a:noFill/>
            </a:ln>
          </p:spPr>
          <p:txBody>
            <a:bodyPr rtlCol="0" anchor="ctr"/>
            <a:lstStyle/>
            <a:p>
              <a:pPr algn="ctr"/>
            </a:p>
          </p:txBody>
        </p:sp>
        <p:sp>
          <p:nvSpPr>
            <p:cNvPr id="9" name="Chip Agreed"/>
            <p:cNvSpPr/>
            <p:nvPr/>
          </p:nvSpPr>
          <p:spPr>
            <a:xfrm>
              <a:off x="1508760" y="1572768"/>
              <a:ext cx="2103120" cy="438912"/>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600" b="1" i="0" lang="en-GB">
                  <a:solidFill>
                    <a:srgbClr val="101418"/>
                  </a:solidFill>
                  <a:latin typeface="Arial"/>
                </a:rPr>
                <a:t>AGREED</a:t>
              </a:r>
            </a:p>
          </p:txBody>
        </p:sp>
        <p:sp>
          <p:nvSpPr>
            <p:cNvPr id="10" name="TextBox 9"/>
            <p:cNvSpPr txBox="1"/>
            <p:nvPr/>
          </p:nvSpPr>
          <p:spPr>
            <a:xfrm>
              <a:off x="3977640" y="1463040"/>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Decided.</a:t>
              </a:r>
            </a:p>
          </p:txBody>
        </p:sp>
        <p:sp>
          <p:nvSpPr>
            <p:cNvPr id="11" name="Rounded Rectangle 10"/>
            <p:cNvSpPr/>
            <p:nvPr/>
          </p:nvSpPr>
          <p:spPr>
            <a:xfrm>
              <a:off x="1280160" y="2267712"/>
              <a:ext cx="9628632" cy="658368"/>
            </a:xfrm>
            <a:prstGeom prst="roundRect">
              <a:avLst>
                <a:gd name="adj" fmla="val 11111"/>
              </a:avLst>
            </a:prstGeom>
            <a:solidFill>
              <a:srgbClr val="2B2F36"/>
            </a:solidFill>
            <a:ln>
              <a:noFill/>
            </a:ln>
          </p:spPr>
          <p:txBody>
            <a:bodyPr rtlCol="0" anchor="ctr"/>
            <a:lstStyle/>
            <a:p>
              <a:pPr algn="ctr"/>
            </a:p>
          </p:txBody>
        </p:sp>
        <p:sp>
          <p:nvSpPr>
            <p:cNvPr id="12" name="Chip Proposed"/>
            <p:cNvSpPr/>
            <p:nvPr/>
          </p:nvSpPr>
          <p:spPr>
            <a:xfrm>
              <a:off x="1508760" y="2377440"/>
              <a:ext cx="2103120" cy="438912"/>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600" b="1" i="0" lang="en-GB">
                  <a:solidFill>
                    <a:srgbClr val="101418"/>
                  </a:solidFill>
                  <a:latin typeface="Arial"/>
                </a:rPr>
                <a:t>PROPOSED</a:t>
              </a:r>
            </a:p>
          </p:txBody>
        </p:sp>
        <p:sp>
          <p:nvSpPr>
            <p:cNvPr id="13" name="TextBox 12"/>
            <p:cNvSpPr txBox="1"/>
            <p:nvPr/>
          </p:nvSpPr>
          <p:spPr>
            <a:xfrm>
              <a:off x="3977640" y="2267712"/>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Suggested, not confirmed.</a:t>
              </a:r>
            </a:p>
          </p:txBody>
        </p:sp>
        <p:sp>
          <p:nvSpPr>
            <p:cNvPr id="14" name="Rounded Rectangle 13"/>
            <p:cNvSpPr/>
            <p:nvPr/>
          </p:nvSpPr>
          <p:spPr>
            <a:xfrm>
              <a:off x="1280160" y="3072384"/>
              <a:ext cx="9628632" cy="658368"/>
            </a:xfrm>
            <a:prstGeom prst="roundRect">
              <a:avLst>
                <a:gd name="adj" fmla="val 11111"/>
              </a:avLst>
            </a:prstGeom>
            <a:solidFill>
              <a:srgbClr val="2B2F36"/>
            </a:solidFill>
            <a:ln>
              <a:noFill/>
            </a:ln>
          </p:spPr>
          <p:txBody>
            <a:bodyPr rtlCol="0" anchor="ctr"/>
            <a:lstStyle/>
            <a:p>
              <a:pPr algn="ctr"/>
            </a:p>
          </p:txBody>
        </p:sp>
        <p:sp>
          <p:nvSpPr>
            <p:cNvPr id="15" name="Chip Provisional"/>
            <p:cNvSpPr/>
            <p:nvPr/>
          </p:nvSpPr>
          <p:spPr>
            <a:xfrm>
              <a:off x="1508760" y="3182112"/>
              <a:ext cx="2103120" cy="438912"/>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600" b="1" i="0" lang="en-GB">
                  <a:solidFill>
                    <a:srgbClr val="101418"/>
                  </a:solidFill>
                  <a:latin typeface="Arial"/>
                </a:rPr>
                <a:t>PROVISIONAL</a:t>
              </a:r>
            </a:p>
          </p:txBody>
        </p:sp>
        <p:sp>
          <p:nvSpPr>
            <p:cNvPr id="16" name="TextBox 15"/>
            <p:cNvSpPr txBox="1"/>
            <p:nvPr/>
          </p:nvSpPr>
          <p:spPr>
            <a:xfrm>
              <a:off x="3977640" y="3072384"/>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test number that may change.</a:t>
              </a:r>
            </a:p>
          </p:txBody>
        </p:sp>
        <p:sp>
          <p:nvSpPr>
            <p:cNvPr id="17" name="Rounded Rectangle 16"/>
            <p:cNvSpPr/>
            <p:nvPr/>
          </p:nvSpPr>
          <p:spPr>
            <a:xfrm>
              <a:off x="1280160" y="3877056"/>
              <a:ext cx="9628632" cy="658368"/>
            </a:xfrm>
            <a:prstGeom prst="roundRect">
              <a:avLst>
                <a:gd name="adj" fmla="val 11111"/>
              </a:avLst>
            </a:prstGeom>
            <a:solidFill>
              <a:srgbClr val="2B2F36"/>
            </a:solidFill>
            <a:ln>
              <a:noFill/>
            </a:ln>
          </p:spPr>
          <p:txBody>
            <a:bodyPr rtlCol="0" anchor="ctr"/>
            <a:lstStyle/>
            <a:p>
              <a:pPr algn="ctr"/>
            </a:p>
          </p:txBody>
        </p:sp>
        <p:sp>
          <p:nvSpPr>
            <p:cNvPr id="18" name="Chip Undecided"/>
            <p:cNvSpPr/>
            <p:nvPr/>
          </p:nvSpPr>
          <p:spPr>
            <a:xfrm>
              <a:off x="1508760" y="3986784"/>
              <a:ext cx="2103120" cy="438912"/>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600" b="1" i="0" lang="en-GB">
                  <a:solidFill>
                    <a:srgbClr val="F2F2F2"/>
                  </a:solidFill>
                  <a:latin typeface="Arial"/>
                </a:rPr>
                <a:t>UNDECIDED</a:t>
              </a:r>
            </a:p>
          </p:txBody>
        </p:sp>
        <p:sp>
          <p:nvSpPr>
            <p:cNvPr id="19" name="TextBox 18"/>
            <p:cNvSpPr txBox="1"/>
            <p:nvPr/>
          </p:nvSpPr>
          <p:spPr>
            <a:xfrm>
              <a:off x="3977640" y="3877056"/>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Still an open question.</a:t>
              </a:r>
            </a:p>
          </p:txBody>
        </p:sp>
        <p:sp>
          <p:nvSpPr>
            <p:cNvPr id="20" name="Rounded Rectangle 19"/>
            <p:cNvSpPr/>
            <p:nvPr/>
          </p:nvSpPr>
          <p:spPr>
            <a:xfrm>
              <a:off x="1280160" y="4681728"/>
              <a:ext cx="9628632" cy="658368"/>
            </a:xfrm>
            <a:prstGeom prst="roundRect">
              <a:avLst>
                <a:gd name="adj" fmla="val 11111"/>
              </a:avLst>
            </a:prstGeom>
            <a:solidFill>
              <a:srgbClr val="2B2F36"/>
            </a:solidFill>
            <a:ln>
              <a:noFill/>
            </a:ln>
          </p:spPr>
          <p:txBody>
            <a:bodyPr rtlCol="0" anchor="ctr"/>
            <a:lstStyle/>
            <a:p>
              <a:pPr algn="ctr"/>
            </a:p>
          </p:txBody>
        </p:sp>
        <p:sp>
          <p:nvSpPr>
            <p:cNvPr id="21" name="Chip Background"/>
            <p:cNvSpPr/>
            <p:nvPr/>
          </p:nvSpPr>
          <p:spPr>
            <a:xfrm>
              <a:off x="1508760" y="4791456"/>
              <a:ext cx="2103120" cy="438912"/>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600" b="1" i="0" lang="en-GB">
                  <a:solidFill>
                    <a:srgbClr val="F2F2F2"/>
                  </a:solidFill>
                  <a:latin typeface="Arial"/>
                </a:rPr>
                <a:t>BACKGROUND</a:t>
              </a:r>
            </a:p>
          </p:txBody>
        </p:sp>
        <p:sp>
          <p:nvSpPr>
            <p:cNvPr id="22" name="TextBox 21"/>
            <p:cNvSpPr txBox="1"/>
            <p:nvPr/>
          </p:nvSpPr>
          <p:spPr>
            <a:xfrm>
              <a:off x="3977640" y="4681728"/>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real-world fact.</a:t>
              </a:r>
            </a:p>
          </p:txBody>
        </p:sp>
      </p:gr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Every idea carries a tag in the top-right corner.</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idea in one picture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Idea flow" descr="Four steps: cheap to build, real limits, your answers, and later the electric monorail."/>
          <p:cNvGrpSpPr/>
          <p:nvPr/>
        </p:nvGrpSpPr>
        <p:grpSpPr>
          <a:xfrm>
            <a:off x="548640" y="1783080"/>
            <a:ext cx="11091672" cy="1463040"/>
            <a:chOff x="548640" y="1783080"/>
            <a:chExt cx="11091672" cy="1463040"/>
          </a:xfrm>
        </p:grpSpPr>
        <p:sp>
          <p:nvSpPr>
            <p:cNvPr id="9" name="Rounded Rectangle 8"/>
            <p:cNvSpPr/>
            <p:nvPr/>
          </p:nvSpPr>
          <p:spPr>
            <a:xfrm>
              <a:off x="548640"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Cheap to build</a:t>
              </a:r>
            </a:p>
          </p:txBody>
        </p:sp>
        <p:cxnSp>
          <p:nvCxnSpPr>
            <p:cNvPr id="10" name="Connector 9"/>
            <p:cNvCxnSpPr/>
            <p:nvPr/>
          </p:nvCxnSpPr>
          <p:spPr>
            <a:xfrm>
              <a:off x="2980944" y="2514600"/>
              <a:ext cx="399593" cy="0"/>
            </a:xfrm>
            <a:prstGeom prst="line">
              <a:avLst/>
            </a:prstGeom>
            <a:ln w="38100">
              <a:solidFill>
                <a:srgbClr val="F28C28"/>
              </a:solidFill>
              <a:tailEnd type="triangle" w="med" len="med"/>
            </a:ln>
          </p:spPr>
        </p:cxnSp>
        <p:sp>
          <p:nvSpPr>
            <p:cNvPr id="11" name="Rounded Rectangle 10"/>
            <p:cNvSpPr/>
            <p:nvPr/>
          </p:nvSpPr>
          <p:spPr>
            <a:xfrm>
              <a:off x="3453689"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Real limits:</a:t>
              </a:r>
            </a:p>
            <a:p>
              <a:pPr algn="ctr"/>
              <a:r>
                <a:rPr sz="1800" b="0" i="0" lang="en-GB">
                  <a:solidFill>
                    <a:srgbClr val="F2F2F2"/>
                  </a:solidFill>
                  <a:latin typeface="Arial"/>
                </a:rPr>
                <a:t>speed, range, signals, stations</a:t>
              </a:r>
            </a:p>
          </p:txBody>
        </p:sp>
        <p:cxnSp>
          <p:nvCxnSpPr>
            <p:cNvPr id="12" name="Connector 11"/>
            <p:cNvCxnSpPr/>
            <p:nvPr/>
          </p:nvCxnSpPr>
          <p:spPr>
            <a:xfrm>
              <a:off x="5885993" y="2514600"/>
              <a:ext cx="398678" cy="0"/>
            </a:xfrm>
            <a:prstGeom prst="line">
              <a:avLst/>
            </a:prstGeom>
            <a:ln w="38100">
              <a:solidFill>
                <a:srgbClr val="F28C28"/>
              </a:solidFill>
              <a:tailEnd type="triangle" w="med" len="med"/>
            </a:ln>
          </p:spPr>
        </p:cxnSp>
        <p:sp>
          <p:nvSpPr>
            <p:cNvPr id="13" name="Rounded Rectangle 12"/>
            <p:cNvSpPr/>
            <p:nvPr/>
          </p:nvSpPr>
          <p:spPr>
            <a:xfrm>
              <a:off x="6357823"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Your answers:</a:t>
              </a:r>
            </a:p>
            <a:p>
              <a:pPr algn="ctr"/>
              <a:r>
                <a:rPr sz="1800" b="0" i="0" lang="en-GB">
                  <a:solidFill>
                    <a:srgbClr val="F2F2F2"/>
                  </a:solidFill>
                  <a:latin typeface="Arial"/>
                </a:rPr>
                <a:t>tenders, service stops, signal boxes</a:t>
              </a:r>
            </a:p>
          </p:txBody>
        </p:sp>
        <p:cxnSp>
          <p:nvCxnSpPr>
            <p:cNvPr id="14" name="Connector 13"/>
            <p:cNvCxnSpPr/>
            <p:nvPr/>
          </p:nvCxnSpPr>
          <p:spPr>
            <a:xfrm>
              <a:off x="8790127" y="2514600"/>
              <a:ext cx="399593" cy="0"/>
            </a:xfrm>
            <a:prstGeom prst="line">
              <a:avLst/>
            </a:prstGeom>
            <a:ln w="38100">
              <a:solidFill>
                <a:srgbClr val="F28C28"/>
              </a:solidFill>
              <a:tailEnd type="triangle" w="med" len="med"/>
            </a:ln>
          </p:spPr>
        </p:cxnSp>
        <p:sp>
          <p:nvSpPr>
            <p:cNvPr id="15" name="Rounded Rectangle 14"/>
            <p:cNvSpPr/>
            <p:nvPr/>
          </p:nvSpPr>
          <p:spPr>
            <a:xfrm>
              <a:off x="9262872" y="1783080"/>
              <a:ext cx="2377440" cy="1463040"/>
            </a:xfrm>
            <a:prstGeom prst="roundRect">
              <a:avLst>
                <a:gd name="adj" fmla="val 5000"/>
              </a:avLst>
            </a:prstGeom>
            <a:solidFill>
              <a:srgbClr val="2B2F36"/>
            </a:solidFill>
            <a:ln w="25400">
              <a:solidFill>
                <a:srgbClr val="6CA0DC"/>
              </a:solidFill>
            </a:ln>
          </p:spPr>
          <p:txBody>
            <a:bodyPr rtlCol="0" anchor="ctr" wrap="square" lIns="137160" tIns="73152" rIns="137160" bIns="73152">
              <a:noAutofit/>
            </a:bodyPr>
            <a:lstStyle/>
            <a:p>
              <a:pPr algn="ctr"/>
              <a:r>
                <a:rPr sz="1800" b="1" i="0" lang="en-GB">
                  <a:solidFill>
                    <a:srgbClr val="F2F2F2"/>
                  </a:solidFill>
                  <a:latin typeface="Arial"/>
                </a:rPr>
                <a:t>Later:</a:t>
              </a:r>
            </a:p>
            <a:p>
              <a:pPr algn="ctr"/>
              <a:r>
                <a:rPr sz="1800" b="0" i="0" lang="en-GB">
                  <a:solidFill>
                    <a:srgbClr val="F2F2F2"/>
                  </a:solidFill>
                  <a:latin typeface="Arial"/>
                </a:rPr>
                <a:t>electric monorail</a:t>
              </a:r>
            </a:p>
          </p:txBody>
        </p:sp>
      </p:grpSp>
      <p:pic>
        <p:nvPicPr>
          <p:cNvPr id="16" name="Picture R01" descr="Early test model of a tank engine (a yellow 'visual probe') on a short length of track. Not final art."/>
          <p:cNvPicPr>
            <a:picLocks noChangeAspect="1"/>
          </p:cNvPicPr>
          <p:nvPr/>
        </p:nvPicPr>
        <p:blipFill>
          <a:blip r:embed="rId2"/>
          <a:srcRect r="3719"/>
          <a:stretch>
            <a:fillRect/>
          </a:stretch>
        </p:blipFill>
        <p:spPr>
          <a:xfrm>
            <a:off x="9262872" y="3977640"/>
            <a:ext cx="2377440" cy="1371600"/>
          </a:xfrm>
          <a:prstGeom prst="roundRect">
            <a:avLst>
              <a:gd name="adj" fmla="val 5333"/>
            </a:avLst>
          </a:prstGeom>
        </p:spPr>
      </p:pic>
      <p:sp>
        <p:nvSpPr>
          <p:cNvPr id="17" name="Credit"/>
          <p:cNvSpPr txBox="1"/>
          <p:nvPr/>
        </p:nvSpPr>
        <p:spPr>
          <a:xfrm>
            <a:off x="9262872" y="5376672"/>
            <a:ext cx="23774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Cheap track and trains. Real limits. You solve them with coal, water, signals and planning.</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What is Satisfactory?</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Definition"/>
          <p:cNvSpPr/>
          <p:nvPr/>
        </p:nvSpPr>
        <p:spPr>
          <a:xfrm>
            <a:off x="548640" y="1417320"/>
            <a:ext cx="4846320" cy="566928"/>
          </a:xfrm>
          <a:prstGeom prst="roundRect">
            <a:avLst>
              <a:gd name="adj" fmla="val 12903"/>
            </a:avLst>
          </a:prstGeom>
          <a:solidFill>
            <a:srgbClr val="2B2F36"/>
          </a:solidFill>
          <a:ln w="19050">
            <a:solidFill>
              <a:srgbClr val="F28C28"/>
            </a:solidFill>
          </a:ln>
        </p:spPr>
        <p:txBody>
          <a:bodyPr rtlCol="0" anchor="ctr" wrap="square" lIns="182880" tIns="27432" bIns="27432">
            <a:noAutofit/>
          </a:bodyPr>
          <a:lstStyle/>
          <a:p>
            <a:pPr algn="l"/>
            <a:r>
              <a:rPr sz="1800" b="1" i="0" lang="en-GB">
                <a:solidFill>
                  <a:srgbClr val="F28C28"/>
                </a:solidFill>
                <a:latin typeface="Arial"/>
              </a:rPr>
              <a:t>Vanilla</a:t>
            </a:r>
            <a:r>
              <a:rPr sz="1800" b="0" i="0" lang="en-GB">
                <a:solidFill>
                  <a:srgbClr val="F2F2F2"/>
                </a:solidFill>
                <a:latin typeface="Arial"/>
              </a:rPr>
              <a:t> = the game without mods.</a:t>
            </a:r>
          </a:p>
        </p:txBody>
      </p:sp>
      <p:grpSp>
        <p:nvGrpSpPr>
          <p:cNvPr id="9" name="Factory strip" descr="A simple factory line from shapes: a miner, conveyor belts, a smelter, a constructor and a storage crate, with the player standing beside it."/>
          <p:cNvGrpSpPr/>
          <p:nvPr/>
        </p:nvGrpSpPr>
        <p:grpSpPr>
          <a:xfrm>
            <a:off x="548640" y="2560320"/>
            <a:ext cx="11091672" cy="2103120"/>
            <a:chOff x="548640" y="2560320"/>
            <a:chExt cx="11091672" cy="2103120"/>
          </a:xfrm>
        </p:grpSpPr>
        <p:sp>
          <p:nvSpPr>
            <p:cNvPr id="10" name="Freeform 9"/>
            <p:cNvSpPr/>
            <p:nvPr/>
          </p:nvSpPr>
          <p:spPr>
            <a:xfrm>
              <a:off x="822960" y="4160520"/>
              <a:ext cx="1280160" cy="502920"/>
            </a:xfrm>
            <a:custGeom>
              <a:avLst/>
              <a:gdLst/>
              <a:ahLst/>
              <a:cxnLst/>
              <a:rect l="l" t="t" r="r" b="b"/>
              <a:pathLst>
                <a:path w="1280160" h="502920">
                  <a:moveTo>
                    <a:pt x="0" y="0"/>
                  </a:moveTo>
                  <a:lnTo>
                    <a:pt x="1280160" y="0"/>
                  </a:lnTo>
                  <a:lnTo>
                    <a:pt x="1097280" y="502920"/>
                  </a:lnTo>
                  <a:lnTo>
                    <a:pt x="182880" y="502920"/>
                  </a:lnTo>
                  <a:close/>
                </a:path>
              </a:pathLst>
            </a:custGeom>
            <a:solidFill>
              <a:srgbClr val="5C4A3A"/>
            </a:solidFill>
            <a:ln>
              <a:noFill/>
            </a:ln>
          </p:spPr>
          <p:txBody>
            <a:bodyPr rtlCol="0" anchor="ctr"/>
            <a:lstStyle/>
            <a:p>
              <a:pPr algn="ctr"/>
            </a:p>
          </p:txBody>
        </p:sp>
        <p:sp>
          <p:nvSpPr>
            <p:cNvPr id="11" name="Rectangle 10"/>
            <p:cNvSpPr/>
            <p:nvPr/>
          </p:nvSpPr>
          <p:spPr>
            <a:xfrm>
              <a:off x="548640" y="4160520"/>
              <a:ext cx="11091672" cy="45720"/>
            </a:xfrm>
            <a:prstGeom prst="rect">
              <a:avLst/>
            </a:prstGeom>
            <a:solidFill>
              <a:srgbClr val="9AA0A6"/>
            </a:solidFill>
            <a:ln>
              <a:noFill/>
            </a:ln>
          </p:spPr>
          <p:txBody>
            <a:bodyPr rtlCol="0" anchor="ctr"/>
            <a:lstStyle/>
            <a:p>
              <a:pPr algn="ctr"/>
            </a:p>
          </p:txBody>
        </p:sp>
        <p:sp>
          <p:nvSpPr>
            <p:cNvPr id="12" name="Rounded Rectangle 11"/>
            <p:cNvSpPr/>
            <p:nvPr/>
          </p:nvSpPr>
          <p:spPr>
            <a:xfrm>
              <a:off x="914400" y="3063240"/>
              <a:ext cx="10972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13" name="Freeform 12"/>
            <p:cNvSpPr/>
            <p:nvPr/>
          </p:nvSpPr>
          <p:spPr>
            <a:xfrm>
              <a:off x="1243584" y="4160520"/>
              <a:ext cx="438912" cy="411480"/>
            </a:xfrm>
            <a:custGeom>
              <a:avLst/>
              <a:gdLst/>
              <a:ahLst/>
              <a:cxnLst/>
              <a:rect l="l" t="t" r="r" b="b"/>
              <a:pathLst>
                <a:path w="438912" h="411480">
                  <a:moveTo>
                    <a:pt x="0" y="0"/>
                  </a:moveTo>
                  <a:lnTo>
                    <a:pt x="438912" y="0"/>
                  </a:lnTo>
                  <a:lnTo>
                    <a:pt x="219456" y="411480"/>
                  </a:lnTo>
                  <a:close/>
                </a:path>
              </a:pathLst>
            </a:custGeom>
            <a:solidFill>
              <a:srgbClr val="9AA0A6"/>
            </a:solidFill>
            <a:ln w="9525">
              <a:solidFill>
                <a:srgbClr val="101418"/>
              </a:solidFill>
            </a:ln>
          </p:spPr>
          <p:txBody>
            <a:bodyPr rtlCol="0" anchor="ctr"/>
            <a:lstStyle/>
            <a:p>
              <a:pPr algn="ctr"/>
            </a:p>
          </p:txBody>
        </p:sp>
        <p:sp>
          <p:nvSpPr>
            <p:cNvPr id="14" name="Rectangle 13"/>
            <p:cNvSpPr/>
            <p:nvPr/>
          </p:nvSpPr>
          <p:spPr>
            <a:xfrm>
              <a:off x="1133856" y="3227832"/>
              <a:ext cx="658368" cy="164592"/>
            </a:xfrm>
            <a:prstGeom prst="rect">
              <a:avLst/>
            </a:prstGeom>
            <a:solidFill>
              <a:srgbClr val="F28C28"/>
            </a:solidFill>
            <a:ln>
              <a:noFill/>
            </a:ln>
          </p:spPr>
          <p:txBody>
            <a:bodyPr rtlCol="0" anchor="ctr"/>
            <a:lstStyle/>
            <a:p>
              <a:pPr algn="ctr"/>
            </a:p>
          </p:txBody>
        </p:sp>
        <p:sp>
          <p:nvSpPr>
            <p:cNvPr id="15" name="Rectangle 14"/>
            <p:cNvSpPr/>
            <p:nvPr/>
          </p:nvSpPr>
          <p:spPr>
            <a:xfrm>
              <a:off x="2011680" y="3566160"/>
              <a:ext cx="1234440" cy="219456"/>
            </a:xfrm>
            <a:prstGeom prst="rect">
              <a:avLst/>
            </a:prstGeom>
            <a:solidFill>
              <a:srgbClr val="1B1D21"/>
            </a:solidFill>
            <a:ln w="12700">
              <a:solidFill>
                <a:srgbClr val="9AA0A6"/>
              </a:solidFill>
            </a:ln>
          </p:spPr>
          <p:txBody>
            <a:bodyPr rtlCol="0" anchor="ctr"/>
            <a:lstStyle/>
            <a:p>
              <a:pPr algn="ctr"/>
            </a:p>
          </p:txBody>
        </p:sp>
        <p:sp>
          <p:nvSpPr>
            <p:cNvPr id="16" name="Chevron 15"/>
            <p:cNvSpPr/>
            <p:nvPr/>
          </p:nvSpPr>
          <p:spPr>
            <a:xfrm>
              <a:off x="2194560" y="3602736"/>
              <a:ext cx="128016" cy="146304"/>
            </a:xfrm>
            <a:prstGeom prst="chevron">
              <a:avLst/>
            </a:prstGeom>
            <a:solidFill>
              <a:srgbClr val="F28C28"/>
            </a:solidFill>
            <a:ln>
              <a:noFill/>
            </a:ln>
          </p:spPr>
          <p:txBody>
            <a:bodyPr rtlCol="0" anchor="ctr"/>
            <a:lstStyle/>
            <a:p>
              <a:pPr algn="ctr"/>
            </a:p>
          </p:txBody>
        </p:sp>
        <p:sp>
          <p:nvSpPr>
            <p:cNvPr id="17" name="Chevron 16"/>
            <p:cNvSpPr/>
            <p:nvPr/>
          </p:nvSpPr>
          <p:spPr>
            <a:xfrm>
              <a:off x="2523744" y="3602736"/>
              <a:ext cx="128016" cy="146304"/>
            </a:xfrm>
            <a:prstGeom prst="chevron">
              <a:avLst/>
            </a:prstGeom>
            <a:solidFill>
              <a:srgbClr val="F28C28"/>
            </a:solidFill>
            <a:ln>
              <a:noFill/>
            </a:ln>
          </p:spPr>
          <p:txBody>
            <a:bodyPr rtlCol="0" anchor="ctr"/>
            <a:lstStyle/>
            <a:p>
              <a:pPr algn="ctr"/>
            </a:p>
          </p:txBody>
        </p:sp>
        <p:sp>
          <p:nvSpPr>
            <p:cNvPr id="18" name="Chevron 17"/>
            <p:cNvSpPr/>
            <p:nvPr/>
          </p:nvSpPr>
          <p:spPr>
            <a:xfrm>
              <a:off x="2852928" y="3602736"/>
              <a:ext cx="128016" cy="146304"/>
            </a:xfrm>
            <a:prstGeom prst="chevron">
              <a:avLst/>
            </a:prstGeom>
            <a:solidFill>
              <a:srgbClr val="F28C28"/>
            </a:solidFill>
            <a:ln>
              <a:noFill/>
            </a:ln>
          </p:spPr>
          <p:txBody>
            <a:bodyPr rtlCol="0" anchor="ctr"/>
            <a:lstStyle/>
            <a:p>
              <a:pPr algn="ctr"/>
            </a:p>
          </p:txBody>
        </p:sp>
        <p:sp>
          <p:nvSpPr>
            <p:cNvPr id="19" name="Rounded Rectangle 18"/>
            <p:cNvSpPr/>
            <p:nvPr/>
          </p:nvSpPr>
          <p:spPr>
            <a:xfrm>
              <a:off x="324612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0" name="Rectangle 19"/>
            <p:cNvSpPr/>
            <p:nvPr/>
          </p:nvSpPr>
          <p:spPr>
            <a:xfrm>
              <a:off x="4068166" y="2560320"/>
              <a:ext cx="256032" cy="502920"/>
            </a:xfrm>
            <a:prstGeom prst="rect">
              <a:avLst/>
            </a:prstGeom>
            <a:solidFill>
              <a:srgbClr val="9AA0A6"/>
            </a:solidFill>
            <a:ln>
              <a:noFill/>
            </a:ln>
          </p:spPr>
          <p:txBody>
            <a:bodyPr rtlCol="0" anchor="ctr"/>
            <a:lstStyle/>
            <a:p>
              <a:pPr algn="ctr"/>
            </a:p>
          </p:txBody>
        </p:sp>
        <p:sp>
          <p:nvSpPr>
            <p:cNvPr id="21" name="Rounded Rectangle 20"/>
            <p:cNvSpPr/>
            <p:nvPr/>
          </p:nvSpPr>
          <p:spPr>
            <a:xfrm>
              <a:off x="3577590" y="3557016"/>
              <a:ext cx="662940" cy="329184"/>
            </a:xfrm>
            <a:prstGeom prst="roundRect">
              <a:avLst>
                <a:gd name="adj" fmla="val 13888"/>
              </a:avLst>
            </a:prstGeom>
            <a:solidFill>
              <a:srgbClr val="F28C28"/>
            </a:solidFill>
            <a:ln>
              <a:noFill/>
            </a:ln>
          </p:spPr>
          <p:txBody>
            <a:bodyPr rtlCol="0" anchor="ctr"/>
            <a:lstStyle/>
            <a:p>
              <a:pPr algn="ctr"/>
            </a:p>
          </p:txBody>
        </p:sp>
        <p:sp>
          <p:nvSpPr>
            <p:cNvPr id="22" name="Rectangle 21"/>
            <p:cNvSpPr/>
            <p:nvPr/>
          </p:nvSpPr>
          <p:spPr>
            <a:xfrm>
              <a:off x="4572000" y="3566160"/>
              <a:ext cx="1234440" cy="219456"/>
            </a:xfrm>
            <a:prstGeom prst="rect">
              <a:avLst/>
            </a:prstGeom>
            <a:solidFill>
              <a:srgbClr val="1B1D21"/>
            </a:solidFill>
            <a:ln w="12700">
              <a:solidFill>
                <a:srgbClr val="9AA0A6"/>
              </a:solidFill>
            </a:ln>
          </p:spPr>
          <p:txBody>
            <a:bodyPr rtlCol="0" anchor="ctr"/>
            <a:lstStyle/>
            <a:p>
              <a:pPr algn="ctr"/>
            </a:p>
          </p:txBody>
        </p:sp>
        <p:sp>
          <p:nvSpPr>
            <p:cNvPr id="23" name="Chevron 22"/>
            <p:cNvSpPr/>
            <p:nvPr/>
          </p:nvSpPr>
          <p:spPr>
            <a:xfrm>
              <a:off x="4754880" y="3602736"/>
              <a:ext cx="128016" cy="146304"/>
            </a:xfrm>
            <a:prstGeom prst="chevron">
              <a:avLst/>
            </a:prstGeom>
            <a:solidFill>
              <a:srgbClr val="F28C28"/>
            </a:solidFill>
            <a:ln>
              <a:noFill/>
            </a:ln>
          </p:spPr>
          <p:txBody>
            <a:bodyPr rtlCol="0" anchor="ctr"/>
            <a:lstStyle/>
            <a:p>
              <a:pPr algn="ctr"/>
            </a:p>
          </p:txBody>
        </p:sp>
        <p:sp>
          <p:nvSpPr>
            <p:cNvPr id="24" name="Chevron 23"/>
            <p:cNvSpPr/>
            <p:nvPr/>
          </p:nvSpPr>
          <p:spPr>
            <a:xfrm>
              <a:off x="5084064" y="3602736"/>
              <a:ext cx="128016" cy="146304"/>
            </a:xfrm>
            <a:prstGeom prst="chevron">
              <a:avLst/>
            </a:prstGeom>
            <a:solidFill>
              <a:srgbClr val="F28C28"/>
            </a:solidFill>
            <a:ln>
              <a:noFill/>
            </a:ln>
          </p:spPr>
          <p:txBody>
            <a:bodyPr rtlCol="0" anchor="ctr"/>
            <a:lstStyle/>
            <a:p>
              <a:pPr algn="ctr"/>
            </a:p>
          </p:txBody>
        </p:sp>
        <p:sp>
          <p:nvSpPr>
            <p:cNvPr id="25" name="Chevron 24"/>
            <p:cNvSpPr/>
            <p:nvPr/>
          </p:nvSpPr>
          <p:spPr>
            <a:xfrm>
              <a:off x="5413248" y="3602736"/>
              <a:ext cx="128016" cy="146304"/>
            </a:xfrm>
            <a:prstGeom prst="chevron">
              <a:avLst/>
            </a:prstGeom>
            <a:solidFill>
              <a:srgbClr val="F28C28"/>
            </a:solidFill>
            <a:ln>
              <a:noFill/>
            </a:ln>
          </p:spPr>
          <p:txBody>
            <a:bodyPr rtlCol="0" anchor="ctr"/>
            <a:lstStyle/>
            <a:p>
              <a:pPr algn="ctr"/>
            </a:p>
          </p:txBody>
        </p:sp>
        <p:sp>
          <p:nvSpPr>
            <p:cNvPr id="26" name="Rounded Rectangle 25"/>
            <p:cNvSpPr/>
            <p:nvPr/>
          </p:nvSpPr>
          <p:spPr>
            <a:xfrm>
              <a:off x="580644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7" name="Oval 26"/>
            <p:cNvSpPr/>
            <p:nvPr/>
          </p:nvSpPr>
          <p:spPr>
            <a:xfrm>
              <a:off x="6195060" y="3337560"/>
              <a:ext cx="548640" cy="548640"/>
            </a:xfrm>
            <a:prstGeom prst="ellipse">
              <a:avLst/>
            </a:prstGeom>
            <a:noFill/>
            <a:ln w="38100">
              <a:solidFill>
                <a:srgbClr val="F28C28"/>
              </a:solidFill>
            </a:ln>
          </p:spPr>
          <p:txBody>
            <a:bodyPr rtlCol="0" anchor="ctr"/>
            <a:lstStyle/>
            <a:p>
              <a:pPr algn="ctr"/>
            </a:p>
          </p:txBody>
        </p:sp>
        <p:sp>
          <p:nvSpPr>
            <p:cNvPr id="28" name="Oval 27"/>
            <p:cNvSpPr/>
            <p:nvPr/>
          </p:nvSpPr>
          <p:spPr>
            <a:xfrm>
              <a:off x="6381598" y="3524098"/>
              <a:ext cx="175565" cy="175565"/>
            </a:xfrm>
            <a:prstGeom prst="ellipse">
              <a:avLst/>
            </a:prstGeom>
            <a:solidFill>
              <a:srgbClr val="F28C28"/>
            </a:solidFill>
            <a:ln>
              <a:noFill/>
            </a:ln>
          </p:spPr>
          <p:txBody>
            <a:bodyPr rtlCol="0" anchor="ctr"/>
            <a:lstStyle/>
            <a:p>
              <a:pPr algn="ctr"/>
            </a:p>
          </p:txBody>
        </p:sp>
        <p:sp>
          <p:nvSpPr>
            <p:cNvPr id="29" name="Rectangle 28"/>
            <p:cNvSpPr/>
            <p:nvPr/>
          </p:nvSpPr>
          <p:spPr>
            <a:xfrm>
              <a:off x="7132320" y="3566160"/>
              <a:ext cx="1234440" cy="219456"/>
            </a:xfrm>
            <a:prstGeom prst="rect">
              <a:avLst/>
            </a:prstGeom>
            <a:solidFill>
              <a:srgbClr val="1B1D21"/>
            </a:solidFill>
            <a:ln w="12700">
              <a:solidFill>
                <a:srgbClr val="9AA0A6"/>
              </a:solidFill>
            </a:ln>
          </p:spPr>
          <p:txBody>
            <a:bodyPr rtlCol="0" anchor="ctr"/>
            <a:lstStyle/>
            <a:p>
              <a:pPr algn="ctr"/>
            </a:p>
          </p:txBody>
        </p:sp>
        <p:sp>
          <p:nvSpPr>
            <p:cNvPr id="30" name="Chevron 29"/>
            <p:cNvSpPr/>
            <p:nvPr/>
          </p:nvSpPr>
          <p:spPr>
            <a:xfrm>
              <a:off x="7315200" y="3602736"/>
              <a:ext cx="128016" cy="146304"/>
            </a:xfrm>
            <a:prstGeom prst="chevron">
              <a:avLst/>
            </a:prstGeom>
            <a:solidFill>
              <a:srgbClr val="F28C28"/>
            </a:solidFill>
            <a:ln>
              <a:noFill/>
            </a:ln>
          </p:spPr>
          <p:txBody>
            <a:bodyPr rtlCol="0" anchor="ctr"/>
            <a:lstStyle/>
            <a:p>
              <a:pPr algn="ctr"/>
            </a:p>
          </p:txBody>
        </p:sp>
        <p:sp>
          <p:nvSpPr>
            <p:cNvPr id="31" name="Chevron 30"/>
            <p:cNvSpPr/>
            <p:nvPr/>
          </p:nvSpPr>
          <p:spPr>
            <a:xfrm>
              <a:off x="7644384" y="3602736"/>
              <a:ext cx="128016" cy="146304"/>
            </a:xfrm>
            <a:prstGeom prst="chevron">
              <a:avLst/>
            </a:prstGeom>
            <a:solidFill>
              <a:srgbClr val="F28C28"/>
            </a:solidFill>
            <a:ln>
              <a:noFill/>
            </a:ln>
          </p:spPr>
          <p:txBody>
            <a:bodyPr rtlCol="0" anchor="ctr"/>
            <a:lstStyle/>
            <a:p>
              <a:pPr algn="ctr"/>
            </a:p>
          </p:txBody>
        </p:sp>
        <p:sp>
          <p:nvSpPr>
            <p:cNvPr id="32" name="Chevron 31"/>
            <p:cNvSpPr/>
            <p:nvPr/>
          </p:nvSpPr>
          <p:spPr>
            <a:xfrm>
              <a:off x="7973568" y="3602736"/>
              <a:ext cx="128016" cy="146304"/>
            </a:xfrm>
            <a:prstGeom prst="chevron">
              <a:avLst/>
            </a:prstGeom>
            <a:solidFill>
              <a:srgbClr val="F28C28"/>
            </a:solidFill>
            <a:ln>
              <a:noFill/>
            </a:ln>
          </p:spPr>
          <p:txBody>
            <a:bodyPr rtlCol="0" anchor="ctr"/>
            <a:lstStyle/>
            <a:p>
              <a:pPr algn="ctr"/>
            </a:p>
          </p:txBody>
        </p:sp>
        <p:sp>
          <p:nvSpPr>
            <p:cNvPr id="33" name="Rounded Rectangle 32"/>
            <p:cNvSpPr/>
            <p:nvPr/>
          </p:nvSpPr>
          <p:spPr>
            <a:xfrm>
              <a:off x="8366760" y="3154680"/>
              <a:ext cx="1005840" cy="1005840"/>
            </a:xfrm>
            <a:prstGeom prst="roundRect">
              <a:avLst>
                <a:gd name="adj" fmla="val 5454"/>
              </a:avLst>
            </a:prstGeom>
            <a:solidFill>
              <a:srgbClr val="343A43"/>
            </a:solidFill>
            <a:ln w="19050">
              <a:solidFill>
                <a:srgbClr val="9AA0A6"/>
              </a:solidFill>
            </a:ln>
          </p:spPr>
          <p:txBody>
            <a:bodyPr rtlCol="0" anchor="ctr"/>
            <a:lstStyle/>
            <a:p>
              <a:pPr algn="ctr"/>
            </a:p>
          </p:txBody>
        </p:sp>
        <p:cxnSp>
          <p:nvCxnSpPr>
            <p:cNvPr id="34" name="Connector 33"/>
            <p:cNvCxnSpPr/>
            <p:nvPr/>
          </p:nvCxnSpPr>
          <p:spPr>
            <a:xfrm>
              <a:off x="8458200" y="3246120"/>
              <a:ext cx="822960" cy="822960"/>
            </a:xfrm>
            <a:prstGeom prst="line">
              <a:avLst/>
            </a:prstGeom>
            <a:ln w="25400">
              <a:solidFill>
                <a:srgbClr val="9AA0A6"/>
              </a:solidFill>
            </a:ln>
          </p:spPr>
        </p:cxnSp>
        <p:cxnSp>
          <p:nvCxnSpPr>
            <p:cNvPr id="35" name="Connector 34"/>
            <p:cNvCxnSpPr/>
            <p:nvPr/>
          </p:nvCxnSpPr>
          <p:spPr>
            <a:xfrm flipH="1">
              <a:off x="8458200" y="3246120"/>
              <a:ext cx="822960" cy="822960"/>
            </a:xfrm>
            <a:prstGeom prst="line">
              <a:avLst/>
            </a:prstGeom>
            <a:ln w="25400">
              <a:solidFill>
                <a:srgbClr val="9AA0A6"/>
              </a:solidFill>
            </a:ln>
          </p:spPr>
        </p:cxnSp>
        <p:sp>
          <p:nvSpPr>
            <p:cNvPr id="36" name="Rectangle 35"/>
            <p:cNvSpPr/>
            <p:nvPr/>
          </p:nvSpPr>
          <p:spPr>
            <a:xfrm>
              <a:off x="9921240" y="3840480"/>
              <a:ext cx="1463040" cy="320040"/>
            </a:xfrm>
            <a:prstGeom prst="rect">
              <a:avLst/>
            </a:prstGeom>
            <a:solidFill>
              <a:srgbClr val="343A43"/>
            </a:solidFill>
            <a:ln w="12700">
              <a:solidFill>
                <a:srgbClr val="9AA0A6"/>
              </a:solidFill>
            </a:ln>
          </p:spPr>
          <p:txBody>
            <a:bodyPr rtlCol="0" anchor="ctr"/>
            <a:lstStyle/>
            <a:p>
              <a:pPr algn="ctr"/>
            </a:p>
          </p:txBody>
        </p:sp>
        <p:sp>
          <p:nvSpPr>
            <p:cNvPr id="37" name="Oval 36"/>
            <p:cNvSpPr/>
            <p:nvPr/>
          </p:nvSpPr>
          <p:spPr>
            <a:xfrm>
              <a:off x="10506456" y="2596896"/>
              <a:ext cx="292608" cy="292608"/>
            </a:xfrm>
            <a:prstGeom prst="ellipse">
              <a:avLst/>
            </a:prstGeom>
            <a:solidFill>
              <a:srgbClr val="F28C28"/>
            </a:solidFill>
            <a:ln>
              <a:noFill/>
            </a:ln>
          </p:spPr>
          <p:txBody>
            <a:bodyPr rtlCol="0" anchor="ctr"/>
            <a:lstStyle/>
            <a:p>
              <a:pPr algn="ctr"/>
            </a:p>
          </p:txBody>
        </p:sp>
        <p:sp>
          <p:nvSpPr>
            <p:cNvPr id="38" name="Rounded Rectangle 37"/>
            <p:cNvSpPr/>
            <p:nvPr/>
          </p:nvSpPr>
          <p:spPr>
            <a:xfrm>
              <a:off x="10469880" y="2907792"/>
              <a:ext cx="365760" cy="685800"/>
            </a:xfrm>
            <a:prstGeom prst="roundRect">
              <a:avLst>
                <a:gd name="adj" fmla="val 30000"/>
              </a:avLst>
            </a:prstGeom>
            <a:solidFill>
              <a:srgbClr val="F28C28"/>
            </a:solidFill>
            <a:ln>
              <a:noFill/>
            </a:ln>
          </p:spPr>
          <p:txBody>
            <a:bodyPr rtlCol="0" anchor="ctr"/>
            <a:lstStyle/>
            <a:p>
              <a:pPr algn="ctr"/>
            </a:p>
          </p:txBody>
        </p:sp>
      </p:grpSp>
      <p:sp>
        <p:nvSpPr>
          <p:cNvPr id="39" name="TextBox 38"/>
          <p:cNvSpPr txBox="1"/>
          <p:nvPr/>
        </p:nvSpPr>
        <p:spPr>
          <a:xfrm>
            <a:off x="640080" y="4727448"/>
            <a:ext cx="1645920" cy="320040"/>
          </a:xfrm>
          <a:prstGeom prst="rect">
            <a:avLst/>
          </a:prstGeom>
          <a:noFill/>
        </p:spPr>
        <p:txBody>
          <a:bodyPr wrap="square" lIns="0" tIns="0" rIns="0" bIns="0" anchor="t">
            <a:noAutofit/>
          </a:bodyPr>
          <a:lstStyle/>
          <a:p>
            <a:pPr algn="ctr"/>
            <a:r>
              <a:rPr sz="1600" b="0" i="0" lang="en-GB">
                <a:solidFill>
                  <a:srgbClr val="F2F2F2"/>
                </a:solidFill>
                <a:latin typeface="Arial"/>
              </a:rPr>
              <a:t>Miner</a:t>
            </a:r>
          </a:p>
        </p:txBody>
      </p:sp>
      <p:sp>
        <p:nvSpPr>
          <p:cNvPr id="40" name="TextBox 39"/>
          <p:cNvSpPr txBox="1"/>
          <p:nvPr/>
        </p:nvSpPr>
        <p:spPr>
          <a:xfrm>
            <a:off x="297180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Smelter</a:t>
            </a:r>
          </a:p>
        </p:txBody>
      </p:sp>
      <p:sp>
        <p:nvSpPr>
          <p:cNvPr id="41" name="TextBox 40"/>
          <p:cNvSpPr txBox="1"/>
          <p:nvPr/>
        </p:nvSpPr>
        <p:spPr>
          <a:xfrm>
            <a:off x="553212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Constructor</a:t>
            </a:r>
          </a:p>
        </p:txBody>
      </p:sp>
      <p:sp>
        <p:nvSpPr>
          <p:cNvPr id="42" name="TextBox 41"/>
          <p:cNvSpPr txBox="1"/>
          <p:nvPr/>
        </p:nvSpPr>
        <p:spPr>
          <a:xfrm>
            <a:off x="8092440" y="4727448"/>
            <a:ext cx="1554480" cy="320040"/>
          </a:xfrm>
          <a:prstGeom prst="rect">
            <a:avLst/>
          </a:prstGeom>
          <a:noFill/>
        </p:spPr>
        <p:txBody>
          <a:bodyPr wrap="square" lIns="0" tIns="0" rIns="0" bIns="0" anchor="t">
            <a:noAutofit/>
          </a:bodyPr>
          <a:lstStyle/>
          <a:p>
            <a:pPr algn="ctr"/>
            <a:r>
              <a:rPr sz="1600" b="0" i="0" lang="en-GB">
                <a:solidFill>
                  <a:srgbClr val="F2F2F2"/>
                </a:solidFill>
                <a:latin typeface="Arial"/>
              </a:rPr>
              <a:t>Storage</a:t>
            </a:r>
          </a:p>
        </p:txBody>
      </p:sp>
      <p:sp>
        <p:nvSpPr>
          <p:cNvPr id="43" name="TextBox 42"/>
          <p:cNvSpPr txBox="1"/>
          <p:nvPr/>
        </p:nvSpPr>
        <p:spPr>
          <a:xfrm>
            <a:off x="9646920" y="4727448"/>
            <a:ext cx="2011680" cy="320040"/>
          </a:xfrm>
          <a:prstGeom prst="rect">
            <a:avLst/>
          </a:prstGeom>
          <a:noFill/>
        </p:spPr>
        <p:txBody>
          <a:bodyPr wrap="square" lIns="0" tIns="0" rIns="0" bIns="0" anchor="t">
            <a:noAutofit/>
          </a:bodyPr>
          <a:lstStyle/>
          <a:p>
            <a:pPr algn="ctr"/>
            <a:r>
              <a:rPr sz="1600" b="0" i="0" lang="en-GB">
                <a:solidFill>
                  <a:srgbClr val="F2F2F2"/>
                </a:solidFill>
                <a:latin typeface="Arial"/>
              </a:rPr>
              <a:t>You</a:t>
            </a:r>
          </a:p>
        </p:txBody>
      </p:sp>
      <p:sp>
        <p:nvSpPr>
          <p:cNvPr id="44" name="TextBox 43"/>
          <p:cNvSpPr txBox="1"/>
          <p:nvPr/>
        </p:nvSpPr>
        <p:spPr>
          <a:xfrm>
            <a:off x="2011680" y="3200400"/>
            <a:ext cx="1234440" cy="292608"/>
          </a:xfrm>
          <a:prstGeom prst="rect">
            <a:avLst/>
          </a:prstGeom>
          <a:noFill/>
        </p:spPr>
        <p:txBody>
          <a:bodyPr wrap="square" lIns="0" tIns="0" rIns="0" bIns="0" anchor="t">
            <a:noAutofit/>
          </a:bodyPr>
          <a:lstStyle/>
          <a:p>
            <a:pPr algn="ctr"/>
            <a:r>
              <a:rPr sz="1400" b="0" i="0" lang="en-GB">
                <a:solidFill>
                  <a:srgbClr val="A9B0B8"/>
                </a:solidFill>
                <a:latin typeface="Arial"/>
              </a:rPr>
              <a:t>Belt</a:t>
            </a:r>
          </a:p>
        </p:txBody>
      </p:sp>
      <p:sp>
        <p:nvSpPr>
          <p:cNvPr id="45" name="TextBox 44"/>
          <p:cNvSpPr txBox="1"/>
          <p:nvPr/>
        </p:nvSpPr>
        <p:spPr>
          <a:xfrm>
            <a:off x="548640" y="5257800"/>
            <a:ext cx="7315200" cy="292608"/>
          </a:xfrm>
          <a:prstGeom prst="rect">
            <a:avLst/>
          </a:prstGeom>
          <a:noFill/>
        </p:spPr>
        <p:txBody>
          <a:bodyPr wrap="square" lIns="0" tIns="0" rIns="0" bIns="0" anchor="t">
            <a:noAutofit/>
          </a:bodyPr>
          <a:lstStyle/>
          <a:p>
            <a:pPr algn="l"/>
            <a:r>
              <a:rPr sz="1400" b="0" i="0" lang="en-GB">
                <a:solidFill>
                  <a:srgbClr val="A9B0B8"/>
                </a:solidFill>
                <a:latin typeface="Arial"/>
              </a:rPr>
              <a:t>By Coffee Stain Studios. Full release 2024.</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first-person game about building factories. You mine, make and move materials until it all runs itself.</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Where the mod fits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Tier staircase" descr="A four-step staircase: Tier 3 early steam railways with a small engine, Tier 3 to 4 railway expansion with a medium engine, Tier 4 to 5 heavy steam with a large engine, and Tier 6 the electric monorail."/>
          <p:cNvGrpSpPr/>
          <p:nvPr/>
        </p:nvGrpSpPr>
        <p:grpSpPr>
          <a:xfrm>
            <a:off x="548640" y="1325880"/>
            <a:ext cx="11091672" cy="3429000"/>
            <a:chOff x="548640" y="1325880"/>
            <a:chExt cx="11091672" cy="3429000"/>
          </a:xfrm>
        </p:grpSpPr>
        <p:sp>
          <p:nvSpPr>
            <p:cNvPr id="9" name="Rounded Rectangle 8"/>
            <p:cNvSpPr/>
            <p:nvPr/>
          </p:nvSpPr>
          <p:spPr>
            <a:xfrm>
              <a:off x="548640" y="3886200"/>
              <a:ext cx="2697480" cy="868680"/>
            </a:xfrm>
            <a:prstGeom prst="roundRect">
              <a:avLst>
                <a:gd name="adj" fmla="val 6315"/>
              </a:avLst>
            </a:prstGeom>
            <a:solidFill>
              <a:srgbClr val="443426"/>
            </a:solidFill>
            <a:ln w="25400">
              <a:solidFill>
                <a:srgbClr val="F28C28"/>
              </a:solidFill>
            </a:ln>
          </p:spPr>
          <p:txBody>
            <a:bodyPr rtlCol="0" anchor="ctr"/>
            <a:lstStyle/>
            <a:p>
              <a:pPr algn="ctr"/>
            </a:p>
          </p:txBody>
        </p:sp>
        <p:sp>
          <p:nvSpPr>
            <p:cNvPr id="10" name="TextBox 9"/>
            <p:cNvSpPr txBox="1"/>
            <p:nvPr/>
          </p:nvSpPr>
          <p:spPr>
            <a:xfrm>
              <a:off x="685800" y="3959352"/>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a:t>
              </a:r>
            </a:p>
            <a:p>
              <a:pPr algn="l"/>
              <a:r>
                <a:rPr sz="1600" b="0" i="0" lang="en-GB">
                  <a:solidFill>
                    <a:srgbClr val="F2F2F2"/>
                  </a:solidFill>
                  <a:latin typeface="Arial"/>
                </a:rPr>
                <a:t>Early Steam Railways</a:t>
              </a:r>
            </a:p>
          </p:txBody>
        </p:sp>
        <p:grpSp>
          <p:nvGrpSpPr>
            <p:cNvPr id="11" name="Small engine" descr="A steam train: an engine pulling wagons."/>
            <p:cNvGrpSpPr/>
            <p:nvPr/>
          </p:nvGrpSpPr>
          <p:grpSpPr>
            <a:xfrm>
              <a:off x="1051560" y="3126791"/>
              <a:ext cx="1461211" cy="722833"/>
              <a:chOff x="1051560" y="3126791"/>
              <a:chExt cx="1461211" cy="722833"/>
            </a:xfrm>
          </p:grpSpPr>
          <p:sp>
            <p:nvSpPr>
              <p:cNvPr id="12" name="Rectangle 11"/>
              <p:cNvSpPr/>
              <p:nvPr/>
            </p:nvSpPr>
            <p:spPr>
              <a:xfrm>
                <a:off x="1051560" y="3406597"/>
                <a:ext cx="621792" cy="349758"/>
              </a:xfrm>
              <a:prstGeom prst="rect">
                <a:avLst/>
              </a:prstGeom>
              <a:solidFill>
                <a:srgbClr val="6C7480"/>
              </a:solidFill>
              <a:ln w="9525">
                <a:solidFill>
                  <a:srgbClr val="101418"/>
                </a:solidFill>
              </a:ln>
            </p:spPr>
            <p:txBody>
              <a:bodyPr rtlCol="0" anchor="ctr"/>
              <a:lstStyle/>
              <a:p>
                <a:pPr algn="ctr"/>
              </a:p>
            </p:txBody>
          </p:sp>
          <p:sp>
            <p:nvSpPr>
              <p:cNvPr id="13" name="Oval 12"/>
              <p:cNvSpPr/>
              <p:nvPr/>
            </p:nvSpPr>
            <p:spPr>
              <a:xfrm>
                <a:off x="1129284" y="3694176"/>
                <a:ext cx="155448" cy="155448"/>
              </a:xfrm>
              <a:prstGeom prst="ellipse">
                <a:avLst/>
              </a:prstGeom>
              <a:solidFill>
                <a:srgbClr val="1B1D21"/>
              </a:solidFill>
              <a:ln w="12700">
                <a:solidFill>
                  <a:srgbClr val="9AA0A6"/>
                </a:solidFill>
              </a:ln>
            </p:spPr>
            <p:txBody>
              <a:bodyPr rtlCol="0" anchor="ctr"/>
              <a:lstStyle/>
              <a:p>
                <a:pPr algn="ctr"/>
              </a:p>
            </p:txBody>
          </p:sp>
          <p:sp>
            <p:nvSpPr>
              <p:cNvPr id="14" name="Oval 13"/>
              <p:cNvSpPr/>
              <p:nvPr/>
            </p:nvSpPr>
            <p:spPr>
              <a:xfrm>
                <a:off x="1440180" y="3694176"/>
                <a:ext cx="155448" cy="155448"/>
              </a:xfrm>
              <a:prstGeom prst="ellipse">
                <a:avLst/>
              </a:prstGeom>
              <a:solidFill>
                <a:srgbClr val="1B1D21"/>
              </a:solidFill>
              <a:ln w="12700">
                <a:solidFill>
                  <a:srgbClr val="9AA0A6"/>
                </a:solidFill>
              </a:ln>
            </p:spPr>
            <p:txBody>
              <a:bodyPr rtlCol="0" anchor="ctr"/>
              <a:lstStyle/>
              <a:p>
                <a:pPr algn="ctr"/>
              </a:p>
            </p:txBody>
          </p:sp>
          <p:sp>
            <p:nvSpPr>
              <p:cNvPr id="15" name="Rectangle 14"/>
              <p:cNvSpPr/>
              <p:nvPr/>
            </p:nvSpPr>
            <p:spPr>
              <a:xfrm>
                <a:off x="1673352" y="3655314"/>
                <a:ext cx="62179" cy="38862"/>
              </a:xfrm>
              <a:prstGeom prst="rect">
                <a:avLst/>
              </a:prstGeom>
              <a:solidFill>
                <a:srgbClr val="9AA0A6"/>
              </a:solidFill>
              <a:ln>
                <a:noFill/>
              </a:ln>
            </p:spPr>
            <p:txBody>
              <a:bodyPr rtlCol="0" anchor="ctr"/>
              <a:lstStyle/>
              <a:p>
                <a:pPr algn="ctr"/>
              </a:p>
            </p:txBody>
          </p:sp>
          <p:sp>
            <p:nvSpPr>
              <p:cNvPr id="16" name="Rounded Rectangle 15"/>
              <p:cNvSpPr/>
              <p:nvPr/>
            </p:nvSpPr>
            <p:spPr>
              <a:xfrm>
                <a:off x="1735531" y="3344418"/>
                <a:ext cx="777240" cy="427482"/>
              </a:xfrm>
              <a:prstGeom prst="roundRect">
                <a:avLst>
                  <a:gd name="adj" fmla="val 10909"/>
                </a:avLst>
              </a:prstGeom>
              <a:solidFill>
                <a:srgbClr val="F28C28"/>
              </a:solidFill>
              <a:ln w="9525">
                <a:solidFill>
                  <a:srgbClr val="101418"/>
                </a:solidFill>
              </a:ln>
            </p:spPr>
            <p:txBody>
              <a:bodyPr rtlCol="0" anchor="ctr"/>
              <a:lstStyle/>
              <a:p>
                <a:pPr algn="ctr"/>
              </a:p>
            </p:txBody>
          </p:sp>
          <p:sp>
            <p:nvSpPr>
              <p:cNvPr id="17" name="Bunker"/>
              <p:cNvSpPr/>
              <p:nvPr/>
            </p:nvSpPr>
            <p:spPr>
              <a:xfrm>
                <a:off x="1758848" y="3367735"/>
                <a:ext cx="202082" cy="155448"/>
              </a:xfrm>
              <a:prstGeom prst="rect">
                <a:avLst/>
              </a:prstGeom>
              <a:solidFill>
                <a:srgbClr val="1B1D21"/>
              </a:solidFill>
              <a:ln>
                <a:noFill/>
              </a:ln>
            </p:spPr>
            <p:txBody>
              <a:bodyPr rtlCol="0" anchor="ctr"/>
              <a:lstStyle/>
              <a:p>
                <a:pPr algn="ctr"/>
              </a:p>
            </p:txBody>
          </p:sp>
          <p:sp>
            <p:nvSpPr>
              <p:cNvPr id="18" name="Rectangle 17"/>
              <p:cNvSpPr/>
              <p:nvPr/>
            </p:nvSpPr>
            <p:spPr>
              <a:xfrm>
                <a:off x="1999793" y="3398825"/>
                <a:ext cx="108814" cy="108814"/>
              </a:xfrm>
              <a:prstGeom prst="rect">
                <a:avLst/>
              </a:prstGeom>
              <a:solidFill>
                <a:srgbClr val="2B2F36"/>
              </a:solidFill>
              <a:ln>
                <a:noFill/>
              </a:ln>
            </p:spPr>
            <p:txBody>
              <a:bodyPr rtlCol="0" anchor="ctr"/>
              <a:lstStyle/>
              <a:p>
                <a:pPr algn="ctr"/>
              </a:p>
            </p:txBody>
          </p:sp>
          <p:sp>
            <p:nvSpPr>
              <p:cNvPr id="19" name="Chimney"/>
              <p:cNvSpPr/>
              <p:nvPr/>
            </p:nvSpPr>
            <p:spPr>
              <a:xfrm>
                <a:off x="2341778" y="3126791"/>
                <a:ext cx="116586" cy="233172"/>
              </a:xfrm>
              <a:prstGeom prst="rect">
                <a:avLst/>
              </a:prstGeom>
              <a:solidFill>
                <a:srgbClr val="1B1D21"/>
              </a:solidFill>
              <a:ln>
                <a:noFill/>
              </a:ln>
            </p:spPr>
            <p:txBody>
              <a:bodyPr rtlCol="0" anchor="ctr"/>
              <a:lstStyle/>
              <a:p>
                <a:pPr algn="ctr"/>
              </a:p>
            </p:txBody>
          </p:sp>
          <p:sp>
            <p:nvSpPr>
              <p:cNvPr id="20" name="Oval 19"/>
              <p:cNvSpPr/>
              <p:nvPr/>
            </p:nvSpPr>
            <p:spPr>
              <a:xfrm>
                <a:off x="1813255" y="3694176"/>
                <a:ext cx="155448" cy="155448"/>
              </a:xfrm>
              <a:prstGeom prst="ellipse">
                <a:avLst/>
              </a:prstGeom>
              <a:solidFill>
                <a:srgbClr val="1B1D21"/>
              </a:solidFill>
              <a:ln w="12700">
                <a:solidFill>
                  <a:srgbClr val="9AA0A6"/>
                </a:solidFill>
              </a:ln>
            </p:spPr>
            <p:txBody>
              <a:bodyPr rtlCol="0" anchor="ctr"/>
              <a:lstStyle/>
              <a:p>
                <a:pPr algn="ctr"/>
              </a:p>
            </p:txBody>
          </p:sp>
          <p:sp>
            <p:nvSpPr>
              <p:cNvPr id="21" name="Oval 20"/>
              <p:cNvSpPr/>
              <p:nvPr/>
            </p:nvSpPr>
            <p:spPr>
              <a:xfrm>
                <a:off x="2046427" y="3694176"/>
                <a:ext cx="155448" cy="155448"/>
              </a:xfrm>
              <a:prstGeom prst="ellipse">
                <a:avLst/>
              </a:prstGeom>
              <a:solidFill>
                <a:srgbClr val="1B1D21"/>
              </a:solidFill>
              <a:ln w="12700">
                <a:solidFill>
                  <a:srgbClr val="9AA0A6"/>
                </a:solidFill>
              </a:ln>
            </p:spPr>
            <p:txBody>
              <a:bodyPr rtlCol="0" anchor="ctr"/>
              <a:lstStyle/>
              <a:p>
                <a:pPr algn="ctr"/>
              </a:p>
            </p:txBody>
          </p:sp>
          <p:sp>
            <p:nvSpPr>
              <p:cNvPr id="22" name="Oval 21"/>
              <p:cNvSpPr/>
              <p:nvPr/>
            </p:nvSpPr>
            <p:spPr>
              <a:xfrm>
                <a:off x="2279599" y="3694176"/>
                <a:ext cx="155448" cy="155448"/>
              </a:xfrm>
              <a:prstGeom prst="ellipse">
                <a:avLst/>
              </a:prstGeom>
              <a:solidFill>
                <a:srgbClr val="1B1D21"/>
              </a:solidFill>
              <a:ln w="12700">
                <a:solidFill>
                  <a:srgbClr val="9AA0A6"/>
                </a:solidFill>
              </a:ln>
            </p:spPr>
            <p:txBody>
              <a:bodyPr rtlCol="0" anchor="ctr"/>
              <a:lstStyle/>
              <a:p>
                <a:pPr algn="ctr"/>
              </a:p>
            </p:txBody>
          </p:sp>
        </p:grpSp>
        <p:sp>
          <p:nvSpPr>
            <p:cNvPr id="23" name="Rounded Rectangle 22"/>
            <p:cNvSpPr/>
            <p:nvPr/>
          </p:nvSpPr>
          <p:spPr>
            <a:xfrm>
              <a:off x="3346704" y="3227832"/>
              <a:ext cx="2697480" cy="1527048"/>
            </a:xfrm>
            <a:prstGeom prst="roundRect">
              <a:avLst>
                <a:gd name="adj" fmla="val 3592"/>
              </a:avLst>
            </a:prstGeom>
            <a:solidFill>
              <a:srgbClr val="443426"/>
            </a:solidFill>
            <a:ln w="25400">
              <a:solidFill>
                <a:srgbClr val="F28C28"/>
              </a:solidFill>
            </a:ln>
          </p:spPr>
          <p:txBody>
            <a:bodyPr rtlCol="0" anchor="ctr"/>
            <a:lstStyle/>
            <a:p>
              <a:pPr algn="ctr"/>
            </a:p>
          </p:txBody>
        </p:sp>
        <p:sp>
          <p:nvSpPr>
            <p:cNvPr id="24" name="TextBox 23"/>
            <p:cNvSpPr txBox="1"/>
            <p:nvPr/>
          </p:nvSpPr>
          <p:spPr>
            <a:xfrm>
              <a:off x="3483864" y="3300984"/>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 to 4</a:t>
              </a:r>
            </a:p>
            <a:p>
              <a:pPr algn="l"/>
              <a:r>
                <a:rPr sz="1600" b="0" i="0" lang="en-GB">
                  <a:solidFill>
                    <a:srgbClr val="F2F2F2"/>
                  </a:solidFill>
                  <a:latin typeface="Arial"/>
                </a:rPr>
                <a:t>Railway Expansion</a:t>
              </a:r>
            </a:p>
          </p:txBody>
        </p:sp>
        <p:grpSp>
          <p:nvGrpSpPr>
            <p:cNvPr id="25" name="Medium engine" descr="A steam train: an engine pulling wagons."/>
            <p:cNvGrpSpPr/>
            <p:nvPr/>
          </p:nvGrpSpPr>
          <p:grpSpPr>
            <a:xfrm>
              <a:off x="3529584" y="2510942"/>
              <a:ext cx="1872691" cy="680314"/>
              <a:chOff x="3529584" y="2510942"/>
              <a:chExt cx="1872691" cy="680314"/>
            </a:xfrm>
          </p:grpSpPr>
          <p:sp>
            <p:nvSpPr>
              <p:cNvPr id="26" name="Rectangle 25"/>
              <p:cNvSpPr/>
              <p:nvPr/>
            </p:nvSpPr>
            <p:spPr>
              <a:xfrm>
                <a:off x="3529584" y="2774290"/>
                <a:ext cx="585216" cy="329184"/>
              </a:xfrm>
              <a:prstGeom prst="rect">
                <a:avLst/>
              </a:prstGeom>
              <a:solidFill>
                <a:srgbClr val="6C7480"/>
              </a:solidFill>
              <a:ln w="9525">
                <a:solidFill>
                  <a:srgbClr val="101418"/>
                </a:solidFill>
              </a:ln>
            </p:spPr>
            <p:txBody>
              <a:bodyPr rtlCol="0" anchor="ctr"/>
              <a:lstStyle/>
              <a:p>
                <a:pPr algn="ctr"/>
              </a:p>
            </p:txBody>
          </p:sp>
          <p:sp>
            <p:nvSpPr>
              <p:cNvPr id="27" name="Oval 26"/>
              <p:cNvSpPr/>
              <p:nvPr/>
            </p:nvSpPr>
            <p:spPr>
              <a:xfrm>
                <a:off x="3602736" y="3044952"/>
                <a:ext cx="146304" cy="146304"/>
              </a:xfrm>
              <a:prstGeom prst="ellipse">
                <a:avLst/>
              </a:prstGeom>
              <a:solidFill>
                <a:srgbClr val="1B1D21"/>
              </a:solidFill>
              <a:ln w="12700">
                <a:solidFill>
                  <a:srgbClr val="9AA0A6"/>
                </a:solidFill>
              </a:ln>
            </p:spPr>
            <p:txBody>
              <a:bodyPr rtlCol="0" anchor="ctr"/>
              <a:lstStyle/>
              <a:p>
                <a:pPr algn="ctr"/>
              </a:p>
            </p:txBody>
          </p:sp>
          <p:sp>
            <p:nvSpPr>
              <p:cNvPr id="28" name="Oval 27"/>
              <p:cNvSpPr/>
              <p:nvPr/>
            </p:nvSpPr>
            <p:spPr>
              <a:xfrm>
                <a:off x="3895344" y="3044952"/>
                <a:ext cx="146304" cy="146304"/>
              </a:xfrm>
              <a:prstGeom prst="ellipse">
                <a:avLst/>
              </a:prstGeom>
              <a:solidFill>
                <a:srgbClr val="1B1D21"/>
              </a:solidFill>
              <a:ln w="12700">
                <a:solidFill>
                  <a:srgbClr val="9AA0A6"/>
                </a:solidFill>
              </a:ln>
            </p:spPr>
            <p:txBody>
              <a:bodyPr rtlCol="0" anchor="ctr"/>
              <a:lstStyle/>
              <a:p>
                <a:pPr algn="ctr"/>
              </a:p>
            </p:txBody>
          </p:sp>
          <p:sp>
            <p:nvSpPr>
              <p:cNvPr id="29" name="Rectangle 28"/>
              <p:cNvSpPr/>
              <p:nvPr/>
            </p:nvSpPr>
            <p:spPr>
              <a:xfrm>
                <a:off x="4114800" y="3008376"/>
                <a:ext cx="58522" cy="36576"/>
              </a:xfrm>
              <a:prstGeom prst="rect">
                <a:avLst/>
              </a:prstGeom>
              <a:solidFill>
                <a:srgbClr val="9AA0A6"/>
              </a:solidFill>
              <a:ln>
                <a:noFill/>
              </a:ln>
            </p:spPr>
            <p:txBody>
              <a:bodyPr rtlCol="0" anchor="ctr"/>
              <a:lstStyle/>
              <a:p>
                <a:pPr algn="ctr"/>
              </a:p>
            </p:txBody>
          </p:sp>
          <p:sp>
            <p:nvSpPr>
              <p:cNvPr id="30" name="Rounded Rectangle 29"/>
              <p:cNvSpPr/>
              <p:nvPr/>
            </p:nvSpPr>
            <p:spPr>
              <a:xfrm>
                <a:off x="4173322" y="2752344"/>
                <a:ext cx="438912" cy="351130"/>
              </a:xfrm>
              <a:prstGeom prst="roundRect">
                <a:avLst>
                  <a:gd name="adj" fmla="val 8333"/>
                </a:avLst>
              </a:prstGeom>
              <a:solidFill>
                <a:srgbClr val="F28C28"/>
              </a:solidFill>
              <a:ln w="9525">
                <a:solidFill>
                  <a:srgbClr val="101418"/>
                </a:solidFill>
              </a:ln>
            </p:spPr>
            <p:txBody>
              <a:bodyPr rtlCol="0" anchor="ctr"/>
              <a:lstStyle/>
              <a:p>
                <a:pPr algn="ctr"/>
              </a:p>
            </p:txBody>
          </p:sp>
          <p:sp>
            <p:nvSpPr>
              <p:cNvPr id="31" name="Rectangle 30"/>
              <p:cNvSpPr/>
              <p:nvPr/>
            </p:nvSpPr>
            <p:spPr>
              <a:xfrm>
                <a:off x="4209898" y="2693822"/>
                <a:ext cx="365760" cy="87782"/>
              </a:xfrm>
              <a:prstGeom prst="rect">
                <a:avLst/>
              </a:prstGeom>
              <a:solidFill>
                <a:srgbClr val="1B1D21"/>
              </a:solidFill>
              <a:ln>
                <a:noFill/>
              </a:ln>
            </p:spPr>
            <p:txBody>
              <a:bodyPr rtlCol="0" anchor="ctr"/>
              <a:lstStyle/>
              <a:p>
                <a:pPr algn="ctr"/>
              </a:p>
            </p:txBody>
          </p:sp>
          <p:sp>
            <p:nvSpPr>
              <p:cNvPr id="32" name="Oval 31"/>
              <p:cNvSpPr/>
              <p:nvPr/>
            </p:nvSpPr>
            <p:spPr>
              <a:xfrm>
                <a:off x="4209898" y="3044952"/>
                <a:ext cx="146304" cy="146304"/>
              </a:xfrm>
              <a:prstGeom prst="ellipse">
                <a:avLst/>
              </a:prstGeom>
              <a:solidFill>
                <a:srgbClr val="1B1D21"/>
              </a:solidFill>
              <a:ln w="12700">
                <a:solidFill>
                  <a:srgbClr val="9AA0A6"/>
                </a:solidFill>
              </a:ln>
            </p:spPr>
            <p:txBody>
              <a:bodyPr rtlCol="0" anchor="ctr"/>
              <a:lstStyle/>
              <a:p>
                <a:pPr algn="ctr"/>
              </a:p>
            </p:txBody>
          </p:sp>
          <p:sp>
            <p:nvSpPr>
              <p:cNvPr id="33" name="Oval 32"/>
              <p:cNvSpPr/>
              <p:nvPr/>
            </p:nvSpPr>
            <p:spPr>
              <a:xfrm>
                <a:off x="4429354" y="3044952"/>
                <a:ext cx="146304" cy="146304"/>
              </a:xfrm>
              <a:prstGeom prst="ellipse">
                <a:avLst/>
              </a:prstGeom>
              <a:solidFill>
                <a:srgbClr val="1B1D21"/>
              </a:solidFill>
              <a:ln w="12700">
                <a:solidFill>
                  <a:srgbClr val="9AA0A6"/>
                </a:solidFill>
              </a:ln>
            </p:spPr>
            <p:txBody>
              <a:bodyPr rtlCol="0" anchor="ctr"/>
              <a:lstStyle/>
              <a:p>
                <a:pPr algn="ctr"/>
              </a:p>
            </p:txBody>
          </p:sp>
          <p:sp>
            <p:nvSpPr>
              <p:cNvPr id="34" name="Rectangle 33"/>
              <p:cNvSpPr/>
              <p:nvPr/>
            </p:nvSpPr>
            <p:spPr>
              <a:xfrm>
                <a:off x="4612234" y="3008376"/>
                <a:ext cx="58522" cy="36576"/>
              </a:xfrm>
              <a:prstGeom prst="rect">
                <a:avLst/>
              </a:prstGeom>
              <a:solidFill>
                <a:srgbClr val="9AA0A6"/>
              </a:solidFill>
              <a:ln>
                <a:noFill/>
              </a:ln>
            </p:spPr>
            <p:txBody>
              <a:bodyPr rtlCol="0" anchor="ctr"/>
              <a:lstStyle/>
              <a:p>
                <a:pPr algn="ctr"/>
              </a:p>
            </p:txBody>
          </p:sp>
          <p:sp>
            <p:nvSpPr>
              <p:cNvPr id="35" name="Rounded Rectangle 34"/>
              <p:cNvSpPr/>
              <p:nvPr/>
            </p:nvSpPr>
            <p:spPr>
              <a:xfrm>
                <a:off x="4670755" y="2715768"/>
                <a:ext cx="731520" cy="402336"/>
              </a:xfrm>
              <a:prstGeom prst="roundRect">
                <a:avLst>
                  <a:gd name="adj" fmla="val 10909"/>
                </a:avLst>
              </a:prstGeom>
              <a:solidFill>
                <a:srgbClr val="F28C28"/>
              </a:solidFill>
              <a:ln w="9525">
                <a:solidFill>
                  <a:srgbClr val="101418"/>
                </a:solidFill>
              </a:ln>
            </p:spPr>
            <p:txBody>
              <a:bodyPr rtlCol="0" anchor="ctr"/>
              <a:lstStyle/>
              <a:p>
                <a:pPr algn="ctr"/>
              </a:p>
            </p:txBody>
          </p:sp>
          <p:sp>
            <p:nvSpPr>
              <p:cNvPr id="36" name="Bunker"/>
              <p:cNvSpPr/>
              <p:nvPr/>
            </p:nvSpPr>
            <p:spPr>
              <a:xfrm>
                <a:off x="4692701" y="2737714"/>
                <a:ext cx="190195" cy="146304"/>
              </a:xfrm>
              <a:prstGeom prst="rect">
                <a:avLst/>
              </a:prstGeom>
              <a:solidFill>
                <a:srgbClr val="1B1D21"/>
              </a:solidFill>
              <a:ln>
                <a:noFill/>
              </a:ln>
            </p:spPr>
            <p:txBody>
              <a:bodyPr rtlCol="0" anchor="ctr"/>
              <a:lstStyle/>
              <a:p>
                <a:pPr algn="ctr"/>
              </a:p>
            </p:txBody>
          </p:sp>
          <p:sp>
            <p:nvSpPr>
              <p:cNvPr id="37" name="Rectangle 36"/>
              <p:cNvSpPr/>
              <p:nvPr/>
            </p:nvSpPr>
            <p:spPr>
              <a:xfrm>
                <a:off x="4919472" y="2766974"/>
                <a:ext cx="102413" cy="102413"/>
              </a:xfrm>
              <a:prstGeom prst="rect">
                <a:avLst/>
              </a:prstGeom>
              <a:solidFill>
                <a:srgbClr val="2B2F36"/>
              </a:solidFill>
              <a:ln>
                <a:noFill/>
              </a:ln>
            </p:spPr>
            <p:txBody>
              <a:bodyPr rtlCol="0" anchor="ctr"/>
              <a:lstStyle/>
              <a:p>
                <a:pPr algn="ctr"/>
              </a:p>
            </p:txBody>
          </p:sp>
          <p:sp>
            <p:nvSpPr>
              <p:cNvPr id="38" name="Chimney"/>
              <p:cNvSpPr/>
              <p:nvPr/>
            </p:nvSpPr>
            <p:spPr>
              <a:xfrm>
                <a:off x="5241341" y="2510942"/>
                <a:ext cx="109728" cy="219456"/>
              </a:xfrm>
              <a:prstGeom prst="rect">
                <a:avLst/>
              </a:prstGeom>
              <a:solidFill>
                <a:srgbClr val="1B1D21"/>
              </a:solidFill>
              <a:ln>
                <a:noFill/>
              </a:ln>
            </p:spPr>
            <p:txBody>
              <a:bodyPr rtlCol="0" anchor="ctr"/>
              <a:lstStyle/>
              <a:p>
                <a:pPr algn="ctr"/>
              </a:p>
            </p:txBody>
          </p:sp>
          <p:sp>
            <p:nvSpPr>
              <p:cNvPr id="39" name="Oval 38"/>
              <p:cNvSpPr/>
              <p:nvPr/>
            </p:nvSpPr>
            <p:spPr>
              <a:xfrm>
                <a:off x="4743907" y="3044952"/>
                <a:ext cx="146304" cy="146304"/>
              </a:xfrm>
              <a:prstGeom prst="ellipse">
                <a:avLst/>
              </a:prstGeom>
              <a:solidFill>
                <a:srgbClr val="1B1D21"/>
              </a:solidFill>
              <a:ln w="12700">
                <a:solidFill>
                  <a:srgbClr val="9AA0A6"/>
                </a:solidFill>
              </a:ln>
            </p:spPr>
            <p:txBody>
              <a:bodyPr rtlCol="0" anchor="ctr"/>
              <a:lstStyle/>
              <a:p>
                <a:pPr algn="ctr"/>
              </a:p>
            </p:txBody>
          </p:sp>
          <p:sp>
            <p:nvSpPr>
              <p:cNvPr id="40" name="Oval 39"/>
              <p:cNvSpPr/>
              <p:nvPr/>
            </p:nvSpPr>
            <p:spPr>
              <a:xfrm>
                <a:off x="4963363" y="3044952"/>
                <a:ext cx="146304" cy="146304"/>
              </a:xfrm>
              <a:prstGeom prst="ellipse">
                <a:avLst/>
              </a:prstGeom>
              <a:solidFill>
                <a:srgbClr val="1B1D21"/>
              </a:solidFill>
              <a:ln w="12700">
                <a:solidFill>
                  <a:srgbClr val="9AA0A6"/>
                </a:solidFill>
              </a:ln>
            </p:spPr>
            <p:txBody>
              <a:bodyPr rtlCol="0" anchor="ctr"/>
              <a:lstStyle/>
              <a:p>
                <a:pPr algn="ctr"/>
              </a:p>
            </p:txBody>
          </p:sp>
          <p:sp>
            <p:nvSpPr>
              <p:cNvPr id="41" name="Oval 40"/>
              <p:cNvSpPr/>
              <p:nvPr/>
            </p:nvSpPr>
            <p:spPr>
              <a:xfrm>
                <a:off x="5182819" y="3044952"/>
                <a:ext cx="146304" cy="146304"/>
              </a:xfrm>
              <a:prstGeom prst="ellipse">
                <a:avLst/>
              </a:prstGeom>
              <a:solidFill>
                <a:srgbClr val="1B1D21"/>
              </a:solidFill>
              <a:ln w="12700">
                <a:solidFill>
                  <a:srgbClr val="9AA0A6"/>
                </a:solidFill>
              </a:ln>
            </p:spPr>
            <p:txBody>
              <a:bodyPr rtlCol="0" anchor="ctr"/>
              <a:lstStyle/>
              <a:p>
                <a:pPr algn="ctr"/>
              </a:p>
            </p:txBody>
          </p:sp>
        </p:grpSp>
        <p:sp>
          <p:nvSpPr>
            <p:cNvPr id="42" name="Rounded Rectangle 41"/>
            <p:cNvSpPr/>
            <p:nvPr/>
          </p:nvSpPr>
          <p:spPr>
            <a:xfrm>
              <a:off x="6144768" y="2569464"/>
              <a:ext cx="2697480" cy="2185416"/>
            </a:xfrm>
            <a:prstGeom prst="roundRect">
              <a:avLst>
                <a:gd name="adj" fmla="val 2510"/>
              </a:avLst>
            </a:prstGeom>
            <a:solidFill>
              <a:srgbClr val="443426"/>
            </a:solidFill>
            <a:ln w="25400">
              <a:solidFill>
                <a:srgbClr val="F28C28"/>
              </a:solidFill>
            </a:ln>
          </p:spPr>
          <p:txBody>
            <a:bodyPr rtlCol="0" anchor="ctr"/>
            <a:lstStyle/>
            <a:p>
              <a:pPr algn="ctr"/>
            </a:p>
          </p:txBody>
        </p:sp>
        <p:sp>
          <p:nvSpPr>
            <p:cNvPr id="43" name="TextBox 42"/>
            <p:cNvSpPr txBox="1"/>
            <p:nvPr/>
          </p:nvSpPr>
          <p:spPr>
            <a:xfrm>
              <a:off x="6281928" y="2642616"/>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4 to 5</a:t>
              </a:r>
            </a:p>
            <a:p>
              <a:pPr algn="l"/>
              <a:r>
                <a:rPr sz="1600" b="0" i="0" lang="en-GB">
                  <a:solidFill>
                    <a:srgbClr val="F2F2F2"/>
                  </a:solidFill>
                  <a:latin typeface="Arial"/>
                </a:rPr>
                <a:t>Heavy Steam</a:t>
              </a:r>
            </a:p>
          </p:txBody>
        </p:sp>
        <p:grpSp>
          <p:nvGrpSpPr>
            <p:cNvPr id="44" name="Large engine" descr="A steam train: an engine pulling wagons."/>
            <p:cNvGrpSpPr/>
            <p:nvPr/>
          </p:nvGrpSpPr>
          <p:grpSpPr>
            <a:xfrm>
              <a:off x="6236208" y="1725016"/>
              <a:ext cx="2223821" cy="807872"/>
              <a:chOff x="6236208" y="1725016"/>
              <a:chExt cx="2223821" cy="807872"/>
            </a:xfrm>
          </p:grpSpPr>
          <p:sp>
            <p:nvSpPr>
              <p:cNvPr id="45" name="Rectangle 44"/>
              <p:cNvSpPr/>
              <p:nvPr/>
            </p:nvSpPr>
            <p:spPr>
              <a:xfrm>
                <a:off x="6236208" y="2037740"/>
                <a:ext cx="694944" cy="390906"/>
              </a:xfrm>
              <a:prstGeom prst="rect">
                <a:avLst/>
              </a:prstGeom>
              <a:solidFill>
                <a:srgbClr val="6C7480"/>
              </a:solidFill>
              <a:ln w="9525">
                <a:solidFill>
                  <a:srgbClr val="101418"/>
                </a:solidFill>
              </a:ln>
            </p:spPr>
            <p:txBody>
              <a:bodyPr rtlCol="0" anchor="ctr"/>
              <a:lstStyle/>
              <a:p>
                <a:pPr algn="ctr"/>
              </a:p>
            </p:txBody>
          </p:sp>
          <p:sp>
            <p:nvSpPr>
              <p:cNvPr id="46" name="Oval 45"/>
              <p:cNvSpPr/>
              <p:nvPr/>
            </p:nvSpPr>
            <p:spPr>
              <a:xfrm>
                <a:off x="6323076" y="2359152"/>
                <a:ext cx="173736" cy="173736"/>
              </a:xfrm>
              <a:prstGeom prst="ellipse">
                <a:avLst/>
              </a:prstGeom>
              <a:solidFill>
                <a:srgbClr val="1B1D21"/>
              </a:solidFill>
              <a:ln w="12700">
                <a:solidFill>
                  <a:srgbClr val="9AA0A6"/>
                </a:solidFill>
              </a:ln>
            </p:spPr>
            <p:txBody>
              <a:bodyPr rtlCol="0" anchor="ctr"/>
              <a:lstStyle/>
              <a:p>
                <a:pPr algn="ctr"/>
              </a:p>
            </p:txBody>
          </p:sp>
          <p:sp>
            <p:nvSpPr>
              <p:cNvPr id="47" name="Oval 46"/>
              <p:cNvSpPr/>
              <p:nvPr/>
            </p:nvSpPr>
            <p:spPr>
              <a:xfrm>
                <a:off x="6670548" y="2359152"/>
                <a:ext cx="173736" cy="173736"/>
              </a:xfrm>
              <a:prstGeom prst="ellipse">
                <a:avLst/>
              </a:prstGeom>
              <a:solidFill>
                <a:srgbClr val="1B1D21"/>
              </a:solidFill>
              <a:ln w="12700">
                <a:solidFill>
                  <a:srgbClr val="9AA0A6"/>
                </a:solidFill>
              </a:ln>
            </p:spPr>
            <p:txBody>
              <a:bodyPr rtlCol="0" anchor="ctr"/>
              <a:lstStyle/>
              <a:p>
                <a:pPr algn="ctr"/>
              </a:p>
            </p:txBody>
          </p:sp>
          <p:sp>
            <p:nvSpPr>
              <p:cNvPr id="48" name="Rectangle 47"/>
              <p:cNvSpPr/>
              <p:nvPr/>
            </p:nvSpPr>
            <p:spPr>
              <a:xfrm>
                <a:off x="6931152" y="2315718"/>
                <a:ext cx="69494" cy="43434"/>
              </a:xfrm>
              <a:prstGeom prst="rect">
                <a:avLst/>
              </a:prstGeom>
              <a:solidFill>
                <a:srgbClr val="9AA0A6"/>
              </a:solidFill>
              <a:ln>
                <a:noFill/>
              </a:ln>
            </p:spPr>
            <p:txBody>
              <a:bodyPr rtlCol="0" anchor="ctr"/>
              <a:lstStyle/>
              <a:p>
                <a:pPr algn="ctr"/>
              </a:p>
            </p:txBody>
          </p:sp>
          <p:sp>
            <p:nvSpPr>
              <p:cNvPr id="49" name="Rounded Rectangle 48"/>
              <p:cNvSpPr/>
              <p:nvPr/>
            </p:nvSpPr>
            <p:spPr>
              <a:xfrm>
                <a:off x="7000646" y="2011680"/>
                <a:ext cx="521208" cy="416966"/>
              </a:xfrm>
              <a:prstGeom prst="roundRect">
                <a:avLst>
                  <a:gd name="adj" fmla="val 8333"/>
                </a:avLst>
              </a:prstGeom>
              <a:solidFill>
                <a:srgbClr val="F28C28"/>
              </a:solidFill>
              <a:ln w="9525">
                <a:solidFill>
                  <a:srgbClr val="101418"/>
                </a:solidFill>
              </a:ln>
            </p:spPr>
            <p:txBody>
              <a:bodyPr rtlCol="0" anchor="ctr"/>
              <a:lstStyle/>
              <a:p>
                <a:pPr algn="ctr"/>
              </a:p>
            </p:txBody>
          </p:sp>
          <p:sp>
            <p:nvSpPr>
              <p:cNvPr id="50" name="Rectangle 49"/>
              <p:cNvSpPr/>
              <p:nvPr/>
            </p:nvSpPr>
            <p:spPr>
              <a:xfrm>
                <a:off x="7044080" y="1942186"/>
                <a:ext cx="434340" cy="104242"/>
              </a:xfrm>
              <a:prstGeom prst="rect">
                <a:avLst/>
              </a:prstGeom>
              <a:solidFill>
                <a:srgbClr val="1B1D21"/>
              </a:solidFill>
              <a:ln>
                <a:noFill/>
              </a:ln>
            </p:spPr>
            <p:txBody>
              <a:bodyPr rtlCol="0" anchor="ctr"/>
              <a:lstStyle/>
              <a:p>
                <a:pPr algn="ctr"/>
              </a:p>
            </p:txBody>
          </p:sp>
          <p:sp>
            <p:nvSpPr>
              <p:cNvPr id="51" name="Oval 50"/>
              <p:cNvSpPr/>
              <p:nvPr/>
            </p:nvSpPr>
            <p:spPr>
              <a:xfrm>
                <a:off x="7044080" y="2359152"/>
                <a:ext cx="173736" cy="173736"/>
              </a:xfrm>
              <a:prstGeom prst="ellipse">
                <a:avLst/>
              </a:prstGeom>
              <a:solidFill>
                <a:srgbClr val="1B1D21"/>
              </a:solidFill>
              <a:ln w="12700">
                <a:solidFill>
                  <a:srgbClr val="9AA0A6"/>
                </a:solidFill>
              </a:ln>
            </p:spPr>
            <p:txBody>
              <a:bodyPr rtlCol="0" anchor="ctr"/>
              <a:lstStyle/>
              <a:p>
                <a:pPr algn="ctr"/>
              </a:p>
            </p:txBody>
          </p:sp>
          <p:sp>
            <p:nvSpPr>
              <p:cNvPr id="52" name="Oval 51"/>
              <p:cNvSpPr/>
              <p:nvPr/>
            </p:nvSpPr>
            <p:spPr>
              <a:xfrm>
                <a:off x="7304684" y="2359152"/>
                <a:ext cx="173736" cy="173736"/>
              </a:xfrm>
              <a:prstGeom prst="ellipse">
                <a:avLst/>
              </a:prstGeom>
              <a:solidFill>
                <a:srgbClr val="1B1D21"/>
              </a:solidFill>
              <a:ln w="12700">
                <a:solidFill>
                  <a:srgbClr val="9AA0A6"/>
                </a:solidFill>
              </a:ln>
            </p:spPr>
            <p:txBody>
              <a:bodyPr rtlCol="0" anchor="ctr"/>
              <a:lstStyle/>
              <a:p>
                <a:pPr algn="ctr"/>
              </a:p>
            </p:txBody>
          </p:sp>
          <p:sp>
            <p:nvSpPr>
              <p:cNvPr id="53" name="Rectangle 52"/>
              <p:cNvSpPr/>
              <p:nvPr/>
            </p:nvSpPr>
            <p:spPr>
              <a:xfrm>
                <a:off x="7521854" y="2315718"/>
                <a:ext cx="69494" cy="43434"/>
              </a:xfrm>
              <a:prstGeom prst="rect">
                <a:avLst/>
              </a:prstGeom>
              <a:solidFill>
                <a:srgbClr val="9AA0A6"/>
              </a:solidFill>
              <a:ln>
                <a:noFill/>
              </a:ln>
            </p:spPr>
            <p:txBody>
              <a:bodyPr rtlCol="0" anchor="ctr"/>
              <a:lstStyle/>
              <a:p>
                <a:pPr algn="ctr"/>
              </a:p>
            </p:txBody>
          </p:sp>
          <p:sp>
            <p:nvSpPr>
              <p:cNvPr id="54" name="Rounded Rectangle 53"/>
              <p:cNvSpPr/>
              <p:nvPr/>
            </p:nvSpPr>
            <p:spPr>
              <a:xfrm>
                <a:off x="7591349" y="1968246"/>
                <a:ext cx="868680" cy="477774"/>
              </a:xfrm>
              <a:prstGeom prst="roundRect">
                <a:avLst>
                  <a:gd name="adj" fmla="val 10909"/>
                </a:avLst>
              </a:prstGeom>
              <a:solidFill>
                <a:srgbClr val="F28C28"/>
              </a:solidFill>
              <a:ln w="9525">
                <a:solidFill>
                  <a:srgbClr val="101418"/>
                </a:solidFill>
              </a:ln>
            </p:spPr>
            <p:txBody>
              <a:bodyPr rtlCol="0" anchor="ctr"/>
              <a:lstStyle/>
              <a:p>
                <a:pPr algn="ctr"/>
              </a:p>
            </p:txBody>
          </p:sp>
          <p:sp>
            <p:nvSpPr>
              <p:cNvPr id="55" name="Bunker"/>
              <p:cNvSpPr/>
              <p:nvPr/>
            </p:nvSpPr>
            <p:spPr>
              <a:xfrm>
                <a:off x="7617409" y="1994306"/>
                <a:ext cx="225857" cy="173736"/>
              </a:xfrm>
              <a:prstGeom prst="rect">
                <a:avLst/>
              </a:prstGeom>
              <a:solidFill>
                <a:srgbClr val="1B1D21"/>
              </a:solidFill>
              <a:ln>
                <a:noFill/>
              </a:ln>
            </p:spPr>
            <p:txBody>
              <a:bodyPr rtlCol="0" anchor="ctr"/>
              <a:lstStyle/>
              <a:p>
                <a:pPr algn="ctr"/>
              </a:p>
            </p:txBody>
          </p:sp>
          <p:sp>
            <p:nvSpPr>
              <p:cNvPr id="56" name="Rectangle 55"/>
              <p:cNvSpPr/>
              <p:nvPr/>
            </p:nvSpPr>
            <p:spPr>
              <a:xfrm>
                <a:off x="7886700" y="2029054"/>
                <a:ext cx="121615" cy="121615"/>
              </a:xfrm>
              <a:prstGeom prst="rect">
                <a:avLst/>
              </a:prstGeom>
              <a:solidFill>
                <a:srgbClr val="2B2F36"/>
              </a:solidFill>
              <a:ln>
                <a:noFill/>
              </a:ln>
            </p:spPr>
            <p:txBody>
              <a:bodyPr rtlCol="0" anchor="ctr"/>
              <a:lstStyle/>
              <a:p>
                <a:pPr algn="ctr"/>
              </a:p>
            </p:txBody>
          </p:sp>
          <p:sp>
            <p:nvSpPr>
              <p:cNvPr id="57" name="Chimney"/>
              <p:cNvSpPr/>
              <p:nvPr/>
            </p:nvSpPr>
            <p:spPr>
              <a:xfrm>
                <a:off x="8268919" y="1725016"/>
                <a:ext cx="130302" cy="260604"/>
              </a:xfrm>
              <a:prstGeom prst="rect">
                <a:avLst/>
              </a:prstGeom>
              <a:solidFill>
                <a:srgbClr val="1B1D21"/>
              </a:solidFill>
              <a:ln>
                <a:noFill/>
              </a:ln>
            </p:spPr>
            <p:txBody>
              <a:bodyPr rtlCol="0" anchor="ctr"/>
              <a:lstStyle/>
              <a:p>
                <a:pPr algn="ctr"/>
              </a:p>
            </p:txBody>
          </p:sp>
          <p:sp>
            <p:nvSpPr>
              <p:cNvPr id="58" name="Oval 57"/>
              <p:cNvSpPr/>
              <p:nvPr/>
            </p:nvSpPr>
            <p:spPr>
              <a:xfrm>
                <a:off x="7678217" y="2359152"/>
                <a:ext cx="173736" cy="173736"/>
              </a:xfrm>
              <a:prstGeom prst="ellipse">
                <a:avLst/>
              </a:prstGeom>
              <a:solidFill>
                <a:srgbClr val="1B1D21"/>
              </a:solidFill>
              <a:ln w="12700">
                <a:solidFill>
                  <a:srgbClr val="9AA0A6"/>
                </a:solidFill>
              </a:ln>
            </p:spPr>
            <p:txBody>
              <a:bodyPr rtlCol="0" anchor="ctr"/>
              <a:lstStyle/>
              <a:p>
                <a:pPr algn="ctr"/>
              </a:p>
            </p:txBody>
          </p:sp>
          <p:sp>
            <p:nvSpPr>
              <p:cNvPr id="59" name="Oval 58"/>
              <p:cNvSpPr/>
              <p:nvPr/>
            </p:nvSpPr>
            <p:spPr>
              <a:xfrm>
                <a:off x="7938821" y="2359152"/>
                <a:ext cx="173736" cy="173736"/>
              </a:xfrm>
              <a:prstGeom prst="ellipse">
                <a:avLst/>
              </a:prstGeom>
              <a:solidFill>
                <a:srgbClr val="1B1D21"/>
              </a:solidFill>
              <a:ln w="12700">
                <a:solidFill>
                  <a:srgbClr val="9AA0A6"/>
                </a:solidFill>
              </a:ln>
            </p:spPr>
            <p:txBody>
              <a:bodyPr rtlCol="0" anchor="ctr"/>
              <a:lstStyle/>
              <a:p>
                <a:pPr algn="ctr"/>
              </a:p>
            </p:txBody>
          </p:sp>
          <p:sp>
            <p:nvSpPr>
              <p:cNvPr id="60" name="Oval 59"/>
              <p:cNvSpPr/>
              <p:nvPr/>
            </p:nvSpPr>
            <p:spPr>
              <a:xfrm>
                <a:off x="8199425" y="2359152"/>
                <a:ext cx="173736" cy="173736"/>
              </a:xfrm>
              <a:prstGeom prst="ellipse">
                <a:avLst/>
              </a:prstGeom>
              <a:solidFill>
                <a:srgbClr val="1B1D21"/>
              </a:solidFill>
              <a:ln w="12700">
                <a:solidFill>
                  <a:srgbClr val="9AA0A6"/>
                </a:solidFill>
              </a:ln>
            </p:spPr>
            <p:txBody>
              <a:bodyPr rtlCol="0" anchor="ctr"/>
              <a:lstStyle/>
              <a:p>
                <a:pPr algn="ctr"/>
              </a:p>
            </p:txBody>
          </p:sp>
        </p:grpSp>
        <p:sp>
          <p:nvSpPr>
            <p:cNvPr id="61" name="Rounded Rectangle 60"/>
            <p:cNvSpPr/>
            <p:nvPr/>
          </p:nvSpPr>
          <p:spPr>
            <a:xfrm>
              <a:off x="8942832" y="1911096"/>
              <a:ext cx="2697480" cy="2843784"/>
            </a:xfrm>
            <a:prstGeom prst="roundRect">
              <a:avLst>
                <a:gd name="adj" fmla="val 2033"/>
              </a:avLst>
            </a:prstGeom>
            <a:solidFill>
              <a:srgbClr val="2C3847"/>
            </a:solidFill>
            <a:ln w="25400">
              <a:solidFill>
                <a:srgbClr val="6CA0DC"/>
              </a:solidFill>
            </a:ln>
          </p:spPr>
          <p:txBody>
            <a:bodyPr rtlCol="0" anchor="ctr"/>
            <a:lstStyle/>
            <a:p>
              <a:pPr algn="ctr"/>
            </a:p>
          </p:txBody>
        </p:sp>
        <p:sp>
          <p:nvSpPr>
            <p:cNvPr id="62" name="TextBox 61"/>
            <p:cNvSpPr txBox="1"/>
            <p:nvPr/>
          </p:nvSpPr>
          <p:spPr>
            <a:xfrm>
              <a:off x="9079992" y="1984248"/>
              <a:ext cx="2423160" cy="777240"/>
            </a:xfrm>
            <a:prstGeom prst="rect">
              <a:avLst/>
            </a:prstGeom>
            <a:noFill/>
          </p:spPr>
          <p:txBody>
            <a:bodyPr wrap="square" lIns="0" tIns="0" rIns="0" bIns="0" anchor="t">
              <a:noAutofit/>
            </a:bodyPr>
            <a:lstStyle/>
            <a:p>
              <a:pPr algn="l"/>
              <a:r>
                <a:rPr sz="2000" b="1" i="0" lang="en-GB">
                  <a:solidFill>
                    <a:srgbClr val="6CA0DC"/>
                  </a:solidFill>
                  <a:latin typeface="Arial"/>
                </a:rPr>
                <a:t>Tier 6</a:t>
              </a:r>
            </a:p>
            <a:p>
              <a:pPr algn="l"/>
              <a:r>
                <a:rPr sz="1600" b="0" i="0" lang="en-GB">
                  <a:solidFill>
                    <a:srgbClr val="F2F2F2"/>
                  </a:solidFill>
                  <a:latin typeface="Arial"/>
                </a:rPr>
                <a:t>Monorail: the game's electric trains</a:t>
              </a:r>
            </a:p>
          </p:txBody>
        </p:sp>
        <p:sp>
          <p:nvSpPr>
            <p:cNvPr id="63" name="Rounded Rectangle 62"/>
            <p:cNvSpPr/>
            <p:nvPr/>
          </p:nvSpPr>
          <p:spPr>
            <a:xfrm>
              <a:off x="926287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4" name="Rectangle 63"/>
            <p:cNvSpPr/>
            <p:nvPr/>
          </p:nvSpPr>
          <p:spPr>
            <a:xfrm>
              <a:off x="9354312" y="1417320"/>
              <a:ext cx="749808" cy="128016"/>
            </a:xfrm>
            <a:prstGeom prst="rect">
              <a:avLst/>
            </a:prstGeom>
            <a:solidFill>
              <a:srgbClr val="2B2F36"/>
            </a:solidFill>
            <a:ln>
              <a:noFill/>
            </a:ln>
          </p:spPr>
          <p:txBody>
            <a:bodyPr rtlCol="0" anchor="ctr"/>
            <a:lstStyle/>
            <a:p>
              <a:pPr algn="ctr"/>
            </a:p>
          </p:txBody>
        </p:sp>
        <p:sp>
          <p:nvSpPr>
            <p:cNvPr id="65" name="Rounded Rectangle 64"/>
            <p:cNvSpPr/>
            <p:nvPr/>
          </p:nvSpPr>
          <p:spPr>
            <a:xfrm>
              <a:off x="1026871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6" name="Rectangle 65"/>
            <p:cNvSpPr/>
            <p:nvPr/>
          </p:nvSpPr>
          <p:spPr>
            <a:xfrm>
              <a:off x="10360152" y="1417320"/>
              <a:ext cx="749808" cy="128016"/>
            </a:xfrm>
            <a:prstGeom prst="rect">
              <a:avLst/>
            </a:prstGeom>
            <a:solidFill>
              <a:srgbClr val="2B2F36"/>
            </a:solidFill>
            <a:ln>
              <a:noFill/>
            </a:ln>
          </p:spPr>
          <p:txBody>
            <a:bodyPr rtlCol="0" anchor="ctr"/>
            <a:lstStyle/>
            <a:p>
              <a:pPr algn="ctr"/>
            </a:p>
          </p:txBody>
        </p:sp>
        <p:sp>
          <p:nvSpPr>
            <p:cNvPr id="67" name="Rectangle 66"/>
            <p:cNvSpPr/>
            <p:nvPr/>
          </p:nvSpPr>
          <p:spPr>
            <a:xfrm>
              <a:off x="9217152" y="1783080"/>
              <a:ext cx="2057400" cy="91440"/>
            </a:xfrm>
            <a:prstGeom prst="rect">
              <a:avLst/>
            </a:prstGeom>
            <a:solidFill>
              <a:srgbClr val="9AA0A6"/>
            </a:solidFill>
            <a:ln>
              <a:noFill/>
            </a:ln>
          </p:spPr>
          <p:txBody>
            <a:bodyPr rtlCol="0" anchor="ctr"/>
            <a:lstStyle/>
            <a:p>
              <a:pPr algn="ctr"/>
            </a:p>
          </p:txBody>
        </p:sp>
      </p:grpSp>
      <p:sp>
        <p:nvSpPr>
          <p:cNvPr id="68" name="TextBox 67"/>
          <p:cNvSpPr txBox="1"/>
          <p:nvPr/>
        </p:nvSpPr>
        <p:spPr>
          <a:xfrm>
            <a:off x="548640" y="4919472"/>
            <a:ext cx="2926080" cy="329184"/>
          </a:xfrm>
          <a:prstGeom prst="rect">
            <a:avLst/>
          </a:prstGeom>
          <a:noFill/>
        </p:spPr>
        <p:txBody>
          <a:bodyPr wrap="square" lIns="0" tIns="0" rIns="0" bIns="0" anchor="ctr">
            <a:noAutofit/>
          </a:bodyPr>
          <a:lstStyle/>
          <a:p>
            <a:pPr algn="l"/>
            <a:r>
              <a:rPr sz="1600" b="0" i="0" lang="en-GB">
                <a:solidFill>
                  <a:srgbClr val="F2F2F2"/>
                </a:solidFill>
                <a:latin typeface="Arial"/>
              </a:rPr>
              <a:t>Tiers and prerequisites:</a:t>
            </a:r>
          </a:p>
        </p:txBody>
      </p:sp>
      <p:sp>
        <p:nvSpPr>
          <p:cNvPr id="69" name="Inline chip Provisional"/>
          <p:cNvSpPr/>
          <p:nvPr/>
        </p:nvSpPr>
        <p:spPr>
          <a:xfrm>
            <a:off x="2926080" y="4937760"/>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70" name="Inline chip Undecided"/>
          <p:cNvSpPr/>
          <p:nvPr/>
        </p:nvSpPr>
        <p:spPr>
          <a:xfrm>
            <a:off x="4654054" y="4937760"/>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(OQ01)</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Technology unlocks in tiers. The mod adds steam railways early, before the game's electric trains.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Track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1" descr="Old-style chairs and clips holding rail to wooden sleepers on preserved track at Oxenhope."/>
          <p:cNvPicPr>
            <a:picLocks noChangeAspect="1"/>
          </p:cNvPicPr>
          <p:nvPr/>
        </p:nvPicPr>
        <p:blipFill>
          <a:blip r:embed="rId2"/>
          <a:srcRect t="794" b="794"/>
          <a:stretch>
            <a:fillRect/>
          </a:stretch>
        </p:blipFill>
        <p:spPr>
          <a:xfrm>
            <a:off x="548640" y="1463040"/>
            <a:ext cx="3840480" cy="2834640"/>
          </a:xfrm>
          <a:prstGeom prst="roundRect">
            <a:avLst>
              <a:gd name="adj" fmla="val 2581"/>
            </a:avLst>
          </a:prstGeom>
        </p:spPr>
      </p:pic>
      <p:sp>
        <p:nvSpPr>
          <p:cNvPr id="9" name="Credit"/>
          <p:cNvSpPr txBox="1"/>
          <p:nvPr/>
        </p:nvSpPr>
        <p:spPr>
          <a:xfrm>
            <a:off x="548640" y="4325112"/>
            <a:ext cx="3840480" cy="182880"/>
          </a:xfrm>
          <a:prstGeom prst="rect">
            <a:avLst/>
          </a:prstGeom>
          <a:noFill/>
        </p:spPr>
        <p:txBody>
          <a:bodyPr wrap="square" lIns="0" tIns="0" rIns="0" bIns="0" anchor="t">
            <a:noAutofit/>
          </a:bodyPr>
          <a:lstStyle/>
          <a:p>
            <a:pPr algn="l"/>
            <a:r>
              <a:rPr sz="1000" b="0" i="0" lang="en-GB">
                <a:solidFill>
                  <a:srgbClr val="A9B0B8"/>
                </a:solidFill>
                <a:latin typeface="Arial"/>
              </a:rPr>
              <a:t>Photo: Stephen Craven, CC BY-SA 2.0, Wikimedia Commons.</a:t>
            </a:r>
          </a:p>
        </p:txBody>
      </p:sp>
      <p:grpSp>
        <p:nvGrpSpPr>
          <p:cNvPr id="10" name="Track cross-section" descr="End-on cross-section of track: two rails on a sleeper, which sits on a bed of stone ballast. The gauge is the distance between the rails."/>
          <p:cNvGrpSpPr/>
          <p:nvPr/>
        </p:nvGrpSpPr>
        <p:grpSpPr>
          <a:xfrm>
            <a:off x="5486400" y="3017520"/>
            <a:ext cx="5029200" cy="1965960"/>
            <a:chOff x="5486400" y="3017520"/>
            <a:chExt cx="5029200" cy="1965960"/>
          </a:xfrm>
        </p:grpSpPr>
        <p:sp>
          <p:nvSpPr>
            <p:cNvPr id="11" name="Freeform 10"/>
            <p:cNvSpPr/>
            <p:nvPr/>
          </p:nvSpPr>
          <p:spPr>
            <a:xfrm>
              <a:off x="5486400" y="3977640"/>
              <a:ext cx="5029200" cy="1005840"/>
            </a:xfrm>
            <a:custGeom>
              <a:avLst/>
              <a:gdLst/>
              <a:ahLst/>
              <a:cxnLst/>
              <a:rect l="l" t="t" r="r" b="b"/>
              <a:pathLst>
                <a:path w="5029200" h="1005840">
                  <a:moveTo>
                    <a:pt x="0" y="1005840"/>
                  </a:moveTo>
                  <a:lnTo>
                    <a:pt x="5029200" y="1005840"/>
                  </a:lnTo>
                  <a:lnTo>
                    <a:pt x="4480560" y="0"/>
                  </a:lnTo>
                  <a:lnTo>
                    <a:pt x="548640" y="0"/>
                  </a:lnTo>
                  <a:close/>
                </a:path>
              </a:pathLst>
            </a:custGeom>
            <a:solidFill>
              <a:srgbClr val="7A7F86"/>
            </a:solidFill>
            <a:ln w="12700">
              <a:solidFill>
                <a:srgbClr val="9AA0A6"/>
              </a:solidFill>
            </a:ln>
          </p:spPr>
          <p:txBody>
            <a:bodyPr rtlCol="0" anchor="ctr"/>
            <a:lstStyle/>
            <a:p>
              <a:pPr algn="ctr"/>
            </a:p>
          </p:txBody>
        </p:sp>
        <p:sp>
          <p:nvSpPr>
            <p:cNvPr id="12" name="Oval 11"/>
            <p:cNvSpPr/>
            <p:nvPr/>
          </p:nvSpPr>
          <p:spPr>
            <a:xfrm>
              <a:off x="6391490" y="4252636"/>
              <a:ext cx="120412" cy="69676"/>
            </a:xfrm>
            <a:prstGeom prst="ellipse">
              <a:avLst/>
            </a:prstGeom>
            <a:solidFill>
              <a:srgbClr val="5E636A"/>
            </a:solidFill>
            <a:ln>
              <a:noFill/>
            </a:ln>
          </p:spPr>
          <p:txBody>
            <a:bodyPr rtlCol="0" anchor="ctr"/>
            <a:lstStyle/>
            <a:p>
              <a:pPr algn="ctr"/>
            </a:p>
          </p:txBody>
        </p:sp>
        <p:sp>
          <p:nvSpPr>
            <p:cNvPr id="13" name="Oval 12"/>
            <p:cNvSpPr/>
            <p:nvPr/>
          </p:nvSpPr>
          <p:spPr>
            <a:xfrm>
              <a:off x="7550814" y="4116814"/>
              <a:ext cx="158590" cy="93285"/>
            </a:xfrm>
            <a:prstGeom prst="ellipse">
              <a:avLst/>
            </a:prstGeom>
            <a:solidFill>
              <a:srgbClr val="5E636A"/>
            </a:solidFill>
            <a:ln>
              <a:noFill/>
            </a:ln>
          </p:spPr>
          <p:txBody>
            <a:bodyPr rtlCol="0" anchor="ctr"/>
            <a:lstStyle/>
            <a:p>
              <a:pPr algn="ctr"/>
            </a:p>
          </p:txBody>
        </p:sp>
        <p:sp>
          <p:nvSpPr>
            <p:cNvPr id="14" name="Oval 13"/>
            <p:cNvSpPr/>
            <p:nvPr/>
          </p:nvSpPr>
          <p:spPr>
            <a:xfrm>
              <a:off x="6732599" y="4637468"/>
              <a:ext cx="130699" cy="74128"/>
            </a:xfrm>
            <a:prstGeom prst="ellipse">
              <a:avLst/>
            </a:prstGeom>
            <a:solidFill>
              <a:srgbClr val="5E636A"/>
            </a:solidFill>
            <a:ln>
              <a:noFill/>
            </a:ln>
          </p:spPr>
          <p:txBody>
            <a:bodyPr rtlCol="0" anchor="ctr"/>
            <a:lstStyle/>
            <a:p>
              <a:pPr algn="ctr"/>
            </a:p>
          </p:txBody>
        </p:sp>
        <p:sp>
          <p:nvSpPr>
            <p:cNvPr id="15" name="Oval 14"/>
            <p:cNvSpPr/>
            <p:nvPr/>
          </p:nvSpPr>
          <p:spPr>
            <a:xfrm>
              <a:off x="6429834" y="4192142"/>
              <a:ext cx="107124" cy="97931"/>
            </a:xfrm>
            <a:prstGeom prst="ellipse">
              <a:avLst/>
            </a:prstGeom>
            <a:solidFill>
              <a:srgbClr val="5E636A"/>
            </a:solidFill>
            <a:ln>
              <a:noFill/>
            </a:ln>
          </p:spPr>
          <p:txBody>
            <a:bodyPr rtlCol="0" anchor="ctr"/>
            <a:lstStyle/>
            <a:p>
              <a:pPr algn="ctr"/>
            </a:p>
          </p:txBody>
        </p:sp>
        <p:sp>
          <p:nvSpPr>
            <p:cNvPr id="16" name="Oval 15"/>
            <p:cNvSpPr/>
            <p:nvPr/>
          </p:nvSpPr>
          <p:spPr>
            <a:xfrm>
              <a:off x="9268308" y="4685630"/>
              <a:ext cx="149994" cy="71083"/>
            </a:xfrm>
            <a:prstGeom prst="ellipse">
              <a:avLst/>
            </a:prstGeom>
            <a:solidFill>
              <a:srgbClr val="5E636A"/>
            </a:solidFill>
            <a:ln>
              <a:noFill/>
            </a:ln>
          </p:spPr>
          <p:txBody>
            <a:bodyPr rtlCol="0" anchor="ctr"/>
            <a:lstStyle/>
            <a:p>
              <a:pPr algn="ctr"/>
            </a:p>
          </p:txBody>
        </p:sp>
        <p:sp>
          <p:nvSpPr>
            <p:cNvPr id="17" name="Oval 16"/>
            <p:cNvSpPr/>
            <p:nvPr/>
          </p:nvSpPr>
          <p:spPr>
            <a:xfrm>
              <a:off x="8431722" y="4293828"/>
              <a:ext cx="144980" cy="95268"/>
            </a:xfrm>
            <a:prstGeom prst="ellipse">
              <a:avLst/>
            </a:prstGeom>
            <a:solidFill>
              <a:srgbClr val="5E636A"/>
            </a:solidFill>
            <a:ln>
              <a:noFill/>
            </a:ln>
          </p:spPr>
          <p:txBody>
            <a:bodyPr rtlCol="0" anchor="ctr"/>
            <a:lstStyle/>
            <a:p>
              <a:pPr algn="ctr"/>
            </a:p>
          </p:txBody>
        </p:sp>
        <p:sp>
          <p:nvSpPr>
            <p:cNvPr id="18" name="Oval 17"/>
            <p:cNvSpPr/>
            <p:nvPr/>
          </p:nvSpPr>
          <p:spPr>
            <a:xfrm>
              <a:off x="6107205" y="4714287"/>
              <a:ext cx="135759" cy="88576"/>
            </a:xfrm>
            <a:prstGeom prst="ellipse">
              <a:avLst/>
            </a:prstGeom>
            <a:solidFill>
              <a:srgbClr val="5E636A"/>
            </a:solidFill>
            <a:ln>
              <a:noFill/>
            </a:ln>
          </p:spPr>
          <p:txBody>
            <a:bodyPr rtlCol="0" anchor="ctr"/>
            <a:lstStyle/>
            <a:p>
              <a:pPr algn="ctr"/>
            </a:p>
          </p:txBody>
        </p:sp>
        <p:sp>
          <p:nvSpPr>
            <p:cNvPr id="19" name="Oval 18"/>
            <p:cNvSpPr/>
            <p:nvPr/>
          </p:nvSpPr>
          <p:spPr>
            <a:xfrm>
              <a:off x="6610598" y="4451277"/>
              <a:ext cx="126084" cy="67276"/>
            </a:xfrm>
            <a:prstGeom prst="ellipse">
              <a:avLst/>
            </a:prstGeom>
            <a:solidFill>
              <a:srgbClr val="5E636A"/>
            </a:solidFill>
            <a:ln>
              <a:noFill/>
            </a:ln>
          </p:spPr>
          <p:txBody>
            <a:bodyPr rtlCol="0" anchor="ctr"/>
            <a:lstStyle/>
            <a:p>
              <a:pPr algn="ctr"/>
            </a:p>
          </p:txBody>
        </p:sp>
        <p:sp>
          <p:nvSpPr>
            <p:cNvPr id="20" name="Oval 19"/>
            <p:cNvSpPr/>
            <p:nvPr/>
          </p:nvSpPr>
          <p:spPr>
            <a:xfrm>
              <a:off x="9565898" y="4760975"/>
              <a:ext cx="131501" cy="74990"/>
            </a:xfrm>
            <a:prstGeom prst="ellipse">
              <a:avLst/>
            </a:prstGeom>
            <a:solidFill>
              <a:srgbClr val="5E636A"/>
            </a:solidFill>
            <a:ln>
              <a:noFill/>
            </a:ln>
          </p:spPr>
          <p:txBody>
            <a:bodyPr rtlCol="0" anchor="ctr"/>
            <a:lstStyle/>
            <a:p>
              <a:pPr algn="ctr"/>
            </a:p>
          </p:txBody>
        </p:sp>
        <p:sp>
          <p:nvSpPr>
            <p:cNvPr id="21" name="Oval 20"/>
            <p:cNvSpPr/>
            <p:nvPr/>
          </p:nvSpPr>
          <p:spPr>
            <a:xfrm>
              <a:off x="8244396" y="4732144"/>
              <a:ext cx="155983" cy="95026"/>
            </a:xfrm>
            <a:prstGeom prst="ellipse">
              <a:avLst/>
            </a:prstGeom>
            <a:solidFill>
              <a:srgbClr val="5E636A"/>
            </a:solidFill>
            <a:ln>
              <a:noFill/>
            </a:ln>
          </p:spPr>
          <p:txBody>
            <a:bodyPr rtlCol="0" anchor="ctr"/>
            <a:lstStyle/>
            <a:p>
              <a:pPr algn="ctr"/>
            </a:p>
          </p:txBody>
        </p:sp>
        <p:sp>
          <p:nvSpPr>
            <p:cNvPr id="22" name="Oval 21"/>
            <p:cNvSpPr/>
            <p:nvPr/>
          </p:nvSpPr>
          <p:spPr>
            <a:xfrm>
              <a:off x="7578704" y="4446798"/>
              <a:ext cx="135252" cy="79774"/>
            </a:xfrm>
            <a:prstGeom prst="ellipse">
              <a:avLst/>
            </a:prstGeom>
            <a:solidFill>
              <a:srgbClr val="5E636A"/>
            </a:solidFill>
            <a:ln>
              <a:noFill/>
            </a:ln>
          </p:spPr>
          <p:txBody>
            <a:bodyPr rtlCol="0" anchor="ctr"/>
            <a:lstStyle/>
            <a:p>
              <a:pPr algn="ctr"/>
            </a:p>
          </p:txBody>
        </p:sp>
        <p:sp>
          <p:nvSpPr>
            <p:cNvPr id="23" name="Oval 22"/>
            <p:cNvSpPr/>
            <p:nvPr/>
          </p:nvSpPr>
          <p:spPr>
            <a:xfrm>
              <a:off x="7176305" y="4200015"/>
              <a:ext cx="150883" cy="65589"/>
            </a:xfrm>
            <a:prstGeom prst="ellipse">
              <a:avLst/>
            </a:prstGeom>
            <a:solidFill>
              <a:srgbClr val="5E636A"/>
            </a:solidFill>
            <a:ln>
              <a:noFill/>
            </a:ln>
          </p:spPr>
          <p:txBody>
            <a:bodyPr rtlCol="0" anchor="ctr"/>
            <a:lstStyle/>
            <a:p>
              <a:pPr algn="ctr"/>
            </a:p>
          </p:txBody>
        </p:sp>
        <p:sp>
          <p:nvSpPr>
            <p:cNvPr id="24" name="Oval 23"/>
            <p:cNvSpPr/>
            <p:nvPr/>
          </p:nvSpPr>
          <p:spPr>
            <a:xfrm>
              <a:off x="8419186" y="4106904"/>
              <a:ext cx="111954" cy="83562"/>
            </a:xfrm>
            <a:prstGeom prst="ellipse">
              <a:avLst/>
            </a:prstGeom>
            <a:solidFill>
              <a:srgbClr val="5E636A"/>
            </a:solidFill>
            <a:ln>
              <a:noFill/>
            </a:ln>
          </p:spPr>
          <p:txBody>
            <a:bodyPr rtlCol="0" anchor="ctr"/>
            <a:lstStyle/>
            <a:p>
              <a:pPr algn="ctr"/>
            </a:p>
          </p:txBody>
        </p:sp>
        <p:sp>
          <p:nvSpPr>
            <p:cNvPr id="25" name="Oval 24"/>
            <p:cNvSpPr/>
            <p:nvPr/>
          </p:nvSpPr>
          <p:spPr>
            <a:xfrm>
              <a:off x="7275742" y="4423941"/>
              <a:ext cx="164393" cy="71161"/>
            </a:xfrm>
            <a:prstGeom prst="ellipse">
              <a:avLst/>
            </a:prstGeom>
            <a:solidFill>
              <a:srgbClr val="5E636A"/>
            </a:solidFill>
            <a:ln>
              <a:noFill/>
            </a:ln>
          </p:spPr>
          <p:txBody>
            <a:bodyPr rtlCol="0" anchor="ctr"/>
            <a:lstStyle/>
            <a:p>
              <a:pPr algn="ctr"/>
            </a:p>
          </p:txBody>
        </p:sp>
        <p:sp>
          <p:nvSpPr>
            <p:cNvPr id="26" name="Oval 25"/>
            <p:cNvSpPr/>
            <p:nvPr/>
          </p:nvSpPr>
          <p:spPr>
            <a:xfrm>
              <a:off x="6729380" y="4379710"/>
              <a:ext cx="137721" cy="74114"/>
            </a:xfrm>
            <a:prstGeom prst="ellipse">
              <a:avLst/>
            </a:prstGeom>
            <a:solidFill>
              <a:srgbClr val="5E636A"/>
            </a:solidFill>
            <a:ln>
              <a:noFill/>
            </a:ln>
          </p:spPr>
          <p:txBody>
            <a:bodyPr rtlCol="0" anchor="ctr"/>
            <a:lstStyle/>
            <a:p>
              <a:pPr algn="ctr"/>
            </a:p>
          </p:txBody>
        </p:sp>
        <p:sp>
          <p:nvSpPr>
            <p:cNvPr id="27" name="Oval 26"/>
            <p:cNvSpPr/>
            <p:nvPr/>
          </p:nvSpPr>
          <p:spPr>
            <a:xfrm>
              <a:off x="8931260" y="4332879"/>
              <a:ext cx="114898" cy="84437"/>
            </a:xfrm>
            <a:prstGeom prst="ellipse">
              <a:avLst/>
            </a:prstGeom>
            <a:solidFill>
              <a:srgbClr val="5E636A"/>
            </a:solidFill>
            <a:ln>
              <a:noFill/>
            </a:ln>
          </p:spPr>
          <p:txBody>
            <a:bodyPr rtlCol="0" anchor="ctr"/>
            <a:lstStyle/>
            <a:p>
              <a:pPr algn="ctr"/>
            </a:p>
          </p:txBody>
        </p:sp>
        <p:sp>
          <p:nvSpPr>
            <p:cNvPr id="28" name="Oval 27"/>
            <p:cNvSpPr/>
            <p:nvPr/>
          </p:nvSpPr>
          <p:spPr>
            <a:xfrm>
              <a:off x="6182392" y="4740135"/>
              <a:ext cx="95947" cy="72379"/>
            </a:xfrm>
            <a:prstGeom prst="ellipse">
              <a:avLst/>
            </a:prstGeom>
            <a:solidFill>
              <a:srgbClr val="5E636A"/>
            </a:solidFill>
            <a:ln>
              <a:noFill/>
            </a:ln>
          </p:spPr>
          <p:txBody>
            <a:bodyPr rtlCol="0" anchor="ctr"/>
            <a:lstStyle/>
            <a:p>
              <a:pPr algn="ctr"/>
            </a:p>
          </p:txBody>
        </p:sp>
        <p:sp>
          <p:nvSpPr>
            <p:cNvPr id="29" name="Oval 28"/>
            <p:cNvSpPr/>
            <p:nvPr/>
          </p:nvSpPr>
          <p:spPr>
            <a:xfrm>
              <a:off x="8446002" y="4636473"/>
              <a:ext cx="108808" cy="76117"/>
            </a:xfrm>
            <a:prstGeom prst="ellipse">
              <a:avLst/>
            </a:prstGeom>
            <a:solidFill>
              <a:srgbClr val="5E636A"/>
            </a:solidFill>
            <a:ln>
              <a:noFill/>
            </a:ln>
          </p:spPr>
          <p:txBody>
            <a:bodyPr rtlCol="0" anchor="ctr"/>
            <a:lstStyle/>
            <a:p>
              <a:pPr algn="ctr"/>
            </a:p>
          </p:txBody>
        </p:sp>
        <p:sp>
          <p:nvSpPr>
            <p:cNvPr id="30" name="Oval 29"/>
            <p:cNvSpPr/>
            <p:nvPr/>
          </p:nvSpPr>
          <p:spPr>
            <a:xfrm>
              <a:off x="7795630" y="4199918"/>
              <a:ext cx="94572" cy="89512"/>
            </a:xfrm>
            <a:prstGeom prst="ellipse">
              <a:avLst/>
            </a:prstGeom>
            <a:solidFill>
              <a:srgbClr val="5E636A"/>
            </a:solidFill>
            <a:ln>
              <a:noFill/>
            </a:ln>
          </p:spPr>
          <p:txBody>
            <a:bodyPr rtlCol="0" anchor="ctr"/>
            <a:lstStyle/>
            <a:p>
              <a:pPr algn="ctr"/>
            </a:p>
          </p:txBody>
        </p:sp>
        <p:sp>
          <p:nvSpPr>
            <p:cNvPr id="31" name="Oval 30"/>
            <p:cNvSpPr/>
            <p:nvPr/>
          </p:nvSpPr>
          <p:spPr>
            <a:xfrm>
              <a:off x="9943234" y="4720631"/>
              <a:ext cx="145198" cy="99116"/>
            </a:xfrm>
            <a:prstGeom prst="ellipse">
              <a:avLst/>
            </a:prstGeom>
            <a:solidFill>
              <a:srgbClr val="5E636A"/>
            </a:solidFill>
            <a:ln>
              <a:noFill/>
            </a:ln>
          </p:spPr>
          <p:txBody>
            <a:bodyPr rtlCol="0" anchor="ctr"/>
            <a:lstStyle/>
            <a:p>
              <a:pPr algn="ctr"/>
            </a:p>
          </p:txBody>
        </p:sp>
        <p:sp>
          <p:nvSpPr>
            <p:cNvPr id="32" name="Oval 31"/>
            <p:cNvSpPr/>
            <p:nvPr/>
          </p:nvSpPr>
          <p:spPr>
            <a:xfrm>
              <a:off x="7132840" y="4081923"/>
              <a:ext cx="162105" cy="92363"/>
            </a:xfrm>
            <a:prstGeom prst="ellipse">
              <a:avLst/>
            </a:prstGeom>
            <a:solidFill>
              <a:srgbClr val="5E636A"/>
            </a:solidFill>
            <a:ln>
              <a:noFill/>
            </a:ln>
          </p:spPr>
          <p:txBody>
            <a:bodyPr rtlCol="0" anchor="ctr"/>
            <a:lstStyle/>
            <a:p>
              <a:pPr algn="ctr"/>
            </a:p>
          </p:txBody>
        </p:sp>
        <p:sp>
          <p:nvSpPr>
            <p:cNvPr id="33" name="Oval 32"/>
            <p:cNvSpPr/>
            <p:nvPr/>
          </p:nvSpPr>
          <p:spPr>
            <a:xfrm>
              <a:off x="9725022" y="4368074"/>
              <a:ext cx="136832" cy="93925"/>
            </a:xfrm>
            <a:prstGeom prst="ellipse">
              <a:avLst/>
            </a:prstGeom>
            <a:solidFill>
              <a:srgbClr val="5E636A"/>
            </a:solidFill>
            <a:ln>
              <a:noFill/>
            </a:ln>
          </p:spPr>
          <p:txBody>
            <a:bodyPr rtlCol="0" anchor="ctr"/>
            <a:lstStyle/>
            <a:p>
              <a:pPr algn="ctr"/>
            </a:p>
          </p:txBody>
        </p:sp>
        <p:sp>
          <p:nvSpPr>
            <p:cNvPr id="34" name="Oval 33"/>
            <p:cNvSpPr/>
            <p:nvPr/>
          </p:nvSpPr>
          <p:spPr>
            <a:xfrm>
              <a:off x="6720145" y="4294936"/>
              <a:ext cx="123930" cy="68998"/>
            </a:xfrm>
            <a:prstGeom prst="ellipse">
              <a:avLst/>
            </a:prstGeom>
            <a:solidFill>
              <a:srgbClr val="5E636A"/>
            </a:solidFill>
            <a:ln>
              <a:noFill/>
            </a:ln>
          </p:spPr>
          <p:txBody>
            <a:bodyPr rtlCol="0" anchor="ctr"/>
            <a:lstStyle/>
            <a:p>
              <a:pPr algn="ctr"/>
            </a:p>
          </p:txBody>
        </p:sp>
        <p:sp>
          <p:nvSpPr>
            <p:cNvPr id="35" name="Oval 34"/>
            <p:cNvSpPr/>
            <p:nvPr/>
          </p:nvSpPr>
          <p:spPr>
            <a:xfrm>
              <a:off x="9799811" y="4361798"/>
              <a:ext cx="115676" cy="64352"/>
            </a:xfrm>
            <a:prstGeom prst="ellipse">
              <a:avLst/>
            </a:prstGeom>
            <a:solidFill>
              <a:srgbClr val="5E636A"/>
            </a:solidFill>
            <a:ln>
              <a:noFill/>
            </a:ln>
          </p:spPr>
          <p:txBody>
            <a:bodyPr rtlCol="0" anchor="ctr"/>
            <a:lstStyle/>
            <a:p>
              <a:pPr algn="ctr"/>
            </a:p>
          </p:txBody>
        </p:sp>
        <p:sp>
          <p:nvSpPr>
            <p:cNvPr id="36" name="Oval 35"/>
            <p:cNvSpPr/>
            <p:nvPr/>
          </p:nvSpPr>
          <p:spPr>
            <a:xfrm>
              <a:off x="6686982" y="4108933"/>
              <a:ext cx="148773" cy="77275"/>
            </a:xfrm>
            <a:prstGeom prst="ellipse">
              <a:avLst/>
            </a:prstGeom>
            <a:solidFill>
              <a:srgbClr val="5E636A"/>
            </a:solidFill>
            <a:ln>
              <a:noFill/>
            </a:ln>
          </p:spPr>
          <p:txBody>
            <a:bodyPr rtlCol="0" anchor="ctr"/>
            <a:lstStyle/>
            <a:p>
              <a:pPr algn="ctr"/>
            </a:p>
          </p:txBody>
        </p:sp>
        <p:sp>
          <p:nvSpPr>
            <p:cNvPr id="37" name="Oval 36"/>
            <p:cNvSpPr/>
            <p:nvPr/>
          </p:nvSpPr>
          <p:spPr>
            <a:xfrm>
              <a:off x="6328940" y="4287428"/>
              <a:ext cx="163257" cy="79514"/>
            </a:xfrm>
            <a:prstGeom prst="ellipse">
              <a:avLst/>
            </a:prstGeom>
            <a:solidFill>
              <a:srgbClr val="5E636A"/>
            </a:solidFill>
            <a:ln>
              <a:noFill/>
            </a:ln>
          </p:spPr>
          <p:txBody>
            <a:bodyPr rtlCol="0" anchor="ctr"/>
            <a:lstStyle/>
            <a:p>
              <a:pPr algn="ctr"/>
            </a:p>
          </p:txBody>
        </p:sp>
        <p:sp>
          <p:nvSpPr>
            <p:cNvPr id="38" name="Rectangle 37"/>
            <p:cNvSpPr/>
            <p:nvPr/>
          </p:nvSpPr>
          <p:spPr>
            <a:xfrm>
              <a:off x="6172200" y="3675888"/>
              <a:ext cx="3657600" cy="329184"/>
            </a:xfrm>
            <a:prstGeom prst="rect">
              <a:avLst/>
            </a:prstGeom>
            <a:solidFill>
              <a:srgbClr val="6B5B4B"/>
            </a:solidFill>
            <a:ln w="12700">
              <a:solidFill>
                <a:srgbClr val="4E4236"/>
              </a:solidFill>
            </a:ln>
          </p:spPr>
          <p:txBody>
            <a:bodyPr rtlCol="0" anchor="ctr"/>
            <a:lstStyle/>
            <a:p>
              <a:pPr algn="ctr"/>
            </a:p>
          </p:txBody>
        </p:sp>
        <p:sp>
          <p:nvSpPr>
            <p:cNvPr id="39" name="Freeform 38"/>
            <p:cNvSpPr/>
            <p:nvPr/>
          </p:nvSpPr>
          <p:spPr>
            <a:xfrm>
              <a:off x="670255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sp>
          <p:nvSpPr>
            <p:cNvPr id="40" name="Freeform 39"/>
            <p:cNvSpPr/>
            <p:nvPr/>
          </p:nvSpPr>
          <p:spPr>
            <a:xfrm>
              <a:off x="880567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cxnSp>
          <p:nvCxnSpPr>
            <p:cNvPr id="41" name="Connector 40"/>
            <p:cNvCxnSpPr/>
            <p:nvPr/>
          </p:nvCxnSpPr>
          <p:spPr>
            <a:xfrm>
              <a:off x="7132320" y="3017520"/>
              <a:ext cx="1737360" cy="0"/>
            </a:xfrm>
            <a:prstGeom prst="line">
              <a:avLst/>
            </a:prstGeom>
            <a:ln w="28575">
              <a:solidFill>
                <a:srgbClr val="F28C28"/>
              </a:solidFill>
              <a:headEnd type="triangle" w="med" len="med"/>
              <a:tailEnd type="triangle" w="med" len="med"/>
            </a:ln>
          </p:spPr>
        </p:cxnSp>
      </p:grpSp>
      <p:sp>
        <p:nvSpPr>
          <p:cNvPr id="42" name="TextBox 41"/>
          <p:cNvSpPr txBox="1"/>
          <p:nvPr/>
        </p:nvSpPr>
        <p:spPr>
          <a:xfrm>
            <a:off x="5623560" y="2331720"/>
            <a:ext cx="4754880" cy="548640"/>
          </a:xfrm>
          <a:prstGeom prst="rect">
            <a:avLst/>
          </a:prstGeom>
          <a:noFill/>
        </p:spPr>
        <p:txBody>
          <a:bodyPr wrap="square" lIns="0" tIns="0" rIns="0" bIns="0" anchor="b">
            <a:noAutofit/>
          </a:bodyPr>
          <a:lstStyle/>
          <a:p>
            <a:pPr algn="ctr"/>
            <a:r>
              <a:rPr sz="1800" b="1" i="0" lang="en-GB">
                <a:solidFill>
                  <a:srgbClr val="F2F2F2"/>
                </a:solidFill>
                <a:latin typeface="Arial"/>
              </a:rPr>
              <a:t>Gauge:</a:t>
            </a:r>
            <a:r>
              <a:rPr sz="1800" b="0" i="0" lang="en-GB">
                <a:solidFill>
                  <a:srgbClr val="F2F2F2"/>
                </a:solidFill>
                <a:latin typeface="Arial"/>
              </a:rPr>
              <a:t> 1,435 mm on most railways</a:t>
            </a:r>
          </a:p>
        </p:txBody>
      </p:sp>
      <p:grpSp>
        <p:nvGrpSpPr>
          <p:cNvPr id="43" name="Label Rail" descr="Label: Rail"/>
          <p:cNvGrpSpPr/>
          <p:nvPr/>
        </p:nvGrpSpPr>
        <p:grpSpPr>
          <a:xfrm>
            <a:off x="9326880" y="3108960"/>
            <a:ext cx="2350008" cy="365760"/>
            <a:chOff x="9326880" y="3108960"/>
            <a:chExt cx="2350008" cy="365760"/>
          </a:xfrm>
        </p:grpSpPr>
        <p:cxnSp>
          <p:nvCxnSpPr>
            <p:cNvPr id="44" name="Connector 43"/>
            <p:cNvCxnSpPr/>
            <p:nvPr/>
          </p:nvCxnSpPr>
          <p:spPr>
            <a:xfrm>
              <a:off x="9326880" y="3291840"/>
              <a:ext cx="1417320" cy="0"/>
            </a:xfrm>
            <a:prstGeom prst="line">
              <a:avLst/>
            </a:prstGeom>
            <a:ln w="19050">
              <a:solidFill>
                <a:srgbClr val="F28C28"/>
              </a:solidFill>
            </a:ln>
          </p:spPr>
        </p:cxnSp>
        <p:sp>
          <p:nvSpPr>
            <p:cNvPr id="45" name="TextBox 44"/>
            <p:cNvSpPr txBox="1"/>
            <p:nvPr/>
          </p:nvSpPr>
          <p:spPr>
            <a:xfrm>
              <a:off x="10808208" y="310896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Rail</a:t>
              </a:r>
            </a:p>
          </p:txBody>
        </p:sp>
      </p:grpSp>
      <p:grpSp>
        <p:nvGrpSpPr>
          <p:cNvPr id="46" name="Label Sleeper" descr="Label: Sleeper"/>
          <p:cNvGrpSpPr/>
          <p:nvPr/>
        </p:nvGrpSpPr>
        <p:grpSpPr>
          <a:xfrm>
            <a:off x="9875520" y="3657600"/>
            <a:ext cx="1801368" cy="365760"/>
            <a:chOff x="9875520" y="3657600"/>
            <a:chExt cx="1801368" cy="365760"/>
          </a:xfrm>
        </p:grpSpPr>
        <p:cxnSp>
          <p:nvCxnSpPr>
            <p:cNvPr id="47" name="Connector 46"/>
            <p:cNvCxnSpPr/>
            <p:nvPr/>
          </p:nvCxnSpPr>
          <p:spPr>
            <a:xfrm>
              <a:off x="9875520" y="3840480"/>
              <a:ext cx="868680" cy="0"/>
            </a:xfrm>
            <a:prstGeom prst="line">
              <a:avLst/>
            </a:prstGeom>
            <a:ln w="19050">
              <a:solidFill>
                <a:srgbClr val="F28C28"/>
              </a:solidFill>
            </a:ln>
          </p:spPr>
        </p:cxnSp>
        <p:sp>
          <p:nvSpPr>
            <p:cNvPr id="48" name="TextBox 47"/>
            <p:cNvSpPr txBox="1"/>
            <p:nvPr/>
          </p:nvSpPr>
          <p:spPr>
            <a:xfrm>
              <a:off x="10808208" y="36576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Sleeper</a:t>
              </a:r>
            </a:p>
          </p:txBody>
        </p:sp>
      </p:grpSp>
      <p:grpSp>
        <p:nvGrpSpPr>
          <p:cNvPr id="49" name="Label Ballast" descr="Label: Ballast"/>
          <p:cNvGrpSpPr/>
          <p:nvPr/>
        </p:nvGrpSpPr>
        <p:grpSpPr>
          <a:xfrm>
            <a:off x="10287000" y="4343400"/>
            <a:ext cx="1389888" cy="365760"/>
            <a:chOff x="10287000" y="4343400"/>
            <a:chExt cx="1389888" cy="365760"/>
          </a:xfrm>
        </p:grpSpPr>
        <p:cxnSp>
          <p:nvCxnSpPr>
            <p:cNvPr id="50" name="Connector 49"/>
            <p:cNvCxnSpPr/>
            <p:nvPr/>
          </p:nvCxnSpPr>
          <p:spPr>
            <a:xfrm>
              <a:off x="10287000" y="4526280"/>
              <a:ext cx="457200" cy="0"/>
            </a:xfrm>
            <a:prstGeom prst="line">
              <a:avLst/>
            </a:prstGeom>
            <a:ln w="19050">
              <a:solidFill>
                <a:srgbClr val="F28C28"/>
              </a:solidFill>
            </a:ln>
          </p:spPr>
        </p:cxnSp>
        <p:sp>
          <p:nvSpPr>
            <p:cNvPr id="51" name="TextBox 50"/>
            <p:cNvSpPr txBox="1"/>
            <p:nvPr/>
          </p:nvSpPr>
          <p:spPr>
            <a:xfrm>
              <a:off x="10808208" y="43434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Ballast</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Two steel rails sit on sleepers over stone ballast. The sleepers keep the rails the right distance apart.</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a steam engine works</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Steam engine cutaway" descr="Side cutaway of a steam engine: a fire in the firebox heats water in the long boiler; steam drives a piston in the cylinder; rods turn the wheels; used steam leaves through the chimney."/>
          <p:cNvGrpSpPr/>
          <p:nvPr/>
        </p:nvGrpSpPr>
        <p:grpSpPr>
          <a:xfrm>
            <a:off x="548640" y="1217981"/>
            <a:ext cx="7406640" cy="3838651"/>
            <a:chOff x="548640" y="1217981"/>
            <a:chExt cx="7406640" cy="3838651"/>
          </a:xfrm>
        </p:grpSpPr>
        <p:sp>
          <p:nvSpPr>
            <p:cNvPr id="9" name="Rectangle 8"/>
            <p:cNvSpPr/>
            <p:nvPr/>
          </p:nvSpPr>
          <p:spPr>
            <a:xfrm>
              <a:off x="548640" y="4983480"/>
              <a:ext cx="7406640" cy="73152"/>
            </a:xfrm>
            <a:prstGeom prst="rect">
              <a:avLst/>
            </a:prstGeom>
            <a:solidFill>
              <a:srgbClr val="9AA0A6"/>
            </a:solidFill>
            <a:ln>
              <a:noFill/>
            </a:ln>
          </p:spPr>
          <p:txBody>
            <a:bodyPr rtlCol="0" anchor="ctr"/>
            <a:lstStyle/>
            <a:p>
              <a:pPr algn="ctr"/>
            </a:p>
          </p:txBody>
        </p:sp>
        <p:sp>
          <p:nvSpPr>
            <p:cNvPr id="10" name="Rectangle 9"/>
            <p:cNvSpPr/>
            <p:nvPr/>
          </p:nvSpPr>
          <p:spPr>
            <a:xfrm>
              <a:off x="685800" y="2011680"/>
              <a:ext cx="1417320" cy="2103120"/>
            </a:xfrm>
            <a:prstGeom prst="rect">
              <a:avLst/>
            </a:prstGeom>
            <a:solidFill>
              <a:srgbClr val="343A43"/>
            </a:solidFill>
            <a:ln w="19050">
              <a:solidFill>
                <a:srgbClr val="9AA0A6"/>
              </a:solidFill>
            </a:ln>
          </p:spPr>
          <p:txBody>
            <a:bodyPr rtlCol="0" anchor="ctr"/>
            <a:lstStyle/>
            <a:p>
              <a:pPr algn="ctr"/>
            </a:p>
          </p:txBody>
        </p:sp>
        <p:sp>
          <p:nvSpPr>
            <p:cNvPr id="11" name="Rectangle 10"/>
            <p:cNvSpPr/>
            <p:nvPr/>
          </p:nvSpPr>
          <p:spPr>
            <a:xfrm>
              <a:off x="594360" y="1920240"/>
              <a:ext cx="1600200" cy="128016"/>
            </a:xfrm>
            <a:prstGeom prst="rect">
              <a:avLst/>
            </a:prstGeom>
            <a:solidFill>
              <a:srgbClr val="9AA0A6"/>
            </a:solidFill>
            <a:ln>
              <a:noFill/>
            </a:ln>
          </p:spPr>
          <p:txBody>
            <a:bodyPr rtlCol="0" anchor="ctr"/>
            <a:lstStyle/>
            <a:p>
              <a:pPr algn="ctr"/>
            </a:p>
          </p:txBody>
        </p:sp>
        <p:sp>
          <p:nvSpPr>
            <p:cNvPr id="12" name="Rectangle 11"/>
            <p:cNvSpPr/>
            <p:nvPr/>
          </p:nvSpPr>
          <p:spPr>
            <a:xfrm>
              <a:off x="868680" y="2240280"/>
              <a:ext cx="548640" cy="457200"/>
            </a:xfrm>
            <a:prstGeom prst="rect">
              <a:avLst/>
            </a:prstGeom>
            <a:solidFill>
              <a:srgbClr val="2B2F36"/>
            </a:solidFill>
            <a:ln w="12700">
              <a:solidFill>
                <a:srgbClr val="9AA0A6"/>
              </a:solidFill>
            </a:ln>
          </p:spPr>
          <p:txBody>
            <a:bodyPr rtlCol="0" anchor="ctr"/>
            <a:lstStyle/>
            <a:p>
              <a:pPr algn="ctr"/>
            </a:p>
          </p:txBody>
        </p:sp>
        <p:sp>
          <p:nvSpPr>
            <p:cNvPr id="13" name="Rounded Rectangle 12"/>
            <p:cNvSpPr/>
            <p:nvPr/>
          </p:nvSpPr>
          <p:spPr>
            <a:xfrm>
              <a:off x="1143000" y="3017520"/>
              <a:ext cx="960120" cy="1051560"/>
            </a:xfrm>
            <a:prstGeom prst="roundRect">
              <a:avLst>
                <a:gd name="adj" fmla="val 7619"/>
              </a:avLst>
            </a:prstGeom>
            <a:solidFill>
              <a:srgbClr val="5A2E12"/>
            </a:solidFill>
            <a:ln w="25400">
              <a:solidFill>
                <a:srgbClr val="F28C28"/>
              </a:solidFill>
            </a:ln>
          </p:spPr>
          <p:txBody>
            <a:bodyPr rtlCol="0" anchor="ctr"/>
            <a:lstStyle/>
            <a:p>
              <a:pPr algn="ctr"/>
            </a:p>
          </p:txBody>
        </p:sp>
        <p:sp>
          <p:nvSpPr>
            <p:cNvPr id="14" name="Freeform 13"/>
            <p:cNvSpPr/>
            <p:nvPr/>
          </p:nvSpPr>
          <p:spPr>
            <a:xfrm>
              <a:off x="1197864" y="3520440"/>
              <a:ext cx="256032" cy="502920"/>
            </a:xfrm>
            <a:custGeom>
              <a:avLst/>
              <a:gdLst/>
              <a:ahLst/>
              <a:cxnLst/>
              <a:rect l="l" t="t" r="r" b="b"/>
              <a:pathLst>
                <a:path w="256032" h="502920">
                  <a:moveTo>
                    <a:pt x="0" y="502920"/>
                  </a:moveTo>
                  <a:lnTo>
                    <a:pt x="256032" y="502920"/>
                  </a:lnTo>
                  <a:lnTo>
                    <a:pt x="128016" y="0"/>
                  </a:lnTo>
                  <a:close/>
                </a:path>
              </a:pathLst>
            </a:custGeom>
            <a:solidFill>
              <a:srgbClr val="F28C28"/>
            </a:solidFill>
            <a:ln>
              <a:noFill/>
            </a:ln>
          </p:spPr>
          <p:txBody>
            <a:bodyPr rtlCol="0" anchor="ctr"/>
            <a:lstStyle/>
            <a:p>
              <a:pPr algn="ctr"/>
            </a:p>
          </p:txBody>
        </p:sp>
        <p:sp>
          <p:nvSpPr>
            <p:cNvPr id="15" name="Freeform 14"/>
            <p:cNvSpPr/>
            <p:nvPr/>
          </p:nvSpPr>
          <p:spPr>
            <a:xfrm>
              <a:off x="1261872" y="3746754"/>
              <a:ext cx="128016" cy="276606"/>
            </a:xfrm>
            <a:custGeom>
              <a:avLst/>
              <a:gdLst/>
              <a:ahLst/>
              <a:cxnLst/>
              <a:rect l="l" t="t" r="r" b="b"/>
              <a:pathLst>
                <a:path w="128016" h="276606">
                  <a:moveTo>
                    <a:pt x="0" y="276606"/>
                  </a:moveTo>
                  <a:lnTo>
                    <a:pt x="128016" y="276606"/>
                  </a:lnTo>
                  <a:lnTo>
                    <a:pt x="64008" y="0"/>
                  </a:lnTo>
                  <a:close/>
                </a:path>
              </a:pathLst>
            </a:custGeom>
            <a:solidFill>
              <a:srgbClr val="F2C14E"/>
            </a:solidFill>
            <a:ln>
              <a:noFill/>
            </a:ln>
          </p:spPr>
          <p:txBody>
            <a:bodyPr rtlCol="0" anchor="ctr"/>
            <a:lstStyle/>
            <a:p>
              <a:pPr algn="ctr"/>
            </a:p>
          </p:txBody>
        </p:sp>
        <p:sp>
          <p:nvSpPr>
            <p:cNvPr id="16" name="Freeform 15"/>
            <p:cNvSpPr/>
            <p:nvPr/>
          </p:nvSpPr>
          <p:spPr>
            <a:xfrm>
              <a:off x="1444752" y="3337560"/>
              <a:ext cx="256032" cy="685800"/>
            </a:xfrm>
            <a:custGeom>
              <a:avLst/>
              <a:gdLst/>
              <a:ahLst/>
              <a:cxnLst/>
              <a:rect l="l" t="t" r="r" b="b"/>
              <a:pathLst>
                <a:path w="256032" h="685800">
                  <a:moveTo>
                    <a:pt x="0" y="685800"/>
                  </a:moveTo>
                  <a:lnTo>
                    <a:pt x="256032" y="685800"/>
                  </a:lnTo>
                  <a:lnTo>
                    <a:pt x="128016" y="0"/>
                  </a:lnTo>
                  <a:close/>
                </a:path>
              </a:pathLst>
            </a:custGeom>
            <a:solidFill>
              <a:srgbClr val="F28C28"/>
            </a:solidFill>
            <a:ln>
              <a:noFill/>
            </a:ln>
          </p:spPr>
          <p:txBody>
            <a:bodyPr rtlCol="0" anchor="ctr"/>
            <a:lstStyle/>
            <a:p>
              <a:pPr algn="ctr"/>
            </a:p>
          </p:txBody>
        </p:sp>
        <p:sp>
          <p:nvSpPr>
            <p:cNvPr id="17" name="Freeform 16"/>
            <p:cNvSpPr/>
            <p:nvPr/>
          </p:nvSpPr>
          <p:spPr>
            <a:xfrm>
              <a:off x="1508760" y="3646170"/>
              <a:ext cx="128016" cy="377190"/>
            </a:xfrm>
            <a:custGeom>
              <a:avLst/>
              <a:gdLst/>
              <a:ahLst/>
              <a:cxnLst/>
              <a:rect l="l" t="t" r="r" b="b"/>
              <a:pathLst>
                <a:path w="128016" h="377190">
                  <a:moveTo>
                    <a:pt x="0" y="377190"/>
                  </a:moveTo>
                  <a:lnTo>
                    <a:pt x="128016" y="377190"/>
                  </a:lnTo>
                  <a:lnTo>
                    <a:pt x="64008" y="0"/>
                  </a:lnTo>
                  <a:close/>
                </a:path>
              </a:pathLst>
            </a:custGeom>
            <a:solidFill>
              <a:srgbClr val="F2C14E"/>
            </a:solidFill>
            <a:ln>
              <a:noFill/>
            </a:ln>
          </p:spPr>
          <p:txBody>
            <a:bodyPr rtlCol="0" anchor="ctr"/>
            <a:lstStyle/>
            <a:p>
              <a:pPr algn="ctr"/>
            </a:p>
          </p:txBody>
        </p:sp>
        <p:sp>
          <p:nvSpPr>
            <p:cNvPr id="18" name="Freeform 17"/>
            <p:cNvSpPr/>
            <p:nvPr/>
          </p:nvSpPr>
          <p:spPr>
            <a:xfrm>
              <a:off x="1700784" y="3566160"/>
              <a:ext cx="256032" cy="457200"/>
            </a:xfrm>
            <a:custGeom>
              <a:avLst/>
              <a:gdLst/>
              <a:ahLst/>
              <a:cxnLst/>
              <a:rect l="l" t="t" r="r" b="b"/>
              <a:pathLst>
                <a:path w="256032" h="457200">
                  <a:moveTo>
                    <a:pt x="0" y="457200"/>
                  </a:moveTo>
                  <a:lnTo>
                    <a:pt x="256032" y="457200"/>
                  </a:lnTo>
                  <a:lnTo>
                    <a:pt x="128016" y="0"/>
                  </a:lnTo>
                  <a:close/>
                </a:path>
              </a:pathLst>
            </a:custGeom>
            <a:solidFill>
              <a:srgbClr val="F28C28"/>
            </a:solidFill>
            <a:ln>
              <a:noFill/>
            </a:ln>
          </p:spPr>
          <p:txBody>
            <a:bodyPr rtlCol="0" anchor="ctr"/>
            <a:lstStyle/>
            <a:p>
              <a:pPr algn="ctr"/>
            </a:p>
          </p:txBody>
        </p:sp>
        <p:sp>
          <p:nvSpPr>
            <p:cNvPr id="19" name="Freeform 18"/>
            <p:cNvSpPr/>
            <p:nvPr/>
          </p:nvSpPr>
          <p:spPr>
            <a:xfrm>
              <a:off x="1764792" y="3771900"/>
              <a:ext cx="128016" cy="251460"/>
            </a:xfrm>
            <a:custGeom>
              <a:avLst/>
              <a:gdLst/>
              <a:ahLst/>
              <a:cxnLst/>
              <a:rect l="l" t="t" r="r" b="b"/>
              <a:pathLst>
                <a:path w="128016" h="251460">
                  <a:moveTo>
                    <a:pt x="0" y="251460"/>
                  </a:moveTo>
                  <a:lnTo>
                    <a:pt x="128016" y="251460"/>
                  </a:lnTo>
                  <a:lnTo>
                    <a:pt x="64008" y="0"/>
                  </a:lnTo>
                  <a:close/>
                </a:path>
              </a:pathLst>
            </a:custGeom>
            <a:solidFill>
              <a:srgbClr val="F2C14E"/>
            </a:solidFill>
            <a:ln>
              <a:noFill/>
            </a:ln>
          </p:spPr>
          <p:txBody>
            <a:bodyPr rtlCol="0" anchor="ctr"/>
            <a:lstStyle/>
            <a:p>
              <a:pPr algn="ctr"/>
            </a:p>
          </p:txBody>
        </p:sp>
        <p:sp>
          <p:nvSpPr>
            <p:cNvPr id="20" name="Rounded Rectangle 19"/>
            <p:cNvSpPr/>
            <p:nvPr/>
          </p:nvSpPr>
          <p:spPr>
            <a:xfrm>
              <a:off x="2103120" y="2514600"/>
              <a:ext cx="4846320" cy="1463040"/>
            </a:xfrm>
            <a:prstGeom prst="roundRect">
              <a:avLst>
                <a:gd name="adj" fmla="val 18749"/>
              </a:avLst>
            </a:prstGeom>
            <a:solidFill>
              <a:srgbClr val="2B2F36"/>
            </a:solidFill>
            <a:ln w="25400">
              <a:solidFill>
                <a:srgbClr val="9AA0A6"/>
              </a:solidFill>
            </a:ln>
          </p:spPr>
          <p:txBody>
            <a:bodyPr rtlCol="0" anchor="ctr"/>
            <a:lstStyle/>
            <a:p>
              <a:pPr algn="ctr"/>
            </a:p>
          </p:txBody>
        </p:sp>
        <p:sp>
          <p:nvSpPr>
            <p:cNvPr id="21" name="Rounded Rectangle 20"/>
            <p:cNvSpPr/>
            <p:nvPr/>
          </p:nvSpPr>
          <p:spPr>
            <a:xfrm>
              <a:off x="2212848" y="3246120"/>
              <a:ext cx="4626864" cy="621792"/>
            </a:xfrm>
            <a:prstGeom prst="roundRect">
              <a:avLst>
                <a:gd name="adj" fmla="val 17647"/>
              </a:avLst>
            </a:prstGeom>
            <a:solidFill>
              <a:srgbClr val="4DA3FF"/>
            </a:solidFill>
            <a:ln>
              <a:noFill/>
            </a:ln>
          </p:spPr>
          <p:txBody>
            <a:bodyPr rtlCol="0" anchor="ctr"/>
            <a:lstStyle/>
            <a:p>
              <a:pPr algn="ctr"/>
            </a:p>
          </p:txBody>
        </p:sp>
        <p:sp>
          <p:nvSpPr>
            <p:cNvPr id="22" name="Oval 21"/>
            <p:cNvSpPr/>
            <p:nvPr/>
          </p:nvSpPr>
          <p:spPr>
            <a:xfrm>
              <a:off x="2606040" y="2807208"/>
              <a:ext cx="457200" cy="237744"/>
            </a:xfrm>
            <a:prstGeom prst="ellipse">
              <a:avLst/>
            </a:prstGeom>
            <a:solidFill>
              <a:srgbClr val="D4D5D6"/>
            </a:solidFill>
            <a:ln>
              <a:noFill/>
            </a:ln>
          </p:spPr>
          <p:txBody>
            <a:bodyPr rtlCol="0" anchor="ctr"/>
            <a:lstStyle/>
            <a:p>
              <a:pPr algn="ctr"/>
            </a:p>
          </p:txBody>
        </p:sp>
        <p:sp>
          <p:nvSpPr>
            <p:cNvPr id="23" name="Oval 22"/>
            <p:cNvSpPr/>
            <p:nvPr/>
          </p:nvSpPr>
          <p:spPr>
            <a:xfrm>
              <a:off x="3429000" y="2734056"/>
              <a:ext cx="457200" cy="237744"/>
            </a:xfrm>
            <a:prstGeom prst="ellipse">
              <a:avLst/>
            </a:prstGeom>
            <a:solidFill>
              <a:srgbClr val="D4D5D6"/>
            </a:solidFill>
            <a:ln>
              <a:noFill/>
            </a:ln>
          </p:spPr>
          <p:txBody>
            <a:bodyPr rtlCol="0" anchor="ctr"/>
            <a:lstStyle/>
            <a:p>
              <a:pPr algn="ctr"/>
            </a:p>
          </p:txBody>
        </p:sp>
        <p:sp>
          <p:nvSpPr>
            <p:cNvPr id="24" name="Oval 23"/>
            <p:cNvSpPr/>
            <p:nvPr/>
          </p:nvSpPr>
          <p:spPr>
            <a:xfrm>
              <a:off x="4251960" y="2825496"/>
              <a:ext cx="457200" cy="237744"/>
            </a:xfrm>
            <a:prstGeom prst="ellipse">
              <a:avLst/>
            </a:prstGeom>
            <a:solidFill>
              <a:srgbClr val="D4D5D6"/>
            </a:solidFill>
            <a:ln>
              <a:noFill/>
            </a:ln>
          </p:spPr>
          <p:txBody>
            <a:bodyPr rtlCol="0" anchor="ctr"/>
            <a:lstStyle/>
            <a:p>
              <a:pPr algn="ctr"/>
            </a:p>
          </p:txBody>
        </p:sp>
        <p:sp>
          <p:nvSpPr>
            <p:cNvPr id="25" name="Oval 24"/>
            <p:cNvSpPr/>
            <p:nvPr/>
          </p:nvSpPr>
          <p:spPr>
            <a:xfrm>
              <a:off x="5074920" y="2734056"/>
              <a:ext cx="457200" cy="237744"/>
            </a:xfrm>
            <a:prstGeom prst="ellipse">
              <a:avLst/>
            </a:prstGeom>
            <a:solidFill>
              <a:srgbClr val="D4D5D6"/>
            </a:solidFill>
            <a:ln>
              <a:noFill/>
            </a:ln>
          </p:spPr>
          <p:txBody>
            <a:bodyPr rtlCol="0" anchor="ctr"/>
            <a:lstStyle/>
            <a:p>
              <a:pPr algn="ctr"/>
            </a:p>
          </p:txBody>
        </p:sp>
        <p:sp>
          <p:nvSpPr>
            <p:cNvPr id="26" name="Oval 25"/>
            <p:cNvSpPr/>
            <p:nvPr/>
          </p:nvSpPr>
          <p:spPr>
            <a:xfrm>
              <a:off x="5897880" y="2807208"/>
              <a:ext cx="457200" cy="237744"/>
            </a:xfrm>
            <a:prstGeom prst="ellipse">
              <a:avLst/>
            </a:prstGeom>
            <a:solidFill>
              <a:srgbClr val="D4D5D6"/>
            </a:solidFill>
            <a:ln>
              <a:noFill/>
            </a:ln>
          </p:spPr>
          <p:txBody>
            <a:bodyPr rtlCol="0" anchor="ctr"/>
            <a:lstStyle/>
            <a:p>
              <a:pPr algn="ctr"/>
            </a:p>
          </p:txBody>
        </p:sp>
        <p:sp>
          <p:nvSpPr>
            <p:cNvPr id="27" name="Rectangle 26"/>
            <p:cNvSpPr/>
            <p:nvPr/>
          </p:nvSpPr>
          <p:spPr>
            <a:xfrm>
              <a:off x="6949440" y="2514600"/>
              <a:ext cx="502920" cy="1463040"/>
            </a:xfrm>
            <a:prstGeom prst="rect">
              <a:avLst/>
            </a:prstGeom>
            <a:solidFill>
              <a:srgbClr val="1B1D21"/>
            </a:solidFill>
            <a:ln w="19050">
              <a:solidFill>
                <a:srgbClr val="9AA0A6"/>
              </a:solidFill>
            </a:ln>
          </p:spPr>
          <p:txBody>
            <a:bodyPr rtlCol="0" anchor="ctr"/>
            <a:lstStyle/>
            <a:p>
              <a:pPr algn="ctr"/>
            </a:p>
          </p:txBody>
        </p:sp>
        <p:sp>
          <p:nvSpPr>
            <p:cNvPr id="28" name="Rectangle 27"/>
            <p:cNvSpPr/>
            <p:nvPr/>
          </p:nvSpPr>
          <p:spPr>
            <a:xfrm>
              <a:off x="6537960" y="1874520"/>
              <a:ext cx="347472" cy="658368"/>
            </a:xfrm>
            <a:prstGeom prst="rect">
              <a:avLst/>
            </a:prstGeom>
            <a:solidFill>
              <a:srgbClr val="1B1D21"/>
            </a:solidFill>
            <a:ln w="19050">
              <a:solidFill>
                <a:srgbClr val="9AA0A6"/>
              </a:solidFill>
            </a:ln>
          </p:spPr>
          <p:txBody>
            <a:bodyPr rtlCol="0" anchor="ctr"/>
            <a:lstStyle/>
            <a:p>
              <a:pPr algn="ctr"/>
            </a:p>
          </p:txBody>
        </p:sp>
        <p:sp>
          <p:nvSpPr>
            <p:cNvPr id="29" name="Oval 28"/>
            <p:cNvSpPr/>
            <p:nvPr/>
          </p:nvSpPr>
          <p:spPr>
            <a:xfrm>
              <a:off x="6620256" y="1565453"/>
              <a:ext cx="329184" cy="197510"/>
            </a:xfrm>
            <a:prstGeom prst="ellipse">
              <a:avLst/>
            </a:prstGeom>
            <a:solidFill>
              <a:srgbClr val="D2D3D3"/>
            </a:solidFill>
            <a:ln>
              <a:noFill/>
            </a:ln>
          </p:spPr>
          <p:txBody>
            <a:bodyPr rtlCol="0" anchor="ctr"/>
            <a:lstStyle/>
            <a:p>
              <a:pPr algn="ctr"/>
            </a:p>
          </p:txBody>
        </p:sp>
        <p:sp>
          <p:nvSpPr>
            <p:cNvPr id="30" name="Oval 29"/>
            <p:cNvSpPr/>
            <p:nvPr/>
          </p:nvSpPr>
          <p:spPr>
            <a:xfrm>
              <a:off x="6848856" y="1355141"/>
              <a:ext cx="420624" cy="252374"/>
            </a:xfrm>
            <a:prstGeom prst="ellipse">
              <a:avLst/>
            </a:prstGeom>
            <a:solidFill>
              <a:srgbClr val="D2D3D3"/>
            </a:solidFill>
            <a:ln>
              <a:noFill/>
            </a:ln>
          </p:spPr>
          <p:txBody>
            <a:bodyPr rtlCol="0" anchor="ctr"/>
            <a:lstStyle/>
            <a:p>
              <a:pPr algn="ctr"/>
            </a:p>
          </p:txBody>
        </p:sp>
        <p:sp>
          <p:nvSpPr>
            <p:cNvPr id="31" name="Oval 30"/>
            <p:cNvSpPr/>
            <p:nvPr/>
          </p:nvSpPr>
          <p:spPr>
            <a:xfrm>
              <a:off x="7168896" y="1217981"/>
              <a:ext cx="512064" cy="307238"/>
            </a:xfrm>
            <a:prstGeom prst="ellipse">
              <a:avLst/>
            </a:prstGeom>
            <a:solidFill>
              <a:srgbClr val="D2D3D3"/>
            </a:solidFill>
            <a:ln>
              <a:noFill/>
            </a:ln>
          </p:spPr>
          <p:txBody>
            <a:bodyPr rtlCol="0" anchor="ctr"/>
            <a:lstStyle/>
            <a:p>
              <a:pPr algn="ctr"/>
            </a:p>
          </p:txBody>
        </p:sp>
        <p:sp>
          <p:nvSpPr>
            <p:cNvPr id="32" name="Rectangle 31"/>
            <p:cNvSpPr/>
            <p:nvPr/>
          </p:nvSpPr>
          <p:spPr>
            <a:xfrm>
              <a:off x="2103120" y="4023360"/>
              <a:ext cx="5349240" cy="109728"/>
            </a:xfrm>
            <a:prstGeom prst="rect">
              <a:avLst/>
            </a:prstGeom>
            <a:solidFill>
              <a:srgbClr val="1B1D21"/>
            </a:solidFill>
            <a:ln>
              <a:noFill/>
            </a:ln>
          </p:spPr>
          <p:txBody>
            <a:bodyPr rtlCol="0" anchor="ctr"/>
            <a:lstStyle/>
            <a:p>
              <a:pPr algn="ctr"/>
            </a:p>
          </p:txBody>
        </p:sp>
        <p:sp>
          <p:nvSpPr>
            <p:cNvPr id="33" name="Rounded Rectangle 32"/>
            <p:cNvSpPr/>
            <p:nvPr/>
          </p:nvSpPr>
          <p:spPr>
            <a:xfrm>
              <a:off x="6355080" y="4206240"/>
              <a:ext cx="1051560" cy="502920"/>
            </a:xfrm>
            <a:prstGeom prst="roundRect">
              <a:avLst>
                <a:gd name="adj" fmla="val 9090"/>
              </a:avLst>
            </a:prstGeom>
            <a:solidFill>
              <a:srgbClr val="9AA0A6"/>
            </a:solidFill>
            <a:ln w="12700">
              <a:solidFill>
                <a:srgbClr val="101418"/>
              </a:solidFill>
            </a:ln>
          </p:spPr>
          <p:txBody>
            <a:bodyPr rtlCol="0" anchor="ctr"/>
            <a:lstStyle/>
            <a:p>
              <a:pPr algn="ctr"/>
            </a:p>
          </p:txBody>
        </p:sp>
        <p:sp>
          <p:nvSpPr>
            <p:cNvPr id="34" name="Rectangle 33"/>
            <p:cNvSpPr/>
            <p:nvPr/>
          </p:nvSpPr>
          <p:spPr>
            <a:xfrm>
              <a:off x="6629400" y="4251960"/>
              <a:ext cx="146304" cy="411480"/>
            </a:xfrm>
            <a:prstGeom prst="rect">
              <a:avLst/>
            </a:prstGeom>
            <a:solidFill>
              <a:srgbClr val="F28C28"/>
            </a:solidFill>
            <a:ln>
              <a:noFill/>
            </a:ln>
          </p:spPr>
          <p:txBody>
            <a:bodyPr rtlCol="0" anchor="ctr"/>
            <a:lstStyle/>
            <a:p>
              <a:pPr algn="ctr"/>
            </a:p>
          </p:txBody>
        </p:sp>
        <p:cxnSp>
          <p:nvCxnSpPr>
            <p:cNvPr id="35" name="Connector 34"/>
            <p:cNvCxnSpPr/>
            <p:nvPr/>
          </p:nvCxnSpPr>
          <p:spPr>
            <a:xfrm>
              <a:off x="5852160" y="4457700"/>
              <a:ext cx="777240" cy="0"/>
            </a:xfrm>
            <a:prstGeom prst="line">
              <a:avLst/>
            </a:prstGeom>
            <a:ln w="50800">
              <a:solidFill>
                <a:srgbClr val="E8E8E8"/>
              </a:solidFill>
            </a:ln>
          </p:spPr>
        </p:cxnSp>
        <p:sp>
          <p:nvSpPr>
            <p:cNvPr id="36" name="Oval 35"/>
            <p:cNvSpPr/>
            <p:nvPr/>
          </p:nvSpPr>
          <p:spPr>
            <a:xfrm>
              <a:off x="2770632" y="4032504"/>
              <a:ext cx="950976" cy="950976"/>
            </a:xfrm>
            <a:prstGeom prst="ellipse">
              <a:avLst/>
            </a:prstGeom>
            <a:solidFill>
              <a:srgbClr val="1B1D21"/>
            </a:solidFill>
            <a:ln w="38100">
              <a:solidFill>
                <a:srgbClr val="9AA0A6"/>
              </a:solidFill>
            </a:ln>
          </p:spPr>
          <p:txBody>
            <a:bodyPr rtlCol="0" anchor="ctr"/>
            <a:lstStyle/>
            <a:p>
              <a:pPr algn="ctr"/>
            </a:p>
          </p:txBody>
        </p:sp>
        <p:sp>
          <p:nvSpPr>
            <p:cNvPr id="37" name="Oval 36"/>
            <p:cNvSpPr/>
            <p:nvPr/>
          </p:nvSpPr>
          <p:spPr>
            <a:xfrm>
              <a:off x="3172968" y="4434840"/>
              <a:ext cx="146304" cy="146304"/>
            </a:xfrm>
            <a:prstGeom prst="ellipse">
              <a:avLst/>
            </a:prstGeom>
            <a:solidFill>
              <a:srgbClr val="9AA0A6"/>
            </a:solidFill>
            <a:ln>
              <a:noFill/>
            </a:ln>
          </p:spPr>
          <p:txBody>
            <a:bodyPr rtlCol="0" anchor="ctr"/>
            <a:lstStyle/>
            <a:p>
              <a:pPr algn="ctr"/>
            </a:p>
          </p:txBody>
        </p:sp>
        <p:sp>
          <p:nvSpPr>
            <p:cNvPr id="38" name="Oval 37"/>
            <p:cNvSpPr/>
            <p:nvPr/>
          </p:nvSpPr>
          <p:spPr>
            <a:xfrm>
              <a:off x="3867912" y="4032504"/>
              <a:ext cx="950976" cy="950976"/>
            </a:xfrm>
            <a:prstGeom prst="ellipse">
              <a:avLst/>
            </a:prstGeom>
            <a:solidFill>
              <a:srgbClr val="1B1D21"/>
            </a:solidFill>
            <a:ln w="38100">
              <a:solidFill>
                <a:srgbClr val="9AA0A6"/>
              </a:solidFill>
            </a:ln>
          </p:spPr>
          <p:txBody>
            <a:bodyPr rtlCol="0" anchor="ctr"/>
            <a:lstStyle/>
            <a:p>
              <a:pPr algn="ctr"/>
            </a:p>
          </p:txBody>
        </p:sp>
        <p:sp>
          <p:nvSpPr>
            <p:cNvPr id="39" name="Oval 38"/>
            <p:cNvSpPr/>
            <p:nvPr/>
          </p:nvSpPr>
          <p:spPr>
            <a:xfrm>
              <a:off x="4270248" y="4434840"/>
              <a:ext cx="146304" cy="146304"/>
            </a:xfrm>
            <a:prstGeom prst="ellipse">
              <a:avLst/>
            </a:prstGeom>
            <a:solidFill>
              <a:srgbClr val="9AA0A6"/>
            </a:solidFill>
            <a:ln>
              <a:noFill/>
            </a:ln>
          </p:spPr>
          <p:txBody>
            <a:bodyPr rtlCol="0" anchor="ctr"/>
            <a:lstStyle/>
            <a:p>
              <a:pPr algn="ctr"/>
            </a:p>
          </p:txBody>
        </p:sp>
        <p:sp>
          <p:nvSpPr>
            <p:cNvPr id="40" name="Oval 39"/>
            <p:cNvSpPr/>
            <p:nvPr/>
          </p:nvSpPr>
          <p:spPr>
            <a:xfrm>
              <a:off x="4965192" y="4032504"/>
              <a:ext cx="950976" cy="950976"/>
            </a:xfrm>
            <a:prstGeom prst="ellipse">
              <a:avLst/>
            </a:prstGeom>
            <a:solidFill>
              <a:srgbClr val="1B1D21"/>
            </a:solidFill>
            <a:ln w="38100">
              <a:solidFill>
                <a:srgbClr val="9AA0A6"/>
              </a:solidFill>
            </a:ln>
          </p:spPr>
          <p:txBody>
            <a:bodyPr rtlCol="0" anchor="ctr"/>
            <a:lstStyle/>
            <a:p>
              <a:pPr algn="ctr"/>
            </a:p>
          </p:txBody>
        </p:sp>
        <p:sp>
          <p:nvSpPr>
            <p:cNvPr id="41" name="Oval 40"/>
            <p:cNvSpPr/>
            <p:nvPr/>
          </p:nvSpPr>
          <p:spPr>
            <a:xfrm>
              <a:off x="5367528" y="4434840"/>
              <a:ext cx="146304" cy="146304"/>
            </a:xfrm>
            <a:prstGeom prst="ellipse">
              <a:avLst/>
            </a:prstGeom>
            <a:solidFill>
              <a:srgbClr val="9AA0A6"/>
            </a:solidFill>
            <a:ln>
              <a:noFill/>
            </a:ln>
          </p:spPr>
          <p:txBody>
            <a:bodyPr rtlCol="0" anchor="ctr"/>
            <a:lstStyle/>
            <a:p>
              <a:pPr algn="ctr"/>
            </a:p>
          </p:txBody>
        </p:sp>
        <p:cxnSp>
          <p:nvCxnSpPr>
            <p:cNvPr id="42" name="Connector 41"/>
            <p:cNvCxnSpPr/>
            <p:nvPr/>
          </p:nvCxnSpPr>
          <p:spPr>
            <a:xfrm>
              <a:off x="3493008" y="4416552"/>
              <a:ext cx="2194560" cy="0"/>
            </a:xfrm>
            <a:prstGeom prst="line">
              <a:avLst/>
            </a:prstGeom>
            <a:ln w="76200">
              <a:solidFill>
                <a:srgbClr val="E8E8E8"/>
              </a:solidFill>
            </a:ln>
          </p:spPr>
        </p:cxnSp>
        <p:cxnSp>
          <p:nvCxnSpPr>
            <p:cNvPr id="43" name="Connector 42"/>
            <p:cNvCxnSpPr/>
            <p:nvPr/>
          </p:nvCxnSpPr>
          <p:spPr>
            <a:xfrm flipH="1" flipV="1">
              <a:off x="4590288" y="4416552"/>
              <a:ext cx="1261872" cy="41148"/>
            </a:xfrm>
            <a:prstGeom prst="line">
              <a:avLst/>
            </a:prstGeom>
            <a:ln w="76200">
              <a:solidFill>
                <a:srgbClr val="F2C14E"/>
              </a:solidFill>
            </a:ln>
          </p:spPr>
        </p:cxnSp>
        <p:sp>
          <p:nvSpPr>
            <p:cNvPr id="44" name="Oval 43"/>
            <p:cNvSpPr/>
            <p:nvPr/>
          </p:nvSpPr>
          <p:spPr>
            <a:xfrm>
              <a:off x="3438144" y="4361688"/>
              <a:ext cx="109728" cy="109728"/>
            </a:xfrm>
            <a:prstGeom prst="ellipse">
              <a:avLst/>
            </a:prstGeom>
            <a:solidFill>
              <a:srgbClr val="101418"/>
            </a:solidFill>
            <a:ln>
              <a:noFill/>
            </a:ln>
          </p:spPr>
          <p:txBody>
            <a:bodyPr rtlCol="0" anchor="ctr"/>
            <a:lstStyle/>
            <a:p>
              <a:pPr algn="ctr"/>
            </a:p>
          </p:txBody>
        </p:sp>
        <p:sp>
          <p:nvSpPr>
            <p:cNvPr id="45" name="Oval 44"/>
            <p:cNvSpPr/>
            <p:nvPr/>
          </p:nvSpPr>
          <p:spPr>
            <a:xfrm>
              <a:off x="4535424" y="4361688"/>
              <a:ext cx="109728" cy="109728"/>
            </a:xfrm>
            <a:prstGeom prst="ellipse">
              <a:avLst/>
            </a:prstGeom>
            <a:solidFill>
              <a:srgbClr val="101418"/>
            </a:solidFill>
            <a:ln>
              <a:noFill/>
            </a:ln>
          </p:spPr>
          <p:txBody>
            <a:bodyPr rtlCol="0" anchor="ctr"/>
            <a:lstStyle/>
            <a:p>
              <a:pPr algn="ctr"/>
            </a:p>
          </p:txBody>
        </p:sp>
        <p:sp>
          <p:nvSpPr>
            <p:cNvPr id="46" name="Oval 45"/>
            <p:cNvSpPr/>
            <p:nvPr/>
          </p:nvSpPr>
          <p:spPr>
            <a:xfrm>
              <a:off x="5632704" y="4361688"/>
              <a:ext cx="109728" cy="109728"/>
            </a:xfrm>
            <a:prstGeom prst="ellipse">
              <a:avLst/>
            </a:prstGeom>
            <a:solidFill>
              <a:srgbClr val="101418"/>
            </a:solidFill>
            <a:ln>
              <a:noFill/>
            </a:ln>
          </p:spPr>
          <p:txBody>
            <a:bodyPr rtlCol="0" anchor="ctr"/>
            <a:lstStyle/>
            <a:p>
              <a:pPr algn="ctr"/>
            </a:p>
          </p:txBody>
        </p:sp>
        <p:sp>
          <p:nvSpPr>
            <p:cNvPr id="47" name="Freeform 46"/>
            <p:cNvSpPr/>
            <p:nvPr/>
          </p:nvSpPr>
          <p:spPr>
            <a:xfrm>
              <a:off x="7264098" y="2142067"/>
              <a:ext cx="508229" cy="2040344"/>
            </a:xfrm>
            <a:custGeom>
              <a:avLst/>
              <a:gdLst/>
              <a:ahLst/>
              <a:cxnLst/>
              <a:rect l="l" t="t" r="r" b="b"/>
              <a:pathLst>
                <a:path w="508229" h="2040344">
                  <a:moveTo>
                    <a:pt x="215861" y="2040344"/>
                  </a:moveTo>
                  <a:lnTo>
                    <a:pt x="267135" y="1974276"/>
                  </a:lnTo>
                  <a:lnTo>
                    <a:pt x="314437" y="1900436"/>
                  </a:lnTo>
                  <a:lnTo>
                    <a:pt x="357347" y="1819484"/>
                  </a:lnTo>
                  <a:lnTo>
                    <a:pt x="395480" y="1732142"/>
                  </a:lnTo>
                  <a:lnTo>
                    <a:pt x="428495" y="1639191"/>
                  </a:lnTo>
                  <a:lnTo>
                    <a:pt x="456099" y="1541460"/>
                  </a:lnTo>
                  <a:lnTo>
                    <a:pt x="478043" y="1439823"/>
                  </a:lnTo>
                  <a:lnTo>
                    <a:pt x="494134" y="1335188"/>
                  </a:lnTo>
                  <a:lnTo>
                    <a:pt x="504226" y="1228488"/>
                  </a:lnTo>
                  <a:lnTo>
                    <a:pt x="508229" y="1120677"/>
                  </a:lnTo>
                  <a:lnTo>
                    <a:pt x="506109" y="1012717"/>
                  </a:lnTo>
                  <a:lnTo>
                    <a:pt x="497883" y="905573"/>
                  </a:lnTo>
                  <a:lnTo>
                    <a:pt x="483626" y="800202"/>
                  </a:lnTo>
                  <a:lnTo>
                    <a:pt x="463464" y="697544"/>
                  </a:lnTo>
                  <a:lnTo>
                    <a:pt x="437577" y="598517"/>
                  </a:lnTo>
                  <a:lnTo>
                    <a:pt x="406198" y="504005"/>
                  </a:lnTo>
                  <a:lnTo>
                    <a:pt x="369605" y="414851"/>
                  </a:lnTo>
                  <a:lnTo>
                    <a:pt x="328127" y="331853"/>
                  </a:lnTo>
                  <a:lnTo>
                    <a:pt x="282133" y="255752"/>
                  </a:lnTo>
                  <a:lnTo>
                    <a:pt x="232033" y="187226"/>
                  </a:lnTo>
                  <a:lnTo>
                    <a:pt x="178277" y="126889"/>
                  </a:lnTo>
                  <a:lnTo>
                    <a:pt x="121343" y="75278"/>
                  </a:lnTo>
                  <a:lnTo>
                    <a:pt x="61740" y="32856"/>
                  </a:lnTo>
                  <a:lnTo>
                    <a:pt x="0" y="0"/>
                  </a:lnTo>
                </a:path>
              </a:pathLst>
            </a:custGeom>
            <a:noFill/>
            <a:ln w="31750">
              <a:solidFill>
                <a:srgbClr val="F28C28"/>
              </a:solidFill>
              <a:tailEnd type="triangle" w="lg" len="lg"/>
            </a:ln>
          </p:spPr>
          <p:txBody>
            <a:bodyPr rtlCol="0" anchor="ctr"/>
            <a:lstStyle/>
            <a:p>
              <a:pPr algn="ctr"/>
            </a:p>
          </p:txBody>
        </p:sp>
      </p:grpSp>
      <p:sp>
        <p:nvSpPr>
          <p:cNvPr id="48" name="Oval 47"/>
          <p:cNvSpPr/>
          <p:nvPr/>
        </p:nvSpPr>
        <p:spPr>
          <a:xfrm>
            <a:off x="676656" y="424281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sp>
        <p:nvSpPr>
          <p:cNvPr id="49" name="TextBox 48"/>
          <p:cNvSpPr txBox="1"/>
          <p:nvPr/>
        </p:nvSpPr>
        <p:spPr>
          <a:xfrm>
            <a:off x="1124712" y="425196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Fire</a:t>
            </a:r>
          </a:p>
        </p:txBody>
      </p:sp>
      <p:sp>
        <p:nvSpPr>
          <p:cNvPr id="50" name="Oval 49"/>
          <p:cNvSpPr/>
          <p:nvPr/>
        </p:nvSpPr>
        <p:spPr>
          <a:xfrm>
            <a:off x="2139696" y="186537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51" name="TextBox 50"/>
          <p:cNvSpPr txBox="1"/>
          <p:nvPr/>
        </p:nvSpPr>
        <p:spPr>
          <a:xfrm>
            <a:off x="2587752" y="187452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Steam</a:t>
            </a:r>
          </a:p>
        </p:txBody>
      </p:sp>
      <p:sp>
        <p:nvSpPr>
          <p:cNvPr id="52" name="Oval 51"/>
          <p:cNvSpPr/>
          <p:nvPr/>
        </p:nvSpPr>
        <p:spPr>
          <a:xfrm>
            <a:off x="634593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53" name="TextBox 52"/>
          <p:cNvSpPr txBox="1"/>
          <p:nvPr/>
        </p:nvSpPr>
        <p:spPr>
          <a:xfrm>
            <a:off x="679399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Piston</a:t>
            </a:r>
          </a:p>
        </p:txBody>
      </p:sp>
      <p:sp>
        <p:nvSpPr>
          <p:cNvPr id="54" name="Oval 53"/>
          <p:cNvSpPr/>
          <p:nvPr/>
        </p:nvSpPr>
        <p:spPr>
          <a:xfrm>
            <a:off x="387705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55" name="TextBox 54"/>
          <p:cNvSpPr txBox="1"/>
          <p:nvPr/>
        </p:nvSpPr>
        <p:spPr>
          <a:xfrm>
            <a:off x="432511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Wheels</a:t>
            </a:r>
          </a:p>
        </p:txBody>
      </p:sp>
      <p:sp>
        <p:nvSpPr>
          <p:cNvPr id="56" name="TextBox 55"/>
          <p:cNvSpPr txBox="1"/>
          <p:nvPr/>
        </p:nvSpPr>
        <p:spPr>
          <a:xfrm>
            <a:off x="7863840" y="2514600"/>
            <a:ext cx="1097280" cy="365760"/>
          </a:xfrm>
          <a:prstGeom prst="rect">
            <a:avLst/>
          </a:prstGeom>
          <a:noFill/>
        </p:spPr>
        <p:txBody>
          <a:bodyPr wrap="square" lIns="0" tIns="0" rIns="0" bIns="0" anchor="ctr">
            <a:noAutofit/>
          </a:bodyPr>
          <a:lstStyle/>
          <a:p>
            <a:pPr algn="l"/>
            <a:r>
              <a:rPr sz="1600" b="0" i="0" lang="en-GB">
                <a:solidFill>
                  <a:srgbClr val="F2F2F2"/>
                </a:solidFill>
                <a:latin typeface="Arial"/>
              </a:rPr>
              <a:t>Exhaust</a:t>
            </a:r>
          </a:p>
        </p:txBody>
      </p:sp>
      <p:pic>
        <p:nvPicPr>
          <p:cNvPr id="57" name="Picture P03" descr="Outside valve gear, rods and crosshead on the side of BR Standard 9F No. 92203."/>
          <p:cNvPicPr>
            <a:picLocks noChangeAspect="1"/>
          </p:cNvPicPr>
          <p:nvPr/>
        </p:nvPicPr>
        <p:blipFill>
          <a:blip r:embed="rId2"/>
          <a:srcRect l="31" r="31"/>
          <a:stretch>
            <a:fillRect/>
          </a:stretch>
        </p:blipFill>
        <p:spPr>
          <a:xfrm>
            <a:off x="8348472" y="3063240"/>
            <a:ext cx="3291840" cy="2194560"/>
          </a:xfrm>
          <a:prstGeom prst="roundRect">
            <a:avLst>
              <a:gd name="adj" fmla="val 3333"/>
            </a:avLst>
          </a:prstGeom>
        </p:spPr>
      </p:pic>
      <p:sp>
        <p:nvSpPr>
          <p:cNvPr id="58" name="Credit"/>
          <p:cNvSpPr txBox="1"/>
          <p:nvPr/>
        </p:nvSpPr>
        <p:spPr>
          <a:xfrm>
            <a:off x="8348472" y="5285232"/>
            <a:ext cx="3291840" cy="182880"/>
          </a:xfrm>
          <a:prstGeom prst="rect">
            <a:avLst/>
          </a:prstGeom>
          <a:noFill/>
        </p:spPr>
        <p:txBody>
          <a:bodyPr wrap="square" lIns="0" tIns="0" rIns="0" bIns="0" anchor="t">
            <a:noAutofit/>
          </a:bodyPr>
          <a:lstStyle/>
          <a:p>
            <a:pPr algn="l"/>
            <a:r>
              <a:rPr sz="1000" b="0" i="0" lang="en-GB">
                <a:solidFill>
                  <a:srgbClr val="A9B0B8"/>
                </a:solidFill>
                <a:latin typeface="Arial"/>
              </a:rPr>
              <a:t>Photo: Ben Salter,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Coal heats water. Steam pushes pistons. Rods turn the wheels.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Coal, water and steam</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TextBox 7"/>
          <p:cNvSpPr txBox="1"/>
          <p:nvPr/>
        </p:nvSpPr>
        <p:spPr>
          <a:xfrm>
            <a:off x="7772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Before</a:t>
            </a:r>
          </a:p>
        </p:txBody>
      </p:sp>
      <p:sp>
        <p:nvSpPr>
          <p:cNvPr id="9" name="TextBox 8"/>
          <p:cNvSpPr txBox="1"/>
          <p:nvPr/>
        </p:nvSpPr>
        <p:spPr>
          <a:xfrm>
            <a:off x="71780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After</a:t>
            </a:r>
          </a:p>
        </p:txBody>
      </p:sp>
      <p:grpSp>
        <p:nvGrpSpPr>
          <p:cNvPr id="10" name="Coal and water run down" descr="Before a long trip the coal and water tanks are both nearly full. After it, coal is just under half full but water is almost empty, because steam leaves the chimney and is not used again."/>
          <p:cNvGrpSpPr/>
          <p:nvPr/>
        </p:nvGrpSpPr>
        <p:grpSpPr>
          <a:xfrm>
            <a:off x="548640" y="1689811"/>
            <a:ext cx="11091672" cy="3476549"/>
            <a:chOff x="548640" y="1689811"/>
            <a:chExt cx="11091672" cy="3476549"/>
          </a:xfrm>
        </p:grpSpPr>
        <p:sp>
          <p:nvSpPr>
            <p:cNvPr id="11" name="Rounded Rectangle 10"/>
            <p:cNvSpPr/>
            <p:nvPr/>
          </p:nvSpPr>
          <p:spPr>
            <a:xfrm>
              <a:off x="548640" y="1737360"/>
              <a:ext cx="4206240" cy="3429000"/>
            </a:xfrm>
            <a:prstGeom prst="roundRect">
              <a:avLst>
                <a:gd name="adj" fmla="val 2666"/>
              </a:avLst>
            </a:prstGeom>
            <a:solidFill>
              <a:srgbClr val="2B2F36"/>
            </a:solidFill>
            <a:ln>
              <a:noFill/>
            </a:ln>
          </p:spPr>
          <p:txBody>
            <a:bodyPr rtlCol="0" anchor="ctr"/>
            <a:lstStyle/>
            <a:p>
              <a:pPr algn="ctr"/>
            </a:p>
          </p:txBody>
        </p:sp>
        <p:sp>
          <p:nvSpPr>
            <p:cNvPr id="12" name="Rounded Rectangle 11"/>
            <p:cNvSpPr/>
            <p:nvPr/>
          </p:nvSpPr>
          <p:spPr>
            <a:xfrm>
              <a:off x="6949440" y="1737360"/>
              <a:ext cx="4690872" cy="3429000"/>
            </a:xfrm>
            <a:prstGeom prst="roundRect">
              <a:avLst>
                <a:gd name="adj" fmla="val 2666"/>
              </a:avLst>
            </a:prstGeom>
            <a:solidFill>
              <a:srgbClr val="2B2F36"/>
            </a:solidFill>
            <a:ln>
              <a:noFill/>
            </a:ln>
          </p:spPr>
          <p:txBody>
            <a:bodyPr rtlCol="0" anchor="ctr"/>
            <a:lstStyle/>
            <a:p>
              <a:pPr algn="ctr"/>
            </a:p>
          </p:txBody>
        </p:sp>
        <p:sp>
          <p:nvSpPr>
            <p:cNvPr id="13" name="Rounded Rectangle 12"/>
            <p:cNvSpPr/>
            <p:nvPr/>
          </p:nvSpPr>
          <p:spPr>
            <a:xfrm>
              <a:off x="109728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4" name="Rounded Rectangle 13"/>
            <p:cNvSpPr/>
            <p:nvPr/>
          </p:nvSpPr>
          <p:spPr>
            <a:xfrm>
              <a:off x="1133856" y="2957170"/>
              <a:ext cx="1389888" cy="1623974"/>
            </a:xfrm>
            <a:prstGeom prst="roundRect">
              <a:avLst>
                <a:gd name="adj" fmla="val 3289"/>
              </a:avLst>
            </a:prstGeom>
            <a:solidFill>
              <a:srgbClr val="1B1D21"/>
            </a:solidFill>
            <a:ln>
              <a:noFill/>
            </a:ln>
          </p:spPr>
          <p:txBody>
            <a:bodyPr rtlCol="0" anchor="ctr"/>
            <a:lstStyle/>
            <a:p>
              <a:pPr algn="ctr"/>
            </a:p>
          </p:txBody>
        </p:sp>
        <p:sp>
          <p:nvSpPr>
            <p:cNvPr id="15" name="Rounded Rectangle 14"/>
            <p:cNvSpPr/>
            <p:nvPr/>
          </p:nvSpPr>
          <p:spPr>
            <a:xfrm>
              <a:off x="283464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16" name="Rounded Rectangle 15"/>
            <p:cNvSpPr/>
            <p:nvPr/>
          </p:nvSpPr>
          <p:spPr>
            <a:xfrm>
              <a:off x="2871216" y="2957170"/>
              <a:ext cx="1389888" cy="1623974"/>
            </a:xfrm>
            <a:prstGeom prst="roundRect">
              <a:avLst>
                <a:gd name="adj" fmla="val 3289"/>
              </a:avLst>
            </a:prstGeom>
            <a:solidFill>
              <a:srgbClr val="4DA3FF"/>
            </a:solidFill>
            <a:ln>
              <a:noFill/>
            </a:ln>
          </p:spPr>
          <p:txBody>
            <a:bodyPr rtlCol="0" anchor="ctr"/>
            <a:lstStyle/>
            <a:p>
              <a:pPr algn="ctr"/>
            </a:p>
          </p:txBody>
        </p:sp>
        <p:sp>
          <p:nvSpPr>
            <p:cNvPr id="17" name="Rounded Rectangle 16"/>
            <p:cNvSpPr/>
            <p:nvPr/>
          </p:nvSpPr>
          <p:spPr>
            <a:xfrm>
              <a:off x="736092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8" name="Rounded Rectangle 17"/>
            <p:cNvSpPr/>
            <p:nvPr/>
          </p:nvSpPr>
          <p:spPr>
            <a:xfrm>
              <a:off x="7397496" y="3667658"/>
              <a:ext cx="1389888" cy="913486"/>
            </a:xfrm>
            <a:prstGeom prst="roundRect">
              <a:avLst>
                <a:gd name="adj" fmla="val 5005"/>
              </a:avLst>
            </a:prstGeom>
            <a:solidFill>
              <a:srgbClr val="1B1D21"/>
            </a:solidFill>
            <a:ln>
              <a:noFill/>
            </a:ln>
          </p:spPr>
          <p:txBody>
            <a:bodyPr rtlCol="0" anchor="ctr"/>
            <a:lstStyle/>
            <a:p>
              <a:pPr algn="ctr"/>
            </a:p>
          </p:txBody>
        </p:sp>
        <p:sp>
          <p:nvSpPr>
            <p:cNvPr id="19" name="Rounded Rectangle 18"/>
            <p:cNvSpPr/>
            <p:nvPr/>
          </p:nvSpPr>
          <p:spPr>
            <a:xfrm>
              <a:off x="909828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20" name="Rounded Rectangle 19"/>
            <p:cNvSpPr/>
            <p:nvPr/>
          </p:nvSpPr>
          <p:spPr>
            <a:xfrm>
              <a:off x="9134856" y="4276649"/>
              <a:ext cx="1389888" cy="304495"/>
            </a:xfrm>
            <a:prstGeom prst="roundRect">
              <a:avLst>
                <a:gd name="adj" fmla="val 15015"/>
              </a:avLst>
            </a:prstGeom>
            <a:solidFill>
              <a:srgbClr val="4DA3FF"/>
            </a:solidFill>
            <a:ln>
              <a:noFill/>
            </a:ln>
          </p:spPr>
          <p:txBody>
            <a:bodyPr rtlCol="0" anchor="ctr"/>
            <a:lstStyle/>
            <a:p>
              <a:pPr algn="ctr"/>
            </a:p>
          </p:txBody>
        </p:sp>
        <p:sp>
          <p:nvSpPr>
            <p:cNvPr id="21" name="TextBox 20"/>
            <p:cNvSpPr txBox="1"/>
            <p:nvPr/>
          </p:nvSpPr>
          <p:spPr>
            <a:xfrm>
              <a:off x="1097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2" name="TextBox 21"/>
            <p:cNvSpPr txBox="1"/>
            <p:nvPr/>
          </p:nvSpPr>
          <p:spPr>
            <a:xfrm>
              <a:off x="736092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3" name="TextBox 22"/>
            <p:cNvSpPr txBox="1"/>
            <p:nvPr/>
          </p:nvSpPr>
          <p:spPr>
            <a:xfrm>
              <a:off x="283464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4" name="TextBox 23"/>
            <p:cNvSpPr txBox="1"/>
            <p:nvPr/>
          </p:nvSpPr>
          <p:spPr>
            <a:xfrm>
              <a:off x="9098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5" name="Rounded Rectangle 24"/>
            <p:cNvSpPr/>
            <p:nvPr/>
          </p:nvSpPr>
          <p:spPr>
            <a:xfrm>
              <a:off x="9098280" y="3749040"/>
              <a:ext cx="146304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EMPTY FIRST</a:t>
              </a:r>
            </a:p>
          </p:txBody>
        </p:sp>
        <p:sp>
          <p:nvSpPr>
            <p:cNvPr id="26" name="Rectangle 25"/>
            <p:cNvSpPr/>
            <p:nvPr/>
          </p:nvSpPr>
          <p:spPr>
            <a:xfrm>
              <a:off x="7269480" y="2029968"/>
              <a:ext cx="274320" cy="384048"/>
            </a:xfrm>
            <a:prstGeom prst="rect">
              <a:avLst/>
            </a:prstGeom>
            <a:solidFill>
              <a:srgbClr val="1B1D21"/>
            </a:solidFill>
            <a:ln w="19050">
              <a:solidFill>
                <a:srgbClr val="9AA0A6"/>
              </a:solidFill>
            </a:ln>
          </p:spPr>
          <p:txBody>
            <a:bodyPr rtlCol="0" anchor="ctr"/>
            <a:lstStyle/>
            <a:p>
              <a:pPr algn="ctr"/>
            </a:p>
          </p:txBody>
        </p:sp>
        <p:sp>
          <p:nvSpPr>
            <p:cNvPr id="27" name="Oval 26"/>
            <p:cNvSpPr/>
            <p:nvPr/>
          </p:nvSpPr>
          <p:spPr>
            <a:xfrm>
              <a:off x="7562088" y="1856232"/>
              <a:ext cx="274320" cy="164592"/>
            </a:xfrm>
            <a:prstGeom prst="ellipse">
              <a:avLst/>
            </a:prstGeom>
            <a:solidFill>
              <a:srgbClr val="D4D5D6"/>
            </a:solidFill>
            <a:ln>
              <a:noFill/>
            </a:ln>
          </p:spPr>
          <p:txBody>
            <a:bodyPr rtlCol="0" anchor="ctr"/>
            <a:lstStyle/>
            <a:p>
              <a:pPr algn="ctr"/>
            </a:p>
          </p:txBody>
        </p:sp>
        <p:sp>
          <p:nvSpPr>
            <p:cNvPr id="28" name="Oval 27"/>
            <p:cNvSpPr/>
            <p:nvPr/>
          </p:nvSpPr>
          <p:spPr>
            <a:xfrm>
              <a:off x="7872984" y="1742846"/>
              <a:ext cx="347472" cy="208483"/>
            </a:xfrm>
            <a:prstGeom prst="ellipse">
              <a:avLst/>
            </a:prstGeom>
            <a:solidFill>
              <a:srgbClr val="D4D5D6"/>
            </a:solidFill>
            <a:ln>
              <a:noFill/>
            </a:ln>
          </p:spPr>
          <p:txBody>
            <a:bodyPr rtlCol="0" anchor="ctr"/>
            <a:lstStyle/>
            <a:p>
              <a:pPr algn="ctr"/>
            </a:p>
          </p:txBody>
        </p:sp>
        <p:sp>
          <p:nvSpPr>
            <p:cNvPr id="29" name="Oval 28"/>
            <p:cNvSpPr/>
            <p:nvPr/>
          </p:nvSpPr>
          <p:spPr>
            <a:xfrm>
              <a:off x="8257032" y="1689811"/>
              <a:ext cx="402336" cy="241402"/>
            </a:xfrm>
            <a:prstGeom prst="ellipse">
              <a:avLst/>
            </a:prstGeom>
            <a:solidFill>
              <a:srgbClr val="D4D5D6"/>
            </a:solidFill>
            <a:ln>
              <a:noFill/>
            </a:ln>
          </p:spPr>
          <p:txBody>
            <a:bodyPr rtlCol="0" anchor="ctr"/>
            <a:lstStyle/>
            <a:p>
              <a:pPr algn="ctr"/>
            </a:p>
          </p:txBody>
        </p:sp>
        <p:sp>
          <p:nvSpPr>
            <p:cNvPr id="30" name="TextBox 29"/>
            <p:cNvSpPr txBox="1"/>
            <p:nvPr/>
          </p:nvSpPr>
          <p:spPr>
            <a:xfrm>
              <a:off x="8778240" y="1828800"/>
              <a:ext cx="2743200" cy="566928"/>
            </a:xfrm>
            <a:prstGeom prst="rect">
              <a:avLst/>
            </a:prstGeom>
            <a:noFill/>
          </p:spPr>
          <p:txBody>
            <a:bodyPr wrap="square" lIns="0" tIns="0" rIns="0" bIns="0" anchor="ctr">
              <a:noAutofit/>
            </a:bodyPr>
            <a:lstStyle/>
            <a:p>
              <a:pPr algn="l"/>
              <a:r>
                <a:rPr sz="1600" b="0" i="0" lang="en-GB">
                  <a:solidFill>
                    <a:srgbClr val="F2F2F2"/>
                  </a:solidFill>
                  <a:latin typeface="Arial"/>
                </a:rPr>
                <a:t>Steam leaves the chimney. It is not used again.</a:t>
              </a:r>
            </a:p>
          </p:txBody>
        </p:sp>
        <p:sp>
          <p:nvSpPr>
            <p:cNvPr id="31" name="Right Arrow 30"/>
            <p:cNvSpPr/>
            <p:nvPr/>
          </p:nvSpPr>
          <p:spPr>
            <a:xfrm>
              <a:off x="4983480" y="3246120"/>
              <a:ext cx="1783080" cy="594360"/>
            </a:xfrm>
            <a:prstGeom prst="rightArrow">
              <a:avLst/>
            </a:prstGeom>
            <a:solidFill>
              <a:srgbClr val="F28C28"/>
            </a:solidFill>
            <a:ln>
              <a:noFill/>
            </a:ln>
          </p:spPr>
          <p:txBody>
            <a:bodyPr rtlCol="0" anchor="ctr"/>
            <a:lstStyle/>
            <a:p>
              <a:pPr algn="ctr"/>
            </a:p>
          </p:txBody>
        </p:sp>
        <p:sp>
          <p:nvSpPr>
            <p:cNvPr id="32" name="TextBox 31"/>
            <p:cNvSpPr txBox="1"/>
            <p:nvPr/>
          </p:nvSpPr>
          <p:spPr>
            <a:xfrm>
              <a:off x="4754880" y="2697480"/>
              <a:ext cx="2240280" cy="457200"/>
            </a:xfrm>
            <a:prstGeom prst="rect">
              <a:avLst/>
            </a:prstGeom>
            <a:noFill/>
          </p:spPr>
          <p:txBody>
            <a:bodyPr wrap="square" lIns="0" tIns="0" rIns="0" bIns="0" anchor="b">
              <a:noAutofit/>
            </a:bodyPr>
            <a:lstStyle/>
            <a:p>
              <a:pPr algn="ctr"/>
              <a:r>
                <a:rPr sz="1800" b="1" i="0" lang="en-GB">
                  <a:solidFill>
                    <a:srgbClr val="F2F2F2"/>
                  </a:solidFill>
                  <a:latin typeface="Arial"/>
                </a:rPr>
                <a:t>One long trip</a:t>
              </a:r>
            </a:p>
          </p:txBody>
        </p:sp>
      </p:grpSp>
      <p:sp>
        <p:nvSpPr>
          <p:cNvPr id="33" name="TextBox 32"/>
          <p:cNvSpPr txBox="1"/>
          <p:nvPr/>
        </p:nvSpPr>
        <p:spPr>
          <a:xfrm>
            <a:off x="548640" y="5321808"/>
            <a:ext cx="6858000" cy="347472"/>
          </a:xfrm>
          <a:prstGeom prst="rect">
            <a:avLst/>
          </a:prstGeom>
          <a:noFill/>
        </p:spPr>
        <p:txBody>
          <a:bodyPr wrap="square" lIns="0" tIns="0" rIns="0" bIns="0" anchor="ctr">
            <a:noAutofit/>
          </a:bodyPr>
          <a:lstStyle/>
          <a:p>
            <a:pPr algn="l"/>
            <a:r>
              <a:rPr sz="1800" b="0" i="0" lang="en-GB">
                <a:solidFill>
                  <a:srgbClr val="F2F2F2"/>
                </a:solidFill>
                <a:latin typeface="Arial"/>
              </a:rPr>
              <a:t>In the mod, water is usually the tighter limit.</a:t>
            </a:r>
          </a:p>
        </p:txBody>
      </p:sp>
      <p:sp>
        <p:nvSpPr>
          <p:cNvPr id="34" name="Inline chip Agreed"/>
          <p:cNvSpPr/>
          <p:nvPr/>
        </p:nvSpPr>
        <p:spPr>
          <a:xfrm>
            <a:off x="5115054" y="5349240"/>
            <a:ext cx="112647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is used once and lost. So water runs out first. Coal lasts longer.</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Tender or tank?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TextBox 7"/>
          <p:cNvSpPr txBox="1"/>
          <p:nvPr/>
        </p:nvSpPr>
        <p:spPr>
          <a:xfrm>
            <a:off x="548640"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Tender engine</a:t>
            </a:r>
          </a:p>
        </p:txBody>
      </p:sp>
      <p:sp>
        <p:nvSpPr>
          <p:cNvPr id="9" name="TextBox 8"/>
          <p:cNvSpPr txBox="1"/>
          <p:nvPr/>
        </p:nvSpPr>
        <p:spPr>
          <a:xfrm>
            <a:off x="6336792"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Tank engine</a:t>
            </a:r>
          </a:p>
        </p:txBody>
      </p:sp>
      <p:pic>
        <p:nvPicPr>
          <p:cNvPr id="10" name="Picture P04" descr="BR Standard Class 5 No. 73082 'Camelot', a tender engine, seen from the side."/>
          <p:cNvPicPr>
            <a:picLocks noChangeAspect="1"/>
          </p:cNvPicPr>
          <p:nvPr/>
        </p:nvPicPr>
        <p:blipFill>
          <a:blip r:embed="rId2"/>
          <a:srcRect t="2728" b="2728"/>
          <a:stretch>
            <a:fillRect/>
          </a:stretch>
        </p:blipFill>
        <p:spPr>
          <a:xfrm>
            <a:off x="548640" y="1737360"/>
            <a:ext cx="5303520" cy="3337560"/>
          </a:xfrm>
          <a:prstGeom prst="roundRect">
            <a:avLst>
              <a:gd name="adj" fmla="val 2192"/>
            </a:avLst>
          </a:prstGeom>
        </p:spPr>
      </p:pic>
      <p:sp>
        <p:nvSpPr>
          <p:cNvPr id="11" name="Credit"/>
          <p:cNvSpPr txBox="1"/>
          <p:nvPr/>
        </p:nvSpPr>
        <p:spPr>
          <a:xfrm>
            <a:off x="548640"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pic>
        <p:nvPicPr>
          <p:cNvPr id="12" name="Picture P05" descr="BR Standard Class 4 tank engine No. 80151 from the side, showing side tanks and rear bunker."/>
          <p:cNvPicPr>
            <a:picLocks noChangeAspect="1"/>
          </p:cNvPicPr>
          <p:nvPr/>
        </p:nvPicPr>
        <p:blipFill>
          <a:blip r:embed="rId3"/>
          <a:srcRect t="2728" b="2728"/>
          <a:stretch>
            <a:fillRect/>
          </a:stretch>
        </p:blipFill>
        <p:spPr>
          <a:xfrm>
            <a:off x="6336792" y="1737360"/>
            <a:ext cx="5303520" cy="3337560"/>
          </a:xfrm>
          <a:prstGeom prst="roundRect">
            <a:avLst>
              <a:gd name="adj" fmla="val 2192"/>
            </a:avLst>
          </a:prstGeom>
        </p:spPr>
      </p:pic>
      <p:sp>
        <p:nvSpPr>
          <p:cNvPr id="13" name="Credit"/>
          <p:cNvSpPr txBox="1"/>
          <p:nvPr/>
        </p:nvSpPr>
        <p:spPr>
          <a:xfrm>
            <a:off x="6336792"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grpSp>
        <p:nvGrpSpPr>
          <p:cNvPr id="14" name="Callout" descr="Label: Tender: coal and water behind the cab"/>
          <p:cNvGrpSpPr/>
          <p:nvPr/>
        </p:nvGrpSpPr>
        <p:grpSpPr>
          <a:xfrm>
            <a:off x="1380744" y="1874520"/>
            <a:ext cx="3602736" cy="1673352"/>
            <a:chOff x="1380744" y="1874520"/>
            <a:chExt cx="3602736" cy="1673352"/>
          </a:xfrm>
        </p:grpSpPr>
        <p:cxnSp>
          <p:nvCxnSpPr>
            <p:cNvPr id="15" name="Connector 14"/>
            <p:cNvCxnSpPr/>
            <p:nvPr/>
          </p:nvCxnSpPr>
          <p:spPr>
            <a:xfrm flipH="1">
              <a:off x="1453896" y="2514600"/>
              <a:ext cx="1060704" cy="960120"/>
            </a:xfrm>
            <a:prstGeom prst="line">
              <a:avLst/>
            </a:prstGeom>
            <a:ln w="28575">
              <a:solidFill>
                <a:srgbClr val="F28C28"/>
              </a:solidFill>
            </a:ln>
          </p:spPr>
        </p:cxnSp>
        <p:sp>
          <p:nvSpPr>
            <p:cNvPr id="16" name="Oval 15"/>
            <p:cNvSpPr/>
            <p:nvPr/>
          </p:nvSpPr>
          <p:spPr>
            <a:xfrm>
              <a:off x="1380744" y="3401568"/>
              <a:ext cx="146304" cy="146304"/>
            </a:xfrm>
            <a:prstGeom prst="ellipse">
              <a:avLst/>
            </a:prstGeom>
            <a:solidFill>
              <a:srgbClr val="F28C28"/>
            </a:solidFill>
            <a:ln w="12700">
              <a:solidFill>
                <a:srgbClr val="101418"/>
              </a:solidFill>
            </a:ln>
          </p:spPr>
          <p:txBody>
            <a:bodyPr rtlCol="0" anchor="ctr"/>
            <a:lstStyle/>
            <a:p>
              <a:pPr algn="ctr"/>
            </a:p>
          </p:txBody>
        </p:sp>
        <p:sp>
          <p:nvSpPr>
            <p:cNvPr id="17" name="Rounded Rectangle 16"/>
            <p:cNvSpPr/>
            <p:nvPr/>
          </p:nvSpPr>
          <p:spPr>
            <a:xfrm>
              <a:off x="2057400" y="1874520"/>
              <a:ext cx="2926080" cy="640080"/>
            </a:xfrm>
            <a:prstGeom prst="roundRect">
              <a:avLst>
                <a:gd name="adj" fmla="val 8571"/>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Tender: coal and water behind the cab</a:t>
              </a:r>
            </a:p>
          </p:txBody>
        </p:sp>
      </p:grpSp>
      <p:grpSp>
        <p:nvGrpSpPr>
          <p:cNvPr id="18" name="Callout" descr="Label: Side tanks: water."/>
          <p:cNvGrpSpPr/>
          <p:nvPr/>
        </p:nvGrpSpPr>
        <p:grpSpPr>
          <a:xfrm>
            <a:off x="6812280" y="1874520"/>
            <a:ext cx="1965960" cy="1636776"/>
            <a:chOff x="6812280" y="1874520"/>
            <a:chExt cx="1965960" cy="1636776"/>
          </a:xfrm>
        </p:grpSpPr>
        <p:cxnSp>
          <p:nvCxnSpPr>
            <p:cNvPr id="19" name="Connector 18"/>
            <p:cNvCxnSpPr/>
            <p:nvPr/>
          </p:nvCxnSpPr>
          <p:spPr>
            <a:xfrm>
              <a:off x="8138160" y="2240280"/>
              <a:ext cx="320040" cy="1197864"/>
            </a:xfrm>
            <a:prstGeom prst="line">
              <a:avLst/>
            </a:prstGeom>
            <a:ln w="28575">
              <a:solidFill>
                <a:srgbClr val="F28C28"/>
              </a:solidFill>
            </a:ln>
          </p:spPr>
        </p:cxnSp>
        <p:sp>
          <p:nvSpPr>
            <p:cNvPr id="20" name="Oval 19"/>
            <p:cNvSpPr/>
            <p:nvPr/>
          </p:nvSpPr>
          <p:spPr>
            <a:xfrm>
              <a:off x="8385048" y="3364992"/>
              <a:ext cx="146304" cy="146304"/>
            </a:xfrm>
            <a:prstGeom prst="ellipse">
              <a:avLst/>
            </a:prstGeom>
            <a:solidFill>
              <a:srgbClr val="F28C28"/>
            </a:solidFill>
            <a:ln w="12700">
              <a:solidFill>
                <a:srgbClr val="101418"/>
              </a:solidFill>
            </a:ln>
          </p:spPr>
          <p:txBody>
            <a:bodyPr rtlCol="0" anchor="ctr"/>
            <a:lstStyle/>
            <a:p>
              <a:pPr algn="ctr"/>
            </a:p>
          </p:txBody>
        </p:sp>
        <p:sp>
          <p:nvSpPr>
            <p:cNvPr id="21" name="Rounded Rectangle 20"/>
            <p:cNvSpPr/>
            <p:nvPr/>
          </p:nvSpPr>
          <p:spPr>
            <a:xfrm>
              <a:off x="6812280" y="1874520"/>
              <a:ext cx="19659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Side tanks: water.</a:t>
              </a:r>
            </a:p>
          </p:txBody>
        </p:sp>
      </p:grpSp>
      <p:grpSp>
        <p:nvGrpSpPr>
          <p:cNvPr id="22" name="Callout" descr="Label: Bunker: coal."/>
          <p:cNvGrpSpPr/>
          <p:nvPr/>
        </p:nvGrpSpPr>
        <p:grpSpPr>
          <a:xfrm>
            <a:off x="9646920" y="1874520"/>
            <a:ext cx="1508760" cy="1444752"/>
            <a:chOff x="9646920" y="1874520"/>
            <a:chExt cx="1508760" cy="1444752"/>
          </a:xfrm>
        </p:grpSpPr>
        <p:cxnSp>
          <p:nvCxnSpPr>
            <p:cNvPr id="23" name="Connector 22"/>
            <p:cNvCxnSpPr/>
            <p:nvPr/>
          </p:nvCxnSpPr>
          <p:spPr>
            <a:xfrm flipH="1">
              <a:off x="9966960" y="2240280"/>
              <a:ext cx="91440" cy="1005840"/>
            </a:xfrm>
            <a:prstGeom prst="line">
              <a:avLst/>
            </a:prstGeom>
            <a:ln w="28575">
              <a:solidFill>
                <a:srgbClr val="F28C28"/>
              </a:solidFill>
            </a:ln>
          </p:spPr>
        </p:cxnSp>
        <p:sp>
          <p:nvSpPr>
            <p:cNvPr id="24" name="Oval 23"/>
            <p:cNvSpPr/>
            <p:nvPr/>
          </p:nvSpPr>
          <p:spPr>
            <a:xfrm>
              <a:off x="9893808" y="3172968"/>
              <a:ext cx="146304" cy="146304"/>
            </a:xfrm>
            <a:prstGeom prst="ellipse">
              <a:avLst/>
            </a:prstGeom>
            <a:solidFill>
              <a:srgbClr val="F28C28"/>
            </a:solidFill>
            <a:ln w="12700">
              <a:solidFill>
                <a:srgbClr val="101418"/>
              </a:solidFill>
            </a:ln>
          </p:spPr>
          <p:txBody>
            <a:bodyPr rtlCol="0" anchor="ctr"/>
            <a:lstStyle/>
            <a:p>
              <a:pPr algn="ctr"/>
            </a:p>
          </p:txBody>
        </p:sp>
        <p:sp>
          <p:nvSpPr>
            <p:cNvPr id="25" name="Rounded Rectangle 24"/>
            <p:cNvSpPr/>
            <p:nvPr/>
          </p:nvSpPr>
          <p:spPr>
            <a:xfrm>
              <a:off x="9646920" y="1874520"/>
              <a:ext cx="15087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Bunker: coal.</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tender engine pulls a coal and water wagon. A tank engine carries both itself.</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Taking on water</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6" descr="A water crane at Didcot Railway Centre."/>
          <p:cNvPicPr>
            <a:picLocks noChangeAspect="1"/>
          </p:cNvPicPr>
          <p:nvPr/>
        </p:nvPicPr>
        <p:blipFill>
          <a:blip r:embed="rId2"/>
          <a:srcRect t="1165" b="25165"/>
          <a:stretch>
            <a:fillRect/>
          </a:stretch>
        </p:blipFill>
        <p:spPr>
          <a:xfrm>
            <a:off x="548640" y="1371600"/>
            <a:ext cx="2926080" cy="3886200"/>
          </a:xfrm>
          <a:prstGeom prst="roundRect">
            <a:avLst>
              <a:gd name="adj" fmla="val 2500"/>
            </a:avLst>
          </a:prstGeom>
        </p:spPr>
      </p:pic>
      <p:sp>
        <p:nvSpPr>
          <p:cNvPr id="9" name="Credit"/>
          <p:cNvSpPr txBox="1"/>
          <p:nvPr/>
        </p:nvSpPr>
        <p:spPr>
          <a:xfrm>
            <a:off x="548640" y="5285232"/>
            <a:ext cx="2926080" cy="338328"/>
          </a:xfrm>
          <a:prstGeom prst="rect">
            <a:avLst/>
          </a:prstGeom>
          <a:noFill/>
        </p:spPr>
        <p:txBody>
          <a:bodyPr wrap="square" lIns="0" tIns="0" rIns="0" bIns="0" anchor="t">
            <a:noAutofit/>
          </a:bodyPr>
          <a:lstStyle/>
          <a:p>
            <a:pPr algn="l"/>
            <a:r>
              <a:rPr sz="1000" b="0" i="0" lang="en-GB">
                <a:solidFill>
                  <a:srgbClr val="A9B0B8"/>
                </a:solidFill>
                <a:latin typeface="Arial"/>
              </a:rPr>
              <a:t>Photo: Barry Skeates, CC BY 2.0, Wikimedia Commons.</a:t>
            </a:r>
          </a:p>
        </p:txBody>
      </p:sp>
      <p:grpSp>
        <p:nvGrpSpPr>
          <p:cNvPr id="10" name="Water crane diagram" descr="A water tower on legs feeds a pipe down to a water crane; the crane arm swings over the tender hatch and gravity sends the water down."/>
          <p:cNvGrpSpPr/>
          <p:nvPr/>
        </p:nvGrpSpPr>
        <p:grpSpPr>
          <a:xfrm>
            <a:off x="4206240" y="1874520"/>
            <a:ext cx="5394960" cy="3264408"/>
            <a:chOff x="4206240" y="1874520"/>
            <a:chExt cx="5394960" cy="3264408"/>
          </a:xfrm>
        </p:grpSpPr>
        <p:sp>
          <p:nvSpPr>
            <p:cNvPr id="11" name="Rectangle 10"/>
            <p:cNvSpPr/>
            <p:nvPr/>
          </p:nvSpPr>
          <p:spPr>
            <a:xfrm>
              <a:off x="4343400" y="3063240"/>
              <a:ext cx="91440" cy="2011680"/>
            </a:xfrm>
            <a:prstGeom prst="rect">
              <a:avLst/>
            </a:prstGeom>
            <a:solidFill>
              <a:srgbClr val="9AA0A6"/>
            </a:solidFill>
            <a:ln>
              <a:noFill/>
            </a:ln>
          </p:spPr>
          <p:txBody>
            <a:bodyPr rtlCol="0" anchor="ctr"/>
            <a:lstStyle/>
            <a:p>
              <a:pPr algn="ctr"/>
            </a:p>
          </p:txBody>
        </p:sp>
        <p:sp>
          <p:nvSpPr>
            <p:cNvPr id="12" name="Rectangle 11"/>
            <p:cNvSpPr/>
            <p:nvPr/>
          </p:nvSpPr>
          <p:spPr>
            <a:xfrm>
              <a:off x="4754880" y="3063240"/>
              <a:ext cx="91440" cy="2011680"/>
            </a:xfrm>
            <a:prstGeom prst="rect">
              <a:avLst/>
            </a:prstGeom>
            <a:solidFill>
              <a:srgbClr val="9AA0A6"/>
            </a:solidFill>
            <a:ln>
              <a:noFill/>
            </a:ln>
          </p:spPr>
          <p:txBody>
            <a:bodyPr rtlCol="0" anchor="ctr"/>
            <a:lstStyle/>
            <a:p>
              <a:pPr algn="ctr"/>
            </a:p>
          </p:txBody>
        </p:sp>
        <p:sp>
          <p:nvSpPr>
            <p:cNvPr id="13" name="Rectangle 12"/>
            <p:cNvSpPr/>
            <p:nvPr/>
          </p:nvSpPr>
          <p:spPr>
            <a:xfrm>
              <a:off x="5440680" y="3063240"/>
              <a:ext cx="91440" cy="2011680"/>
            </a:xfrm>
            <a:prstGeom prst="rect">
              <a:avLst/>
            </a:prstGeom>
            <a:solidFill>
              <a:srgbClr val="9AA0A6"/>
            </a:solidFill>
            <a:ln>
              <a:noFill/>
            </a:ln>
          </p:spPr>
          <p:txBody>
            <a:bodyPr rtlCol="0" anchor="ctr"/>
            <a:lstStyle/>
            <a:p>
              <a:pPr algn="ctr"/>
            </a:p>
          </p:txBody>
        </p:sp>
        <p:sp>
          <p:nvSpPr>
            <p:cNvPr id="14" name="Rectangle 13"/>
            <p:cNvSpPr/>
            <p:nvPr/>
          </p:nvSpPr>
          <p:spPr>
            <a:xfrm>
              <a:off x="5852160" y="3063240"/>
              <a:ext cx="91440" cy="2011680"/>
            </a:xfrm>
            <a:prstGeom prst="rect">
              <a:avLst/>
            </a:prstGeom>
            <a:solidFill>
              <a:srgbClr val="9AA0A6"/>
            </a:solidFill>
            <a:ln>
              <a:noFill/>
            </a:ln>
          </p:spPr>
          <p:txBody>
            <a:bodyPr rtlCol="0" anchor="ctr"/>
            <a:lstStyle/>
            <a:p>
              <a:pPr algn="ctr"/>
            </a:p>
          </p:txBody>
        </p:sp>
        <p:sp>
          <p:nvSpPr>
            <p:cNvPr id="15" name="Rounded Rectangle 14"/>
            <p:cNvSpPr/>
            <p:nvPr/>
          </p:nvSpPr>
          <p:spPr>
            <a:xfrm>
              <a:off x="4206240" y="1874520"/>
              <a:ext cx="1783080" cy="1188720"/>
            </a:xfrm>
            <a:prstGeom prst="roundRect">
              <a:avLst>
                <a:gd name="adj" fmla="val 9230"/>
              </a:avLst>
            </a:prstGeom>
            <a:solidFill>
              <a:srgbClr val="4DA3FF"/>
            </a:solidFill>
            <a:ln w="25400">
              <a:solidFill>
                <a:srgbClr val="FFFFFF"/>
              </a:solidFill>
            </a:ln>
          </p:spPr>
          <p:txBody>
            <a:bodyPr rtlCol="0" anchor="ctr"/>
            <a:lstStyle/>
            <a:p>
              <a:pPr algn="ctr"/>
            </a:p>
          </p:txBody>
        </p:sp>
        <p:sp>
          <p:nvSpPr>
            <p:cNvPr id="16" name="Freeform 15"/>
            <p:cNvSpPr/>
            <p:nvPr/>
          </p:nvSpPr>
          <p:spPr>
            <a:xfrm>
              <a:off x="5577840" y="3063240"/>
              <a:ext cx="2880360" cy="1737360"/>
            </a:xfrm>
            <a:custGeom>
              <a:avLst/>
              <a:gdLst/>
              <a:ahLst/>
              <a:cxnLst/>
              <a:rect l="l" t="t" r="r" b="b"/>
              <a:pathLst>
                <a:path w="2880360" h="1737360">
                  <a:moveTo>
                    <a:pt x="0" y="0"/>
                  </a:moveTo>
                  <a:lnTo>
                    <a:pt x="0" y="1737360"/>
                  </a:lnTo>
                  <a:lnTo>
                    <a:pt x="1600200" y="1737360"/>
                  </a:lnTo>
                  <a:lnTo>
                    <a:pt x="1600200" y="365760"/>
                  </a:lnTo>
                  <a:lnTo>
                    <a:pt x="2880360" y="365760"/>
                  </a:lnTo>
                </a:path>
              </a:pathLst>
            </a:custGeom>
            <a:noFill/>
            <a:ln w="114300">
              <a:solidFill>
                <a:srgbClr val="4DA3FF"/>
              </a:solidFill>
            </a:ln>
          </p:spPr>
          <p:txBody>
            <a:bodyPr rtlCol="0" anchor="ctr"/>
            <a:lstStyle/>
            <a:p>
              <a:pPr algn="ctr"/>
            </a:p>
          </p:txBody>
        </p:sp>
        <p:sp>
          <p:nvSpPr>
            <p:cNvPr id="17" name="Rectangle 16"/>
            <p:cNvSpPr/>
            <p:nvPr/>
          </p:nvSpPr>
          <p:spPr>
            <a:xfrm>
              <a:off x="7086600" y="3291840"/>
              <a:ext cx="182880" cy="1600200"/>
            </a:xfrm>
            <a:prstGeom prst="rect">
              <a:avLst/>
            </a:prstGeom>
            <a:solidFill>
              <a:srgbClr val="9AA0A6"/>
            </a:solidFill>
            <a:ln w="9525">
              <a:solidFill>
                <a:srgbClr val="101418"/>
              </a:solidFill>
            </a:ln>
          </p:spPr>
          <p:txBody>
            <a:bodyPr rtlCol="0" anchor="ctr"/>
            <a:lstStyle/>
            <a:p>
              <a:pPr algn="ctr"/>
            </a:p>
          </p:txBody>
        </p:sp>
        <p:sp>
          <p:nvSpPr>
            <p:cNvPr id="18" name="Rectangle 17"/>
            <p:cNvSpPr/>
            <p:nvPr/>
          </p:nvSpPr>
          <p:spPr>
            <a:xfrm>
              <a:off x="7086600" y="3337560"/>
              <a:ext cx="1417320" cy="164592"/>
            </a:xfrm>
            <a:prstGeom prst="rect">
              <a:avLst/>
            </a:prstGeom>
            <a:solidFill>
              <a:srgbClr val="9AA0A6"/>
            </a:solidFill>
            <a:ln w="9525">
              <a:solidFill>
                <a:srgbClr val="101418"/>
              </a:solidFill>
            </a:ln>
          </p:spPr>
          <p:txBody>
            <a:bodyPr rtlCol="0" anchor="ctr"/>
            <a:lstStyle/>
            <a:p>
              <a:pPr algn="ctr"/>
            </a:p>
          </p:txBody>
        </p:sp>
        <p:sp>
          <p:nvSpPr>
            <p:cNvPr id="19" name="Rectangle 18"/>
            <p:cNvSpPr/>
            <p:nvPr/>
          </p:nvSpPr>
          <p:spPr>
            <a:xfrm>
              <a:off x="8385048" y="3429000"/>
              <a:ext cx="146304" cy="411480"/>
            </a:xfrm>
            <a:prstGeom prst="rect">
              <a:avLst/>
            </a:prstGeom>
            <a:solidFill>
              <a:srgbClr val="9AA0A6"/>
            </a:solidFill>
            <a:ln w="9525">
              <a:solidFill>
                <a:srgbClr val="101418"/>
              </a:solidFill>
            </a:ln>
          </p:spPr>
          <p:txBody>
            <a:bodyPr rtlCol="0" anchor="ctr"/>
            <a:lstStyle/>
            <a:p>
              <a:pPr algn="ctr"/>
            </a:p>
          </p:txBody>
        </p:sp>
        <p:sp>
          <p:nvSpPr>
            <p:cNvPr id="20" name="Oval 19"/>
            <p:cNvSpPr/>
            <p:nvPr/>
          </p:nvSpPr>
          <p:spPr>
            <a:xfrm>
              <a:off x="8417052" y="3904488"/>
              <a:ext cx="82296" cy="109728"/>
            </a:xfrm>
            <a:prstGeom prst="ellipse">
              <a:avLst/>
            </a:prstGeom>
            <a:solidFill>
              <a:srgbClr val="4DA3FF"/>
            </a:solidFill>
            <a:ln>
              <a:noFill/>
            </a:ln>
          </p:spPr>
          <p:txBody>
            <a:bodyPr rtlCol="0" anchor="ctr"/>
            <a:lstStyle/>
            <a:p>
              <a:pPr algn="ctr"/>
            </a:p>
          </p:txBody>
        </p:sp>
        <p:sp>
          <p:nvSpPr>
            <p:cNvPr id="21" name="Oval 20"/>
            <p:cNvSpPr/>
            <p:nvPr/>
          </p:nvSpPr>
          <p:spPr>
            <a:xfrm>
              <a:off x="8417052" y="4059936"/>
              <a:ext cx="82296" cy="109728"/>
            </a:xfrm>
            <a:prstGeom prst="ellipse">
              <a:avLst/>
            </a:prstGeom>
            <a:solidFill>
              <a:srgbClr val="4DA3FF"/>
            </a:solidFill>
            <a:ln>
              <a:noFill/>
            </a:ln>
          </p:spPr>
          <p:txBody>
            <a:bodyPr rtlCol="0" anchor="ctr"/>
            <a:lstStyle/>
            <a:p>
              <a:pPr algn="ctr"/>
            </a:p>
          </p:txBody>
        </p:sp>
        <p:sp>
          <p:nvSpPr>
            <p:cNvPr id="22" name="Rectangle 21"/>
            <p:cNvSpPr/>
            <p:nvPr/>
          </p:nvSpPr>
          <p:spPr>
            <a:xfrm>
              <a:off x="7269480" y="5074920"/>
              <a:ext cx="2240280" cy="64008"/>
            </a:xfrm>
            <a:prstGeom prst="rect">
              <a:avLst/>
            </a:prstGeom>
            <a:solidFill>
              <a:srgbClr val="9AA0A6"/>
            </a:solidFill>
            <a:ln>
              <a:noFill/>
            </a:ln>
          </p:spPr>
          <p:txBody>
            <a:bodyPr rtlCol="0" anchor="ctr"/>
            <a:lstStyle/>
            <a:p>
              <a:pPr algn="ctr"/>
            </a:p>
          </p:txBody>
        </p:sp>
        <p:sp>
          <p:nvSpPr>
            <p:cNvPr id="23" name="Rounded Rectangle 22"/>
            <p:cNvSpPr/>
            <p:nvPr/>
          </p:nvSpPr>
          <p:spPr>
            <a:xfrm>
              <a:off x="7315200" y="4206240"/>
              <a:ext cx="2194560" cy="685800"/>
            </a:xfrm>
            <a:prstGeom prst="roundRect">
              <a:avLst>
                <a:gd name="adj" fmla="val 6666"/>
              </a:avLst>
            </a:prstGeom>
            <a:solidFill>
              <a:srgbClr val="6C7480"/>
            </a:solidFill>
            <a:ln w="12700">
              <a:solidFill>
                <a:srgbClr val="101418"/>
              </a:solidFill>
            </a:ln>
          </p:spPr>
          <p:txBody>
            <a:bodyPr rtlCol="0" anchor="ctr"/>
            <a:lstStyle/>
            <a:p>
              <a:pPr algn="ctr"/>
            </a:p>
          </p:txBody>
        </p:sp>
        <p:sp>
          <p:nvSpPr>
            <p:cNvPr id="24" name="Oval 23"/>
            <p:cNvSpPr/>
            <p:nvPr/>
          </p:nvSpPr>
          <p:spPr>
            <a:xfrm>
              <a:off x="8266176" y="4142232"/>
              <a:ext cx="384048" cy="128016"/>
            </a:xfrm>
            <a:prstGeom prst="ellipse">
              <a:avLst/>
            </a:prstGeom>
            <a:solidFill>
              <a:srgbClr val="1B1D21"/>
            </a:solidFill>
            <a:ln w="19050">
              <a:solidFill>
                <a:srgbClr val="9AA0A6"/>
              </a:solidFill>
            </a:ln>
          </p:spPr>
          <p:txBody>
            <a:bodyPr rtlCol="0" anchor="ctr"/>
            <a:lstStyle/>
            <a:p>
              <a:pPr algn="ctr"/>
            </a:p>
          </p:txBody>
        </p:sp>
        <p:sp>
          <p:nvSpPr>
            <p:cNvPr id="25" name="Oval 24"/>
            <p:cNvSpPr/>
            <p:nvPr/>
          </p:nvSpPr>
          <p:spPr>
            <a:xfrm>
              <a:off x="7671816" y="4873752"/>
              <a:ext cx="201168" cy="201168"/>
            </a:xfrm>
            <a:prstGeom prst="ellipse">
              <a:avLst/>
            </a:prstGeom>
            <a:solidFill>
              <a:srgbClr val="1B1D21"/>
            </a:solidFill>
            <a:ln w="12700">
              <a:solidFill>
                <a:srgbClr val="9AA0A6"/>
              </a:solidFill>
            </a:ln>
          </p:spPr>
          <p:txBody>
            <a:bodyPr rtlCol="0" anchor="ctr"/>
            <a:lstStyle/>
            <a:p>
              <a:pPr algn="ctr"/>
            </a:p>
          </p:txBody>
        </p:sp>
        <p:sp>
          <p:nvSpPr>
            <p:cNvPr id="26" name="Oval 25"/>
            <p:cNvSpPr/>
            <p:nvPr/>
          </p:nvSpPr>
          <p:spPr>
            <a:xfrm>
              <a:off x="9134856" y="4873752"/>
              <a:ext cx="201168" cy="201168"/>
            </a:xfrm>
            <a:prstGeom prst="ellipse">
              <a:avLst/>
            </a:prstGeom>
            <a:solidFill>
              <a:srgbClr val="1B1D21"/>
            </a:solidFill>
            <a:ln w="12700">
              <a:solidFill>
                <a:srgbClr val="9AA0A6"/>
              </a:solidFill>
            </a:ln>
          </p:spPr>
          <p:txBody>
            <a:bodyPr rtlCol="0" anchor="ctr"/>
            <a:lstStyle/>
            <a:p>
              <a:pPr algn="ctr"/>
            </a:p>
          </p:txBody>
        </p:sp>
        <p:sp>
          <p:nvSpPr>
            <p:cNvPr id="27" name="Freeform 26"/>
            <p:cNvSpPr/>
            <p:nvPr/>
          </p:nvSpPr>
          <p:spPr>
            <a:xfrm>
              <a:off x="6841880" y="2926080"/>
              <a:ext cx="1678160" cy="284649"/>
            </a:xfrm>
            <a:custGeom>
              <a:avLst/>
              <a:gdLst/>
              <a:ahLst/>
              <a:cxnLst/>
              <a:rect l="l" t="t" r="r" b="b"/>
              <a:pathLst>
                <a:path w="1678160" h="284649">
                  <a:moveTo>
                    <a:pt x="0" y="284649"/>
                  </a:moveTo>
                  <a:lnTo>
                    <a:pt x="29463" y="244854"/>
                  </a:lnTo>
                  <a:lnTo>
                    <a:pt x="68551" y="206714"/>
                  </a:lnTo>
                  <a:lnTo>
                    <a:pt x="116799" y="170682"/>
                  </a:lnTo>
                  <a:lnTo>
                    <a:pt x="173633" y="137187"/>
                  </a:lnTo>
                  <a:lnTo>
                    <a:pt x="238376" y="106626"/>
                  </a:lnTo>
                  <a:lnTo>
                    <a:pt x="310261" y="79362"/>
                  </a:lnTo>
                  <a:lnTo>
                    <a:pt x="388432" y="55721"/>
                  </a:lnTo>
                  <a:lnTo>
                    <a:pt x="471960" y="35982"/>
                  </a:lnTo>
                  <a:lnTo>
                    <a:pt x="559852" y="20381"/>
                  </a:lnTo>
                  <a:lnTo>
                    <a:pt x="651063" y="9103"/>
                  </a:lnTo>
                  <a:lnTo>
                    <a:pt x="744510" y="2283"/>
                  </a:lnTo>
                  <a:lnTo>
                    <a:pt x="839080" y="0"/>
                  </a:lnTo>
                  <a:lnTo>
                    <a:pt x="933650" y="2283"/>
                  </a:lnTo>
                  <a:lnTo>
                    <a:pt x="1027097" y="9103"/>
                  </a:lnTo>
                  <a:lnTo>
                    <a:pt x="1118308" y="20381"/>
                  </a:lnTo>
                  <a:lnTo>
                    <a:pt x="1206200" y="35982"/>
                  </a:lnTo>
                  <a:lnTo>
                    <a:pt x="1289728" y="55721"/>
                  </a:lnTo>
                  <a:lnTo>
                    <a:pt x="1367899" y="79362"/>
                  </a:lnTo>
                  <a:lnTo>
                    <a:pt x="1439784" y="106626"/>
                  </a:lnTo>
                  <a:lnTo>
                    <a:pt x="1504527" y="137187"/>
                  </a:lnTo>
                  <a:lnTo>
                    <a:pt x="1561361" y="170682"/>
                  </a:lnTo>
                  <a:lnTo>
                    <a:pt x="1609609" y="206714"/>
                  </a:lnTo>
                  <a:lnTo>
                    <a:pt x="1648697" y="244854"/>
                  </a:lnTo>
                  <a:lnTo>
                    <a:pt x="1678160" y="284649"/>
                  </a:lnTo>
                </a:path>
              </a:pathLst>
            </a:custGeom>
            <a:noFill/>
            <a:ln w="31750">
              <a:solidFill>
                <a:srgbClr val="F28C28"/>
              </a:solidFill>
              <a:tailEnd type="triangle" w="lg" len="lg"/>
            </a:ln>
          </p:spPr>
          <p:txBody>
            <a:bodyPr rtlCol="0" anchor="ctr"/>
            <a:lstStyle/>
            <a:p>
              <a:pPr algn="ctr"/>
            </a:p>
          </p:txBody>
        </p:sp>
        <p:cxnSp>
          <p:nvCxnSpPr>
            <p:cNvPr id="28" name="Connector 27"/>
            <p:cNvCxnSpPr/>
            <p:nvPr/>
          </p:nvCxnSpPr>
          <p:spPr>
            <a:xfrm>
              <a:off x="5806440" y="3291840"/>
              <a:ext cx="0" cy="548640"/>
            </a:xfrm>
            <a:prstGeom prst="line">
              <a:avLst/>
            </a:prstGeom>
            <a:ln w="28575">
              <a:solidFill>
                <a:srgbClr val="F28C28"/>
              </a:solidFill>
              <a:tailEnd type="triangle" w="lg" len="lg"/>
            </a:ln>
          </p:spPr>
        </p:cxnSp>
        <p:cxnSp>
          <p:nvCxnSpPr>
            <p:cNvPr id="29" name="Connector 28"/>
            <p:cNvCxnSpPr/>
            <p:nvPr/>
          </p:nvCxnSpPr>
          <p:spPr>
            <a:xfrm>
              <a:off x="5806440" y="3977640"/>
              <a:ext cx="0" cy="548640"/>
            </a:xfrm>
            <a:prstGeom prst="line">
              <a:avLst/>
            </a:prstGeom>
            <a:ln w="28575">
              <a:solidFill>
                <a:srgbClr val="F28C28"/>
              </a:solidFill>
              <a:tailEnd type="triangle" w="lg" len="lg"/>
            </a:ln>
          </p:spPr>
        </p:cxnSp>
        <p:sp>
          <p:nvSpPr>
            <p:cNvPr id="30" name="TextBox 29"/>
            <p:cNvSpPr txBox="1"/>
            <p:nvPr/>
          </p:nvSpPr>
          <p:spPr>
            <a:xfrm>
              <a:off x="6492240" y="2395728"/>
              <a:ext cx="3108960" cy="457200"/>
            </a:xfrm>
            <a:prstGeom prst="rect">
              <a:avLst/>
            </a:prstGeom>
            <a:noFill/>
          </p:spPr>
          <p:txBody>
            <a:bodyPr wrap="square" lIns="0" tIns="0" rIns="0" bIns="0" anchor="b">
              <a:noAutofit/>
            </a:bodyPr>
            <a:lstStyle/>
            <a:p>
              <a:pPr algn="ctr"/>
              <a:r>
                <a:rPr sz="1600" b="0" i="0" lang="en-GB">
                  <a:solidFill>
                    <a:srgbClr val="F2F2F2"/>
                  </a:solidFill>
                  <a:latin typeface="Arial"/>
                </a:rPr>
                <a:t>Arm swings over the hatch</a:t>
              </a:r>
            </a:p>
          </p:txBody>
        </p:sp>
        <p:sp>
          <p:nvSpPr>
            <p:cNvPr id="31" name="TextBox 30"/>
            <p:cNvSpPr txBox="1"/>
            <p:nvPr/>
          </p:nvSpPr>
          <p:spPr>
            <a:xfrm>
              <a:off x="5943600" y="3611880"/>
              <a:ext cx="1005840" cy="365760"/>
            </a:xfrm>
            <a:prstGeom prst="rect">
              <a:avLst/>
            </a:prstGeom>
            <a:noFill/>
          </p:spPr>
          <p:txBody>
            <a:bodyPr wrap="square" lIns="0" tIns="0" rIns="0" bIns="0" anchor="ctr">
              <a:noAutofit/>
            </a:bodyPr>
            <a:lstStyle/>
            <a:p>
              <a:pPr algn="l"/>
              <a:r>
                <a:rPr sz="1600" b="0" i="0" lang="en-GB">
                  <a:solidFill>
                    <a:srgbClr val="F2F2F2"/>
                  </a:solidFill>
                  <a:latin typeface="Arial"/>
                </a:rPr>
                <a:t>Gravity</a:t>
              </a:r>
            </a:p>
          </p:txBody>
        </p:sp>
      </p:grpSp>
      <p:pic>
        <p:nvPicPr>
          <p:cNvPr id="32" name="Picture P07" descr="A water tower with a signal beside it."/>
          <p:cNvPicPr>
            <a:picLocks noChangeAspect="1"/>
          </p:cNvPicPr>
          <p:nvPr/>
        </p:nvPicPr>
        <p:blipFill>
          <a:blip r:embed="rId3"/>
          <a:srcRect t="8824" b="42824"/>
          <a:stretch>
            <a:fillRect/>
          </a:stretch>
        </p:blipFill>
        <p:spPr>
          <a:xfrm>
            <a:off x="9628632" y="3611880"/>
            <a:ext cx="2011680" cy="1463040"/>
          </a:xfrm>
          <a:prstGeom prst="roundRect">
            <a:avLst>
              <a:gd name="adj" fmla="val 5000"/>
            </a:avLst>
          </a:prstGeom>
        </p:spPr>
      </p:pic>
      <p:sp>
        <p:nvSpPr>
          <p:cNvPr id="33" name="Credit"/>
          <p:cNvSpPr txBox="1"/>
          <p:nvPr/>
        </p:nvSpPr>
        <p:spPr>
          <a:xfrm>
            <a:off x="9628632" y="5102352"/>
            <a:ext cx="2011680" cy="338328"/>
          </a:xfrm>
          <a:prstGeom prst="rect">
            <a:avLst/>
          </a:prstGeom>
          <a:noFill/>
        </p:spPr>
        <p:txBody>
          <a:bodyPr wrap="square" lIns="0" tIns="0" rIns="0" bIns="0" anchor="t">
            <a:noAutofit/>
          </a:bodyPr>
          <a:lstStyle/>
          <a:p>
            <a:pPr algn="l"/>
            <a:r>
              <a:rPr sz="1000" b="0" i="0" lang="en-GB">
                <a:solidFill>
                  <a:srgbClr val="A9B0B8"/>
                </a:solidFill>
                <a:latin typeface="Arial"/>
              </a:rPr>
              <a:t>Photo: David Merrett,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water crane swings over the engine. Water flows down from a tank above.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10</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7DB8FF"/>
      </a:hlink>
      <a:folHlink>
        <a:srgbClr val="C9A7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 Locomotion, Explained</dc:title>
  <dc:subject>A read-alone explainer of the Early Locomotion steam railway mod for Satisfactory</dc:subject>
  <dc:creator>Early Locomotion project</dc:creator>
  <cp:keywords>Satisfactory; Early Locomotion; steam railway; explainer</cp:keywords>
  <dc:description>Plans, not a finished mod. Status tags follow Design/GAME_DESIGN.md.</dc:description>
  <cp:lastModifiedBy>Early Locomotion project</cp:lastModifiedBy>
  <cp:revision>1</cp:revision>
  <dcterms:created xsi:type="dcterms:W3CDTF">2013-01-27T09:14:16Z</dcterms:created>
  <dcterms:modified xsi:type="dcterms:W3CDTF">2013-01-27T09:15:58Z</dcterms:modified>
  <cp:category/>
  <dc:language>en-GB</dc:language>
</cp:coreProperties>
</file>