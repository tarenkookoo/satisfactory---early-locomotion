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ectangle 15"/>
              <p:cNvSpPr/>
              <p:nvPr/>
            </p:nvSpPr>
            <p:spPr>
              <a:xfrm>
                <a:off x="1735531" y="3344418"/>
                <a:ext cx="777240" cy="427482"/>
              </a:xfrm>
              <a:prstGeom prst="rect">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ectangle 29"/>
              <p:cNvSpPr/>
              <p:nvPr/>
            </p:nvSpPr>
            <p:spPr>
              <a:xfrm>
                <a:off x="4173322" y="2752344"/>
                <a:ext cx="438912" cy="351130"/>
              </a:xfrm>
              <a:prstGeom prst="rect">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ectangle 34"/>
              <p:cNvSpPr/>
              <p:nvPr/>
            </p:nvSpPr>
            <p:spPr>
              <a:xfrm>
                <a:off x="4670755" y="2715768"/>
                <a:ext cx="731520" cy="402336"/>
              </a:xfrm>
              <a:prstGeom prst="rect">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ectangle 48"/>
              <p:cNvSpPr/>
              <p:nvPr/>
            </p:nvSpPr>
            <p:spPr>
              <a:xfrm>
                <a:off x="7000646" y="2011680"/>
                <a:ext cx="521208" cy="416966"/>
              </a:xfrm>
              <a:prstGeom prst="rect">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ectangle 53"/>
              <p:cNvSpPr/>
              <p:nvPr/>
            </p:nvSpPr>
            <p:spPr>
              <a:xfrm>
                <a:off x="7591349" y="1968246"/>
                <a:ext cx="868680" cy="477774"/>
              </a:xfrm>
              <a:prstGeom prst="rect">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4054" y="493776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Oval 47"/>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Oval 49"/>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Oval 51"/>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Oval 53"/>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5054" y="534924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coal</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8" descr="A raised coaling stage at the Great Western Society site, Didcot."/>
          <p:cNvPicPr>
            <a:picLocks noChangeAspect="1"/>
          </p:cNvPicPr>
          <p:nvPr/>
        </p:nvPicPr>
        <p:blipFill>
          <a:blip r:embed="rId2"/>
          <a:stretch>
            <a:fillRect/>
          </a:stretch>
        </p:blipFill>
        <p:spPr>
          <a:xfrm>
            <a:off x="548640" y="1371600"/>
            <a:ext cx="4114800" cy="3086100"/>
          </a:xfrm>
          <a:prstGeom prst="roundRect">
            <a:avLst>
              <a:gd name="adj" fmla="val 2370"/>
            </a:avLst>
          </a:prstGeom>
        </p:spPr>
      </p:pic>
      <p:sp>
        <p:nvSpPr>
          <p:cNvPr id="9" name="Credit"/>
          <p:cNvSpPr txBox="1"/>
          <p:nvPr/>
        </p:nvSpPr>
        <p:spPr>
          <a:xfrm>
            <a:off x="548640" y="4485132"/>
            <a:ext cx="4114800" cy="182880"/>
          </a:xfrm>
          <a:prstGeom prst="rect">
            <a:avLst/>
          </a:prstGeom>
          <a:noFill/>
        </p:spPr>
        <p:txBody>
          <a:bodyPr wrap="square" lIns="0" tIns="0" rIns="0" bIns="0" anchor="t">
            <a:noAutofit/>
          </a:bodyPr>
          <a:lstStyle/>
          <a:p>
            <a:pPr algn="l"/>
            <a:r>
              <a:rPr sz="1000" b="0" i="0" lang="en-GB">
                <a:solidFill>
                  <a:srgbClr val="A9B0B8"/>
                </a:solidFill>
                <a:latin typeface="Arial"/>
              </a:rPr>
              <a:t>Photo: Gillett's Crossing, CC BY 2.0, Wikimedia Commons.</a:t>
            </a:r>
          </a:p>
        </p:txBody>
      </p:sp>
      <p:sp>
        <p:nvSpPr>
          <p:cNvPr id="10" name="TextBox 9"/>
          <p:cNvSpPr txBox="1"/>
          <p:nvPr/>
        </p:nvSpPr>
        <p:spPr>
          <a:xfrm>
            <a:off x="5120640" y="1298448"/>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 stage</a:t>
            </a:r>
          </a:p>
        </p:txBody>
      </p:sp>
      <p:grpSp>
        <p:nvGrpSpPr>
          <p:cNvPr id="11" name="Coal stage diagram" descr="Coal stage: coal sits on a raised platform and slides down a chute into the tender below, by gravity."/>
          <p:cNvGrpSpPr/>
          <p:nvPr/>
        </p:nvGrpSpPr>
        <p:grpSpPr>
          <a:xfrm>
            <a:off x="5120640" y="1664208"/>
            <a:ext cx="5669280" cy="1691640"/>
            <a:chOff x="5120640" y="1664208"/>
            <a:chExt cx="5669280" cy="1691640"/>
          </a:xfrm>
        </p:grpSpPr>
        <p:sp>
          <p:nvSpPr>
            <p:cNvPr id="12" name="Rectangle 11"/>
            <p:cNvSpPr/>
            <p:nvPr/>
          </p:nvSpPr>
          <p:spPr>
            <a:xfrm>
              <a:off x="5120640" y="3291840"/>
              <a:ext cx="5669280" cy="64008"/>
            </a:xfrm>
            <a:prstGeom prst="rect">
              <a:avLst/>
            </a:prstGeom>
            <a:solidFill>
              <a:srgbClr val="9AA0A6"/>
            </a:solidFill>
            <a:ln>
              <a:noFill/>
            </a:ln>
          </p:spPr>
          <p:txBody>
            <a:bodyPr rtlCol="0" anchor="ctr"/>
            <a:lstStyle/>
            <a:p>
              <a:pPr algn="ctr"/>
            </a:p>
          </p:txBody>
        </p:sp>
        <p:sp>
          <p:nvSpPr>
            <p:cNvPr id="13" name="Rectangle 12"/>
            <p:cNvSpPr/>
            <p:nvPr/>
          </p:nvSpPr>
          <p:spPr>
            <a:xfrm>
              <a:off x="5257800" y="2286000"/>
              <a:ext cx="91440" cy="1005840"/>
            </a:xfrm>
            <a:prstGeom prst="rect">
              <a:avLst/>
            </a:prstGeom>
            <a:solidFill>
              <a:srgbClr val="9AA0A6"/>
            </a:solidFill>
            <a:ln>
              <a:noFill/>
            </a:ln>
          </p:spPr>
          <p:txBody>
            <a:bodyPr rtlCol="0" anchor="ctr"/>
            <a:lstStyle/>
            <a:p>
              <a:pPr algn="ctr"/>
            </a:p>
          </p:txBody>
        </p:sp>
        <p:sp>
          <p:nvSpPr>
            <p:cNvPr id="14" name="Rectangle 13"/>
            <p:cNvSpPr/>
            <p:nvPr/>
          </p:nvSpPr>
          <p:spPr>
            <a:xfrm>
              <a:off x="6172200" y="2286000"/>
              <a:ext cx="91440" cy="1005840"/>
            </a:xfrm>
            <a:prstGeom prst="rect">
              <a:avLst/>
            </a:prstGeom>
            <a:solidFill>
              <a:srgbClr val="9AA0A6"/>
            </a:solidFill>
            <a:ln>
              <a:noFill/>
            </a:ln>
          </p:spPr>
          <p:txBody>
            <a:bodyPr rtlCol="0" anchor="ctr"/>
            <a:lstStyle/>
            <a:p>
              <a:pPr algn="ctr"/>
            </a:p>
          </p:txBody>
        </p:sp>
        <p:sp>
          <p:nvSpPr>
            <p:cNvPr id="15" name="Rectangle 14"/>
            <p:cNvSpPr/>
            <p:nvPr/>
          </p:nvSpPr>
          <p:spPr>
            <a:xfrm>
              <a:off x="7086600" y="2286000"/>
              <a:ext cx="91440" cy="1005840"/>
            </a:xfrm>
            <a:prstGeom prst="rect">
              <a:avLst/>
            </a:prstGeom>
            <a:solidFill>
              <a:srgbClr val="9AA0A6"/>
            </a:solidFill>
            <a:ln>
              <a:noFill/>
            </a:ln>
          </p:spPr>
          <p:txBody>
            <a:bodyPr rtlCol="0" anchor="ctr"/>
            <a:lstStyle/>
            <a:p>
              <a:pPr algn="ctr"/>
            </a:p>
          </p:txBody>
        </p:sp>
        <p:sp>
          <p:nvSpPr>
            <p:cNvPr id="16" name="Rectangle 15"/>
            <p:cNvSpPr/>
            <p:nvPr/>
          </p:nvSpPr>
          <p:spPr>
            <a:xfrm>
              <a:off x="7863840" y="2286000"/>
              <a:ext cx="91440" cy="1005840"/>
            </a:xfrm>
            <a:prstGeom prst="rect">
              <a:avLst/>
            </a:prstGeom>
            <a:solidFill>
              <a:srgbClr val="9AA0A6"/>
            </a:solidFill>
            <a:ln>
              <a:noFill/>
            </a:ln>
          </p:spPr>
          <p:txBody>
            <a:bodyPr rtlCol="0" anchor="ctr"/>
            <a:lstStyle/>
            <a:p>
              <a:pPr algn="ctr"/>
            </a:p>
          </p:txBody>
        </p:sp>
        <p:sp>
          <p:nvSpPr>
            <p:cNvPr id="17" name="Rectangle 16"/>
            <p:cNvSpPr/>
            <p:nvPr/>
          </p:nvSpPr>
          <p:spPr>
            <a:xfrm>
              <a:off x="5120640" y="2148840"/>
              <a:ext cx="2926080" cy="137160"/>
            </a:xfrm>
            <a:prstGeom prst="rect">
              <a:avLst/>
            </a:prstGeom>
            <a:solidFill>
              <a:srgbClr val="6B5B4B"/>
            </a:solidFill>
            <a:ln w="9525">
              <a:solidFill>
                <a:srgbClr val="101418"/>
              </a:solidFill>
            </a:ln>
          </p:spPr>
          <p:txBody>
            <a:bodyPr rtlCol="0" anchor="ctr"/>
            <a:lstStyle/>
            <a:p>
              <a:pPr algn="ctr"/>
            </a:p>
          </p:txBody>
        </p:sp>
        <p:sp>
          <p:nvSpPr>
            <p:cNvPr id="18" name="Freeform 17"/>
            <p:cNvSpPr/>
            <p:nvPr/>
          </p:nvSpPr>
          <p:spPr>
            <a:xfrm>
              <a:off x="5989320" y="1737360"/>
              <a:ext cx="1371600" cy="411480"/>
            </a:xfrm>
            <a:custGeom>
              <a:avLst/>
              <a:gdLst/>
              <a:ahLst/>
              <a:cxnLst/>
              <a:rect l="l" t="t" r="r" b="b"/>
              <a:pathLst>
                <a:path w="1371600" h="411480">
                  <a:moveTo>
                    <a:pt x="0" y="411480"/>
                  </a:moveTo>
                  <a:lnTo>
                    <a:pt x="246888" y="164592"/>
                  </a:lnTo>
                  <a:lnTo>
                    <a:pt x="521208" y="61722"/>
                  </a:lnTo>
                  <a:lnTo>
                    <a:pt x="754380" y="0"/>
                  </a:lnTo>
                  <a:lnTo>
                    <a:pt x="1028700" y="123444"/>
                  </a:lnTo>
                  <a:lnTo>
                    <a:pt x="1261872" y="246888"/>
                  </a:lnTo>
                  <a:lnTo>
                    <a:pt x="1371600" y="411480"/>
                  </a:lnTo>
                  <a:close/>
                </a:path>
              </a:pathLst>
            </a:custGeom>
            <a:solidFill>
              <a:srgbClr val="1B1D21"/>
            </a:solidFill>
            <a:ln w="25400">
              <a:solidFill>
                <a:srgbClr val="6B7078"/>
              </a:solidFill>
            </a:ln>
          </p:spPr>
          <p:txBody>
            <a:bodyPr rtlCol="0" anchor="ctr"/>
            <a:lstStyle/>
            <a:p>
              <a:pPr algn="ctr"/>
            </a:p>
          </p:txBody>
        </p:sp>
        <p:sp>
          <p:nvSpPr>
            <p:cNvPr id="19" name="Freeform 18"/>
            <p:cNvSpPr/>
            <p:nvPr/>
          </p:nvSpPr>
          <p:spPr>
            <a:xfrm>
              <a:off x="8046720" y="2148840"/>
              <a:ext cx="1143000" cy="548640"/>
            </a:xfrm>
            <a:custGeom>
              <a:avLst/>
              <a:gdLst/>
              <a:ahLst/>
              <a:cxnLst/>
              <a:rect l="l" t="t" r="r" b="b"/>
              <a:pathLst>
                <a:path w="1143000" h="548640">
                  <a:moveTo>
                    <a:pt x="0" y="0"/>
                  </a:moveTo>
                  <a:lnTo>
                    <a:pt x="0" y="182880"/>
                  </a:lnTo>
                  <a:lnTo>
                    <a:pt x="1143000" y="548640"/>
                  </a:lnTo>
                  <a:lnTo>
                    <a:pt x="1143000" y="365760"/>
                  </a:lnTo>
                  <a:close/>
                </a:path>
              </a:pathLst>
            </a:custGeom>
            <a:solidFill>
              <a:srgbClr val="9AA0A6"/>
            </a:solidFill>
            <a:ln w="9525">
              <a:solidFill>
                <a:srgbClr val="101418"/>
              </a:solidFill>
            </a:ln>
          </p:spPr>
          <p:txBody>
            <a:bodyPr rtlCol="0" anchor="ctr"/>
            <a:lstStyle/>
            <a:p>
              <a:pPr algn="ctr"/>
            </a:p>
          </p:txBody>
        </p:sp>
        <p:sp>
          <p:nvSpPr>
            <p:cNvPr id="20" name="Rectangle 19"/>
            <p:cNvSpPr/>
            <p:nvPr/>
          </p:nvSpPr>
          <p:spPr>
            <a:xfrm>
              <a:off x="8549640" y="2606040"/>
              <a:ext cx="2011680" cy="621792"/>
            </a:xfrm>
            <a:prstGeom prst="rect">
              <a:avLst/>
            </a:prstGeom>
            <a:solidFill>
              <a:srgbClr val="6C7480"/>
            </a:solidFill>
            <a:ln w="12700">
              <a:solidFill>
                <a:srgbClr val="101418"/>
              </a:solidFill>
            </a:ln>
          </p:spPr>
          <p:txBody>
            <a:bodyPr rtlCol="0" anchor="ctr"/>
            <a:lstStyle/>
            <a:p>
              <a:pPr algn="ctr"/>
            </a:p>
          </p:txBody>
        </p:sp>
        <p:sp>
          <p:nvSpPr>
            <p:cNvPr id="21" name="Freeform 20"/>
            <p:cNvSpPr/>
            <p:nvPr/>
          </p:nvSpPr>
          <p:spPr>
            <a:xfrm>
              <a:off x="8869680" y="2496312"/>
              <a:ext cx="548640" cy="109728"/>
            </a:xfrm>
            <a:custGeom>
              <a:avLst/>
              <a:gdLst/>
              <a:ahLst/>
              <a:cxnLst/>
              <a:rect l="l" t="t" r="r" b="b"/>
              <a:pathLst>
                <a:path w="548640" h="109728">
                  <a:moveTo>
                    <a:pt x="0" y="109728"/>
                  </a:moveTo>
                  <a:lnTo>
                    <a:pt x="98755" y="43891"/>
                  </a:lnTo>
                  <a:lnTo>
                    <a:pt x="208483" y="16459"/>
                  </a:lnTo>
                  <a:lnTo>
                    <a:pt x="301752" y="0"/>
                  </a:lnTo>
                  <a:lnTo>
                    <a:pt x="411480" y="32918"/>
                  </a:lnTo>
                  <a:lnTo>
                    <a:pt x="504749" y="65837"/>
                  </a:lnTo>
                  <a:lnTo>
                    <a:pt x="548640" y="109728"/>
                  </a:lnTo>
                  <a:close/>
                </a:path>
              </a:pathLst>
            </a:custGeom>
            <a:solidFill>
              <a:srgbClr val="1B1D21"/>
            </a:solidFill>
            <a:ln w="25400">
              <a:solidFill>
                <a:srgbClr val="6B7078"/>
              </a:solidFill>
            </a:ln>
          </p:spPr>
          <p:txBody>
            <a:bodyPr rtlCol="0" anchor="ctr"/>
            <a:lstStyle/>
            <a:p>
              <a:pPr algn="ctr"/>
            </a:p>
          </p:txBody>
        </p:sp>
        <p:sp>
          <p:nvSpPr>
            <p:cNvPr id="22" name="Oval 21"/>
            <p:cNvSpPr/>
            <p:nvPr/>
          </p:nvSpPr>
          <p:spPr>
            <a:xfrm>
              <a:off x="8823960" y="3108960"/>
              <a:ext cx="182880" cy="18288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10104120" y="3108960"/>
              <a:ext cx="182880" cy="182880"/>
            </a:xfrm>
            <a:prstGeom prst="ellipse">
              <a:avLst/>
            </a:prstGeom>
            <a:solidFill>
              <a:srgbClr val="1B1D21"/>
            </a:solidFill>
            <a:ln w="12700">
              <a:solidFill>
                <a:srgbClr val="9AA0A6"/>
              </a:solidFill>
            </a:ln>
          </p:spPr>
          <p:txBody>
            <a:bodyPr rtlCol="0" anchor="ctr"/>
            <a:lstStyle/>
            <a:p>
              <a:pPr algn="ctr"/>
            </a:p>
          </p:txBody>
        </p:sp>
        <p:cxnSp>
          <p:nvCxnSpPr>
            <p:cNvPr id="24" name="Connector 23"/>
            <p:cNvCxnSpPr/>
            <p:nvPr/>
          </p:nvCxnSpPr>
          <p:spPr>
            <a:xfrm>
              <a:off x="8183880" y="2057400"/>
              <a:ext cx="868680" cy="283464"/>
            </a:xfrm>
            <a:prstGeom prst="line">
              <a:avLst/>
            </a:prstGeom>
            <a:ln w="28575">
              <a:solidFill>
                <a:srgbClr val="F28C28"/>
              </a:solidFill>
              <a:tailEnd type="triangle" w="lg" len="lg"/>
            </a:ln>
          </p:spPr>
        </p:cxnSp>
        <p:sp>
          <p:nvSpPr>
            <p:cNvPr id="25" name="TextBox 24"/>
            <p:cNvSpPr txBox="1"/>
            <p:nvPr/>
          </p:nvSpPr>
          <p:spPr>
            <a:xfrm>
              <a:off x="8229600" y="1664208"/>
              <a:ext cx="1280160" cy="329184"/>
            </a:xfrm>
            <a:prstGeom prst="rect">
              <a:avLst/>
            </a:prstGeom>
            <a:noFill/>
          </p:spPr>
          <p:txBody>
            <a:bodyPr wrap="square" lIns="0" tIns="0" rIns="0" bIns="0" anchor="b">
              <a:noAutofit/>
            </a:bodyPr>
            <a:lstStyle/>
            <a:p>
              <a:pPr algn="l"/>
              <a:r>
                <a:rPr sz="1600" b="0" i="0" lang="en-GB">
                  <a:solidFill>
                    <a:srgbClr val="F2F2F2"/>
                  </a:solidFill>
                  <a:latin typeface="Arial"/>
                </a:rPr>
                <a:t>Gravity</a:t>
              </a:r>
            </a:p>
          </p:txBody>
        </p:sp>
      </p:grpSp>
      <p:sp>
        <p:nvSpPr>
          <p:cNvPr id="26" name="TextBox 25"/>
          <p:cNvSpPr txBox="1"/>
          <p:nvPr/>
        </p:nvSpPr>
        <p:spPr>
          <a:xfrm>
            <a:off x="5120640" y="3474720"/>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Coaling tower</a:t>
            </a:r>
          </a:p>
        </p:txBody>
      </p:sp>
      <p:grpSp>
        <p:nvGrpSpPr>
          <p:cNvPr id="27" name="Coaling tower diagram" descr="Coaling tower: coal is lifted to the top of a tall tower and drops through a hopper into the tender."/>
          <p:cNvGrpSpPr/>
          <p:nvPr/>
        </p:nvGrpSpPr>
        <p:grpSpPr>
          <a:xfrm>
            <a:off x="5120640" y="3931920"/>
            <a:ext cx="4206240" cy="1728216"/>
            <a:chOff x="5120640" y="3931920"/>
            <a:chExt cx="4206240" cy="1728216"/>
          </a:xfrm>
        </p:grpSpPr>
        <p:sp>
          <p:nvSpPr>
            <p:cNvPr id="28" name="Rectangle 27"/>
            <p:cNvSpPr/>
            <p:nvPr/>
          </p:nvSpPr>
          <p:spPr>
            <a:xfrm>
              <a:off x="5120640" y="5596128"/>
              <a:ext cx="4206240" cy="64008"/>
            </a:xfrm>
            <a:prstGeom prst="rect">
              <a:avLst/>
            </a:prstGeom>
            <a:solidFill>
              <a:srgbClr val="9AA0A6"/>
            </a:solidFill>
            <a:ln>
              <a:noFill/>
            </a:ln>
          </p:spPr>
          <p:txBody>
            <a:bodyPr rtlCol="0" anchor="ctr"/>
            <a:lstStyle/>
            <a:p>
              <a:pPr algn="ctr"/>
            </a:p>
          </p:txBody>
        </p:sp>
        <p:sp>
          <p:nvSpPr>
            <p:cNvPr id="29" name="Rectangle 28"/>
            <p:cNvSpPr/>
            <p:nvPr/>
          </p:nvSpPr>
          <p:spPr>
            <a:xfrm>
              <a:off x="5577840" y="3931920"/>
              <a:ext cx="914400" cy="1664208"/>
            </a:xfrm>
            <a:prstGeom prst="rect">
              <a:avLst/>
            </a:prstGeom>
            <a:solidFill>
              <a:srgbClr val="343A43"/>
            </a:solidFill>
            <a:ln w="19050">
              <a:solidFill>
                <a:srgbClr val="9AA0A6"/>
              </a:solidFill>
            </a:ln>
          </p:spPr>
          <p:txBody>
            <a:bodyPr rtlCol="0" anchor="ctr"/>
            <a:lstStyle/>
            <a:p>
              <a:pPr algn="ctr"/>
            </a:p>
          </p:txBody>
        </p:sp>
        <p:sp>
          <p:nvSpPr>
            <p:cNvPr id="30" name="Rectangle 29"/>
            <p:cNvSpPr/>
            <p:nvPr/>
          </p:nvSpPr>
          <p:spPr>
            <a:xfrm>
              <a:off x="5650992" y="4005072"/>
              <a:ext cx="768096" cy="411480"/>
            </a:xfrm>
            <a:prstGeom prst="rect">
              <a:avLst/>
            </a:prstGeom>
            <a:solidFill>
              <a:srgbClr val="1B1D21"/>
            </a:solidFill>
            <a:ln w="19050">
              <a:solidFill>
                <a:srgbClr val="6B7078"/>
              </a:solidFill>
            </a:ln>
          </p:spPr>
          <p:txBody>
            <a:bodyPr rtlCol="0" anchor="ctr"/>
            <a:lstStyle/>
            <a:p>
              <a:pPr algn="ctr"/>
            </a:p>
          </p:txBody>
        </p:sp>
        <p:sp>
          <p:nvSpPr>
            <p:cNvPr id="31" name="Freeform 30"/>
            <p:cNvSpPr/>
            <p:nvPr/>
          </p:nvSpPr>
          <p:spPr>
            <a:xfrm>
              <a:off x="6492240" y="4434840"/>
              <a:ext cx="777240" cy="393192"/>
            </a:xfrm>
            <a:custGeom>
              <a:avLst/>
              <a:gdLst/>
              <a:ahLst/>
              <a:cxnLst/>
              <a:rect l="l" t="t" r="r" b="b"/>
              <a:pathLst>
                <a:path w="777240" h="393192">
                  <a:moveTo>
                    <a:pt x="0" y="0"/>
                  </a:moveTo>
                  <a:lnTo>
                    <a:pt x="777240" y="0"/>
                  </a:lnTo>
                  <a:lnTo>
                    <a:pt x="502920" y="393192"/>
                  </a:lnTo>
                  <a:lnTo>
                    <a:pt x="274320" y="393192"/>
                  </a:lnTo>
                  <a:close/>
                </a:path>
              </a:pathLst>
            </a:custGeom>
            <a:solidFill>
              <a:srgbClr val="9AA0A6"/>
            </a:solidFill>
            <a:ln w="9525">
              <a:solidFill>
                <a:srgbClr val="101418"/>
              </a:solidFill>
            </a:ln>
          </p:spPr>
          <p:txBody>
            <a:bodyPr rtlCol="0" anchor="ctr"/>
            <a:lstStyle/>
            <a:p>
              <a:pPr algn="ctr"/>
            </a:p>
          </p:txBody>
        </p:sp>
        <p:sp>
          <p:nvSpPr>
            <p:cNvPr id="32" name="Rectangle 31"/>
            <p:cNvSpPr/>
            <p:nvPr/>
          </p:nvSpPr>
          <p:spPr>
            <a:xfrm>
              <a:off x="6400800" y="4910328"/>
              <a:ext cx="2011680" cy="621792"/>
            </a:xfrm>
            <a:prstGeom prst="rect">
              <a:avLst/>
            </a:prstGeom>
            <a:solidFill>
              <a:srgbClr val="6C7480"/>
            </a:solidFill>
            <a:ln w="12700">
              <a:solidFill>
                <a:srgbClr val="101418"/>
              </a:solidFill>
            </a:ln>
          </p:spPr>
          <p:txBody>
            <a:bodyPr rtlCol="0" anchor="ctr"/>
            <a:lstStyle/>
            <a:p>
              <a:pPr algn="ctr"/>
            </a:p>
          </p:txBody>
        </p:sp>
        <p:sp>
          <p:nvSpPr>
            <p:cNvPr id="33" name="Oval 32"/>
            <p:cNvSpPr/>
            <p:nvPr/>
          </p:nvSpPr>
          <p:spPr>
            <a:xfrm>
              <a:off x="6675120" y="5413248"/>
              <a:ext cx="182880" cy="182880"/>
            </a:xfrm>
            <a:prstGeom prst="ellipse">
              <a:avLst/>
            </a:prstGeom>
            <a:solidFill>
              <a:srgbClr val="1B1D21"/>
            </a:solidFill>
            <a:ln w="12700">
              <a:solidFill>
                <a:srgbClr val="9AA0A6"/>
              </a:solidFill>
            </a:ln>
          </p:spPr>
          <p:txBody>
            <a:bodyPr rtlCol="0" anchor="ctr"/>
            <a:lstStyle/>
            <a:p>
              <a:pPr algn="ctr"/>
            </a:p>
          </p:txBody>
        </p:sp>
        <p:sp>
          <p:nvSpPr>
            <p:cNvPr id="34" name="Oval 33"/>
            <p:cNvSpPr/>
            <p:nvPr/>
          </p:nvSpPr>
          <p:spPr>
            <a:xfrm>
              <a:off x="7955280" y="5413248"/>
              <a:ext cx="182880" cy="182880"/>
            </a:xfrm>
            <a:prstGeom prst="ellipse">
              <a:avLst/>
            </a:prstGeom>
            <a:solidFill>
              <a:srgbClr val="1B1D21"/>
            </a:solidFill>
            <a:ln w="12700">
              <a:solidFill>
                <a:srgbClr val="9AA0A6"/>
              </a:solidFill>
            </a:ln>
          </p:spPr>
          <p:txBody>
            <a:bodyPr rtlCol="0" anchor="ctr"/>
            <a:lstStyle/>
            <a:p>
              <a:pPr algn="ctr"/>
            </a:p>
          </p:txBody>
        </p:sp>
        <p:cxnSp>
          <p:nvCxnSpPr>
            <p:cNvPr id="35" name="Connector 34"/>
            <p:cNvCxnSpPr/>
            <p:nvPr/>
          </p:nvCxnSpPr>
          <p:spPr>
            <a:xfrm>
              <a:off x="7498080" y="4343400"/>
              <a:ext cx="0" cy="502920"/>
            </a:xfrm>
            <a:prstGeom prst="line">
              <a:avLst/>
            </a:prstGeom>
            <a:ln w="28575">
              <a:solidFill>
                <a:srgbClr val="F28C28"/>
              </a:solidFill>
              <a:tailEnd type="triangle" w="lg" len="lg"/>
            </a:ln>
          </p:spPr>
        </p:cxnSp>
        <p:sp>
          <p:nvSpPr>
            <p:cNvPr id="36" name="TextBox 35"/>
            <p:cNvSpPr txBox="1"/>
            <p:nvPr/>
          </p:nvSpPr>
          <p:spPr>
            <a:xfrm>
              <a:off x="7635240" y="4370832"/>
              <a:ext cx="128016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7" name="Picture P09" descr="A tall coaling tower and a water tower at Carnforth."/>
          <p:cNvPicPr>
            <a:picLocks noChangeAspect="1"/>
          </p:cNvPicPr>
          <p:nvPr/>
        </p:nvPicPr>
        <p:blipFill>
          <a:blip r:embed="rId3"/>
          <a:srcRect t="617" b="617"/>
          <a:stretch>
            <a:fillRect/>
          </a:stretch>
        </p:blipFill>
        <p:spPr>
          <a:xfrm>
            <a:off x="9445752" y="4526280"/>
            <a:ext cx="2194560" cy="822960"/>
          </a:xfrm>
          <a:prstGeom prst="roundRect">
            <a:avLst>
              <a:gd name="adj" fmla="val 8889"/>
            </a:avLst>
          </a:prstGeom>
        </p:spPr>
      </p:pic>
      <p:sp>
        <p:nvSpPr>
          <p:cNvPr id="38" name="Credit"/>
          <p:cNvSpPr txBox="1"/>
          <p:nvPr/>
        </p:nvSpPr>
        <p:spPr>
          <a:xfrm>
            <a:off x="9445752" y="537667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starts higher than the tender. A ramp or tower lets gravity fill it.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trains need signals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No signals" descr="Without signals: two trains on the same track head for each other with no warning, and crash."/>
          <p:cNvGrpSpPr/>
          <p:nvPr/>
        </p:nvGrpSpPr>
        <p:grpSpPr>
          <a:xfrm>
            <a:off x="548640" y="1325880"/>
            <a:ext cx="11091672" cy="1691640"/>
            <a:chOff x="548640" y="1325880"/>
            <a:chExt cx="11091672" cy="1691640"/>
          </a:xfrm>
        </p:grpSpPr>
        <p:sp>
          <p:nvSpPr>
            <p:cNvPr id="9" name="Rounded Rectangle 8"/>
            <p:cNvSpPr/>
            <p:nvPr/>
          </p:nvSpPr>
          <p:spPr>
            <a:xfrm>
              <a:off x="548640" y="1325880"/>
              <a:ext cx="11091672" cy="1691640"/>
            </a:xfrm>
            <a:prstGeom prst="roundRect">
              <a:avLst>
                <a:gd name="adj" fmla="val 4324"/>
              </a:avLst>
            </a:prstGeom>
            <a:solidFill>
              <a:srgbClr val="2B2F36"/>
            </a:solidFill>
            <a:ln>
              <a:noFill/>
            </a:ln>
          </p:spPr>
          <p:txBody>
            <a:bodyPr rtlCol="0" anchor="ctr"/>
            <a:lstStyle/>
            <a:p>
              <a:pPr algn="ctr"/>
            </a:p>
          </p:txBody>
        </p:sp>
        <p:sp>
          <p:nvSpPr>
            <p:cNvPr id="10" name="Rectangle 9"/>
            <p:cNvSpPr/>
            <p:nvPr/>
          </p:nvSpPr>
          <p:spPr>
            <a:xfrm>
              <a:off x="1092708" y="2340864"/>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412748" y="2340864"/>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732788" y="2340864"/>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052828" y="2340864"/>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372868" y="2340864"/>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692908" y="2340864"/>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012948" y="2340864"/>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332988" y="2340864"/>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653028" y="2340864"/>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3973068" y="2340864"/>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293108" y="2340864"/>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613148" y="2340864"/>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4933188" y="2340864"/>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253228" y="2340864"/>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573268" y="2340864"/>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5893308" y="2340864"/>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213348" y="2340864"/>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533388" y="2340864"/>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6853428" y="2340864"/>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173468" y="2340864"/>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493508" y="2340864"/>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813548" y="2340864"/>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133588" y="2340864"/>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453628" y="2340864"/>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773668" y="2340864"/>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093708" y="2340864"/>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413748" y="2340864"/>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733788" y="2340864"/>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053828" y="2340864"/>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373868" y="2340864"/>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693908" y="2340864"/>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013948" y="2340864"/>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822960" y="2368296"/>
              <a:ext cx="10515600" cy="54864"/>
            </a:xfrm>
            <a:prstGeom prst="rect">
              <a:avLst/>
            </a:prstGeom>
            <a:solidFill>
              <a:srgbClr val="9AA0A6"/>
            </a:solidFill>
            <a:ln>
              <a:noFill/>
            </a:ln>
          </p:spPr>
          <p:txBody>
            <a:bodyPr rtlCol="0" anchor="ctr"/>
            <a:lstStyle/>
            <a:p>
              <a:pPr algn="ctr"/>
            </a:p>
          </p:txBody>
        </p:sp>
        <p:sp>
          <p:nvSpPr>
            <p:cNvPr id="43" name="Rectangle 42"/>
            <p:cNvSpPr/>
            <p:nvPr/>
          </p:nvSpPr>
          <p:spPr>
            <a:xfrm>
              <a:off x="822960" y="2624328"/>
              <a:ext cx="10515600" cy="54864"/>
            </a:xfrm>
            <a:prstGeom prst="rect">
              <a:avLst/>
            </a:prstGeom>
            <a:solidFill>
              <a:srgbClr val="9AA0A6"/>
            </a:solidFill>
            <a:ln>
              <a:noFill/>
            </a:ln>
          </p:spPr>
          <p:txBody>
            <a:bodyPr rtlCol="0" anchor="ctr"/>
            <a:lstStyle/>
            <a:p>
              <a:pPr algn="ctr"/>
            </a:p>
          </p:txBody>
        </p:sp>
        <p:grpSp>
          <p:nvGrpSpPr>
            <p:cNvPr id="44" name="Train A" descr="A steam train: an engine pulling wagons."/>
            <p:cNvGrpSpPr/>
            <p:nvPr/>
          </p:nvGrpSpPr>
          <p:grpSpPr>
            <a:xfrm>
              <a:off x="1920240" y="1630375"/>
              <a:ext cx="2271370" cy="765353"/>
              <a:chOff x="1920240" y="1630375"/>
              <a:chExt cx="2271370" cy="765353"/>
            </a:xfrm>
          </p:grpSpPr>
          <p:sp>
            <p:nvSpPr>
              <p:cNvPr id="45" name="Rectangle 44"/>
              <p:cNvSpPr/>
              <p:nvPr/>
            </p:nvSpPr>
            <p:spPr>
              <a:xfrm>
                <a:off x="1920240" y="1926641"/>
                <a:ext cx="658368" cy="370332"/>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2002536" y="2231136"/>
                <a:ext cx="164592" cy="164592"/>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2331720" y="2231136"/>
                <a:ext cx="164592" cy="164592"/>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2578608" y="2189988"/>
                <a:ext cx="65837" cy="41148"/>
              </a:xfrm>
              <a:prstGeom prst="rect">
                <a:avLst/>
              </a:prstGeom>
              <a:solidFill>
                <a:srgbClr val="9AA0A6"/>
              </a:solidFill>
              <a:ln>
                <a:noFill/>
              </a:ln>
            </p:spPr>
            <p:txBody>
              <a:bodyPr rtlCol="0" anchor="ctr"/>
              <a:lstStyle/>
              <a:p>
                <a:pPr algn="ctr"/>
              </a:p>
            </p:txBody>
          </p:sp>
          <p:sp>
            <p:nvSpPr>
              <p:cNvPr id="49" name="Rectangle 48"/>
              <p:cNvSpPr/>
              <p:nvPr/>
            </p:nvSpPr>
            <p:spPr>
              <a:xfrm>
                <a:off x="2644445" y="1926641"/>
                <a:ext cx="658368" cy="370332"/>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2726741" y="2231136"/>
                <a:ext cx="164592" cy="16459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055925" y="2231136"/>
                <a:ext cx="164592" cy="16459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3302813" y="2189988"/>
                <a:ext cx="65837" cy="41148"/>
              </a:xfrm>
              <a:prstGeom prst="rect">
                <a:avLst/>
              </a:prstGeom>
              <a:solidFill>
                <a:srgbClr val="9AA0A6"/>
              </a:solidFill>
              <a:ln>
                <a:noFill/>
              </a:ln>
            </p:spPr>
            <p:txBody>
              <a:bodyPr rtlCol="0" anchor="ctr"/>
              <a:lstStyle/>
              <a:p>
                <a:pPr algn="ctr"/>
              </a:p>
            </p:txBody>
          </p:sp>
          <p:sp>
            <p:nvSpPr>
              <p:cNvPr id="53" name="Rectangle 52"/>
              <p:cNvSpPr/>
              <p:nvPr/>
            </p:nvSpPr>
            <p:spPr>
              <a:xfrm>
                <a:off x="3368650" y="1860804"/>
                <a:ext cx="822960" cy="452628"/>
              </a:xfrm>
              <a:prstGeom prst="rect">
                <a:avLst/>
              </a:prstGeom>
              <a:solidFill>
                <a:srgbClr val="F28C28"/>
              </a:solidFill>
              <a:ln w="9525">
                <a:solidFill>
                  <a:srgbClr val="101418"/>
                </a:solidFill>
              </a:ln>
            </p:spPr>
            <p:txBody>
              <a:bodyPr rtlCol="0" anchor="ctr"/>
              <a:lstStyle/>
              <a:p>
                <a:pPr algn="ctr"/>
              </a:p>
            </p:txBody>
          </p:sp>
          <p:sp>
            <p:nvSpPr>
              <p:cNvPr id="54" name="Bunker"/>
              <p:cNvSpPr/>
              <p:nvPr/>
            </p:nvSpPr>
            <p:spPr>
              <a:xfrm>
                <a:off x="3393338" y="1885493"/>
                <a:ext cx="213970" cy="164592"/>
              </a:xfrm>
              <a:prstGeom prst="rect">
                <a:avLst/>
              </a:prstGeom>
              <a:solidFill>
                <a:srgbClr val="1B1D21"/>
              </a:solidFill>
              <a:ln>
                <a:noFill/>
              </a:ln>
            </p:spPr>
            <p:txBody>
              <a:bodyPr rtlCol="0" anchor="ctr"/>
              <a:lstStyle/>
              <a:p>
                <a:pPr algn="ctr"/>
              </a:p>
            </p:txBody>
          </p:sp>
          <p:sp>
            <p:nvSpPr>
              <p:cNvPr id="55" name="Rectangle 54"/>
              <p:cNvSpPr/>
              <p:nvPr/>
            </p:nvSpPr>
            <p:spPr>
              <a:xfrm>
                <a:off x="3648456" y="1918411"/>
                <a:ext cx="115214" cy="115214"/>
              </a:xfrm>
              <a:prstGeom prst="rect">
                <a:avLst/>
              </a:prstGeom>
              <a:solidFill>
                <a:srgbClr val="2B2F36"/>
              </a:solidFill>
              <a:ln>
                <a:noFill/>
              </a:ln>
            </p:spPr>
            <p:txBody>
              <a:bodyPr rtlCol="0" anchor="ctr"/>
              <a:lstStyle/>
              <a:p>
                <a:pPr algn="ctr"/>
              </a:p>
            </p:txBody>
          </p:sp>
          <p:sp>
            <p:nvSpPr>
              <p:cNvPr id="56" name="Chimney"/>
              <p:cNvSpPr/>
              <p:nvPr/>
            </p:nvSpPr>
            <p:spPr>
              <a:xfrm>
                <a:off x="4010558" y="1630375"/>
                <a:ext cx="123444" cy="246888"/>
              </a:xfrm>
              <a:prstGeom prst="rect">
                <a:avLst/>
              </a:prstGeom>
              <a:solidFill>
                <a:srgbClr val="1B1D21"/>
              </a:solidFill>
              <a:ln>
                <a:noFill/>
              </a:ln>
            </p:spPr>
            <p:txBody>
              <a:bodyPr rtlCol="0" anchor="ctr"/>
              <a:lstStyle/>
              <a:p>
                <a:pPr algn="ctr"/>
              </a:p>
            </p:txBody>
          </p:sp>
          <p:sp>
            <p:nvSpPr>
              <p:cNvPr id="57" name="Oval 56"/>
              <p:cNvSpPr/>
              <p:nvPr/>
            </p:nvSpPr>
            <p:spPr>
              <a:xfrm>
                <a:off x="3450946" y="2231136"/>
                <a:ext cx="164592" cy="164592"/>
              </a:xfrm>
              <a:prstGeom prst="ellipse">
                <a:avLst/>
              </a:prstGeom>
              <a:solidFill>
                <a:srgbClr val="1B1D21"/>
              </a:solidFill>
              <a:ln w="12700">
                <a:solidFill>
                  <a:srgbClr val="9AA0A6"/>
                </a:solidFill>
              </a:ln>
            </p:spPr>
            <p:txBody>
              <a:bodyPr rtlCol="0" anchor="ctr"/>
              <a:lstStyle/>
              <a:p>
                <a:pPr algn="ctr"/>
              </a:p>
            </p:txBody>
          </p:sp>
          <p:sp>
            <p:nvSpPr>
              <p:cNvPr id="58" name="Oval 57"/>
              <p:cNvSpPr/>
              <p:nvPr/>
            </p:nvSpPr>
            <p:spPr>
              <a:xfrm>
                <a:off x="3697834" y="2231136"/>
                <a:ext cx="164592" cy="164592"/>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3944722" y="2231136"/>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60" name="Train B" descr="A steam train: an engine pulling wagons."/>
            <p:cNvGrpSpPr/>
            <p:nvPr/>
          </p:nvGrpSpPr>
          <p:grpSpPr>
            <a:xfrm>
              <a:off x="6995160" y="1630375"/>
              <a:ext cx="2271370" cy="765353"/>
              <a:chOff x="6995160" y="1630375"/>
              <a:chExt cx="2271370" cy="765353"/>
            </a:xfrm>
          </p:grpSpPr>
          <p:sp>
            <p:nvSpPr>
              <p:cNvPr id="61" name="Rectangle 60"/>
              <p:cNvSpPr/>
              <p:nvPr/>
            </p:nvSpPr>
            <p:spPr>
              <a:xfrm>
                <a:off x="8608162" y="1926641"/>
                <a:ext cx="658368" cy="370332"/>
              </a:xfrm>
              <a:prstGeom prst="rect">
                <a:avLst/>
              </a:prstGeom>
              <a:solidFill>
                <a:srgbClr val="6C7480"/>
              </a:solidFill>
              <a:ln w="9525">
                <a:solidFill>
                  <a:srgbClr val="101418"/>
                </a:solidFill>
              </a:ln>
            </p:spPr>
            <p:txBody>
              <a:bodyPr rtlCol="0" anchor="ctr"/>
              <a:lstStyle/>
              <a:p>
                <a:pPr algn="ctr"/>
              </a:p>
            </p:txBody>
          </p:sp>
          <p:sp>
            <p:nvSpPr>
              <p:cNvPr id="62" name="Oval 61"/>
              <p:cNvSpPr/>
              <p:nvPr/>
            </p:nvSpPr>
            <p:spPr>
              <a:xfrm>
                <a:off x="9019642" y="2231136"/>
                <a:ext cx="164592" cy="16459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8690458" y="2231136"/>
                <a:ext cx="164592" cy="164592"/>
              </a:xfrm>
              <a:prstGeom prst="ellipse">
                <a:avLst/>
              </a:prstGeom>
              <a:solidFill>
                <a:srgbClr val="1B1D21"/>
              </a:solidFill>
              <a:ln w="12700">
                <a:solidFill>
                  <a:srgbClr val="9AA0A6"/>
                </a:solidFill>
              </a:ln>
            </p:spPr>
            <p:txBody>
              <a:bodyPr rtlCol="0" anchor="ctr"/>
              <a:lstStyle/>
              <a:p>
                <a:pPr algn="ctr"/>
              </a:p>
            </p:txBody>
          </p:sp>
          <p:sp>
            <p:nvSpPr>
              <p:cNvPr id="64" name="Rectangle 63"/>
              <p:cNvSpPr/>
              <p:nvPr/>
            </p:nvSpPr>
            <p:spPr>
              <a:xfrm>
                <a:off x="8542325" y="2189988"/>
                <a:ext cx="65837" cy="41148"/>
              </a:xfrm>
              <a:prstGeom prst="rect">
                <a:avLst/>
              </a:prstGeom>
              <a:solidFill>
                <a:srgbClr val="9AA0A6"/>
              </a:solidFill>
              <a:ln>
                <a:noFill/>
              </a:ln>
            </p:spPr>
            <p:txBody>
              <a:bodyPr rtlCol="0" anchor="ctr"/>
              <a:lstStyle/>
              <a:p>
                <a:pPr algn="ctr"/>
              </a:p>
            </p:txBody>
          </p:sp>
          <p:sp>
            <p:nvSpPr>
              <p:cNvPr id="65" name="Rectangle 64"/>
              <p:cNvSpPr/>
              <p:nvPr/>
            </p:nvSpPr>
            <p:spPr>
              <a:xfrm>
                <a:off x="7883957" y="1926641"/>
                <a:ext cx="658368" cy="370332"/>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295437" y="2231136"/>
                <a:ext cx="164592" cy="164592"/>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7966253" y="2231136"/>
                <a:ext cx="164592" cy="164592"/>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7818120" y="2189988"/>
                <a:ext cx="65837" cy="41148"/>
              </a:xfrm>
              <a:prstGeom prst="rect">
                <a:avLst/>
              </a:prstGeom>
              <a:solidFill>
                <a:srgbClr val="9AA0A6"/>
              </a:solidFill>
              <a:ln>
                <a:noFill/>
              </a:ln>
            </p:spPr>
            <p:txBody>
              <a:bodyPr rtlCol="0" anchor="ctr"/>
              <a:lstStyle/>
              <a:p>
                <a:pPr algn="ctr"/>
              </a:p>
            </p:txBody>
          </p:sp>
          <p:sp>
            <p:nvSpPr>
              <p:cNvPr id="69" name="Rectangle 68"/>
              <p:cNvSpPr/>
              <p:nvPr/>
            </p:nvSpPr>
            <p:spPr>
              <a:xfrm>
                <a:off x="6995160" y="1860804"/>
                <a:ext cx="822960" cy="452628"/>
              </a:xfrm>
              <a:prstGeom prst="rect">
                <a:avLst/>
              </a:prstGeom>
              <a:solidFill>
                <a:srgbClr val="F28C28"/>
              </a:solidFill>
              <a:ln w="9525">
                <a:solidFill>
                  <a:srgbClr val="101418"/>
                </a:solidFill>
              </a:ln>
            </p:spPr>
            <p:txBody>
              <a:bodyPr rtlCol="0" anchor="ctr"/>
              <a:lstStyle/>
              <a:p>
                <a:pPr algn="ctr"/>
              </a:p>
            </p:txBody>
          </p:sp>
          <p:sp>
            <p:nvSpPr>
              <p:cNvPr id="70" name="Bunker"/>
              <p:cNvSpPr/>
              <p:nvPr/>
            </p:nvSpPr>
            <p:spPr>
              <a:xfrm>
                <a:off x="7579462" y="1885493"/>
                <a:ext cx="213970" cy="164592"/>
              </a:xfrm>
              <a:prstGeom prst="rect">
                <a:avLst/>
              </a:prstGeom>
              <a:solidFill>
                <a:srgbClr val="1B1D21"/>
              </a:solidFill>
              <a:ln>
                <a:noFill/>
              </a:ln>
            </p:spPr>
            <p:txBody>
              <a:bodyPr rtlCol="0" anchor="ctr"/>
              <a:lstStyle/>
              <a:p>
                <a:pPr algn="ctr"/>
              </a:p>
            </p:txBody>
          </p:sp>
          <p:sp>
            <p:nvSpPr>
              <p:cNvPr id="71" name="Rectangle 70"/>
              <p:cNvSpPr/>
              <p:nvPr/>
            </p:nvSpPr>
            <p:spPr>
              <a:xfrm>
                <a:off x="7423099" y="1918411"/>
                <a:ext cx="115214" cy="115214"/>
              </a:xfrm>
              <a:prstGeom prst="rect">
                <a:avLst/>
              </a:prstGeom>
              <a:solidFill>
                <a:srgbClr val="2B2F36"/>
              </a:solidFill>
              <a:ln>
                <a:noFill/>
              </a:ln>
            </p:spPr>
            <p:txBody>
              <a:bodyPr rtlCol="0" anchor="ctr"/>
              <a:lstStyle/>
              <a:p>
                <a:pPr algn="ctr"/>
              </a:p>
            </p:txBody>
          </p:sp>
          <p:sp>
            <p:nvSpPr>
              <p:cNvPr id="72" name="Chimney"/>
              <p:cNvSpPr/>
              <p:nvPr/>
            </p:nvSpPr>
            <p:spPr>
              <a:xfrm>
                <a:off x="7052767" y="1630375"/>
                <a:ext cx="123444" cy="246888"/>
              </a:xfrm>
              <a:prstGeom prst="rect">
                <a:avLst/>
              </a:prstGeom>
              <a:solidFill>
                <a:srgbClr val="1B1D21"/>
              </a:solidFill>
              <a:ln>
                <a:noFill/>
              </a:ln>
            </p:spPr>
            <p:txBody>
              <a:bodyPr rtlCol="0" anchor="ctr"/>
              <a:lstStyle/>
              <a:p>
                <a:pPr algn="ctr"/>
              </a:p>
            </p:txBody>
          </p:sp>
          <p:sp>
            <p:nvSpPr>
              <p:cNvPr id="73" name="Oval 72"/>
              <p:cNvSpPr/>
              <p:nvPr/>
            </p:nvSpPr>
            <p:spPr>
              <a:xfrm>
                <a:off x="7571232" y="2231136"/>
                <a:ext cx="164592" cy="164592"/>
              </a:xfrm>
              <a:prstGeom prst="ellipse">
                <a:avLst/>
              </a:prstGeom>
              <a:solidFill>
                <a:srgbClr val="1B1D21"/>
              </a:solidFill>
              <a:ln w="12700">
                <a:solidFill>
                  <a:srgbClr val="9AA0A6"/>
                </a:solidFill>
              </a:ln>
            </p:spPr>
            <p:txBody>
              <a:bodyPr rtlCol="0" anchor="ctr"/>
              <a:lstStyle/>
              <a:p>
                <a:pPr algn="ctr"/>
              </a:p>
            </p:txBody>
          </p:sp>
          <p:sp>
            <p:nvSpPr>
              <p:cNvPr id="74" name="Oval 73"/>
              <p:cNvSpPr/>
              <p:nvPr/>
            </p:nvSpPr>
            <p:spPr>
              <a:xfrm>
                <a:off x="7324344" y="2231136"/>
                <a:ext cx="164592" cy="164592"/>
              </a:xfrm>
              <a:prstGeom prst="ellipse">
                <a:avLst/>
              </a:prstGeom>
              <a:solidFill>
                <a:srgbClr val="1B1D21"/>
              </a:solidFill>
              <a:ln w="12700">
                <a:solidFill>
                  <a:srgbClr val="9AA0A6"/>
                </a:solidFill>
              </a:ln>
            </p:spPr>
            <p:txBody>
              <a:bodyPr rtlCol="0" anchor="ctr"/>
              <a:lstStyle/>
              <a:p>
                <a:pPr algn="ctr"/>
              </a:p>
            </p:txBody>
          </p:sp>
          <p:sp>
            <p:nvSpPr>
              <p:cNvPr id="75" name="Oval 74"/>
              <p:cNvSpPr/>
              <p:nvPr/>
            </p:nvSpPr>
            <p:spPr>
              <a:xfrm>
                <a:off x="7077456" y="2231136"/>
                <a:ext cx="164592" cy="164592"/>
              </a:xfrm>
              <a:prstGeom prst="ellipse">
                <a:avLst/>
              </a:prstGeom>
              <a:solidFill>
                <a:srgbClr val="1B1D21"/>
              </a:solidFill>
              <a:ln w="12700">
                <a:solidFill>
                  <a:srgbClr val="9AA0A6"/>
                </a:solidFill>
              </a:ln>
            </p:spPr>
            <p:txBody>
              <a:bodyPr rtlCol="0" anchor="ctr"/>
              <a:lstStyle/>
              <a:p>
                <a:pPr algn="ctr"/>
              </a:p>
            </p:txBody>
          </p:sp>
        </p:grpSp>
        <p:sp>
          <p:nvSpPr>
            <p:cNvPr id="76" name="Multiply 75"/>
            <p:cNvSpPr/>
            <p:nvPr/>
          </p:nvSpPr>
          <p:spPr>
            <a:xfrm>
              <a:off x="5300777" y="1691640"/>
              <a:ext cx="585216" cy="585216"/>
            </a:xfrm>
            <a:prstGeom prst="mathMultiply">
              <a:avLst/>
            </a:prstGeom>
            <a:solidFill>
              <a:srgbClr val="E5484D"/>
            </a:solidFill>
            <a:ln>
              <a:noFill/>
            </a:ln>
          </p:spPr>
          <p:txBody>
            <a:bodyPr rtlCol="0" anchor="ctr"/>
            <a:lstStyle/>
            <a:p>
              <a:pPr algn="ctr"/>
            </a:p>
          </p:txBody>
        </p:sp>
        <p:sp>
          <p:nvSpPr>
            <p:cNvPr id="77" name="Rounded Rectangle 76"/>
            <p:cNvSpPr/>
            <p:nvPr/>
          </p:nvSpPr>
          <p:spPr>
            <a:xfrm>
              <a:off x="6004865" y="1463040"/>
              <a:ext cx="2377440" cy="411480"/>
            </a:xfrm>
            <a:prstGeom prst="roundRect">
              <a:avLst>
                <a:gd name="adj" fmla="val 17777"/>
              </a:avLst>
            </a:prstGeom>
            <a:solidFill>
              <a:srgbClr val="B3262B"/>
            </a:solidFill>
            <a:ln>
              <a:noFill/>
            </a:ln>
          </p:spPr>
          <p:txBody>
            <a:bodyPr rtlCol="0" anchor="ctr" wrap="square" lIns="73152" tIns="36576" rIns="73152" bIns="36576">
              <a:noAutofit/>
            </a:bodyPr>
            <a:lstStyle/>
            <a:p>
              <a:pPr algn="ctr"/>
              <a:r>
                <a:rPr sz="1800" b="1" i="0" lang="en-GB">
                  <a:solidFill>
                    <a:srgbClr val="F2F2F2"/>
                  </a:solidFill>
                  <a:latin typeface="Arial"/>
                </a:rPr>
                <a:t>No warning: crash</a:t>
              </a:r>
            </a:p>
          </p:txBody>
        </p:sp>
      </p:grpSp>
      <p:grpSp>
        <p:nvGrpSpPr>
          <p:cNvPr id="78" name="With signals" descr="With signals: the track is split into three blocks with one train in each. The second train waits at a stop signal. The lead train needs a long distance to stop."/>
          <p:cNvGrpSpPr/>
          <p:nvPr/>
        </p:nvGrpSpPr>
        <p:grpSpPr>
          <a:xfrm>
            <a:off x="548640" y="3163824"/>
            <a:ext cx="11091672" cy="2459736"/>
            <a:chOff x="548640" y="3163824"/>
            <a:chExt cx="11091672" cy="2459736"/>
          </a:xfrm>
        </p:grpSpPr>
        <p:sp>
          <p:nvSpPr>
            <p:cNvPr id="79" name="Rounded Rectangle 78"/>
            <p:cNvSpPr/>
            <p:nvPr/>
          </p:nvSpPr>
          <p:spPr>
            <a:xfrm>
              <a:off x="548640" y="3200400"/>
              <a:ext cx="11091672" cy="2423160"/>
            </a:xfrm>
            <a:prstGeom prst="roundRect">
              <a:avLst>
                <a:gd name="adj" fmla="val 3018"/>
              </a:avLst>
            </a:prstGeom>
            <a:solidFill>
              <a:srgbClr val="2B2F36"/>
            </a:solidFill>
            <a:ln>
              <a:noFill/>
            </a:ln>
          </p:spPr>
          <p:txBody>
            <a:bodyPr rtlCol="0" anchor="ctr"/>
            <a:lstStyle/>
            <a:p>
              <a:pPr algn="ctr"/>
            </a:p>
          </p:txBody>
        </p:sp>
        <p:sp>
          <p:nvSpPr>
            <p:cNvPr id="80" name="Rectangle 79"/>
            <p:cNvSpPr/>
            <p:nvPr/>
          </p:nvSpPr>
          <p:spPr>
            <a:xfrm>
              <a:off x="1092708" y="4151376"/>
              <a:ext cx="54864" cy="365760"/>
            </a:xfrm>
            <a:prstGeom prst="rect">
              <a:avLst/>
            </a:prstGeom>
            <a:solidFill>
              <a:srgbClr val="6B5B4B"/>
            </a:solidFill>
            <a:ln>
              <a:noFill/>
            </a:ln>
          </p:spPr>
          <p:txBody>
            <a:bodyPr rtlCol="0" anchor="ctr"/>
            <a:lstStyle/>
            <a:p>
              <a:pPr algn="ctr"/>
            </a:p>
          </p:txBody>
        </p:sp>
        <p:sp>
          <p:nvSpPr>
            <p:cNvPr id="81" name="Rectangle 80"/>
            <p:cNvSpPr/>
            <p:nvPr/>
          </p:nvSpPr>
          <p:spPr>
            <a:xfrm>
              <a:off x="1412748" y="4151376"/>
              <a:ext cx="54864" cy="365760"/>
            </a:xfrm>
            <a:prstGeom prst="rect">
              <a:avLst/>
            </a:prstGeom>
            <a:solidFill>
              <a:srgbClr val="6B5B4B"/>
            </a:solidFill>
            <a:ln>
              <a:noFill/>
            </a:ln>
          </p:spPr>
          <p:txBody>
            <a:bodyPr rtlCol="0" anchor="ctr"/>
            <a:lstStyle/>
            <a:p>
              <a:pPr algn="ctr"/>
            </a:p>
          </p:txBody>
        </p:sp>
        <p:sp>
          <p:nvSpPr>
            <p:cNvPr id="82" name="Rectangle 81"/>
            <p:cNvSpPr/>
            <p:nvPr/>
          </p:nvSpPr>
          <p:spPr>
            <a:xfrm>
              <a:off x="1732788" y="4151376"/>
              <a:ext cx="54864" cy="365760"/>
            </a:xfrm>
            <a:prstGeom prst="rect">
              <a:avLst/>
            </a:prstGeom>
            <a:solidFill>
              <a:srgbClr val="6B5B4B"/>
            </a:solidFill>
            <a:ln>
              <a:noFill/>
            </a:ln>
          </p:spPr>
          <p:txBody>
            <a:bodyPr rtlCol="0" anchor="ctr"/>
            <a:lstStyle/>
            <a:p>
              <a:pPr algn="ctr"/>
            </a:p>
          </p:txBody>
        </p:sp>
        <p:sp>
          <p:nvSpPr>
            <p:cNvPr id="83" name="Rectangle 82"/>
            <p:cNvSpPr/>
            <p:nvPr/>
          </p:nvSpPr>
          <p:spPr>
            <a:xfrm>
              <a:off x="2052828" y="4151376"/>
              <a:ext cx="54864" cy="365760"/>
            </a:xfrm>
            <a:prstGeom prst="rect">
              <a:avLst/>
            </a:prstGeom>
            <a:solidFill>
              <a:srgbClr val="6B5B4B"/>
            </a:solidFill>
            <a:ln>
              <a:noFill/>
            </a:ln>
          </p:spPr>
          <p:txBody>
            <a:bodyPr rtlCol="0" anchor="ctr"/>
            <a:lstStyle/>
            <a:p>
              <a:pPr algn="ctr"/>
            </a:p>
          </p:txBody>
        </p:sp>
        <p:sp>
          <p:nvSpPr>
            <p:cNvPr id="84" name="Rectangle 83"/>
            <p:cNvSpPr/>
            <p:nvPr/>
          </p:nvSpPr>
          <p:spPr>
            <a:xfrm>
              <a:off x="2372868" y="4151376"/>
              <a:ext cx="54864" cy="365760"/>
            </a:xfrm>
            <a:prstGeom prst="rect">
              <a:avLst/>
            </a:prstGeom>
            <a:solidFill>
              <a:srgbClr val="6B5B4B"/>
            </a:solidFill>
            <a:ln>
              <a:noFill/>
            </a:ln>
          </p:spPr>
          <p:txBody>
            <a:bodyPr rtlCol="0" anchor="ctr"/>
            <a:lstStyle/>
            <a:p>
              <a:pPr algn="ctr"/>
            </a:p>
          </p:txBody>
        </p:sp>
        <p:sp>
          <p:nvSpPr>
            <p:cNvPr id="85" name="Rectangle 84"/>
            <p:cNvSpPr/>
            <p:nvPr/>
          </p:nvSpPr>
          <p:spPr>
            <a:xfrm>
              <a:off x="2692908" y="4151376"/>
              <a:ext cx="54864" cy="365760"/>
            </a:xfrm>
            <a:prstGeom prst="rect">
              <a:avLst/>
            </a:prstGeom>
            <a:solidFill>
              <a:srgbClr val="6B5B4B"/>
            </a:solidFill>
            <a:ln>
              <a:noFill/>
            </a:ln>
          </p:spPr>
          <p:txBody>
            <a:bodyPr rtlCol="0" anchor="ctr"/>
            <a:lstStyle/>
            <a:p>
              <a:pPr algn="ctr"/>
            </a:p>
          </p:txBody>
        </p:sp>
        <p:sp>
          <p:nvSpPr>
            <p:cNvPr id="86" name="Rectangle 85"/>
            <p:cNvSpPr/>
            <p:nvPr/>
          </p:nvSpPr>
          <p:spPr>
            <a:xfrm>
              <a:off x="3012948" y="4151376"/>
              <a:ext cx="54864" cy="365760"/>
            </a:xfrm>
            <a:prstGeom prst="rect">
              <a:avLst/>
            </a:prstGeom>
            <a:solidFill>
              <a:srgbClr val="6B5B4B"/>
            </a:solidFill>
            <a:ln>
              <a:noFill/>
            </a:ln>
          </p:spPr>
          <p:txBody>
            <a:bodyPr rtlCol="0" anchor="ctr"/>
            <a:lstStyle/>
            <a:p>
              <a:pPr algn="ctr"/>
            </a:p>
          </p:txBody>
        </p:sp>
        <p:sp>
          <p:nvSpPr>
            <p:cNvPr id="87" name="Rectangle 86"/>
            <p:cNvSpPr/>
            <p:nvPr/>
          </p:nvSpPr>
          <p:spPr>
            <a:xfrm>
              <a:off x="3332988" y="4151376"/>
              <a:ext cx="54864" cy="365760"/>
            </a:xfrm>
            <a:prstGeom prst="rect">
              <a:avLst/>
            </a:prstGeom>
            <a:solidFill>
              <a:srgbClr val="6B5B4B"/>
            </a:solidFill>
            <a:ln>
              <a:noFill/>
            </a:ln>
          </p:spPr>
          <p:txBody>
            <a:bodyPr rtlCol="0" anchor="ctr"/>
            <a:lstStyle/>
            <a:p>
              <a:pPr algn="ctr"/>
            </a:p>
          </p:txBody>
        </p:sp>
        <p:sp>
          <p:nvSpPr>
            <p:cNvPr id="88" name="Rectangle 87"/>
            <p:cNvSpPr/>
            <p:nvPr/>
          </p:nvSpPr>
          <p:spPr>
            <a:xfrm>
              <a:off x="3653028" y="4151376"/>
              <a:ext cx="54864" cy="365760"/>
            </a:xfrm>
            <a:prstGeom prst="rect">
              <a:avLst/>
            </a:prstGeom>
            <a:solidFill>
              <a:srgbClr val="6B5B4B"/>
            </a:solidFill>
            <a:ln>
              <a:noFill/>
            </a:ln>
          </p:spPr>
          <p:txBody>
            <a:bodyPr rtlCol="0" anchor="ctr"/>
            <a:lstStyle/>
            <a:p>
              <a:pPr algn="ctr"/>
            </a:p>
          </p:txBody>
        </p:sp>
        <p:sp>
          <p:nvSpPr>
            <p:cNvPr id="89" name="Rectangle 88"/>
            <p:cNvSpPr/>
            <p:nvPr/>
          </p:nvSpPr>
          <p:spPr>
            <a:xfrm>
              <a:off x="3973068" y="4151376"/>
              <a:ext cx="54864" cy="365760"/>
            </a:xfrm>
            <a:prstGeom prst="rect">
              <a:avLst/>
            </a:prstGeom>
            <a:solidFill>
              <a:srgbClr val="6B5B4B"/>
            </a:solidFill>
            <a:ln>
              <a:noFill/>
            </a:ln>
          </p:spPr>
          <p:txBody>
            <a:bodyPr rtlCol="0" anchor="ctr"/>
            <a:lstStyle/>
            <a:p>
              <a:pPr algn="ctr"/>
            </a:p>
          </p:txBody>
        </p:sp>
        <p:sp>
          <p:nvSpPr>
            <p:cNvPr id="90" name="Rectangle 89"/>
            <p:cNvSpPr/>
            <p:nvPr/>
          </p:nvSpPr>
          <p:spPr>
            <a:xfrm>
              <a:off x="4293108" y="4151376"/>
              <a:ext cx="54864" cy="365760"/>
            </a:xfrm>
            <a:prstGeom prst="rect">
              <a:avLst/>
            </a:prstGeom>
            <a:solidFill>
              <a:srgbClr val="6B5B4B"/>
            </a:solidFill>
            <a:ln>
              <a:noFill/>
            </a:ln>
          </p:spPr>
          <p:txBody>
            <a:bodyPr rtlCol="0" anchor="ctr"/>
            <a:lstStyle/>
            <a:p>
              <a:pPr algn="ctr"/>
            </a:p>
          </p:txBody>
        </p:sp>
        <p:sp>
          <p:nvSpPr>
            <p:cNvPr id="91" name="Rectangle 90"/>
            <p:cNvSpPr/>
            <p:nvPr/>
          </p:nvSpPr>
          <p:spPr>
            <a:xfrm>
              <a:off x="4613148" y="4151376"/>
              <a:ext cx="54864" cy="365760"/>
            </a:xfrm>
            <a:prstGeom prst="rect">
              <a:avLst/>
            </a:prstGeom>
            <a:solidFill>
              <a:srgbClr val="6B5B4B"/>
            </a:solidFill>
            <a:ln>
              <a:noFill/>
            </a:ln>
          </p:spPr>
          <p:txBody>
            <a:bodyPr rtlCol="0" anchor="ctr"/>
            <a:lstStyle/>
            <a:p>
              <a:pPr algn="ctr"/>
            </a:p>
          </p:txBody>
        </p:sp>
        <p:sp>
          <p:nvSpPr>
            <p:cNvPr id="92" name="Rectangle 91"/>
            <p:cNvSpPr/>
            <p:nvPr/>
          </p:nvSpPr>
          <p:spPr>
            <a:xfrm>
              <a:off x="4933188" y="4151376"/>
              <a:ext cx="54864" cy="365760"/>
            </a:xfrm>
            <a:prstGeom prst="rect">
              <a:avLst/>
            </a:prstGeom>
            <a:solidFill>
              <a:srgbClr val="6B5B4B"/>
            </a:solidFill>
            <a:ln>
              <a:noFill/>
            </a:ln>
          </p:spPr>
          <p:txBody>
            <a:bodyPr rtlCol="0" anchor="ctr"/>
            <a:lstStyle/>
            <a:p>
              <a:pPr algn="ctr"/>
            </a:p>
          </p:txBody>
        </p:sp>
        <p:sp>
          <p:nvSpPr>
            <p:cNvPr id="93" name="Rectangle 92"/>
            <p:cNvSpPr/>
            <p:nvPr/>
          </p:nvSpPr>
          <p:spPr>
            <a:xfrm>
              <a:off x="5253228" y="4151376"/>
              <a:ext cx="54864" cy="365760"/>
            </a:xfrm>
            <a:prstGeom prst="rect">
              <a:avLst/>
            </a:prstGeom>
            <a:solidFill>
              <a:srgbClr val="6B5B4B"/>
            </a:solidFill>
            <a:ln>
              <a:noFill/>
            </a:ln>
          </p:spPr>
          <p:txBody>
            <a:bodyPr rtlCol="0" anchor="ctr"/>
            <a:lstStyle/>
            <a:p>
              <a:pPr algn="ctr"/>
            </a:p>
          </p:txBody>
        </p:sp>
        <p:sp>
          <p:nvSpPr>
            <p:cNvPr id="94" name="Rectangle 93"/>
            <p:cNvSpPr/>
            <p:nvPr/>
          </p:nvSpPr>
          <p:spPr>
            <a:xfrm>
              <a:off x="5573268" y="4151376"/>
              <a:ext cx="54864" cy="365760"/>
            </a:xfrm>
            <a:prstGeom prst="rect">
              <a:avLst/>
            </a:prstGeom>
            <a:solidFill>
              <a:srgbClr val="6B5B4B"/>
            </a:solidFill>
            <a:ln>
              <a:noFill/>
            </a:ln>
          </p:spPr>
          <p:txBody>
            <a:bodyPr rtlCol="0" anchor="ctr"/>
            <a:lstStyle/>
            <a:p>
              <a:pPr algn="ctr"/>
            </a:p>
          </p:txBody>
        </p:sp>
        <p:sp>
          <p:nvSpPr>
            <p:cNvPr id="95" name="Rectangle 94"/>
            <p:cNvSpPr/>
            <p:nvPr/>
          </p:nvSpPr>
          <p:spPr>
            <a:xfrm>
              <a:off x="5893308" y="4151376"/>
              <a:ext cx="54864" cy="365760"/>
            </a:xfrm>
            <a:prstGeom prst="rect">
              <a:avLst/>
            </a:prstGeom>
            <a:solidFill>
              <a:srgbClr val="6B5B4B"/>
            </a:solidFill>
            <a:ln>
              <a:noFill/>
            </a:ln>
          </p:spPr>
          <p:txBody>
            <a:bodyPr rtlCol="0" anchor="ctr"/>
            <a:lstStyle/>
            <a:p>
              <a:pPr algn="ctr"/>
            </a:p>
          </p:txBody>
        </p:sp>
        <p:sp>
          <p:nvSpPr>
            <p:cNvPr id="96" name="Rectangle 95"/>
            <p:cNvSpPr/>
            <p:nvPr/>
          </p:nvSpPr>
          <p:spPr>
            <a:xfrm>
              <a:off x="6213348" y="4151376"/>
              <a:ext cx="54864" cy="365760"/>
            </a:xfrm>
            <a:prstGeom prst="rect">
              <a:avLst/>
            </a:prstGeom>
            <a:solidFill>
              <a:srgbClr val="6B5B4B"/>
            </a:solidFill>
            <a:ln>
              <a:noFill/>
            </a:ln>
          </p:spPr>
          <p:txBody>
            <a:bodyPr rtlCol="0" anchor="ctr"/>
            <a:lstStyle/>
            <a:p>
              <a:pPr algn="ctr"/>
            </a:p>
          </p:txBody>
        </p:sp>
        <p:sp>
          <p:nvSpPr>
            <p:cNvPr id="97" name="Rectangle 96"/>
            <p:cNvSpPr/>
            <p:nvPr/>
          </p:nvSpPr>
          <p:spPr>
            <a:xfrm>
              <a:off x="6533388" y="4151376"/>
              <a:ext cx="54864" cy="365760"/>
            </a:xfrm>
            <a:prstGeom prst="rect">
              <a:avLst/>
            </a:prstGeom>
            <a:solidFill>
              <a:srgbClr val="6B5B4B"/>
            </a:solidFill>
            <a:ln>
              <a:noFill/>
            </a:ln>
          </p:spPr>
          <p:txBody>
            <a:bodyPr rtlCol="0" anchor="ctr"/>
            <a:lstStyle/>
            <a:p>
              <a:pPr algn="ctr"/>
            </a:p>
          </p:txBody>
        </p:sp>
        <p:sp>
          <p:nvSpPr>
            <p:cNvPr id="98" name="Rectangle 97"/>
            <p:cNvSpPr/>
            <p:nvPr/>
          </p:nvSpPr>
          <p:spPr>
            <a:xfrm>
              <a:off x="6853428" y="4151376"/>
              <a:ext cx="54864" cy="365760"/>
            </a:xfrm>
            <a:prstGeom prst="rect">
              <a:avLst/>
            </a:prstGeom>
            <a:solidFill>
              <a:srgbClr val="6B5B4B"/>
            </a:solidFill>
            <a:ln>
              <a:noFill/>
            </a:ln>
          </p:spPr>
          <p:txBody>
            <a:bodyPr rtlCol="0" anchor="ctr"/>
            <a:lstStyle/>
            <a:p>
              <a:pPr algn="ctr"/>
            </a:p>
          </p:txBody>
        </p:sp>
        <p:sp>
          <p:nvSpPr>
            <p:cNvPr id="99" name="Rectangle 98"/>
            <p:cNvSpPr/>
            <p:nvPr/>
          </p:nvSpPr>
          <p:spPr>
            <a:xfrm>
              <a:off x="7173468" y="4151376"/>
              <a:ext cx="54864" cy="365760"/>
            </a:xfrm>
            <a:prstGeom prst="rect">
              <a:avLst/>
            </a:prstGeom>
            <a:solidFill>
              <a:srgbClr val="6B5B4B"/>
            </a:solidFill>
            <a:ln>
              <a:noFill/>
            </a:ln>
          </p:spPr>
          <p:txBody>
            <a:bodyPr rtlCol="0" anchor="ctr"/>
            <a:lstStyle/>
            <a:p>
              <a:pPr algn="ctr"/>
            </a:p>
          </p:txBody>
        </p:sp>
        <p:sp>
          <p:nvSpPr>
            <p:cNvPr id="100" name="Rectangle 99"/>
            <p:cNvSpPr/>
            <p:nvPr/>
          </p:nvSpPr>
          <p:spPr>
            <a:xfrm>
              <a:off x="7493508" y="4151376"/>
              <a:ext cx="54864" cy="365760"/>
            </a:xfrm>
            <a:prstGeom prst="rect">
              <a:avLst/>
            </a:prstGeom>
            <a:solidFill>
              <a:srgbClr val="6B5B4B"/>
            </a:solidFill>
            <a:ln>
              <a:noFill/>
            </a:ln>
          </p:spPr>
          <p:txBody>
            <a:bodyPr rtlCol="0" anchor="ctr"/>
            <a:lstStyle/>
            <a:p>
              <a:pPr algn="ctr"/>
            </a:p>
          </p:txBody>
        </p:sp>
        <p:sp>
          <p:nvSpPr>
            <p:cNvPr id="101" name="Rectangle 100"/>
            <p:cNvSpPr/>
            <p:nvPr/>
          </p:nvSpPr>
          <p:spPr>
            <a:xfrm>
              <a:off x="7813548" y="4151376"/>
              <a:ext cx="54864" cy="365760"/>
            </a:xfrm>
            <a:prstGeom prst="rect">
              <a:avLst/>
            </a:prstGeom>
            <a:solidFill>
              <a:srgbClr val="6B5B4B"/>
            </a:solidFill>
            <a:ln>
              <a:noFill/>
            </a:ln>
          </p:spPr>
          <p:txBody>
            <a:bodyPr rtlCol="0" anchor="ctr"/>
            <a:lstStyle/>
            <a:p>
              <a:pPr algn="ctr"/>
            </a:p>
          </p:txBody>
        </p:sp>
        <p:sp>
          <p:nvSpPr>
            <p:cNvPr id="102" name="Rectangle 101"/>
            <p:cNvSpPr/>
            <p:nvPr/>
          </p:nvSpPr>
          <p:spPr>
            <a:xfrm>
              <a:off x="8133588" y="4151376"/>
              <a:ext cx="54864" cy="365760"/>
            </a:xfrm>
            <a:prstGeom prst="rect">
              <a:avLst/>
            </a:prstGeom>
            <a:solidFill>
              <a:srgbClr val="6B5B4B"/>
            </a:solidFill>
            <a:ln>
              <a:noFill/>
            </a:ln>
          </p:spPr>
          <p:txBody>
            <a:bodyPr rtlCol="0" anchor="ctr"/>
            <a:lstStyle/>
            <a:p>
              <a:pPr algn="ctr"/>
            </a:p>
          </p:txBody>
        </p:sp>
        <p:sp>
          <p:nvSpPr>
            <p:cNvPr id="103" name="Rectangle 102"/>
            <p:cNvSpPr/>
            <p:nvPr/>
          </p:nvSpPr>
          <p:spPr>
            <a:xfrm>
              <a:off x="8453628" y="4151376"/>
              <a:ext cx="54864" cy="365760"/>
            </a:xfrm>
            <a:prstGeom prst="rect">
              <a:avLst/>
            </a:prstGeom>
            <a:solidFill>
              <a:srgbClr val="6B5B4B"/>
            </a:solidFill>
            <a:ln>
              <a:noFill/>
            </a:ln>
          </p:spPr>
          <p:txBody>
            <a:bodyPr rtlCol="0" anchor="ctr"/>
            <a:lstStyle/>
            <a:p>
              <a:pPr algn="ctr"/>
            </a:p>
          </p:txBody>
        </p:sp>
        <p:sp>
          <p:nvSpPr>
            <p:cNvPr id="104" name="Rectangle 103"/>
            <p:cNvSpPr/>
            <p:nvPr/>
          </p:nvSpPr>
          <p:spPr>
            <a:xfrm>
              <a:off x="8773668" y="4151376"/>
              <a:ext cx="54864" cy="365760"/>
            </a:xfrm>
            <a:prstGeom prst="rect">
              <a:avLst/>
            </a:prstGeom>
            <a:solidFill>
              <a:srgbClr val="6B5B4B"/>
            </a:solidFill>
            <a:ln>
              <a:noFill/>
            </a:ln>
          </p:spPr>
          <p:txBody>
            <a:bodyPr rtlCol="0" anchor="ctr"/>
            <a:lstStyle/>
            <a:p>
              <a:pPr algn="ctr"/>
            </a:p>
          </p:txBody>
        </p:sp>
        <p:sp>
          <p:nvSpPr>
            <p:cNvPr id="105" name="Rectangle 104"/>
            <p:cNvSpPr/>
            <p:nvPr/>
          </p:nvSpPr>
          <p:spPr>
            <a:xfrm>
              <a:off x="9093708" y="4151376"/>
              <a:ext cx="54864" cy="365760"/>
            </a:xfrm>
            <a:prstGeom prst="rect">
              <a:avLst/>
            </a:prstGeom>
            <a:solidFill>
              <a:srgbClr val="6B5B4B"/>
            </a:solidFill>
            <a:ln>
              <a:noFill/>
            </a:ln>
          </p:spPr>
          <p:txBody>
            <a:bodyPr rtlCol="0" anchor="ctr"/>
            <a:lstStyle/>
            <a:p>
              <a:pPr algn="ctr"/>
            </a:p>
          </p:txBody>
        </p:sp>
        <p:sp>
          <p:nvSpPr>
            <p:cNvPr id="106" name="Rectangle 105"/>
            <p:cNvSpPr/>
            <p:nvPr/>
          </p:nvSpPr>
          <p:spPr>
            <a:xfrm>
              <a:off x="9413748" y="4151376"/>
              <a:ext cx="54864" cy="365760"/>
            </a:xfrm>
            <a:prstGeom prst="rect">
              <a:avLst/>
            </a:prstGeom>
            <a:solidFill>
              <a:srgbClr val="6B5B4B"/>
            </a:solidFill>
            <a:ln>
              <a:noFill/>
            </a:ln>
          </p:spPr>
          <p:txBody>
            <a:bodyPr rtlCol="0" anchor="ctr"/>
            <a:lstStyle/>
            <a:p>
              <a:pPr algn="ctr"/>
            </a:p>
          </p:txBody>
        </p:sp>
        <p:sp>
          <p:nvSpPr>
            <p:cNvPr id="107" name="Rectangle 106"/>
            <p:cNvSpPr/>
            <p:nvPr/>
          </p:nvSpPr>
          <p:spPr>
            <a:xfrm>
              <a:off x="9733788" y="4151376"/>
              <a:ext cx="54864" cy="365760"/>
            </a:xfrm>
            <a:prstGeom prst="rect">
              <a:avLst/>
            </a:prstGeom>
            <a:solidFill>
              <a:srgbClr val="6B5B4B"/>
            </a:solidFill>
            <a:ln>
              <a:noFill/>
            </a:ln>
          </p:spPr>
          <p:txBody>
            <a:bodyPr rtlCol="0" anchor="ctr"/>
            <a:lstStyle/>
            <a:p>
              <a:pPr algn="ctr"/>
            </a:p>
          </p:txBody>
        </p:sp>
        <p:sp>
          <p:nvSpPr>
            <p:cNvPr id="108" name="Rectangle 107"/>
            <p:cNvSpPr/>
            <p:nvPr/>
          </p:nvSpPr>
          <p:spPr>
            <a:xfrm>
              <a:off x="10053828" y="4151376"/>
              <a:ext cx="54864" cy="365760"/>
            </a:xfrm>
            <a:prstGeom prst="rect">
              <a:avLst/>
            </a:prstGeom>
            <a:solidFill>
              <a:srgbClr val="6B5B4B"/>
            </a:solidFill>
            <a:ln>
              <a:noFill/>
            </a:ln>
          </p:spPr>
          <p:txBody>
            <a:bodyPr rtlCol="0" anchor="ctr"/>
            <a:lstStyle/>
            <a:p>
              <a:pPr algn="ctr"/>
            </a:p>
          </p:txBody>
        </p:sp>
        <p:sp>
          <p:nvSpPr>
            <p:cNvPr id="109" name="Rectangle 108"/>
            <p:cNvSpPr/>
            <p:nvPr/>
          </p:nvSpPr>
          <p:spPr>
            <a:xfrm>
              <a:off x="10373868" y="4151376"/>
              <a:ext cx="54864" cy="365760"/>
            </a:xfrm>
            <a:prstGeom prst="rect">
              <a:avLst/>
            </a:prstGeom>
            <a:solidFill>
              <a:srgbClr val="6B5B4B"/>
            </a:solidFill>
            <a:ln>
              <a:noFill/>
            </a:ln>
          </p:spPr>
          <p:txBody>
            <a:bodyPr rtlCol="0" anchor="ctr"/>
            <a:lstStyle/>
            <a:p>
              <a:pPr algn="ctr"/>
            </a:p>
          </p:txBody>
        </p:sp>
        <p:sp>
          <p:nvSpPr>
            <p:cNvPr id="110" name="Rectangle 109"/>
            <p:cNvSpPr/>
            <p:nvPr/>
          </p:nvSpPr>
          <p:spPr>
            <a:xfrm>
              <a:off x="10693908" y="4151376"/>
              <a:ext cx="54864" cy="365760"/>
            </a:xfrm>
            <a:prstGeom prst="rect">
              <a:avLst/>
            </a:prstGeom>
            <a:solidFill>
              <a:srgbClr val="6B5B4B"/>
            </a:solidFill>
            <a:ln>
              <a:noFill/>
            </a:ln>
          </p:spPr>
          <p:txBody>
            <a:bodyPr rtlCol="0" anchor="ctr"/>
            <a:lstStyle/>
            <a:p>
              <a:pPr algn="ctr"/>
            </a:p>
          </p:txBody>
        </p:sp>
        <p:sp>
          <p:nvSpPr>
            <p:cNvPr id="111" name="Rectangle 110"/>
            <p:cNvSpPr/>
            <p:nvPr/>
          </p:nvSpPr>
          <p:spPr>
            <a:xfrm>
              <a:off x="11013948" y="4151376"/>
              <a:ext cx="54864" cy="365760"/>
            </a:xfrm>
            <a:prstGeom prst="rect">
              <a:avLst/>
            </a:prstGeom>
            <a:solidFill>
              <a:srgbClr val="6B5B4B"/>
            </a:solidFill>
            <a:ln>
              <a:noFill/>
            </a:ln>
          </p:spPr>
          <p:txBody>
            <a:bodyPr rtlCol="0" anchor="ctr"/>
            <a:lstStyle/>
            <a:p>
              <a:pPr algn="ctr"/>
            </a:p>
          </p:txBody>
        </p:sp>
        <p:sp>
          <p:nvSpPr>
            <p:cNvPr id="112" name="Rectangle 111"/>
            <p:cNvSpPr/>
            <p:nvPr/>
          </p:nvSpPr>
          <p:spPr>
            <a:xfrm>
              <a:off x="822960" y="4178808"/>
              <a:ext cx="10515600" cy="54864"/>
            </a:xfrm>
            <a:prstGeom prst="rect">
              <a:avLst/>
            </a:prstGeom>
            <a:solidFill>
              <a:srgbClr val="9AA0A6"/>
            </a:solidFill>
            <a:ln>
              <a:noFill/>
            </a:ln>
          </p:spPr>
          <p:txBody>
            <a:bodyPr rtlCol="0" anchor="ctr"/>
            <a:lstStyle/>
            <a:p>
              <a:pPr algn="ctr"/>
            </a:p>
          </p:txBody>
        </p:sp>
        <p:sp>
          <p:nvSpPr>
            <p:cNvPr id="113" name="Rectangle 112"/>
            <p:cNvSpPr/>
            <p:nvPr/>
          </p:nvSpPr>
          <p:spPr>
            <a:xfrm>
              <a:off x="822960" y="4434840"/>
              <a:ext cx="10515600" cy="54864"/>
            </a:xfrm>
            <a:prstGeom prst="rect">
              <a:avLst/>
            </a:prstGeom>
            <a:solidFill>
              <a:srgbClr val="9AA0A6"/>
            </a:solidFill>
            <a:ln>
              <a:noFill/>
            </a:ln>
          </p:spPr>
          <p:txBody>
            <a:bodyPr rtlCol="0" anchor="ctr"/>
            <a:lstStyle/>
            <a:p>
              <a:pPr algn="ctr"/>
            </a:p>
          </p:txBody>
        </p:sp>
        <p:grpSp>
          <p:nvGrpSpPr>
            <p:cNvPr id="114" name="Lead train" descr="A steam train: an engine pulling wagons."/>
            <p:cNvGrpSpPr/>
            <p:nvPr/>
          </p:nvGrpSpPr>
          <p:grpSpPr>
            <a:xfrm>
              <a:off x="4526280" y="3440887"/>
              <a:ext cx="2271370" cy="765353"/>
              <a:chOff x="4526280" y="3440887"/>
              <a:chExt cx="2271370" cy="765353"/>
            </a:xfrm>
          </p:grpSpPr>
          <p:sp>
            <p:nvSpPr>
              <p:cNvPr id="115" name="Rectangle 114"/>
              <p:cNvSpPr/>
              <p:nvPr/>
            </p:nvSpPr>
            <p:spPr>
              <a:xfrm>
                <a:off x="4526280" y="3737153"/>
                <a:ext cx="658368" cy="370332"/>
              </a:xfrm>
              <a:prstGeom prst="rect">
                <a:avLst/>
              </a:prstGeom>
              <a:solidFill>
                <a:srgbClr val="6C7480"/>
              </a:solidFill>
              <a:ln w="9525">
                <a:solidFill>
                  <a:srgbClr val="101418"/>
                </a:solidFill>
              </a:ln>
            </p:spPr>
            <p:txBody>
              <a:bodyPr rtlCol="0" anchor="ctr"/>
              <a:lstStyle/>
              <a:p>
                <a:pPr algn="ctr"/>
              </a:p>
            </p:txBody>
          </p:sp>
          <p:sp>
            <p:nvSpPr>
              <p:cNvPr id="116" name="Oval 115"/>
              <p:cNvSpPr/>
              <p:nvPr/>
            </p:nvSpPr>
            <p:spPr>
              <a:xfrm>
                <a:off x="4608576" y="4041648"/>
                <a:ext cx="164592" cy="164592"/>
              </a:xfrm>
              <a:prstGeom prst="ellipse">
                <a:avLst/>
              </a:prstGeom>
              <a:solidFill>
                <a:srgbClr val="1B1D21"/>
              </a:solidFill>
              <a:ln w="12700">
                <a:solidFill>
                  <a:srgbClr val="9AA0A6"/>
                </a:solidFill>
              </a:ln>
            </p:spPr>
            <p:txBody>
              <a:bodyPr rtlCol="0" anchor="ctr"/>
              <a:lstStyle/>
              <a:p>
                <a:pPr algn="ctr"/>
              </a:p>
            </p:txBody>
          </p:sp>
          <p:sp>
            <p:nvSpPr>
              <p:cNvPr id="117" name="Oval 116"/>
              <p:cNvSpPr/>
              <p:nvPr/>
            </p:nvSpPr>
            <p:spPr>
              <a:xfrm>
                <a:off x="4937760" y="4041648"/>
                <a:ext cx="164592" cy="164592"/>
              </a:xfrm>
              <a:prstGeom prst="ellipse">
                <a:avLst/>
              </a:prstGeom>
              <a:solidFill>
                <a:srgbClr val="1B1D21"/>
              </a:solidFill>
              <a:ln w="12700">
                <a:solidFill>
                  <a:srgbClr val="9AA0A6"/>
                </a:solidFill>
              </a:ln>
            </p:spPr>
            <p:txBody>
              <a:bodyPr rtlCol="0" anchor="ctr"/>
              <a:lstStyle/>
              <a:p>
                <a:pPr algn="ctr"/>
              </a:p>
            </p:txBody>
          </p:sp>
          <p:sp>
            <p:nvSpPr>
              <p:cNvPr id="118" name="Rectangle 117"/>
              <p:cNvSpPr/>
              <p:nvPr/>
            </p:nvSpPr>
            <p:spPr>
              <a:xfrm>
                <a:off x="5184648" y="4000500"/>
                <a:ext cx="65837" cy="41148"/>
              </a:xfrm>
              <a:prstGeom prst="rect">
                <a:avLst/>
              </a:prstGeom>
              <a:solidFill>
                <a:srgbClr val="9AA0A6"/>
              </a:solidFill>
              <a:ln>
                <a:noFill/>
              </a:ln>
            </p:spPr>
            <p:txBody>
              <a:bodyPr rtlCol="0" anchor="ctr"/>
              <a:lstStyle/>
              <a:p>
                <a:pPr algn="ctr"/>
              </a:p>
            </p:txBody>
          </p:sp>
          <p:sp>
            <p:nvSpPr>
              <p:cNvPr id="119" name="Rectangle 118"/>
              <p:cNvSpPr/>
              <p:nvPr/>
            </p:nvSpPr>
            <p:spPr>
              <a:xfrm>
                <a:off x="5250485" y="3737153"/>
                <a:ext cx="658368" cy="370332"/>
              </a:xfrm>
              <a:prstGeom prst="rect">
                <a:avLst/>
              </a:prstGeom>
              <a:solidFill>
                <a:srgbClr val="6C7480"/>
              </a:solidFill>
              <a:ln w="9525">
                <a:solidFill>
                  <a:srgbClr val="101418"/>
                </a:solidFill>
              </a:ln>
            </p:spPr>
            <p:txBody>
              <a:bodyPr rtlCol="0" anchor="ctr"/>
              <a:lstStyle/>
              <a:p>
                <a:pPr algn="ctr"/>
              </a:p>
            </p:txBody>
          </p:sp>
          <p:sp>
            <p:nvSpPr>
              <p:cNvPr id="120" name="Oval 119"/>
              <p:cNvSpPr/>
              <p:nvPr/>
            </p:nvSpPr>
            <p:spPr>
              <a:xfrm>
                <a:off x="5332781" y="4041648"/>
                <a:ext cx="164592" cy="164592"/>
              </a:xfrm>
              <a:prstGeom prst="ellipse">
                <a:avLst/>
              </a:prstGeom>
              <a:solidFill>
                <a:srgbClr val="1B1D21"/>
              </a:solidFill>
              <a:ln w="12700">
                <a:solidFill>
                  <a:srgbClr val="9AA0A6"/>
                </a:solidFill>
              </a:ln>
            </p:spPr>
            <p:txBody>
              <a:bodyPr rtlCol="0" anchor="ctr"/>
              <a:lstStyle/>
              <a:p>
                <a:pPr algn="ctr"/>
              </a:p>
            </p:txBody>
          </p:sp>
          <p:sp>
            <p:nvSpPr>
              <p:cNvPr id="121" name="Oval 120"/>
              <p:cNvSpPr/>
              <p:nvPr/>
            </p:nvSpPr>
            <p:spPr>
              <a:xfrm>
                <a:off x="5661965" y="4041648"/>
                <a:ext cx="164592" cy="164592"/>
              </a:xfrm>
              <a:prstGeom prst="ellipse">
                <a:avLst/>
              </a:prstGeom>
              <a:solidFill>
                <a:srgbClr val="1B1D21"/>
              </a:solidFill>
              <a:ln w="12700">
                <a:solidFill>
                  <a:srgbClr val="9AA0A6"/>
                </a:solidFill>
              </a:ln>
            </p:spPr>
            <p:txBody>
              <a:bodyPr rtlCol="0" anchor="ctr"/>
              <a:lstStyle/>
              <a:p>
                <a:pPr algn="ctr"/>
              </a:p>
            </p:txBody>
          </p:sp>
          <p:sp>
            <p:nvSpPr>
              <p:cNvPr id="122" name="Rectangle 121"/>
              <p:cNvSpPr/>
              <p:nvPr/>
            </p:nvSpPr>
            <p:spPr>
              <a:xfrm>
                <a:off x="5908853" y="4000500"/>
                <a:ext cx="65837" cy="41148"/>
              </a:xfrm>
              <a:prstGeom prst="rect">
                <a:avLst/>
              </a:prstGeom>
              <a:solidFill>
                <a:srgbClr val="9AA0A6"/>
              </a:solidFill>
              <a:ln>
                <a:noFill/>
              </a:ln>
            </p:spPr>
            <p:txBody>
              <a:bodyPr rtlCol="0" anchor="ctr"/>
              <a:lstStyle/>
              <a:p>
                <a:pPr algn="ctr"/>
              </a:p>
            </p:txBody>
          </p:sp>
          <p:sp>
            <p:nvSpPr>
              <p:cNvPr id="123" name="Rectangle 122"/>
              <p:cNvSpPr/>
              <p:nvPr/>
            </p:nvSpPr>
            <p:spPr>
              <a:xfrm>
                <a:off x="5974690" y="3671316"/>
                <a:ext cx="822960" cy="452628"/>
              </a:xfrm>
              <a:prstGeom prst="rect">
                <a:avLst/>
              </a:prstGeom>
              <a:solidFill>
                <a:srgbClr val="F28C28"/>
              </a:solidFill>
              <a:ln w="9525">
                <a:solidFill>
                  <a:srgbClr val="101418"/>
                </a:solidFill>
              </a:ln>
            </p:spPr>
            <p:txBody>
              <a:bodyPr rtlCol="0" anchor="ctr"/>
              <a:lstStyle/>
              <a:p>
                <a:pPr algn="ctr"/>
              </a:p>
            </p:txBody>
          </p:sp>
          <p:sp>
            <p:nvSpPr>
              <p:cNvPr id="124" name="Bunker"/>
              <p:cNvSpPr/>
              <p:nvPr/>
            </p:nvSpPr>
            <p:spPr>
              <a:xfrm>
                <a:off x="5999378" y="3696005"/>
                <a:ext cx="213970" cy="164592"/>
              </a:xfrm>
              <a:prstGeom prst="rect">
                <a:avLst/>
              </a:prstGeom>
              <a:solidFill>
                <a:srgbClr val="1B1D21"/>
              </a:solidFill>
              <a:ln>
                <a:noFill/>
              </a:ln>
            </p:spPr>
            <p:txBody>
              <a:bodyPr rtlCol="0" anchor="ctr"/>
              <a:lstStyle/>
              <a:p>
                <a:pPr algn="ctr"/>
              </a:p>
            </p:txBody>
          </p:sp>
          <p:sp>
            <p:nvSpPr>
              <p:cNvPr id="125" name="Rectangle 124"/>
              <p:cNvSpPr/>
              <p:nvPr/>
            </p:nvSpPr>
            <p:spPr>
              <a:xfrm>
                <a:off x="6254496" y="3728923"/>
                <a:ext cx="115214" cy="115214"/>
              </a:xfrm>
              <a:prstGeom prst="rect">
                <a:avLst/>
              </a:prstGeom>
              <a:solidFill>
                <a:srgbClr val="2B2F36"/>
              </a:solidFill>
              <a:ln>
                <a:noFill/>
              </a:ln>
            </p:spPr>
            <p:txBody>
              <a:bodyPr rtlCol="0" anchor="ctr"/>
              <a:lstStyle/>
              <a:p>
                <a:pPr algn="ctr"/>
              </a:p>
            </p:txBody>
          </p:sp>
          <p:sp>
            <p:nvSpPr>
              <p:cNvPr id="126" name="Chimney"/>
              <p:cNvSpPr/>
              <p:nvPr/>
            </p:nvSpPr>
            <p:spPr>
              <a:xfrm>
                <a:off x="6616598" y="3440887"/>
                <a:ext cx="123444" cy="246888"/>
              </a:xfrm>
              <a:prstGeom prst="rect">
                <a:avLst/>
              </a:prstGeom>
              <a:solidFill>
                <a:srgbClr val="1B1D21"/>
              </a:solidFill>
              <a:ln>
                <a:noFill/>
              </a:ln>
            </p:spPr>
            <p:txBody>
              <a:bodyPr rtlCol="0" anchor="ctr"/>
              <a:lstStyle/>
              <a:p>
                <a:pPr algn="ctr"/>
              </a:p>
            </p:txBody>
          </p:sp>
          <p:sp>
            <p:nvSpPr>
              <p:cNvPr id="127" name="Oval 126"/>
              <p:cNvSpPr/>
              <p:nvPr/>
            </p:nvSpPr>
            <p:spPr>
              <a:xfrm>
                <a:off x="6056986" y="4041648"/>
                <a:ext cx="164592" cy="164592"/>
              </a:xfrm>
              <a:prstGeom prst="ellipse">
                <a:avLst/>
              </a:prstGeom>
              <a:solidFill>
                <a:srgbClr val="1B1D21"/>
              </a:solidFill>
              <a:ln w="12700">
                <a:solidFill>
                  <a:srgbClr val="9AA0A6"/>
                </a:solidFill>
              </a:ln>
            </p:spPr>
            <p:txBody>
              <a:bodyPr rtlCol="0" anchor="ctr"/>
              <a:lstStyle/>
              <a:p>
                <a:pPr algn="ctr"/>
              </a:p>
            </p:txBody>
          </p:sp>
          <p:sp>
            <p:nvSpPr>
              <p:cNvPr id="128" name="Oval 127"/>
              <p:cNvSpPr/>
              <p:nvPr/>
            </p:nvSpPr>
            <p:spPr>
              <a:xfrm>
                <a:off x="6303874" y="4041648"/>
                <a:ext cx="164592" cy="164592"/>
              </a:xfrm>
              <a:prstGeom prst="ellipse">
                <a:avLst/>
              </a:prstGeom>
              <a:solidFill>
                <a:srgbClr val="1B1D21"/>
              </a:solidFill>
              <a:ln w="12700">
                <a:solidFill>
                  <a:srgbClr val="9AA0A6"/>
                </a:solidFill>
              </a:ln>
            </p:spPr>
            <p:txBody>
              <a:bodyPr rtlCol="0" anchor="ctr"/>
              <a:lstStyle/>
              <a:p>
                <a:pPr algn="ctr"/>
              </a:p>
            </p:txBody>
          </p:sp>
          <p:sp>
            <p:nvSpPr>
              <p:cNvPr id="129" name="Oval 128"/>
              <p:cNvSpPr/>
              <p:nvPr/>
            </p:nvSpPr>
            <p:spPr>
              <a:xfrm>
                <a:off x="6550762" y="4041648"/>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130" name="Following train" descr="A steam train: an engine pulling wagons."/>
            <p:cNvGrpSpPr/>
            <p:nvPr/>
          </p:nvGrpSpPr>
          <p:grpSpPr>
            <a:xfrm>
              <a:off x="1417320" y="3568446"/>
              <a:ext cx="1892808" cy="637794"/>
              <a:chOff x="1417320" y="3568446"/>
              <a:chExt cx="1892808" cy="637794"/>
            </a:xfrm>
          </p:grpSpPr>
          <p:sp>
            <p:nvSpPr>
              <p:cNvPr id="131" name="Rectangle 130"/>
              <p:cNvSpPr/>
              <p:nvPr/>
            </p:nvSpPr>
            <p:spPr>
              <a:xfrm>
                <a:off x="1417320" y="3815334"/>
                <a:ext cx="548640" cy="308610"/>
              </a:xfrm>
              <a:prstGeom prst="rect">
                <a:avLst/>
              </a:prstGeom>
              <a:solidFill>
                <a:srgbClr val="6C7480"/>
              </a:solidFill>
              <a:ln w="9525">
                <a:solidFill>
                  <a:srgbClr val="101418"/>
                </a:solidFill>
              </a:ln>
            </p:spPr>
            <p:txBody>
              <a:bodyPr rtlCol="0" anchor="ctr"/>
              <a:lstStyle/>
              <a:p>
                <a:pPr algn="ctr"/>
              </a:p>
            </p:txBody>
          </p:sp>
          <p:sp>
            <p:nvSpPr>
              <p:cNvPr id="132" name="Oval 131"/>
              <p:cNvSpPr/>
              <p:nvPr/>
            </p:nvSpPr>
            <p:spPr>
              <a:xfrm>
                <a:off x="148590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3" name="Oval 132"/>
              <p:cNvSpPr/>
              <p:nvPr/>
            </p:nvSpPr>
            <p:spPr>
              <a:xfrm>
                <a:off x="176022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4" name="Rectangle 133"/>
              <p:cNvSpPr/>
              <p:nvPr/>
            </p:nvSpPr>
            <p:spPr>
              <a:xfrm>
                <a:off x="1965960" y="4034790"/>
                <a:ext cx="54864" cy="34290"/>
              </a:xfrm>
              <a:prstGeom prst="rect">
                <a:avLst/>
              </a:prstGeom>
              <a:solidFill>
                <a:srgbClr val="9AA0A6"/>
              </a:solidFill>
              <a:ln>
                <a:noFill/>
              </a:ln>
            </p:spPr>
            <p:txBody>
              <a:bodyPr rtlCol="0" anchor="ctr"/>
              <a:lstStyle/>
              <a:p>
                <a:pPr algn="ctr"/>
              </a:p>
            </p:txBody>
          </p:sp>
          <p:sp>
            <p:nvSpPr>
              <p:cNvPr id="135" name="Rectangle 134"/>
              <p:cNvSpPr/>
              <p:nvPr/>
            </p:nvSpPr>
            <p:spPr>
              <a:xfrm>
                <a:off x="2020824" y="3815334"/>
                <a:ext cx="548640" cy="308610"/>
              </a:xfrm>
              <a:prstGeom prst="rect">
                <a:avLst/>
              </a:prstGeom>
              <a:solidFill>
                <a:srgbClr val="6C7480"/>
              </a:solidFill>
              <a:ln w="9525">
                <a:solidFill>
                  <a:srgbClr val="101418"/>
                </a:solidFill>
              </a:ln>
            </p:spPr>
            <p:txBody>
              <a:bodyPr rtlCol="0" anchor="ctr"/>
              <a:lstStyle/>
              <a:p>
                <a:pPr algn="ctr"/>
              </a:p>
            </p:txBody>
          </p:sp>
          <p:sp>
            <p:nvSpPr>
              <p:cNvPr id="136" name="Oval 135"/>
              <p:cNvSpPr/>
              <p:nvPr/>
            </p:nvSpPr>
            <p:spPr>
              <a:xfrm>
                <a:off x="208940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7" name="Oval 136"/>
              <p:cNvSpPr/>
              <p:nvPr/>
            </p:nvSpPr>
            <p:spPr>
              <a:xfrm>
                <a:off x="236372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8" name="Rectangle 137"/>
              <p:cNvSpPr/>
              <p:nvPr/>
            </p:nvSpPr>
            <p:spPr>
              <a:xfrm>
                <a:off x="2569464" y="4034790"/>
                <a:ext cx="54864" cy="34290"/>
              </a:xfrm>
              <a:prstGeom prst="rect">
                <a:avLst/>
              </a:prstGeom>
              <a:solidFill>
                <a:srgbClr val="9AA0A6"/>
              </a:solidFill>
              <a:ln>
                <a:noFill/>
              </a:ln>
            </p:spPr>
            <p:txBody>
              <a:bodyPr rtlCol="0" anchor="ctr"/>
              <a:lstStyle/>
              <a:p>
                <a:pPr algn="ctr"/>
              </a:p>
            </p:txBody>
          </p:sp>
          <p:sp>
            <p:nvSpPr>
              <p:cNvPr id="139" name="Rectangle 138"/>
              <p:cNvSpPr/>
              <p:nvPr/>
            </p:nvSpPr>
            <p:spPr>
              <a:xfrm>
                <a:off x="2624328" y="3760470"/>
                <a:ext cx="685800" cy="377190"/>
              </a:xfrm>
              <a:prstGeom prst="rect">
                <a:avLst/>
              </a:prstGeom>
              <a:solidFill>
                <a:srgbClr val="F28C28"/>
              </a:solidFill>
              <a:ln w="9525">
                <a:solidFill>
                  <a:srgbClr val="101418"/>
                </a:solidFill>
              </a:ln>
            </p:spPr>
            <p:txBody>
              <a:bodyPr rtlCol="0" anchor="ctr"/>
              <a:lstStyle/>
              <a:p>
                <a:pPr algn="ctr"/>
              </a:p>
            </p:txBody>
          </p:sp>
          <p:sp>
            <p:nvSpPr>
              <p:cNvPr id="140" name="Bunker"/>
              <p:cNvSpPr/>
              <p:nvPr/>
            </p:nvSpPr>
            <p:spPr>
              <a:xfrm>
                <a:off x="2644902" y="3781044"/>
                <a:ext cx="178308" cy="137160"/>
              </a:xfrm>
              <a:prstGeom prst="rect">
                <a:avLst/>
              </a:prstGeom>
              <a:solidFill>
                <a:srgbClr val="1B1D21"/>
              </a:solidFill>
              <a:ln>
                <a:noFill/>
              </a:ln>
            </p:spPr>
            <p:txBody>
              <a:bodyPr rtlCol="0" anchor="ctr"/>
              <a:lstStyle/>
              <a:p>
                <a:pPr algn="ctr"/>
              </a:p>
            </p:txBody>
          </p:sp>
          <p:sp>
            <p:nvSpPr>
              <p:cNvPr id="141" name="Rectangle 140"/>
              <p:cNvSpPr/>
              <p:nvPr/>
            </p:nvSpPr>
            <p:spPr>
              <a:xfrm>
                <a:off x="2857500" y="3808476"/>
                <a:ext cx="96012" cy="96012"/>
              </a:xfrm>
              <a:prstGeom prst="rect">
                <a:avLst/>
              </a:prstGeom>
              <a:solidFill>
                <a:srgbClr val="2B2F36"/>
              </a:solidFill>
              <a:ln>
                <a:noFill/>
              </a:ln>
            </p:spPr>
            <p:txBody>
              <a:bodyPr rtlCol="0" anchor="ctr"/>
              <a:lstStyle/>
              <a:p>
                <a:pPr algn="ctr"/>
              </a:p>
            </p:txBody>
          </p:sp>
          <p:sp>
            <p:nvSpPr>
              <p:cNvPr id="142" name="Chimney"/>
              <p:cNvSpPr/>
              <p:nvPr/>
            </p:nvSpPr>
            <p:spPr>
              <a:xfrm>
                <a:off x="3159252" y="3568446"/>
                <a:ext cx="102870" cy="205740"/>
              </a:xfrm>
              <a:prstGeom prst="rect">
                <a:avLst/>
              </a:prstGeom>
              <a:solidFill>
                <a:srgbClr val="1B1D21"/>
              </a:solidFill>
              <a:ln>
                <a:noFill/>
              </a:ln>
            </p:spPr>
            <p:txBody>
              <a:bodyPr rtlCol="0" anchor="ctr"/>
              <a:lstStyle/>
              <a:p>
                <a:pPr algn="ctr"/>
              </a:p>
            </p:txBody>
          </p:sp>
          <p:sp>
            <p:nvSpPr>
              <p:cNvPr id="143" name="Oval 142"/>
              <p:cNvSpPr/>
              <p:nvPr/>
            </p:nvSpPr>
            <p:spPr>
              <a:xfrm>
                <a:off x="269290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4" name="Oval 143"/>
              <p:cNvSpPr/>
              <p:nvPr/>
            </p:nvSpPr>
            <p:spPr>
              <a:xfrm>
                <a:off x="289864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5" name="Oval 144"/>
              <p:cNvSpPr/>
              <p:nvPr/>
            </p:nvSpPr>
            <p:spPr>
              <a:xfrm>
                <a:off x="3104388" y="4069080"/>
                <a:ext cx="137160" cy="137160"/>
              </a:xfrm>
              <a:prstGeom prst="ellipse">
                <a:avLst/>
              </a:prstGeom>
              <a:solidFill>
                <a:srgbClr val="1B1D21"/>
              </a:solidFill>
              <a:ln w="12700">
                <a:solidFill>
                  <a:srgbClr val="9AA0A6"/>
                </a:solidFill>
              </a:ln>
            </p:spPr>
            <p:txBody>
              <a:bodyPr rtlCol="0" anchor="ctr"/>
              <a:lstStyle/>
              <a:p>
                <a:pPr algn="ctr"/>
              </a:p>
            </p:txBody>
          </p:sp>
        </p:grpSp>
        <p:grpSp>
          <p:nvGrpSpPr>
            <p:cNvPr id="146" name="Signal stop" descr="Semaphore stop signal, arm flat: STOP."/>
            <p:cNvGrpSpPr/>
            <p:nvPr/>
          </p:nvGrpSpPr>
          <p:grpSpPr>
            <a:xfrm>
              <a:off x="3973068" y="3163824"/>
              <a:ext cx="1303020" cy="1389888"/>
              <a:chOff x="3973068" y="3163824"/>
              <a:chExt cx="1303020" cy="1389888"/>
            </a:xfrm>
          </p:grpSpPr>
          <p:sp>
            <p:nvSpPr>
              <p:cNvPr id="147" name="Rectangle 146"/>
              <p:cNvSpPr/>
              <p:nvPr/>
            </p:nvSpPr>
            <p:spPr>
              <a:xfrm>
                <a:off x="4050792" y="4489704"/>
                <a:ext cx="310896" cy="64008"/>
              </a:xfrm>
              <a:prstGeom prst="rect">
                <a:avLst/>
              </a:prstGeom>
              <a:solidFill>
                <a:srgbClr val="9AA0A6"/>
              </a:solidFill>
              <a:ln>
                <a:noFill/>
              </a:ln>
            </p:spPr>
            <p:txBody>
              <a:bodyPr rtlCol="0" anchor="ctr"/>
              <a:lstStyle/>
              <a:p>
                <a:pPr algn="ctr"/>
              </a:p>
            </p:txBody>
          </p:sp>
          <p:sp>
            <p:nvSpPr>
              <p:cNvPr id="148" name="Rectangle 147"/>
              <p:cNvSpPr/>
              <p:nvPr/>
            </p:nvSpPr>
            <p:spPr>
              <a:xfrm>
                <a:off x="4151376" y="3547872"/>
                <a:ext cx="109728" cy="1005840"/>
              </a:xfrm>
              <a:prstGeom prst="rect">
                <a:avLst/>
              </a:prstGeom>
              <a:solidFill>
                <a:srgbClr val="E8E8E8"/>
              </a:solidFill>
              <a:ln>
                <a:noFill/>
              </a:ln>
            </p:spPr>
            <p:txBody>
              <a:bodyPr rtlCol="0" anchor="ctr"/>
              <a:lstStyle/>
              <a:p>
                <a:pPr algn="ctr"/>
              </a:p>
            </p:txBody>
          </p:sp>
          <p:sp>
            <p:nvSpPr>
              <p:cNvPr id="149" name="Oval 148"/>
              <p:cNvSpPr/>
              <p:nvPr/>
            </p:nvSpPr>
            <p:spPr>
              <a:xfrm>
                <a:off x="4142232" y="3447288"/>
                <a:ext cx="128016" cy="128016"/>
              </a:xfrm>
              <a:prstGeom prst="ellipse">
                <a:avLst/>
              </a:prstGeom>
              <a:solidFill>
                <a:srgbClr val="E8E8E8"/>
              </a:solidFill>
              <a:ln>
                <a:noFill/>
              </a:ln>
            </p:spPr>
            <p:txBody>
              <a:bodyPr rtlCol="0" anchor="ctr"/>
              <a:lstStyle/>
              <a:p>
                <a:pPr algn="ctr"/>
              </a:p>
            </p:txBody>
          </p:sp>
          <p:sp>
            <p:nvSpPr>
              <p:cNvPr id="150" name="Freeform 149"/>
              <p:cNvSpPr/>
              <p:nvPr/>
            </p:nvSpPr>
            <p:spPr>
              <a:xfrm>
                <a:off x="4261104" y="3694176"/>
                <a:ext cx="640080" cy="128016"/>
              </a:xfrm>
              <a:custGeom>
                <a:avLst/>
                <a:gdLst/>
                <a:ahLst/>
                <a:cxnLst/>
                <a:rect l="l" t="t" r="r" b="b"/>
                <a:pathLst>
                  <a:path w="640080" h="128016">
                    <a:moveTo>
                      <a:pt x="0" y="0"/>
                    </a:moveTo>
                    <a:lnTo>
                      <a:pt x="640080" y="0"/>
                    </a:lnTo>
                    <a:lnTo>
                      <a:pt x="640080" y="128016"/>
                    </a:lnTo>
                    <a:lnTo>
                      <a:pt x="0" y="128016"/>
                    </a:lnTo>
                    <a:close/>
                  </a:path>
                </a:pathLst>
              </a:custGeom>
              <a:solidFill>
                <a:srgbClr val="E5484D"/>
              </a:solidFill>
              <a:ln w="9525">
                <a:solidFill>
                  <a:srgbClr val="101418"/>
                </a:solidFill>
              </a:ln>
            </p:spPr>
            <p:txBody>
              <a:bodyPr rtlCol="0" anchor="ctr"/>
              <a:lstStyle/>
              <a:p>
                <a:pPr algn="ctr"/>
              </a:p>
            </p:txBody>
          </p:sp>
          <p:sp>
            <p:nvSpPr>
              <p:cNvPr id="151" name="Freeform 150"/>
              <p:cNvSpPr/>
              <p:nvPr/>
            </p:nvSpPr>
            <p:spPr>
              <a:xfrm>
                <a:off x="4657954" y="3694176"/>
                <a:ext cx="76809" cy="128016"/>
              </a:xfrm>
              <a:custGeom>
                <a:avLst/>
                <a:gdLst/>
                <a:ahLst/>
                <a:cxnLst/>
                <a:rect l="l" t="t" r="r" b="b"/>
                <a:pathLst>
                  <a:path w="76809" h="128016">
                    <a:moveTo>
                      <a:pt x="0" y="0"/>
                    </a:moveTo>
                    <a:lnTo>
                      <a:pt x="76809" y="0"/>
                    </a:lnTo>
                    <a:lnTo>
                      <a:pt x="76809" y="128016"/>
                    </a:lnTo>
                    <a:lnTo>
                      <a:pt x="0" y="128016"/>
                    </a:lnTo>
                    <a:close/>
                  </a:path>
                </a:pathLst>
              </a:custGeom>
              <a:solidFill>
                <a:srgbClr val="FFFFFF"/>
              </a:solidFill>
              <a:ln>
                <a:noFill/>
              </a:ln>
            </p:spPr>
            <p:txBody>
              <a:bodyPr rtlCol="0" anchor="ctr"/>
              <a:lstStyle/>
              <a:p>
                <a:pPr algn="ctr"/>
              </a:p>
            </p:txBody>
          </p:sp>
          <p:sp>
            <p:nvSpPr>
              <p:cNvPr id="152" name="Oval 151"/>
              <p:cNvSpPr/>
              <p:nvPr/>
            </p:nvSpPr>
            <p:spPr>
              <a:xfrm>
                <a:off x="3973068" y="3680460"/>
                <a:ext cx="155448" cy="155448"/>
              </a:xfrm>
              <a:prstGeom prst="ellipse">
                <a:avLst/>
              </a:prstGeom>
              <a:solidFill>
                <a:srgbClr val="E5484D"/>
              </a:solidFill>
              <a:ln w="9525">
                <a:solidFill>
                  <a:srgbClr val="101418"/>
                </a:solidFill>
              </a:ln>
            </p:spPr>
            <p:txBody>
              <a:bodyPr rtlCol="0" anchor="ctr"/>
              <a:lstStyle/>
              <a:p>
                <a:pPr algn="ctr"/>
              </a:p>
            </p:txBody>
          </p:sp>
          <p:sp>
            <p:nvSpPr>
              <p:cNvPr id="153" name="Rounded Rectangle 152"/>
              <p:cNvSpPr/>
              <p:nvPr/>
            </p:nvSpPr>
            <p:spPr>
              <a:xfrm>
                <a:off x="4407408" y="3163824"/>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154" name="Signal clear" descr="Semaphore stop signal, arm raised: CLEAR."/>
            <p:cNvGrpSpPr/>
            <p:nvPr/>
          </p:nvGrpSpPr>
          <p:grpSpPr>
            <a:xfrm>
              <a:off x="7630668" y="3163824"/>
              <a:ext cx="1303020" cy="1389888"/>
              <a:chOff x="7630668" y="3163824"/>
              <a:chExt cx="1303020" cy="1389888"/>
            </a:xfrm>
          </p:grpSpPr>
          <p:sp>
            <p:nvSpPr>
              <p:cNvPr id="155" name="Rectangle 154"/>
              <p:cNvSpPr/>
              <p:nvPr/>
            </p:nvSpPr>
            <p:spPr>
              <a:xfrm>
                <a:off x="7708392" y="4489704"/>
                <a:ext cx="310896" cy="64008"/>
              </a:xfrm>
              <a:prstGeom prst="rect">
                <a:avLst/>
              </a:prstGeom>
              <a:solidFill>
                <a:srgbClr val="9AA0A6"/>
              </a:solidFill>
              <a:ln>
                <a:noFill/>
              </a:ln>
            </p:spPr>
            <p:txBody>
              <a:bodyPr rtlCol="0" anchor="ctr"/>
              <a:lstStyle/>
              <a:p>
                <a:pPr algn="ctr"/>
              </a:p>
            </p:txBody>
          </p:sp>
          <p:sp>
            <p:nvSpPr>
              <p:cNvPr id="156" name="Rectangle 155"/>
              <p:cNvSpPr/>
              <p:nvPr/>
            </p:nvSpPr>
            <p:spPr>
              <a:xfrm>
                <a:off x="7808976" y="3547872"/>
                <a:ext cx="109728" cy="1005840"/>
              </a:xfrm>
              <a:prstGeom prst="rect">
                <a:avLst/>
              </a:prstGeom>
              <a:solidFill>
                <a:srgbClr val="E8E8E8"/>
              </a:solidFill>
              <a:ln>
                <a:noFill/>
              </a:ln>
            </p:spPr>
            <p:txBody>
              <a:bodyPr rtlCol="0" anchor="ctr"/>
              <a:lstStyle/>
              <a:p>
                <a:pPr algn="ctr"/>
              </a:p>
            </p:txBody>
          </p:sp>
          <p:sp>
            <p:nvSpPr>
              <p:cNvPr id="157" name="Oval 156"/>
              <p:cNvSpPr/>
              <p:nvPr/>
            </p:nvSpPr>
            <p:spPr>
              <a:xfrm>
                <a:off x="7799832" y="3447288"/>
                <a:ext cx="128016" cy="128016"/>
              </a:xfrm>
              <a:prstGeom prst="ellipse">
                <a:avLst/>
              </a:prstGeom>
              <a:solidFill>
                <a:srgbClr val="E8E8E8"/>
              </a:solidFill>
              <a:ln>
                <a:noFill/>
              </a:ln>
            </p:spPr>
            <p:txBody>
              <a:bodyPr rtlCol="0" anchor="ctr"/>
              <a:lstStyle/>
              <a:p>
                <a:pPr algn="ctr"/>
              </a:p>
            </p:txBody>
          </p:sp>
          <p:sp>
            <p:nvSpPr>
              <p:cNvPr id="158" name="Freeform 157"/>
              <p:cNvSpPr/>
              <p:nvPr/>
            </p:nvSpPr>
            <p:spPr>
              <a:xfrm>
                <a:off x="7873444" y="3260319"/>
                <a:ext cx="543125" cy="543125"/>
              </a:xfrm>
              <a:custGeom>
                <a:avLst/>
                <a:gdLst/>
                <a:ahLst/>
                <a:cxnLst/>
                <a:rect l="l" t="t" r="r" b="b"/>
                <a:pathLst>
                  <a:path w="543125" h="543125">
                    <a:moveTo>
                      <a:pt x="0" y="452605"/>
                    </a:moveTo>
                    <a:lnTo>
                      <a:pt x="452604" y="0"/>
                    </a:lnTo>
                    <a:lnTo>
                      <a:pt x="543125" y="90521"/>
                    </a:lnTo>
                    <a:lnTo>
                      <a:pt x="90520" y="543125"/>
                    </a:lnTo>
                    <a:close/>
                  </a:path>
                </a:pathLst>
              </a:custGeom>
              <a:solidFill>
                <a:srgbClr val="E5484D"/>
              </a:solidFill>
              <a:ln w="9525">
                <a:solidFill>
                  <a:srgbClr val="101418"/>
                </a:solidFill>
              </a:ln>
            </p:spPr>
            <p:txBody>
              <a:bodyPr rtlCol="0" anchor="ctr"/>
              <a:lstStyle/>
              <a:p>
                <a:pPr algn="ctr"/>
              </a:p>
            </p:txBody>
          </p:sp>
          <p:sp>
            <p:nvSpPr>
              <p:cNvPr id="159" name="Freeform 158"/>
              <p:cNvSpPr/>
              <p:nvPr/>
            </p:nvSpPr>
            <p:spPr>
              <a:xfrm>
                <a:off x="8154059" y="3377996"/>
                <a:ext cx="144833" cy="144833"/>
              </a:xfrm>
              <a:custGeom>
                <a:avLst/>
                <a:gdLst/>
                <a:ahLst/>
                <a:cxnLst/>
                <a:rect l="l" t="t" r="r" b="b"/>
                <a:pathLst>
                  <a:path w="144833" h="144833">
                    <a:moveTo>
                      <a:pt x="0" y="54312"/>
                    </a:moveTo>
                    <a:lnTo>
                      <a:pt x="54312" y="0"/>
                    </a:lnTo>
                    <a:lnTo>
                      <a:pt x="144833" y="90521"/>
                    </a:lnTo>
                    <a:lnTo>
                      <a:pt x="90521" y="144833"/>
                    </a:lnTo>
                    <a:close/>
                  </a:path>
                </a:pathLst>
              </a:custGeom>
              <a:solidFill>
                <a:srgbClr val="FFFFFF"/>
              </a:solidFill>
              <a:ln>
                <a:noFill/>
              </a:ln>
            </p:spPr>
            <p:txBody>
              <a:bodyPr rtlCol="0" anchor="ctr"/>
              <a:lstStyle/>
              <a:p>
                <a:pPr algn="ctr"/>
              </a:p>
            </p:txBody>
          </p:sp>
          <p:sp>
            <p:nvSpPr>
              <p:cNvPr id="160" name="Oval 159"/>
              <p:cNvSpPr/>
              <p:nvPr/>
            </p:nvSpPr>
            <p:spPr>
              <a:xfrm>
                <a:off x="7630668" y="3680460"/>
                <a:ext cx="155448" cy="155448"/>
              </a:xfrm>
              <a:prstGeom prst="ellipse">
                <a:avLst/>
              </a:prstGeom>
              <a:solidFill>
                <a:srgbClr val="3FB950"/>
              </a:solidFill>
              <a:ln w="9525">
                <a:solidFill>
                  <a:srgbClr val="101418"/>
                </a:solidFill>
              </a:ln>
            </p:spPr>
            <p:txBody>
              <a:bodyPr rtlCol="0" anchor="ctr"/>
              <a:lstStyle/>
              <a:p>
                <a:pPr algn="ctr"/>
              </a:p>
            </p:txBody>
          </p:sp>
          <p:sp>
            <p:nvSpPr>
              <p:cNvPr id="161" name="Rounded Rectangle 160"/>
              <p:cNvSpPr/>
              <p:nvPr/>
            </p:nvSpPr>
            <p:spPr>
              <a:xfrm>
                <a:off x="8065008" y="3163824"/>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62" name="Rectangle 161"/>
            <p:cNvSpPr/>
            <p:nvPr/>
          </p:nvSpPr>
          <p:spPr>
            <a:xfrm>
              <a:off x="6797650" y="4626864"/>
              <a:ext cx="3626510" cy="164592"/>
            </a:xfrm>
            <a:prstGeom prst="rect">
              <a:avLst/>
            </a:prstGeom>
            <a:solidFill>
              <a:srgbClr val="F2C14E"/>
            </a:solidFill>
            <a:ln>
              <a:noFill/>
            </a:ln>
          </p:spPr>
          <p:txBody>
            <a:bodyPr rtlCol="0" anchor="ctr"/>
            <a:lstStyle/>
            <a:p>
              <a:pPr algn="ctr"/>
            </a:p>
          </p:txBody>
        </p:sp>
        <p:cxnSp>
          <p:nvCxnSpPr>
            <p:cNvPr id="163" name="Connector 162"/>
            <p:cNvCxnSpPr/>
            <p:nvPr/>
          </p:nvCxnSpPr>
          <p:spPr>
            <a:xfrm>
              <a:off x="10424160" y="3749040"/>
              <a:ext cx="0" cy="1188720"/>
            </a:xfrm>
            <a:prstGeom prst="line">
              <a:avLst/>
            </a:prstGeom>
            <a:ln w="28575">
              <a:solidFill>
                <a:srgbClr val="F2C14E"/>
              </a:solidFill>
              <a:prstDash val="dash"/>
            </a:ln>
          </p:spPr>
        </p:cxnSp>
        <p:sp>
          <p:nvSpPr>
            <p:cNvPr id="164" name="TextBox 163"/>
            <p:cNvSpPr txBox="1"/>
            <p:nvPr/>
          </p:nvSpPr>
          <p:spPr>
            <a:xfrm>
              <a:off x="6889090" y="4809744"/>
              <a:ext cx="3626510" cy="320040"/>
            </a:xfrm>
            <a:prstGeom prst="rect">
              <a:avLst/>
            </a:prstGeom>
            <a:noFill/>
          </p:spPr>
          <p:txBody>
            <a:bodyPr wrap="square" lIns="0" tIns="0" rIns="0" bIns="0" anchor="t">
              <a:noAutofit/>
            </a:bodyPr>
            <a:lstStyle/>
            <a:p>
              <a:pPr algn="l"/>
              <a:r>
                <a:rPr sz="1600" b="0" i="0" lang="en-GB">
                  <a:solidFill>
                    <a:srgbClr val="F2F2F2"/>
                  </a:solidFill>
                  <a:latin typeface="Arial"/>
                </a:rPr>
                <a:t>Long stopping distance</a:t>
              </a:r>
            </a:p>
          </p:txBody>
        </p:sp>
        <p:sp>
          <p:nvSpPr>
            <p:cNvPr id="165" name="Rectangle 164"/>
            <p:cNvSpPr/>
            <p:nvPr/>
          </p:nvSpPr>
          <p:spPr>
            <a:xfrm>
              <a:off x="859536" y="5230368"/>
              <a:ext cx="331012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166" name="Rectangle 165"/>
            <p:cNvSpPr/>
            <p:nvPr/>
          </p:nvSpPr>
          <p:spPr>
            <a:xfrm>
              <a:off x="4242816" y="5230368"/>
              <a:ext cx="35844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167" name="Rectangle 166"/>
            <p:cNvSpPr/>
            <p:nvPr/>
          </p:nvSpPr>
          <p:spPr>
            <a:xfrm>
              <a:off x="7900416" y="5230368"/>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Trains cannot swerve. They need a long way to stop. Signals keep them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Words you will meet</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Glossary" descr="Eight glossary cards: vanilla, tier, wagon, tender, block, semaphore, signal box and service stop, each with a short meaning."/>
          <p:cNvGrpSpPr/>
          <p:nvPr/>
        </p:nvGrpSpPr>
        <p:grpSpPr>
          <a:xfrm>
            <a:off x="548640" y="1554480"/>
            <a:ext cx="11092586" cy="3429000"/>
            <a:chOff x="548640" y="1554480"/>
            <a:chExt cx="11092586" cy="3429000"/>
          </a:xfrm>
        </p:grpSpPr>
        <p:sp>
          <p:nvSpPr>
            <p:cNvPr id="9" name="Rounded Rectangle 8"/>
            <p:cNvSpPr/>
            <p:nvPr/>
          </p:nvSpPr>
          <p:spPr>
            <a:xfrm>
              <a:off x="548640"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Vanilla</a:t>
              </a:r>
            </a:p>
            <a:p>
              <a:pPr algn="l"/>
              <a:r>
                <a:rPr sz="1800" b="0" i="0" lang="en-GB">
                  <a:solidFill>
                    <a:srgbClr val="F2F2F2"/>
                  </a:solidFill>
                  <a:latin typeface="Arial"/>
                </a:rPr>
                <a:t>The game without mods.</a:t>
              </a:r>
            </a:p>
          </p:txBody>
        </p:sp>
        <p:sp>
          <p:nvSpPr>
            <p:cNvPr id="10" name="Rounded Rectangle 9"/>
            <p:cNvSpPr/>
            <p:nvPr/>
          </p:nvSpPr>
          <p:spPr>
            <a:xfrm>
              <a:off x="3362249"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Tier</a:t>
              </a:r>
            </a:p>
            <a:p>
              <a:pPr algn="l"/>
              <a:r>
                <a:rPr sz="1800" b="0" i="0" lang="en-GB">
                  <a:solidFill>
                    <a:srgbClr val="F2F2F2"/>
                  </a:solidFill>
                  <a:latin typeface="Arial"/>
                </a:rPr>
                <a:t>A step of unlocks.</a:t>
              </a:r>
            </a:p>
          </p:txBody>
        </p:sp>
        <p:sp>
          <p:nvSpPr>
            <p:cNvPr id="11" name="Rounded Rectangle 10"/>
            <p:cNvSpPr/>
            <p:nvPr/>
          </p:nvSpPr>
          <p:spPr>
            <a:xfrm>
              <a:off x="6175858"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Wagon</a:t>
              </a:r>
            </a:p>
            <a:p>
              <a:pPr algn="l"/>
              <a:r>
                <a:rPr sz="1800" b="0" i="0" lang="en-GB">
                  <a:solidFill>
                    <a:srgbClr val="F2F2F2"/>
                  </a:solidFill>
                  <a:latin typeface="Arial"/>
                </a:rPr>
                <a:t>A vehicle that carries cargo.</a:t>
              </a:r>
            </a:p>
          </p:txBody>
        </p:sp>
        <p:sp>
          <p:nvSpPr>
            <p:cNvPr id="12" name="Rounded Rectangle 11"/>
            <p:cNvSpPr/>
            <p:nvPr/>
          </p:nvSpPr>
          <p:spPr>
            <a:xfrm>
              <a:off x="8989466"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Tender</a:t>
              </a:r>
            </a:p>
            <a:p>
              <a:pPr algn="l"/>
              <a:r>
                <a:rPr sz="1800" b="0" i="0" lang="en-GB">
                  <a:solidFill>
                    <a:srgbClr val="F2F2F2"/>
                  </a:solidFill>
                  <a:latin typeface="Arial"/>
                </a:rPr>
                <a:t>A coal and water wagon behind an engine.</a:t>
              </a:r>
            </a:p>
          </p:txBody>
        </p:sp>
        <p:sp>
          <p:nvSpPr>
            <p:cNvPr id="13" name="Rounded Rectangle 12"/>
            <p:cNvSpPr/>
            <p:nvPr/>
          </p:nvSpPr>
          <p:spPr>
            <a:xfrm>
              <a:off x="548640"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Block</a:t>
              </a:r>
            </a:p>
            <a:p>
              <a:pPr algn="l"/>
              <a:r>
                <a:rPr sz="1800" b="0" i="0" lang="en-GB">
                  <a:solidFill>
                    <a:srgbClr val="F2F2F2"/>
                  </a:solidFill>
                  <a:latin typeface="Arial"/>
                </a:rPr>
                <a:t>A stretch of track that holds one train.</a:t>
              </a:r>
            </a:p>
          </p:txBody>
        </p:sp>
        <p:sp>
          <p:nvSpPr>
            <p:cNvPr id="14" name="Rounded Rectangle 13"/>
            <p:cNvSpPr/>
            <p:nvPr/>
          </p:nvSpPr>
          <p:spPr>
            <a:xfrm>
              <a:off x="3362249"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Semaphore</a:t>
              </a:r>
            </a:p>
            <a:p>
              <a:pPr algn="l"/>
              <a:r>
                <a:rPr sz="1800" b="0" i="0" lang="en-GB">
                  <a:solidFill>
                    <a:srgbClr val="F2F2F2"/>
                  </a:solidFill>
                  <a:latin typeface="Arial"/>
                </a:rPr>
                <a:t>A signal with a moving arm.</a:t>
              </a:r>
            </a:p>
          </p:txBody>
        </p:sp>
        <p:sp>
          <p:nvSpPr>
            <p:cNvPr id="15" name="Rounded Rectangle 14"/>
            <p:cNvSpPr/>
            <p:nvPr/>
          </p:nvSpPr>
          <p:spPr>
            <a:xfrm>
              <a:off x="6175858"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Signal box</a:t>
              </a:r>
            </a:p>
            <a:p>
              <a:pPr algn="l"/>
              <a:r>
                <a:rPr sz="1800" b="0" i="0" lang="en-GB">
                  <a:solidFill>
                    <a:srgbClr val="F2F2F2"/>
                  </a:solidFill>
                  <a:latin typeface="Arial"/>
                </a:rPr>
                <a:t>Where a signaller works the signals.</a:t>
              </a:r>
            </a:p>
          </p:txBody>
        </p:sp>
        <p:sp>
          <p:nvSpPr>
            <p:cNvPr id="16" name="Rounded Rectangle 15"/>
            <p:cNvSpPr/>
            <p:nvPr/>
          </p:nvSpPr>
          <p:spPr>
            <a:xfrm>
              <a:off x="8989466"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Service stop</a:t>
              </a:r>
            </a:p>
            <a:p>
              <a:pPr algn="l"/>
              <a:r>
                <a:rPr sz="1800" b="0" i="0" lang="en-GB">
                  <a:solidFill>
                    <a:srgbClr val="F2F2F2"/>
                  </a:solidFill>
                  <a:latin typeface="Arial"/>
                </a:rPr>
                <a:t>A stop to refill coal and water.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meanings for the words in this guide.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Not "trains, but earlier"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548640" y="1298448"/>
            <a:ext cx="5394960" cy="411480"/>
          </a:xfrm>
          <a:prstGeom prst="rect">
            <a:avLst/>
          </a:prstGeom>
          <a:noFill/>
        </p:spPr>
        <p:txBody>
          <a:bodyPr wrap="square" lIns="0" tIns="0" rIns="0" bIns="0" anchor="t">
            <a:noAutofit/>
          </a:bodyPr>
          <a:lstStyle/>
          <a:p>
            <a:pPr algn="l"/>
            <a:r>
              <a:rPr sz="2000" b="1" i="0" lang="en-GB">
                <a:solidFill>
                  <a:srgbClr val="6CA0DC"/>
                </a:solidFill>
                <a:latin typeface="Arial"/>
              </a:rPr>
              <a:t>Vanilla electric (later)</a:t>
            </a:r>
          </a:p>
        </p:txBody>
      </p:sp>
      <p:sp>
        <p:nvSpPr>
          <p:cNvPr id="9" name="TextBox 8"/>
          <p:cNvSpPr txBox="1"/>
          <p:nvPr/>
        </p:nvSpPr>
        <p:spPr>
          <a:xfrm>
            <a:off x="6245352" y="1298448"/>
            <a:ext cx="5394960" cy="411480"/>
          </a:xfrm>
          <a:prstGeom prst="rect">
            <a:avLst/>
          </a:prstGeom>
          <a:noFill/>
        </p:spPr>
        <p:txBody>
          <a:bodyPr wrap="square" lIns="0" tIns="0" rIns="0" bIns="0" anchor="t">
            <a:noAutofit/>
          </a:bodyPr>
          <a:lstStyle/>
          <a:p>
            <a:pPr algn="l"/>
            <a:r>
              <a:rPr sz="2000" b="1" i="0" lang="en-GB">
                <a:solidFill>
                  <a:srgbClr val="F28C28"/>
                </a:solidFill>
                <a:latin typeface="Arial"/>
              </a:rPr>
              <a:t>Early steam (this mod)</a:t>
            </a:r>
          </a:p>
        </p:txBody>
      </p:sp>
      <p:grpSp>
        <p:nvGrpSpPr>
          <p:cNvPr id="10" name="Comparison" descr="Comparison in five rows. Vanilla electric: monorail beam, electricity, no refuelling, block and path signals, compact stations. Early steam: two-rail track, coal and water, service stops, semaphores and signal boxes, large stations."/>
          <p:cNvGrpSpPr/>
          <p:nvPr/>
        </p:nvGrpSpPr>
        <p:grpSpPr>
          <a:xfrm>
            <a:off x="548640" y="1810512"/>
            <a:ext cx="11091672" cy="3639312"/>
            <a:chOff x="548640" y="1810512"/>
            <a:chExt cx="11091672" cy="3639312"/>
          </a:xfrm>
        </p:grpSpPr>
        <p:sp>
          <p:nvSpPr>
            <p:cNvPr id="11" name="Rounded Rectangle 10"/>
            <p:cNvSpPr/>
            <p:nvPr/>
          </p:nvSpPr>
          <p:spPr>
            <a:xfrm>
              <a:off x="548640" y="1810512"/>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12" name="Rectangle 11"/>
            <p:cNvSpPr/>
            <p:nvPr/>
          </p:nvSpPr>
          <p:spPr>
            <a:xfrm>
              <a:off x="713232" y="2075688"/>
              <a:ext cx="585216" cy="146304"/>
            </a:xfrm>
            <a:prstGeom prst="rect">
              <a:avLst/>
            </a:prstGeom>
            <a:solidFill>
              <a:srgbClr val="6CA0DC"/>
            </a:solidFill>
            <a:ln>
              <a:noFill/>
            </a:ln>
          </p:spPr>
          <p:txBody>
            <a:bodyPr rtlCol="0" anchor="ctr"/>
            <a:lstStyle/>
            <a:p>
              <a:pPr algn="ctr"/>
            </a:p>
          </p:txBody>
        </p:sp>
        <p:sp>
          <p:nvSpPr>
            <p:cNvPr id="13" name="Rectangle 12"/>
            <p:cNvSpPr/>
            <p:nvPr/>
          </p:nvSpPr>
          <p:spPr>
            <a:xfrm>
              <a:off x="960120" y="2221992"/>
              <a:ext cx="91440" cy="164592"/>
            </a:xfrm>
            <a:prstGeom prst="rect">
              <a:avLst/>
            </a:prstGeom>
            <a:solidFill>
              <a:srgbClr val="6CA0DC"/>
            </a:solidFill>
            <a:ln>
              <a:noFill/>
            </a:ln>
          </p:spPr>
          <p:txBody>
            <a:bodyPr rtlCol="0" anchor="ctr"/>
            <a:lstStyle/>
            <a:p>
              <a:pPr algn="ctr"/>
            </a:p>
          </p:txBody>
        </p:sp>
        <p:sp>
          <p:nvSpPr>
            <p:cNvPr id="14" name="TextBox 13"/>
            <p:cNvSpPr txBox="1"/>
            <p:nvPr/>
          </p:nvSpPr>
          <p:spPr>
            <a:xfrm>
              <a:off x="1508760"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Monorail beam</a:t>
              </a:r>
            </a:p>
          </p:txBody>
        </p:sp>
        <p:sp>
          <p:nvSpPr>
            <p:cNvPr id="15" name="Rounded Rectangle 14"/>
            <p:cNvSpPr/>
            <p:nvPr/>
          </p:nvSpPr>
          <p:spPr>
            <a:xfrm>
              <a:off x="6245352" y="1810512"/>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16" name="Rectangle 15"/>
            <p:cNvSpPr/>
            <p:nvPr/>
          </p:nvSpPr>
          <p:spPr>
            <a:xfrm>
              <a:off x="6473952" y="1947672"/>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6675120" y="1947672"/>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6876288" y="1947672"/>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6409944" y="2029968"/>
              <a:ext cx="585216" cy="45720"/>
            </a:xfrm>
            <a:prstGeom prst="rect">
              <a:avLst/>
            </a:prstGeom>
            <a:solidFill>
              <a:srgbClr val="9AA0A6"/>
            </a:solidFill>
            <a:ln>
              <a:noFill/>
            </a:ln>
          </p:spPr>
          <p:txBody>
            <a:bodyPr rtlCol="0" anchor="ctr"/>
            <a:lstStyle/>
            <a:p>
              <a:pPr algn="ctr"/>
            </a:p>
          </p:txBody>
        </p:sp>
        <p:sp>
          <p:nvSpPr>
            <p:cNvPr id="20" name="Rectangle 19"/>
            <p:cNvSpPr/>
            <p:nvPr/>
          </p:nvSpPr>
          <p:spPr>
            <a:xfrm>
              <a:off x="6409944" y="2194560"/>
              <a:ext cx="585216" cy="45720"/>
            </a:xfrm>
            <a:prstGeom prst="rect">
              <a:avLst/>
            </a:prstGeom>
            <a:solidFill>
              <a:srgbClr val="9AA0A6"/>
            </a:solidFill>
            <a:ln>
              <a:noFill/>
            </a:ln>
          </p:spPr>
          <p:txBody>
            <a:bodyPr rtlCol="0" anchor="ctr"/>
            <a:lstStyle/>
            <a:p>
              <a:pPr algn="ctr"/>
            </a:p>
          </p:txBody>
        </p:sp>
        <p:sp>
          <p:nvSpPr>
            <p:cNvPr id="21" name="TextBox 20"/>
            <p:cNvSpPr txBox="1"/>
            <p:nvPr/>
          </p:nvSpPr>
          <p:spPr>
            <a:xfrm>
              <a:off x="7205472"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Two-rail track</a:t>
              </a:r>
            </a:p>
          </p:txBody>
        </p:sp>
        <p:sp>
          <p:nvSpPr>
            <p:cNvPr id="22" name="Rounded Rectangle 21"/>
            <p:cNvSpPr/>
            <p:nvPr/>
          </p:nvSpPr>
          <p:spPr>
            <a:xfrm>
              <a:off x="548640" y="2560320"/>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23" name="Lightning Bolt 22"/>
            <p:cNvSpPr/>
            <p:nvPr/>
          </p:nvSpPr>
          <p:spPr>
            <a:xfrm>
              <a:off x="850392" y="2651760"/>
              <a:ext cx="310896" cy="457200"/>
            </a:xfrm>
            <a:prstGeom prst="lightningBolt">
              <a:avLst/>
            </a:prstGeom>
            <a:solidFill>
              <a:srgbClr val="6CA0DC"/>
            </a:solidFill>
            <a:ln>
              <a:noFill/>
            </a:ln>
          </p:spPr>
          <p:txBody>
            <a:bodyPr rtlCol="0" anchor="ctr"/>
            <a:lstStyle/>
            <a:p>
              <a:pPr algn="ctr"/>
            </a:p>
          </p:txBody>
        </p:sp>
        <p:sp>
          <p:nvSpPr>
            <p:cNvPr id="24" name="TextBox 23"/>
            <p:cNvSpPr txBox="1"/>
            <p:nvPr/>
          </p:nvSpPr>
          <p:spPr>
            <a:xfrm>
              <a:off x="1508760"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Electricity</a:t>
              </a:r>
            </a:p>
          </p:txBody>
        </p:sp>
        <p:sp>
          <p:nvSpPr>
            <p:cNvPr id="25" name="Rounded Rectangle 24"/>
            <p:cNvSpPr/>
            <p:nvPr/>
          </p:nvSpPr>
          <p:spPr>
            <a:xfrm>
              <a:off x="6245352" y="2560320"/>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26" name="Freeform 25"/>
            <p:cNvSpPr/>
            <p:nvPr/>
          </p:nvSpPr>
          <p:spPr>
            <a:xfrm>
              <a:off x="6468478" y="2724912"/>
              <a:ext cx="248692" cy="333573"/>
            </a:xfrm>
            <a:custGeom>
              <a:avLst/>
              <a:gdLst/>
              <a:ahLst/>
              <a:cxnLst/>
              <a:rect l="l" t="t" r="r" b="b"/>
              <a:pathLst>
                <a:path w="248692" h="333573">
                  <a:moveTo>
                    <a:pt x="6800" y="165700"/>
                  </a:moveTo>
                  <a:lnTo>
                    <a:pt x="0" y="194865"/>
                  </a:lnTo>
                  <a:lnTo>
                    <a:pt x="326" y="224811"/>
                  </a:lnTo>
                  <a:lnTo>
                    <a:pt x="7761" y="253821"/>
                  </a:lnTo>
                  <a:lnTo>
                    <a:pt x="21878" y="280232"/>
                  </a:lnTo>
                  <a:lnTo>
                    <a:pt x="41868" y="302531"/>
                  </a:lnTo>
                  <a:lnTo>
                    <a:pt x="66586" y="319439"/>
                  </a:lnTo>
                  <a:lnTo>
                    <a:pt x="94614" y="329988"/>
                  </a:lnTo>
                  <a:lnTo>
                    <a:pt x="124346" y="333573"/>
                  </a:lnTo>
                  <a:lnTo>
                    <a:pt x="154078" y="329988"/>
                  </a:lnTo>
                  <a:lnTo>
                    <a:pt x="182106" y="319439"/>
                  </a:lnTo>
                  <a:lnTo>
                    <a:pt x="206824" y="302531"/>
                  </a:lnTo>
                  <a:lnTo>
                    <a:pt x="226814" y="280232"/>
                  </a:lnTo>
                  <a:lnTo>
                    <a:pt x="240931" y="253821"/>
                  </a:lnTo>
                  <a:lnTo>
                    <a:pt x="248366" y="224811"/>
                  </a:lnTo>
                  <a:lnTo>
                    <a:pt x="248692" y="194865"/>
                  </a:lnTo>
                  <a:lnTo>
                    <a:pt x="241892" y="165700"/>
                  </a:lnTo>
                  <a:lnTo>
                    <a:pt x="124346" y="0"/>
                  </a:lnTo>
                  <a:close/>
                </a:path>
              </a:pathLst>
            </a:custGeom>
            <a:solidFill>
              <a:srgbClr val="4DA3FF"/>
            </a:solidFill>
            <a:ln>
              <a:noFill/>
            </a:ln>
          </p:spPr>
          <p:txBody>
            <a:bodyPr rtlCol="0" anchor="ctr"/>
            <a:lstStyle/>
            <a:p>
              <a:pPr algn="ctr"/>
            </a:p>
          </p:txBody>
        </p:sp>
        <p:sp>
          <p:nvSpPr>
            <p:cNvPr id="27" name="Freeform 26"/>
            <p:cNvSpPr/>
            <p:nvPr/>
          </p:nvSpPr>
          <p:spPr>
            <a:xfrm>
              <a:off x="6720840" y="2770632"/>
              <a:ext cx="274320" cy="292608"/>
            </a:xfrm>
            <a:custGeom>
              <a:avLst/>
              <a:gdLst/>
              <a:ahLst/>
              <a:cxnLst/>
              <a:rect l="l" t="t" r="r" b="b"/>
              <a:pathLst>
                <a:path w="274320" h="292608">
                  <a:moveTo>
                    <a:pt x="0" y="292608"/>
                  </a:moveTo>
                  <a:lnTo>
                    <a:pt x="274320" y="292608"/>
                  </a:lnTo>
                  <a:lnTo>
                    <a:pt x="237744" y="91440"/>
                  </a:lnTo>
                  <a:lnTo>
                    <a:pt x="118872" y="0"/>
                  </a:lnTo>
                  <a:lnTo>
                    <a:pt x="27432" y="109728"/>
                  </a:lnTo>
                  <a:close/>
                </a:path>
              </a:pathLst>
            </a:custGeom>
            <a:solidFill>
              <a:srgbClr val="1B1D21"/>
            </a:solidFill>
            <a:ln w="12700">
              <a:solidFill>
                <a:srgbClr val="6B7078"/>
              </a:solidFill>
            </a:ln>
          </p:spPr>
          <p:txBody>
            <a:bodyPr rtlCol="0" anchor="ctr"/>
            <a:lstStyle/>
            <a:p>
              <a:pPr algn="ctr"/>
            </a:p>
          </p:txBody>
        </p:sp>
        <p:sp>
          <p:nvSpPr>
            <p:cNvPr id="28" name="TextBox 27"/>
            <p:cNvSpPr txBox="1"/>
            <p:nvPr/>
          </p:nvSpPr>
          <p:spPr>
            <a:xfrm>
              <a:off x="7205472"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Coal and water</a:t>
              </a:r>
            </a:p>
          </p:txBody>
        </p:sp>
        <p:sp>
          <p:nvSpPr>
            <p:cNvPr id="29" name="Rounded Rectangle 28"/>
            <p:cNvSpPr/>
            <p:nvPr/>
          </p:nvSpPr>
          <p:spPr>
            <a:xfrm>
              <a:off x="548640" y="3310128"/>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0" name="&quot;No&quot; Symbol 29"/>
            <p:cNvSpPr/>
            <p:nvPr/>
          </p:nvSpPr>
          <p:spPr>
            <a:xfrm>
              <a:off x="804672" y="3429000"/>
              <a:ext cx="402336" cy="402336"/>
            </a:xfrm>
            <a:prstGeom prst="noSmoking">
              <a:avLst/>
            </a:prstGeom>
            <a:solidFill>
              <a:srgbClr val="6CA0DC"/>
            </a:solidFill>
            <a:ln>
              <a:noFill/>
            </a:ln>
          </p:spPr>
          <p:txBody>
            <a:bodyPr rtlCol="0" anchor="ctr"/>
            <a:lstStyle/>
            <a:p>
              <a:pPr algn="ctr"/>
            </a:p>
          </p:txBody>
        </p:sp>
        <p:sp>
          <p:nvSpPr>
            <p:cNvPr id="31" name="TextBox 30"/>
            <p:cNvSpPr txBox="1"/>
            <p:nvPr/>
          </p:nvSpPr>
          <p:spPr>
            <a:xfrm>
              <a:off x="1508760"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No refuelling</a:t>
              </a:r>
            </a:p>
          </p:txBody>
        </p:sp>
        <p:sp>
          <p:nvSpPr>
            <p:cNvPr id="32" name="Rounded Rectangle 31"/>
            <p:cNvSpPr/>
            <p:nvPr/>
          </p:nvSpPr>
          <p:spPr>
            <a:xfrm>
              <a:off x="6245352" y="3310128"/>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33" name="Freeform 32"/>
            <p:cNvSpPr/>
            <p:nvPr/>
          </p:nvSpPr>
          <p:spPr>
            <a:xfrm>
              <a:off x="6519672" y="3447288"/>
              <a:ext cx="384048" cy="411480"/>
            </a:xfrm>
            <a:custGeom>
              <a:avLst/>
              <a:gdLst/>
              <a:ahLst/>
              <a:cxnLst/>
              <a:rect l="l" t="t" r="r" b="b"/>
              <a:pathLst>
                <a:path w="384048" h="411480">
                  <a:moveTo>
                    <a:pt x="0" y="411480"/>
                  </a:moveTo>
                  <a:lnTo>
                    <a:pt x="0" y="0"/>
                  </a:lnTo>
                  <a:lnTo>
                    <a:pt x="384048" y="0"/>
                  </a:lnTo>
                  <a:lnTo>
                    <a:pt x="384048" y="182880"/>
                  </a:lnTo>
                </a:path>
              </a:pathLst>
            </a:custGeom>
            <a:noFill/>
            <a:ln w="50800">
              <a:solidFill>
                <a:srgbClr val="F28C28"/>
              </a:solidFill>
            </a:ln>
          </p:spPr>
          <p:txBody>
            <a:bodyPr rtlCol="0" anchor="ctr"/>
            <a:lstStyle/>
            <a:p>
              <a:pPr algn="ctr"/>
            </a:p>
          </p:txBody>
        </p:sp>
        <p:sp>
          <p:nvSpPr>
            <p:cNvPr id="34" name="Oval 33"/>
            <p:cNvSpPr/>
            <p:nvPr/>
          </p:nvSpPr>
          <p:spPr>
            <a:xfrm>
              <a:off x="6858000" y="3675888"/>
              <a:ext cx="91440" cy="128016"/>
            </a:xfrm>
            <a:prstGeom prst="ellipse">
              <a:avLst/>
            </a:prstGeom>
            <a:solidFill>
              <a:srgbClr val="4DA3FF"/>
            </a:solidFill>
            <a:ln>
              <a:noFill/>
            </a:ln>
          </p:spPr>
          <p:txBody>
            <a:bodyPr rtlCol="0" anchor="ctr"/>
            <a:lstStyle/>
            <a:p>
              <a:pPr algn="ctr"/>
            </a:p>
          </p:txBody>
        </p:sp>
        <p:sp>
          <p:nvSpPr>
            <p:cNvPr id="35" name="TextBox 34"/>
            <p:cNvSpPr txBox="1"/>
            <p:nvPr/>
          </p:nvSpPr>
          <p:spPr>
            <a:xfrm>
              <a:off x="7205472"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Service stops</a:t>
              </a:r>
            </a:p>
          </p:txBody>
        </p:sp>
        <p:sp>
          <p:nvSpPr>
            <p:cNvPr id="36" name="Rounded Rectangle 35"/>
            <p:cNvSpPr/>
            <p:nvPr/>
          </p:nvSpPr>
          <p:spPr>
            <a:xfrm>
              <a:off x="548640" y="4059936"/>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7" name="Rounded Rectangle 36"/>
            <p:cNvSpPr/>
            <p:nvPr/>
          </p:nvSpPr>
          <p:spPr>
            <a:xfrm>
              <a:off x="896112" y="4133088"/>
              <a:ext cx="219456" cy="493776"/>
            </a:xfrm>
            <a:prstGeom prst="roundRect">
              <a:avLst>
                <a:gd name="adj" fmla="val 33333"/>
              </a:avLst>
            </a:prstGeom>
            <a:solidFill>
              <a:srgbClr val="343A43"/>
            </a:solidFill>
            <a:ln w="19050">
              <a:solidFill>
                <a:srgbClr val="6CA0DC"/>
              </a:solidFill>
            </a:ln>
          </p:spPr>
          <p:txBody>
            <a:bodyPr rtlCol="0" anchor="ctr"/>
            <a:lstStyle/>
            <a:p>
              <a:pPr algn="ctr"/>
            </a:p>
          </p:txBody>
        </p:sp>
        <p:sp>
          <p:nvSpPr>
            <p:cNvPr id="38" name="Oval 37"/>
            <p:cNvSpPr/>
            <p:nvPr/>
          </p:nvSpPr>
          <p:spPr>
            <a:xfrm>
              <a:off x="946404" y="4210812"/>
              <a:ext cx="118872" cy="118872"/>
            </a:xfrm>
            <a:prstGeom prst="ellipse">
              <a:avLst/>
            </a:prstGeom>
            <a:solidFill>
              <a:srgbClr val="3FB950"/>
            </a:solidFill>
            <a:ln>
              <a:noFill/>
            </a:ln>
          </p:spPr>
          <p:txBody>
            <a:bodyPr rtlCol="0" anchor="ctr"/>
            <a:lstStyle/>
            <a:p>
              <a:pPr algn="ctr"/>
            </a:p>
          </p:txBody>
        </p:sp>
        <p:sp>
          <p:nvSpPr>
            <p:cNvPr id="39" name="Oval 38"/>
            <p:cNvSpPr/>
            <p:nvPr/>
          </p:nvSpPr>
          <p:spPr>
            <a:xfrm>
              <a:off x="946404" y="4430268"/>
              <a:ext cx="118872" cy="118872"/>
            </a:xfrm>
            <a:prstGeom prst="ellipse">
              <a:avLst/>
            </a:prstGeom>
            <a:solidFill>
              <a:srgbClr val="E5484D"/>
            </a:solidFill>
            <a:ln>
              <a:noFill/>
            </a:ln>
          </p:spPr>
          <p:txBody>
            <a:bodyPr rtlCol="0" anchor="ctr"/>
            <a:lstStyle/>
            <a:p>
              <a:pPr algn="ctr"/>
            </a:p>
          </p:txBody>
        </p:sp>
        <p:sp>
          <p:nvSpPr>
            <p:cNvPr id="40" name="TextBox 39"/>
            <p:cNvSpPr txBox="1"/>
            <p:nvPr/>
          </p:nvSpPr>
          <p:spPr>
            <a:xfrm>
              <a:off x="1508760"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Block and path</a:t>
              </a:r>
            </a:p>
          </p:txBody>
        </p:sp>
        <p:sp>
          <p:nvSpPr>
            <p:cNvPr id="41" name="Rounded Rectangle 40"/>
            <p:cNvSpPr/>
            <p:nvPr/>
          </p:nvSpPr>
          <p:spPr>
            <a:xfrm>
              <a:off x="6245352" y="4059936"/>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2" name="Rectangle 41"/>
            <p:cNvSpPr/>
            <p:nvPr/>
          </p:nvSpPr>
          <p:spPr>
            <a:xfrm>
              <a:off x="6675120" y="4133088"/>
              <a:ext cx="54864" cy="493776"/>
            </a:xfrm>
            <a:prstGeom prst="rect">
              <a:avLst/>
            </a:prstGeom>
            <a:solidFill>
              <a:srgbClr val="E8E8E8"/>
            </a:solidFill>
            <a:ln>
              <a:noFill/>
            </a:ln>
          </p:spPr>
          <p:txBody>
            <a:bodyPr rtlCol="0" anchor="ctr"/>
            <a:lstStyle/>
            <a:p>
              <a:pPr algn="ctr"/>
            </a:p>
          </p:txBody>
        </p:sp>
        <p:sp>
          <p:nvSpPr>
            <p:cNvPr id="43" name="Rectangle 42"/>
            <p:cNvSpPr/>
            <p:nvPr/>
          </p:nvSpPr>
          <p:spPr>
            <a:xfrm>
              <a:off x="6729984" y="4178808"/>
              <a:ext cx="274320" cy="73152"/>
            </a:xfrm>
            <a:prstGeom prst="rect">
              <a:avLst/>
            </a:prstGeom>
            <a:solidFill>
              <a:srgbClr val="E5484D"/>
            </a:solidFill>
            <a:ln>
              <a:noFill/>
            </a:ln>
          </p:spPr>
          <p:txBody>
            <a:bodyPr rtlCol="0" anchor="ctr"/>
            <a:lstStyle/>
            <a:p>
              <a:pPr algn="ctr"/>
            </a:p>
          </p:txBody>
        </p:sp>
        <p:sp>
          <p:nvSpPr>
            <p:cNvPr id="44" name="TextBox 43"/>
            <p:cNvSpPr txBox="1"/>
            <p:nvPr/>
          </p:nvSpPr>
          <p:spPr>
            <a:xfrm>
              <a:off x="7205472"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Semaphores and boxes</a:t>
              </a:r>
            </a:p>
          </p:txBody>
        </p:sp>
        <p:sp>
          <p:nvSpPr>
            <p:cNvPr id="45" name="Rounded Rectangle 44"/>
            <p:cNvSpPr/>
            <p:nvPr/>
          </p:nvSpPr>
          <p:spPr>
            <a:xfrm>
              <a:off x="548640" y="4809744"/>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46" name="Rectangle 45"/>
            <p:cNvSpPr/>
            <p:nvPr/>
          </p:nvSpPr>
          <p:spPr>
            <a:xfrm>
              <a:off x="868680" y="5020056"/>
              <a:ext cx="274320" cy="219456"/>
            </a:xfrm>
            <a:prstGeom prst="rect">
              <a:avLst/>
            </a:prstGeom>
            <a:noFill/>
            <a:ln w="25400">
              <a:solidFill>
                <a:srgbClr val="6CA0DC"/>
              </a:solidFill>
            </a:ln>
          </p:spPr>
          <p:txBody>
            <a:bodyPr rtlCol="0" anchor="ctr"/>
            <a:lstStyle/>
            <a:p>
              <a:pPr algn="ctr"/>
            </a:p>
          </p:txBody>
        </p:sp>
        <p:sp>
          <p:nvSpPr>
            <p:cNvPr id="47" name="TextBox 46"/>
            <p:cNvSpPr txBox="1"/>
            <p:nvPr/>
          </p:nvSpPr>
          <p:spPr>
            <a:xfrm>
              <a:off x="1508760"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Compact</a:t>
              </a:r>
            </a:p>
          </p:txBody>
        </p:sp>
        <p:sp>
          <p:nvSpPr>
            <p:cNvPr id="48" name="Rounded Rectangle 47"/>
            <p:cNvSpPr/>
            <p:nvPr/>
          </p:nvSpPr>
          <p:spPr>
            <a:xfrm>
              <a:off x="6245352" y="4809744"/>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9" name="Rectangle 48"/>
            <p:cNvSpPr/>
            <p:nvPr/>
          </p:nvSpPr>
          <p:spPr>
            <a:xfrm>
              <a:off x="6400800" y="5020056"/>
              <a:ext cx="603504" cy="219456"/>
            </a:xfrm>
            <a:prstGeom prst="rect">
              <a:avLst/>
            </a:prstGeom>
            <a:noFill/>
            <a:ln w="25400">
              <a:solidFill>
                <a:srgbClr val="F28C28"/>
              </a:solidFill>
            </a:ln>
          </p:spPr>
          <p:txBody>
            <a:bodyPr rtlCol="0" anchor="ctr"/>
            <a:lstStyle/>
            <a:p>
              <a:pPr algn="ctr"/>
            </a:p>
          </p:txBody>
        </p:sp>
        <p:sp>
          <p:nvSpPr>
            <p:cNvPr id="50" name="TextBox 49"/>
            <p:cNvSpPr txBox="1"/>
            <p:nvPr/>
          </p:nvSpPr>
          <p:spPr>
            <a:xfrm>
              <a:off x="7205472"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Large</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rail is not electric trains with an early unlock. It works in its own 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Every limit has an answer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imits and answers" descr="Four limits, each with arrows to its answers. Short range: auxiliary tender, service stop or bigger engine. Small loads: a suitable engine and train length. Busy line: more signals and boxes. Slow overall: convert to monorail later."/>
          <p:cNvGrpSpPr/>
          <p:nvPr/>
        </p:nvGrpSpPr>
        <p:grpSpPr>
          <a:xfrm>
            <a:off x="548640" y="1371600"/>
            <a:ext cx="8595360" cy="4023360"/>
            <a:chOff x="548640" y="1371600"/>
            <a:chExt cx="8595360" cy="4023360"/>
          </a:xfrm>
        </p:grpSpPr>
        <p:sp>
          <p:nvSpPr>
            <p:cNvPr id="9" name="Rounded Rectangle 8"/>
            <p:cNvSpPr/>
            <p:nvPr/>
          </p:nvSpPr>
          <p:spPr>
            <a:xfrm>
              <a:off x="548640" y="1874520"/>
              <a:ext cx="2560320" cy="640080"/>
            </a:xfrm>
            <a:prstGeom prst="roundRect">
              <a:avLst>
                <a:gd name="adj" fmla="val 11428"/>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Short range</a:t>
              </a:r>
            </a:p>
          </p:txBody>
        </p:sp>
        <p:sp>
          <p:nvSpPr>
            <p:cNvPr id="10" name="Rounded Rectangle 9"/>
            <p:cNvSpPr/>
            <p:nvPr/>
          </p:nvSpPr>
          <p:spPr>
            <a:xfrm>
              <a:off x="4206240" y="1371600"/>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Auxiliary tender</a:t>
              </a:r>
            </a:p>
          </p:txBody>
        </p:sp>
        <p:cxnSp>
          <p:nvCxnSpPr>
            <p:cNvPr id="11" name="Connector 10"/>
            <p:cNvCxnSpPr/>
            <p:nvPr/>
          </p:nvCxnSpPr>
          <p:spPr>
            <a:xfrm flipV="1">
              <a:off x="3154680" y="1600200"/>
              <a:ext cx="996696" cy="594360"/>
            </a:xfrm>
            <a:prstGeom prst="line">
              <a:avLst/>
            </a:prstGeom>
            <a:ln w="28575">
              <a:solidFill>
                <a:srgbClr val="F28C28"/>
              </a:solidFill>
              <a:tailEnd type="triangle" w="lg" len="lg"/>
            </a:ln>
          </p:spPr>
        </p:cxnSp>
        <p:sp>
          <p:nvSpPr>
            <p:cNvPr id="12" name="Rounded Rectangle 11"/>
            <p:cNvSpPr/>
            <p:nvPr/>
          </p:nvSpPr>
          <p:spPr>
            <a:xfrm>
              <a:off x="4206240" y="1938528"/>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Service stop</a:t>
              </a:r>
            </a:p>
          </p:txBody>
        </p:sp>
        <p:cxnSp>
          <p:nvCxnSpPr>
            <p:cNvPr id="13" name="Connector 12"/>
            <p:cNvCxnSpPr/>
            <p:nvPr/>
          </p:nvCxnSpPr>
          <p:spPr>
            <a:xfrm flipV="1">
              <a:off x="3154680" y="2167128"/>
              <a:ext cx="996696" cy="27432"/>
            </a:xfrm>
            <a:prstGeom prst="line">
              <a:avLst/>
            </a:prstGeom>
            <a:ln w="28575">
              <a:solidFill>
                <a:srgbClr val="F28C28"/>
              </a:solidFill>
              <a:tailEnd type="triangle" w="lg" len="lg"/>
            </a:ln>
          </p:spPr>
        </p:cxnSp>
        <p:sp>
          <p:nvSpPr>
            <p:cNvPr id="14" name="Rounded Rectangle 13"/>
            <p:cNvSpPr/>
            <p:nvPr/>
          </p:nvSpPr>
          <p:spPr>
            <a:xfrm>
              <a:off x="4206240" y="2505456"/>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Bigger engine</a:t>
              </a:r>
            </a:p>
          </p:txBody>
        </p:sp>
        <p:cxnSp>
          <p:nvCxnSpPr>
            <p:cNvPr id="15" name="Connector 14"/>
            <p:cNvCxnSpPr/>
            <p:nvPr/>
          </p:nvCxnSpPr>
          <p:spPr>
            <a:xfrm>
              <a:off x="3154680" y="2194560"/>
              <a:ext cx="996696" cy="539496"/>
            </a:xfrm>
            <a:prstGeom prst="line">
              <a:avLst/>
            </a:prstGeom>
            <a:ln w="28575">
              <a:solidFill>
                <a:srgbClr val="F28C28"/>
              </a:solidFill>
              <a:tailEnd type="triangle" w="lg" len="lg"/>
            </a:ln>
          </p:spPr>
        </p:cxnSp>
        <p:sp>
          <p:nvSpPr>
            <p:cNvPr id="16" name="Rounded Rectangle 15"/>
            <p:cNvSpPr/>
            <p:nvPr/>
          </p:nvSpPr>
          <p:spPr>
            <a:xfrm>
              <a:off x="548640" y="324612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Small loads</a:t>
              </a:r>
            </a:p>
          </p:txBody>
        </p:sp>
        <p:cxnSp>
          <p:nvCxnSpPr>
            <p:cNvPr id="17" name="Connector 16"/>
            <p:cNvCxnSpPr/>
            <p:nvPr/>
          </p:nvCxnSpPr>
          <p:spPr>
            <a:xfrm>
              <a:off x="3154680" y="3543300"/>
              <a:ext cx="996696" cy="0"/>
            </a:xfrm>
            <a:prstGeom prst="line">
              <a:avLst/>
            </a:prstGeom>
            <a:ln w="28575">
              <a:solidFill>
                <a:srgbClr val="F28C28"/>
              </a:solidFill>
              <a:tailEnd type="triangle" w="lg" len="lg"/>
            </a:ln>
          </p:spPr>
        </p:cxnSp>
        <p:sp>
          <p:nvSpPr>
            <p:cNvPr id="18" name="Rounded Rectangle 17"/>
            <p:cNvSpPr/>
            <p:nvPr/>
          </p:nvSpPr>
          <p:spPr>
            <a:xfrm>
              <a:off x="4206240" y="3246120"/>
              <a:ext cx="493776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 suitable engine and train length</a:t>
              </a:r>
            </a:p>
          </p:txBody>
        </p:sp>
        <p:sp>
          <p:nvSpPr>
            <p:cNvPr id="19" name="Rounded Rectangle 18"/>
            <p:cNvSpPr/>
            <p:nvPr/>
          </p:nvSpPr>
          <p:spPr>
            <a:xfrm>
              <a:off x="548640" y="402336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Busy line</a:t>
              </a:r>
            </a:p>
          </p:txBody>
        </p:sp>
        <p:cxnSp>
          <p:nvCxnSpPr>
            <p:cNvPr id="20" name="Connector 19"/>
            <p:cNvCxnSpPr/>
            <p:nvPr/>
          </p:nvCxnSpPr>
          <p:spPr>
            <a:xfrm>
              <a:off x="3154680" y="4320540"/>
              <a:ext cx="996696" cy="0"/>
            </a:xfrm>
            <a:prstGeom prst="line">
              <a:avLst/>
            </a:prstGeom>
            <a:ln w="28575">
              <a:solidFill>
                <a:srgbClr val="F28C28"/>
              </a:solidFill>
              <a:tailEnd type="triangle" w="lg" len="lg"/>
            </a:ln>
          </p:spPr>
        </p:cxnSp>
        <p:sp>
          <p:nvSpPr>
            <p:cNvPr id="21" name="Rounded Rectangle 20"/>
            <p:cNvSpPr/>
            <p:nvPr/>
          </p:nvSpPr>
          <p:spPr>
            <a:xfrm>
              <a:off x="4206240" y="402336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More signals and boxes</a:t>
              </a:r>
            </a:p>
          </p:txBody>
        </p:sp>
        <p:sp>
          <p:nvSpPr>
            <p:cNvPr id="22" name="Rounded Rectangle 21"/>
            <p:cNvSpPr/>
            <p:nvPr/>
          </p:nvSpPr>
          <p:spPr>
            <a:xfrm>
              <a:off x="548640" y="480060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Slow overall</a:t>
              </a:r>
            </a:p>
          </p:txBody>
        </p:sp>
        <p:cxnSp>
          <p:nvCxnSpPr>
            <p:cNvPr id="23" name="Connector 22"/>
            <p:cNvCxnSpPr/>
            <p:nvPr/>
          </p:nvCxnSpPr>
          <p:spPr>
            <a:xfrm>
              <a:off x="3154680" y="5097780"/>
              <a:ext cx="996696" cy="0"/>
            </a:xfrm>
            <a:prstGeom prst="line">
              <a:avLst/>
            </a:prstGeom>
            <a:ln w="28575">
              <a:solidFill>
                <a:srgbClr val="F28C28"/>
              </a:solidFill>
              <a:tailEnd type="triangle" w="lg" len="lg"/>
            </a:ln>
          </p:spPr>
        </p:cxnSp>
        <p:sp>
          <p:nvSpPr>
            <p:cNvPr id="24" name="Rounded Rectangle 23"/>
            <p:cNvSpPr/>
            <p:nvPr/>
          </p:nvSpPr>
          <p:spPr>
            <a:xfrm>
              <a:off x="4206240" y="480060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Convert to monorail later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range, small loads, a busy line, slow trips: each has a fix.</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steam stays behind electric</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eam against electric" descr="Qualitative bars, not measured: steam scores high on cheap to start; electric scores high on speed, throughput, traffic density and convenience."/>
          <p:cNvGrpSpPr/>
          <p:nvPr/>
        </p:nvGrpSpPr>
        <p:grpSpPr>
          <a:xfrm>
            <a:off x="548640" y="1463040"/>
            <a:ext cx="7680960" cy="4242816"/>
            <a:chOff x="548640" y="1463040"/>
            <a:chExt cx="7680960" cy="4242816"/>
          </a:xfrm>
        </p:grpSpPr>
        <p:sp>
          <p:nvSpPr>
            <p:cNvPr id="9" name="TextBox 8"/>
            <p:cNvSpPr txBox="1"/>
            <p:nvPr/>
          </p:nvSpPr>
          <p:spPr>
            <a:xfrm>
              <a:off x="548640" y="1463040"/>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Cheap to start</a:t>
              </a:r>
            </a:p>
          </p:txBody>
        </p:sp>
        <p:sp>
          <p:nvSpPr>
            <p:cNvPr id="10" name="Rounded Rectangle 9"/>
            <p:cNvSpPr/>
            <p:nvPr/>
          </p:nvSpPr>
          <p:spPr>
            <a:xfrm>
              <a:off x="2743200" y="1463040"/>
              <a:ext cx="5486400" cy="237744"/>
            </a:xfrm>
            <a:prstGeom prst="roundRect">
              <a:avLst>
                <a:gd name="adj" fmla="val 19230"/>
              </a:avLst>
            </a:prstGeom>
            <a:solidFill>
              <a:srgbClr val="343A43"/>
            </a:solidFill>
            <a:ln>
              <a:noFill/>
            </a:ln>
          </p:spPr>
          <p:txBody>
            <a:bodyPr rtlCol="0" anchor="ctr"/>
            <a:lstStyle/>
            <a:p>
              <a:pPr algn="ctr"/>
            </a:p>
          </p:txBody>
        </p:sp>
        <p:sp>
          <p:nvSpPr>
            <p:cNvPr id="11" name="Rounded Rectangle 10"/>
            <p:cNvSpPr/>
            <p:nvPr/>
          </p:nvSpPr>
          <p:spPr>
            <a:xfrm>
              <a:off x="2743200" y="1463040"/>
              <a:ext cx="4663440" cy="237744"/>
            </a:xfrm>
            <a:prstGeom prst="roundRect">
              <a:avLst>
                <a:gd name="adj" fmla="val 19230"/>
              </a:avLst>
            </a:prstGeom>
            <a:solidFill>
              <a:srgbClr val="F28C28"/>
            </a:solidFill>
            <a:ln>
              <a:noFill/>
            </a:ln>
          </p:spPr>
          <p:txBody>
            <a:bodyPr rtlCol="0" anchor="ctr"/>
            <a:lstStyle/>
            <a:p>
              <a:pPr algn="ctr"/>
            </a:p>
          </p:txBody>
        </p:sp>
        <p:sp>
          <p:nvSpPr>
            <p:cNvPr id="12" name="Rounded Rectangle 11"/>
            <p:cNvSpPr/>
            <p:nvPr/>
          </p:nvSpPr>
          <p:spPr>
            <a:xfrm>
              <a:off x="2743200" y="1764792"/>
              <a:ext cx="5486400" cy="237744"/>
            </a:xfrm>
            <a:prstGeom prst="roundRect">
              <a:avLst>
                <a:gd name="adj" fmla="val 19230"/>
              </a:avLst>
            </a:prstGeom>
            <a:solidFill>
              <a:srgbClr val="343A43"/>
            </a:solidFill>
            <a:ln>
              <a:noFill/>
            </a:ln>
          </p:spPr>
          <p:txBody>
            <a:bodyPr rtlCol="0" anchor="ctr"/>
            <a:lstStyle/>
            <a:p>
              <a:pPr algn="ctr"/>
            </a:p>
          </p:txBody>
        </p:sp>
        <p:sp>
          <p:nvSpPr>
            <p:cNvPr id="13" name="Rounded Rectangle 12"/>
            <p:cNvSpPr/>
            <p:nvPr/>
          </p:nvSpPr>
          <p:spPr>
            <a:xfrm>
              <a:off x="2743200" y="1764792"/>
              <a:ext cx="2468880" cy="237744"/>
            </a:xfrm>
            <a:prstGeom prst="roundRect">
              <a:avLst>
                <a:gd name="adj" fmla="val 19230"/>
              </a:avLst>
            </a:prstGeom>
            <a:solidFill>
              <a:srgbClr val="6CA0DC"/>
            </a:solidFill>
            <a:ln>
              <a:noFill/>
            </a:ln>
          </p:spPr>
          <p:txBody>
            <a:bodyPr rtlCol="0" anchor="ctr"/>
            <a:lstStyle/>
            <a:p>
              <a:pPr algn="ctr"/>
            </a:p>
          </p:txBody>
        </p:sp>
        <p:sp>
          <p:nvSpPr>
            <p:cNvPr id="14" name="TextBox 13"/>
            <p:cNvSpPr txBox="1"/>
            <p:nvPr/>
          </p:nvSpPr>
          <p:spPr>
            <a:xfrm>
              <a:off x="548640" y="2249424"/>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Speed</a:t>
              </a:r>
            </a:p>
          </p:txBody>
        </p:sp>
        <p:sp>
          <p:nvSpPr>
            <p:cNvPr id="15" name="Rounded Rectangle 14"/>
            <p:cNvSpPr/>
            <p:nvPr/>
          </p:nvSpPr>
          <p:spPr>
            <a:xfrm>
              <a:off x="2743200" y="2249424"/>
              <a:ext cx="5486400" cy="237744"/>
            </a:xfrm>
            <a:prstGeom prst="roundRect">
              <a:avLst>
                <a:gd name="adj" fmla="val 19230"/>
              </a:avLst>
            </a:prstGeom>
            <a:solidFill>
              <a:srgbClr val="343A43"/>
            </a:solidFill>
            <a:ln>
              <a:noFill/>
            </a:ln>
          </p:spPr>
          <p:txBody>
            <a:bodyPr rtlCol="0" anchor="ctr"/>
            <a:lstStyle/>
            <a:p>
              <a:pPr algn="ctr"/>
            </a:p>
          </p:txBody>
        </p:sp>
        <p:sp>
          <p:nvSpPr>
            <p:cNvPr id="16" name="Rounded Rectangle 15"/>
            <p:cNvSpPr/>
            <p:nvPr/>
          </p:nvSpPr>
          <p:spPr>
            <a:xfrm>
              <a:off x="2743200" y="2249424"/>
              <a:ext cx="2194560" cy="237744"/>
            </a:xfrm>
            <a:prstGeom prst="roundRect">
              <a:avLst>
                <a:gd name="adj" fmla="val 19230"/>
              </a:avLst>
            </a:prstGeom>
            <a:solidFill>
              <a:srgbClr val="F28C28"/>
            </a:solidFill>
            <a:ln>
              <a:noFill/>
            </a:ln>
          </p:spPr>
          <p:txBody>
            <a:bodyPr rtlCol="0" anchor="ctr"/>
            <a:lstStyle/>
            <a:p>
              <a:pPr algn="ctr"/>
            </a:p>
          </p:txBody>
        </p:sp>
        <p:sp>
          <p:nvSpPr>
            <p:cNvPr id="17" name="Rounded Rectangle 16"/>
            <p:cNvSpPr/>
            <p:nvPr/>
          </p:nvSpPr>
          <p:spPr>
            <a:xfrm>
              <a:off x="2743200" y="2551176"/>
              <a:ext cx="5486400" cy="237744"/>
            </a:xfrm>
            <a:prstGeom prst="roundRect">
              <a:avLst>
                <a:gd name="adj" fmla="val 19230"/>
              </a:avLst>
            </a:prstGeom>
            <a:solidFill>
              <a:srgbClr val="343A43"/>
            </a:solidFill>
            <a:ln>
              <a:noFill/>
            </a:ln>
          </p:spPr>
          <p:txBody>
            <a:bodyPr rtlCol="0" anchor="ctr"/>
            <a:lstStyle/>
            <a:p>
              <a:pPr algn="ctr"/>
            </a:p>
          </p:txBody>
        </p:sp>
        <p:sp>
          <p:nvSpPr>
            <p:cNvPr id="18" name="Rounded Rectangle 17"/>
            <p:cNvSpPr/>
            <p:nvPr/>
          </p:nvSpPr>
          <p:spPr>
            <a:xfrm>
              <a:off x="2743200" y="2551176"/>
              <a:ext cx="4937760" cy="237744"/>
            </a:xfrm>
            <a:prstGeom prst="roundRect">
              <a:avLst>
                <a:gd name="adj" fmla="val 19230"/>
              </a:avLst>
            </a:prstGeom>
            <a:solidFill>
              <a:srgbClr val="6CA0DC"/>
            </a:solidFill>
            <a:ln>
              <a:noFill/>
            </a:ln>
          </p:spPr>
          <p:txBody>
            <a:bodyPr rtlCol="0" anchor="ctr"/>
            <a:lstStyle/>
            <a:p>
              <a:pPr algn="ctr"/>
            </a:p>
          </p:txBody>
        </p:sp>
        <p:sp>
          <p:nvSpPr>
            <p:cNvPr id="19" name="TextBox 18"/>
            <p:cNvSpPr txBox="1"/>
            <p:nvPr/>
          </p:nvSpPr>
          <p:spPr>
            <a:xfrm>
              <a:off x="548640" y="3035808"/>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Throughput</a:t>
              </a:r>
            </a:p>
          </p:txBody>
        </p:sp>
        <p:sp>
          <p:nvSpPr>
            <p:cNvPr id="20" name="Rounded Rectangle 19"/>
            <p:cNvSpPr/>
            <p:nvPr/>
          </p:nvSpPr>
          <p:spPr>
            <a:xfrm>
              <a:off x="2743200" y="3035808"/>
              <a:ext cx="5486400" cy="237744"/>
            </a:xfrm>
            <a:prstGeom prst="roundRect">
              <a:avLst>
                <a:gd name="adj" fmla="val 19230"/>
              </a:avLst>
            </a:prstGeom>
            <a:solidFill>
              <a:srgbClr val="343A43"/>
            </a:solidFill>
            <a:ln>
              <a:noFill/>
            </a:ln>
          </p:spPr>
          <p:txBody>
            <a:bodyPr rtlCol="0" anchor="ctr"/>
            <a:lstStyle/>
            <a:p>
              <a:pPr algn="ctr"/>
            </a:p>
          </p:txBody>
        </p:sp>
        <p:sp>
          <p:nvSpPr>
            <p:cNvPr id="21" name="Rounded Rectangle 20"/>
            <p:cNvSpPr/>
            <p:nvPr/>
          </p:nvSpPr>
          <p:spPr>
            <a:xfrm>
              <a:off x="2743200" y="3035808"/>
              <a:ext cx="1920240" cy="237744"/>
            </a:xfrm>
            <a:prstGeom prst="roundRect">
              <a:avLst>
                <a:gd name="adj" fmla="val 19230"/>
              </a:avLst>
            </a:prstGeom>
            <a:solidFill>
              <a:srgbClr val="F28C28"/>
            </a:solidFill>
            <a:ln>
              <a:noFill/>
            </a:ln>
          </p:spPr>
          <p:txBody>
            <a:bodyPr rtlCol="0" anchor="ctr"/>
            <a:lstStyle/>
            <a:p>
              <a:pPr algn="ctr"/>
            </a:p>
          </p:txBody>
        </p:sp>
        <p:sp>
          <p:nvSpPr>
            <p:cNvPr id="22" name="Rounded Rectangle 21"/>
            <p:cNvSpPr/>
            <p:nvPr/>
          </p:nvSpPr>
          <p:spPr>
            <a:xfrm>
              <a:off x="2743200" y="3337560"/>
              <a:ext cx="5486400" cy="237744"/>
            </a:xfrm>
            <a:prstGeom prst="roundRect">
              <a:avLst>
                <a:gd name="adj" fmla="val 19230"/>
              </a:avLst>
            </a:prstGeom>
            <a:solidFill>
              <a:srgbClr val="343A43"/>
            </a:solidFill>
            <a:ln>
              <a:noFill/>
            </a:ln>
          </p:spPr>
          <p:txBody>
            <a:bodyPr rtlCol="0" anchor="ctr"/>
            <a:lstStyle/>
            <a:p>
              <a:pPr algn="ctr"/>
            </a:p>
          </p:txBody>
        </p:sp>
        <p:sp>
          <p:nvSpPr>
            <p:cNvPr id="23" name="Rounded Rectangle 22"/>
            <p:cNvSpPr/>
            <p:nvPr/>
          </p:nvSpPr>
          <p:spPr>
            <a:xfrm>
              <a:off x="2743200" y="3337560"/>
              <a:ext cx="4937760" cy="237744"/>
            </a:xfrm>
            <a:prstGeom prst="roundRect">
              <a:avLst>
                <a:gd name="adj" fmla="val 19230"/>
              </a:avLst>
            </a:prstGeom>
            <a:solidFill>
              <a:srgbClr val="6CA0DC"/>
            </a:solidFill>
            <a:ln>
              <a:noFill/>
            </a:ln>
          </p:spPr>
          <p:txBody>
            <a:bodyPr rtlCol="0" anchor="ctr"/>
            <a:lstStyle/>
            <a:p>
              <a:pPr algn="ctr"/>
            </a:p>
          </p:txBody>
        </p:sp>
        <p:sp>
          <p:nvSpPr>
            <p:cNvPr id="24" name="TextBox 23"/>
            <p:cNvSpPr txBox="1"/>
            <p:nvPr/>
          </p:nvSpPr>
          <p:spPr>
            <a:xfrm>
              <a:off x="548640" y="3822192"/>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Traffic density</a:t>
              </a:r>
            </a:p>
          </p:txBody>
        </p:sp>
        <p:sp>
          <p:nvSpPr>
            <p:cNvPr id="25" name="Rounded Rectangle 24"/>
            <p:cNvSpPr/>
            <p:nvPr/>
          </p:nvSpPr>
          <p:spPr>
            <a:xfrm>
              <a:off x="2743200" y="3822192"/>
              <a:ext cx="5486400" cy="237744"/>
            </a:xfrm>
            <a:prstGeom prst="roundRect">
              <a:avLst>
                <a:gd name="adj" fmla="val 19230"/>
              </a:avLst>
            </a:prstGeom>
            <a:solidFill>
              <a:srgbClr val="343A43"/>
            </a:solidFill>
            <a:ln>
              <a:noFill/>
            </a:ln>
          </p:spPr>
          <p:txBody>
            <a:bodyPr rtlCol="0" anchor="ctr"/>
            <a:lstStyle/>
            <a:p>
              <a:pPr algn="ctr"/>
            </a:p>
          </p:txBody>
        </p:sp>
        <p:sp>
          <p:nvSpPr>
            <p:cNvPr id="26" name="Rounded Rectangle 25"/>
            <p:cNvSpPr/>
            <p:nvPr/>
          </p:nvSpPr>
          <p:spPr>
            <a:xfrm>
              <a:off x="2743200" y="3822192"/>
              <a:ext cx="1920240" cy="237744"/>
            </a:xfrm>
            <a:prstGeom prst="roundRect">
              <a:avLst>
                <a:gd name="adj" fmla="val 19230"/>
              </a:avLst>
            </a:prstGeom>
            <a:solidFill>
              <a:srgbClr val="F28C28"/>
            </a:solidFill>
            <a:ln>
              <a:noFill/>
            </a:ln>
          </p:spPr>
          <p:txBody>
            <a:bodyPr rtlCol="0" anchor="ctr"/>
            <a:lstStyle/>
            <a:p>
              <a:pPr algn="ctr"/>
            </a:p>
          </p:txBody>
        </p:sp>
        <p:sp>
          <p:nvSpPr>
            <p:cNvPr id="27" name="Rounded Rectangle 26"/>
            <p:cNvSpPr/>
            <p:nvPr/>
          </p:nvSpPr>
          <p:spPr>
            <a:xfrm>
              <a:off x="2743200" y="4123944"/>
              <a:ext cx="5486400" cy="237744"/>
            </a:xfrm>
            <a:prstGeom prst="roundRect">
              <a:avLst>
                <a:gd name="adj" fmla="val 19230"/>
              </a:avLst>
            </a:prstGeom>
            <a:solidFill>
              <a:srgbClr val="343A43"/>
            </a:solidFill>
            <a:ln>
              <a:noFill/>
            </a:ln>
          </p:spPr>
          <p:txBody>
            <a:bodyPr rtlCol="0" anchor="ctr"/>
            <a:lstStyle/>
            <a:p>
              <a:pPr algn="ctr"/>
            </a:p>
          </p:txBody>
        </p:sp>
        <p:sp>
          <p:nvSpPr>
            <p:cNvPr id="28" name="Rounded Rectangle 27"/>
            <p:cNvSpPr/>
            <p:nvPr/>
          </p:nvSpPr>
          <p:spPr>
            <a:xfrm>
              <a:off x="2743200" y="4123944"/>
              <a:ext cx="4937760" cy="237744"/>
            </a:xfrm>
            <a:prstGeom prst="roundRect">
              <a:avLst>
                <a:gd name="adj" fmla="val 19230"/>
              </a:avLst>
            </a:prstGeom>
            <a:solidFill>
              <a:srgbClr val="6CA0DC"/>
            </a:solidFill>
            <a:ln>
              <a:noFill/>
            </a:ln>
          </p:spPr>
          <p:txBody>
            <a:bodyPr rtlCol="0" anchor="ctr"/>
            <a:lstStyle/>
            <a:p>
              <a:pPr algn="ctr"/>
            </a:p>
          </p:txBody>
        </p:sp>
        <p:sp>
          <p:nvSpPr>
            <p:cNvPr id="29" name="TextBox 28"/>
            <p:cNvSpPr txBox="1"/>
            <p:nvPr/>
          </p:nvSpPr>
          <p:spPr>
            <a:xfrm>
              <a:off x="548640" y="4608576"/>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Convenience</a:t>
              </a:r>
            </a:p>
          </p:txBody>
        </p:sp>
        <p:sp>
          <p:nvSpPr>
            <p:cNvPr id="30" name="Rounded Rectangle 29"/>
            <p:cNvSpPr/>
            <p:nvPr/>
          </p:nvSpPr>
          <p:spPr>
            <a:xfrm>
              <a:off x="2743200" y="4608576"/>
              <a:ext cx="5486400" cy="237744"/>
            </a:xfrm>
            <a:prstGeom prst="roundRect">
              <a:avLst>
                <a:gd name="adj" fmla="val 19230"/>
              </a:avLst>
            </a:prstGeom>
            <a:solidFill>
              <a:srgbClr val="343A43"/>
            </a:solidFill>
            <a:ln>
              <a:noFill/>
            </a:ln>
          </p:spPr>
          <p:txBody>
            <a:bodyPr rtlCol="0" anchor="ctr"/>
            <a:lstStyle/>
            <a:p>
              <a:pPr algn="ctr"/>
            </a:p>
          </p:txBody>
        </p:sp>
        <p:sp>
          <p:nvSpPr>
            <p:cNvPr id="31" name="Rounded Rectangle 30"/>
            <p:cNvSpPr/>
            <p:nvPr/>
          </p:nvSpPr>
          <p:spPr>
            <a:xfrm>
              <a:off x="2743200" y="4608576"/>
              <a:ext cx="2468880" cy="237744"/>
            </a:xfrm>
            <a:prstGeom prst="roundRect">
              <a:avLst>
                <a:gd name="adj" fmla="val 19230"/>
              </a:avLst>
            </a:prstGeom>
            <a:solidFill>
              <a:srgbClr val="F28C28"/>
            </a:solidFill>
            <a:ln>
              <a:noFill/>
            </a:ln>
          </p:spPr>
          <p:txBody>
            <a:bodyPr rtlCol="0" anchor="ctr"/>
            <a:lstStyle/>
            <a:p>
              <a:pPr algn="ctr"/>
            </a:p>
          </p:txBody>
        </p:sp>
        <p:sp>
          <p:nvSpPr>
            <p:cNvPr id="32" name="Rounded Rectangle 31"/>
            <p:cNvSpPr/>
            <p:nvPr/>
          </p:nvSpPr>
          <p:spPr>
            <a:xfrm>
              <a:off x="2743200" y="4910328"/>
              <a:ext cx="5486400" cy="237744"/>
            </a:xfrm>
            <a:prstGeom prst="roundRect">
              <a:avLst>
                <a:gd name="adj" fmla="val 19230"/>
              </a:avLst>
            </a:prstGeom>
            <a:solidFill>
              <a:srgbClr val="343A43"/>
            </a:solidFill>
            <a:ln>
              <a:noFill/>
            </a:ln>
          </p:spPr>
          <p:txBody>
            <a:bodyPr rtlCol="0" anchor="ctr"/>
            <a:lstStyle/>
            <a:p>
              <a:pPr algn="ctr"/>
            </a:p>
          </p:txBody>
        </p:sp>
        <p:sp>
          <p:nvSpPr>
            <p:cNvPr id="33" name="Rounded Rectangle 32"/>
            <p:cNvSpPr/>
            <p:nvPr/>
          </p:nvSpPr>
          <p:spPr>
            <a:xfrm>
              <a:off x="2743200" y="4910328"/>
              <a:ext cx="4937760" cy="237744"/>
            </a:xfrm>
            <a:prstGeom prst="roundRect">
              <a:avLst>
                <a:gd name="adj" fmla="val 19230"/>
              </a:avLst>
            </a:prstGeom>
            <a:solidFill>
              <a:srgbClr val="6CA0DC"/>
            </a:solidFill>
            <a:ln>
              <a:noFill/>
            </a:ln>
          </p:spPr>
          <p:txBody>
            <a:bodyPr rtlCol="0" anchor="ctr"/>
            <a:lstStyle/>
            <a:p>
              <a:pPr algn="ctr"/>
            </a:p>
          </p:txBody>
        </p:sp>
        <p:sp>
          <p:nvSpPr>
            <p:cNvPr id="34" name="TextBox 33"/>
            <p:cNvSpPr txBox="1"/>
            <p:nvPr/>
          </p:nvSpPr>
          <p:spPr>
            <a:xfrm>
              <a:off x="2743200" y="541324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grpSp>
      <p:grpSp>
        <p:nvGrpSpPr>
          <p:cNvPr id="35" name="Legend" descr="Legend: orange is steam, blue is electric."/>
          <p:cNvGrpSpPr/>
          <p:nvPr/>
        </p:nvGrpSpPr>
        <p:grpSpPr>
          <a:xfrm>
            <a:off x="8778240" y="1444752"/>
            <a:ext cx="2743200" cy="822960"/>
            <a:chOff x="8778240" y="1444752"/>
            <a:chExt cx="2743200" cy="822960"/>
          </a:xfrm>
        </p:grpSpPr>
        <p:sp>
          <p:nvSpPr>
            <p:cNvPr id="36" name="Rounded Rectangle 35"/>
            <p:cNvSpPr/>
            <p:nvPr/>
          </p:nvSpPr>
          <p:spPr>
            <a:xfrm>
              <a:off x="8778240" y="1508760"/>
              <a:ext cx="365760" cy="237744"/>
            </a:xfrm>
            <a:prstGeom prst="roundRect">
              <a:avLst>
                <a:gd name="adj" fmla="val 19230"/>
              </a:avLst>
            </a:prstGeom>
            <a:solidFill>
              <a:srgbClr val="F28C28"/>
            </a:solidFill>
            <a:ln>
              <a:noFill/>
            </a:ln>
          </p:spPr>
          <p:txBody>
            <a:bodyPr rtlCol="0" anchor="ctr"/>
            <a:lstStyle/>
            <a:p>
              <a:pPr algn="ctr"/>
            </a:p>
          </p:txBody>
        </p:sp>
        <p:sp>
          <p:nvSpPr>
            <p:cNvPr id="37" name="TextBox 36"/>
            <p:cNvSpPr txBox="1"/>
            <p:nvPr/>
          </p:nvSpPr>
          <p:spPr>
            <a:xfrm>
              <a:off x="9235440" y="14447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Steam</a:t>
              </a:r>
            </a:p>
          </p:txBody>
        </p:sp>
        <p:sp>
          <p:nvSpPr>
            <p:cNvPr id="38" name="Rounded Rectangle 37"/>
            <p:cNvSpPr/>
            <p:nvPr/>
          </p:nvSpPr>
          <p:spPr>
            <a:xfrm>
              <a:off x="8778240" y="1965960"/>
              <a:ext cx="365760" cy="237744"/>
            </a:xfrm>
            <a:prstGeom prst="roundRect">
              <a:avLst>
                <a:gd name="adj" fmla="val 19230"/>
              </a:avLst>
            </a:prstGeom>
            <a:solidFill>
              <a:srgbClr val="6CA0DC"/>
            </a:solidFill>
            <a:ln>
              <a:noFill/>
            </a:ln>
          </p:spPr>
          <p:txBody>
            <a:bodyPr rtlCol="0" anchor="ctr"/>
            <a:lstStyle/>
            <a:p>
              <a:pPr algn="ctr"/>
            </a:p>
          </p:txBody>
        </p:sp>
        <p:sp>
          <p:nvSpPr>
            <p:cNvPr id="39" name="TextBox 38"/>
            <p:cNvSpPr txBox="1"/>
            <p:nvPr/>
          </p:nvSpPr>
          <p:spPr>
            <a:xfrm>
              <a:off x="9235440" y="19019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Electric</a:t>
              </a:r>
            </a:p>
          </p:txBody>
        </p:sp>
      </p:grpSp>
      <p:sp>
        <p:nvSpPr>
          <p:cNvPr id="40" name="Rounded Rectangle 39"/>
          <p:cNvSpPr/>
          <p:nvPr/>
        </p:nvSpPr>
        <p:spPr>
          <a:xfrm>
            <a:off x="8778240" y="2834640"/>
            <a:ext cx="2862072" cy="1737360"/>
          </a:xfrm>
          <a:prstGeom prst="roundRect">
            <a:avLst>
              <a:gd name="adj" fmla="val 4210"/>
            </a:avLst>
          </a:prstGeom>
          <a:solidFill>
            <a:srgbClr val="2B2F36"/>
          </a:solidFill>
          <a:ln w="19050">
            <a:solidFill>
              <a:srgbClr val="F28C28"/>
            </a:solidFill>
          </a:ln>
        </p:spPr>
        <p:txBody>
          <a:bodyPr rtlCol="0" anchor="ctr" wrap="square" lIns="182880" tIns="91440" rIns="137160" bIns="91440">
            <a:noAutofit/>
          </a:bodyPr>
          <a:lstStyle/>
          <a:p>
            <a:pPr algn="l"/>
            <a:r>
              <a:rPr sz="2000" b="0" i="0" lang="en-GB">
                <a:solidFill>
                  <a:srgbClr val="F2F2F2"/>
                </a:solidFill>
                <a:latin typeface="Arial"/>
              </a:rPr>
              <a:t>Steam gets there first. Electric wins when the network matures.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cheap and early. Electric wins on speed, throughput, traffic and convenience.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mod's track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R02" descr="High-detail render of the mod's two-rail track. Visual development only: not Unreal-tested, not production-ready."/>
          <p:cNvPicPr>
            <a:picLocks noChangeAspect="1"/>
          </p:cNvPicPr>
          <p:nvPr/>
        </p:nvPicPr>
        <p:blipFill>
          <a:blip r:embed="rId2"/>
          <a:stretch>
            <a:fillRect/>
          </a:stretch>
        </p:blipFill>
        <p:spPr>
          <a:xfrm>
            <a:off x="548640" y="1325880"/>
            <a:ext cx="5120640" cy="2880360"/>
          </a:xfrm>
          <a:prstGeom prst="roundRect">
            <a:avLst>
              <a:gd name="adj" fmla="val 2540"/>
            </a:avLst>
          </a:prstGeom>
        </p:spPr>
      </p:pic>
      <p:sp>
        <p:nvSpPr>
          <p:cNvPr id="9" name="Credit"/>
          <p:cNvSpPr txBox="1"/>
          <p:nvPr/>
        </p:nvSpPr>
        <p:spPr>
          <a:xfrm>
            <a:off x="548640" y="423367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5" descr="Close-up render of the mod's track: rail seated in a chair bolted to a sleeper. Visual development only."/>
          <p:cNvPicPr>
            <a:picLocks noChangeAspect="1"/>
          </p:cNvPicPr>
          <p:nvPr/>
        </p:nvPicPr>
        <p:blipFill>
          <a:blip r:embed="rId3"/>
          <a:stretch>
            <a:fillRect/>
          </a:stretch>
        </p:blipFill>
        <p:spPr>
          <a:xfrm>
            <a:off x="5852160" y="1325880"/>
            <a:ext cx="2286000" cy="1714500"/>
          </a:xfrm>
          <a:prstGeom prst="roundRect">
            <a:avLst>
              <a:gd name="adj" fmla="val 4267"/>
            </a:avLst>
          </a:prstGeom>
        </p:spPr>
      </p:pic>
      <p:sp>
        <p:nvSpPr>
          <p:cNvPr id="11" name="Credit"/>
          <p:cNvSpPr txBox="1"/>
          <p:nvPr/>
        </p:nvSpPr>
        <p:spPr>
          <a:xfrm>
            <a:off x="5852160" y="3067812"/>
            <a:ext cx="22860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12" name="TextBox 11"/>
          <p:cNvSpPr txBox="1"/>
          <p:nvPr/>
        </p:nvSpPr>
        <p:spPr>
          <a:xfrm>
            <a:off x="5852160" y="3429000"/>
            <a:ext cx="2286000" cy="594360"/>
          </a:xfrm>
          <a:prstGeom prst="rect">
            <a:avLst/>
          </a:prstGeom>
          <a:noFill/>
        </p:spPr>
        <p:txBody>
          <a:bodyPr wrap="square" lIns="0" tIns="0" rIns="0" bIns="0" anchor="t">
            <a:noAutofit/>
          </a:bodyPr>
          <a:lstStyle/>
          <a:p>
            <a:pPr algn="l"/>
            <a:r>
              <a:rPr sz="1600" b="0" i="0" lang="en-GB">
                <a:solidFill>
                  <a:srgbClr val="F2F2F2"/>
                </a:solidFill>
                <a:latin typeface="Arial"/>
              </a:rPr>
              <a:t>Close-up: chairs and rails</a:t>
            </a:r>
          </a:p>
        </p:txBody>
      </p:sp>
      <p:pic>
        <p:nvPicPr>
          <p:cNvPr id="13" name="Picture P02" descr="Full-size railway track at Sheffield Park station: rails, sleepers and ballast."/>
          <p:cNvPicPr>
            <a:picLocks noChangeAspect="1"/>
          </p:cNvPicPr>
          <p:nvPr/>
        </p:nvPicPr>
        <p:blipFill>
          <a:blip r:embed="rId4"/>
          <a:stretch>
            <a:fillRect/>
          </a:stretch>
        </p:blipFill>
        <p:spPr>
          <a:xfrm>
            <a:off x="8348472" y="1325880"/>
            <a:ext cx="3291840" cy="2468880"/>
          </a:xfrm>
          <a:prstGeom prst="roundRect">
            <a:avLst>
              <a:gd name="adj" fmla="val 2963"/>
            </a:avLst>
          </a:prstGeom>
        </p:spPr>
      </p:pic>
      <p:sp>
        <p:nvSpPr>
          <p:cNvPr id="14" name="Credit"/>
          <p:cNvSpPr txBox="1"/>
          <p:nvPr/>
        </p:nvSpPr>
        <p:spPr>
          <a:xfrm>
            <a:off x="8348472" y="3822192"/>
            <a:ext cx="3291840" cy="338328"/>
          </a:xfrm>
          <a:prstGeom prst="rect">
            <a:avLst/>
          </a:prstGeom>
          <a:noFill/>
        </p:spPr>
        <p:txBody>
          <a:bodyPr wrap="square" lIns="0" tIns="0" rIns="0" bIns="0" anchor="t">
            <a:noAutofit/>
          </a:bodyPr>
          <a:lstStyle/>
          <a:p>
            <a:pPr algn="l"/>
            <a:r>
              <a:rPr sz="1000" b="0" i="0" lang="en-GB">
                <a:solidFill>
                  <a:srgbClr val="A9B0B8"/>
                </a:solidFill>
                <a:latin typeface="Arial"/>
              </a:rPr>
              <a:t>Photo: James E. Petts, CC BY-SA 4.0, Wikimedia Commons.</a:t>
            </a:r>
          </a:p>
        </p:txBody>
      </p:sp>
      <p:sp>
        <p:nvSpPr>
          <p:cNvPr id="15" name="TextBox 14"/>
          <p:cNvSpPr txBox="1"/>
          <p:nvPr/>
        </p:nvSpPr>
        <p:spPr>
          <a:xfrm>
            <a:off x="8348472" y="4160520"/>
            <a:ext cx="3291840" cy="320040"/>
          </a:xfrm>
          <a:prstGeom prst="rect">
            <a:avLst/>
          </a:prstGeom>
          <a:noFill/>
        </p:spPr>
        <p:txBody>
          <a:bodyPr wrap="square" lIns="0" tIns="0" rIns="0" bIns="0" anchor="t">
            <a:noAutofit/>
          </a:bodyPr>
          <a:lstStyle/>
          <a:p>
            <a:pPr algn="l"/>
            <a:r>
              <a:rPr sz="1600" b="0" i="0" lang="en-GB">
                <a:solidFill>
                  <a:srgbClr val="F2F2F2"/>
                </a:solidFill>
                <a:latin typeface="Arial"/>
              </a:rPr>
              <a:t>Real railway, for comparison</a:t>
            </a:r>
          </a:p>
        </p:txBody>
      </p:sp>
      <p:sp>
        <p:nvSpPr>
          <p:cNvPr id="16" name="Speed rule"/>
          <p:cNvSpPr/>
          <p:nvPr/>
        </p:nvSpPr>
        <p:spPr>
          <a:xfrm>
            <a:off x="548640" y="4553712"/>
            <a:ext cx="11091672" cy="502920"/>
          </a:xfrm>
          <a:prstGeom prst="roundRect">
            <a:avLst>
              <a:gd name="adj" fmla="val 14545"/>
            </a:avLst>
          </a:prstGeom>
          <a:solidFill>
            <a:srgbClr val="2B2F36"/>
          </a:solidFill>
          <a:ln w="19050">
            <a:solidFill>
              <a:srgbClr val="F28C28"/>
            </a:solidFill>
          </a:ln>
        </p:spPr>
        <p:txBody>
          <a:bodyPr rtlCol="0" anchor="ctr" wrap="square" lIns="228600" tIns="18288" bIns="18288">
            <a:noAutofit/>
          </a:bodyPr>
          <a:lstStyle/>
          <a:p>
            <a:pPr algn="l"/>
            <a:r>
              <a:rPr sz="1800" b="1" i="0" lang="en-GB">
                <a:solidFill>
                  <a:srgbClr val="F2F2F2"/>
                </a:solidFill>
                <a:latin typeface="Arial"/>
              </a:rPr>
              <a:t>Speed = lowest of: track limit, signal limit, engine limit</a:t>
            </a:r>
          </a:p>
        </p:txBody>
      </p:sp>
      <p:sp>
        <p:nvSpPr>
          <p:cNvPr id="17" name="Inline chip Proposed"/>
          <p:cNvSpPr/>
          <p:nvPr/>
        </p:nvSpPr>
        <p:spPr>
          <a:xfrm>
            <a:off x="6880880" y="464058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TextBox 17"/>
          <p:cNvSpPr txBox="1"/>
          <p:nvPr/>
        </p:nvSpPr>
        <p:spPr>
          <a:xfrm>
            <a:off x="548640" y="5138928"/>
            <a:ext cx="2377440" cy="329184"/>
          </a:xfrm>
          <a:prstGeom prst="rect">
            <a:avLst/>
          </a:prstGeom>
          <a:noFill/>
        </p:spPr>
        <p:txBody>
          <a:bodyPr wrap="square" lIns="0" tIns="0" rIns="0" bIns="0" anchor="ctr">
            <a:noAutofit/>
          </a:bodyPr>
          <a:lstStyle/>
          <a:p>
            <a:pPr algn="l"/>
            <a:r>
              <a:rPr sz="1600" b="0" i="0" lang="en-GB">
                <a:solidFill>
                  <a:srgbClr val="F2F2F2"/>
                </a:solidFill>
                <a:latin typeface="Arial"/>
              </a:rPr>
              <a:t>Longest track piece:</a:t>
            </a:r>
          </a:p>
        </p:txBody>
      </p:sp>
      <p:sp>
        <p:nvSpPr>
          <p:cNvPr id="19" name="Inline chip Undecided"/>
          <p:cNvSpPr/>
          <p:nvPr/>
        </p:nvSpPr>
        <p:spPr>
          <a:xfrm>
            <a:off x="2504380" y="5138928"/>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(OQ02)</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thin rails on sleepers, built from iron plates and rods. Speed is the lowest of three limits.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Three roles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mall card" descr="Small locomotive card. Qualitative bars: haul low, speed medium, range low, servicing needs low. Best for: local branches."/>
          <p:cNvGrpSpPr/>
          <p:nvPr/>
        </p:nvGrpSpPr>
        <p:grpSpPr>
          <a:xfrm>
            <a:off x="548640" y="1325880"/>
            <a:ext cx="3474720" cy="3886200"/>
            <a:chOff x="548640" y="1325880"/>
            <a:chExt cx="3474720" cy="3886200"/>
          </a:xfrm>
        </p:grpSpPr>
        <p:sp>
          <p:nvSpPr>
            <p:cNvPr id="9" name="Rounded Rectangle 8"/>
            <p:cNvSpPr/>
            <p:nvPr/>
          </p:nvSpPr>
          <p:spPr>
            <a:xfrm>
              <a:off x="548640" y="1325880"/>
              <a:ext cx="3474720" cy="3886200"/>
            </a:xfrm>
            <a:prstGeom prst="roundRect">
              <a:avLst>
                <a:gd name="adj" fmla="val 2631"/>
              </a:avLst>
            </a:prstGeom>
            <a:solidFill>
              <a:srgbClr val="2B2F36"/>
            </a:solidFill>
            <a:ln>
              <a:noFill/>
            </a:ln>
          </p:spPr>
          <p:txBody>
            <a:bodyPr rtlCol="0" anchor="ctr"/>
            <a:lstStyle/>
            <a:p>
              <a:pPr algn="ctr"/>
            </a:p>
          </p:txBody>
        </p:sp>
        <p:sp>
          <p:nvSpPr>
            <p:cNvPr id="10" name="Rectangle 9"/>
            <p:cNvSpPr/>
            <p:nvPr/>
          </p:nvSpPr>
          <p:spPr>
            <a:xfrm>
              <a:off x="548640" y="1600200"/>
              <a:ext cx="3474720" cy="182880"/>
            </a:xfrm>
            <a:prstGeom prst="rect">
              <a:avLst/>
            </a:prstGeom>
            <a:solidFill>
              <a:srgbClr val="F28C28"/>
            </a:solidFill>
            <a:ln>
              <a:noFill/>
            </a:ln>
          </p:spPr>
          <p:txBody>
            <a:bodyPr rtlCol="0" anchor="ctr"/>
            <a:lstStyle/>
            <a:p>
              <a:pPr algn="ctr"/>
            </a:p>
          </p:txBody>
        </p:sp>
        <p:sp>
          <p:nvSpPr>
            <p:cNvPr id="11" name="Rounded Rectangle 10"/>
            <p:cNvSpPr/>
            <p:nvPr/>
          </p:nvSpPr>
          <p:spPr>
            <a:xfrm>
              <a:off x="54864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Small</a:t>
              </a:r>
            </a:p>
          </p:txBody>
        </p:sp>
        <p:grpSp>
          <p:nvGrpSpPr>
            <p:cNvPr id="12" name="Small engine" descr="Side view of the small steam engine."/>
            <p:cNvGrpSpPr/>
            <p:nvPr/>
          </p:nvGrpSpPr>
          <p:grpSpPr>
            <a:xfrm>
              <a:off x="1563624" y="1828800"/>
              <a:ext cx="1408176" cy="914400"/>
              <a:chOff x="1563624" y="1828800"/>
              <a:chExt cx="1408176" cy="914400"/>
            </a:xfrm>
          </p:grpSpPr>
          <p:sp>
            <p:nvSpPr>
              <p:cNvPr id="13" name="Rectangle 12"/>
              <p:cNvSpPr/>
              <p:nvPr/>
            </p:nvSpPr>
            <p:spPr>
              <a:xfrm>
                <a:off x="1600200" y="1920240"/>
                <a:ext cx="457200" cy="713232"/>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1691640" y="2011680"/>
                <a:ext cx="237744" cy="182880"/>
              </a:xfrm>
              <a:prstGeom prst="rect">
                <a:avLst/>
              </a:prstGeom>
              <a:solidFill>
                <a:srgbClr val="2B2F36"/>
              </a:solidFill>
              <a:ln>
                <a:noFill/>
              </a:ln>
            </p:spPr>
            <p:txBody>
              <a:bodyPr rtlCol="0" anchor="ctr"/>
              <a:lstStyle/>
              <a:p>
                <a:pPr algn="ctr"/>
              </a:p>
            </p:txBody>
          </p:sp>
          <p:sp>
            <p:nvSpPr>
              <p:cNvPr id="15" name="Rectangle 14"/>
              <p:cNvSpPr/>
              <p:nvPr/>
            </p:nvSpPr>
            <p:spPr>
              <a:xfrm>
                <a:off x="1563624" y="1865376"/>
                <a:ext cx="530352" cy="73152"/>
              </a:xfrm>
              <a:prstGeom prst="rect">
                <a:avLst/>
              </a:prstGeom>
              <a:solidFill>
                <a:srgbClr val="1B1D21"/>
              </a:solidFill>
              <a:ln>
                <a:noFill/>
              </a:ln>
            </p:spPr>
            <p:txBody>
              <a:bodyPr rtlCol="0" anchor="ctr"/>
              <a:lstStyle/>
              <a:p>
                <a:pPr algn="ctr"/>
              </a:p>
            </p:txBody>
          </p:sp>
          <p:sp>
            <p:nvSpPr>
              <p:cNvPr id="16" name="Rounded Rectangle 15"/>
              <p:cNvSpPr/>
              <p:nvPr/>
            </p:nvSpPr>
            <p:spPr>
              <a:xfrm>
                <a:off x="2057400" y="2066544"/>
                <a:ext cx="91440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17" name="Rectangle 16"/>
              <p:cNvSpPr/>
              <p:nvPr/>
            </p:nvSpPr>
            <p:spPr>
              <a:xfrm>
                <a:off x="2697480" y="1828800"/>
                <a:ext cx="137160" cy="256032"/>
              </a:xfrm>
              <a:prstGeom prst="rect">
                <a:avLst/>
              </a:prstGeom>
              <a:solidFill>
                <a:srgbClr val="1B1D21"/>
              </a:solidFill>
              <a:ln>
                <a:noFill/>
              </a:ln>
            </p:spPr>
            <p:txBody>
              <a:bodyPr rtlCol="0" anchor="ctr"/>
              <a:lstStyle/>
              <a:p>
                <a:pPr algn="ctr"/>
              </a:p>
            </p:txBody>
          </p:sp>
          <p:sp>
            <p:nvSpPr>
              <p:cNvPr id="18" name="Rectangle 17"/>
              <p:cNvSpPr/>
              <p:nvPr/>
            </p:nvSpPr>
            <p:spPr>
              <a:xfrm>
                <a:off x="1600200" y="2468880"/>
                <a:ext cx="1371600" cy="64008"/>
              </a:xfrm>
              <a:prstGeom prst="rect">
                <a:avLst/>
              </a:prstGeom>
              <a:solidFill>
                <a:srgbClr val="1B1D21"/>
              </a:solidFill>
              <a:ln>
                <a:noFill/>
              </a:ln>
            </p:spPr>
            <p:txBody>
              <a:bodyPr rtlCol="0" anchor="ctr"/>
              <a:lstStyle/>
              <a:p>
                <a:pPr algn="ctr"/>
              </a:p>
            </p:txBody>
          </p:sp>
          <p:sp>
            <p:nvSpPr>
              <p:cNvPr id="19" name="Oval 18"/>
              <p:cNvSpPr/>
              <p:nvPr/>
            </p:nvSpPr>
            <p:spPr>
              <a:xfrm>
                <a:off x="1655064" y="2487168"/>
                <a:ext cx="256032" cy="256032"/>
              </a:xfrm>
              <a:prstGeom prst="ellipse">
                <a:avLst/>
              </a:prstGeom>
              <a:solidFill>
                <a:srgbClr val="1B1D21"/>
              </a:solidFill>
              <a:ln w="15875">
                <a:solidFill>
                  <a:srgbClr val="9AA0A6"/>
                </a:solidFill>
              </a:ln>
            </p:spPr>
            <p:txBody>
              <a:bodyPr rtlCol="0" anchor="ctr"/>
              <a:lstStyle/>
              <a:p>
                <a:pPr algn="ctr"/>
              </a:p>
            </p:txBody>
          </p:sp>
          <p:sp>
            <p:nvSpPr>
              <p:cNvPr id="20" name="Oval 19"/>
              <p:cNvSpPr/>
              <p:nvPr/>
            </p:nvSpPr>
            <p:spPr>
              <a:xfrm>
                <a:off x="2157984" y="2487168"/>
                <a:ext cx="256032" cy="256032"/>
              </a:xfrm>
              <a:prstGeom prst="ellipse">
                <a:avLst/>
              </a:prstGeom>
              <a:solidFill>
                <a:srgbClr val="1B1D21"/>
              </a:solidFill>
              <a:ln w="15875">
                <a:solidFill>
                  <a:srgbClr val="9AA0A6"/>
                </a:solidFill>
              </a:ln>
            </p:spPr>
            <p:txBody>
              <a:bodyPr rtlCol="0" anchor="ctr"/>
              <a:lstStyle/>
              <a:p>
                <a:pPr algn="ctr"/>
              </a:p>
            </p:txBody>
          </p:sp>
          <p:sp>
            <p:nvSpPr>
              <p:cNvPr id="21" name="Oval 20"/>
              <p:cNvSpPr/>
              <p:nvPr/>
            </p:nvSpPr>
            <p:spPr>
              <a:xfrm>
                <a:off x="2660904"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22" name="TextBox 21"/>
            <p:cNvSpPr txBox="1"/>
            <p:nvPr/>
          </p:nvSpPr>
          <p:spPr>
            <a:xfrm>
              <a:off x="77724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23" name="Rounded Rectangle 22"/>
            <p:cNvSpPr/>
            <p:nvPr/>
          </p:nvSpPr>
          <p:spPr>
            <a:xfrm>
              <a:off x="777240" y="3090672"/>
              <a:ext cx="3017520" cy="146304"/>
            </a:xfrm>
            <a:prstGeom prst="roundRect">
              <a:avLst>
                <a:gd name="adj" fmla="val 25000"/>
              </a:avLst>
            </a:prstGeom>
            <a:solidFill>
              <a:srgbClr val="343A43"/>
            </a:solidFill>
            <a:ln>
              <a:noFill/>
            </a:ln>
          </p:spPr>
          <p:txBody>
            <a:bodyPr rtlCol="0" anchor="ctr"/>
            <a:lstStyle/>
            <a:p>
              <a:pPr algn="ctr"/>
            </a:p>
          </p:txBody>
        </p:sp>
        <p:sp>
          <p:nvSpPr>
            <p:cNvPr id="24" name="Rounded Rectangle 23"/>
            <p:cNvSpPr/>
            <p:nvPr/>
          </p:nvSpPr>
          <p:spPr>
            <a:xfrm>
              <a:off x="777240" y="3090672"/>
              <a:ext cx="754380" cy="146304"/>
            </a:xfrm>
            <a:prstGeom prst="roundRect">
              <a:avLst>
                <a:gd name="adj" fmla="val 25000"/>
              </a:avLst>
            </a:prstGeom>
            <a:solidFill>
              <a:srgbClr val="F28C28"/>
            </a:solidFill>
            <a:ln>
              <a:noFill/>
            </a:ln>
          </p:spPr>
          <p:txBody>
            <a:bodyPr rtlCol="0" anchor="ctr"/>
            <a:lstStyle/>
            <a:p>
              <a:pPr algn="ctr"/>
            </a:p>
          </p:txBody>
        </p:sp>
        <p:sp>
          <p:nvSpPr>
            <p:cNvPr id="25" name="TextBox 24"/>
            <p:cNvSpPr txBox="1"/>
            <p:nvPr/>
          </p:nvSpPr>
          <p:spPr>
            <a:xfrm>
              <a:off x="77724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26" name="Rounded Rectangle 25"/>
            <p:cNvSpPr/>
            <p:nvPr/>
          </p:nvSpPr>
          <p:spPr>
            <a:xfrm>
              <a:off x="777240" y="3547872"/>
              <a:ext cx="3017520" cy="146304"/>
            </a:xfrm>
            <a:prstGeom prst="roundRect">
              <a:avLst>
                <a:gd name="adj" fmla="val 25000"/>
              </a:avLst>
            </a:prstGeom>
            <a:solidFill>
              <a:srgbClr val="343A43"/>
            </a:solidFill>
            <a:ln>
              <a:noFill/>
            </a:ln>
          </p:spPr>
          <p:txBody>
            <a:bodyPr rtlCol="0" anchor="ctr"/>
            <a:lstStyle/>
            <a:p>
              <a:pPr algn="ctr"/>
            </a:p>
          </p:txBody>
        </p:sp>
        <p:sp>
          <p:nvSpPr>
            <p:cNvPr id="27" name="Rounded Rectangle 26"/>
            <p:cNvSpPr/>
            <p:nvPr/>
          </p:nvSpPr>
          <p:spPr>
            <a:xfrm>
              <a:off x="777240" y="3547872"/>
              <a:ext cx="1056132" cy="146304"/>
            </a:xfrm>
            <a:prstGeom prst="roundRect">
              <a:avLst>
                <a:gd name="adj" fmla="val 25000"/>
              </a:avLst>
            </a:prstGeom>
            <a:solidFill>
              <a:srgbClr val="F28C28"/>
            </a:solidFill>
            <a:ln>
              <a:noFill/>
            </a:ln>
          </p:spPr>
          <p:txBody>
            <a:bodyPr rtlCol="0" anchor="ctr"/>
            <a:lstStyle/>
            <a:p>
              <a:pPr algn="ctr"/>
            </a:p>
          </p:txBody>
        </p:sp>
        <p:sp>
          <p:nvSpPr>
            <p:cNvPr id="28" name="TextBox 27"/>
            <p:cNvSpPr txBox="1"/>
            <p:nvPr/>
          </p:nvSpPr>
          <p:spPr>
            <a:xfrm>
              <a:off x="77724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29" name="Rounded Rectangle 28"/>
            <p:cNvSpPr/>
            <p:nvPr/>
          </p:nvSpPr>
          <p:spPr>
            <a:xfrm>
              <a:off x="777240" y="4005072"/>
              <a:ext cx="3017520" cy="146304"/>
            </a:xfrm>
            <a:prstGeom prst="roundRect">
              <a:avLst>
                <a:gd name="adj" fmla="val 25000"/>
              </a:avLst>
            </a:prstGeom>
            <a:solidFill>
              <a:srgbClr val="343A43"/>
            </a:solidFill>
            <a:ln>
              <a:noFill/>
            </a:ln>
          </p:spPr>
          <p:txBody>
            <a:bodyPr rtlCol="0" anchor="ctr"/>
            <a:lstStyle/>
            <a:p>
              <a:pPr algn="ctr"/>
            </a:p>
          </p:txBody>
        </p:sp>
        <p:sp>
          <p:nvSpPr>
            <p:cNvPr id="30" name="Rounded Rectangle 29"/>
            <p:cNvSpPr/>
            <p:nvPr/>
          </p:nvSpPr>
          <p:spPr>
            <a:xfrm>
              <a:off x="777240" y="4005072"/>
              <a:ext cx="754380" cy="146304"/>
            </a:xfrm>
            <a:prstGeom prst="roundRect">
              <a:avLst>
                <a:gd name="adj" fmla="val 25000"/>
              </a:avLst>
            </a:prstGeom>
            <a:solidFill>
              <a:srgbClr val="F28C28"/>
            </a:solidFill>
            <a:ln>
              <a:noFill/>
            </a:ln>
          </p:spPr>
          <p:txBody>
            <a:bodyPr rtlCol="0" anchor="ctr"/>
            <a:lstStyle/>
            <a:p>
              <a:pPr algn="ctr"/>
            </a:p>
          </p:txBody>
        </p:sp>
        <p:sp>
          <p:nvSpPr>
            <p:cNvPr id="31" name="TextBox 30"/>
            <p:cNvSpPr txBox="1"/>
            <p:nvPr/>
          </p:nvSpPr>
          <p:spPr>
            <a:xfrm>
              <a:off x="77724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32" name="Rounded Rectangle 31"/>
            <p:cNvSpPr/>
            <p:nvPr/>
          </p:nvSpPr>
          <p:spPr>
            <a:xfrm>
              <a:off x="777240" y="4462272"/>
              <a:ext cx="3017520" cy="146304"/>
            </a:xfrm>
            <a:prstGeom prst="roundRect">
              <a:avLst>
                <a:gd name="adj" fmla="val 25000"/>
              </a:avLst>
            </a:prstGeom>
            <a:solidFill>
              <a:srgbClr val="343A43"/>
            </a:solidFill>
            <a:ln>
              <a:noFill/>
            </a:ln>
          </p:spPr>
          <p:txBody>
            <a:bodyPr rtlCol="0" anchor="ctr"/>
            <a:lstStyle/>
            <a:p>
              <a:pPr algn="ctr"/>
            </a:p>
          </p:txBody>
        </p:sp>
        <p:sp>
          <p:nvSpPr>
            <p:cNvPr id="33" name="Rounded Rectangle 32"/>
            <p:cNvSpPr/>
            <p:nvPr/>
          </p:nvSpPr>
          <p:spPr>
            <a:xfrm>
              <a:off x="777240" y="4462272"/>
              <a:ext cx="754380" cy="146304"/>
            </a:xfrm>
            <a:prstGeom prst="roundRect">
              <a:avLst>
                <a:gd name="adj" fmla="val 25000"/>
              </a:avLst>
            </a:prstGeom>
            <a:solidFill>
              <a:srgbClr val="F28C28"/>
            </a:solidFill>
            <a:ln>
              <a:noFill/>
            </a:ln>
          </p:spPr>
          <p:txBody>
            <a:bodyPr rtlCol="0" anchor="ctr"/>
            <a:lstStyle/>
            <a:p>
              <a:pPr algn="ctr"/>
            </a:p>
          </p:txBody>
        </p:sp>
        <p:sp>
          <p:nvSpPr>
            <p:cNvPr id="34" name="TextBox 33"/>
            <p:cNvSpPr txBox="1"/>
            <p:nvPr/>
          </p:nvSpPr>
          <p:spPr>
            <a:xfrm>
              <a:off x="77724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Local branches</a:t>
              </a:r>
            </a:p>
          </p:txBody>
        </p:sp>
      </p:grpSp>
      <p:grpSp>
        <p:nvGrpSpPr>
          <p:cNvPr id="35" name="Medium card" descr="Medium locomotive card. Qualitative bars: haul medium, speed high, range high, servicing needs medium. Best for: fast mixed freight."/>
          <p:cNvGrpSpPr/>
          <p:nvPr/>
        </p:nvGrpSpPr>
        <p:grpSpPr>
          <a:xfrm>
            <a:off x="4343400" y="1325880"/>
            <a:ext cx="3474720" cy="3886200"/>
            <a:chOff x="4343400" y="1325880"/>
            <a:chExt cx="3474720" cy="3886200"/>
          </a:xfrm>
        </p:grpSpPr>
        <p:sp>
          <p:nvSpPr>
            <p:cNvPr id="36" name="Rounded Rectangle 35"/>
            <p:cNvSpPr/>
            <p:nvPr/>
          </p:nvSpPr>
          <p:spPr>
            <a:xfrm>
              <a:off x="4343400" y="1325880"/>
              <a:ext cx="3474720" cy="3886200"/>
            </a:xfrm>
            <a:prstGeom prst="roundRect">
              <a:avLst>
                <a:gd name="adj" fmla="val 2631"/>
              </a:avLst>
            </a:prstGeom>
            <a:solidFill>
              <a:srgbClr val="2B2F36"/>
            </a:solidFill>
            <a:ln>
              <a:noFill/>
            </a:ln>
          </p:spPr>
          <p:txBody>
            <a:bodyPr rtlCol="0" anchor="ctr"/>
            <a:lstStyle/>
            <a:p>
              <a:pPr algn="ctr"/>
            </a:p>
          </p:txBody>
        </p:sp>
        <p:sp>
          <p:nvSpPr>
            <p:cNvPr id="37" name="Rectangle 36"/>
            <p:cNvSpPr/>
            <p:nvPr/>
          </p:nvSpPr>
          <p:spPr>
            <a:xfrm>
              <a:off x="4343400" y="1600200"/>
              <a:ext cx="3474720" cy="182880"/>
            </a:xfrm>
            <a:prstGeom prst="rect">
              <a:avLst/>
            </a:prstGeom>
            <a:solidFill>
              <a:srgbClr val="F28C28"/>
            </a:solidFill>
            <a:ln>
              <a:noFill/>
            </a:ln>
          </p:spPr>
          <p:txBody>
            <a:bodyPr rtlCol="0" anchor="ctr"/>
            <a:lstStyle/>
            <a:p>
              <a:pPr algn="ctr"/>
            </a:p>
          </p:txBody>
        </p:sp>
        <p:sp>
          <p:nvSpPr>
            <p:cNvPr id="38" name="Rounded Rectangle 37"/>
            <p:cNvSpPr/>
            <p:nvPr/>
          </p:nvSpPr>
          <p:spPr>
            <a:xfrm>
              <a:off x="434340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Medium</a:t>
              </a:r>
            </a:p>
          </p:txBody>
        </p:sp>
        <p:grpSp>
          <p:nvGrpSpPr>
            <p:cNvPr id="39" name="Medium engine" descr="Side view of the medium steam engine with its tender."/>
            <p:cNvGrpSpPr/>
            <p:nvPr/>
          </p:nvGrpSpPr>
          <p:grpSpPr>
            <a:xfrm>
              <a:off x="4837176" y="1828800"/>
              <a:ext cx="2487168" cy="914400"/>
              <a:chOff x="4837176" y="1828800"/>
              <a:chExt cx="2487168" cy="914400"/>
            </a:xfrm>
          </p:grpSpPr>
          <p:sp>
            <p:nvSpPr>
              <p:cNvPr id="40" name="Rectangle 39"/>
              <p:cNvSpPr/>
              <p:nvPr/>
            </p:nvSpPr>
            <p:spPr>
              <a:xfrm>
                <a:off x="4837176" y="2176272"/>
                <a:ext cx="685800" cy="457200"/>
              </a:xfrm>
              <a:prstGeom prst="rect">
                <a:avLst/>
              </a:prstGeom>
              <a:solidFill>
                <a:srgbClr val="F28C28"/>
              </a:solidFill>
              <a:ln w="9525">
                <a:solidFill>
                  <a:srgbClr val="101418"/>
                </a:solidFill>
              </a:ln>
            </p:spPr>
            <p:txBody>
              <a:bodyPr rtlCol="0" anchor="ctr"/>
              <a:lstStyle/>
              <a:p>
                <a:pPr algn="ctr"/>
              </a:p>
            </p:txBody>
          </p:sp>
          <p:sp>
            <p:nvSpPr>
              <p:cNvPr id="41" name="Rectangle 40"/>
              <p:cNvSpPr/>
              <p:nvPr/>
            </p:nvSpPr>
            <p:spPr>
              <a:xfrm>
                <a:off x="4882896" y="2103120"/>
                <a:ext cx="594360" cy="91440"/>
              </a:xfrm>
              <a:prstGeom prst="rect">
                <a:avLst/>
              </a:prstGeom>
              <a:solidFill>
                <a:srgbClr val="1B1D21"/>
              </a:solidFill>
              <a:ln>
                <a:noFill/>
              </a:ln>
            </p:spPr>
            <p:txBody>
              <a:bodyPr rtlCol="0" anchor="ctr"/>
              <a:lstStyle/>
              <a:p>
                <a:pPr algn="ctr"/>
              </a:p>
            </p:txBody>
          </p:sp>
          <p:sp>
            <p:nvSpPr>
              <p:cNvPr id="42" name="Oval 41"/>
              <p:cNvSpPr/>
              <p:nvPr/>
            </p:nvSpPr>
            <p:spPr>
              <a:xfrm>
                <a:off x="48988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3" name="Oval 42"/>
              <p:cNvSpPr/>
              <p:nvPr/>
            </p:nvSpPr>
            <p:spPr>
              <a:xfrm>
                <a:off x="52417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4" name="Rectangle 43"/>
              <p:cNvSpPr/>
              <p:nvPr/>
            </p:nvSpPr>
            <p:spPr>
              <a:xfrm>
                <a:off x="5586984" y="1920240"/>
                <a:ext cx="457200" cy="713232"/>
              </a:xfrm>
              <a:prstGeom prst="rect">
                <a:avLst/>
              </a:prstGeom>
              <a:solidFill>
                <a:srgbClr val="F28C28"/>
              </a:solidFill>
              <a:ln w="9525">
                <a:solidFill>
                  <a:srgbClr val="101418"/>
                </a:solidFill>
              </a:ln>
            </p:spPr>
            <p:txBody>
              <a:bodyPr rtlCol="0" anchor="ctr"/>
              <a:lstStyle/>
              <a:p>
                <a:pPr algn="ctr"/>
              </a:p>
            </p:txBody>
          </p:sp>
          <p:sp>
            <p:nvSpPr>
              <p:cNvPr id="45" name="Rectangle 44"/>
              <p:cNvSpPr/>
              <p:nvPr/>
            </p:nvSpPr>
            <p:spPr>
              <a:xfrm>
                <a:off x="5678424" y="2011680"/>
                <a:ext cx="237744" cy="182880"/>
              </a:xfrm>
              <a:prstGeom prst="rect">
                <a:avLst/>
              </a:prstGeom>
              <a:solidFill>
                <a:srgbClr val="2B2F36"/>
              </a:solidFill>
              <a:ln>
                <a:noFill/>
              </a:ln>
            </p:spPr>
            <p:txBody>
              <a:bodyPr rtlCol="0" anchor="ctr"/>
              <a:lstStyle/>
              <a:p>
                <a:pPr algn="ctr"/>
              </a:p>
            </p:txBody>
          </p:sp>
          <p:sp>
            <p:nvSpPr>
              <p:cNvPr id="46" name="Rectangle 45"/>
              <p:cNvSpPr/>
              <p:nvPr/>
            </p:nvSpPr>
            <p:spPr>
              <a:xfrm>
                <a:off x="5550408" y="1865376"/>
                <a:ext cx="530352" cy="73152"/>
              </a:xfrm>
              <a:prstGeom prst="rect">
                <a:avLst/>
              </a:prstGeom>
              <a:solidFill>
                <a:srgbClr val="1B1D21"/>
              </a:solidFill>
              <a:ln>
                <a:noFill/>
              </a:ln>
            </p:spPr>
            <p:txBody>
              <a:bodyPr rtlCol="0" anchor="ctr"/>
              <a:lstStyle/>
              <a:p>
                <a:pPr algn="ctr"/>
              </a:p>
            </p:txBody>
          </p:sp>
          <p:sp>
            <p:nvSpPr>
              <p:cNvPr id="47" name="Rounded Rectangle 46"/>
              <p:cNvSpPr/>
              <p:nvPr/>
            </p:nvSpPr>
            <p:spPr>
              <a:xfrm>
                <a:off x="6044184" y="2066544"/>
                <a:ext cx="12801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48" name="Rectangle 47"/>
              <p:cNvSpPr/>
              <p:nvPr/>
            </p:nvSpPr>
            <p:spPr>
              <a:xfrm>
                <a:off x="7050024" y="1828800"/>
                <a:ext cx="137160" cy="256032"/>
              </a:xfrm>
              <a:prstGeom prst="rect">
                <a:avLst/>
              </a:prstGeom>
              <a:solidFill>
                <a:srgbClr val="1B1D21"/>
              </a:solidFill>
              <a:ln>
                <a:noFill/>
              </a:ln>
            </p:spPr>
            <p:txBody>
              <a:bodyPr rtlCol="0" anchor="ctr"/>
              <a:lstStyle/>
              <a:p>
                <a:pPr algn="ctr"/>
              </a:p>
            </p:txBody>
          </p:sp>
          <p:sp>
            <p:nvSpPr>
              <p:cNvPr id="49" name="Rectangle 48"/>
              <p:cNvSpPr/>
              <p:nvPr/>
            </p:nvSpPr>
            <p:spPr>
              <a:xfrm>
                <a:off x="5586984" y="2468880"/>
                <a:ext cx="1737360" cy="64008"/>
              </a:xfrm>
              <a:prstGeom prst="rect">
                <a:avLst/>
              </a:prstGeom>
              <a:solidFill>
                <a:srgbClr val="1B1D21"/>
              </a:solidFill>
              <a:ln>
                <a:noFill/>
              </a:ln>
            </p:spPr>
            <p:txBody>
              <a:bodyPr rtlCol="0" anchor="ctr"/>
              <a:lstStyle/>
              <a:p>
                <a:pPr algn="ctr"/>
              </a:p>
            </p:txBody>
          </p:sp>
          <p:sp>
            <p:nvSpPr>
              <p:cNvPr id="50" name="Oval 49"/>
              <p:cNvSpPr/>
              <p:nvPr/>
            </p:nvSpPr>
            <p:spPr>
              <a:xfrm>
                <a:off x="56418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1" name="Oval 50"/>
              <p:cNvSpPr/>
              <p:nvPr/>
            </p:nvSpPr>
            <p:spPr>
              <a:xfrm>
                <a:off x="60990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2" name="Oval 51"/>
              <p:cNvSpPr/>
              <p:nvPr/>
            </p:nvSpPr>
            <p:spPr>
              <a:xfrm>
                <a:off x="65562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3" name="Oval 52"/>
              <p:cNvSpPr/>
              <p:nvPr/>
            </p:nvSpPr>
            <p:spPr>
              <a:xfrm>
                <a:off x="701344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54" name="TextBox 53"/>
            <p:cNvSpPr txBox="1"/>
            <p:nvPr/>
          </p:nvSpPr>
          <p:spPr>
            <a:xfrm>
              <a:off x="457200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55" name="Rounded Rectangle 54"/>
            <p:cNvSpPr/>
            <p:nvPr/>
          </p:nvSpPr>
          <p:spPr>
            <a:xfrm>
              <a:off x="4572000" y="3090672"/>
              <a:ext cx="3017520" cy="146304"/>
            </a:xfrm>
            <a:prstGeom prst="roundRect">
              <a:avLst>
                <a:gd name="adj" fmla="val 25000"/>
              </a:avLst>
            </a:prstGeom>
            <a:solidFill>
              <a:srgbClr val="343A43"/>
            </a:solidFill>
            <a:ln>
              <a:noFill/>
            </a:ln>
          </p:spPr>
          <p:txBody>
            <a:bodyPr rtlCol="0" anchor="ctr"/>
            <a:lstStyle/>
            <a:p>
              <a:pPr algn="ctr"/>
            </a:p>
          </p:txBody>
        </p:sp>
        <p:sp>
          <p:nvSpPr>
            <p:cNvPr id="56" name="Rounded Rectangle 55"/>
            <p:cNvSpPr/>
            <p:nvPr/>
          </p:nvSpPr>
          <p:spPr>
            <a:xfrm>
              <a:off x="4572000" y="3090672"/>
              <a:ext cx="1659636" cy="146304"/>
            </a:xfrm>
            <a:prstGeom prst="roundRect">
              <a:avLst>
                <a:gd name="adj" fmla="val 25000"/>
              </a:avLst>
            </a:prstGeom>
            <a:solidFill>
              <a:srgbClr val="F28C28"/>
            </a:solidFill>
            <a:ln>
              <a:noFill/>
            </a:ln>
          </p:spPr>
          <p:txBody>
            <a:bodyPr rtlCol="0" anchor="ctr"/>
            <a:lstStyle/>
            <a:p>
              <a:pPr algn="ctr"/>
            </a:p>
          </p:txBody>
        </p:sp>
        <p:sp>
          <p:nvSpPr>
            <p:cNvPr id="57" name="TextBox 56"/>
            <p:cNvSpPr txBox="1"/>
            <p:nvPr/>
          </p:nvSpPr>
          <p:spPr>
            <a:xfrm>
              <a:off x="457200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58" name="Rounded Rectangle 57"/>
            <p:cNvSpPr/>
            <p:nvPr/>
          </p:nvSpPr>
          <p:spPr>
            <a:xfrm>
              <a:off x="4572000" y="3547872"/>
              <a:ext cx="3017520" cy="146304"/>
            </a:xfrm>
            <a:prstGeom prst="roundRect">
              <a:avLst>
                <a:gd name="adj" fmla="val 25000"/>
              </a:avLst>
            </a:prstGeom>
            <a:solidFill>
              <a:srgbClr val="343A43"/>
            </a:solidFill>
            <a:ln>
              <a:noFill/>
            </a:ln>
          </p:spPr>
          <p:txBody>
            <a:bodyPr rtlCol="0" anchor="ctr"/>
            <a:lstStyle/>
            <a:p>
              <a:pPr algn="ctr"/>
            </a:p>
          </p:txBody>
        </p:sp>
        <p:sp>
          <p:nvSpPr>
            <p:cNvPr id="59" name="Rounded Rectangle 58"/>
            <p:cNvSpPr/>
            <p:nvPr/>
          </p:nvSpPr>
          <p:spPr>
            <a:xfrm>
              <a:off x="4572000" y="3547872"/>
              <a:ext cx="2414016" cy="146304"/>
            </a:xfrm>
            <a:prstGeom prst="roundRect">
              <a:avLst>
                <a:gd name="adj" fmla="val 25000"/>
              </a:avLst>
            </a:prstGeom>
            <a:pattFill prst="wdUpDiag">
              <a:fgClr>
                <a:srgbClr val="F28C28"/>
              </a:fgClr>
              <a:bgClr>
                <a:srgbClr val="343A43"/>
              </a:bgClr>
            </a:pattFill>
            <a:ln w="12700">
              <a:solidFill>
                <a:srgbClr val="F28C28"/>
              </a:solidFill>
            </a:ln>
          </p:spPr>
          <p:txBody>
            <a:bodyPr rtlCol="0" anchor="ctr"/>
            <a:lstStyle/>
            <a:p>
              <a:pPr algn="ctr"/>
            </a:p>
          </p:txBody>
        </p:sp>
        <p:sp>
          <p:nvSpPr>
            <p:cNvPr id="60" name="Inline chip Undecided"/>
            <p:cNvSpPr/>
            <p:nvPr/>
          </p:nvSpPr>
          <p:spPr>
            <a:xfrm>
              <a:off x="5208578" y="3218688"/>
              <a:ext cx="2380942"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FASTEST? UNDECIDED</a:t>
              </a:r>
            </a:p>
          </p:txBody>
        </p:sp>
        <p:sp>
          <p:nvSpPr>
            <p:cNvPr id="61" name="TextBox 60"/>
            <p:cNvSpPr txBox="1"/>
            <p:nvPr/>
          </p:nvSpPr>
          <p:spPr>
            <a:xfrm>
              <a:off x="457200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62" name="Rounded Rectangle 61"/>
            <p:cNvSpPr/>
            <p:nvPr/>
          </p:nvSpPr>
          <p:spPr>
            <a:xfrm>
              <a:off x="4572000" y="4005072"/>
              <a:ext cx="3017520" cy="146304"/>
            </a:xfrm>
            <a:prstGeom prst="roundRect">
              <a:avLst>
                <a:gd name="adj" fmla="val 25000"/>
              </a:avLst>
            </a:prstGeom>
            <a:solidFill>
              <a:srgbClr val="343A43"/>
            </a:solidFill>
            <a:ln>
              <a:noFill/>
            </a:ln>
          </p:spPr>
          <p:txBody>
            <a:bodyPr rtlCol="0" anchor="ctr"/>
            <a:lstStyle/>
            <a:p>
              <a:pPr algn="ctr"/>
            </a:p>
          </p:txBody>
        </p:sp>
        <p:sp>
          <p:nvSpPr>
            <p:cNvPr id="63" name="Rounded Rectangle 62"/>
            <p:cNvSpPr/>
            <p:nvPr/>
          </p:nvSpPr>
          <p:spPr>
            <a:xfrm>
              <a:off x="4572000" y="4005072"/>
              <a:ext cx="2112264" cy="146304"/>
            </a:xfrm>
            <a:prstGeom prst="roundRect">
              <a:avLst>
                <a:gd name="adj" fmla="val 25000"/>
              </a:avLst>
            </a:prstGeom>
            <a:solidFill>
              <a:srgbClr val="F28C28"/>
            </a:solidFill>
            <a:ln>
              <a:noFill/>
            </a:ln>
          </p:spPr>
          <p:txBody>
            <a:bodyPr rtlCol="0" anchor="ctr"/>
            <a:lstStyle/>
            <a:p>
              <a:pPr algn="ctr"/>
            </a:p>
          </p:txBody>
        </p:sp>
        <p:sp>
          <p:nvSpPr>
            <p:cNvPr id="64" name="TextBox 63"/>
            <p:cNvSpPr txBox="1"/>
            <p:nvPr/>
          </p:nvSpPr>
          <p:spPr>
            <a:xfrm>
              <a:off x="457200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65" name="Rounded Rectangle 64"/>
            <p:cNvSpPr/>
            <p:nvPr/>
          </p:nvSpPr>
          <p:spPr>
            <a:xfrm>
              <a:off x="4572000" y="4462272"/>
              <a:ext cx="3017520" cy="146304"/>
            </a:xfrm>
            <a:prstGeom prst="roundRect">
              <a:avLst>
                <a:gd name="adj" fmla="val 25000"/>
              </a:avLst>
            </a:prstGeom>
            <a:solidFill>
              <a:srgbClr val="343A43"/>
            </a:solidFill>
            <a:ln>
              <a:noFill/>
            </a:ln>
          </p:spPr>
          <p:txBody>
            <a:bodyPr rtlCol="0" anchor="ctr"/>
            <a:lstStyle/>
            <a:p>
              <a:pPr algn="ctr"/>
            </a:p>
          </p:txBody>
        </p:sp>
        <p:sp>
          <p:nvSpPr>
            <p:cNvPr id="66" name="Rounded Rectangle 65"/>
            <p:cNvSpPr/>
            <p:nvPr/>
          </p:nvSpPr>
          <p:spPr>
            <a:xfrm>
              <a:off x="4572000" y="4462272"/>
              <a:ext cx="1961388" cy="146304"/>
            </a:xfrm>
            <a:prstGeom prst="roundRect">
              <a:avLst>
                <a:gd name="adj" fmla="val 25000"/>
              </a:avLst>
            </a:prstGeom>
            <a:solidFill>
              <a:srgbClr val="F28C28"/>
            </a:solidFill>
            <a:ln>
              <a:noFill/>
            </a:ln>
          </p:spPr>
          <p:txBody>
            <a:bodyPr rtlCol="0" anchor="ctr"/>
            <a:lstStyle/>
            <a:p>
              <a:pPr algn="ctr"/>
            </a:p>
          </p:txBody>
        </p:sp>
        <p:sp>
          <p:nvSpPr>
            <p:cNvPr id="67" name="TextBox 66"/>
            <p:cNvSpPr txBox="1"/>
            <p:nvPr/>
          </p:nvSpPr>
          <p:spPr>
            <a:xfrm>
              <a:off x="457200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Fast mixed freight</a:t>
              </a:r>
            </a:p>
          </p:txBody>
        </p:sp>
      </p:grpSp>
      <p:grpSp>
        <p:nvGrpSpPr>
          <p:cNvPr id="68" name="Large card" descr="Large locomotive card. Qualitative bars: haul high, speed medium, range high, servicing needs high. Best for: heavy freight."/>
          <p:cNvGrpSpPr/>
          <p:nvPr/>
        </p:nvGrpSpPr>
        <p:grpSpPr>
          <a:xfrm>
            <a:off x="8138160" y="1325880"/>
            <a:ext cx="3474720" cy="3886200"/>
            <a:chOff x="8138160" y="1325880"/>
            <a:chExt cx="3474720" cy="3886200"/>
          </a:xfrm>
        </p:grpSpPr>
        <p:sp>
          <p:nvSpPr>
            <p:cNvPr id="69" name="Rounded Rectangle 68"/>
            <p:cNvSpPr/>
            <p:nvPr/>
          </p:nvSpPr>
          <p:spPr>
            <a:xfrm>
              <a:off x="8138160" y="1325880"/>
              <a:ext cx="3474720" cy="3886200"/>
            </a:xfrm>
            <a:prstGeom prst="roundRect">
              <a:avLst>
                <a:gd name="adj" fmla="val 2631"/>
              </a:avLst>
            </a:prstGeom>
            <a:solidFill>
              <a:srgbClr val="2B2F36"/>
            </a:solidFill>
            <a:ln>
              <a:noFill/>
            </a:ln>
          </p:spPr>
          <p:txBody>
            <a:bodyPr rtlCol="0" anchor="ctr"/>
            <a:lstStyle/>
            <a:p>
              <a:pPr algn="ctr"/>
            </a:p>
          </p:txBody>
        </p:sp>
        <p:sp>
          <p:nvSpPr>
            <p:cNvPr id="70" name="Rectangle 69"/>
            <p:cNvSpPr/>
            <p:nvPr/>
          </p:nvSpPr>
          <p:spPr>
            <a:xfrm>
              <a:off x="8138160" y="1600200"/>
              <a:ext cx="3474720" cy="182880"/>
            </a:xfrm>
            <a:prstGeom prst="rect">
              <a:avLst/>
            </a:prstGeom>
            <a:solidFill>
              <a:srgbClr val="F28C28"/>
            </a:solidFill>
            <a:ln>
              <a:noFill/>
            </a:ln>
          </p:spPr>
          <p:txBody>
            <a:bodyPr rtlCol="0" anchor="ctr"/>
            <a:lstStyle/>
            <a:p>
              <a:pPr algn="ctr"/>
            </a:p>
          </p:txBody>
        </p:sp>
        <p:sp>
          <p:nvSpPr>
            <p:cNvPr id="71" name="Rounded Rectangle 70"/>
            <p:cNvSpPr/>
            <p:nvPr/>
          </p:nvSpPr>
          <p:spPr>
            <a:xfrm>
              <a:off x="813816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Large</a:t>
              </a:r>
            </a:p>
          </p:txBody>
        </p:sp>
        <p:grpSp>
          <p:nvGrpSpPr>
            <p:cNvPr id="72" name="Large engine" descr="Side view of the large steam engine with its tender."/>
            <p:cNvGrpSpPr/>
            <p:nvPr/>
          </p:nvGrpSpPr>
          <p:grpSpPr>
            <a:xfrm>
              <a:off x="8471916" y="1828800"/>
              <a:ext cx="2807208" cy="914400"/>
              <a:chOff x="8471916" y="1828800"/>
              <a:chExt cx="2807208" cy="914400"/>
            </a:xfrm>
          </p:grpSpPr>
          <p:sp>
            <p:nvSpPr>
              <p:cNvPr id="73" name="Rectangle 72"/>
              <p:cNvSpPr/>
              <p:nvPr/>
            </p:nvSpPr>
            <p:spPr>
              <a:xfrm>
                <a:off x="8471916" y="2176272"/>
                <a:ext cx="777240" cy="457200"/>
              </a:xfrm>
              <a:prstGeom prst="rect">
                <a:avLst/>
              </a:prstGeom>
              <a:solidFill>
                <a:srgbClr val="F28C28"/>
              </a:solidFill>
              <a:ln w="9525">
                <a:solidFill>
                  <a:srgbClr val="101418"/>
                </a:solidFill>
              </a:ln>
            </p:spPr>
            <p:txBody>
              <a:bodyPr rtlCol="0" anchor="ctr"/>
              <a:lstStyle/>
              <a:p>
                <a:pPr algn="ctr"/>
              </a:p>
            </p:txBody>
          </p:sp>
          <p:sp>
            <p:nvSpPr>
              <p:cNvPr id="74" name="Rectangle 73"/>
              <p:cNvSpPr/>
              <p:nvPr/>
            </p:nvSpPr>
            <p:spPr>
              <a:xfrm>
                <a:off x="8517636" y="2103120"/>
                <a:ext cx="685800" cy="91440"/>
              </a:xfrm>
              <a:prstGeom prst="rect">
                <a:avLst/>
              </a:prstGeom>
              <a:solidFill>
                <a:srgbClr val="1B1D21"/>
              </a:solidFill>
              <a:ln>
                <a:noFill/>
              </a:ln>
            </p:spPr>
            <p:txBody>
              <a:bodyPr rtlCol="0" anchor="ctr"/>
              <a:lstStyle/>
              <a:p>
                <a:pPr algn="ctr"/>
              </a:p>
            </p:txBody>
          </p:sp>
          <p:sp>
            <p:nvSpPr>
              <p:cNvPr id="75" name="Oval 74"/>
              <p:cNvSpPr/>
              <p:nvPr/>
            </p:nvSpPr>
            <p:spPr>
              <a:xfrm>
                <a:off x="8556498" y="2523744"/>
                <a:ext cx="219456" cy="219456"/>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8945118" y="2523744"/>
                <a:ext cx="219456" cy="219456"/>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9313164" y="1920240"/>
                <a:ext cx="457200" cy="713232"/>
              </a:xfrm>
              <a:prstGeom prst="rect">
                <a:avLst/>
              </a:prstGeom>
              <a:solidFill>
                <a:srgbClr val="F28C28"/>
              </a:solidFill>
              <a:ln w="9525">
                <a:solidFill>
                  <a:srgbClr val="101418"/>
                </a:solidFill>
              </a:ln>
            </p:spPr>
            <p:txBody>
              <a:bodyPr rtlCol="0" anchor="ctr"/>
              <a:lstStyle/>
              <a:p>
                <a:pPr algn="ctr"/>
              </a:p>
            </p:txBody>
          </p:sp>
          <p:sp>
            <p:nvSpPr>
              <p:cNvPr id="78" name="Rectangle 77"/>
              <p:cNvSpPr/>
              <p:nvPr/>
            </p:nvSpPr>
            <p:spPr>
              <a:xfrm>
                <a:off x="9404604" y="2011680"/>
                <a:ext cx="237744" cy="182880"/>
              </a:xfrm>
              <a:prstGeom prst="rect">
                <a:avLst/>
              </a:prstGeom>
              <a:solidFill>
                <a:srgbClr val="2B2F36"/>
              </a:solidFill>
              <a:ln>
                <a:noFill/>
              </a:ln>
            </p:spPr>
            <p:txBody>
              <a:bodyPr rtlCol="0" anchor="ctr"/>
              <a:lstStyle/>
              <a:p>
                <a:pPr algn="ctr"/>
              </a:p>
            </p:txBody>
          </p:sp>
          <p:sp>
            <p:nvSpPr>
              <p:cNvPr id="79" name="Rectangle 78"/>
              <p:cNvSpPr/>
              <p:nvPr/>
            </p:nvSpPr>
            <p:spPr>
              <a:xfrm>
                <a:off x="9276588" y="1865376"/>
                <a:ext cx="530352" cy="73152"/>
              </a:xfrm>
              <a:prstGeom prst="rect">
                <a:avLst/>
              </a:prstGeom>
              <a:solidFill>
                <a:srgbClr val="1B1D21"/>
              </a:solidFill>
              <a:ln>
                <a:noFill/>
              </a:ln>
            </p:spPr>
            <p:txBody>
              <a:bodyPr rtlCol="0" anchor="ctr"/>
              <a:lstStyle/>
              <a:p>
                <a:pPr algn="ctr"/>
              </a:p>
            </p:txBody>
          </p:sp>
          <p:sp>
            <p:nvSpPr>
              <p:cNvPr id="80" name="Rounded Rectangle 79"/>
              <p:cNvSpPr/>
              <p:nvPr/>
            </p:nvSpPr>
            <p:spPr>
              <a:xfrm>
                <a:off x="9770364" y="2066544"/>
                <a:ext cx="15087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81" name="Rectangle 80"/>
              <p:cNvSpPr/>
              <p:nvPr/>
            </p:nvSpPr>
            <p:spPr>
              <a:xfrm>
                <a:off x="11004804" y="1828800"/>
                <a:ext cx="137160" cy="256032"/>
              </a:xfrm>
              <a:prstGeom prst="rect">
                <a:avLst/>
              </a:prstGeom>
              <a:solidFill>
                <a:srgbClr val="1B1D21"/>
              </a:solidFill>
              <a:ln>
                <a:noFill/>
              </a:ln>
            </p:spPr>
            <p:txBody>
              <a:bodyPr rtlCol="0" anchor="ctr"/>
              <a:lstStyle/>
              <a:p>
                <a:pPr algn="ctr"/>
              </a:p>
            </p:txBody>
          </p:sp>
          <p:sp>
            <p:nvSpPr>
              <p:cNvPr id="82" name="Rectangle 81"/>
              <p:cNvSpPr/>
              <p:nvPr/>
            </p:nvSpPr>
            <p:spPr>
              <a:xfrm>
                <a:off x="9313164" y="2468880"/>
                <a:ext cx="1965960" cy="64008"/>
              </a:xfrm>
              <a:prstGeom prst="rect">
                <a:avLst/>
              </a:prstGeom>
              <a:solidFill>
                <a:srgbClr val="1B1D21"/>
              </a:solidFill>
              <a:ln>
                <a:noFill/>
              </a:ln>
            </p:spPr>
            <p:txBody>
              <a:bodyPr rtlCol="0" anchor="ctr"/>
              <a:lstStyle/>
              <a:p>
                <a:pPr algn="ctr"/>
              </a:p>
            </p:txBody>
          </p:sp>
          <p:sp>
            <p:nvSpPr>
              <p:cNvPr id="83" name="Oval 82"/>
              <p:cNvSpPr/>
              <p:nvPr/>
            </p:nvSpPr>
            <p:spPr>
              <a:xfrm>
                <a:off x="93680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4" name="Oval 83"/>
              <p:cNvSpPr/>
              <p:nvPr/>
            </p:nvSpPr>
            <p:spPr>
              <a:xfrm>
                <a:off x="97680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5" name="Oval 84"/>
              <p:cNvSpPr/>
              <p:nvPr/>
            </p:nvSpPr>
            <p:spPr>
              <a:xfrm>
                <a:off x="101681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6" name="Oval 85"/>
              <p:cNvSpPr/>
              <p:nvPr/>
            </p:nvSpPr>
            <p:spPr>
              <a:xfrm>
                <a:off x="105681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7" name="Oval 86"/>
              <p:cNvSpPr/>
              <p:nvPr/>
            </p:nvSpPr>
            <p:spPr>
              <a:xfrm>
                <a:off x="1096822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88" name="TextBox 87"/>
            <p:cNvSpPr txBox="1"/>
            <p:nvPr/>
          </p:nvSpPr>
          <p:spPr>
            <a:xfrm>
              <a:off x="836676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89" name="Rounded Rectangle 88"/>
            <p:cNvSpPr/>
            <p:nvPr/>
          </p:nvSpPr>
          <p:spPr>
            <a:xfrm>
              <a:off x="8366760" y="3090672"/>
              <a:ext cx="3017520" cy="146304"/>
            </a:xfrm>
            <a:prstGeom prst="roundRect">
              <a:avLst>
                <a:gd name="adj" fmla="val 25000"/>
              </a:avLst>
            </a:prstGeom>
            <a:solidFill>
              <a:srgbClr val="343A43"/>
            </a:solidFill>
            <a:ln>
              <a:noFill/>
            </a:ln>
          </p:spPr>
          <p:txBody>
            <a:bodyPr rtlCol="0" anchor="ctr"/>
            <a:lstStyle/>
            <a:p>
              <a:pPr algn="ctr"/>
            </a:p>
          </p:txBody>
        </p:sp>
        <p:sp>
          <p:nvSpPr>
            <p:cNvPr id="90" name="Rounded Rectangle 89"/>
            <p:cNvSpPr/>
            <p:nvPr/>
          </p:nvSpPr>
          <p:spPr>
            <a:xfrm>
              <a:off x="8366760" y="3090672"/>
              <a:ext cx="2866644" cy="146304"/>
            </a:xfrm>
            <a:prstGeom prst="roundRect">
              <a:avLst>
                <a:gd name="adj" fmla="val 25000"/>
              </a:avLst>
            </a:prstGeom>
            <a:solidFill>
              <a:srgbClr val="F28C28"/>
            </a:solidFill>
            <a:ln>
              <a:noFill/>
            </a:ln>
          </p:spPr>
          <p:txBody>
            <a:bodyPr rtlCol="0" anchor="ctr"/>
            <a:lstStyle/>
            <a:p>
              <a:pPr algn="ctr"/>
            </a:p>
          </p:txBody>
        </p:sp>
        <p:sp>
          <p:nvSpPr>
            <p:cNvPr id="91" name="TextBox 90"/>
            <p:cNvSpPr txBox="1"/>
            <p:nvPr/>
          </p:nvSpPr>
          <p:spPr>
            <a:xfrm>
              <a:off x="836676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92" name="Rounded Rectangle 91"/>
            <p:cNvSpPr/>
            <p:nvPr/>
          </p:nvSpPr>
          <p:spPr>
            <a:xfrm>
              <a:off x="8366760" y="3547872"/>
              <a:ext cx="3017520" cy="146304"/>
            </a:xfrm>
            <a:prstGeom prst="roundRect">
              <a:avLst>
                <a:gd name="adj" fmla="val 25000"/>
              </a:avLst>
            </a:prstGeom>
            <a:solidFill>
              <a:srgbClr val="343A43"/>
            </a:solidFill>
            <a:ln>
              <a:noFill/>
            </a:ln>
          </p:spPr>
          <p:txBody>
            <a:bodyPr rtlCol="0" anchor="ctr"/>
            <a:lstStyle/>
            <a:p>
              <a:pPr algn="ctr"/>
            </a:p>
          </p:txBody>
        </p:sp>
        <p:sp>
          <p:nvSpPr>
            <p:cNvPr id="93" name="Rounded Rectangle 92"/>
            <p:cNvSpPr/>
            <p:nvPr/>
          </p:nvSpPr>
          <p:spPr>
            <a:xfrm>
              <a:off x="8366760" y="3547872"/>
              <a:ext cx="1810512" cy="146304"/>
            </a:xfrm>
            <a:prstGeom prst="roundRect">
              <a:avLst>
                <a:gd name="adj" fmla="val 25000"/>
              </a:avLst>
            </a:prstGeom>
            <a:solidFill>
              <a:srgbClr val="F28C28"/>
            </a:solidFill>
            <a:ln>
              <a:noFill/>
            </a:ln>
          </p:spPr>
          <p:txBody>
            <a:bodyPr rtlCol="0" anchor="ctr"/>
            <a:lstStyle/>
            <a:p>
              <a:pPr algn="ctr"/>
            </a:p>
          </p:txBody>
        </p:sp>
        <p:sp>
          <p:nvSpPr>
            <p:cNvPr id="94" name="TextBox 93"/>
            <p:cNvSpPr txBox="1"/>
            <p:nvPr/>
          </p:nvSpPr>
          <p:spPr>
            <a:xfrm>
              <a:off x="836676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95" name="Rounded Rectangle 94"/>
            <p:cNvSpPr/>
            <p:nvPr/>
          </p:nvSpPr>
          <p:spPr>
            <a:xfrm>
              <a:off x="8366760" y="4005072"/>
              <a:ext cx="3017520" cy="146304"/>
            </a:xfrm>
            <a:prstGeom prst="roundRect">
              <a:avLst>
                <a:gd name="adj" fmla="val 25000"/>
              </a:avLst>
            </a:prstGeom>
            <a:solidFill>
              <a:srgbClr val="343A43"/>
            </a:solidFill>
            <a:ln>
              <a:noFill/>
            </a:ln>
          </p:spPr>
          <p:txBody>
            <a:bodyPr rtlCol="0" anchor="ctr"/>
            <a:lstStyle/>
            <a:p>
              <a:pPr algn="ctr"/>
            </a:p>
          </p:txBody>
        </p:sp>
        <p:sp>
          <p:nvSpPr>
            <p:cNvPr id="96" name="Rounded Rectangle 95"/>
            <p:cNvSpPr/>
            <p:nvPr/>
          </p:nvSpPr>
          <p:spPr>
            <a:xfrm>
              <a:off x="8366760" y="4005072"/>
              <a:ext cx="2715768" cy="146304"/>
            </a:xfrm>
            <a:prstGeom prst="roundRect">
              <a:avLst>
                <a:gd name="adj" fmla="val 25000"/>
              </a:avLst>
            </a:prstGeom>
            <a:solidFill>
              <a:srgbClr val="F28C28"/>
            </a:solidFill>
            <a:ln>
              <a:noFill/>
            </a:ln>
          </p:spPr>
          <p:txBody>
            <a:bodyPr rtlCol="0" anchor="ctr"/>
            <a:lstStyle/>
            <a:p>
              <a:pPr algn="ctr"/>
            </a:p>
          </p:txBody>
        </p:sp>
        <p:sp>
          <p:nvSpPr>
            <p:cNvPr id="97" name="TextBox 96"/>
            <p:cNvSpPr txBox="1"/>
            <p:nvPr/>
          </p:nvSpPr>
          <p:spPr>
            <a:xfrm>
              <a:off x="836676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98" name="Rounded Rectangle 97"/>
            <p:cNvSpPr/>
            <p:nvPr/>
          </p:nvSpPr>
          <p:spPr>
            <a:xfrm>
              <a:off x="8366760" y="4462272"/>
              <a:ext cx="3017520" cy="146304"/>
            </a:xfrm>
            <a:prstGeom prst="roundRect">
              <a:avLst>
                <a:gd name="adj" fmla="val 25000"/>
              </a:avLst>
            </a:prstGeom>
            <a:solidFill>
              <a:srgbClr val="343A43"/>
            </a:solidFill>
            <a:ln>
              <a:noFill/>
            </a:ln>
          </p:spPr>
          <p:txBody>
            <a:bodyPr rtlCol="0" anchor="ctr"/>
            <a:lstStyle/>
            <a:p>
              <a:pPr algn="ctr"/>
            </a:p>
          </p:txBody>
        </p:sp>
        <p:sp>
          <p:nvSpPr>
            <p:cNvPr id="99" name="Rounded Rectangle 98"/>
            <p:cNvSpPr/>
            <p:nvPr/>
          </p:nvSpPr>
          <p:spPr>
            <a:xfrm>
              <a:off x="8366760" y="4462272"/>
              <a:ext cx="2715768" cy="146304"/>
            </a:xfrm>
            <a:prstGeom prst="roundRect">
              <a:avLst>
                <a:gd name="adj" fmla="val 25000"/>
              </a:avLst>
            </a:prstGeom>
            <a:solidFill>
              <a:srgbClr val="F28C28"/>
            </a:solidFill>
            <a:ln>
              <a:noFill/>
            </a:ln>
          </p:spPr>
          <p:txBody>
            <a:bodyPr rtlCol="0" anchor="ctr"/>
            <a:lstStyle/>
            <a:p>
              <a:pPr algn="ctr"/>
            </a:p>
          </p:txBody>
        </p:sp>
        <p:sp>
          <p:nvSpPr>
            <p:cNvPr id="100" name="TextBox 99"/>
            <p:cNvSpPr txBox="1"/>
            <p:nvPr/>
          </p:nvSpPr>
          <p:spPr>
            <a:xfrm>
              <a:off x="836676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Heavy freight</a:t>
              </a:r>
            </a:p>
          </p:txBody>
        </p:sp>
      </p:grpSp>
      <p:sp>
        <p:nvSpPr>
          <p:cNvPr id="101" name="TextBox 100"/>
          <p:cNvSpPr txBox="1"/>
          <p:nvPr/>
        </p:nvSpPr>
        <p:spPr>
          <a:xfrm>
            <a:off x="548640" y="532180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Medium and Large each have a job. Bigger is not simply better.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Small: the branch-line tank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0" descr="LMS Fowler Class 3F 'Jinty' tank engine No. 47406 at the Great Central Railway. A related Fowler tank engine, NOT the Dock Tank."/>
          <p:cNvPicPr>
            <a:picLocks noChangeAspect="1"/>
          </p:cNvPicPr>
          <p:nvPr/>
        </p:nvPicPr>
        <p:blipFill>
          <a:blip r:embed="rId2"/>
          <a:srcRect t="5377" b="5377"/>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Duncan Harris, CC BY-SA 2.0, Wikimedia Commons.</a:t>
            </a:r>
          </a:p>
        </p:txBody>
      </p:sp>
      <p:sp>
        <p:nvSpPr>
          <p:cNvPr id="10" name="TextBox 9"/>
          <p:cNvSpPr txBox="1"/>
          <p:nvPr/>
        </p:nvSpPr>
        <p:spPr>
          <a:xfrm>
            <a:off x="548640" y="4846320"/>
            <a:ext cx="5120640" cy="640080"/>
          </a:xfrm>
          <a:prstGeom prst="rect">
            <a:avLst/>
          </a:prstGeom>
          <a:noFill/>
        </p:spPr>
        <p:txBody>
          <a:bodyPr wrap="square" lIns="0" tIns="0" rIns="0" bIns="0" anchor="t">
            <a:noAutofit/>
          </a:bodyPr>
          <a:lstStyle/>
          <a:p>
            <a:pPr algn="l"/>
            <a:r>
              <a:rPr sz="1600" b="0" i="0" lang="en-GB">
                <a:solidFill>
                  <a:srgbClr val="F2F2F2"/>
                </a:solidFill>
                <a:latin typeface="Arial"/>
              </a:rPr>
              <a:t>A related Fowler tank engine (a Jinty). The design's reference, the Dock Tank, has no survivor.</a:t>
            </a:r>
          </a:p>
        </p:txBody>
      </p:sp>
      <p:grpSp>
        <p:nvGrpSpPr>
          <p:cNvPr id="11" name="Traits" descr="Traits: No tender; Weakest hauler; Cheap to run; Struggles with long trains and hills."/>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17920" y="1643634"/>
              <a:ext cx="365760" cy="251460"/>
            </a:xfrm>
            <a:prstGeom prst="rect">
              <a:avLst/>
            </a:prstGeom>
            <a:noFill/>
            <a:ln w="25400">
              <a:solidFill>
                <a:srgbClr val="F28C28"/>
              </a:solidFill>
            </a:ln>
          </p:spPr>
          <p:txBody>
            <a:bodyPr rtlCol="0" anchor="ctr"/>
            <a:lstStyle/>
            <a:p>
              <a:pPr algn="ctr"/>
            </a:p>
          </p:txBody>
        </p:sp>
        <p:cxnSp>
          <p:nvCxnSpPr>
            <p:cNvPr id="14" name="Connector 13"/>
            <p:cNvCxnSpPr/>
            <p:nvPr/>
          </p:nvCxnSpPr>
          <p:spPr>
            <a:xfrm flipV="1">
              <a:off x="6172200" y="1586484"/>
              <a:ext cx="457200" cy="320040"/>
            </a:xfrm>
            <a:prstGeom prst="line">
              <a:avLst/>
            </a:prstGeom>
            <a:ln w="31750">
              <a:solidFill>
                <a:srgbClr val="F2F2F2"/>
              </a:solidFill>
            </a:ln>
          </p:spPr>
        </p:cxnSp>
        <p:sp>
          <p:nvSpPr>
            <p:cNvPr id="15" name="TextBox 14"/>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 tender</a:t>
              </a:r>
            </a:p>
          </p:txBody>
        </p:sp>
        <p:sp>
          <p:nvSpPr>
            <p:cNvPr id="16" name="Rounded Rectangle 15"/>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7" name="Freeform 16"/>
            <p:cNvSpPr/>
            <p:nvPr/>
          </p:nvSpPr>
          <p:spPr>
            <a:xfrm>
              <a:off x="6240780" y="256260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18" name="Oval 17"/>
            <p:cNvSpPr/>
            <p:nvPr/>
          </p:nvSpPr>
          <p:spPr>
            <a:xfrm>
              <a:off x="6336792" y="2452878"/>
              <a:ext cx="128016" cy="128016"/>
            </a:xfrm>
            <a:prstGeom prst="ellipse">
              <a:avLst/>
            </a:prstGeom>
            <a:noFill/>
            <a:ln w="25400">
              <a:solidFill>
                <a:srgbClr val="F28C28"/>
              </a:solidFill>
            </a:ln>
          </p:spPr>
          <p:txBody>
            <a:bodyPr rtlCol="0" anchor="ctr"/>
            <a:lstStyle/>
            <a:p>
              <a:pPr algn="ctr"/>
            </a:p>
          </p:txBody>
        </p:sp>
        <p:sp>
          <p:nvSpPr>
            <p:cNvPr id="19" name="TextBox 18"/>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Weakest hauler</a:t>
              </a:r>
            </a:p>
          </p:txBody>
        </p:sp>
        <p:sp>
          <p:nvSpPr>
            <p:cNvPr id="20" name="Rounded Rectangle 19"/>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1" name="Oval 20"/>
            <p:cNvSpPr/>
            <p:nvPr/>
          </p:nvSpPr>
          <p:spPr>
            <a:xfrm>
              <a:off x="6229350" y="3550158"/>
              <a:ext cx="342900" cy="137160"/>
            </a:xfrm>
            <a:prstGeom prst="ellipse">
              <a:avLst/>
            </a:prstGeom>
            <a:solidFill>
              <a:srgbClr val="F28C28"/>
            </a:solidFill>
            <a:ln w="12700">
              <a:solidFill>
                <a:srgbClr val="1E2126"/>
              </a:solidFill>
            </a:ln>
          </p:spPr>
          <p:txBody>
            <a:bodyPr rtlCol="0" anchor="ctr"/>
            <a:lstStyle/>
            <a:p>
              <a:pPr algn="ctr"/>
            </a:p>
          </p:txBody>
        </p:sp>
        <p:sp>
          <p:nvSpPr>
            <p:cNvPr id="22" name="Oval 21"/>
            <p:cNvSpPr/>
            <p:nvPr/>
          </p:nvSpPr>
          <p:spPr>
            <a:xfrm>
              <a:off x="6229350" y="3481578"/>
              <a:ext cx="342900" cy="137160"/>
            </a:xfrm>
            <a:prstGeom prst="ellipse">
              <a:avLst/>
            </a:prstGeom>
            <a:solidFill>
              <a:srgbClr val="F28C28"/>
            </a:solidFill>
            <a:ln w="12700">
              <a:solidFill>
                <a:srgbClr val="1E2126"/>
              </a:solidFill>
            </a:ln>
          </p:spPr>
          <p:txBody>
            <a:bodyPr rtlCol="0" anchor="ctr"/>
            <a:lstStyle/>
            <a:p>
              <a:pPr algn="ctr"/>
            </a:p>
          </p:txBody>
        </p:sp>
        <p:sp>
          <p:nvSpPr>
            <p:cNvPr id="23" name="Oval 22"/>
            <p:cNvSpPr/>
            <p:nvPr/>
          </p:nvSpPr>
          <p:spPr>
            <a:xfrm>
              <a:off x="6229350" y="3412998"/>
              <a:ext cx="342900" cy="137160"/>
            </a:xfrm>
            <a:prstGeom prst="ellipse">
              <a:avLst/>
            </a:prstGeom>
            <a:solidFill>
              <a:srgbClr val="F28C28"/>
            </a:solidFill>
            <a:ln w="12700">
              <a:solidFill>
                <a:srgbClr val="1E2126"/>
              </a:solidFill>
            </a:ln>
          </p:spPr>
          <p:txBody>
            <a:bodyPr rtlCol="0" anchor="ctr"/>
            <a:lstStyle/>
            <a:p>
              <a:pPr algn="ctr"/>
            </a:p>
          </p:txBody>
        </p:sp>
        <p:sp>
          <p:nvSpPr>
            <p:cNvPr id="24" name="TextBox 23"/>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Cheap to run</a:t>
              </a:r>
            </a:p>
          </p:txBody>
        </p:sp>
        <p:sp>
          <p:nvSpPr>
            <p:cNvPr id="25" name="Rounded Rectangle 24"/>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6" name="Freeform 25"/>
            <p:cNvSpPr/>
            <p:nvPr/>
          </p:nvSpPr>
          <p:spPr>
            <a:xfrm>
              <a:off x="6172200" y="4274820"/>
              <a:ext cx="457200" cy="320040"/>
            </a:xfrm>
            <a:custGeom>
              <a:avLst/>
              <a:gdLst/>
              <a:ahLst/>
              <a:cxnLst/>
              <a:rect l="l" t="t" r="r" b="b"/>
              <a:pathLst>
                <a:path w="457200" h="320040">
                  <a:moveTo>
                    <a:pt x="0" y="320040"/>
                  </a:moveTo>
                  <a:lnTo>
                    <a:pt x="457200" y="320040"/>
                  </a:lnTo>
                  <a:lnTo>
                    <a:pt x="251460" y="0"/>
                  </a:lnTo>
                  <a:close/>
                </a:path>
              </a:pathLst>
            </a:custGeom>
            <a:solidFill>
              <a:srgbClr val="F28C28"/>
            </a:solidFill>
            <a:ln>
              <a:noFill/>
            </a:ln>
          </p:spPr>
          <p:txBody>
            <a:bodyPr rtlCol="0" anchor="ctr"/>
            <a:lstStyle/>
            <a:p>
              <a:pPr algn="ctr"/>
            </a:p>
          </p:txBody>
        </p:sp>
        <p:sp>
          <p:nvSpPr>
            <p:cNvPr id="27" name="TextBox 26"/>
            <p:cNvSpPr txBox="1"/>
            <p:nvPr/>
          </p:nvSpPr>
          <p:spPr>
            <a:xfrm>
              <a:off x="6720840" y="4059936"/>
              <a:ext cx="3344680" cy="749808"/>
            </a:xfrm>
            <a:prstGeom prst="rect">
              <a:avLst/>
            </a:prstGeom>
            <a:noFill/>
          </p:spPr>
          <p:txBody>
            <a:bodyPr wrap="square" lIns="0" tIns="0" rIns="0" bIns="0" anchor="ctr">
              <a:noAutofit/>
            </a:bodyPr>
            <a:lstStyle/>
            <a:p>
              <a:pPr algn="l"/>
              <a:r>
                <a:rPr sz="2000" b="0" i="0" lang="en-GB">
                  <a:solidFill>
                    <a:srgbClr val="F2F2F2"/>
                  </a:solidFill>
                  <a:latin typeface="Arial"/>
                </a:rPr>
                <a:t>Struggles with long trains and hills</a:t>
              </a:r>
            </a:p>
          </p:txBody>
        </p:sp>
        <p:sp>
          <p:nvSpPr>
            <p:cNvPr id="28" name="Inline chip Proposed"/>
            <p:cNvSpPr/>
            <p:nvPr/>
          </p:nvSpPr>
          <p:spPr>
            <a:xfrm>
              <a:off x="10156960" y="427024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carries its own coal and water. It is cheap, light and best on short branches.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Medium: the long-range runner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1" descr="Merchant Navy class No. 35005 'Canadian Pacific', raised front three-quarter view showing boiler and tender."/>
          <p:cNvPicPr>
            <a:picLocks noChangeAspect="1"/>
          </p:cNvPicPr>
          <p:nvPr/>
        </p:nvPicPr>
        <p:blipFill>
          <a:blip r:embed="rId2"/>
          <a:srcRect l="205" r="205"/>
          <a:stretch>
            <a:fillRect/>
          </a:stretch>
        </p:blipFill>
        <p:spPr>
          <a:xfrm>
            <a:off x="548640" y="1325880"/>
            <a:ext cx="5120640" cy="3154680"/>
          </a:xfrm>
          <a:prstGeom prst="roundRect">
            <a:avLst>
              <a:gd name="adj" fmla="val 2319"/>
            </a:avLst>
          </a:prstGeom>
        </p:spPr>
      </p:pic>
      <p:sp>
        <p:nvSpPr>
          <p:cNvPr id="9" name="Credit"/>
          <p:cNvSpPr txBox="1"/>
          <p:nvPr/>
        </p:nvSpPr>
        <p:spPr>
          <a:xfrm>
            <a:off x="548640" y="450799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2.0, Wikimedia Commons.</a:t>
            </a:r>
          </a:p>
        </p:txBody>
      </p:sp>
      <p:sp>
        <p:nvSpPr>
          <p:cNvPr id="10" name="TextBox 9"/>
          <p:cNvSpPr txBox="1"/>
          <p:nvPr/>
        </p:nvSpPr>
        <p:spPr>
          <a:xfrm>
            <a:off x="548640" y="470916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Merchant Navy class</a:t>
            </a:r>
          </a:p>
        </p:txBody>
      </p:sp>
      <p:grpSp>
        <p:nvGrpSpPr>
          <p:cNvPr id="11" name="Traits" descr="Traits: Normal tender: more coal and water; Burns more; Auxiliary tender: a practical extra; Fastest class."/>
          <p:cNvGrpSpPr/>
          <p:nvPr/>
        </p:nvGrpSpPr>
        <p:grpSpPr>
          <a:xfrm>
            <a:off x="5989320" y="1371600"/>
            <a:ext cx="5650992" cy="3621024"/>
            <a:chOff x="5989320" y="1371600"/>
            <a:chExt cx="5650992" cy="362102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06490" y="1655064"/>
              <a:ext cx="388620" cy="274320"/>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6229350" y="1620774"/>
              <a:ext cx="342900" cy="54864"/>
            </a:xfrm>
            <a:prstGeom prst="rect">
              <a:avLst/>
            </a:prstGeom>
            <a:solidFill>
              <a:srgbClr val="1B1D21"/>
            </a:solidFill>
            <a:ln>
              <a:noFill/>
            </a:ln>
          </p:spPr>
          <p:txBody>
            <a:bodyPr rtlCol="0" anchor="ctr"/>
            <a:lstStyle/>
            <a:p>
              <a:pPr algn="ctr"/>
            </a:p>
          </p:txBody>
        </p:sp>
        <p:sp>
          <p:nvSpPr>
            <p:cNvPr id="15" name="Oval 14"/>
            <p:cNvSpPr/>
            <p:nvPr/>
          </p:nvSpPr>
          <p:spPr>
            <a:xfrm>
              <a:off x="6247638" y="1844802"/>
              <a:ext cx="100584" cy="100584"/>
            </a:xfrm>
            <a:prstGeom prst="ellipse">
              <a:avLst/>
            </a:prstGeom>
            <a:solidFill>
              <a:srgbClr val="1B1D21"/>
            </a:solidFill>
            <a:ln w="12700">
              <a:solidFill>
                <a:srgbClr val="9AA0A6"/>
              </a:solidFill>
            </a:ln>
          </p:spPr>
          <p:txBody>
            <a:bodyPr rtlCol="0" anchor="ctr"/>
            <a:lstStyle/>
            <a:p>
              <a:pPr algn="ctr"/>
            </a:p>
          </p:txBody>
        </p:sp>
        <p:sp>
          <p:nvSpPr>
            <p:cNvPr id="16" name="Oval 15"/>
            <p:cNvSpPr/>
            <p:nvPr/>
          </p:nvSpPr>
          <p:spPr>
            <a:xfrm>
              <a:off x="6453378" y="1844802"/>
              <a:ext cx="100584" cy="100584"/>
            </a:xfrm>
            <a:prstGeom prst="ellipse">
              <a:avLst/>
            </a:prstGeom>
            <a:solidFill>
              <a:srgbClr val="1B1D21"/>
            </a:solidFill>
            <a:ln w="12700">
              <a:solidFill>
                <a:srgbClr val="9AA0A6"/>
              </a:solidFill>
            </a:ln>
          </p:spPr>
          <p:txBody>
            <a:bodyPr rtlCol="0" anchor="ctr"/>
            <a:lstStyle/>
            <a:p>
              <a:pPr algn="ctr"/>
            </a:p>
          </p:txBody>
        </p:sp>
        <p:sp>
          <p:nvSpPr>
            <p:cNvPr id="17" name="TextBox 16"/>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Normal tender: more coal and water</a:t>
              </a:r>
            </a:p>
          </p:txBody>
        </p:sp>
        <p:sp>
          <p:nvSpPr>
            <p:cNvPr id="18" name="Rounded Rectangle 17"/>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9" name="Freeform 18"/>
            <p:cNvSpPr/>
            <p:nvPr/>
          </p:nvSpPr>
          <p:spPr>
            <a:xfrm>
              <a:off x="6263640" y="2436876"/>
              <a:ext cx="274320" cy="388620"/>
            </a:xfrm>
            <a:custGeom>
              <a:avLst/>
              <a:gdLst/>
              <a:ahLst/>
              <a:cxnLst/>
              <a:rect l="l" t="t" r="r" b="b"/>
              <a:pathLst>
                <a:path w="274320" h="388620">
                  <a:moveTo>
                    <a:pt x="0" y="262890"/>
                  </a:moveTo>
                  <a:lnTo>
                    <a:pt x="4674" y="295431"/>
                  </a:lnTo>
                  <a:lnTo>
                    <a:pt x="18376" y="325755"/>
                  </a:lnTo>
                  <a:lnTo>
                    <a:pt x="40173" y="351795"/>
                  </a:lnTo>
                  <a:lnTo>
                    <a:pt x="68580" y="371775"/>
                  </a:lnTo>
                  <a:lnTo>
                    <a:pt x="101660" y="384336"/>
                  </a:lnTo>
                  <a:lnTo>
                    <a:pt x="137160" y="388620"/>
                  </a:lnTo>
                  <a:lnTo>
                    <a:pt x="172660" y="384336"/>
                  </a:lnTo>
                  <a:lnTo>
                    <a:pt x="205740" y="371775"/>
                  </a:lnTo>
                  <a:lnTo>
                    <a:pt x="234147" y="351795"/>
                  </a:lnTo>
                  <a:lnTo>
                    <a:pt x="255944" y="325755"/>
                  </a:lnTo>
                  <a:lnTo>
                    <a:pt x="269646" y="295431"/>
                  </a:lnTo>
                  <a:lnTo>
                    <a:pt x="274320" y="262890"/>
                  </a:lnTo>
                  <a:lnTo>
                    <a:pt x="274320" y="262890"/>
                  </a:lnTo>
                  <a:lnTo>
                    <a:pt x="171450" y="0"/>
                  </a:lnTo>
                  <a:lnTo>
                    <a:pt x="0" y="262890"/>
                  </a:lnTo>
                  <a:close/>
                </a:path>
              </a:pathLst>
            </a:custGeom>
            <a:solidFill>
              <a:srgbClr val="F28C28"/>
            </a:solidFill>
            <a:ln>
              <a:noFill/>
            </a:ln>
          </p:spPr>
          <p:txBody>
            <a:bodyPr rtlCol="0" anchor="ctr"/>
            <a:lstStyle/>
            <a:p>
              <a:pPr algn="ctr"/>
            </a:p>
          </p:txBody>
        </p:sp>
        <p:sp>
          <p:nvSpPr>
            <p:cNvPr id="20" name="Freeform 19"/>
            <p:cNvSpPr/>
            <p:nvPr/>
          </p:nvSpPr>
          <p:spPr>
            <a:xfrm>
              <a:off x="6343650" y="2608326"/>
              <a:ext cx="114300" cy="171450"/>
            </a:xfrm>
            <a:custGeom>
              <a:avLst/>
              <a:gdLst/>
              <a:ahLst/>
              <a:cxnLst/>
              <a:rect l="l" t="t" r="r" b="b"/>
              <a:pathLst>
                <a:path w="114300" h="171450">
                  <a:moveTo>
                    <a:pt x="0" y="171450"/>
                  </a:moveTo>
                  <a:lnTo>
                    <a:pt x="114300" y="171450"/>
                  </a:lnTo>
                  <a:lnTo>
                    <a:pt x="57150" y="0"/>
                  </a:lnTo>
                  <a:close/>
                </a:path>
              </a:pathLst>
            </a:custGeom>
            <a:solidFill>
              <a:srgbClr val="F2C14E"/>
            </a:solidFill>
            <a:ln>
              <a:noFill/>
            </a:ln>
          </p:spPr>
          <p:txBody>
            <a:bodyPr rtlCol="0" anchor="ctr"/>
            <a:lstStyle/>
            <a:p>
              <a:pPr algn="ctr"/>
            </a:p>
          </p:txBody>
        </p:sp>
        <p:sp>
          <p:nvSpPr>
            <p:cNvPr id="21" name="TextBox 20"/>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Burns more</a:t>
              </a:r>
            </a:p>
          </p:txBody>
        </p:sp>
        <p:sp>
          <p:nvSpPr>
            <p:cNvPr id="22" name="Rounded Rectangle 21"/>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3" name="Rectangle 22"/>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4" name="Oval 23"/>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Oval 24"/>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6" name="TextBox 25"/>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a practical extra</a:t>
              </a:r>
            </a:p>
          </p:txBody>
        </p:sp>
        <p:sp>
          <p:nvSpPr>
            <p:cNvPr id="27" name="Rounded Rectangle 26"/>
            <p:cNvSpPr/>
            <p:nvPr/>
          </p:nvSpPr>
          <p:spPr>
            <a:xfrm>
              <a:off x="5989320" y="4059936"/>
              <a:ext cx="5650992" cy="932688"/>
            </a:xfrm>
            <a:prstGeom prst="roundRect">
              <a:avLst>
                <a:gd name="adj" fmla="val 7843"/>
              </a:avLst>
            </a:prstGeom>
            <a:solidFill>
              <a:srgbClr val="2B2F36"/>
            </a:solidFill>
            <a:ln>
              <a:noFill/>
            </a:ln>
          </p:spPr>
          <p:txBody>
            <a:bodyPr rtlCol="0" anchor="ctr"/>
            <a:lstStyle/>
            <a:p>
              <a:pPr algn="ctr"/>
            </a:p>
          </p:txBody>
        </p:sp>
        <p:sp>
          <p:nvSpPr>
            <p:cNvPr id="28" name="Chevron 27"/>
            <p:cNvSpPr/>
            <p:nvPr/>
          </p:nvSpPr>
          <p:spPr>
            <a:xfrm>
              <a:off x="6195060" y="4400550"/>
              <a:ext cx="160020" cy="251460"/>
            </a:xfrm>
            <a:prstGeom prst="chevron">
              <a:avLst/>
            </a:prstGeom>
            <a:solidFill>
              <a:srgbClr val="F28C28"/>
            </a:solidFill>
            <a:ln>
              <a:noFill/>
            </a:ln>
          </p:spPr>
          <p:txBody>
            <a:bodyPr rtlCol="0" anchor="ctr"/>
            <a:lstStyle/>
            <a:p>
              <a:pPr algn="ctr"/>
            </a:p>
          </p:txBody>
        </p:sp>
        <p:sp>
          <p:nvSpPr>
            <p:cNvPr id="29" name="Chevron 28"/>
            <p:cNvSpPr/>
            <p:nvPr/>
          </p:nvSpPr>
          <p:spPr>
            <a:xfrm>
              <a:off x="6320790" y="4400550"/>
              <a:ext cx="160020" cy="251460"/>
            </a:xfrm>
            <a:prstGeom prst="chevron">
              <a:avLst/>
            </a:prstGeom>
            <a:solidFill>
              <a:srgbClr val="F28C28"/>
            </a:solidFill>
            <a:ln>
              <a:noFill/>
            </a:ln>
          </p:spPr>
          <p:txBody>
            <a:bodyPr rtlCol="0" anchor="ctr"/>
            <a:lstStyle/>
            <a:p>
              <a:pPr algn="ctr"/>
            </a:p>
          </p:txBody>
        </p:sp>
        <p:sp>
          <p:nvSpPr>
            <p:cNvPr id="30" name="Chevron 29"/>
            <p:cNvSpPr/>
            <p:nvPr/>
          </p:nvSpPr>
          <p:spPr>
            <a:xfrm>
              <a:off x="6446520" y="4400550"/>
              <a:ext cx="160020" cy="251460"/>
            </a:xfrm>
            <a:prstGeom prst="chevron">
              <a:avLst/>
            </a:prstGeom>
            <a:solidFill>
              <a:srgbClr val="F28C28"/>
            </a:solidFill>
            <a:ln>
              <a:noFill/>
            </a:ln>
          </p:spPr>
          <p:txBody>
            <a:bodyPr rtlCol="0" anchor="ctr"/>
            <a:lstStyle/>
            <a:p>
              <a:pPr algn="ctr"/>
            </a:p>
          </p:txBody>
        </p:sp>
        <p:sp>
          <p:nvSpPr>
            <p:cNvPr id="31" name="TextBox 30"/>
            <p:cNvSpPr txBox="1"/>
            <p:nvPr/>
          </p:nvSpPr>
          <p:spPr>
            <a:xfrm>
              <a:off x="6720840" y="4133088"/>
              <a:ext cx="4809744" cy="384048"/>
            </a:xfrm>
            <a:prstGeom prst="rect">
              <a:avLst/>
            </a:prstGeom>
            <a:noFill/>
          </p:spPr>
          <p:txBody>
            <a:bodyPr wrap="square" lIns="0" tIns="0" rIns="0" bIns="0" anchor="ctr">
              <a:noAutofit/>
            </a:bodyPr>
            <a:lstStyle/>
            <a:p>
              <a:pPr algn="l"/>
              <a:r>
                <a:rPr sz="2000" b="0" i="0" lang="en-GB">
                  <a:solidFill>
                    <a:srgbClr val="F2F2F2"/>
                  </a:solidFill>
                  <a:latin typeface="Arial"/>
                </a:rPr>
                <a:t>Fastest class</a:t>
              </a:r>
            </a:p>
          </p:txBody>
        </p:sp>
        <p:sp>
          <p:nvSpPr>
            <p:cNvPr id="32" name="Inline chip Proposed"/>
            <p:cNvSpPr/>
            <p:nvPr/>
          </p:nvSpPr>
          <p:spPr>
            <a:xfrm>
              <a:off x="6720840" y="457200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33" name="Inline chip Undecided"/>
            <p:cNvSpPr/>
            <p:nvPr/>
          </p:nvSpPr>
          <p:spPr>
            <a:xfrm>
              <a:off x="8204192" y="457200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(OQ05)</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Medium has a tender and more range. It uses more coal and water. It may be the fastest class.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