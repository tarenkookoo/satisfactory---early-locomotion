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ommons.wikimedia.org/wiki/File:Semaphore_distant_signal_on_the_approach_to_Henley_in_Arden._-_geograph.org.uk_-_11867.jpg" TargetMode="External"/><Relationship Id="rId3" Type="http://schemas.openxmlformats.org/officeDocument/2006/relationships/hyperlink" Target="https://commons.wikimedia.org/wiki/File:Williton_Signal_Box_-_November_2014.jpg" TargetMode="External"/><Relationship Id="rId4" Type="http://schemas.openxmlformats.org/officeDocument/2006/relationships/hyperlink" Target="https://commons.wikimedia.org/wiki/File:Signalbox_workings,_Didcot_Railway_Centre_-_geograph.org.uk_-_658545.jpg" TargetMode="External"/><Relationship Id="rId5" Type="http://schemas.openxmlformats.org/officeDocument/2006/relationships/hyperlink" Target="https://commons.wikimedia.org/wiki/File:Williton_railway_station_MMB_10.jp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783080"/>
            <a:ext cx="6035040" cy="192024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5400" b="1" lang="en-GB">
                <a:solidFill>
                  <a:srgbClr val="F2F2F2"/>
                </a:solidFill>
                <a:latin typeface="Arial"/>
              </a:rPr>
              <a:t>Signals and Signal Boxes</a:t>
            </a:r>
          </a:p>
        </p:txBody>
      </p:sp>
      <p:sp>
        <p:nvSpPr>
          <p:cNvPr id="3" name="Series line"/>
          <p:cNvSpPr txBox="1"/>
          <p:nvPr/>
        </p:nvSpPr>
        <p:spPr>
          <a:xfrm>
            <a:off x="548640" y="1325880"/>
            <a:ext cx="585216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400" b="0" i="0" lang="en-GB">
                <a:solidFill>
                  <a:srgbClr val="A9B0B8"/>
                </a:solidFill>
                <a:latin typeface="Arial"/>
              </a:rPr>
              <a:t>Early Locomotion: a mod for Satisfactory</a:t>
            </a:r>
          </a:p>
        </p:txBody>
      </p:sp>
      <p:sp>
        <p:nvSpPr>
          <p:cNvPr id="4" name="Orange rule"/>
          <p:cNvSpPr/>
          <p:nvPr/>
        </p:nvSpPr>
        <p:spPr>
          <a:xfrm>
            <a:off x="548640" y="3840480"/>
            <a:ext cx="146304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ption"/>
          <p:cNvSpPr txBox="1"/>
          <p:nvPr/>
        </p:nvSpPr>
        <p:spPr>
          <a:xfrm>
            <a:off x="548640" y="4114800"/>
            <a:ext cx="566928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steam railways keep trains apart, and how the mod plans to do it.</a:t>
            </a:r>
          </a:p>
        </p:txBody>
      </p:sp>
      <p:pic>
        <p:nvPicPr>
          <p:cNvPr id="6" name="R03_semaphore_stop.jpg" descr="The mod's semaphore stop signal model with its arm flat (stop)."/>
          <p:cNvPicPr>
            <a:picLocks noChangeAspect="1"/>
          </p:cNvPicPr>
          <p:nvPr/>
        </p:nvPicPr>
        <p:blipFill>
          <a:blip r:embed="rId2"/>
          <a:srcRect l="20536" r="16802"/>
          <a:stretch>
            <a:fillRect/>
          </a:stretch>
        </p:blipFill>
        <p:spPr>
          <a:xfrm>
            <a:off x="6903720" y="411480"/>
            <a:ext cx="4736592" cy="5669280"/>
          </a:xfrm>
          <a:prstGeom prst="roundRect">
            <a:avLst>
              <a:gd name="adj" fmla="val 1544"/>
            </a:avLst>
          </a:prstGeom>
        </p:spPr>
      </p:pic>
      <p:sp>
        <p:nvSpPr>
          <p:cNvPr id="7" name="Credit"/>
          <p:cNvSpPr txBox="1"/>
          <p:nvPr/>
        </p:nvSpPr>
        <p:spPr>
          <a:xfrm>
            <a:off x="6903720" y="6144768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render. Blender model, not yet in the game.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Tag legend" descr="A legend of the five status tags and what each one means."/>
          <p:cNvGrpSpPr/>
          <p:nvPr/>
        </p:nvGrpSpPr>
        <p:grpSpPr>
          <a:xfrm>
            <a:off x="1463040" y="1417320"/>
            <a:ext cx="9235440" cy="4151376"/>
            <a:chOff x="1463040" y="1417320"/>
            <a:chExt cx="9235440" cy="4151376"/>
          </a:xfrm>
        </p:grpSpPr>
        <p:sp>
          <p:nvSpPr>
            <p:cNvPr id="4" name="Rounded Rectangle 3"/>
            <p:cNvSpPr/>
            <p:nvPr/>
          </p:nvSpPr>
          <p:spPr>
            <a:xfrm>
              <a:off x="1463040" y="141732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hip: Agreed" descr="Status tag: Agreed"/>
            <p:cNvSpPr/>
            <p:nvPr/>
          </p:nvSpPr>
          <p:spPr>
            <a:xfrm>
              <a:off x="1737360" y="157276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Meaning: Agreed"/>
            <p:cNvSpPr txBox="1"/>
            <p:nvPr/>
          </p:nvSpPr>
          <p:spPr>
            <a:xfrm>
              <a:off x="3474720" y="141732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463040" y="228600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ip: Proposed" descr="Status tag: Proposed"/>
            <p:cNvSpPr/>
            <p:nvPr/>
          </p:nvSpPr>
          <p:spPr>
            <a:xfrm>
              <a:off x="1737360" y="244144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Meaning: Proposed"/>
            <p:cNvSpPr txBox="1"/>
            <p:nvPr/>
          </p:nvSpPr>
          <p:spPr>
            <a:xfrm>
              <a:off x="3474720" y="228600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463040" y="315468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p: Provisional" descr="Status tag: Provisional"/>
            <p:cNvSpPr/>
            <p:nvPr/>
          </p:nvSpPr>
          <p:spPr>
            <a:xfrm>
              <a:off x="1737360" y="331012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Meaning: Provisional"/>
            <p:cNvSpPr txBox="1"/>
            <p:nvPr/>
          </p:nvSpPr>
          <p:spPr>
            <a:xfrm>
              <a:off x="3474720" y="315468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463040" y="402336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hip: Undecided" descr="Status tag: Undecided"/>
            <p:cNvSpPr/>
            <p:nvPr/>
          </p:nvSpPr>
          <p:spPr>
            <a:xfrm>
              <a:off x="1737360" y="4178808"/>
              <a:ext cx="1508760" cy="365760"/>
            </a:xfrm>
            <a:prstGeom prst="roundRect">
              <a:avLst>
                <a:gd name="adj" fmla="val 2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Meaning: Undecided"/>
            <p:cNvSpPr txBox="1"/>
            <p:nvPr/>
          </p:nvSpPr>
          <p:spPr>
            <a:xfrm>
              <a:off x="3474720" y="402336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63040" y="489204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hip: Background" descr="Status tag: Background"/>
            <p:cNvSpPr/>
            <p:nvPr/>
          </p:nvSpPr>
          <p:spPr>
            <a:xfrm>
              <a:off x="1737360" y="504748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Meaning: Background"/>
            <p:cNvSpPr txBox="1"/>
            <p:nvPr/>
          </p:nvSpPr>
          <p:spPr>
            <a:xfrm>
              <a:off x="3474720" y="489204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sp>
        <p:nvSpPr>
          <p:cNvPr id="1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problem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Why signals exist" descr="Top: two trains head towards each other with no warning. Bottom: a train needs a long distance to stop, much more than the driver can see."/>
          <p:cNvGrpSpPr/>
          <p:nvPr/>
        </p:nvGrpSpPr>
        <p:grpSpPr>
          <a:xfrm>
            <a:off x="548640" y="1280160"/>
            <a:ext cx="11091672" cy="4434840"/>
            <a:chOff x="548640" y="1280160"/>
            <a:chExt cx="11091672" cy="44348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280160"/>
              <a:ext cx="11091672" cy="2148840"/>
            </a:xfrm>
            <a:prstGeom prst="roundRect">
              <a:avLst>
                <a:gd name="adj" fmla="val 3404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3520440"/>
              <a:ext cx="11091672" cy="2194560"/>
            </a:xfrm>
            <a:prstGeom prst="roundRect">
              <a:avLst>
                <a:gd name="adj" fmla="val 3333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Track" descr="Two rails on sleepers."/>
            <p:cNvGrpSpPr/>
            <p:nvPr/>
          </p:nvGrpSpPr>
          <p:grpSpPr>
            <a:xfrm>
              <a:off x="731520" y="2688336"/>
              <a:ext cx="10698480" cy="365760"/>
              <a:chOff x="731520" y="2688336"/>
              <a:chExt cx="10698480" cy="36576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9326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2527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15727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18928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2128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25328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28529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1729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34930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38130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1330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44531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47731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0932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54132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7332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0533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3733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6934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0134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3334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76535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79735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2936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86136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89336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2537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95737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98938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2138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05338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108539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111739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731520" y="27432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731520" y="29992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43" name="Train" descr="A steam locomotive with wagons."/>
            <p:cNvGrpSpPr/>
            <p:nvPr/>
          </p:nvGrpSpPr>
          <p:grpSpPr>
            <a:xfrm>
              <a:off x="2651760" y="1920240"/>
              <a:ext cx="2523744" cy="923544"/>
              <a:chOff x="2651760" y="1920240"/>
              <a:chExt cx="2523744" cy="923544"/>
            </a:xfrm>
          </p:grpSpPr>
          <p:sp>
            <p:nvSpPr>
              <p:cNvPr id="44" name="Rounded Rectangle 43"/>
              <p:cNvSpPr/>
              <p:nvPr/>
            </p:nvSpPr>
            <p:spPr>
              <a:xfrm>
                <a:off x="2651760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2721254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313090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Rounded Rectangle 46"/>
              <p:cNvSpPr/>
              <p:nvPr/>
            </p:nvSpPr>
            <p:spPr>
              <a:xfrm>
                <a:off x="3456432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52592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3935578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ounded Rectangle 49"/>
              <p:cNvSpPr/>
              <p:nvPr/>
            </p:nvSpPr>
            <p:spPr>
              <a:xfrm>
                <a:off x="4261104" y="217627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4901184" y="192024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4306824" y="219456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434340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461772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489204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6" name="Train" descr="A steam locomotive with wagons."/>
            <p:cNvGrpSpPr/>
            <p:nvPr/>
          </p:nvGrpSpPr>
          <p:grpSpPr>
            <a:xfrm>
              <a:off x="7013448" y="1920240"/>
              <a:ext cx="2523744" cy="923544"/>
              <a:chOff x="7013448" y="1920240"/>
              <a:chExt cx="2523744" cy="923544"/>
            </a:xfrm>
          </p:grpSpPr>
          <p:sp>
            <p:nvSpPr>
              <p:cNvPr id="57" name="Rounded Rectangle 56"/>
              <p:cNvSpPr/>
              <p:nvPr/>
            </p:nvSpPr>
            <p:spPr>
              <a:xfrm>
                <a:off x="8001000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8070494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848014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Rounded Rectangle 59"/>
              <p:cNvSpPr/>
              <p:nvPr/>
            </p:nvSpPr>
            <p:spPr>
              <a:xfrm>
                <a:off x="8805672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Oval 60"/>
              <p:cNvSpPr/>
              <p:nvPr/>
            </p:nvSpPr>
            <p:spPr>
              <a:xfrm>
                <a:off x="887516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9284818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Rounded Rectangle 62"/>
              <p:cNvSpPr/>
              <p:nvPr/>
            </p:nvSpPr>
            <p:spPr>
              <a:xfrm>
                <a:off x="7013448" y="217627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Rectangle 63"/>
              <p:cNvSpPr/>
              <p:nvPr/>
            </p:nvSpPr>
            <p:spPr>
              <a:xfrm>
                <a:off x="7150608" y="192024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Rectangle 64"/>
              <p:cNvSpPr/>
              <p:nvPr/>
            </p:nvSpPr>
            <p:spPr>
              <a:xfrm>
                <a:off x="7626096" y="219456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709574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737006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764438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9" name="Rectangle 68"/>
            <p:cNvSpPr/>
            <p:nvPr/>
          </p:nvSpPr>
          <p:spPr>
            <a:xfrm rot="2700000">
              <a:off x="5687568" y="2331720"/>
              <a:ext cx="822960" cy="12801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 rot="18900000">
              <a:off x="5687568" y="2331720"/>
              <a:ext cx="822960" cy="12801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270248" y="1371600"/>
              <a:ext cx="36576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No warning: crash</a:t>
              </a:r>
            </a:p>
          </p:txBody>
        </p:sp>
        <p:grpSp>
          <p:nvGrpSpPr>
            <p:cNvPr id="72" name="Track" descr="Two rails on sleepers."/>
            <p:cNvGrpSpPr/>
            <p:nvPr/>
          </p:nvGrpSpPr>
          <p:grpSpPr>
            <a:xfrm>
              <a:off x="731520" y="5020056"/>
              <a:ext cx="10698480" cy="365760"/>
              <a:chOff x="731520" y="5020056"/>
              <a:chExt cx="10698480" cy="365760"/>
            </a:xfrm>
          </p:grpSpPr>
          <p:sp>
            <p:nvSpPr>
              <p:cNvPr id="73" name="Rectangle 72"/>
              <p:cNvSpPr/>
              <p:nvPr/>
            </p:nvSpPr>
            <p:spPr>
              <a:xfrm>
                <a:off x="9326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Rectangle 73"/>
              <p:cNvSpPr/>
              <p:nvPr/>
            </p:nvSpPr>
            <p:spPr>
              <a:xfrm>
                <a:off x="12527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Rectangle 74"/>
              <p:cNvSpPr/>
              <p:nvPr/>
            </p:nvSpPr>
            <p:spPr>
              <a:xfrm>
                <a:off x="15727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8928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22128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8" name="Rectangle 77"/>
              <p:cNvSpPr/>
              <p:nvPr/>
            </p:nvSpPr>
            <p:spPr>
              <a:xfrm>
                <a:off x="25328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529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729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Rectangle 80"/>
              <p:cNvSpPr/>
              <p:nvPr/>
            </p:nvSpPr>
            <p:spPr>
              <a:xfrm>
                <a:off x="34930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Rectangle 81"/>
              <p:cNvSpPr/>
              <p:nvPr/>
            </p:nvSpPr>
            <p:spPr>
              <a:xfrm>
                <a:off x="38130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3" name="Rectangle 82"/>
              <p:cNvSpPr/>
              <p:nvPr/>
            </p:nvSpPr>
            <p:spPr>
              <a:xfrm>
                <a:off x="41330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Rectangle 83"/>
              <p:cNvSpPr/>
              <p:nvPr/>
            </p:nvSpPr>
            <p:spPr>
              <a:xfrm>
                <a:off x="44531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47731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50932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Rectangle 86"/>
              <p:cNvSpPr/>
              <p:nvPr/>
            </p:nvSpPr>
            <p:spPr>
              <a:xfrm>
                <a:off x="54132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Rectangle 87"/>
              <p:cNvSpPr/>
              <p:nvPr/>
            </p:nvSpPr>
            <p:spPr>
              <a:xfrm>
                <a:off x="57332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60533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63733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66934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70134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73334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6535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79735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82936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7" name="Rectangle 96"/>
              <p:cNvSpPr/>
              <p:nvPr/>
            </p:nvSpPr>
            <p:spPr>
              <a:xfrm>
                <a:off x="86136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8" name="Rectangle 97"/>
              <p:cNvSpPr/>
              <p:nvPr/>
            </p:nvSpPr>
            <p:spPr>
              <a:xfrm>
                <a:off x="89336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9" name="Rectangle 98"/>
              <p:cNvSpPr/>
              <p:nvPr/>
            </p:nvSpPr>
            <p:spPr>
              <a:xfrm>
                <a:off x="92537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0" name="Rectangle 99"/>
              <p:cNvSpPr/>
              <p:nvPr/>
            </p:nvSpPr>
            <p:spPr>
              <a:xfrm>
                <a:off x="95737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1" name="Rectangle 100"/>
              <p:cNvSpPr/>
              <p:nvPr/>
            </p:nvSpPr>
            <p:spPr>
              <a:xfrm>
                <a:off x="98938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2" name="Rectangle 101"/>
              <p:cNvSpPr/>
              <p:nvPr/>
            </p:nvSpPr>
            <p:spPr>
              <a:xfrm>
                <a:off x="102138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3" name="Rectangle 102"/>
              <p:cNvSpPr/>
              <p:nvPr/>
            </p:nvSpPr>
            <p:spPr>
              <a:xfrm>
                <a:off x="105338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4" name="Rectangle 103"/>
              <p:cNvSpPr/>
              <p:nvPr/>
            </p:nvSpPr>
            <p:spPr>
              <a:xfrm>
                <a:off x="108539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111739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731520" y="507492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7" name="Rectangle 106"/>
              <p:cNvSpPr/>
              <p:nvPr/>
            </p:nvSpPr>
            <p:spPr>
              <a:xfrm>
                <a:off x="731520" y="533095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08" name="Train" descr="A steam locomotive with wagons."/>
            <p:cNvGrpSpPr/>
            <p:nvPr/>
          </p:nvGrpSpPr>
          <p:grpSpPr>
            <a:xfrm>
              <a:off x="822960" y="4251960"/>
              <a:ext cx="2523744" cy="923544"/>
              <a:chOff x="822960" y="4251960"/>
              <a:chExt cx="2523744" cy="923544"/>
            </a:xfrm>
          </p:grpSpPr>
          <p:sp>
            <p:nvSpPr>
              <p:cNvPr id="109" name="Rounded Rectangle 108"/>
              <p:cNvSpPr/>
              <p:nvPr/>
            </p:nvSpPr>
            <p:spPr>
              <a:xfrm>
                <a:off x="822960" y="459943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0" name="Oval 109"/>
              <p:cNvSpPr/>
              <p:nvPr/>
            </p:nvSpPr>
            <p:spPr>
              <a:xfrm>
                <a:off x="892454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1" name="Oval 110"/>
              <p:cNvSpPr/>
              <p:nvPr/>
            </p:nvSpPr>
            <p:spPr>
              <a:xfrm>
                <a:off x="1302106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2" name="Rounded Rectangle 111"/>
              <p:cNvSpPr/>
              <p:nvPr/>
            </p:nvSpPr>
            <p:spPr>
              <a:xfrm>
                <a:off x="1627632" y="459943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3" name="Oval 112"/>
              <p:cNvSpPr/>
              <p:nvPr/>
            </p:nvSpPr>
            <p:spPr>
              <a:xfrm>
                <a:off x="1697126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4" name="Oval 113"/>
              <p:cNvSpPr/>
              <p:nvPr/>
            </p:nvSpPr>
            <p:spPr>
              <a:xfrm>
                <a:off x="2106778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5" name="Rounded Rectangle 114"/>
              <p:cNvSpPr/>
              <p:nvPr/>
            </p:nvSpPr>
            <p:spPr>
              <a:xfrm>
                <a:off x="2432304" y="450799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6" name="Rectangle 115"/>
              <p:cNvSpPr/>
              <p:nvPr/>
            </p:nvSpPr>
            <p:spPr>
              <a:xfrm>
                <a:off x="3072384" y="425196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7" name="Rectangle 116"/>
              <p:cNvSpPr/>
              <p:nvPr/>
            </p:nvSpPr>
            <p:spPr>
              <a:xfrm>
                <a:off x="2478024" y="452628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8" name="Oval 117"/>
              <p:cNvSpPr/>
              <p:nvPr/>
            </p:nvSpPr>
            <p:spPr>
              <a:xfrm>
                <a:off x="251460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9" name="Oval 118"/>
              <p:cNvSpPr/>
              <p:nvPr/>
            </p:nvSpPr>
            <p:spPr>
              <a:xfrm>
                <a:off x="278892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0" name="Oval 119"/>
              <p:cNvSpPr/>
              <p:nvPr/>
            </p:nvSpPr>
            <p:spPr>
              <a:xfrm>
                <a:off x="306324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21" name="TextBox 120"/>
            <p:cNvSpPr txBox="1"/>
            <p:nvPr/>
          </p:nvSpPr>
          <p:spPr>
            <a:xfrm>
              <a:off x="3346704" y="3611880"/>
              <a:ext cx="60350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Long stopping distance</a:t>
              </a:r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3346704" y="4023360"/>
              <a:ext cx="6071616" cy="164592"/>
            </a:xfrm>
            <a:prstGeom prst="roundRect">
              <a:avLst>
                <a:gd name="adj" fmla="val 27777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3346704" y="4297680"/>
              <a:ext cx="2331720" cy="164592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5815584" y="4206240"/>
              <a:ext cx="411480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How far the driver can see</a:t>
              </a:r>
            </a:p>
          </p:txBody>
        </p:sp>
        <p:cxnSp>
          <p:nvCxnSpPr>
            <p:cNvPr id="125" name="Connector 124"/>
            <p:cNvCxnSpPr/>
            <p:nvPr/>
          </p:nvCxnSpPr>
          <p:spPr>
            <a:xfrm>
              <a:off x="9418320" y="3931920"/>
              <a:ext cx="0" cy="1645920"/>
            </a:xfrm>
            <a:prstGeom prst="line">
              <a:avLst/>
            </a:prstGeom>
            <a:ln w="25400">
              <a:solidFill>
                <a:srgbClr val="F2F2F2"/>
              </a:solidFill>
              <a:prstDash val="dash"/>
            </a:ln>
          </p:spPr>
        </p:cxnSp>
      </p:grpSp>
      <p:sp>
        <p:nvSpPr>
          <p:cNvPr id="12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Trains cannot swerve. They need a long way to stop. Signals keep them apart.</a:t>
            </a:r>
          </a:p>
        </p:txBody>
      </p:sp>
      <p:sp>
        <p:nvSpPr>
          <p:cNvPr id="12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Blocks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Track split into blocks" descr="A straight track split into four blocks, A to D. One train sits in block B, so B is occupied and the other three are free."/>
          <p:cNvGrpSpPr/>
          <p:nvPr/>
        </p:nvGrpSpPr>
        <p:grpSpPr>
          <a:xfrm>
            <a:off x="731520" y="2267712"/>
            <a:ext cx="10698480" cy="2395728"/>
            <a:chOff x="731520" y="2267712"/>
            <a:chExt cx="10698480" cy="2395728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374136"/>
              <a:ext cx="10698480" cy="365760"/>
              <a:chOff x="731520" y="33741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429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685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41" name="Connector 40"/>
            <p:cNvCxnSpPr/>
            <p:nvPr/>
          </p:nvCxnSpPr>
          <p:spPr>
            <a:xfrm>
              <a:off x="33832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cxnSp>
          <p:nvCxnSpPr>
            <p:cNvPr id="42" name="Connector 41"/>
            <p:cNvCxnSpPr/>
            <p:nvPr/>
          </p:nvCxnSpPr>
          <p:spPr>
            <a:xfrm>
              <a:off x="61264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cxnSp>
          <p:nvCxnSpPr>
            <p:cNvPr id="43" name="Connector 42"/>
            <p:cNvCxnSpPr/>
            <p:nvPr/>
          </p:nvCxnSpPr>
          <p:spPr>
            <a:xfrm>
              <a:off x="88696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grpSp>
          <p:nvGrpSpPr>
            <p:cNvPr id="44" name="Train" descr="A steam locomotive with wagons."/>
            <p:cNvGrpSpPr/>
            <p:nvPr/>
          </p:nvGrpSpPr>
          <p:grpSpPr>
            <a:xfrm>
              <a:off x="3703320" y="2713025"/>
              <a:ext cx="2195657" cy="803483"/>
              <a:chOff x="3703320" y="2713025"/>
              <a:chExt cx="2195657" cy="803483"/>
            </a:xfrm>
          </p:grpSpPr>
          <p:sp>
            <p:nvSpPr>
              <p:cNvPr id="45" name="Rounded Rectangle 44"/>
              <p:cNvSpPr/>
              <p:nvPr/>
            </p:nvSpPr>
            <p:spPr>
              <a:xfrm>
                <a:off x="3703320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3763780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120177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ounded Rectangle 47"/>
              <p:cNvSpPr/>
              <p:nvPr/>
            </p:nvSpPr>
            <p:spPr>
              <a:xfrm>
                <a:off x="4403385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463845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4820241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ounded Rectangle 50"/>
              <p:cNvSpPr/>
              <p:nvPr/>
            </p:nvSpPr>
            <p:spPr>
              <a:xfrm>
                <a:off x="5103449" y="2935773"/>
                <a:ext cx="795528" cy="437540"/>
              </a:xfrm>
              <a:prstGeom prst="roundRect">
                <a:avLst>
                  <a:gd name="adj" fmla="val 16718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5660319" y="2713025"/>
                <a:ext cx="119329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5143226" y="2951683"/>
                <a:ext cx="222748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175047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5413705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652364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7" name="Dimension line" descr="A dimension line labelled One block."/>
            <p:cNvGrpSpPr/>
            <p:nvPr/>
          </p:nvGrpSpPr>
          <p:grpSpPr>
            <a:xfrm>
              <a:off x="6126480" y="2267712"/>
              <a:ext cx="2743200" cy="493776"/>
              <a:chOff x="6126480" y="2267712"/>
              <a:chExt cx="2743200" cy="493776"/>
            </a:xfrm>
          </p:grpSpPr>
          <p:cxnSp>
            <p:nvCxnSpPr>
              <p:cNvPr id="58" name="Connector 57"/>
              <p:cNvCxnSpPr/>
              <p:nvPr/>
            </p:nvCxnSpPr>
            <p:spPr>
              <a:xfrm>
                <a:off x="6126480" y="2651760"/>
                <a:ext cx="2743200" cy="0"/>
              </a:xfrm>
              <a:prstGeom prst="line">
                <a:avLst/>
              </a:prstGeom>
              <a:ln w="19050">
                <a:solidFill>
                  <a:srgbClr val="9AA0A6"/>
                </a:solidFill>
                <a:headEnd type="triangle" w="med" len="med"/>
                <a:tailEnd type="triangle" w="med" len="med"/>
              </a:ln>
            </p:spPr>
          </p:cxnSp>
          <p:cxnSp>
            <p:nvCxnSpPr>
              <p:cNvPr id="59" name="Connector 58"/>
              <p:cNvCxnSpPr/>
              <p:nvPr/>
            </p:nvCxnSpPr>
            <p:spPr>
              <a:xfrm>
                <a:off x="6126480" y="254203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cxnSp>
            <p:nvCxnSpPr>
              <p:cNvPr id="60" name="Connector 59"/>
              <p:cNvCxnSpPr/>
              <p:nvPr/>
            </p:nvCxnSpPr>
            <p:spPr>
              <a:xfrm>
                <a:off x="8869680" y="254203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sp>
            <p:nvSpPr>
              <p:cNvPr id="61" name="TextBox 60"/>
              <p:cNvSpPr txBox="1"/>
              <p:nvPr/>
            </p:nvSpPr>
            <p:spPr>
              <a:xfrm>
                <a:off x="6126480" y="2267712"/>
                <a:ext cx="2743200" cy="292608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ctr"/>
                <a:r>
                  <a:rPr sz="1600" b="1" i="0" lang="en-GB">
                    <a:solidFill>
                      <a:srgbClr val="F2F2F2"/>
                    </a:solidFill>
                    <a:latin typeface="Arial"/>
                  </a:rPr>
                  <a:t>One block</a:t>
                </a:r>
              </a:p>
            </p:txBody>
          </p:sp>
        </p:grpSp>
        <p:sp>
          <p:nvSpPr>
            <p:cNvPr id="62" name="Block band (free)"/>
            <p:cNvSpPr/>
            <p:nvPr/>
          </p:nvSpPr>
          <p:spPr>
            <a:xfrm>
              <a:off x="768096" y="4069080"/>
              <a:ext cx="25786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A: Free</a:t>
              </a:r>
            </a:p>
          </p:txBody>
        </p:sp>
        <p:sp>
          <p:nvSpPr>
            <p:cNvPr id="63" name="Block band (occupied)"/>
            <p:cNvSpPr/>
            <p:nvPr/>
          </p:nvSpPr>
          <p:spPr>
            <a:xfrm>
              <a:off x="3419856" y="4069080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B: Occupied</a:t>
              </a:r>
            </a:p>
          </p:txBody>
        </p:sp>
        <p:sp>
          <p:nvSpPr>
            <p:cNvPr id="64" name="Block band (free)"/>
            <p:cNvSpPr/>
            <p:nvPr/>
          </p:nvSpPr>
          <p:spPr>
            <a:xfrm>
              <a:off x="6163056" y="4069080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C: Free</a:t>
              </a:r>
            </a:p>
          </p:txBody>
        </p:sp>
        <p:sp>
          <p:nvSpPr>
            <p:cNvPr id="65" name="Block band (free)"/>
            <p:cNvSpPr/>
            <p:nvPr/>
          </p:nvSpPr>
          <p:spPr>
            <a:xfrm>
              <a:off x="8906256" y="4069080"/>
              <a:ext cx="248716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D: Free</a:t>
              </a:r>
            </a:p>
          </p:txBody>
        </p:sp>
      </p:grpSp>
      <p:sp>
        <p:nvSpPr>
          <p:cNvPr id="6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Split the track into blocks. Keep one train in each block.</a:t>
            </a:r>
          </a:p>
        </p:txBody>
      </p:sp>
      <p:sp>
        <p:nvSpPr>
          <p:cNvPr id="6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Signals guard the blocks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Blocks and signals" descr="Four blocks, A to D, with three signals. The signal before occupied block B shows stop; the other two show clear. A second train in block A waits."/>
          <p:cNvGrpSpPr/>
          <p:nvPr/>
        </p:nvGrpSpPr>
        <p:grpSpPr>
          <a:xfrm>
            <a:off x="731520" y="1828800"/>
            <a:ext cx="10698480" cy="3657600"/>
            <a:chOff x="731520" y="1828800"/>
            <a:chExt cx="10698480" cy="365760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374136"/>
              <a:ext cx="10698480" cy="365760"/>
              <a:chOff x="731520" y="33741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429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685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069080"/>
              <a:ext cx="25786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A: 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3419856" y="4069080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B: Occupied</a:t>
              </a:r>
            </a:p>
          </p:txBody>
        </p:sp>
        <p:sp>
          <p:nvSpPr>
            <p:cNvPr id="43" name="Block band (free)"/>
            <p:cNvSpPr/>
            <p:nvPr/>
          </p:nvSpPr>
          <p:spPr>
            <a:xfrm>
              <a:off x="6163056" y="4069080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C: Free</a:t>
              </a:r>
            </a:p>
          </p:txBody>
        </p:sp>
        <p:sp>
          <p:nvSpPr>
            <p:cNvPr id="44" name="Block band (free)"/>
            <p:cNvSpPr/>
            <p:nvPr/>
          </p:nvSpPr>
          <p:spPr>
            <a:xfrm>
              <a:off x="8906256" y="4069080"/>
              <a:ext cx="248716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D: Free</a:t>
              </a:r>
            </a:p>
          </p:txBody>
        </p:sp>
        <p:grpSp>
          <p:nvGrpSpPr>
            <p:cNvPr id="45" name="Train" descr="A steam locomotive with wagons."/>
            <p:cNvGrpSpPr/>
            <p:nvPr/>
          </p:nvGrpSpPr>
          <p:grpSpPr>
            <a:xfrm>
              <a:off x="3749040" y="2713025"/>
              <a:ext cx="2195657" cy="803483"/>
              <a:chOff x="3749040" y="2713025"/>
              <a:chExt cx="2195657" cy="803483"/>
            </a:xfrm>
          </p:grpSpPr>
          <p:sp>
            <p:nvSpPr>
              <p:cNvPr id="46" name="Rounded Rectangle 45"/>
              <p:cNvSpPr/>
              <p:nvPr/>
            </p:nvSpPr>
            <p:spPr>
              <a:xfrm>
                <a:off x="3749040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3809500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165897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Rounded Rectangle 48"/>
              <p:cNvSpPr/>
              <p:nvPr/>
            </p:nvSpPr>
            <p:spPr>
              <a:xfrm>
                <a:off x="4449105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4509565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4865961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ounded Rectangle 51"/>
              <p:cNvSpPr/>
              <p:nvPr/>
            </p:nvSpPr>
            <p:spPr>
              <a:xfrm>
                <a:off x="5149169" y="2935773"/>
                <a:ext cx="795528" cy="437540"/>
              </a:xfrm>
              <a:prstGeom prst="roundRect">
                <a:avLst>
                  <a:gd name="adj" fmla="val 16718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5706039" y="2713025"/>
                <a:ext cx="119329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5188946" y="2951683"/>
                <a:ext cx="222748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5220767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459425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5698084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8" name="Train" descr="A steam locomotive with wagons."/>
            <p:cNvGrpSpPr/>
            <p:nvPr/>
          </p:nvGrpSpPr>
          <p:grpSpPr>
            <a:xfrm>
              <a:off x="1005840" y="2852928"/>
              <a:ext cx="1766621" cy="646481"/>
              <a:chOff x="1005840" y="2852928"/>
              <a:chExt cx="1766621" cy="646481"/>
            </a:xfrm>
          </p:grpSpPr>
          <p:sp>
            <p:nvSpPr>
              <p:cNvPr id="59" name="Rounded Rectangle 58"/>
              <p:cNvSpPr/>
              <p:nvPr/>
            </p:nvSpPr>
            <p:spPr>
              <a:xfrm>
                <a:off x="1005840" y="3096158"/>
                <a:ext cx="512064" cy="288036"/>
              </a:xfrm>
              <a:prstGeom prst="roundRect">
                <a:avLst>
                  <a:gd name="adj" fmla="val 952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Oval 59"/>
              <p:cNvSpPr/>
              <p:nvPr/>
            </p:nvSpPr>
            <p:spPr>
              <a:xfrm>
                <a:off x="1054486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Oval 60"/>
              <p:cNvSpPr/>
              <p:nvPr/>
            </p:nvSpPr>
            <p:spPr>
              <a:xfrm>
                <a:off x="1341242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Rounded Rectangle 61"/>
              <p:cNvSpPr/>
              <p:nvPr/>
            </p:nvSpPr>
            <p:spPr>
              <a:xfrm>
                <a:off x="1569110" y="3096158"/>
                <a:ext cx="512064" cy="288036"/>
              </a:xfrm>
              <a:prstGeom prst="roundRect">
                <a:avLst>
                  <a:gd name="adj" fmla="val 952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617756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1904512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Rounded Rectangle 64"/>
              <p:cNvSpPr/>
              <p:nvPr/>
            </p:nvSpPr>
            <p:spPr>
              <a:xfrm>
                <a:off x="2132381" y="3032150"/>
                <a:ext cx="640080" cy="352044"/>
              </a:xfrm>
              <a:prstGeom prst="roundRect">
                <a:avLst>
                  <a:gd name="adj" fmla="val 20779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2580437" y="2852928"/>
                <a:ext cx="96012" cy="19202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Rectangle 66"/>
              <p:cNvSpPr/>
              <p:nvPr/>
            </p:nvSpPr>
            <p:spPr>
              <a:xfrm>
                <a:off x="2164385" y="3044952"/>
                <a:ext cx="179222" cy="19202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2189988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2382012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2574036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1" name="Signal (stop, stop)" descr="A semaphore signal post with its arm flat (stop)."/>
            <p:cNvGrpSpPr/>
            <p:nvPr/>
          </p:nvGrpSpPr>
          <p:grpSpPr>
            <a:xfrm>
              <a:off x="3113532" y="2734056"/>
              <a:ext cx="909828" cy="1005840"/>
              <a:chOff x="3113532" y="2734056"/>
              <a:chExt cx="909828" cy="1005840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32461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33284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Freeform 73"/>
              <p:cNvSpPr/>
              <p:nvPr/>
            </p:nvSpPr>
            <p:spPr>
              <a:xfrm>
                <a:off x="3383280" y="2761488"/>
                <a:ext cx="640080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640080" h="128016">
                    <a:moveTo>
                      <a:pt x="0" y="0"/>
                    </a:moveTo>
                    <a:lnTo>
                      <a:pt x="640080" y="0"/>
                    </a:lnTo>
                    <a:lnTo>
                      <a:pt x="640080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3703320" y="2761488"/>
                <a:ext cx="100584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100584" h="128016">
                    <a:moveTo>
                      <a:pt x="0" y="0"/>
                    </a:moveTo>
                    <a:lnTo>
                      <a:pt x="100584" y="0"/>
                    </a:lnTo>
                    <a:lnTo>
                      <a:pt x="100584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33375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3113532" y="2738628"/>
                <a:ext cx="173736" cy="17373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78" name="TextBox 77"/>
            <p:cNvSpPr txBox="1"/>
            <p:nvPr/>
          </p:nvSpPr>
          <p:spPr>
            <a:xfrm>
              <a:off x="27432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grpSp>
          <p:nvGrpSpPr>
            <p:cNvPr id="79" name="Signal (stop, clear)" descr="A semaphore signal post with its arm raised (clear)."/>
            <p:cNvGrpSpPr/>
            <p:nvPr/>
          </p:nvGrpSpPr>
          <p:grpSpPr>
            <a:xfrm>
              <a:off x="5856732" y="2327631"/>
              <a:ext cx="767613" cy="1412265"/>
              <a:chOff x="5856732" y="2327631"/>
              <a:chExt cx="767613" cy="1412265"/>
            </a:xfrm>
          </p:grpSpPr>
          <p:sp>
            <p:nvSpPr>
              <p:cNvPr id="80" name="Rectangle 79"/>
              <p:cNvSpPr/>
              <p:nvPr/>
            </p:nvSpPr>
            <p:spPr>
              <a:xfrm>
                <a:off x="59893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Rectangle 80"/>
              <p:cNvSpPr/>
              <p:nvPr/>
            </p:nvSpPr>
            <p:spPr>
              <a:xfrm>
                <a:off x="60716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Freeform 81"/>
              <p:cNvSpPr/>
              <p:nvPr/>
            </p:nvSpPr>
            <p:spPr>
              <a:xfrm>
                <a:off x="6081220" y="23276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3" name="Freeform 82"/>
              <p:cNvSpPr/>
              <p:nvPr/>
            </p:nvSpPr>
            <p:spPr>
              <a:xfrm>
                <a:off x="6307522" y="24828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Oval 83"/>
              <p:cNvSpPr/>
              <p:nvPr/>
            </p:nvSpPr>
            <p:spPr>
              <a:xfrm>
                <a:off x="60807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Oval 84"/>
              <p:cNvSpPr/>
              <p:nvPr/>
            </p:nvSpPr>
            <p:spPr>
              <a:xfrm>
                <a:off x="5856732" y="27386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6" name="TextBox 85"/>
            <p:cNvSpPr txBox="1"/>
            <p:nvPr/>
          </p:nvSpPr>
          <p:spPr>
            <a:xfrm>
              <a:off x="54864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grpSp>
          <p:nvGrpSpPr>
            <p:cNvPr id="87" name="Signal (stop, clear)" descr="A semaphore signal post with its arm raised (clear)."/>
            <p:cNvGrpSpPr/>
            <p:nvPr/>
          </p:nvGrpSpPr>
          <p:grpSpPr>
            <a:xfrm>
              <a:off x="8599932" y="2327631"/>
              <a:ext cx="767613" cy="1412265"/>
              <a:chOff x="8599932" y="2327631"/>
              <a:chExt cx="767613" cy="1412265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87325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88148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0" name="Freeform 89"/>
              <p:cNvSpPr/>
              <p:nvPr/>
            </p:nvSpPr>
            <p:spPr>
              <a:xfrm>
                <a:off x="8824420" y="23276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1" name="Freeform 90"/>
              <p:cNvSpPr/>
              <p:nvPr/>
            </p:nvSpPr>
            <p:spPr>
              <a:xfrm>
                <a:off x="9050722" y="24828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2" name="Oval 91"/>
              <p:cNvSpPr/>
              <p:nvPr/>
            </p:nvSpPr>
            <p:spPr>
              <a:xfrm>
                <a:off x="88239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Oval 92"/>
              <p:cNvSpPr/>
              <p:nvPr/>
            </p:nvSpPr>
            <p:spPr>
              <a:xfrm>
                <a:off x="8599932" y="27386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94" name="TextBox 93"/>
            <p:cNvSpPr txBox="1"/>
            <p:nvPr/>
          </p:nvSpPr>
          <p:spPr>
            <a:xfrm>
              <a:off x="82296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828800" y="22860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Waits</a:t>
              </a:r>
            </a:p>
          </p:txBody>
        </p:sp>
        <p:cxnSp>
          <p:nvCxnSpPr>
            <p:cNvPr id="96" name="Connector 95"/>
            <p:cNvCxnSpPr/>
            <p:nvPr/>
          </p:nvCxnSpPr>
          <p:spPr>
            <a:xfrm>
              <a:off x="2468880" y="2670048"/>
              <a:ext cx="0" cy="256032"/>
            </a:xfrm>
            <a:prstGeom prst="line">
              <a:avLst/>
            </a:prstGeom>
            <a:ln w="28575">
              <a:solidFill>
                <a:srgbClr val="F2C14E"/>
              </a:solidFill>
              <a:tailEnd type="triangle" w="med" len="med"/>
            </a:ln>
          </p:spPr>
        </p:cxnSp>
        <p:sp>
          <p:nvSpPr>
            <p:cNvPr id="97" name="Legend"/>
            <p:cNvSpPr/>
            <p:nvPr/>
          </p:nvSpPr>
          <p:spPr>
            <a:xfrm>
              <a:off x="731520" y="5029200"/>
              <a:ext cx="4754880" cy="457200"/>
            </a:xfrm>
            <a:prstGeom prst="roundRect">
              <a:avLst>
                <a:gd name="adj" fmla="val 160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 wrap="square" lIns="137160" tIns="0" bIns="0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Arm flat = stop. Arm raised = go.</a:t>
              </a:r>
            </a:p>
          </p:txBody>
        </p:sp>
      </p:grpSp>
      <p:sp>
        <p:nvSpPr>
          <p:cNvPr id="98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at the start of each block says stop or go.</a:t>
            </a:r>
          </a:p>
        </p:txBody>
      </p:sp>
      <p:sp>
        <p:nvSpPr>
          <p:cNvPr id="99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 semaphore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Semaphore parts" descr="A large semaphore signal with its arm flat. Labels point to the post, arm, pivot, lamp and wire. Two small copies show the stop and clear positions."/>
          <p:cNvGrpSpPr/>
          <p:nvPr/>
        </p:nvGrpSpPr>
        <p:grpSpPr>
          <a:xfrm>
            <a:off x="822960" y="1463040"/>
            <a:ext cx="10817352" cy="3447288"/>
            <a:chOff x="822960" y="1463040"/>
            <a:chExt cx="10817352" cy="3447288"/>
          </a:xfrm>
        </p:grpSpPr>
        <p:cxnSp>
          <p:nvCxnSpPr>
            <p:cNvPr id="5" name="Connector 4"/>
            <p:cNvCxnSpPr/>
            <p:nvPr/>
          </p:nvCxnSpPr>
          <p:spPr>
            <a:xfrm>
              <a:off x="822960" y="4910328"/>
              <a:ext cx="676656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grpSp>
          <p:nvGrpSpPr>
            <p:cNvPr id="6" name="Large signal" descr="A semaphore signal post with its arm flat (stop)."/>
            <p:cNvGrpSpPr/>
            <p:nvPr/>
          </p:nvGrpSpPr>
          <p:grpSpPr>
            <a:xfrm>
              <a:off x="2814523" y="1691640"/>
              <a:ext cx="2891333" cy="3218688"/>
              <a:chOff x="2814523" y="1691640"/>
              <a:chExt cx="2891333" cy="3218688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3218688" y="4676242"/>
                <a:ext cx="877824" cy="234086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3482035" y="1691640"/>
                <a:ext cx="351130" cy="298460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3657600" y="1779422"/>
                <a:ext cx="2048256" cy="409652"/>
              </a:xfrm>
              <a:custGeom>
                <a:avLst/>
                <a:gdLst/>
                <a:ahLst/>
                <a:cxnLst/>
                <a:rect l="l" t="t" r="r" b="b"/>
                <a:pathLst>
                  <a:path w="2048256" h="409652">
                    <a:moveTo>
                      <a:pt x="0" y="0"/>
                    </a:moveTo>
                    <a:lnTo>
                      <a:pt x="2048256" y="0"/>
                    </a:lnTo>
                    <a:lnTo>
                      <a:pt x="2048256" y="409652"/>
                    </a:lnTo>
                    <a:lnTo>
                      <a:pt x="0" y="409652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4681728" y="1779422"/>
                <a:ext cx="321869" cy="409652"/>
              </a:xfrm>
              <a:custGeom>
                <a:avLst/>
                <a:gdLst/>
                <a:ahLst/>
                <a:cxnLst/>
                <a:rect l="l" t="t" r="r" b="b"/>
                <a:pathLst>
                  <a:path w="321869" h="409652">
                    <a:moveTo>
                      <a:pt x="0" y="0"/>
                    </a:moveTo>
                    <a:lnTo>
                      <a:pt x="321869" y="0"/>
                    </a:lnTo>
                    <a:lnTo>
                      <a:pt x="321869" y="409652"/>
                    </a:lnTo>
                    <a:lnTo>
                      <a:pt x="0" y="40965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Oval 10"/>
              <p:cNvSpPr/>
              <p:nvPr/>
            </p:nvSpPr>
            <p:spPr>
              <a:xfrm>
                <a:off x="3541471" y="1868119"/>
                <a:ext cx="232258" cy="23225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2814523" y="1726387"/>
                <a:ext cx="515722" cy="515722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3" name="Wire"/>
            <p:cNvSpPr/>
            <p:nvPr/>
          </p:nvSpPr>
          <p:spPr>
            <a:xfrm>
              <a:off x="5120640" y="2189074"/>
              <a:ext cx="2377440" cy="2565806"/>
            </a:xfrm>
            <a:custGeom>
              <a:avLst/>
              <a:gdLst/>
              <a:ahLst/>
              <a:cxnLst/>
              <a:rect l="l" t="t" r="r" b="b"/>
              <a:pathLst>
                <a:path w="2377440" h="2565806">
                  <a:moveTo>
                    <a:pt x="0" y="0"/>
                  </a:moveTo>
                  <a:lnTo>
                    <a:pt x="0" y="2565806"/>
                  </a:lnTo>
                  <a:lnTo>
                    <a:pt x="2377440" y="2565806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4" name="Callout: Lamp" descr="A label, Lamp, with a leader line to the part it names."/>
            <p:cNvGrpSpPr/>
            <p:nvPr/>
          </p:nvGrpSpPr>
          <p:grpSpPr>
            <a:xfrm>
              <a:off x="914400" y="1801368"/>
              <a:ext cx="1956816" cy="365760"/>
              <a:chOff x="914400" y="1801368"/>
              <a:chExt cx="1956816" cy="365760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914400" y="1801368"/>
                <a:ext cx="118872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r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Lamp</a:t>
                </a:r>
              </a:p>
            </p:txBody>
          </p:sp>
          <p:cxnSp>
            <p:nvCxnSpPr>
              <p:cNvPr id="16" name="Connector 15"/>
              <p:cNvCxnSpPr/>
              <p:nvPr/>
            </p:nvCxnSpPr>
            <p:spPr>
              <a:xfrm>
                <a:off x="2148840" y="1984248"/>
                <a:ext cx="667512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17" name="Oval 16"/>
              <p:cNvSpPr/>
              <p:nvPr/>
            </p:nvSpPr>
            <p:spPr>
              <a:xfrm>
                <a:off x="2761488" y="1929384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8" name="Callout: Post" descr="A label, Post, with a leader line to the part it names."/>
            <p:cNvGrpSpPr/>
            <p:nvPr/>
          </p:nvGrpSpPr>
          <p:grpSpPr>
            <a:xfrm>
              <a:off x="914400" y="3200400"/>
              <a:ext cx="2624328" cy="365760"/>
              <a:chOff x="914400" y="3200400"/>
              <a:chExt cx="2624328" cy="365760"/>
            </a:xfrm>
          </p:grpSpPr>
          <p:sp>
            <p:nvSpPr>
              <p:cNvPr id="19" name="TextBox 18"/>
              <p:cNvSpPr txBox="1"/>
              <p:nvPr/>
            </p:nvSpPr>
            <p:spPr>
              <a:xfrm>
                <a:off x="914400" y="3200400"/>
                <a:ext cx="118872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r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Post</a:t>
                </a:r>
              </a:p>
            </p:txBody>
          </p:sp>
          <p:cxnSp>
            <p:nvCxnSpPr>
              <p:cNvPr id="20" name="Connector 19"/>
              <p:cNvCxnSpPr/>
              <p:nvPr/>
            </p:nvCxnSpPr>
            <p:spPr>
              <a:xfrm>
                <a:off x="2148840" y="3383280"/>
                <a:ext cx="1335024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1" name="Oval 20"/>
              <p:cNvSpPr/>
              <p:nvPr/>
            </p:nvSpPr>
            <p:spPr>
              <a:xfrm>
                <a:off x="3429000" y="332841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2" name="Callout: Pivot" descr="A label, Pivot, with a leader line to the part it names."/>
            <p:cNvGrpSpPr/>
            <p:nvPr/>
          </p:nvGrpSpPr>
          <p:grpSpPr>
            <a:xfrm>
              <a:off x="3630168" y="1956816"/>
              <a:ext cx="1764792" cy="1243584"/>
              <a:chOff x="3630168" y="1956816"/>
              <a:chExt cx="1764792" cy="1243584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4297680" y="2834640"/>
                <a:ext cx="109728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Pivot</a:t>
                </a:r>
              </a:p>
            </p:txBody>
          </p:sp>
          <p:cxnSp>
            <p:nvCxnSpPr>
              <p:cNvPr id="24" name="Connector 23"/>
              <p:cNvCxnSpPr/>
              <p:nvPr/>
            </p:nvCxnSpPr>
            <p:spPr>
              <a:xfrm flipH="1" flipV="1">
                <a:off x="3685032" y="2011680"/>
                <a:ext cx="594360" cy="91440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5" name="Oval 24"/>
              <p:cNvSpPr/>
              <p:nvPr/>
            </p:nvSpPr>
            <p:spPr>
              <a:xfrm>
                <a:off x="3630168" y="195681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6" name="Callout: Arm" descr="A label, Arm, with a leader line to the part it names."/>
            <p:cNvGrpSpPr/>
            <p:nvPr/>
          </p:nvGrpSpPr>
          <p:grpSpPr>
            <a:xfrm>
              <a:off x="5614416" y="1801368"/>
              <a:ext cx="1335024" cy="365760"/>
              <a:chOff x="5614416" y="1801368"/>
              <a:chExt cx="1335024" cy="365760"/>
            </a:xfrm>
          </p:grpSpPr>
          <p:sp>
            <p:nvSpPr>
              <p:cNvPr id="27" name="TextBox 26"/>
              <p:cNvSpPr txBox="1"/>
              <p:nvPr/>
            </p:nvSpPr>
            <p:spPr>
              <a:xfrm>
                <a:off x="6035040" y="1801368"/>
                <a:ext cx="91440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Arm</a:t>
                </a:r>
              </a:p>
            </p:txBody>
          </p:sp>
          <p:cxnSp>
            <p:nvCxnSpPr>
              <p:cNvPr id="28" name="Connector 27"/>
              <p:cNvCxnSpPr/>
              <p:nvPr/>
            </p:nvCxnSpPr>
            <p:spPr>
              <a:xfrm flipH="1">
                <a:off x="5669280" y="1984248"/>
                <a:ext cx="320040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9" name="Oval 28"/>
              <p:cNvSpPr/>
              <p:nvPr/>
            </p:nvSpPr>
            <p:spPr>
              <a:xfrm>
                <a:off x="5614416" y="1929384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30" name="Callout: Wire" descr="A label, Wire, with a leader line to the part it names."/>
            <p:cNvGrpSpPr/>
            <p:nvPr/>
          </p:nvGrpSpPr>
          <p:grpSpPr>
            <a:xfrm>
              <a:off x="5084064" y="3246120"/>
              <a:ext cx="1179576" cy="365760"/>
              <a:chOff x="5084064" y="3246120"/>
              <a:chExt cx="1179576" cy="365760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5349240" y="3246120"/>
                <a:ext cx="91440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Wire</a:t>
                </a:r>
              </a:p>
            </p:txBody>
          </p:sp>
          <p:cxnSp>
            <p:nvCxnSpPr>
              <p:cNvPr id="32" name="Connector 31"/>
              <p:cNvCxnSpPr/>
              <p:nvPr/>
            </p:nvCxnSpPr>
            <p:spPr>
              <a:xfrm flipH="1">
                <a:off x="5138928" y="3429000"/>
                <a:ext cx="192024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33" name="Oval 32"/>
              <p:cNvSpPr/>
              <p:nvPr/>
            </p:nvSpPr>
            <p:spPr>
              <a:xfrm>
                <a:off x="5084064" y="337413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4" name="Rounded Rectangle 33"/>
            <p:cNvSpPr/>
            <p:nvPr/>
          </p:nvSpPr>
          <p:spPr>
            <a:xfrm>
              <a:off x="7955280" y="1463040"/>
              <a:ext cx="3685032" cy="2926080"/>
            </a:xfrm>
            <a:prstGeom prst="roundRect">
              <a:avLst>
                <a:gd name="adj" fmla="val 25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5" name="Small signal: stop" descr="A semaphore signal post with its arm flat (stop)."/>
            <p:cNvGrpSpPr/>
            <p:nvPr/>
          </p:nvGrpSpPr>
          <p:grpSpPr>
            <a:xfrm>
              <a:off x="8469630" y="2148840"/>
              <a:ext cx="1360170" cy="1508760"/>
              <a:chOff x="8469630" y="2148840"/>
              <a:chExt cx="1360170" cy="1508760"/>
            </a:xfrm>
          </p:grpSpPr>
          <p:sp>
            <p:nvSpPr>
              <p:cNvPr id="36" name="Rectangle 35"/>
              <p:cNvSpPr/>
              <p:nvPr/>
            </p:nvSpPr>
            <p:spPr>
              <a:xfrm>
                <a:off x="8663940" y="354787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8787384" y="214884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8869680" y="218998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Freeform 38"/>
              <p:cNvSpPr/>
              <p:nvPr/>
            </p:nvSpPr>
            <p:spPr>
              <a:xfrm>
                <a:off x="9349740" y="2189988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Oval 39"/>
              <p:cNvSpPr/>
              <p:nvPr/>
            </p:nvSpPr>
            <p:spPr>
              <a:xfrm>
                <a:off x="8807958" y="222427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8469630" y="2160270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42" name="Small signal: clear" descr="A semaphore signal post with its arm raised (clear)."/>
            <p:cNvGrpSpPr/>
            <p:nvPr/>
          </p:nvGrpSpPr>
          <p:grpSpPr>
            <a:xfrm>
              <a:off x="10024110" y="1539202"/>
              <a:ext cx="1146848" cy="2118398"/>
              <a:chOff x="10024110" y="1539202"/>
              <a:chExt cx="1146848" cy="2118398"/>
            </a:xfrm>
          </p:grpSpPr>
          <p:sp>
            <p:nvSpPr>
              <p:cNvPr id="43" name="Rectangle 42"/>
              <p:cNvSpPr/>
              <p:nvPr/>
            </p:nvSpPr>
            <p:spPr>
              <a:xfrm>
                <a:off x="10218420" y="354787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Rectangle 43"/>
              <p:cNvSpPr/>
              <p:nvPr/>
            </p:nvSpPr>
            <p:spPr>
              <a:xfrm>
                <a:off x="10341864" y="214884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10356269" y="153920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Freeform 45"/>
              <p:cNvSpPr/>
              <p:nvPr/>
            </p:nvSpPr>
            <p:spPr>
              <a:xfrm>
                <a:off x="10695723" y="1771970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10362438" y="222427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10024110" y="216027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9" name="TextBox 48"/>
            <p:cNvSpPr txBox="1"/>
            <p:nvPr/>
          </p:nvSpPr>
          <p:spPr>
            <a:xfrm>
              <a:off x="8412480" y="3794760"/>
              <a:ext cx="14630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241280" y="379476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</p:grpSp>
      <p:sp>
        <p:nvSpPr>
          <p:cNvPr id="51" name="Chip: Undecided (arm style)" descr="Status tag: Undecided"/>
          <p:cNvSpPr/>
          <p:nvPr/>
        </p:nvSpPr>
        <p:spPr>
          <a:xfrm>
            <a:off x="7772400" y="4983480"/>
            <a:ext cx="3867912" cy="411480"/>
          </a:xfrm>
          <a:prstGeom prst="roundRect">
            <a:avLst>
              <a:gd name="adj" fmla="val 1777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Arm style (rises or drops): undecided</a:t>
            </a:r>
          </a:p>
        </p:txBody>
      </p:sp>
      <p:sp>
        <p:nvSpPr>
          <p:cNvPr id="52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semaphore is a post with a moving arm. The arm is the message.</a:t>
            </a:r>
          </a:p>
        </p:txBody>
      </p:sp>
      <p:sp>
        <p:nvSpPr>
          <p:cNvPr id="53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Stop arm and distant arm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Stop arm and distant arm" descr="A red stop arm shown flat (stop) and raised (go). An amber distant arm with a notched end shown flat (be ready to stop) and raised (next signal clear). Three night lamps: red, yellow, green."/>
          <p:cNvGrpSpPr/>
          <p:nvPr/>
        </p:nvGrpSpPr>
        <p:grpSpPr>
          <a:xfrm>
            <a:off x="548640" y="1325880"/>
            <a:ext cx="11091672" cy="4160520"/>
            <a:chOff x="548640" y="1325880"/>
            <a:chExt cx="11091672" cy="4160520"/>
          </a:xfrm>
        </p:grpSpPr>
        <p:sp>
          <p:nvSpPr>
            <p:cNvPr id="5" name="TextBox 4"/>
            <p:cNvSpPr txBox="1"/>
            <p:nvPr/>
          </p:nvSpPr>
          <p:spPr>
            <a:xfrm>
              <a:off x="731520" y="1325880"/>
              <a:ext cx="21945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Stop arm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023360" y="1325880"/>
              <a:ext cx="274320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Distant arm</a:t>
              </a:r>
            </a:p>
          </p:txBody>
        </p:sp>
        <p:grpSp>
          <p:nvGrpSpPr>
            <p:cNvPr id="7" name="Stop arm flat" descr="A semaphore signal post with its arm flat (stop)."/>
            <p:cNvGrpSpPr/>
            <p:nvPr/>
          </p:nvGrpSpPr>
          <p:grpSpPr>
            <a:xfrm>
              <a:off x="788670" y="2011680"/>
              <a:ext cx="1360170" cy="1508760"/>
              <a:chOff x="788670" y="2011680"/>
              <a:chExt cx="1360170" cy="150876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98298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10642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1188720" y="205282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Freeform 10"/>
              <p:cNvSpPr/>
              <p:nvPr/>
            </p:nvSpPr>
            <p:spPr>
              <a:xfrm>
                <a:off x="1668780" y="2052828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112699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788670" y="2023110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4" name="Stop arm raised" descr="A semaphore signal post with its arm raised (clear)."/>
            <p:cNvGrpSpPr/>
            <p:nvPr/>
          </p:nvGrpSpPr>
          <p:grpSpPr>
            <a:xfrm>
              <a:off x="2526030" y="1402042"/>
              <a:ext cx="1146848" cy="2118398"/>
              <a:chOff x="2526030" y="1402042"/>
              <a:chExt cx="1146848" cy="2118398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272034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284378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Freeform 16"/>
              <p:cNvSpPr/>
              <p:nvPr/>
            </p:nvSpPr>
            <p:spPr>
              <a:xfrm>
                <a:off x="2858189" y="140204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Freeform 17"/>
              <p:cNvSpPr/>
              <p:nvPr/>
            </p:nvSpPr>
            <p:spPr>
              <a:xfrm>
                <a:off x="3197643" y="1634810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286435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Oval 19"/>
              <p:cNvSpPr/>
              <p:nvPr/>
            </p:nvSpPr>
            <p:spPr>
              <a:xfrm>
                <a:off x="2526030" y="202311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548640" y="3630168"/>
              <a:ext cx="13716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286000" y="3630168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GO</a:t>
              </a:r>
            </a:p>
          </p:txBody>
        </p:sp>
        <p:grpSp>
          <p:nvGrpSpPr>
            <p:cNvPr id="23" name="Distant arm flat" descr="A semaphore signal post with its arm flat (stop)."/>
            <p:cNvGrpSpPr/>
            <p:nvPr/>
          </p:nvGrpSpPr>
          <p:grpSpPr>
            <a:xfrm>
              <a:off x="4446270" y="2011680"/>
              <a:ext cx="1360170" cy="1508760"/>
              <a:chOff x="4446270" y="2011680"/>
              <a:chExt cx="1360170" cy="150876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464058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476402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4846320" y="205282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713232" y="96012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Freeform 26"/>
              <p:cNvSpPr/>
              <p:nvPr/>
            </p:nvSpPr>
            <p:spPr>
              <a:xfrm>
                <a:off x="5326380" y="2052828"/>
                <a:ext cx="109728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09728" h="192024">
                    <a:moveTo>
                      <a:pt x="0" y="0"/>
                    </a:moveTo>
                    <a:lnTo>
                      <a:pt x="109728" y="0"/>
                    </a:lnTo>
                    <a:lnTo>
                      <a:pt x="109728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1B1D21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478459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4446270" y="2023110"/>
                <a:ext cx="251460" cy="251460"/>
              </a:xfrm>
              <a:prstGeom prst="ellipse">
                <a:avLst/>
              </a:prstGeom>
              <a:solidFill>
                <a:srgbClr val="F2C14E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30" name="Distant arm raised" descr="A semaphore signal post with its arm raised (clear)."/>
            <p:cNvGrpSpPr/>
            <p:nvPr/>
          </p:nvGrpSpPr>
          <p:grpSpPr>
            <a:xfrm>
              <a:off x="6457950" y="1402042"/>
              <a:ext cx="1146848" cy="2118398"/>
              <a:chOff x="6457950" y="1402042"/>
              <a:chExt cx="1146848" cy="2118398"/>
            </a:xfrm>
          </p:grpSpPr>
          <p:sp>
            <p:nvSpPr>
              <p:cNvPr id="31" name="Rectangle 30"/>
              <p:cNvSpPr/>
              <p:nvPr/>
            </p:nvSpPr>
            <p:spPr>
              <a:xfrm>
                <a:off x="665226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677570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Freeform 32"/>
              <p:cNvSpPr/>
              <p:nvPr/>
            </p:nvSpPr>
            <p:spPr>
              <a:xfrm>
                <a:off x="6790109" y="140204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572222" y="242467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Freeform 33"/>
              <p:cNvSpPr/>
              <p:nvPr/>
            </p:nvSpPr>
            <p:spPr>
              <a:xfrm>
                <a:off x="7129563" y="1663906"/>
                <a:ext cx="213371" cy="213371"/>
              </a:xfrm>
              <a:custGeom>
                <a:avLst/>
                <a:gdLst/>
                <a:ahLst/>
                <a:cxnLst/>
                <a:rect l="l" t="t" r="r" b="b"/>
                <a:pathLst>
                  <a:path w="213371" h="213371">
                    <a:moveTo>
                      <a:pt x="0" y="77590"/>
                    </a:moveTo>
                    <a:lnTo>
                      <a:pt x="77589" y="0"/>
                    </a:lnTo>
                    <a:lnTo>
                      <a:pt x="213371" y="135782"/>
                    </a:lnTo>
                    <a:lnTo>
                      <a:pt x="135781" y="213371"/>
                    </a:lnTo>
                    <a:close/>
                  </a:path>
                </a:pathLst>
              </a:custGeom>
              <a:solidFill>
                <a:srgbClr val="1B1D21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679627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6457950" y="202311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3977640" y="3630168"/>
              <a:ext cx="1920240" cy="731520"/>
            </a:xfrm>
            <a:prstGeom prst="rect">
              <a:avLst/>
            </a:prstGeom>
            <a:noFill/>
          </p:spPr>
          <p:txBody>
            <a:bodyPr wrap="square" lIns="18288" tIns="18288" rIns="18288" bIns="18288" anchor="t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C14E"/>
                  </a:solidFill>
                  <a:latin typeface="Arial"/>
                </a:rPr>
                <a:t>Be ready to stop at the next signal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943600" y="3630168"/>
              <a:ext cx="1920240" cy="731520"/>
            </a:xfrm>
            <a:prstGeom prst="rect">
              <a:avLst/>
            </a:prstGeom>
            <a:noFill/>
          </p:spPr>
          <p:txBody>
            <a:bodyPr wrap="square" lIns="18288" tIns="18288" rIns="18288" bIns="18288" anchor="t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3FB950"/>
                  </a:solidFill>
                  <a:latin typeface="Arial"/>
                </a:rPr>
                <a:t>Next signal is clear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548640" y="466344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77240" y="4663440"/>
              <a:ext cx="1828800" cy="8229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Night lamps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2880360" y="4846320"/>
              <a:ext cx="457200" cy="457200"/>
            </a:xfrm>
            <a:prstGeom prst="ellipse">
              <a:avLst/>
            </a:prstGeom>
            <a:solidFill>
              <a:srgbClr val="E5484D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474720" y="4846320"/>
              <a:ext cx="13716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Stop</a:t>
              </a:r>
            </a:p>
          </p:txBody>
        </p:sp>
        <p:sp>
          <p:nvSpPr>
            <p:cNvPr id="43" name="Oval 42"/>
            <p:cNvSpPr/>
            <p:nvPr/>
          </p:nvSpPr>
          <p:spPr>
            <a:xfrm>
              <a:off x="5440680" y="4846320"/>
              <a:ext cx="457200" cy="457200"/>
            </a:xfrm>
            <a:prstGeom prst="ellipse">
              <a:avLst/>
            </a:prstGeom>
            <a:solidFill>
              <a:srgbClr val="F2C14E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035040" y="4846320"/>
              <a:ext cx="27432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Distant warning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9281160" y="4846320"/>
              <a:ext cx="457200" cy="457200"/>
            </a:xfrm>
            <a:prstGeom prst="ellipse">
              <a:avLst/>
            </a:prstGeom>
            <a:solidFill>
              <a:srgbClr val="3FB950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875520" y="4846320"/>
              <a:ext cx="13716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Clear</a:t>
              </a:r>
            </a:p>
          </p:txBody>
        </p:sp>
      </p:grpSp>
      <p:pic>
        <p:nvPicPr>
          <p:cNvPr id="47" name="P13_distant_signal_henley.jpg" descr="A semaphore distant signal beside the line near Henley-in-Arden, arm raised."/>
          <p:cNvPicPr>
            <a:picLocks noChangeAspect="1"/>
          </p:cNvPicPr>
          <p:nvPr/>
        </p:nvPicPr>
        <p:blipFill>
          <a:blip r:embed="rId2"/>
          <a:srcRect t="1904" b="1904"/>
          <a:stretch>
            <a:fillRect/>
          </a:stretch>
        </p:blipFill>
        <p:spPr>
          <a:xfrm>
            <a:off x="8915400" y="1325880"/>
            <a:ext cx="2560320" cy="1920240"/>
          </a:xfrm>
          <a:prstGeom prst="roundRect">
            <a:avLst>
              <a:gd name="adj" fmla="val 3809"/>
            </a:avLst>
          </a:prstGeom>
        </p:spPr>
      </p:pic>
      <p:sp>
        <p:nvSpPr>
          <p:cNvPr id="48" name="Credit"/>
          <p:cNvSpPr txBox="1"/>
          <p:nvPr/>
        </p:nvSpPr>
        <p:spPr>
          <a:xfrm>
            <a:off x="8915400" y="32918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Richard Dunn, CC BY-SA 2.0. Wikimedia Commons.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3657600"/>
            <a:ext cx="256032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1400" b="0" i="0" lang="en-GB">
                <a:solidFill>
                  <a:srgbClr val="F2F2F2"/>
                </a:solidFill>
                <a:latin typeface="Arial"/>
              </a:rPr>
              <a:t>A real distant signal, arm raised.</a:t>
            </a:r>
          </a:p>
        </p:txBody>
      </p:sp>
      <p:sp>
        <p:nvSpPr>
          <p:cNvPr id="5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stop arm orders a stop. A distant arm only warns you.</a:t>
            </a:r>
          </a:p>
        </p:txBody>
      </p:sp>
      <p:sp>
        <p:nvSpPr>
          <p:cNvPr id="5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If the wire breaks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Wire intact and wire broken" descr="Left: a lever in a signal box pulls a wire and the arm rises. Right: the wire is broken, so a counterweight pulls the arm flat to stop."/>
          <p:cNvGrpSpPr/>
          <p:nvPr/>
        </p:nvGrpSpPr>
        <p:grpSpPr>
          <a:xfrm>
            <a:off x="548640" y="1325880"/>
            <a:ext cx="11091672" cy="3520440"/>
            <a:chOff x="548640" y="1325880"/>
            <a:chExt cx="11091672" cy="35204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394960" cy="3520440"/>
            </a:xfrm>
            <a:prstGeom prst="roundRect">
              <a:avLst>
                <a:gd name="adj" fmla="val 2077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389888"/>
              <a:ext cx="3200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 intact</a:t>
              </a:r>
            </a:p>
          </p:txBody>
        </p:sp>
        <p:grpSp>
          <p:nvGrpSpPr>
            <p:cNvPr id="7" name="Signal box (lever)" descr="A small signal box building."/>
            <p:cNvGrpSpPr/>
            <p:nvPr/>
          </p:nvGrpSpPr>
          <p:grpSpPr>
            <a:xfrm>
              <a:off x="822960" y="3175711"/>
              <a:ext cx="1463040" cy="1533449"/>
              <a:chOff x="822960" y="3175711"/>
              <a:chExt cx="1463040" cy="1533449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822960" y="3175711"/>
                <a:ext cx="1463040" cy="1533449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749808" y="2743200"/>
                <a:ext cx="1609344" cy="471830"/>
              </a:xfrm>
              <a:custGeom>
                <a:avLst/>
                <a:gdLst/>
                <a:ahLst/>
                <a:cxnLst/>
                <a:rect l="l" t="t" r="r" b="b"/>
                <a:pathLst>
                  <a:path w="1609344" h="471830">
                    <a:moveTo>
                      <a:pt x="0" y="471830"/>
                    </a:moveTo>
                    <a:lnTo>
                      <a:pt x="804672" y="0"/>
                    </a:lnTo>
                    <a:lnTo>
                      <a:pt x="1609344" y="47183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0" name="Rectangle 9"/>
            <p:cNvSpPr/>
            <p:nvPr/>
          </p:nvSpPr>
          <p:spPr>
            <a:xfrm rot="1500000">
              <a:off x="1627795" y="3741872"/>
              <a:ext cx="109728" cy="82296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417320" y="4434840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2" name="Signal" descr="A semaphore signal post with its arm raised (clear)."/>
            <p:cNvGrpSpPr/>
            <p:nvPr/>
          </p:nvGrpSpPr>
          <p:grpSpPr>
            <a:xfrm>
              <a:off x="3636569" y="2167082"/>
              <a:ext cx="1374389" cy="2542078"/>
              <a:chOff x="3636569" y="2167082"/>
              <a:chExt cx="1374389" cy="2542078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3867912" y="45774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4016045" y="28986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Freeform 14"/>
              <p:cNvSpPr/>
              <p:nvPr/>
            </p:nvSpPr>
            <p:spPr>
              <a:xfrm>
                <a:off x="4033331" y="2167082"/>
                <a:ext cx="977627" cy="977627"/>
              </a:xfrm>
              <a:custGeom>
                <a:avLst/>
                <a:gdLst/>
                <a:ahLst/>
                <a:cxnLst/>
                <a:rect l="l" t="t" r="r" b="b"/>
                <a:pathLst>
                  <a:path w="977627" h="977627">
                    <a:moveTo>
                      <a:pt x="0" y="814689"/>
                    </a:moveTo>
                    <a:lnTo>
                      <a:pt x="814689" y="0"/>
                    </a:lnTo>
                    <a:lnTo>
                      <a:pt x="977627" y="162938"/>
                    </a:lnTo>
                    <a:lnTo>
                      <a:pt x="162938" y="977627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Freeform 15"/>
              <p:cNvSpPr/>
              <p:nvPr/>
            </p:nvSpPr>
            <p:spPr>
              <a:xfrm>
                <a:off x="4440676" y="2446404"/>
                <a:ext cx="290960" cy="290960"/>
              </a:xfrm>
              <a:custGeom>
                <a:avLst/>
                <a:gdLst/>
                <a:ahLst/>
                <a:cxnLst/>
                <a:rect l="l" t="t" r="r" b="b"/>
                <a:pathLst>
                  <a:path w="290960" h="290960">
                    <a:moveTo>
                      <a:pt x="0" y="128023"/>
                    </a:moveTo>
                    <a:lnTo>
                      <a:pt x="128022" y="0"/>
                    </a:lnTo>
                    <a:lnTo>
                      <a:pt x="290960" y="162938"/>
                    </a:lnTo>
                    <a:lnTo>
                      <a:pt x="162937" y="2909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4043477" y="29919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3636569" y="2914193"/>
                <a:ext cx="298094" cy="298094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19" name="Connector 18"/>
            <p:cNvCxnSpPr/>
            <p:nvPr/>
          </p:nvCxnSpPr>
          <p:spPr>
            <a:xfrm flipH="1">
              <a:off x="3858768" y="3063240"/>
              <a:ext cx="256032" cy="256032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20" name="Wire"/>
            <p:cNvSpPr/>
            <p:nvPr/>
          </p:nvSpPr>
          <p:spPr>
            <a:xfrm>
              <a:off x="1856232" y="3319272"/>
              <a:ext cx="2002536" cy="457200"/>
            </a:xfrm>
            <a:custGeom>
              <a:avLst/>
              <a:gdLst/>
              <a:ahLst/>
              <a:cxnLst/>
              <a:rect l="l" t="t" r="r" b="b"/>
              <a:pathLst>
                <a:path w="2002536" h="457200">
                  <a:moveTo>
                    <a:pt x="0" y="457200"/>
                  </a:moveTo>
                  <a:lnTo>
                    <a:pt x="2002536" y="457200"/>
                  </a:lnTo>
                  <a:lnTo>
                    <a:pt x="2002536" y="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89120" y="3931920"/>
              <a:ext cx="13716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45352" y="1325880"/>
              <a:ext cx="5394960" cy="3520440"/>
            </a:xfrm>
            <a:prstGeom prst="roundRect">
              <a:avLst>
                <a:gd name="adj" fmla="val 2077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73952" y="1389888"/>
              <a:ext cx="3200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 broken</a:t>
              </a:r>
            </a:p>
          </p:txBody>
        </p:sp>
        <p:grpSp>
          <p:nvGrpSpPr>
            <p:cNvPr id="24" name="Signal box (lever)" descr="A small signal box building."/>
            <p:cNvGrpSpPr/>
            <p:nvPr/>
          </p:nvGrpSpPr>
          <p:grpSpPr>
            <a:xfrm>
              <a:off x="6519672" y="3175711"/>
              <a:ext cx="1463040" cy="1533449"/>
              <a:chOff x="6519672" y="3175711"/>
              <a:chExt cx="1463040" cy="1533449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6519672" y="3175711"/>
                <a:ext cx="1463040" cy="1533449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6446520" y="2743200"/>
                <a:ext cx="1609344" cy="471830"/>
              </a:xfrm>
              <a:custGeom>
                <a:avLst/>
                <a:gdLst/>
                <a:ahLst/>
                <a:cxnLst/>
                <a:rect l="l" t="t" r="r" b="b"/>
                <a:pathLst>
                  <a:path w="1609344" h="471830">
                    <a:moveTo>
                      <a:pt x="0" y="471830"/>
                    </a:moveTo>
                    <a:lnTo>
                      <a:pt x="804672" y="0"/>
                    </a:lnTo>
                    <a:lnTo>
                      <a:pt x="1609344" y="47183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7" name="Rectangle 26"/>
            <p:cNvSpPr/>
            <p:nvPr/>
          </p:nvSpPr>
          <p:spPr>
            <a:xfrm rot="1500000">
              <a:off x="7324507" y="3741872"/>
              <a:ext cx="109728" cy="82296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114032" y="4434840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9" name="Signal" descr="A semaphore signal post with its arm flat (stop)."/>
            <p:cNvGrpSpPr/>
            <p:nvPr/>
          </p:nvGrpSpPr>
          <p:grpSpPr>
            <a:xfrm>
              <a:off x="9333281" y="2898648"/>
              <a:ext cx="1630375" cy="1810512"/>
              <a:chOff x="9333281" y="2898648"/>
              <a:chExt cx="1630375" cy="1810512"/>
            </a:xfrm>
          </p:grpSpPr>
          <p:sp>
            <p:nvSpPr>
              <p:cNvPr id="30" name="Rectangle 29"/>
              <p:cNvSpPr/>
              <p:nvPr/>
            </p:nvSpPr>
            <p:spPr>
              <a:xfrm>
                <a:off x="9564624" y="45774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9712757" y="28986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Freeform 31"/>
              <p:cNvSpPr/>
              <p:nvPr/>
            </p:nvSpPr>
            <p:spPr>
              <a:xfrm>
                <a:off x="9811512" y="2948026"/>
                <a:ext cx="1152144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30428">
                    <a:moveTo>
                      <a:pt x="0" y="0"/>
                    </a:moveTo>
                    <a:lnTo>
                      <a:pt x="1152144" y="0"/>
                    </a:lnTo>
                    <a:lnTo>
                      <a:pt x="1152144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Freeform 32"/>
              <p:cNvSpPr/>
              <p:nvPr/>
            </p:nvSpPr>
            <p:spPr>
              <a:xfrm>
                <a:off x="10387584" y="2948026"/>
                <a:ext cx="181051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81051" h="230428">
                    <a:moveTo>
                      <a:pt x="0" y="0"/>
                    </a:moveTo>
                    <a:lnTo>
                      <a:pt x="181051" y="0"/>
                    </a:lnTo>
                    <a:lnTo>
                      <a:pt x="181051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9740189" y="29919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9333281" y="2914193"/>
                <a:ext cx="298094" cy="298094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36" name="Connector 35"/>
            <p:cNvCxnSpPr/>
            <p:nvPr/>
          </p:nvCxnSpPr>
          <p:spPr>
            <a:xfrm flipH="1">
              <a:off x="9445752" y="3063240"/>
              <a:ext cx="365760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7552944" y="3776472"/>
              <a:ext cx="1024128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</a:ln>
          </p:spPr>
        </p:cxnSp>
        <p:sp>
          <p:nvSpPr>
            <p:cNvPr id="38" name="Wire (far piece)"/>
            <p:cNvSpPr/>
            <p:nvPr/>
          </p:nvSpPr>
          <p:spPr>
            <a:xfrm>
              <a:off x="9171432" y="3063240"/>
              <a:ext cx="274320" cy="713232"/>
            </a:xfrm>
            <a:custGeom>
              <a:avLst/>
              <a:gdLst/>
              <a:ahLst/>
              <a:cxnLst/>
              <a:rect l="l" t="t" r="r" b="b"/>
              <a:pathLst>
                <a:path w="274320" h="713232">
                  <a:moveTo>
                    <a:pt x="0" y="713232"/>
                  </a:moveTo>
                  <a:lnTo>
                    <a:pt x="274320" y="713232"/>
                  </a:lnTo>
                  <a:lnTo>
                    <a:pt x="274320" y="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 rot="2700000">
              <a:off x="8613648" y="3730752"/>
              <a:ext cx="512064" cy="914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 rot="18900000">
              <a:off x="8613648" y="3730752"/>
              <a:ext cx="512064" cy="914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10085832" y="3172968"/>
              <a:ext cx="0" cy="347472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2" name="Counterweight"/>
            <p:cNvSpPr/>
            <p:nvPr/>
          </p:nvSpPr>
          <p:spPr>
            <a:xfrm>
              <a:off x="9948672" y="3520440"/>
              <a:ext cx="274320" cy="274320"/>
            </a:xfrm>
            <a:prstGeom prst="rect">
              <a:avLst/>
            </a:prstGeom>
            <a:solidFill>
              <a:srgbClr val="9AA0A6"/>
            </a:solidFill>
            <a:ln w="127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10085832" y="3886200"/>
              <a:ext cx="0" cy="41148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44" name="TextBox 43"/>
            <p:cNvSpPr txBox="1"/>
            <p:nvPr/>
          </p:nvSpPr>
          <p:spPr>
            <a:xfrm>
              <a:off x="10360152" y="393192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</p:grpSp>
      <p:sp>
        <p:nvSpPr>
          <p:cNvPr id="45" name="Chip: Undecided (failure rule)" descr="Status tag: Undecided"/>
          <p:cNvSpPr/>
          <p:nvPr/>
        </p:nvSpPr>
        <p:spPr>
          <a:xfrm>
            <a:off x="4014216" y="5029200"/>
            <a:ext cx="4160520" cy="411480"/>
          </a:xfrm>
          <a:prstGeom prst="roundRect">
            <a:avLst>
              <a:gd name="adj" fmla="val 1777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The mod's failure rule: undecided (OQ03)</a:t>
            </a:r>
          </a:p>
        </p:txBody>
      </p:sp>
      <p:sp>
        <p:nvSpPr>
          <p:cNvPr id="4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 real railways, a broken wire drops the arm to stop.</a:t>
            </a:r>
          </a:p>
        </p:txBody>
      </p:sp>
      <p:sp>
        <p:nvSpPr>
          <p:cNvPr id="4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signal box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pic>
        <p:nvPicPr>
          <p:cNvPr id="4" name="P14_williton_signal_box.jpg" descr="Williton signal box on the West Somerset Railway."/>
          <p:cNvPicPr>
            <a:picLocks noChangeAspect="1"/>
          </p:cNvPicPr>
          <p:nvPr/>
        </p:nvPicPr>
        <p:blipFill>
          <a:blip r:embed="rId2"/>
          <a:srcRect t="2375" b="9500"/>
          <a:stretch>
            <a:fillRect/>
          </a:stretch>
        </p:blipFill>
        <p:spPr>
          <a:xfrm>
            <a:off x="548640" y="1280160"/>
            <a:ext cx="3657600" cy="4297680"/>
          </a:xfrm>
          <a:prstGeom prst="roundRect">
            <a:avLst>
              <a:gd name="adj" fmla="val 2000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56052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Reading Tom, CC BY 2.0. Wikimedia Commons.</a:t>
            </a:r>
          </a:p>
        </p:txBody>
      </p:sp>
      <p:grpSp>
        <p:nvGrpSpPr>
          <p:cNvPr id="6" name="Three parts of a signal box" descr="Three rows with icons: high windows give a good view of the track; the signaller works the levers; the lever frame is inside."/>
          <p:cNvGrpSpPr/>
          <p:nvPr/>
        </p:nvGrpSpPr>
        <p:grpSpPr>
          <a:xfrm>
            <a:off x="4663440" y="1280160"/>
            <a:ext cx="6976872" cy="4297680"/>
            <a:chOff x="4663440" y="1280160"/>
            <a:chExt cx="6976872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4663440" y="128016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8" name="Window icon" descr="An icon of a high window with several panes."/>
            <p:cNvGrpSpPr/>
            <p:nvPr/>
          </p:nvGrpSpPr>
          <p:grpSpPr>
            <a:xfrm>
              <a:off x="4937760" y="1508760"/>
              <a:ext cx="1005840" cy="822960"/>
              <a:chOff x="4937760" y="1508760"/>
              <a:chExt cx="1005840" cy="822960"/>
            </a:xfrm>
          </p:grpSpPr>
          <p:sp>
            <p:nvSpPr>
              <p:cNvPr id="9" name="Rectangle 8"/>
              <p:cNvSpPr/>
              <p:nvPr/>
            </p:nvSpPr>
            <p:spPr>
              <a:xfrm>
                <a:off x="4937760" y="1508760"/>
                <a:ext cx="1005840" cy="822960"/>
              </a:xfrm>
              <a:prstGeom prst="rect">
                <a:avLst/>
              </a:prstGeom>
              <a:solidFill>
                <a:srgbClr val="4DA3FF">
                  <a:alpha val="40000"/>
                </a:srgbClr>
              </a:solidFill>
              <a:ln w="254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0" name="Connector 9"/>
              <p:cNvCxnSpPr/>
              <p:nvPr/>
            </p:nvCxnSpPr>
            <p:spPr>
              <a:xfrm>
                <a:off x="5273040" y="1508760"/>
                <a:ext cx="0" cy="82296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5608320" y="1508760"/>
                <a:ext cx="0" cy="82296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  <p:cxnSp>
            <p:nvCxnSpPr>
              <p:cNvPr id="12" name="Connector 11"/>
              <p:cNvCxnSpPr/>
              <p:nvPr/>
            </p:nvCxnSpPr>
            <p:spPr>
              <a:xfrm>
                <a:off x="4937760" y="1920240"/>
                <a:ext cx="1005840" cy="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</p:grpSp>
        <p:sp>
          <p:nvSpPr>
            <p:cNvPr id="13" name="TextBox 12"/>
            <p:cNvSpPr txBox="1"/>
            <p:nvPr/>
          </p:nvSpPr>
          <p:spPr>
            <a:xfrm>
              <a:off x="6309360" y="128016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High windows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a good view of the track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3440" y="278892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Signaller icon" descr="A simple icon of a person: the signaller."/>
            <p:cNvGrpSpPr/>
            <p:nvPr/>
          </p:nvGrpSpPr>
          <p:grpSpPr>
            <a:xfrm>
              <a:off x="5045659" y="2980944"/>
              <a:ext cx="790042" cy="905256"/>
              <a:chOff x="5045659" y="2980944"/>
              <a:chExt cx="790042" cy="905256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226710" y="2980944"/>
                <a:ext cx="427939" cy="427939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ound Same Side Corner Rectangle 16"/>
              <p:cNvSpPr/>
              <p:nvPr/>
            </p:nvSpPr>
            <p:spPr>
              <a:xfrm>
                <a:off x="5045659" y="3260750"/>
                <a:ext cx="790042" cy="625450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6309360" y="278892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signaller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works the levers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4663440" y="429768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0" name="Lever frame icon" descr="An icon of a row of levers."/>
            <p:cNvGrpSpPr/>
            <p:nvPr/>
          </p:nvGrpSpPr>
          <p:grpSpPr>
            <a:xfrm>
              <a:off x="4983480" y="4617720"/>
              <a:ext cx="923544" cy="822960"/>
              <a:chOff x="4983480" y="4617720"/>
              <a:chExt cx="923544" cy="822960"/>
            </a:xfrm>
          </p:grpSpPr>
          <p:sp>
            <p:nvSpPr>
              <p:cNvPr id="21" name="Rectangle 20"/>
              <p:cNvSpPr/>
              <p:nvPr/>
            </p:nvSpPr>
            <p:spPr>
              <a:xfrm>
                <a:off x="5020056" y="4617720"/>
                <a:ext cx="109728" cy="731520"/>
              </a:xfrm>
              <a:prstGeom prst="rect">
                <a:avLst/>
              </a:prstGeom>
              <a:solidFill>
                <a:srgbClr val="E5484D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Oval 21"/>
              <p:cNvSpPr/>
              <p:nvPr/>
            </p:nvSpPr>
            <p:spPr>
              <a:xfrm>
                <a:off x="4983480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266944" y="4617720"/>
                <a:ext cx="109728" cy="731520"/>
              </a:xfrm>
              <a:prstGeom prst="rect">
                <a:avLst/>
              </a:prstGeom>
              <a:solidFill>
                <a:srgbClr val="F2C14E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Oval 23"/>
              <p:cNvSpPr/>
              <p:nvPr/>
            </p:nvSpPr>
            <p:spPr>
              <a:xfrm>
                <a:off x="5230368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5513832" y="4617720"/>
                <a:ext cx="109728" cy="731520"/>
              </a:xfrm>
              <a:prstGeom prst="rect">
                <a:avLst/>
              </a:prstGeom>
              <a:solidFill>
                <a:srgbClr val="E5484D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Oval 25"/>
              <p:cNvSpPr/>
              <p:nvPr/>
            </p:nvSpPr>
            <p:spPr>
              <a:xfrm>
                <a:off x="5477256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5760720" y="4617720"/>
                <a:ext cx="109728" cy="731520"/>
              </a:xfrm>
              <a:prstGeom prst="rect">
                <a:avLst/>
              </a:prstGeom>
              <a:solidFill>
                <a:srgbClr val="4DA3FF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724144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9" name="TextBox 28"/>
            <p:cNvSpPr txBox="1"/>
            <p:nvPr/>
          </p:nvSpPr>
          <p:spPr>
            <a:xfrm>
              <a:off x="6309360" y="429768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Lever frame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inside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box is a small building. A signaller works the signals from it.</a:t>
            </a:r>
          </a:p>
        </p:txBody>
      </p:sp>
      <p:sp>
        <p:nvSpPr>
          <p:cNvPr id="3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lever frame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Lever frame cutaway" descr="A cutaway of a two-floor signal box. On the operating floor a signaller stands behind a row of eight colour-coded levers. On the lower floor eight thin rods leave the left wall towards the track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4754880" y="1325880"/>
              <a:ext cx="6885432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4754880" y="3611880"/>
              <a:ext cx="6885432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7" name="Rectangle 6"/>
            <p:cNvSpPr/>
            <p:nvPr/>
          </p:nvSpPr>
          <p:spPr>
            <a:xfrm>
              <a:off x="667512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86384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05256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24128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92040" y="1417320"/>
              <a:ext cx="17373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Operating floor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766560" y="2011680"/>
              <a:ext cx="4069080" cy="457200"/>
            </a:xfrm>
            <a:prstGeom prst="roundRect">
              <a:avLst>
                <a:gd name="adj" fmla="val 8000"/>
              </a:avLst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949440" y="2304288"/>
              <a:ext cx="3703320" cy="0"/>
            </a:xfrm>
            <a:prstGeom prst="line">
              <a:avLst/>
            </a:prstGeom>
            <a:ln w="25400">
              <a:solidFill>
                <a:srgbClr val="1B1D21"/>
              </a:solidFill>
            </a:ln>
          </p:spPr>
        </p:cxnSp>
        <p:sp>
          <p:nvSpPr>
            <p:cNvPr id="14" name="Freeform 13"/>
            <p:cNvSpPr/>
            <p:nvPr/>
          </p:nvSpPr>
          <p:spPr>
            <a:xfrm>
              <a:off x="8229600" y="2139696"/>
              <a:ext cx="2011680" cy="164592"/>
            </a:xfrm>
            <a:custGeom>
              <a:avLst/>
              <a:gdLst/>
              <a:ahLst/>
              <a:cxnLst/>
              <a:rect l="l" t="t" r="r" b="b"/>
              <a:pathLst>
                <a:path w="2011680" h="164592">
                  <a:moveTo>
                    <a:pt x="0" y="164592"/>
                  </a:moveTo>
                  <a:lnTo>
                    <a:pt x="365760" y="0"/>
                  </a:lnTo>
                  <a:lnTo>
                    <a:pt x="2011680" y="0"/>
                  </a:lnTo>
                </a:path>
              </a:pathLst>
            </a:custGeom>
            <a:noFill/>
            <a:ln w="254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Signaller icon" descr="A simple icon of a person: the signaller."/>
            <p:cNvGrpSpPr/>
            <p:nvPr/>
          </p:nvGrpSpPr>
          <p:grpSpPr>
            <a:xfrm>
              <a:off x="5296205" y="2711196"/>
              <a:ext cx="746150" cy="854964"/>
              <a:chOff x="5296205" y="2711196"/>
              <a:chExt cx="746150" cy="854964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467198" y="2711196"/>
                <a:ext cx="404165" cy="404165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ound Same Side Corner Rectangle 16"/>
              <p:cNvSpPr/>
              <p:nvPr/>
            </p:nvSpPr>
            <p:spPr>
              <a:xfrm>
                <a:off x="5296205" y="2975458"/>
                <a:ext cx="746150" cy="590702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Rectangle 17"/>
            <p:cNvSpPr/>
            <p:nvPr/>
          </p:nvSpPr>
          <p:spPr>
            <a:xfrm>
              <a:off x="6794906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6752844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361834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319772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928762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886700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8495690" y="2574036"/>
              <a:ext cx="126187" cy="946404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8453628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062618" y="2574036"/>
              <a:ext cx="126187" cy="946404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020556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629546" y="2574036"/>
              <a:ext cx="126187" cy="946404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587484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96474" y="2574036"/>
              <a:ext cx="126187" cy="946404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10154412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763402" y="2574036"/>
              <a:ext cx="126187" cy="946404"/>
            </a:xfrm>
            <a:prstGeom prst="rect">
              <a:avLst/>
            </a:prstGeom>
            <a:solidFill>
              <a:srgbClr val="4DA3FF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10721340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4480560" y="3630168"/>
              <a:ext cx="2377440" cy="256032"/>
            </a:xfrm>
            <a:custGeom>
              <a:avLst/>
              <a:gdLst/>
              <a:ahLst/>
              <a:cxnLst/>
              <a:rect l="l" t="t" r="r" b="b"/>
              <a:pathLst>
                <a:path w="2377440" h="256032">
                  <a:moveTo>
                    <a:pt x="2377440" y="0"/>
                  </a:moveTo>
                  <a:lnTo>
                    <a:pt x="2377440" y="256032"/>
                  </a:lnTo>
                  <a:lnTo>
                    <a:pt x="0" y="25603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4480560" y="3630168"/>
              <a:ext cx="2944368" cy="438912"/>
            </a:xfrm>
            <a:custGeom>
              <a:avLst/>
              <a:gdLst/>
              <a:ahLst/>
              <a:cxnLst/>
              <a:rect l="l" t="t" r="r" b="b"/>
              <a:pathLst>
                <a:path w="2944368" h="438912">
                  <a:moveTo>
                    <a:pt x="2944368" y="0"/>
                  </a:moveTo>
                  <a:lnTo>
                    <a:pt x="2944368" y="438912"/>
                  </a:lnTo>
                  <a:lnTo>
                    <a:pt x="0" y="43891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4480560" y="3630168"/>
              <a:ext cx="3511296" cy="621792"/>
            </a:xfrm>
            <a:custGeom>
              <a:avLst/>
              <a:gdLst/>
              <a:ahLst/>
              <a:cxnLst/>
              <a:rect l="l" t="t" r="r" b="b"/>
              <a:pathLst>
                <a:path w="3511296" h="621792">
                  <a:moveTo>
                    <a:pt x="3511296" y="0"/>
                  </a:moveTo>
                  <a:lnTo>
                    <a:pt x="3511296" y="621792"/>
                  </a:lnTo>
                  <a:lnTo>
                    <a:pt x="0" y="62179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4480560" y="3630168"/>
              <a:ext cx="4078224" cy="804672"/>
            </a:xfrm>
            <a:custGeom>
              <a:avLst/>
              <a:gdLst/>
              <a:ahLst/>
              <a:cxnLst/>
              <a:rect l="l" t="t" r="r" b="b"/>
              <a:pathLst>
                <a:path w="4078224" h="804672">
                  <a:moveTo>
                    <a:pt x="4078224" y="0"/>
                  </a:moveTo>
                  <a:lnTo>
                    <a:pt x="4078224" y="804672"/>
                  </a:lnTo>
                  <a:lnTo>
                    <a:pt x="0" y="80467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4480560" y="3630168"/>
              <a:ext cx="4645152" cy="987552"/>
            </a:xfrm>
            <a:custGeom>
              <a:avLst/>
              <a:gdLst/>
              <a:ahLst/>
              <a:cxnLst/>
              <a:rect l="l" t="t" r="r" b="b"/>
              <a:pathLst>
                <a:path w="4645152" h="987552">
                  <a:moveTo>
                    <a:pt x="4645152" y="0"/>
                  </a:moveTo>
                  <a:lnTo>
                    <a:pt x="4645152" y="987552"/>
                  </a:lnTo>
                  <a:lnTo>
                    <a:pt x="0" y="98755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4480560" y="3630168"/>
              <a:ext cx="5212080" cy="1170432"/>
            </a:xfrm>
            <a:custGeom>
              <a:avLst/>
              <a:gdLst/>
              <a:ahLst/>
              <a:cxnLst/>
              <a:rect l="l" t="t" r="r" b="b"/>
              <a:pathLst>
                <a:path w="5212080" h="1170432">
                  <a:moveTo>
                    <a:pt x="5212080" y="0"/>
                  </a:moveTo>
                  <a:lnTo>
                    <a:pt x="5212080" y="1170432"/>
                  </a:lnTo>
                  <a:lnTo>
                    <a:pt x="0" y="117043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4480560" y="3630168"/>
              <a:ext cx="5779008" cy="1353312"/>
            </a:xfrm>
            <a:custGeom>
              <a:avLst/>
              <a:gdLst/>
              <a:ahLst/>
              <a:cxnLst/>
              <a:rect l="l" t="t" r="r" b="b"/>
              <a:pathLst>
                <a:path w="5779008" h="1353312">
                  <a:moveTo>
                    <a:pt x="5779008" y="0"/>
                  </a:moveTo>
                  <a:lnTo>
                    <a:pt x="5779008" y="1353312"/>
                  </a:lnTo>
                  <a:lnTo>
                    <a:pt x="0" y="135331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4480560" y="3630168"/>
              <a:ext cx="6345936" cy="1536192"/>
            </a:xfrm>
            <a:custGeom>
              <a:avLst/>
              <a:gdLst/>
              <a:ahLst/>
              <a:cxnLst/>
              <a:rect l="l" t="t" r="r" b="b"/>
              <a:pathLst>
                <a:path w="6345936" h="1536192">
                  <a:moveTo>
                    <a:pt x="6345936" y="0"/>
                  </a:moveTo>
                  <a:lnTo>
                    <a:pt x="6345936" y="1536192"/>
                  </a:lnTo>
                  <a:lnTo>
                    <a:pt x="0" y="153619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92040" y="5230368"/>
              <a:ext cx="1737360" cy="30175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Lower floor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48640" y="1325880"/>
              <a:ext cx="3931920" cy="2304288"/>
            </a:xfrm>
            <a:prstGeom prst="roundRect">
              <a:avLst>
                <a:gd name="adj" fmla="val 3174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77240" y="1453896"/>
              <a:ext cx="146304" cy="310896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97280" y="1417320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Stop signals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77240" y="1874520"/>
              <a:ext cx="146304" cy="310896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97280" y="1837944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Distant signals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77240" y="2295144"/>
              <a:ext cx="146304" cy="310896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097280" y="2258568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Points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777240" y="2715768"/>
              <a:ext cx="146304" cy="310896"/>
            </a:xfrm>
            <a:prstGeom prst="rect">
              <a:avLst/>
            </a:prstGeom>
            <a:solidFill>
              <a:srgbClr val="4DA3FF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097280" y="2679192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Lock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77240" y="3218688"/>
              <a:ext cx="35661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Example colours; not fixed</a:t>
              </a:r>
            </a:p>
          </p:txBody>
        </p:sp>
      </p:grpSp>
      <p:pic>
        <p:nvPicPr>
          <p:cNvPr id="53" name="P15_lever_frame_didcot.jpg" descr="Lever frame and workings inside a signal box at Didcot Railway Centre."/>
          <p:cNvPicPr>
            <a:picLocks noChangeAspect="1"/>
          </p:cNvPicPr>
          <p:nvPr/>
        </p:nvPicPr>
        <p:blipFill>
          <a:blip r:embed="rId2"/>
          <a:srcRect t="3846" b="3846"/>
          <a:stretch>
            <a:fillRect/>
          </a:stretch>
        </p:blipFill>
        <p:spPr>
          <a:xfrm>
            <a:off x="1325880" y="3749040"/>
            <a:ext cx="2377440" cy="1645920"/>
          </a:xfrm>
          <a:prstGeom prst="roundRect">
            <a:avLst>
              <a:gd name="adj" fmla="val 4444"/>
            </a:avLst>
          </a:prstGeom>
        </p:spPr>
      </p:pic>
      <p:sp>
        <p:nvSpPr>
          <p:cNvPr id="54" name="Credit"/>
          <p:cNvSpPr txBox="1"/>
          <p:nvPr/>
        </p:nvSpPr>
        <p:spPr>
          <a:xfrm>
            <a:off x="1325880" y="542239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Nigel Brown, CC BY-SA 2.0. Wikimedia Commons.</a:t>
            </a:r>
          </a:p>
        </p:txBody>
      </p:sp>
      <p:sp>
        <p:nvSpPr>
          <p:cNvPr id="5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Each lever works one signal or one set of points.</a:t>
            </a:r>
          </a:p>
        </p:txBody>
      </p:sp>
      <p:sp>
        <p:nvSpPr>
          <p:cNvPr id="5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Rods and wires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pic>
        <p:nvPicPr>
          <p:cNvPr id="4" name="P16_williton_rods_wires.jpg" descr="Pulleys, rods and wires of mechanical signal linkage beside the track at Williton station."/>
          <p:cNvPicPr>
            <a:picLocks noChangeAspect="1"/>
          </p:cNvPicPr>
          <p:nvPr/>
        </p:nvPicPr>
        <p:blipFill>
          <a:blip r:embed="rId2"/>
          <a:srcRect l="496" r="496"/>
          <a:stretch>
            <a:fillRect/>
          </a:stretch>
        </p:blipFill>
        <p:spPr>
          <a:xfrm>
            <a:off x="548640" y="1371600"/>
            <a:ext cx="4754880" cy="3200400"/>
          </a:xfrm>
          <a:prstGeom prst="roundRect">
            <a:avLst>
              <a:gd name="adj" fmla="val 2285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460857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mattbuck (category), CC BY-SA 3.0. Wikimedia Commons.</a:t>
            </a:r>
          </a:p>
        </p:txBody>
      </p:sp>
      <p:grpSp>
        <p:nvGrpSpPr>
          <p:cNvPr id="6" name="From lever to arm" descr="A chain from left to right: lever, rod, pulley, wire, arm. A second branch runs from the rod to the points."/>
          <p:cNvGrpSpPr/>
          <p:nvPr/>
        </p:nvGrpSpPr>
        <p:grpSpPr>
          <a:xfrm>
            <a:off x="5623560" y="2331720"/>
            <a:ext cx="6016752" cy="2194560"/>
            <a:chOff x="5623560" y="2331720"/>
            <a:chExt cx="6016752" cy="2194560"/>
          </a:xfrm>
        </p:grpSpPr>
        <p:sp>
          <p:nvSpPr>
            <p:cNvPr id="7" name="Step: Lever"/>
            <p:cNvSpPr/>
            <p:nvPr/>
          </p:nvSpPr>
          <p:spPr>
            <a:xfrm>
              <a:off x="5623560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Lever</a:t>
              </a:r>
            </a:p>
          </p:txBody>
        </p:sp>
        <p:sp>
          <p:nvSpPr>
            <p:cNvPr id="8" name="Step: Rod"/>
            <p:cNvSpPr/>
            <p:nvPr/>
          </p:nvSpPr>
          <p:spPr>
            <a:xfrm>
              <a:off x="6876288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Rod</a:t>
              </a:r>
            </a:p>
          </p:txBody>
        </p:sp>
        <p:sp>
          <p:nvSpPr>
            <p:cNvPr id="9" name="Step: Pulley"/>
            <p:cNvSpPr/>
            <p:nvPr/>
          </p:nvSpPr>
          <p:spPr>
            <a:xfrm>
              <a:off x="8129016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Pulley</a:t>
              </a:r>
            </a:p>
          </p:txBody>
        </p:sp>
        <p:sp>
          <p:nvSpPr>
            <p:cNvPr id="10" name="Step: Wire"/>
            <p:cNvSpPr/>
            <p:nvPr/>
          </p:nvSpPr>
          <p:spPr>
            <a:xfrm>
              <a:off x="9381744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</a:t>
              </a:r>
            </a:p>
          </p:txBody>
        </p:sp>
        <p:sp>
          <p:nvSpPr>
            <p:cNvPr id="11" name="Step: Arm"/>
            <p:cNvSpPr/>
            <p:nvPr/>
          </p:nvSpPr>
          <p:spPr>
            <a:xfrm>
              <a:off x="10634472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Arm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6647688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7900416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9153144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10405872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6" name="Step: Points"/>
            <p:cNvSpPr/>
            <p:nvPr/>
          </p:nvSpPr>
          <p:spPr>
            <a:xfrm>
              <a:off x="6876288" y="384048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Points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7379208" y="3035808"/>
              <a:ext cx="0" cy="786384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18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Rods and wires carry the movement out to the track.</a:t>
            </a:r>
          </a:p>
        </p:txBody>
      </p:sp>
      <p:sp>
        <p:nvSpPr>
          <p:cNvPr id="19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Interlocking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Locked levers" descr="Two tracks cross, each with a signal. Below, two levers are joined by a locking bar. Lever 1 is pulled so signal 1 is clear. Lever 2 is locked so signal 2 stays at stop."/>
          <p:cNvGrpSpPr/>
          <p:nvPr/>
        </p:nvGrpSpPr>
        <p:grpSpPr>
          <a:xfrm>
            <a:off x="2194560" y="1476228"/>
            <a:ext cx="7955280" cy="4266204"/>
            <a:chOff x="2194560" y="1476228"/>
            <a:chExt cx="7955280" cy="4266204"/>
          </a:xfrm>
        </p:grpSpPr>
        <p:cxnSp>
          <p:nvCxnSpPr>
            <p:cNvPr id="5" name="Connector 4"/>
            <p:cNvCxnSpPr/>
            <p:nvPr/>
          </p:nvCxnSpPr>
          <p:spPr>
            <a:xfrm>
              <a:off x="5256871" y="2359494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5350169" y="2121066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 flipV="1">
              <a:off x="5233547" y="20614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V="1">
              <a:off x="5496437" y="21643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 flipV="1">
              <a:off x="5759327" y="22671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6022217" y="23700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V="1">
              <a:off x="6285107" y="24729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 flipV="1">
              <a:off x="6547997" y="25758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V="1">
              <a:off x="6810887" y="26786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 flipV="1">
              <a:off x="7073777" y="278154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 flipV="1">
              <a:off x="7336667" y="288441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 flipV="1">
              <a:off x="7599557" y="298728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 flipV="1">
              <a:off x="7862447" y="30901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 flipV="1">
              <a:off x="8125337" y="31930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 flipV="1">
              <a:off x="8388227" y="32958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 flipV="1">
              <a:off x="8651117" y="33987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 flipV="1">
              <a:off x="8914007" y="35016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 flipV="1">
              <a:off x="9176897" y="36045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 flipV="1">
              <a:off x="9439787" y="37073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 flipV="1">
              <a:off x="5350169" y="2359494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 flipV="1">
              <a:off x="5256871" y="2121066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 flipH="1" flipV="1">
              <a:off x="5233547" y="37073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 flipH="1" flipV="1">
              <a:off x="5496437" y="36045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H="1" flipV="1">
              <a:off x="5759327" y="35016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 flipH="1" flipV="1">
              <a:off x="6022217" y="33987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 flipH="1" flipV="1">
              <a:off x="6285107" y="32958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 flipH="1" flipV="1">
              <a:off x="6547997" y="31930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 flipH="1" flipV="1">
              <a:off x="6810887" y="30901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 flipH="1" flipV="1">
              <a:off x="7073777" y="298728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 flipH="1" flipV="1">
              <a:off x="7336667" y="288441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 flipH="1" flipV="1">
              <a:off x="7599557" y="278154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 flipH="1" flipV="1">
              <a:off x="7862447" y="26786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 flipH="1" flipV="1">
              <a:off x="8125337" y="25758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 flipH="1" flipV="1">
              <a:off x="8388227" y="24729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 flipH="1" flipV="1">
              <a:off x="8651117" y="23700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 flipH="1" flipV="1">
              <a:off x="8914007" y="22671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1" name="Connector 40"/>
            <p:cNvCxnSpPr/>
            <p:nvPr/>
          </p:nvCxnSpPr>
          <p:spPr>
            <a:xfrm flipH="1" flipV="1">
              <a:off x="9176897" y="21643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 flipH="1" flipV="1">
              <a:off x="9439787" y="20614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grpSp>
          <p:nvGrpSpPr>
            <p:cNvPr id="43" name="Signal 1 (clear)" descr="A semaphore signal post with its arm raised (clear)."/>
            <p:cNvGrpSpPr/>
            <p:nvPr/>
          </p:nvGrpSpPr>
          <p:grpSpPr>
            <a:xfrm>
              <a:off x="4537253" y="1476228"/>
              <a:ext cx="615919" cy="1129812"/>
              <a:chOff x="4537253" y="1476228"/>
              <a:chExt cx="615919" cy="1129812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4645152" y="2547518"/>
                <a:ext cx="219456" cy="5852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4710989" y="1801368"/>
                <a:ext cx="87782" cy="746150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Freeform 45"/>
              <p:cNvSpPr/>
              <p:nvPr/>
            </p:nvSpPr>
            <p:spPr>
              <a:xfrm>
                <a:off x="4718672" y="1476228"/>
                <a:ext cx="434500" cy="434500"/>
              </a:xfrm>
              <a:custGeom>
                <a:avLst/>
                <a:gdLst/>
                <a:ahLst/>
                <a:cxnLst/>
                <a:rect l="l" t="t" r="r" b="b"/>
                <a:pathLst>
                  <a:path w="434500" h="434500">
                    <a:moveTo>
                      <a:pt x="0" y="362084"/>
                    </a:moveTo>
                    <a:lnTo>
                      <a:pt x="362084" y="0"/>
                    </a:lnTo>
                    <a:lnTo>
                      <a:pt x="434500" y="72416"/>
                    </a:lnTo>
                    <a:lnTo>
                      <a:pt x="72416" y="43450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Freeform 46"/>
              <p:cNvSpPr/>
              <p:nvPr/>
            </p:nvSpPr>
            <p:spPr>
              <a:xfrm>
                <a:off x="4899714" y="1600371"/>
                <a:ext cx="129315" cy="129315"/>
              </a:xfrm>
              <a:custGeom>
                <a:avLst/>
                <a:gdLst/>
                <a:ahLst/>
                <a:cxnLst/>
                <a:rect l="l" t="t" r="r" b="b"/>
                <a:pathLst>
                  <a:path w="129315" h="129315">
                    <a:moveTo>
                      <a:pt x="0" y="56899"/>
                    </a:moveTo>
                    <a:lnTo>
                      <a:pt x="56898" y="0"/>
                    </a:lnTo>
                    <a:lnTo>
                      <a:pt x="129315" y="72417"/>
                    </a:lnTo>
                    <a:lnTo>
                      <a:pt x="72416" y="12931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715561" y="1835201"/>
                <a:ext cx="78638" cy="7863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537253" y="1803197"/>
                <a:ext cx="142646" cy="14264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0" name="Signal 2 (stop)" descr="A semaphore signal post with its arm flat (stop)."/>
            <p:cNvGrpSpPr/>
            <p:nvPr/>
          </p:nvGrpSpPr>
          <p:grpSpPr>
            <a:xfrm>
              <a:off x="4537253" y="3493008"/>
              <a:ext cx="729691" cy="804672"/>
              <a:chOff x="4537253" y="3493008"/>
              <a:chExt cx="729691" cy="80467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4645152" y="4239158"/>
                <a:ext cx="219456" cy="5852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4710989" y="3493008"/>
                <a:ext cx="87782" cy="746150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Freeform 52"/>
              <p:cNvSpPr/>
              <p:nvPr/>
            </p:nvSpPr>
            <p:spPr>
              <a:xfrm>
                <a:off x="4754880" y="3514954"/>
                <a:ext cx="512064" cy="102412"/>
              </a:xfrm>
              <a:custGeom>
                <a:avLst/>
                <a:gdLst/>
                <a:ahLst/>
                <a:cxnLst/>
                <a:rect l="l" t="t" r="r" b="b"/>
                <a:pathLst>
                  <a:path w="512064" h="102412">
                    <a:moveTo>
                      <a:pt x="0" y="0"/>
                    </a:moveTo>
                    <a:lnTo>
                      <a:pt x="512064" y="0"/>
                    </a:lnTo>
                    <a:lnTo>
                      <a:pt x="512064" y="102412"/>
                    </a:lnTo>
                    <a:lnTo>
                      <a:pt x="0" y="102412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Freeform 53"/>
              <p:cNvSpPr/>
              <p:nvPr/>
            </p:nvSpPr>
            <p:spPr>
              <a:xfrm>
                <a:off x="5010912" y="3514954"/>
                <a:ext cx="80467" cy="102412"/>
              </a:xfrm>
              <a:custGeom>
                <a:avLst/>
                <a:gdLst/>
                <a:ahLst/>
                <a:cxnLst/>
                <a:rect l="l" t="t" r="r" b="b"/>
                <a:pathLst>
                  <a:path w="80467" h="102412">
                    <a:moveTo>
                      <a:pt x="0" y="0"/>
                    </a:moveTo>
                    <a:lnTo>
                      <a:pt x="80467" y="0"/>
                    </a:lnTo>
                    <a:lnTo>
                      <a:pt x="80467" y="102412"/>
                    </a:lnTo>
                    <a:lnTo>
                      <a:pt x="0" y="10241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4715561" y="3526841"/>
                <a:ext cx="78638" cy="7863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4537253" y="3494837"/>
                <a:ext cx="142646" cy="14264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7" name="TextBox 56"/>
            <p:cNvSpPr txBox="1"/>
            <p:nvPr/>
          </p:nvSpPr>
          <p:spPr>
            <a:xfrm>
              <a:off x="2194560" y="1828800"/>
              <a:ext cx="210312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Signal 1: CLEAR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194560" y="3520440"/>
              <a:ext cx="210312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Signal 2: STOP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303520" y="5376672"/>
              <a:ext cx="4206240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 rot="1500000">
              <a:off x="6327294" y="4635843"/>
              <a:ext cx="109728" cy="77724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6126480" y="5285232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7991856" y="4599432"/>
              <a:ext cx="109728" cy="77724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7955280" y="5285232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Locking bar"/>
            <p:cNvSpPr/>
            <p:nvPr/>
          </p:nvSpPr>
          <p:spPr>
            <a:xfrm>
              <a:off x="6355080" y="4956048"/>
              <a:ext cx="1691640" cy="91440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936992" y="4901184"/>
              <a:ext cx="219456" cy="201168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66" name="Padlock" descr="A padlock icon showing that the lever is locked."/>
            <p:cNvGrpSpPr/>
            <p:nvPr/>
          </p:nvGrpSpPr>
          <p:grpSpPr>
            <a:xfrm>
              <a:off x="8302752" y="4572000"/>
              <a:ext cx="310896" cy="402336"/>
              <a:chOff x="8302752" y="4572000"/>
              <a:chExt cx="310896" cy="402336"/>
            </a:xfrm>
          </p:grpSpPr>
          <p:sp>
            <p:nvSpPr>
              <p:cNvPr id="67" name="Rounded Rectangle 66"/>
              <p:cNvSpPr/>
              <p:nvPr/>
            </p:nvSpPr>
            <p:spPr>
              <a:xfrm>
                <a:off x="8366760" y="4572000"/>
                <a:ext cx="182880" cy="219456"/>
              </a:xfrm>
              <a:prstGeom prst="roundRect">
                <a:avLst>
                  <a:gd name="adj" fmla="val 50000"/>
                </a:avLst>
              </a:prstGeom>
              <a:noFill/>
              <a:ln w="38100">
                <a:solidFill>
                  <a:srgbClr val="F2F2F2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Rounded Rectangle 67"/>
              <p:cNvSpPr/>
              <p:nvPr/>
            </p:nvSpPr>
            <p:spPr>
              <a:xfrm>
                <a:off x="8302752" y="4727448"/>
                <a:ext cx="310896" cy="246888"/>
              </a:xfrm>
              <a:prstGeom prst="roundRect">
                <a:avLst>
                  <a:gd name="adj" fmla="val 14814"/>
                </a:avLst>
              </a:prstGeom>
              <a:solidFill>
                <a:srgbClr val="F2C14E"/>
              </a:solidFill>
              <a:ln w="1270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9" name="TextBox 68"/>
            <p:cNvSpPr txBox="1"/>
            <p:nvPr/>
          </p:nvSpPr>
          <p:spPr>
            <a:xfrm>
              <a:off x="8686800" y="4572000"/>
              <a:ext cx="146304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Locked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577840" y="5468112"/>
              <a:ext cx="1280160" cy="2743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Lever 1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406640" y="5468112"/>
              <a:ext cx="1280160" cy="2743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Lever 2</a:t>
              </a:r>
            </a:p>
          </p:txBody>
        </p:sp>
      </p:grpSp>
      <p:sp>
        <p:nvSpPr>
          <p:cNvPr id="72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Levers lock each other. Two clashing signals cannot both be clear.</a:t>
            </a:r>
          </a:p>
        </p:txBody>
      </p:sp>
      <p:sp>
        <p:nvSpPr>
          <p:cNvPr id="73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Boxes talk to each other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Two boxes exchange bell codes" descr="Two neighbouring signal boxes joined by a dashed double arrow labelled bell codes. Between them a block instrument with three positions: normal, line clear, train on line. Line clear is highlighted."/>
          <p:cNvGrpSpPr/>
          <p:nvPr/>
        </p:nvGrpSpPr>
        <p:grpSpPr>
          <a:xfrm>
            <a:off x="749808" y="1600200"/>
            <a:ext cx="10661904" cy="3429000"/>
            <a:chOff x="749808" y="1600200"/>
            <a:chExt cx="10661904" cy="3429000"/>
          </a:xfrm>
        </p:grpSpPr>
        <p:grpSp>
          <p:nvGrpSpPr>
            <p:cNvPr id="5" name="Signal box (left)" descr="A small signal box building."/>
            <p:cNvGrpSpPr/>
            <p:nvPr/>
          </p:nvGrpSpPr>
          <p:grpSpPr>
            <a:xfrm>
              <a:off x="749808" y="1600200"/>
              <a:ext cx="2249424" cy="2011680"/>
              <a:chOff x="749808" y="1600200"/>
              <a:chExt cx="2249424" cy="201168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822960" y="2042770"/>
                <a:ext cx="21031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Freeform 6"/>
              <p:cNvSpPr/>
              <p:nvPr/>
            </p:nvSpPr>
            <p:spPr>
              <a:xfrm>
                <a:off x="749808" y="1600200"/>
                <a:ext cx="22494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249424" h="482803">
                    <a:moveTo>
                      <a:pt x="0" y="482803"/>
                    </a:moveTo>
                    <a:lnTo>
                      <a:pt x="1124712" y="0"/>
                    </a:lnTo>
                    <a:lnTo>
                      <a:pt x="22494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033272" y="2324405"/>
                <a:ext cx="168249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9" name="Connector 8"/>
              <p:cNvCxnSpPr/>
              <p:nvPr/>
            </p:nvCxnSpPr>
            <p:spPr>
              <a:xfrm>
                <a:off x="1453896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0" name="Connector 9"/>
              <p:cNvCxnSpPr/>
              <p:nvPr/>
            </p:nvCxnSpPr>
            <p:spPr>
              <a:xfrm>
                <a:off x="1874520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2295144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sp>
            <p:nvSpPr>
              <p:cNvPr id="12" name="Rectangle 11"/>
              <p:cNvSpPr/>
              <p:nvPr/>
            </p:nvSpPr>
            <p:spPr>
              <a:xfrm>
                <a:off x="1706270" y="3008376"/>
                <a:ext cx="336499" cy="60350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3" name="Signal box (right)" descr="A small signal box building."/>
            <p:cNvGrpSpPr/>
            <p:nvPr/>
          </p:nvGrpSpPr>
          <p:grpSpPr>
            <a:xfrm>
              <a:off x="9162288" y="1600200"/>
              <a:ext cx="2249424" cy="2011680"/>
              <a:chOff x="9162288" y="1600200"/>
              <a:chExt cx="2249424" cy="2011680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9235440" y="2042770"/>
                <a:ext cx="21031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Freeform 14"/>
              <p:cNvSpPr/>
              <p:nvPr/>
            </p:nvSpPr>
            <p:spPr>
              <a:xfrm>
                <a:off x="9162288" y="1600200"/>
                <a:ext cx="22494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249424" h="482803">
                    <a:moveTo>
                      <a:pt x="0" y="482803"/>
                    </a:moveTo>
                    <a:lnTo>
                      <a:pt x="1124712" y="0"/>
                    </a:lnTo>
                    <a:lnTo>
                      <a:pt x="22494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9445752" y="2324405"/>
                <a:ext cx="168249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Connector 16"/>
              <p:cNvCxnSpPr/>
              <p:nvPr/>
            </p:nvCxnSpPr>
            <p:spPr>
              <a:xfrm>
                <a:off x="9866376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8" name="Connector 17"/>
              <p:cNvCxnSpPr/>
              <p:nvPr/>
            </p:nvCxnSpPr>
            <p:spPr>
              <a:xfrm>
                <a:off x="10287000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9" name="Connector 18"/>
              <p:cNvCxnSpPr/>
              <p:nvPr/>
            </p:nvCxnSpPr>
            <p:spPr>
              <a:xfrm>
                <a:off x="10707624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sp>
            <p:nvSpPr>
              <p:cNvPr id="20" name="Rectangle 19"/>
              <p:cNvSpPr/>
              <p:nvPr/>
            </p:nvSpPr>
            <p:spPr>
              <a:xfrm>
                <a:off x="10118750" y="3008376"/>
                <a:ext cx="336499" cy="60350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21" name="Connector 20"/>
            <p:cNvCxnSpPr/>
            <p:nvPr/>
          </p:nvCxnSpPr>
          <p:spPr>
            <a:xfrm>
              <a:off x="3108960" y="2697480"/>
              <a:ext cx="594360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headEnd type="triangle" w="med" len="med"/>
              <a:tailEnd type="triangle" w="med" len="med"/>
            </a:ln>
          </p:spPr>
        </p:cxnSp>
        <p:sp>
          <p:nvSpPr>
            <p:cNvPr id="22" name="TextBox 21"/>
            <p:cNvSpPr txBox="1"/>
            <p:nvPr/>
          </p:nvSpPr>
          <p:spPr>
            <a:xfrm>
              <a:off x="4727448" y="2194560"/>
              <a:ext cx="27432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Bell codes</a:t>
              </a:r>
            </a:p>
          </p:txBody>
        </p:sp>
        <p:sp>
          <p:nvSpPr>
            <p:cNvPr id="23" name="Block instrument"/>
            <p:cNvSpPr/>
            <p:nvPr/>
          </p:nvSpPr>
          <p:spPr>
            <a:xfrm>
              <a:off x="3355848" y="3291840"/>
              <a:ext cx="5486400" cy="123444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Position: Normal"/>
            <p:cNvSpPr/>
            <p:nvPr/>
          </p:nvSpPr>
          <p:spPr>
            <a:xfrm>
              <a:off x="349300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Normal</a:t>
              </a:r>
            </a:p>
          </p:txBody>
        </p:sp>
        <p:sp>
          <p:nvSpPr>
            <p:cNvPr id="25" name="Position: Line clear"/>
            <p:cNvSpPr/>
            <p:nvPr/>
          </p:nvSpPr>
          <p:spPr>
            <a:xfrm>
              <a:off x="527608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Line clear</a:t>
              </a:r>
            </a:p>
          </p:txBody>
        </p:sp>
        <p:sp>
          <p:nvSpPr>
            <p:cNvPr id="26" name="Position: Train on line"/>
            <p:cNvSpPr/>
            <p:nvPr/>
          </p:nvSpPr>
          <p:spPr>
            <a:xfrm>
              <a:off x="705916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Train on line</a:t>
              </a:r>
            </a:p>
          </p:txBody>
        </p:sp>
        <p:sp>
          <p:nvSpPr>
            <p:cNvPr id="27" name="Freeform 26"/>
            <p:cNvSpPr/>
            <p:nvPr/>
          </p:nvSpPr>
          <p:spPr>
            <a:xfrm>
              <a:off x="5961888" y="3310128"/>
              <a:ext cx="274320" cy="164592"/>
            </a:xfrm>
            <a:custGeom>
              <a:avLst/>
              <a:gdLst/>
              <a:ahLst/>
              <a:cxnLst/>
              <a:rect l="l" t="t" r="r" b="b"/>
              <a:pathLst>
                <a:path w="274320" h="164592">
                  <a:moveTo>
                    <a:pt x="0" y="0"/>
                  </a:moveTo>
                  <a:lnTo>
                    <a:pt x="274320" y="0"/>
                  </a:lnTo>
                  <a:lnTo>
                    <a:pt x="137160" y="16459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355848" y="4663440"/>
              <a:ext cx="5486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Example: British absolute block</a:t>
              </a:r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Neighbouring boxes ask each other: is the line clear?</a:t>
            </a:r>
          </a:p>
        </p:txBody>
      </p:sp>
      <p:sp>
        <p:nvSpPr>
          <p:cNvPr id="3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All together on a real railway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A real railway with signals" descr="A track with three blocks. A signal box at the top left, with levers and a signaller, works three signals through dashed rods with counterweights. A locomotive and wagons sit in block 2, so the signal before it shows stop. A second box at the far right is joined by bell codes. Four steps below explain the order of events."/>
          <p:cNvGrpSpPr/>
          <p:nvPr/>
        </p:nvGrpSpPr>
        <p:grpSpPr>
          <a:xfrm>
            <a:off x="548640" y="1371600"/>
            <a:ext cx="11137392" cy="4297680"/>
            <a:chOff x="548640" y="1371600"/>
            <a:chExt cx="11137392" cy="429768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602736"/>
              <a:ext cx="10698480" cy="365760"/>
              <a:chOff x="731520" y="36027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6576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9136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187952"/>
              <a:ext cx="376732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4608576" y="4187952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Occupied</a:t>
              </a:r>
            </a:p>
          </p:txBody>
        </p:sp>
        <p:sp>
          <p:nvSpPr>
            <p:cNvPr id="43" name="Block band (free)"/>
            <p:cNvSpPr/>
            <p:nvPr/>
          </p:nvSpPr>
          <p:spPr>
            <a:xfrm>
              <a:off x="7351776" y="4187952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grpSp>
          <p:nvGrpSpPr>
            <p:cNvPr id="44" name="Train" descr="A steam locomotive with wagons."/>
            <p:cNvGrpSpPr/>
            <p:nvPr/>
          </p:nvGrpSpPr>
          <p:grpSpPr>
            <a:xfrm>
              <a:off x="4937760" y="2999232"/>
              <a:ext cx="2018995" cy="738835"/>
              <a:chOff x="4937760" y="2999232"/>
              <a:chExt cx="2018995" cy="738835"/>
            </a:xfrm>
          </p:grpSpPr>
          <p:sp>
            <p:nvSpPr>
              <p:cNvPr id="45" name="Rounded Rectangle 44"/>
              <p:cNvSpPr/>
              <p:nvPr/>
            </p:nvSpPr>
            <p:spPr>
              <a:xfrm>
                <a:off x="4937760" y="3277210"/>
                <a:ext cx="585216" cy="329184"/>
              </a:xfrm>
              <a:prstGeom prst="roundRect">
                <a:avLst>
                  <a:gd name="adj" fmla="val 833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993356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5321076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ounded Rectangle 47"/>
              <p:cNvSpPr/>
              <p:nvPr/>
            </p:nvSpPr>
            <p:spPr>
              <a:xfrm>
                <a:off x="5581498" y="3277210"/>
                <a:ext cx="585216" cy="329184"/>
              </a:xfrm>
              <a:prstGeom prst="roundRect">
                <a:avLst>
                  <a:gd name="adj" fmla="val 833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5637093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5964814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ounded Rectangle 50"/>
              <p:cNvSpPr/>
              <p:nvPr/>
            </p:nvSpPr>
            <p:spPr>
              <a:xfrm>
                <a:off x="6225235" y="3204058"/>
                <a:ext cx="731520" cy="402336"/>
              </a:xfrm>
              <a:prstGeom prst="roundRect">
                <a:avLst>
                  <a:gd name="adj" fmla="val 18181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6737299" y="2999232"/>
                <a:ext cx="109728" cy="219456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6261811" y="3218688"/>
                <a:ext cx="204826" cy="219456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6291072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510528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6729984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7" name="Signal box (main)" descr="A small signal box building."/>
            <p:cNvGrpSpPr/>
            <p:nvPr/>
          </p:nvGrpSpPr>
          <p:grpSpPr>
            <a:xfrm>
              <a:off x="658368" y="1371600"/>
              <a:ext cx="2523744" cy="1645920"/>
              <a:chOff x="658368" y="1371600"/>
              <a:chExt cx="2523744" cy="1645920"/>
            </a:xfrm>
          </p:grpSpPr>
          <p:sp>
            <p:nvSpPr>
              <p:cNvPr id="58" name="Rectangle 57"/>
              <p:cNvSpPr/>
              <p:nvPr/>
            </p:nvSpPr>
            <p:spPr>
              <a:xfrm>
                <a:off x="731520" y="1733702"/>
                <a:ext cx="2377440" cy="1283818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Freeform 58"/>
              <p:cNvSpPr/>
              <p:nvPr/>
            </p:nvSpPr>
            <p:spPr>
              <a:xfrm>
                <a:off x="658368" y="1371600"/>
                <a:ext cx="2523744" cy="395021"/>
              </a:xfrm>
              <a:custGeom>
                <a:avLst/>
                <a:gdLst/>
                <a:ahLst/>
                <a:cxnLst/>
                <a:rect l="l" t="t" r="r" b="b"/>
                <a:pathLst>
                  <a:path w="2523744" h="395021">
                    <a:moveTo>
                      <a:pt x="0" y="395021"/>
                    </a:moveTo>
                    <a:lnTo>
                      <a:pt x="1261872" y="0"/>
                    </a:lnTo>
                    <a:lnTo>
                      <a:pt x="2523744" y="395021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Rectangle 59"/>
              <p:cNvSpPr/>
              <p:nvPr/>
            </p:nvSpPr>
            <p:spPr>
              <a:xfrm>
                <a:off x="969264" y="1964131"/>
                <a:ext cx="1901952" cy="362102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1" name="Connector 60"/>
              <p:cNvCxnSpPr/>
              <p:nvPr/>
            </p:nvCxnSpPr>
            <p:spPr>
              <a:xfrm>
                <a:off x="1444752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2" name="Connector 61"/>
              <p:cNvCxnSpPr/>
              <p:nvPr/>
            </p:nvCxnSpPr>
            <p:spPr>
              <a:xfrm>
                <a:off x="1920240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3" name="Connector 62"/>
              <p:cNvCxnSpPr/>
              <p:nvPr/>
            </p:nvCxnSpPr>
            <p:spPr>
              <a:xfrm>
                <a:off x="2395728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sp>
          <p:nvSpPr>
            <p:cNvPr id="64" name="Rectangle 63"/>
            <p:cNvSpPr/>
            <p:nvPr/>
          </p:nvSpPr>
          <p:spPr>
            <a:xfrm>
              <a:off x="1047902" y="2461565"/>
              <a:ext cx="98755" cy="510235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101498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367942" y="2461565"/>
              <a:ext cx="98755" cy="510235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33502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687982" y="2461565"/>
              <a:ext cx="98755" cy="510235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165506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0" name="Signaller icon" descr="A simple icon of a person: the signaller."/>
            <p:cNvGrpSpPr/>
            <p:nvPr/>
          </p:nvGrpSpPr>
          <p:grpSpPr>
            <a:xfrm>
              <a:off x="2419502" y="2544318"/>
              <a:ext cx="373075" cy="427482"/>
              <a:chOff x="2419502" y="2544318"/>
              <a:chExt cx="373075" cy="427482"/>
            </a:xfrm>
          </p:grpSpPr>
          <p:sp>
            <p:nvSpPr>
              <p:cNvPr id="71" name="Oval 70"/>
              <p:cNvSpPr/>
              <p:nvPr/>
            </p:nvSpPr>
            <p:spPr>
              <a:xfrm>
                <a:off x="2504999" y="2544318"/>
                <a:ext cx="202082" cy="202082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2" name="Round Same Side Corner Rectangle 71"/>
              <p:cNvSpPr/>
              <p:nvPr/>
            </p:nvSpPr>
            <p:spPr>
              <a:xfrm>
                <a:off x="2419502" y="2676449"/>
                <a:ext cx="373075" cy="295351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3" name="Signal box (neighbour)" descr="A small signal box building."/>
            <p:cNvGrpSpPr/>
            <p:nvPr/>
          </p:nvGrpSpPr>
          <p:grpSpPr>
            <a:xfrm>
              <a:off x="10533888" y="1371600"/>
              <a:ext cx="1152144" cy="914400"/>
              <a:chOff x="10533888" y="1371600"/>
              <a:chExt cx="1152144" cy="914400"/>
            </a:xfrm>
          </p:grpSpPr>
          <p:sp>
            <p:nvSpPr>
              <p:cNvPr id="74" name="Rectangle 73"/>
              <p:cNvSpPr/>
              <p:nvPr/>
            </p:nvSpPr>
            <p:spPr>
              <a:xfrm>
                <a:off x="10607040" y="1572768"/>
                <a:ext cx="1005840" cy="713232"/>
              </a:xfrm>
              <a:prstGeom prst="rect">
                <a:avLst/>
              </a:prstGeom>
              <a:solidFill>
                <a:srgbClr val="2B2F36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10533888" y="1371600"/>
                <a:ext cx="1152144" cy="219456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19456">
                    <a:moveTo>
                      <a:pt x="0" y="219456"/>
                    </a:moveTo>
                    <a:lnTo>
                      <a:pt x="576072" y="0"/>
                    </a:lnTo>
                    <a:lnTo>
                      <a:pt x="1152144" y="219456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0707624" y="1700784"/>
                <a:ext cx="804672" cy="201168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77" name="Connector 76"/>
              <p:cNvCxnSpPr/>
              <p:nvPr/>
            </p:nvCxnSpPr>
            <p:spPr>
              <a:xfrm>
                <a:off x="10908792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78" name="Connector 77"/>
              <p:cNvCxnSpPr/>
              <p:nvPr/>
            </p:nvCxnSpPr>
            <p:spPr>
              <a:xfrm>
                <a:off x="11109960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79" name="Connector 78"/>
              <p:cNvCxnSpPr/>
              <p:nvPr/>
            </p:nvCxnSpPr>
            <p:spPr>
              <a:xfrm>
                <a:off x="11311128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cxnSp>
          <p:nvCxnSpPr>
            <p:cNvPr id="80" name="Connector 79"/>
            <p:cNvCxnSpPr/>
            <p:nvPr/>
          </p:nvCxnSpPr>
          <p:spPr>
            <a:xfrm>
              <a:off x="3246120" y="1828800"/>
              <a:ext cx="722376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headEnd type="triangle" w="med" len="med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5212080" y="1371600"/>
              <a:ext cx="31089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Bell codes</a:t>
              </a:r>
            </a:p>
          </p:txBody>
        </p:sp>
        <p:grpSp>
          <p:nvGrpSpPr>
            <p:cNvPr id="82" name="Signal (stop, stop)" descr="A semaphore signal post with its arm flat (stop)."/>
            <p:cNvGrpSpPr/>
            <p:nvPr/>
          </p:nvGrpSpPr>
          <p:grpSpPr>
            <a:xfrm>
              <a:off x="4302252" y="2962656"/>
              <a:ext cx="909828" cy="1005840"/>
              <a:chOff x="4302252" y="2962656"/>
              <a:chExt cx="909828" cy="1005840"/>
            </a:xfrm>
          </p:grpSpPr>
          <p:sp>
            <p:nvSpPr>
              <p:cNvPr id="83" name="Rectangle 82"/>
              <p:cNvSpPr/>
              <p:nvPr/>
            </p:nvSpPr>
            <p:spPr>
              <a:xfrm>
                <a:off x="44348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Rectangle 83"/>
              <p:cNvSpPr/>
              <p:nvPr/>
            </p:nvSpPr>
            <p:spPr>
              <a:xfrm>
                <a:off x="45171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Freeform 84"/>
              <p:cNvSpPr/>
              <p:nvPr/>
            </p:nvSpPr>
            <p:spPr>
              <a:xfrm>
                <a:off x="4572000" y="2990088"/>
                <a:ext cx="640080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640080" h="128016">
                    <a:moveTo>
                      <a:pt x="0" y="0"/>
                    </a:moveTo>
                    <a:lnTo>
                      <a:pt x="640080" y="0"/>
                    </a:lnTo>
                    <a:lnTo>
                      <a:pt x="640080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Freeform 85"/>
              <p:cNvSpPr/>
              <p:nvPr/>
            </p:nvSpPr>
            <p:spPr>
              <a:xfrm>
                <a:off x="4892040" y="2990088"/>
                <a:ext cx="100584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100584" h="128016">
                    <a:moveTo>
                      <a:pt x="0" y="0"/>
                    </a:moveTo>
                    <a:lnTo>
                      <a:pt x="100584" y="0"/>
                    </a:lnTo>
                    <a:lnTo>
                      <a:pt x="100584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Oval 86"/>
              <p:cNvSpPr/>
              <p:nvPr/>
            </p:nvSpPr>
            <p:spPr>
              <a:xfrm>
                <a:off x="45262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4302252" y="2967228"/>
                <a:ext cx="173736" cy="17373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9" name="Rod"/>
            <p:cNvSpPr/>
            <p:nvPr/>
          </p:nvSpPr>
          <p:spPr>
            <a:xfrm>
              <a:off x="3108960" y="2743200"/>
              <a:ext cx="1051560" cy="1207008"/>
            </a:xfrm>
            <a:custGeom>
              <a:avLst/>
              <a:gdLst/>
              <a:ahLst/>
              <a:cxnLst/>
              <a:rect l="l" t="t" r="r" b="b"/>
              <a:pathLst>
                <a:path w="1051560" h="1207008">
                  <a:moveTo>
                    <a:pt x="0" y="0"/>
                  </a:moveTo>
                  <a:lnTo>
                    <a:pt x="1051560" y="0"/>
                  </a:lnTo>
                  <a:lnTo>
                    <a:pt x="1051560" y="12070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ounterweight"/>
            <p:cNvSpPr/>
            <p:nvPr/>
          </p:nvSpPr>
          <p:spPr>
            <a:xfrm>
              <a:off x="40873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91" name="Signal (stop, clear)" descr="A semaphore signal post with its arm raised (clear)."/>
            <p:cNvGrpSpPr/>
            <p:nvPr/>
          </p:nvGrpSpPr>
          <p:grpSpPr>
            <a:xfrm>
              <a:off x="7045452" y="2556231"/>
              <a:ext cx="767613" cy="1412265"/>
              <a:chOff x="7045452" y="2556231"/>
              <a:chExt cx="767613" cy="1412265"/>
            </a:xfrm>
          </p:grpSpPr>
          <p:sp>
            <p:nvSpPr>
              <p:cNvPr id="92" name="Rectangle 91"/>
              <p:cNvSpPr/>
              <p:nvPr/>
            </p:nvSpPr>
            <p:spPr>
              <a:xfrm>
                <a:off x="71780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72603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4" name="Freeform 93"/>
              <p:cNvSpPr/>
              <p:nvPr/>
            </p:nvSpPr>
            <p:spPr>
              <a:xfrm>
                <a:off x="7269940" y="25562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5" name="Freeform 94"/>
              <p:cNvSpPr/>
              <p:nvPr/>
            </p:nvSpPr>
            <p:spPr>
              <a:xfrm>
                <a:off x="7496242" y="27114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6" name="Oval 95"/>
              <p:cNvSpPr/>
              <p:nvPr/>
            </p:nvSpPr>
            <p:spPr>
              <a:xfrm>
                <a:off x="72694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7" name="Oval 96"/>
              <p:cNvSpPr/>
              <p:nvPr/>
            </p:nvSpPr>
            <p:spPr>
              <a:xfrm>
                <a:off x="7045452" y="29672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98" name="Rod"/>
            <p:cNvSpPr/>
            <p:nvPr/>
          </p:nvSpPr>
          <p:spPr>
            <a:xfrm>
              <a:off x="3108960" y="2514600"/>
              <a:ext cx="3794760" cy="1435608"/>
            </a:xfrm>
            <a:custGeom>
              <a:avLst/>
              <a:gdLst/>
              <a:ahLst/>
              <a:cxnLst/>
              <a:rect l="l" t="t" r="r" b="b"/>
              <a:pathLst>
                <a:path w="3794760" h="1435608">
                  <a:moveTo>
                    <a:pt x="0" y="0"/>
                  </a:moveTo>
                  <a:lnTo>
                    <a:pt x="3794760" y="0"/>
                  </a:lnTo>
                  <a:lnTo>
                    <a:pt x="3794760" y="14356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Counterweight"/>
            <p:cNvSpPr/>
            <p:nvPr/>
          </p:nvSpPr>
          <p:spPr>
            <a:xfrm>
              <a:off x="68305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00" name="Signal (stop, clear)" descr="A semaphore signal post with its arm raised (clear)."/>
            <p:cNvGrpSpPr/>
            <p:nvPr/>
          </p:nvGrpSpPr>
          <p:grpSpPr>
            <a:xfrm>
              <a:off x="9788652" y="2556231"/>
              <a:ext cx="767613" cy="1412265"/>
              <a:chOff x="9788652" y="2556231"/>
              <a:chExt cx="767613" cy="1412265"/>
            </a:xfrm>
          </p:grpSpPr>
          <p:sp>
            <p:nvSpPr>
              <p:cNvPr id="101" name="Rectangle 100"/>
              <p:cNvSpPr/>
              <p:nvPr/>
            </p:nvSpPr>
            <p:spPr>
              <a:xfrm>
                <a:off x="99212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2" name="Rectangle 101"/>
              <p:cNvSpPr/>
              <p:nvPr/>
            </p:nvSpPr>
            <p:spPr>
              <a:xfrm>
                <a:off x="100035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3" name="Freeform 102"/>
              <p:cNvSpPr/>
              <p:nvPr/>
            </p:nvSpPr>
            <p:spPr>
              <a:xfrm>
                <a:off x="10013140" y="25562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4" name="Freeform 103"/>
              <p:cNvSpPr/>
              <p:nvPr/>
            </p:nvSpPr>
            <p:spPr>
              <a:xfrm>
                <a:off x="10239442" y="27114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5" name="Oval 104"/>
              <p:cNvSpPr/>
              <p:nvPr/>
            </p:nvSpPr>
            <p:spPr>
              <a:xfrm>
                <a:off x="100126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6" name="Oval 105"/>
              <p:cNvSpPr/>
              <p:nvPr/>
            </p:nvSpPr>
            <p:spPr>
              <a:xfrm>
                <a:off x="9788652" y="29672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07" name="Rod"/>
            <p:cNvSpPr/>
            <p:nvPr/>
          </p:nvSpPr>
          <p:spPr>
            <a:xfrm>
              <a:off x="3108960" y="2286000"/>
              <a:ext cx="6537960" cy="1664208"/>
            </a:xfrm>
            <a:custGeom>
              <a:avLst/>
              <a:gdLst/>
              <a:ahLst/>
              <a:cxnLst/>
              <a:rect l="l" t="t" r="r" b="b"/>
              <a:pathLst>
                <a:path w="6537960" h="1664208">
                  <a:moveTo>
                    <a:pt x="0" y="0"/>
                  </a:moveTo>
                  <a:lnTo>
                    <a:pt x="6537960" y="0"/>
                  </a:lnTo>
                  <a:lnTo>
                    <a:pt x="6537960" y="16642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Counterweight"/>
            <p:cNvSpPr/>
            <p:nvPr/>
          </p:nvSpPr>
          <p:spPr>
            <a:xfrm>
              <a:off x="95737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548640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>
              <a:off x="658368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Step number"/>
            <p:cNvSpPr txBox="1"/>
            <p:nvPr/>
          </p:nvSpPr>
          <p:spPr>
            <a:xfrm>
              <a:off x="658368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112" name="Step text"/>
            <p:cNvSpPr txBox="1"/>
            <p:nvPr/>
          </p:nvSpPr>
          <p:spPr>
            <a:xfrm>
              <a:off x="1115568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 is in the block.</a:t>
              </a: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3362249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3471977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Step number"/>
            <p:cNvSpPr txBox="1"/>
            <p:nvPr/>
          </p:nvSpPr>
          <p:spPr>
            <a:xfrm>
              <a:off x="3471977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16" name="Step text"/>
            <p:cNvSpPr txBox="1"/>
            <p:nvPr/>
          </p:nvSpPr>
          <p:spPr>
            <a:xfrm>
              <a:off x="3929177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Signaller keeps the signal at stop.</a:t>
              </a:r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6175858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6285586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Step number"/>
            <p:cNvSpPr txBox="1"/>
            <p:nvPr/>
          </p:nvSpPr>
          <p:spPr>
            <a:xfrm>
              <a:off x="6285586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120" name="Step text"/>
            <p:cNvSpPr txBox="1"/>
            <p:nvPr/>
          </p:nvSpPr>
          <p:spPr>
            <a:xfrm>
              <a:off x="6742786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 leaves; the block is free.</a:t>
              </a:r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8989466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9099194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Step number"/>
            <p:cNvSpPr txBox="1"/>
            <p:nvPr/>
          </p:nvSpPr>
          <p:spPr>
            <a:xfrm>
              <a:off x="9099194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4</a:t>
              </a:r>
            </a:p>
          </p:txBody>
        </p:sp>
        <p:sp>
          <p:nvSpPr>
            <p:cNvPr id="124" name="Step text"/>
            <p:cNvSpPr txBox="1"/>
            <p:nvPr/>
          </p:nvSpPr>
          <p:spPr>
            <a:xfrm>
              <a:off x="9556394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Signaller pulls the lever; the arm lifts.</a:t>
              </a:r>
            </a:p>
          </p:txBody>
        </p:sp>
      </p:grpSp>
      <p:sp>
        <p:nvSpPr>
          <p:cNvPr id="12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signaller watches the blocks, sets the signals and keeps trains apart.</a:t>
            </a:r>
          </a:p>
        </p:txBody>
      </p:sp>
      <p:sp>
        <p:nvSpPr>
          <p:cNvPr id="12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In the mod: blocks and semaphores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Blocks and semaphores in the mod" descr="A track with three blocks and three small mechanical semaphores. A train sits in the middle block, which is occupied; the signal before it shows stop."/>
          <p:cNvGrpSpPr/>
          <p:nvPr/>
        </p:nvGrpSpPr>
        <p:grpSpPr>
          <a:xfrm>
            <a:off x="411480" y="1280160"/>
            <a:ext cx="11018520" cy="3749040"/>
            <a:chOff x="411480" y="1280160"/>
            <a:chExt cx="11018520" cy="374904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785616"/>
              <a:ext cx="10698480" cy="365760"/>
              <a:chOff x="731520" y="378561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84048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409651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526280"/>
              <a:ext cx="34930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4334256" y="4526280"/>
              <a:ext cx="349300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Occupied</a:t>
              </a:r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4297680" y="2926080"/>
              <a:ext cx="0" cy="210312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sp>
          <p:nvSpPr>
            <p:cNvPr id="44" name="Block band (free)"/>
            <p:cNvSpPr/>
            <p:nvPr/>
          </p:nvSpPr>
          <p:spPr>
            <a:xfrm>
              <a:off x="7900416" y="4526280"/>
              <a:ext cx="34930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7863840" y="2926080"/>
              <a:ext cx="0" cy="210312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grpSp>
          <p:nvGrpSpPr>
            <p:cNvPr id="46" name="Train" descr="A steam locomotive with wagons."/>
            <p:cNvGrpSpPr/>
            <p:nvPr/>
          </p:nvGrpSpPr>
          <p:grpSpPr>
            <a:xfrm>
              <a:off x="4754880" y="2935224"/>
              <a:ext cx="2776118" cy="1015899"/>
              <a:chOff x="4754880" y="2935224"/>
              <a:chExt cx="2776118" cy="1015899"/>
            </a:xfrm>
          </p:grpSpPr>
          <p:sp>
            <p:nvSpPr>
              <p:cNvPr id="47" name="Rounded Rectangle 46"/>
              <p:cNvSpPr/>
              <p:nvPr/>
            </p:nvSpPr>
            <p:spPr>
              <a:xfrm>
                <a:off x="4754880" y="3317443"/>
                <a:ext cx="804672" cy="452628"/>
              </a:xfrm>
              <a:prstGeom prst="roundRect">
                <a:avLst>
                  <a:gd name="adj" fmla="val 6060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831324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5281940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ounded Rectangle 49"/>
              <p:cNvSpPr/>
              <p:nvPr/>
            </p:nvSpPr>
            <p:spPr>
              <a:xfrm>
                <a:off x="5640019" y="3317443"/>
                <a:ext cx="804672" cy="452628"/>
              </a:xfrm>
              <a:prstGeom prst="roundRect">
                <a:avLst>
                  <a:gd name="adj" fmla="val 6060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716463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6167079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ounded Rectangle 52"/>
              <p:cNvSpPr/>
              <p:nvPr/>
            </p:nvSpPr>
            <p:spPr>
              <a:xfrm>
                <a:off x="6525158" y="3216859"/>
                <a:ext cx="1005840" cy="553212"/>
              </a:xfrm>
              <a:prstGeom prst="roundRect">
                <a:avLst>
                  <a:gd name="adj" fmla="val 13223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7229246" y="2935224"/>
                <a:ext cx="150876" cy="301752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6575450" y="3236976"/>
                <a:ext cx="281635" cy="301752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6615684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6917436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7219188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9" name="Signal (stop, clear)" descr="A semaphore signal post with its arm raised (clear)."/>
            <p:cNvGrpSpPr/>
            <p:nvPr/>
          </p:nvGrpSpPr>
          <p:grpSpPr>
            <a:xfrm>
              <a:off x="651510" y="2032978"/>
              <a:ext cx="1146848" cy="2118398"/>
              <a:chOff x="651510" y="2032978"/>
              <a:chExt cx="1146848" cy="2118398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4582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Rectangle 60"/>
              <p:cNvSpPr/>
              <p:nvPr/>
            </p:nvSpPr>
            <p:spPr>
              <a:xfrm>
                <a:off x="96926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Freeform 61"/>
              <p:cNvSpPr/>
              <p:nvPr/>
            </p:nvSpPr>
            <p:spPr>
              <a:xfrm>
                <a:off x="983669" y="2032978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Freeform 62"/>
              <p:cNvSpPr/>
              <p:nvPr/>
            </p:nvSpPr>
            <p:spPr>
              <a:xfrm>
                <a:off x="1323123" y="2265746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98983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51510" y="2654046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6" name="TextBox 65"/>
            <p:cNvSpPr txBox="1"/>
            <p:nvPr/>
          </p:nvSpPr>
          <p:spPr>
            <a:xfrm>
              <a:off x="41148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grpSp>
          <p:nvGrpSpPr>
            <p:cNvPr id="67" name="Signal (stop, stop)" descr="A semaphore signal post with its arm flat (stop)."/>
            <p:cNvGrpSpPr/>
            <p:nvPr/>
          </p:nvGrpSpPr>
          <p:grpSpPr>
            <a:xfrm>
              <a:off x="3897630" y="2642616"/>
              <a:ext cx="1360170" cy="1508760"/>
              <a:chOff x="3897630" y="2642616"/>
              <a:chExt cx="1360170" cy="1508760"/>
            </a:xfrm>
          </p:grpSpPr>
          <p:sp>
            <p:nvSpPr>
              <p:cNvPr id="68" name="Rectangle 67"/>
              <p:cNvSpPr/>
              <p:nvPr/>
            </p:nvSpPr>
            <p:spPr>
              <a:xfrm>
                <a:off x="409194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Rectangle 68"/>
              <p:cNvSpPr/>
              <p:nvPr/>
            </p:nvSpPr>
            <p:spPr>
              <a:xfrm>
                <a:off x="421538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Freeform 69"/>
              <p:cNvSpPr/>
              <p:nvPr/>
            </p:nvSpPr>
            <p:spPr>
              <a:xfrm>
                <a:off x="4297680" y="2683764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1" name="Freeform 70"/>
              <p:cNvSpPr/>
              <p:nvPr/>
            </p:nvSpPr>
            <p:spPr>
              <a:xfrm>
                <a:off x="4777740" y="2683764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423595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3897630" y="2654046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65760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grpSp>
          <p:nvGrpSpPr>
            <p:cNvPr id="75" name="Signal (stop, clear)" descr="A semaphore signal post with its arm raised (clear)."/>
            <p:cNvGrpSpPr/>
            <p:nvPr/>
          </p:nvGrpSpPr>
          <p:grpSpPr>
            <a:xfrm>
              <a:off x="7463790" y="2032978"/>
              <a:ext cx="1146848" cy="2118398"/>
              <a:chOff x="7463790" y="2032978"/>
              <a:chExt cx="1146848" cy="2118398"/>
            </a:xfrm>
          </p:grpSpPr>
          <p:sp>
            <p:nvSpPr>
              <p:cNvPr id="76" name="Rectangle 75"/>
              <p:cNvSpPr/>
              <p:nvPr/>
            </p:nvSpPr>
            <p:spPr>
              <a:xfrm>
                <a:off x="765810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778154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8" name="Freeform 77"/>
              <p:cNvSpPr/>
              <p:nvPr/>
            </p:nvSpPr>
            <p:spPr>
              <a:xfrm>
                <a:off x="7795949" y="2032978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Freeform 78"/>
              <p:cNvSpPr/>
              <p:nvPr/>
            </p:nvSpPr>
            <p:spPr>
              <a:xfrm>
                <a:off x="8135403" y="2265746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Oval 79"/>
              <p:cNvSpPr/>
              <p:nvPr/>
            </p:nvSpPr>
            <p:spPr>
              <a:xfrm>
                <a:off x="780211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Oval 80"/>
              <p:cNvSpPr/>
              <p:nvPr/>
            </p:nvSpPr>
            <p:spPr>
              <a:xfrm>
                <a:off x="7463790" y="2654046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2" name="TextBox 81"/>
            <p:cNvSpPr txBox="1"/>
            <p:nvPr/>
          </p:nvSpPr>
          <p:spPr>
            <a:xfrm>
              <a:off x="722376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731520" y="1280160"/>
              <a:ext cx="45720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Mechanical semaphores</a:t>
              </a:r>
            </a:p>
          </p:txBody>
        </p:sp>
      </p:grpSp>
      <p:sp>
        <p:nvSpPr>
          <p:cNvPr id="84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In the mod, semaphores divide the line into blocks.</a:t>
            </a:r>
          </a:p>
        </p:txBody>
      </p:sp>
      <p:sp>
        <p:nvSpPr>
          <p:cNvPr id="85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 box at every station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tation boxes and a dedicated box" descr="A plan view of two stations, each with a platform and a signal box, joined by a long track. A free-standing dedicated box stands between them. Dotted outlines show the stretch of track each box reaches."/>
          <p:cNvGrpSpPr/>
          <p:nvPr/>
        </p:nvGrpSpPr>
        <p:grpSpPr>
          <a:xfrm>
            <a:off x="640080" y="2103120"/>
            <a:ext cx="10881360" cy="2468880"/>
            <a:chOff x="640080" y="2103120"/>
            <a:chExt cx="10881360" cy="246888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739896"/>
              <a:ext cx="10698480" cy="365760"/>
              <a:chOff x="731520" y="373989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79476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405079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ox reach"/>
            <p:cNvSpPr/>
            <p:nvPr/>
          </p:nvSpPr>
          <p:spPr>
            <a:xfrm>
              <a:off x="640080" y="2103120"/>
              <a:ext cx="33832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0080" y="2194560"/>
              <a:ext cx="33832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Station box</a:t>
              </a:r>
            </a:p>
          </p:txBody>
        </p:sp>
        <p:sp>
          <p:nvSpPr>
            <p:cNvPr id="43" name="Box reach"/>
            <p:cNvSpPr/>
            <p:nvPr/>
          </p:nvSpPr>
          <p:spPr>
            <a:xfrm>
              <a:off x="4160520" y="2103120"/>
              <a:ext cx="38404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160520" y="2194560"/>
              <a:ext cx="38404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Dedicated box</a:t>
              </a:r>
            </a:p>
          </p:txBody>
        </p:sp>
        <p:sp>
          <p:nvSpPr>
            <p:cNvPr id="45" name="Box reach"/>
            <p:cNvSpPr/>
            <p:nvPr/>
          </p:nvSpPr>
          <p:spPr>
            <a:xfrm>
              <a:off x="8138160" y="2103120"/>
              <a:ext cx="33832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138160" y="2194560"/>
              <a:ext cx="33832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Station box</a:t>
              </a:r>
            </a:p>
          </p:txBody>
        </p:sp>
        <p:sp>
          <p:nvSpPr>
            <p:cNvPr id="47" name="Platform"/>
            <p:cNvSpPr/>
            <p:nvPr/>
          </p:nvSpPr>
          <p:spPr>
            <a:xfrm>
              <a:off x="1417320" y="3429000"/>
              <a:ext cx="1828800" cy="310896"/>
            </a:xfrm>
            <a:prstGeom prst="rect">
              <a:avLst/>
            </a:prstGeom>
            <a:solidFill>
              <a:srgbClr val="9AA0A6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Platform"/>
            <p:cNvSpPr/>
            <p:nvPr/>
          </p:nvSpPr>
          <p:spPr>
            <a:xfrm>
              <a:off x="8915400" y="3429000"/>
              <a:ext cx="1828800" cy="310896"/>
            </a:xfrm>
            <a:prstGeom prst="rect">
              <a:avLst/>
            </a:prstGeom>
            <a:solidFill>
              <a:srgbClr val="9AA0A6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49" name="Box icon: Station box" descr="A small signal box building."/>
            <p:cNvGrpSpPr/>
            <p:nvPr/>
          </p:nvGrpSpPr>
          <p:grpSpPr>
            <a:xfrm>
              <a:off x="1664208" y="2606040"/>
              <a:ext cx="1335024" cy="1143000"/>
              <a:chOff x="1664208" y="2606040"/>
              <a:chExt cx="1335024" cy="114300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73736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Freeform 50"/>
              <p:cNvSpPr/>
              <p:nvPr/>
            </p:nvSpPr>
            <p:spPr>
              <a:xfrm>
                <a:off x="166420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185623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53" name="Connector 52"/>
              <p:cNvCxnSpPr/>
              <p:nvPr/>
            </p:nvCxnSpPr>
            <p:spPr>
              <a:xfrm>
                <a:off x="209397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54" name="Connector 53"/>
              <p:cNvCxnSpPr/>
              <p:nvPr/>
            </p:nvCxnSpPr>
            <p:spPr>
              <a:xfrm>
                <a:off x="233172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55" name="Connector 54"/>
              <p:cNvCxnSpPr/>
              <p:nvPr/>
            </p:nvCxnSpPr>
            <p:spPr>
              <a:xfrm>
                <a:off x="256946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56" name="Box icon: Dedicated box" descr="A small signal box building."/>
            <p:cNvGrpSpPr/>
            <p:nvPr/>
          </p:nvGrpSpPr>
          <p:grpSpPr>
            <a:xfrm>
              <a:off x="5413248" y="2606040"/>
              <a:ext cx="1335024" cy="1143000"/>
              <a:chOff x="5413248" y="2606040"/>
              <a:chExt cx="1335024" cy="1143000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548640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Freeform 57"/>
              <p:cNvSpPr/>
              <p:nvPr/>
            </p:nvSpPr>
            <p:spPr>
              <a:xfrm>
                <a:off x="541324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560527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0" name="Connector 59"/>
              <p:cNvCxnSpPr/>
              <p:nvPr/>
            </p:nvCxnSpPr>
            <p:spPr>
              <a:xfrm>
                <a:off x="584301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1" name="Connector 60"/>
              <p:cNvCxnSpPr/>
              <p:nvPr/>
            </p:nvCxnSpPr>
            <p:spPr>
              <a:xfrm>
                <a:off x="608076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2" name="Connector 61"/>
              <p:cNvCxnSpPr/>
              <p:nvPr/>
            </p:nvCxnSpPr>
            <p:spPr>
              <a:xfrm>
                <a:off x="631850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63" name="Box icon: Station box" descr="A small signal box building."/>
            <p:cNvGrpSpPr/>
            <p:nvPr/>
          </p:nvGrpSpPr>
          <p:grpSpPr>
            <a:xfrm>
              <a:off x="9162288" y="2606040"/>
              <a:ext cx="1335024" cy="1143000"/>
              <a:chOff x="9162288" y="2606040"/>
              <a:chExt cx="1335024" cy="1143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923544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Freeform 64"/>
              <p:cNvSpPr/>
              <p:nvPr/>
            </p:nvSpPr>
            <p:spPr>
              <a:xfrm>
                <a:off x="916228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935431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7" name="Connector 66"/>
              <p:cNvCxnSpPr/>
              <p:nvPr/>
            </p:nvCxnSpPr>
            <p:spPr>
              <a:xfrm>
                <a:off x="959205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8" name="Connector 67"/>
              <p:cNvCxnSpPr/>
              <p:nvPr/>
            </p:nvCxnSpPr>
            <p:spPr>
              <a:xfrm>
                <a:off x="982980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9" name="Connector 68"/>
              <p:cNvCxnSpPr/>
              <p:nvPr/>
            </p:nvCxnSpPr>
            <p:spPr>
              <a:xfrm>
                <a:off x="1006754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</p:grpSp>
      <p:sp>
        <p:nvSpPr>
          <p:cNvPr id="7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steam station has a signal box. Dedicated boxes extend control along the line.</a:t>
            </a:r>
          </a:p>
        </p:txBody>
      </p:sp>
      <p:sp>
        <p:nvSpPr>
          <p:cNvPr id="7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Every signal needs a box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A box has limited room" descr="One signal box with a row of eight slots. Six are filled and controlled; two are free. A signal on the right has a dashed red outline: no box is in reach, so it is not controlled."/>
          <p:cNvGrpSpPr/>
          <p:nvPr/>
        </p:nvGrpSpPr>
        <p:grpSpPr>
          <a:xfrm>
            <a:off x="731520" y="1417320"/>
            <a:ext cx="10698480" cy="3840480"/>
            <a:chOff x="731520" y="1417320"/>
            <a:chExt cx="10698480" cy="3840480"/>
          </a:xfrm>
        </p:grpSpPr>
        <p:grpSp>
          <p:nvGrpSpPr>
            <p:cNvPr id="5" name="Signal box" descr="A small signal box building."/>
            <p:cNvGrpSpPr/>
            <p:nvPr/>
          </p:nvGrpSpPr>
          <p:grpSpPr>
            <a:xfrm>
              <a:off x="1892808" y="1417320"/>
              <a:ext cx="2706624" cy="2011680"/>
              <a:chOff x="1892808" y="1417320"/>
              <a:chExt cx="2706624" cy="201168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1965960" y="1859890"/>
                <a:ext cx="25603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Freeform 6"/>
              <p:cNvSpPr/>
              <p:nvPr/>
            </p:nvSpPr>
            <p:spPr>
              <a:xfrm>
                <a:off x="1892808" y="1417320"/>
                <a:ext cx="27066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706624" h="482803">
                    <a:moveTo>
                      <a:pt x="0" y="482803"/>
                    </a:moveTo>
                    <a:lnTo>
                      <a:pt x="1353312" y="0"/>
                    </a:lnTo>
                    <a:lnTo>
                      <a:pt x="27066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221992" y="2141525"/>
                <a:ext cx="204825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9" name="Connector 8"/>
              <p:cNvCxnSpPr/>
              <p:nvPr/>
            </p:nvCxnSpPr>
            <p:spPr>
              <a:xfrm>
                <a:off x="2734056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0" name="Connector 9"/>
              <p:cNvCxnSpPr/>
              <p:nvPr/>
            </p:nvCxnSpPr>
            <p:spPr>
              <a:xfrm>
                <a:off x="3246120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3758184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sp>
          <p:nvSpPr>
            <p:cNvPr id="12" name="Slot (controlled)"/>
            <p:cNvSpPr/>
            <p:nvPr/>
          </p:nvSpPr>
          <p:spPr>
            <a:xfrm>
              <a:off x="73152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ot (controlled)"/>
            <p:cNvSpPr/>
            <p:nvPr/>
          </p:nvSpPr>
          <p:spPr>
            <a:xfrm>
              <a:off x="137160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ot (controlled)"/>
            <p:cNvSpPr/>
            <p:nvPr/>
          </p:nvSpPr>
          <p:spPr>
            <a:xfrm>
              <a:off x="201168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ot (controlled)"/>
            <p:cNvSpPr/>
            <p:nvPr/>
          </p:nvSpPr>
          <p:spPr>
            <a:xfrm>
              <a:off x="265176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ot (controlled)"/>
            <p:cNvSpPr/>
            <p:nvPr/>
          </p:nvSpPr>
          <p:spPr>
            <a:xfrm>
              <a:off x="329184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ot (controlled)"/>
            <p:cNvSpPr/>
            <p:nvPr/>
          </p:nvSpPr>
          <p:spPr>
            <a:xfrm>
              <a:off x="393192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ot (free)"/>
            <p:cNvSpPr/>
            <p:nvPr/>
          </p:nvSpPr>
          <p:spPr>
            <a:xfrm>
              <a:off x="4572000" y="3977640"/>
              <a:ext cx="548640" cy="548640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ot (free)"/>
            <p:cNvSpPr/>
            <p:nvPr/>
          </p:nvSpPr>
          <p:spPr>
            <a:xfrm>
              <a:off x="5212080" y="3977640"/>
              <a:ext cx="548640" cy="548640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31520" y="3584448"/>
              <a:ext cx="374904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Controlled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584448"/>
              <a:ext cx="118872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Free</a:t>
              </a:r>
            </a:p>
          </p:txBody>
        </p:sp>
        <p:grpSp>
          <p:nvGrpSpPr>
            <p:cNvPr id="22" name="Signal without a box" descr="A semaphore signal that no signal box controls."/>
            <p:cNvGrpSpPr/>
            <p:nvPr/>
          </p:nvGrpSpPr>
          <p:grpSpPr>
            <a:xfrm>
              <a:off x="8348472" y="2670048"/>
              <a:ext cx="1399032" cy="1810512"/>
              <a:chOff x="8348472" y="2670048"/>
              <a:chExt cx="1399032" cy="1810512"/>
            </a:xfrm>
          </p:grpSpPr>
          <p:sp>
            <p:nvSpPr>
              <p:cNvPr id="23" name="Rectangle 22"/>
              <p:cNvSpPr/>
              <p:nvPr/>
            </p:nvSpPr>
            <p:spPr>
              <a:xfrm>
                <a:off x="8348472" y="43488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8496605" y="26700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Freeform 24"/>
              <p:cNvSpPr/>
              <p:nvPr/>
            </p:nvSpPr>
            <p:spPr>
              <a:xfrm>
                <a:off x="8595360" y="2719426"/>
                <a:ext cx="1152144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30428">
                    <a:moveTo>
                      <a:pt x="0" y="0"/>
                    </a:moveTo>
                    <a:lnTo>
                      <a:pt x="1152144" y="0"/>
                    </a:lnTo>
                    <a:lnTo>
                      <a:pt x="1152144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9171432" y="2719426"/>
                <a:ext cx="181051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81051" h="230428">
                    <a:moveTo>
                      <a:pt x="0" y="0"/>
                    </a:moveTo>
                    <a:lnTo>
                      <a:pt x="181051" y="0"/>
                    </a:lnTo>
                    <a:lnTo>
                      <a:pt x="181051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Oval 26"/>
              <p:cNvSpPr/>
              <p:nvPr/>
            </p:nvSpPr>
            <p:spPr>
              <a:xfrm>
                <a:off x="8524037" y="27633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8" name="Dashed red outline"/>
            <p:cNvSpPr/>
            <p:nvPr/>
          </p:nvSpPr>
          <p:spPr>
            <a:xfrm>
              <a:off x="7543800" y="2331720"/>
              <a:ext cx="2834640" cy="2423160"/>
            </a:xfrm>
            <a:prstGeom prst="roundRect">
              <a:avLst>
                <a:gd name="adj" fmla="val 3773"/>
              </a:avLst>
            </a:prstGeom>
            <a:noFill/>
            <a:ln w="28575">
              <a:solidFill>
                <a:srgbClr val="E5484D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583680" y="4846320"/>
              <a:ext cx="484632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No box in reach: not controlled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must belong to a signal box. A box can only control so much.</a:t>
            </a:r>
          </a:p>
        </p:txBody>
      </p:sp>
      <p:sp>
        <p:nvSpPr>
          <p:cNvPr id="3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Early limits</a:t>
            </a:r>
          </a:p>
        </p:txBody>
      </p:sp>
      <p:sp>
        <p:nvSpPr>
          <p:cNvPr id="3" name="Chip: Provisional" descr="Status tag: Provisional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Four provisional limits" descr="Four tiles, each marked provisional: block length about 400 to 500 metres, speed cap about 60 kilometres an hour, 6 to 8 signals per station box and 12 to 16 per dedicated box, and box reach about 1 to 1.5 kilometres. A ruler strip shows a signal every 450 metres."/>
          <p:cNvGrpSpPr/>
          <p:nvPr/>
        </p:nvGrpSpPr>
        <p:grpSpPr>
          <a:xfrm>
            <a:off x="548640" y="1371600"/>
            <a:ext cx="11091672" cy="4206240"/>
            <a:chOff x="548640" y="1371600"/>
            <a:chExt cx="11091672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ip: Provisional (inline)" descr="Status tag: Provisional"/>
            <p:cNvSpPr/>
            <p:nvPr/>
          </p:nvSpPr>
          <p:spPr>
            <a:xfrm>
              <a:off x="685800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Block: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400–500 m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92424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ip: Provisional (inline)" descr="Status tag: Provisional"/>
            <p:cNvSpPr/>
            <p:nvPr/>
          </p:nvSpPr>
          <p:spPr>
            <a:xfrm>
              <a:off x="3529584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29584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Speed cap: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60 km/h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6208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p: Provisional (inline)" descr="Status tag: Provisional"/>
            <p:cNvSpPr/>
            <p:nvPr/>
          </p:nvSpPr>
          <p:spPr>
            <a:xfrm>
              <a:off x="6373368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73368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Signals per box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6–8 station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12–16 dedicated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079992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hip: Provisional (inline)" descr="Status tag: Provisional"/>
            <p:cNvSpPr/>
            <p:nvPr/>
          </p:nvSpPr>
          <p:spPr>
            <a:xfrm>
              <a:off x="9217152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217152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Reach: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1–1.5 km</a:t>
              </a:r>
            </a:p>
          </p:txBody>
        </p:sp>
        <p:grpSp>
          <p:nvGrpSpPr>
            <p:cNvPr id="17" name="Track" descr="Two rails on sleepers."/>
            <p:cNvGrpSpPr/>
            <p:nvPr/>
          </p:nvGrpSpPr>
          <p:grpSpPr>
            <a:xfrm>
              <a:off x="731520" y="4517136"/>
              <a:ext cx="10698480" cy="365760"/>
              <a:chOff x="731520" y="4517136"/>
              <a:chExt cx="10698480" cy="36576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9326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12527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15727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18928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22128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25328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28529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31729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34930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38130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41330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44531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47731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50932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54132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57332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60533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63733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66934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70134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73334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6535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9735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82936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86136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89336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Rectangle 43"/>
              <p:cNvSpPr/>
              <p:nvPr/>
            </p:nvSpPr>
            <p:spPr>
              <a:xfrm>
                <a:off x="92537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95737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Rectangle 45"/>
              <p:cNvSpPr/>
              <p:nvPr/>
            </p:nvSpPr>
            <p:spPr>
              <a:xfrm>
                <a:off x="98938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Rectangle 46"/>
              <p:cNvSpPr/>
              <p:nvPr/>
            </p:nvSpPr>
            <p:spPr>
              <a:xfrm>
                <a:off x="102138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ectangle 47"/>
              <p:cNvSpPr/>
              <p:nvPr/>
            </p:nvSpPr>
            <p:spPr>
              <a:xfrm>
                <a:off x="105338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Rectangle 48"/>
              <p:cNvSpPr/>
              <p:nvPr/>
            </p:nvSpPr>
            <p:spPr>
              <a:xfrm>
                <a:off x="108539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ectangle 49"/>
              <p:cNvSpPr/>
              <p:nvPr/>
            </p:nvSpPr>
            <p:spPr>
              <a:xfrm>
                <a:off x="111739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731520" y="4572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731520" y="4828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3" name="Signal (stop, stop)" descr="A semaphore signal post with its arm flat (stop)."/>
            <p:cNvGrpSpPr/>
            <p:nvPr/>
          </p:nvGrpSpPr>
          <p:grpSpPr>
            <a:xfrm>
              <a:off x="1014984" y="4279392"/>
              <a:ext cx="466344" cy="603504"/>
              <a:chOff x="1014984" y="4279392"/>
              <a:chExt cx="466344" cy="603504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101498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106436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Freeform 55"/>
              <p:cNvSpPr/>
              <p:nvPr/>
            </p:nvSpPr>
            <p:spPr>
              <a:xfrm>
                <a:off x="109728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Freeform 56"/>
              <p:cNvSpPr/>
              <p:nvPr/>
            </p:nvSpPr>
            <p:spPr>
              <a:xfrm>
                <a:off x="128930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106436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9" name="Signal (stop, stop)" descr="A semaphore signal post with its arm flat (stop)."/>
            <p:cNvGrpSpPr/>
            <p:nvPr/>
          </p:nvGrpSpPr>
          <p:grpSpPr>
            <a:xfrm>
              <a:off x="2980944" y="4279392"/>
              <a:ext cx="466344" cy="603504"/>
              <a:chOff x="2980944" y="4279392"/>
              <a:chExt cx="466344" cy="603504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298094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Rectangle 60"/>
              <p:cNvSpPr/>
              <p:nvPr/>
            </p:nvSpPr>
            <p:spPr>
              <a:xfrm>
                <a:off x="303032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Freeform 61"/>
              <p:cNvSpPr/>
              <p:nvPr/>
            </p:nvSpPr>
            <p:spPr>
              <a:xfrm>
                <a:off x="306324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Freeform 62"/>
              <p:cNvSpPr/>
              <p:nvPr/>
            </p:nvSpPr>
            <p:spPr>
              <a:xfrm>
                <a:off x="325526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303032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65" name="Signal (stop, stop)" descr="A semaphore signal post with its arm flat (stop)."/>
            <p:cNvGrpSpPr/>
            <p:nvPr/>
          </p:nvGrpSpPr>
          <p:grpSpPr>
            <a:xfrm>
              <a:off x="4946904" y="4279392"/>
              <a:ext cx="466344" cy="603504"/>
              <a:chOff x="4946904" y="4279392"/>
              <a:chExt cx="466344" cy="603504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494690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Rectangle 66"/>
              <p:cNvSpPr/>
              <p:nvPr/>
            </p:nvSpPr>
            <p:spPr>
              <a:xfrm>
                <a:off x="499628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Freeform 67"/>
              <p:cNvSpPr/>
              <p:nvPr/>
            </p:nvSpPr>
            <p:spPr>
              <a:xfrm>
                <a:off x="502920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Freeform 68"/>
              <p:cNvSpPr/>
              <p:nvPr/>
            </p:nvSpPr>
            <p:spPr>
              <a:xfrm>
                <a:off x="522122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499628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1" name="Signal (stop, stop)" descr="A semaphore signal post with its arm flat (stop)."/>
            <p:cNvGrpSpPr/>
            <p:nvPr/>
          </p:nvGrpSpPr>
          <p:grpSpPr>
            <a:xfrm>
              <a:off x="6912864" y="4279392"/>
              <a:ext cx="466344" cy="603504"/>
              <a:chOff x="6912864" y="4279392"/>
              <a:chExt cx="466344" cy="603504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691286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696224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Freeform 73"/>
              <p:cNvSpPr/>
              <p:nvPr/>
            </p:nvSpPr>
            <p:spPr>
              <a:xfrm>
                <a:off x="699516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718718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696224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7" name="Signal (stop, stop)" descr="A semaphore signal post with its arm flat (stop)."/>
            <p:cNvGrpSpPr/>
            <p:nvPr/>
          </p:nvGrpSpPr>
          <p:grpSpPr>
            <a:xfrm>
              <a:off x="8878824" y="4279392"/>
              <a:ext cx="466344" cy="603504"/>
              <a:chOff x="8878824" y="4279392"/>
              <a:chExt cx="466344" cy="603504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87882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892820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Freeform 79"/>
              <p:cNvSpPr/>
              <p:nvPr/>
            </p:nvSpPr>
            <p:spPr>
              <a:xfrm>
                <a:off x="896112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Freeform 80"/>
              <p:cNvSpPr/>
              <p:nvPr/>
            </p:nvSpPr>
            <p:spPr>
              <a:xfrm>
                <a:off x="915314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Oval 81"/>
              <p:cNvSpPr/>
              <p:nvPr/>
            </p:nvSpPr>
            <p:spPr>
              <a:xfrm>
                <a:off x="892820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83" name="Signal (stop, stop)" descr="A semaphore signal post with its arm flat (stop)."/>
            <p:cNvGrpSpPr/>
            <p:nvPr/>
          </p:nvGrpSpPr>
          <p:grpSpPr>
            <a:xfrm>
              <a:off x="10844784" y="4279392"/>
              <a:ext cx="466344" cy="603504"/>
              <a:chOff x="10844784" y="4279392"/>
              <a:chExt cx="466344" cy="603504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1084478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1089416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Freeform 85"/>
              <p:cNvSpPr/>
              <p:nvPr/>
            </p:nvSpPr>
            <p:spPr>
              <a:xfrm>
                <a:off x="1092708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Freeform 86"/>
              <p:cNvSpPr/>
              <p:nvPr/>
            </p:nvSpPr>
            <p:spPr>
              <a:xfrm>
                <a:off x="1111910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1089416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89" name="Dimension line" descr="A dimension line labelled 450 m."/>
            <p:cNvGrpSpPr/>
            <p:nvPr/>
          </p:nvGrpSpPr>
          <p:grpSpPr>
            <a:xfrm>
              <a:off x="3063240" y="3456432"/>
              <a:ext cx="1965960" cy="493776"/>
              <a:chOff x="3063240" y="3456432"/>
              <a:chExt cx="1965960" cy="493776"/>
            </a:xfrm>
          </p:grpSpPr>
          <p:cxnSp>
            <p:nvCxnSpPr>
              <p:cNvPr id="90" name="Connector 89"/>
              <p:cNvCxnSpPr/>
              <p:nvPr/>
            </p:nvCxnSpPr>
            <p:spPr>
              <a:xfrm>
                <a:off x="3063240" y="3840480"/>
                <a:ext cx="1965960" cy="0"/>
              </a:xfrm>
              <a:prstGeom prst="line">
                <a:avLst/>
              </a:prstGeom>
              <a:ln w="19050">
                <a:solidFill>
                  <a:srgbClr val="9AA0A6"/>
                </a:solidFill>
                <a:headEnd type="triangle" w="med" len="med"/>
                <a:tailEnd type="triangle" w="med" len="med"/>
              </a:ln>
            </p:spPr>
          </p:cxnSp>
          <p:cxnSp>
            <p:nvCxnSpPr>
              <p:cNvPr id="91" name="Connector 90"/>
              <p:cNvCxnSpPr/>
              <p:nvPr/>
            </p:nvCxnSpPr>
            <p:spPr>
              <a:xfrm>
                <a:off x="3063240" y="373075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cxnSp>
            <p:nvCxnSpPr>
              <p:cNvPr id="92" name="Connector 91"/>
              <p:cNvCxnSpPr/>
              <p:nvPr/>
            </p:nvCxnSpPr>
            <p:spPr>
              <a:xfrm>
                <a:off x="5029200" y="373075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sp>
            <p:nvSpPr>
              <p:cNvPr id="93" name="TextBox 92"/>
              <p:cNvSpPr txBox="1"/>
              <p:nvPr/>
            </p:nvSpPr>
            <p:spPr>
              <a:xfrm>
                <a:off x="3063240" y="3456432"/>
                <a:ext cx="1965960" cy="292608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ctr"/>
                <a:r>
                  <a:rPr sz="1600" b="1" i="0" lang="en-GB">
                    <a:solidFill>
                      <a:srgbClr val="F2F2F2"/>
                    </a:solidFill>
                    <a:latin typeface="Arial"/>
                  </a:rPr>
                  <a:t>450 m</a:t>
                </a:r>
              </a:p>
            </p:txBody>
          </p:sp>
        </p:grpSp>
        <p:sp>
          <p:nvSpPr>
            <p:cNvPr id="94" name="TextBox 93"/>
            <p:cNvSpPr txBox="1"/>
            <p:nvPr/>
          </p:nvSpPr>
          <p:spPr>
            <a:xfrm>
              <a:off x="548640" y="5212080"/>
              <a:ext cx="64008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Final values: undecided (OQ03).</a:t>
              </a:r>
            </a:p>
          </p:txBody>
        </p:sp>
      </p:grpSp>
      <p:sp>
        <p:nvSpPr>
          <p:cNvPr id="9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Early signals have limits: short blocks, a speed cap and a limited number per box. Numbers are provisional.</a:t>
            </a:r>
          </a:p>
        </p:txBody>
      </p:sp>
      <p:sp>
        <p:nvSpPr>
          <p:cNvPr id="9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No wiring for you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ignals join a box automatically" descr="Left: a track with one new signal and a dotted line to a signal box. Right: three numbered steps. Place a signal on connected track; a box with room takes control; rods and wires draw themselves."/>
          <p:cNvGrpSpPr/>
          <p:nvPr/>
        </p:nvGrpSpPr>
        <p:grpSpPr>
          <a:xfrm>
            <a:off x="731520" y="1463040"/>
            <a:ext cx="10908792" cy="3794760"/>
            <a:chOff x="731520" y="1463040"/>
            <a:chExt cx="10908792" cy="379476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877056"/>
              <a:ext cx="5212080" cy="365760"/>
              <a:chOff x="731520" y="3877056"/>
              <a:chExt cx="52120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098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2986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4990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6994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18998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100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3006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5010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7014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79018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102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3026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5030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7034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39038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10428" y="3877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731520" y="3931920"/>
                <a:ext cx="5212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731520" y="4187952"/>
                <a:ext cx="5212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4" name="Signal box" descr="A small signal box building."/>
            <p:cNvGrpSpPr/>
            <p:nvPr/>
          </p:nvGrpSpPr>
          <p:grpSpPr>
            <a:xfrm>
              <a:off x="841248" y="1600200"/>
              <a:ext cx="1975104" cy="1737360"/>
              <a:chOff x="841248" y="1600200"/>
              <a:chExt cx="1975104" cy="1737360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914400" y="1982419"/>
                <a:ext cx="1828800" cy="1355141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841248" y="1600200"/>
                <a:ext cx="1975104" cy="416966"/>
              </a:xfrm>
              <a:custGeom>
                <a:avLst/>
                <a:gdLst/>
                <a:ahLst/>
                <a:cxnLst/>
                <a:rect l="l" t="t" r="r" b="b"/>
                <a:pathLst>
                  <a:path w="1975104" h="416966">
                    <a:moveTo>
                      <a:pt x="0" y="416966"/>
                    </a:moveTo>
                    <a:lnTo>
                      <a:pt x="987552" y="0"/>
                    </a:lnTo>
                    <a:lnTo>
                      <a:pt x="1975104" y="416966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1097280" y="2225650"/>
                <a:ext cx="1463040" cy="382219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28" name="Connector 27"/>
              <p:cNvCxnSpPr/>
              <p:nvPr/>
            </p:nvCxnSpPr>
            <p:spPr>
              <a:xfrm>
                <a:off x="1463040" y="2225650"/>
                <a:ext cx="0" cy="38221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29" name="Connector 28"/>
              <p:cNvCxnSpPr/>
              <p:nvPr/>
            </p:nvCxnSpPr>
            <p:spPr>
              <a:xfrm>
                <a:off x="1828800" y="2225650"/>
                <a:ext cx="0" cy="38221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30" name="Connector 29"/>
              <p:cNvCxnSpPr/>
              <p:nvPr/>
            </p:nvCxnSpPr>
            <p:spPr>
              <a:xfrm>
                <a:off x="2194560" y="2225650"/>
                <a:ext cx="0" cy="38221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31" name="New signal" descr="A semaphore signal post with its arm flat (stop)."/>
            <p:cNvGrpSpPr/>
            <p:nvPr/>
          </p:nvGrpSpPr>
          <p:grpSpPr>
            <a:xfrm>
              <a:off x="4406951" y="2935224"/>
              <a:ext cx="1180033" cy="1307592"/>
              <a:chOff x="4406951" y="2935224"/>
              <a:chExt cx="1180033" cy="1307592"/>
            </a:xfrm>
          </p:grpSpPr>
          <p:sp>
            <p:nvSpPr>
              <p:cNvPr id="32" name="Rectangle 31"/>
              <p:cNvSpPr/>
              <p:nvPr/>
            </p:nvSpPr>
            <p:spPr>
              <a:xfrm>
                <a:off x="4576572" y="4147718"/>
                <a:ext cx="356616" cy="9509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4683557" y="2935224"/>
                <a:ext cx="142646" cy="1212494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Freeform 33"/>
              <p:cNvSpPr/>
              <p:nvPr/>
            </p:nvSpPr>
            <p:spPr>
              <a:xfrm>
                <a:off x="4754880" y="2970886"/>
                <a:ext cx="832104" cy="166420"/>
              </a:xfrm>
              <a:custGeom>
                <a:avLst/>
                <a:gdLst/>
                <a:ahLst/>
                <a:cxnLst/>
                <a:rect l="l" t="t" r="r" b="b"/>
                <a:pathLst>
                  <a:path w="832104" h="166420">
                    <a:moveTo>
                      <a:pt x="0" y="0"/>
                    </a:moveTo>
                    <a:lnTo>
                      <a:pt x="832104" y="0"/>
                    </a:lnTo>
                    <a:lnTo>
                      <a:pt x="832104" y="166420"/>
                    </a:lnTo>
                    <a:lnTo>
                      <a:pt x="0" y="16642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5170932" y="2970886"/>
                <a:ext cx="130759" cy="166420"/>
              </a:xfrm>
              <a:custGeom>
                <a:avLst/>
                <a:gdLst/>
                <a:ahLst/>
                <a:cxnLst/>
                <a:rect l="l" t="t" r="r" b="b"/>
                <a:pathLst>
                  <a:path w="130759" h="166420">
                    <a:moveTo>
                      <a:pt x="0" y="0"/>
                    </a:moveTo>
                    <a:lnTo>
                      <a:pt x="130759" y="0"/>
                    </a:lnTo>
                    <a:lnTo>
                      <a:pt x="130759" y="166420"/>
                    </a:lnTo>
                    <a:lnTo>
                      <a:pt x="0" y="16642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4699559" y="2998775"/>
                <a:ext cx="110642" cy="110642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Oval 36"/>
              <p:cNvSpPr/>
              <p:nvPr/>
            </p:nvSpPr>
            <p:spPr>
              <a:xfrm>
                <a:off x="4406951" y="2943911"/>
                <a:ext cx="220370" cy="22037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8" name="Dotted line: box takes control"/>
            <p:cNvSpPr/>
            <p:nvPr/>
          </p:nvSpPr>
          <p:spPr>
            <a:xfrm>
              <a:off x="2834640" y="2697480"/>
              <a:ext cx="1920240" cy="182880"/>
            </a:xfrm>
            <a:custGeom>
              <a:avLst/>
              <a:gdLst/>
              <a:ahLst/>
              <a:cxnLst/>
              <a:rect l="l" t="t" r="r" b="b"/>
              <a:pathLst>
                <a:path w="1920240" h="182880">
                  <a:moveTo>
                    <a:pt x="0" y="0"/>
                  </a:moveTo>
                  <a:lnTo>
                    <a:pt x="1920240" y="0"/>
                  </a:lnTo>
                  <a:lnTo>
                    <a:pt x="1920240" y="182880"/>
                  </a:lnTo>
                </a:path>
              </a:pathLst>
            </a:custGeom>
            <a:noFill/>
            <a:ln w="31750">
              <a:solidFill>
                <a:srgbClr val="F28C28"/>
              </a:solidFill>
              <a:prstDash val="sysDot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6400800" y="1463040"/>
              <a:ext cx="5239512" cy="1143000"/>
            </a:xfrm>
            <a:prstGeom prst="roundRect">
              <a:avLst>
                <a:gd name="adj" fmla="val 64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6606540" y="1783080"/>
              <a:ext cx="502920" cy="50292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tep number"/>
            <p:cNvSpPr txBox="1"/>
            <p:nvPr/>
          </p:nvSpPr>
          <p:spPr>
            <a:xfrm>
              <a:off x="6606540" y="1805940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42" name="Step text"/>
            <p:cNvSpPr txBox="1"/>
            <p:nvPr/>
          </p:nvSpPr>
          <p:spPr>
            <a:xfrm>
              <a:off x="7315200" y="1463040"/>
              <a:ext cx="4187952" cy="11430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Place a signal on connected track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6400800" y="2788920"/>
              <a:ext cx="5239512" cy="1143000"/>
            </a:xfrm>
            <a:prstGeom prst="roundRect">
              <a:avLst>
                <a:gd name="adj" fmla="val 64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6606540" y="3108960"/>
              <a:ext cx="502920" cy="50292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tep number"/>
            <p:cNvSpPr txBox="1"/>
            <p:nvPr/>
          </p:nvSpPr>
          <p:spPr>
            <a:xfrm>
              <a:off x="6606540" y="3131820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46" name="Step text"/>
            <p:cNvSpPr txBox="1"/>
            <p:nvPr/>
          </p:nvSpPr>
          <p:spPr>
            <a:xfrm>
              <a:off x="7315200" y="2788920"/>
              <a:ext cx="4187952" cy="11430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 box with room takes control</a:t>
              </a: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6400800" y="4114800"/>
              <a:ext cx="5239512" cy="1143000"/>
            </a:xfrm>
            <a:prstGeom prst="roundRect">
              <a:avLst>
                <a:gd name="adj" fmla="val 64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6606540" y="4434840"/>
              <a:ext cx="502920" cy="50292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Step number"/>
            <p:cNvSpPr txBox="1"/>
            <p:nvPr/>
          </p:nvSpPr>
          <p:spPr>
            <a:xfrm>
              <a:off x="6606540" y="4457700"/>
              <a:ext cx="5029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50" name="Step text"/>
            <p:cNvSpPr txBox="1"/>
            <p:nvPr/>
          </p:nvSpPr>
          <p:spPr>
            <a:xfrm>
              <a:off x="7315200" y="4114800"/>
              <a:ext cx="4187952" cy="11430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Rods and wires draw themselves</a:t>
              </a:r>
            </a:p>
          </p:txBody>
        </p:sp>
      </p:grpSp>
      <p:sp>
        <p:nvSpPr>
          <p:cNvPr id="51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Boxes take control of connected signals automatically. You never place wires.</a:t>
            </a:r>
          </a:p>
        </p:txBody>
      </p:sp>
      <p:sp>
        <p:nvSpPr>
          <p:cNvPr id="52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Rods and wires you can see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pic>
        <p:nvPicPr>
          <p:cNvPr id="4" name="R03_semaphore_stop.jpg" descr="The mod's semaphore stop signal model with its arm flat (stop)."/>
          <p:cNvPicPr>
            <a:picLocks noChangeAspect="1"/>
          </p:cNvPicPr>
          <p:nvPr/>
        </p:nvPicPr>
        <p:blipFill>
          <a:blip r:embed="rId2"/>
          <a:srcRect t="476" b="476"/>
          <a:stretch>
            <a:fillRect/>
          </a:stretch>
        </p:blipFill>
        <p:spPr>
          <a:xfrm>
            <a:off x="548640" y="1828800"/>
            <a:ext cx="3200400" cy="2377440"/>
          </a:xfrm>
          <a:prstGeom prst="roundRect">
            <a:avLst>
              <a:gd name="adj" fmla="val 3076"/>
            </a:avLst>
          </a:prstGeom>
        </p:spPr>
      </p:pic>
      <p:sp>
        <p:nvSpPr>
          <p:cNvPr id="5" name="Label: STOP: arm flat"/>
          <p:cNvSpPr/>
          <p:nvPr/>
        </p:nvSpPr>
        <p:spPr>
          <a:xfrm>
            <a:off x="640080" y="3749040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2B2F36"/>
          </a:solidFill>
          <a:ln w="12700">
            <a:solidFill>
              <a:srgbClr val="4A515B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/>
            <a:r>
              <a:rPr sz="1600" b="1" i="0" lang="en-GB">
                <a:solidFill>
                  <a:srgbClr val="FF7A7E"/>
                </a:solidFill>
                <a:latin typeface="Arial"/>
              </a:rPr>
              <a:t>STOP: arm flat</a:t>
            </a:r>
          </a:p>
        </p:txBody>
      </p:sp>
      <p:sp>
        <p:nvSpPr>
          <p:cNvPr id="6" name="Credit"/>
          <p:cNvSpPr txBox="1"/>
          <p:nvPr/>
        </p:nvSpPr>
        <p:spPr>
          <a:xfrm>
            <a:off x="548640" y="4261104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pic>
        <p:nvPicPr>
          <p:cNvPr id="7" name="R04_semaphore_clear.jpg" descr="The same signal model with its arm raised (clear)."/>
          <p:cNvPicPr>
            <a:picLocks noChangeAspect="1"/>
          </p:cNvPicPr>
          <p:nvPr/>
        </p:nvPicPr>
        <p:blipFill>
          <a:blip r:embed="rId3"/>
          <a:srcRect t="476" b="476"/>
          <a:stretch>
            <a:fillRect/>
          </a:stretch>
        </p:blipFill>
        <p:spPr>
          <a:xfrm>
            <a:off x="4023360" y="1828800"/>
            <a:ext cx="3200400" cy="2377440"/>
          </a:xfrm>
          <a:prstGeom prst="roundRect">
            <a:avLst>
              <a:gd name="adj" fmla="val 3076"/>
            </a:avLst>
          </a:prstGeom>
        </p:spPr>
      </p:pic>
      <p:sp>
        <p:nvSpPr>
          <p:cNvPr id="8" name="Label: CLEAR: arm raised"/>
          <p:cNvSpPr/>
          <p:nvPr/>
        </p:nvSpPr>
        <p:spPr>
          <a:xfrm>
            <a:off x="4114800" y="3749040"/>
            <a:ext cx="2651760" cy="365760"/>
          </a:xfrm>
          <a:prstGeom prst="roundRect">
            <a:avLst>
              <a:gd name="adj" fmla="val 20000"/>
            </a:avLst>
          </a:prstGeom>
          <a:solidFill>
            <a:srgbClr val="2B2F36"/>
          </a:solidFill>
          <a:ln w="12700">
            <a:solidFill>
              <a:srgbClr val="4A515B"/>
            </a:solidFill>
          </a:ln>
        </p:spPr>
        <p:txBody>
          <a:bodyPr rtlCol="0" anchor="ctr" wrap="square" lIns="45720" tIns="0" rIns="45720" bIns="0">
            <a:noAutofit/>
          </a:bodyPr>
          <a:lstStyle/>
          <a:p>
            <a:pPr algn="ctr"/>
            <a:r>
              <a:rPr sz="1600" b="1" i="0" lang="en-GB">
                <a:solidFill>
                  <a:srgbClr val="3FB950"/>
                </a:solidFill>
                <a:latin typeface="Arial"/>
              </a:rPr>
              <a:t>CLEAR: arm raised</a:t>
            </a:r>
          </a:p>
        </p:txBody>
      </p:sp>
      <p:sp>
        <p:nvSpPr>
          <p:cNvPr id="9" name="Credit"/>
          <p:cNvSpPr txBox="1"/>
          <p:nvPr/>
        </p:nvSpPr>
        <p:spPr>
          <a:xfrm>
            <a:off x="4023360" y="4261104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grpSp>
        <p:nvGrpSpPr>
          <p:cNvPr id="10" name="Linkage drawn between a box and its signals" descr="A schematic signal box with three orange dashed lines running to three signals. The lines show which box controls which signal."/>
          <p:cNvGrpSpPr/>
          <p:nvPr/>
        </p:nvGrpSpPr>
        <p:grpSpPr>
          <a:xfrm>
            <a:off x="7424928" y="1417320"/>
            <a:ext cx="4233672" cy="2642616"/>
            <a:chOff x="7424928" y="1417320"/>
            <a:chExt cx="4233672" cy="2642616"/>
          </a:xfrm>
        </p:grpSpPr>
        <p:grpSp>
          <p:nvGrpSpPr>
            <p:cNvPr id="11" name="Track" descr="Two rails on sleepers."/>
            <p:cNvGrpSpPr/>
            <p:nvPr/>
          </p:nvGrpSpPr>
          <p:grpSpPr>
            <a:xfrm>
              <a:off x="7589520" y="3694176"/>
              <a:ext cx="4069080" cy="365760"/>
              <a:chOff x="7589520" y="3694176"/>
              <a:chExt cx="4069080" cy="365760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783640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815644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847648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879652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911656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943660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975664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1007668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1039672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1071676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103680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1356848" y="369417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7589520" y="3749040"/>
                <a:ext cx="4069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589520" y="4005072"/>
                <a:ext cx="40690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6" name="Signal box" descr="A small signal box building."/>
            <p:cNvGrpSpPr/>
            <p:nvPr/>
          </p:nvGrpSpPr>
          <p:grpSpPr>
            <a:xfrm>
              <a:off x="7424928" y="1417320"/>
              <a:ext cx="1335024" cy="1325880"/>
              <a:chOff x="7424928" y="1417320"/>
              <a:chExt cx="1335024" cy="1325880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7498080" y="1709014"/>
                <a:ext cx="1188720" cy="1034186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Freeform 27"/>
              <p:cNvSpPr/>
              <p:nvPr/>
            </p:nvSpPr>
            <p:spPr>
              <a:xfrm>
                <a:off x="7424928" y="1417320"/>
                <a:ext cx="1335024" cy="318211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318211">
                    <a:moveTo>
                      <a:pt x="0" y="318211"/>
                    </a:moveTo>
                    <a:lnTo>
                      <a:pt x="667512" y="0"/>
                    </a:lnTo>
                    <a:lnTo>
                      <a:pt x="1335024" y="318211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7616952" y="1894637"/>
                <a:ext cx="950976" cy="291694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30" name="Connector 29"/>
              <p:cNvCxnSpPr/>
              <p:nvPr/>
            </p:nvCxnSpPr>
            <p:spPr>
              <a:xfrm>
                <a:off x="7854696" y="1894637"/>
                <a:ext cx="0" cy="29169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31" name="Connector 30"/>
              <p:cNvCxnSpPr/>
              <p:nvPr/>
            </p:nvCxnSpPr>
            <p:spPr>
              <a:xfrm>
                <a:off x="8092440" y="1894637"/>
                <a:ext cx="0" cy="29169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32" name="Connector 31"/>
              <p:cNvCxnSpPr/>
              <p:nvPr/>
            </p:nvCxnSpPr>
            <p:spPr>
              <a:xfrm>
                <a:off x="8330184" y="1894637"/>
                <a:ext cx="0" cy="29169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33" name="Signal (stop, stop)" descr="A semaphore signal post with its arm flat (stop)."/>
            <p:cNvGrpSpPr/>
            <p:nvPr/>
          </p:nvGrpSpPr>
          <p:grpSpPr>
            <a:xfrm>
              <a:off x="8991752" y="3154680"/>
              <a:ext cx="819760" cy="905256"/>
              <a:chOff x="8991752" y="3154680"/>
              <a:chExt cx="819760" cy="905256"/>
            </a:xfrm>
          </p:grpSpPr>
          <p:sp>
            <p:nvSpPr>
              <p:cNvPr id="34" name="Rectangle 33"/>
              <p:cNvSpPr/>
              <p:nvPr/>
            </p:nvSpPr>
            <p:spPr>
              <a:xfrm>
                <a:off x="9111996" y="3994099"/>
                <a:ext cx="246888" cy="65837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9186062" y="3154680"/>
                <a:ext cx="98755" cy="839419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Freeform 35"/>
              <p:cNvSpPr/>
              <p:nvPr/>
            </p:nvSpPr>
            <p:spPr>
              <a:xfrm>
                <a:off x="9235440" y="3179369"/>
                <a:ext cx="576072" cy="115214"/>
              </a:xfrm>
              <a:custGeom>
                <a:avLst/>
                <a:gdLst/>
                <a:ahLst/>
                <a:cxnLst/>
                <a:rect l="l" t="t" r="r" b="b"/>
                <a:pathLst>
                  <a:path w="576072" h="115214">
                    <a:moveTo>
                      <a:pt x="0" y="0"/>
                    </a:moveTo>
                    <a:lnTo>
                      <a:pt x="576072" y="0"/>
                    </a:lnTo>
                    <a:lnTo>
                      <a:pt x="576072" y="115214"/>
                    </a:lnTo>
                    <a:lnTo>
                      <a:pt x="0" y="11521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Freeform 36"/>
              <p:cNvSpPr/>
              <p:nvPr/>
            </p:nvSpPr>
            <p:spPr>
              <a:xfrm>
                <a:off x="9523476" y="3179369"/>
                <a:ext cx="90526" cy="115214"/>
              </a:xfrm>
              <a:custGeom>
                <a:avLst/>
                <a:gdLst/>
                <a:ahLst/>
                <a:cxnLst/>
                <a:rect l="l" t="t" r="r" b="b"/>
                <a:pathLst>
                  <a:path w="90526" h="115214">
                    <a:moveTo>
                      <a:pt x="0" y="0"/>
                    </a:moveTo>
                    <a:lnTo>
                      <a:pt x="90526" y="0"/>
                    </a:lnTo>
                    <a:lnTo>
                      <a:pt x="90526" y="115214"/>
                    </a:lnTo>
                    <a:lnTo>
                      <a:pt x="0" y="11521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Oval 37"/>
              <p:cNvSpPr/>
              <p:nvPr/>
            </p:nvSpPr>
            <p:spPr>
              <a:xfrm>
                <a:off x="9192920" y="3194456"/>
                <a:ext cx="85039" cy="85039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Oval 38"/>
              <p:cNvSpPr/>
              <p:nvPr/>
            </p:nvSpPr>
            <p:spPr>
              <a:xfrm>
                <a:off x="8991752" y="3157880"/>
                <a:ext cx="158191" cy="158191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0" name="Rod"/>
            <p:cNvSpPr/>
            <p:nvPr/>
          </p:nvSpPr>
          <p:spPr>
            <a:xfrm>
              <a:off x="8686800" y="2468880"/>
              <a:ext cx="228600" cy="1554480"/>
            </a:xfrm>
            <a:custGeom>
              <a:avLst/>
              <a:gdLst/>
              <a:ahLst/>
              <a:cxnLst/>
              <a:rect l="l" t="t" r="r" b="b"/>
              <a:pathLst>
                <a:path w="228600" h="1554480">
                  <a:moveTo>
                    <a:pt x="0" y="0"/>
                  </a:moveTo>
                  <a:lnTo>
                    <a:pt x="228600" y="0"/>
                  </a:lnTo>
                  <a:lnTo>
                    <a:pt x="228600" y="155448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41" name="Signal (stop, clear)" descr="A semaphore signal post with its arm raised (clear)."/>
            <p:cNvGrpSpPr/>
            <p:nvPr/>
          </p:nvGrpSpPr>
          <p:grpSpPr>
            <a:xfrm>
              <a:off x="9906152" y="2788897"/>
              <a:ext cx="691767" cy="1271039"/>
              <a:chOff x="9906152" y="2788897"/>
              <a:chExt cx="691767" cy="1271039"/>
            </a:xfrm>
          </p:grpSpPr>
          <p:sp>
            <p:nvSpPr>
              <p:cNvPr id="42" name="Rectangle 41"/>
              <p:cNvSpPr/>
              <p:nvPr/>
            </p:nvSpPr>
            <p:spPr>
              <a:xfrm>
                <a:off x="10026396" y="3994099"/>
                <a:ext cx="246888" cy="65837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10100462" y="3154680"/>
                <a:ext cx="98755" cy="839419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Freeform 43"/>
              <p:cNvSpPr/>
              <p:nvPr/>
            </p:nvSpPr>
            <p:spPr>
              <a:xfrm>
                <a:off x="10109106" y="2788897"/>
                <a:ext cx="488813" cy="488813"/>
              </a:xfrm>
              <a:custGeom>
                <a:avLst/>
                <a:gdLst/>
                <a:ahLst/>
                <a:cxnLst/>
                <a:rect l="l" t="t" r="r" b="b"/>
                <a:pathLst>
                  <a:path w="488813" h="488813">
                    <a:moveTo>
                      <a:pt x="0" y="407345"/>
                    </a:moveTo>
                    <a:lnTo>
                      <a:pt x="407344" y="0"/>
                    </a:lnTo>
                    <a:lnTo>
                      <a:pt x="488813" y="81469"/>
                    </a:lnTo>
                    <a:lnTo>
                      <a:pt x="81468" y="488813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10312778" y="2928558"/>
                <a:ext cx="145480" cy="145480"/>
              </a:xfrm>
              <a:custGeom>
                <a:avLst/>
                <a:gdLst/>
                <a:ahLst/>
                <a:cxnLst/>
                <a:rect l="l" t="t" r="r" b="b"/>
                <a:pathLst>
                  <a:path w="145480" h="145480">
                    <a:moveTo>
                      <a:pt x="0" y="64011"/>
                    </a:moveTo>
                    <a:lnTo>
                      <a:pt x="64011" y="0"/>
                    </a:lnTo>
                    <a:lnTo>
                      <a:pt x="145480" y="81469"/>
                    </a:lnTo>
                    <a:lnTo>
                      <a:pt x="81469" y="1454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10107320" y="3194456"/>
                <a:ext cx="85039" cy="85039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9906152" y="3157880"/>
                <a:ext cx="158191" cy="158191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8" name="Rod"/>
            <p:cNvSpPr/>
            <p:nvPr/>
          </p:nvSpPr>
          <p:spPr>
            <a:xfrm>
              <a:off x="8686800" y="2286000"/>
              <a:ext cx="1143000" cy="1737360"/>
            </a:xfrm>
            <a:custGeom>
              <a:avLst/>
              <a:gdLst/>
              <a:ahLst/>
              <a:cxnLst/>
              <a:rect l="l" t="t" r="r" b="b"/>
              <a:pathLst>
                <a:path w="1143000" h="1737360">
                  <a:moveTo>
                    <a:pt x="0" y="0"/>
                  </a:moveTo>
                  <a:lnTo>
                    <a:pt x="1143000" y="0"/>
                  </a:lnTo>
                  <a:lnTo>
                    <a:pt x="1143000" y="173736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49" name="Signal (stop, clear)" descr="A semaphore signal post with its arm raised (clear)."/>
            <p:cNvGrpSpPr/>
            <p:nvPr/>
          </p:nvGrpSpPr>
          <p:grpSpPr>
            <a:xfrm>
              <a:off x="10729112" y="2788897"/>
              <a:ext cx="691767" cy="1271039"/>
              <a:chOff x="10729112" y="2788897"/>
              <a:chExt cx="691767" cy="1271039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0849356" y="3994099"/>
                <a:ext cx="246888" cy="65837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10923422" y="3154680"/>
                <a:ext cx="98755" cy="839419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Freeform 51"/>
              <p:cNvSpPr/>
              <p:nvPr/>
            </p:nvSpPr>
            <p:spPr>
              <a:xfrm>
                <a:off x="10932066" y="2788897"/>
                <a:ext cx="488813" cy="488813"/>
              </a:xfrm>
              <a:custGeom>
                <a:avLst/>
                <a:gdLst/>
                <a:ahLst/>
                <a:cxnLst/>
                <a:rect l="l" t="t" r="r" b="b"/>
                <a:pathLst>
                  <a:path w="488813" h="488813">
                    <a:moveTo>
                      <a:pt x="0" y="407345"/>
                    </a:moveTo>
                    <a:lnTo>
                      <a:pt x="407344" y="0"/>
                    </a:lnTo>
                    <a:lnTo>
                      <a:pt x="488813" y="81469"/>
                    </a:lnTo>
                    <a:lnTo>
                      <a:pt x="81468" y="488813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Freeform 52"/>
              <p:cNvSpPr/>
              <p:nvPr/>
            </p:nvSpPr>
            <p:spPr>
              <a:xfrm>
                <a:off x="11135738" y="2928558"/>
                <a:ext cx="145480" cy="145480"/>
              </a:xfrm>
              <a:custGeom>
                <a:avLst/>
                <a:gdLst/>
                <a:ahLst/>
                <a:cxnLst/>
                <a:rect l="l" t="t" r="r" b="b"/>
                <a:pathLst>
                  <a:path w="145480" h="145480">
                    <a:moveTo>
                      <a:pt x="0" y="64011"/>
                    </a:moveTo>
                    <a:lnTo>
                      <a:pt x="64011" y="0"/>
                    </a:lnTo>
                    <a:lnTo>
                      <a:pt x="145480" y="81469"/>
                    </a:lnTo>
                    <a:lnTo>
                      <a:pt x="81469" y="1454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10930280" y="3194456"/>
                <a:ext cx="85039" cy="85039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10729112" y="3157880"/>
                <a:ext cx="158191" cy="158191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6" name="Rod"/>
            <p:cNvSpPr/>
            <p:nvPr/>
          </p:nvSpPr>
          <p:spPr>
            <a:xfrm>
              <a:off x="8686800" y="2103120"/>
              <a:ext cx="1965960" cy="1920240"/>
            </a:xfrm>
            <a:custGeom>
              <a:avLst/>
              <a:gdLst/>
              <a:ahLst/>
              <a:cxnLst/>
              <a:rect l="l" t="t" r="r" b="b"/>
              <a:pathLst>
                <a:path w="1965960" h="1920240">
                  <a:moveTo>
                    <a:pt x="0" y="0"/>
                  </a:moveTo>
                  <a:lnTo>
                    <a:pt x="1965960" y="0"/>
                  </a:lnTo>
                  <a:lnTo>
                    <a:pt x="1965960" y="192024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7589520" y="4526280"/>
            <a:ext cx="4050792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1600" b="0" i="0" lang="en-GB">
                <a:solidFill>
                  <a:srgbClr val="F2F2F2"/>
                </a:solidFill>
                <a:latin typeface="Arial"/>
              </a:rPr>
              <a:t>Visual layer only. Parts may twitch when a signal changes.</a:t>
            </a:r>
          </a:p>
        </p:txBody>
      </p:sp>
      <p:sp>
        <p:nvSpPr>
          <p:cNvPr id="58" name="Chip: Undecided (rod or wire look)" descr="Status tag: Undecided"/>
          <p:cNvSpPr/>
          <p:nvPr/>
        </p:nvSpPr>
        <p:spPr>
          <a:xfrm>
            <a:off x="7589520" y="5321808"/>
            <a:ext cx="4050792" cy="384048"/>
          </a:xfrm>
          <a:prstGeom prst="roundRect">
            <a:avLst>
              <a:gd name="adj" fmla="val 1904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Rod or wire look: undecided (OQ04)</a:t>
            </a:r>
          </a:p>
        </p:txBody>
      </p:sp>
      <p:sp>
        <p:nvSpPr>
          <p:cNvPr id="5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Rods and wires are drawn for you. They show which box controls which signal.</a:t>
            </a:r>
          </a:p>
        </p:txBody>
      </p:sp>
      <p:sp>
        <p:nvSpPr>
          <p:cNvPr id="6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box screen</a:t>
            </a:r>
          </a:p>
        </p:txBody>
      </p:sp>
      <p:sp>
        <p:nvSpPr>
          <p:cNvPr id="3" name="Chip: Proposed" descr="Status tag: Propos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Mock-up of a signal box screen" descr="A mock-up panel headed Signal box: Station A. Six signals, S1 to S6, each with a STOP or CLEAR label. A bar shows signals used, 6 of 8, and a line shows reach, 1,200 metres. Example numbers only."/>
          <p:cNvGrpSpPr/>
          <p:nvPr/>
        </p:nvGrpSpPr>
        <p:grpSpPr>
          <a:xfrm>
            <a:off x="3538728" y="1371600"/>
            <a:ext cx="5120640" cy="4023360"/>
            <a:chOff x="3538728" y="1371600"/>
            <a:chExt cx="5120640" cy="4023360"/>
          </a:xfrm>
        </p:grpSpPr>
        <p:sp>
          <p:nvSpPr>
            <p:cNvPr id="5" name="Screen panel"/>
            <p:cNvSpPr/>
            <p:nvPr/>
          </p:nvSpPr>
          <p:spPr>
            <a:xfrm>
              <a:off x="3538728" y="1371600"/>
              <a:ext cx="5120640" cy="4023360"/>
            </a:xfrm>
            <a:prstGeom prst="roundRect">
              <a:avLst>
                <a:gd name="adj" fmla="val 3409"/>
              </a:avLst>
            </a:prstGeom>
            <a:solidFill>
              <a:srgbClr val="14171B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04488" y="1508760"/>
              <a:ext cx="43891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Signal box: Station A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3904488" y="2057400"/>
              <a:ext cx="4389120" cy="0"/>
            </a:xfrm>
            <a:prstGeom prst="line">
              <a:avLst/>
            </a:prstGeom>
            <a:ln w="19050">
              <a:solidFill>
                <a:srgbClr val="4A515B"/>
              </a:solidFill>
            </a:ln>
          </p:spPr>
        </p:cxnSp>
        <p:sp>
          <p:nvSpPr>
            <p:cNvPr id="8" name="TextBox 7"/>
            <p:cNvSpPr txBox="1"/>
            <p:nvPr/>
          </p:nvSpPr>
          <p:spPr>
            <a:xfrm>
              <a:off x="3995928" y="2194560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S1</a:t>
              </a:r>
            </a:p>
          </p:txBody>
        </p:sp>
        <p:sp>
          <p:nvSpPr>
            <p:cNvPr id="9" name="State pill STOP"/>
            <p:cNvSpPr/>
            <p:nvPr/>
          </p:nvSpPr>
          <p:spPr>
            <a:xfrm>
              <a:off x="4818888" y="2212848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E5484D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STOP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95928" y="2578608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S2</a:t>
              </a:r>
            </a:p>
          </p:txBody>
        </p:sp>
        <p:sp>
          <p:nvSpPr>
            <p:cNvPr id="11" name="State pill CLEAR"/>
            <p:cNvSpPr/>
            <p:nvPr/>
          </p:nvSpPr>
          <p:spPr>
            <a:xfrm>
              <a:off x="4818888" y="2596896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995928" y="2962656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S3</a:t>
              </a:r>
            </a:p>
          </p:txBody>
        </p:sp>
        <p:sp>
          <p:nvSpPr>
            <p:cNvPr id="13" name="State pill CLEAR"/>
            <p:cNvSpPr/>
            <p:nvPr/>
          </p:nvSpPr>
          <p:spPr>
            <a:xfrm>
              <a:off x="4818888" y="2980944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995928" y="3346704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S4</a:t>
              </a:r>
            </a:p>
          </p:txBody>
        </p:sp>
        <p:sp>
          <p:nvSpPr>
            <p:cNvPr id="15" name="State pill STOP"/>
            <p:cNvSpPr/>
            <p:nvPr/>
          </p:nvSpPr>
          <p:spPr>
            <a:xfrm>
              <a:off x="4818888" y="3364992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E5484D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STOP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995928" y="3730752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S5</a:t>
              </a:r>
            </a:p>
          </p:txBody>
        </p:sp>
        <p:sp>
          <p:nvSpPr>
            <p:cNvPr id="17" name="State pill CLEAR"/>
            <p:cNvSpPr/>
            <p:nvPr/>
          </p:nvSpPr>
          <p:spPr>
            <a:xfrm>
              <a:off x="4818888" y="3749040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95928" y="4114800"/>
              <a:ext cx="731520" cy="329184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S6</a:t>
              </a:r>
            </a:p>
          </p:txBody>
        </p:sp>
        <p:sp>
          <p:nvSpPr>
            <p:cNvPr id="19" name="State pill CLEAR"/>
            <p:cNvSpPr/>
            <p:nvPr/>
          </p:nvSpPr>
          <p:spPr>
            <a:xfrm>
              <a:off x="4818888" y="4133088"/>
              <a:ext cx="1188720" cy="292608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95928" y="4599432"/>
              <a:ext cx="23774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Signals used 6 of 8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464808" y="4672584"/>
              <a:ext cx="1828800" cy="219456"/>
            </a:xfrm>
            <a:prstGeom prst="roundRect">
              <a:avLst>
                <a:gd name="adj" fmla="val 20833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Used bar"/>
            <p:cNvSpPr/>
            <p:nvPr/>
          </p:nvSpPr>
          <p:spPr>
            <a:xfrm>
              <a:off x="6464808" y="4672584"/>
              <a:ext cx="1371600" cy="219456"/>
            </a:xfrm>
            <a:prstGeom prst="roundRect">
              <a:avLst>
                <a:gd name="adj" fmla="val 20833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995928" y="4983480"/>
              <a:ext cx="45720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Reach 1,200 m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3538728" y="5468112"/>
            <a:ext cx="5120640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/>
            <a:r>
              <a:rPr sz="1400" b="1" i="0" lang="en-GB">
                <a:solidFill>
                  <a:srgbClr val="A9B0B8"/>
                </a:solidFill>
                <a:latin typeface="Arial"/>
              </a:rPr>
              <a:t>Example numbers only</a:t>
            </a:r>
          </a:p>
        </p:txBody>
      </p:sp>
      <p:sp>
        <p:nvSpPr>
          <p:cNvPr id="2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box screen could list its signals, their state, capacity and reach.</a:t>
            </a:r>
          </a:p>
        </p:txBody>
      </p:sp>
      <p:sp>
        <p:nvSpPr>
          <p:cNvPr id="2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Speed has three limits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Three speed limits" descr="Three horizontal bars of different lengths for the track, signal and engine limits. A vertical line at the end of the shortest bar, with an arrow, shows that you go only that fast."/>
          <p:cNvGrpSpPr/>
          <p:nvPr/>
        </p:nvGrpSpPr>
        <p:grpSpPr>
          <a:xfrm>
            <a:off x="548640" y="1481328"/>
            <a:ext cx="9555480" cy="3611880"/>
            <a:chOff x="548640" y="1481328"/>
            <a:chExt cx="9555480" cy="3611880"/>
          </a:xfrm>
        </p:grpSpPr>
        <p:sp>
          <p:nvSpPr>
            <p:cNvPr id="5" name="TextBox 4"/>
            <p:cNvSpPr txBox="1"/>
            <p:nvPr/>
          </p:nvSpPr>
          <p:spPr>
            <a:xfrm>
              <a:off x="548640" y="2011680"/>
              <a:ext cx="25603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Track limit</a:t>
              </a:r>
            </a:p>
          </p:txBody>
        </p:sp>
        <p:sp>
          <p:nvSpPr>
            <p:cNvPr id="6" name="Bar: Track limit"/>
            <p:cNvSpPr/>
            <p:nvPr/>
          </p:nvSpPr>
          <p:spPr>
            <a:xfrm>
              <a:off x="3200400" y="2029968"/>
              <a:ext cx="6400800" cy="457200"/>
            </a:xfrm>
            <a:prstGeom prst="roundRect">
              <a:avLst>
                <a:gd name="adj" fmla="val 12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2880360"/>
              <a:ext cx="25603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Signal limit</a:t>
              </a:r>
            </a:p>
          </p:txBody>
        </p:sp>
        <p:sp>
          <p:nvSpPr>
            <p:cNvPr id="8" name="Bar: Signal limit"/>
            <p:cNvSpPr/>
            <p:nvPr/>
          </p:nvSpPr>
          <p:spPr>
            <a:xfrm>
              <a:off x="3200400" y="2898648"/>
              <a:ext cx="3840480" cy="457200"/>
            </a:xfrm>
            <a:prstGeom prst="roundRect">
              <a:avLst>
                <a:gd name="adj" fmla="val 12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48640" y="3749040"/>
              <a:ext cx="2560320" cy="5029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Engine limit</a:t>
              </a:r>
            </a:p>
          </p:txBody>
        </p:sp>
        <p:sp>
          <p:nvSpPr>
            <p:cNvPr id="10" name="Bar: Engine limit"/>
            <p:cNvSpPr/>
            <p:nvPr/>
          </p:nvSpPr>
          <p:spPr>
            <a:xfrm>
              <a:off x="3200400" y="3767328"/>
              <a:ext cx="5120640" cy="457200"/>
            </a:xfrm>
            <a:prstGeom prst="roundRect">
              <a:avLst>
                <a:gd name="adj" fmla="val 12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Shortest limit"/>
            <p:cNvCxnSpPr/>
            <p:nvPr/>
          </p:nvCxnSpPr>
          <p:spPr>
            <a:xfrm>
              <a:off x="7040880" y="1600200"/>
              <a:ext cx="0" cy="2971800"/>
            </a:xfrm>
            <a:prstGeom prst="line">
              <a:avLst/>
            </a:prstGeom>
            <a:ln w="38100">
              <a:solidFill>
                <a:srgbClr val="F2F2F2"/>
              </a:solidFill>
              <a:prstDash val="dash"/>
            </a:ln>
          </p:spPr>
        </p:cxnSp>
        <p:cxnSp>
          <p:nvCxnSpPr>
            <p:cNvPr id="12" name="Arrow: you go this fast"/>
            <p:cNvCxnSpPr/>
            <p:nvPr/>
          </p:nvCxnSpPr>
          <p:spPr>
            <a:xfrm>
              <a:off x="3200400" y="4617720"/>
              <a:ext cx="384048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3200400" y="4681728"/>
              <a:ext cx="384048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You go this fast</a:t>
              </a:r>
            </a:p>
          </p:txBody>
        </p:sp>
        <p:sp>
          <p:nvSpPr>
            <p:cNvPr id="14" name="Chip: Proposed (rule)" descr="Status tag: Proposed"/>
            <p:cNvSpPr/>
            <p:nvPr/>
          </p:nvSpPr>
          <p:spPr>
            <a:xfrm>
              <a:off x="7269480" y="1481328"/>
              <a:ext cx="2834640" cy="365760"/>
            </a:xfrm>
            <a:prstGeom prst="roundRect">
              <a:avLst>
                <a:gd name="adj" fmla="val 2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Lowest of three: Proposed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548640" y="5303520"/>
            <a:ext cx="731520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600" b="1" i="0" lang="en-GB">
                <a:solidFill>
                  <a:srgbClr val="A9B0B8"/>
                </a:solidFill>
                <a:latin typeface="Arial"/>
              </a:rPr>
              <a:t>Hills and loading can slow trains further.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5303520"/>
            <a:ext cx="24963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1" i="0" lang="en-GB">
                <a:solidFill>
                  <a:srgbClr val="A9B0B8"/>
                </a:solidFill>
                <a:latin typeface="Arial"/>
              </a:rPr>
              <a:t>Not to scale</a:t>
            </a:r>
          </a:p>
        </p:txBody>
      </p:sp>
      <p:sp>
        <p:nvSpPr>
          <p:cNvPr id="17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Speed is the lowest of three limits: track, signals and engine.</a:t>
            </a:r>
          </a:p>
        </p:txBody>
      </p:sp>
      <p:sp>
        <p:nvSpPr>
          <p:cNvPr id="18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Later signals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ignals over time" descr="A timeline of three stages. Start: semaphore blocks (agreed). Later: improved semaphores or interlocking (proposed), for example 90 km/h and 800 m blocks (provisional). Mature: electronic signals like vanilla (proposed). Below, complex junctions stay slower than electric rail on purpose."/>
          <p:cNvGrpSpPr/>
          <p:nvPr/>
        </p:nvGrpSpPr>
        <p:grpSpPr>
          <a:xfrm>
            <a:off x="548640" y="1463040"/>
            <a:ext cx="11091672" cy="4114800"/>
            <a:chOff x="548640" y="1463040"/>
            <a:chExt cx="11091672" cy="4114800"/>
          </a:xfrm>
        </p:grpSpPr>
        <p:cxnSp>
          <p:nvCxnSpPr>
            <p:cNvPr id="5" name="Timeline"/>
            <p:cNvCxnSpPr/>
            <p:nvPr/>
          </p:nvCxnSpPr>
          <p:spPr>
            <a:xfrm>
              <a:off x="822960" y="2331720"/>
              <a:ext cx="10515600" cy="0"/>
            </a:xfrm>
            <a:prstGeom prst="line">
              <a:avLst/>
            </a:prstGeom>
            <a:ln w="38100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6" name="Chip: Agreed" descr="Status tag: Agreed"/>
            <p:cNvSpPr/>
            <p:nvPr/>
          </p:nvSpPr>
          <p:spPr>
            <a:xfrm>
              <a:off x="1481328" y="146304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965960" y="2103120"/>
              <a:ext cx="457200" cy="457200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2743200"/>
              <a:ext cx="329184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5800" y="2743200"/>
              <a:ext cx="3017520" cy="10515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Start: semaphore blocks</a:t>
              </a:r>
            </a:p>
          </p:txBody>
        </p:sp>
        <p:sp>
          <p:nvSpPr>
            <p:cNvPr id="10" name="Chip: Proposed" descr="Status tag: Proposed"/>
            <p:cNvSpPr/>
            <p:nvPr/>
          </p:nvSpPr>
          <p:spPr>
            <a:xfrm>
              <a:off x="5385816" y="146304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5870448" y="2103120"/>
              <a:ext cx="457200" cy="457200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53128" y="2743200"/>
              <a:ext cx="329184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590288" y="2743200"/>
              <a:ext cx="3017520" cy="10515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Later: improved semaphores or interlocking</a:t>
              </a:r>
            </a:p>
          </p:txBody>
        </p:sp>
        <p:sp>
          <p:nvSpPr>
            <p:cNvPr id="14" name="Chip: Proposed" descr="Status tag: Proposed"/>
            <p:cNvSpPr/>
            <p:nvPr/>
          </p:nvSpPr>
          <p:spPr>
            <a:xfrm>
              <a:off x="9281160" y="146304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765792" y="2103120"/>
              <a:ext cx="457200" cy="457200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1E212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8348472" y="2743200"/>
              <a:ext cx="3291840" cy="1051560"/>
            </a:xfrm>
            <a:prstGeom prst="roundRect">
              <a:avLst>
                <a:gd name="adj" fmla="val 695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485632" y="2743200"/>
              <a:ext cx="3017520" cy="10515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Mature: electronic signals like vanilla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53128" y="3931920"/>
              <a:ext cx="32918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Example: 90 km/h, 800 m blocks</a:t>
              </a:r>
            </a:p>
          </p:txBody>
        </p:sp>
        <p:sp>
          <p:nvSpPr>
            <p:cNvPr id="19" name="Chip: Provisional" descr="Status tag: Provisional"/>
            <p:cNvSpPr/>
            <p:nvPr/>
          </p:nvSpPr>
          <p:spPr>
            <a:xfrm>
              <a:off x="5385816" y="4343400"/>
              <a:ext cx="1426464" cy="310896"/>
            </a:xfrm>
            <a:prstGeom prst="roundRect">
              <a:avLst>
                <a:gd name="adj" fmla="val 23529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822960" y="5257800"/>
              <a:ext cx="1554480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 flipV="1">
              <a:off x="1188720" y="4892040"/>
              <a:ext cx="1005840" cy="36576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2194560" y="4892040"/>
              <a:ext cx="457200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23" name="TextBox 22"/>
            <p:cNvSpPr txBox="1"/>
            <p:nvPr/>
          </p:nvSpPr>
          <p:spPr>
            <a:xfrm>
              <a:off x="2926080" y="4937760"/>
              <a:ext cx="8412480" cy="6400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Complex junctions: slower than electric (deliberate)</a:t>
              </a:r>
            </a:p>
          </p:txBody>
        </p:sp>
      </p:grpSp>
      <p:sp>
        <p:nvSpPr>
          <p:cNvPr id="24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Better signals come later. Busy junctions stay slower than mature electric rail.</a:t>
            </a:r>
          </a:p>
        </p:txBody>
      </p:sp>
      <p:sp>
        <p:nvSpPr>
          <p:cNvPr id="25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Driving by hand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anual railway operations diagram" descr="A mock-up of a simple track diagram panel: circles joined by lines, with the active route in bright orange and alternatives in grey. Three mode buttons across the top: AUTO, YARD and MAINLINE."/>
          <p:cNvGrpSpPr/>
          <p:nvPr/>
        </p:nvGrpSpPr>
        <p:grpSpPr>
          <a:xfrm>
            <a:off x="3904488" y="1371600"/>
            <a:ext cx="4389120" cy="3474720"/>
            <a:chOff x="3904488" y="1371600"/>
            <a:chExt cx="4389120" cy="3474720"/>
          </a:xfrm>
        </p:grpSpPr>
        <p:sp>
          <p:nvSpPr>
            <p:cNvPr id="5" name="Diagram panel"/>
            <p:cNvSpPr/>
            <p:nvPr/>
          </p:nvSpPr>
          <p:spPr>
            <a:xfrm>
              <a:off x="3904488" y="1371600"/>
              <a:ext cx="4389120" cy="3474720"/>
            </a:xfrm>
            <a:prstGeom prst="roundRect">
              <a:avLst>
                <a:gd name="adj" fmla="val 4736"/>
              </a:avLst>
            </a:prstGeom>
            <a:solidFill>
              <a:srgbClr val="14171B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ode pill AUTO"/>
            <p:cNvSpPr/>
            <p:nvPr/>
          </p:nvSpPr>
          <p:spPr>
            <a:xfrm>
              <a:off x="4087368" y="1527048"/>
              <a:ext cx="1280160" cy="36576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AUTO</a:t>
              </a:r>
            </a:p>
          </p:txBody>
        </p:sp>
        <p:sp>
          <p:nvSpPr>
            <p:cNvPr id="7" name="Mode pill YARD"/>
            <p:cNvSpPr/>
            <p:nvPr/>
          </p:nvSpPr>
          <p:spPr>
            <a:xfrm>
              <a:off x="5458968" y="1527048"/>
              <a:ext cx="1280160" cy="365760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 w="19050">
              <a:solidFill>
                <a:srgbClr val="F28C28"/>
              </a:solidFill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YARD</a:t>
              </a:r>
            </a:p>
          </p:txBody>
        </p:sp>
        <p:sp>
          <p:nvSpPr>
            <p:cNvPr id="8" name="Mode pill MAINLINE"/>
            <p:cNvSpPr/>
            <p:nvPr/>
          </p:nvSpPr>
          <p:spPr>
            <a:xfrm>
              <a:off x="6830568" y="1527048"/>
              <a:ext cx="1280160" cy="365760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19050">
              <a:solidFill>
                <a:srgbClr val="4A515B"/>
              </a:solidFill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MAINLINE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 flipV="1">
              <a:off x="5257800" y="2926080"/>
              <a:ext cx="685800" cy="141732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5943600" y="2514600"/>
              <a:ext cx="914400" cy="41148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126480" y="4343400"/>
              <a:ext cx="868680" cy="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6995160" y="4343400"/>
              <a:ext cx="914400" cy="0"/>
            </a:xfrm>
            <a:prstGeom prst="line">
              <a:avLst/>
            </a:prstGeom>
            <a:ln w="38100">
              <a:solidFill>
                <a:srgbClr val="6C7480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4389120" y="4343400"/>
              <a:ext cx="868680" cy="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5257800" y="4343400"/>
              <a:ext cx="868680" cy="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 flipV="1">
              <a:off x="6126480" y="3611880"/>
              <a:ext cx="868680" cy="73152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6995160" y="3611880"/>
              <a:ext cx="914400" cy="0"/>
            </a:xfrm>
            <a:prstGeom prst="line">
              <a:avLst/>
            </a:prstGeom>
            <a:ln w="63500">
              <a:solidFill>
                <a:srgbClr val="F28C28"/>
              </a:solidFill>
            </a:ln>
          </p:spPr>
        </p:cxnSp>
        <p:sp>
          <p:nvSpPr>
            <p:cNvPr id="17" name="Oval 16"/>
            <p:cNvSpPr/>
            <p:nvPr/>
          </p:nvSpPr>
          <p:spPr>
            <a:xfrm>
              <a:off x="4224528" y="417880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5093208" y="417880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5961888" y="417880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6830568" y="344728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744968" y="3447288"/>
              <a:ext cx="329184" cy="329184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F2F2F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6830568" y="417880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744968" y="417880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5779008" y="276148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6693408" y="2350008"/>
              <a:ext cx="329184" cy="329184"/>
            </a:xfrm>
            <a:prstGeom prst="ellipse">
              <a:avLst/>
            </a:prstGeom>
            <a:solidFill>
              <a:srgbClr val="2B2F36"/>
            </a:solidFill>
            <a:ln w="25400">
              <a:solidFill>
                <a:srgbClr val="6C7480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8503920" y="1417320"/>
            <a:ext cx="3136392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1800" b="1" i="0" lang="en-GB">
                <a:solidFill>
                  <a:srgbClr val="F2F2F2"/>
                </a:solidFill>
                <a:latin typeface="Arial"/>
              </a:rPr>
              <a:t>YARD: you set points one by one</a:t>
            </a:r>
          </a:p>
        </p:txBody>
      </p:sp>
      <p:sp>
        <p:nvSpPr>
          <p:cNvPr id="27" name="Mainline text"/>
          <p:cNvSpPr txBox="1"/>
          <p:nvPr/>
        </p:nvSpPr>
        <p:spPr>
          <a:xfrm>
            <a:off x="1143000" y="5029200"/>
            <a:ext cx="7498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800" b="1" i="0" lang="en-GB">
                <a:solidFill>
                  <a:srgbClr val="F2F2F2"/>
                </a:solidFill>
                <a:latin typeface="Arial"/>
              </a:rPr>
              <a:t>MAINLINE: pick a destination and let the game set points</a:t>
            </a:r>
          </a:p>
        </p:txBody>
      </p:sp>
      <p:sp>
        <p:nvSpPr>
          <p:cNvPr id="28" name="Chip: Proposed" descr="Status tag: Proposed"/>
          <p:cNvSpPr/>
          <p:nvPr/>
        </p:nvSpPr>
        <p:spPr>
          <a:xfrm>
            <a:off x="8778240" y="5047488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sp>
        <p:nvSpPr>
          <p:cNvPr id="2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Drivers can set nearby points from a simple track diagram. Signal boxes keep control.</a:t>
            </a:r>
          </a:p>
        </p:txBody>
      </p:sp>
      <p:sp>
        <p:nvSpPr>
          <p:cNvPr id="3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Where this stands</a:t>
            </a:r>
          </a:p>
        </p:txBody>
      </p:sp>
      <p:sp>
        <p:nvSpPr>
          <p:cNvPr id="3" name="Chip: Provisional" descr="Status tag: Provisional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pic>
        <p:nvPicPr>
          <p:cNvPr id="4" name="R03_semaphore_stop.jpg" descr="The mod's semaphore stop signal model with its arm flat (stop).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2103120"/>
            <a:ext cx="2377440" cy="1783080"/>
          </a:xfrm>
          <a:prstGeom prst="roundRect">
            <a:avLst>
              <a:gd name="adj" fmla="val 4102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39319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pic>
        <p:nvPicPr>
          <p:cNvPr id="6" name="R04_semaphore_clear.jpg" descr="The same signal model with its arm raised (clear).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154680" y="2103120"/>
            <a:ext cx="2377440" cy="1783080"/>
          </a:xfrm>
          <a:prstGeom prst="roundRect">
            <a:avLst>
              <a:gd name="adj" fmla="val 4102"/>
            </a:avLst>
          </a:prstGeom>
        </p:spPr>
      </p:pic>
      <p:sp>
        <p:nvSpPr>
          <p:cNvPr id="7" name="Credit"/>
          <p:cNvSpPr txBox="1"/>
          <p:nvPr/>
        </p:nvSpPr>
        <p:spPr>
          <a:xfrm>
            <a:off x="3154680" y="39319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Blender model, not yet in the game.</a:t>
            </a:r>
          </a:p>
        </p:txBody>
      </p:sp>
      <p:grpSp>
        <p:nvGrpSpPr>
          <p:cNvPr id="8" name="Where the signalling work stands" descr="Four stages in a row. The semaphore model is built in Blender and is under way. In the game, signal boxes, and rods and wires are all planned."/>
          <p:cNvGrpSpPr/>
          <p:nvPr/>
        </p:nvGrpSpPr>
        <p:grpSpPr>
          <a:xfrm>
            <a:off x="5897880" y="2039112"/>
            <a:ext cx="5742432" cy="2441448"/>
            <a:chOff x="5897880" y="2039112"/>
            <a:chExt cx="5742432" cy="2441448"/>
          </a:xfrm>
        </p:grpSpPr>
        <p:cxnSp>
          <p:nvCxnSpPr>
            <p:cNvPr id="9" name="Connector 8"/>
            <p:cNvCxnSpPr/>
            <p:nvPr/>
          </p:nvCxnSpPr>
          <p:spPr>
            <a:xfrm>
              <a:off x="6556248" y="2194560"/>
              <a:ext cx="4416552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10" name="Oval 9"/>
            <p:cNvSpPr/>
            <p:nvPr/>
          </p:nvSpPr>
          <p:spPr>
            <a:xfrm>
              <a:off x="6405372" y="2039112"/>
              <a:ext cx="310896" cy="310896"/>
            </a:xfrm>
            <a:prstGeom prst="ellipse">
              <a:avLst/>
            </a:prstGeom>
            <a:solidFill>
              <a:srgbClr val="F28C28"/>
            </a:solidFill>
            <a:ln w="381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tage: Semaphore model: built in Blender"/>
            <p:cNvSpPr/>
            <p:nvPr/>
          </p:nvSpPr>
          <p:spPr>
            <a:xfrm>
              <a:off x="5897880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Semaphore model: built in Blender</a:t>
              </a:r>
            </a:p>
          </p:txBody>
        </p:sp>
        <p:sp>
          <p:nvSpPr>
            <p:cNvPr id="12" name="State: Under way"/>
            <p:cNvSpPr/>
            <p:nvPr/>
          </p:nvSpPr>
          <p:spPr>
            <a:xfrm>
              <a:off x="6007608" y="3977640"/>
              <a:ext cx="1106424" cy="347472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Under way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7877556" y="2039112"/>
              <a:ext cx="310896" cy="310896"/>
            </a:xfrm>
            <a:prstGeom prst="ellipse">
              <a:avLst/>
            </a:prstGeom>
            <a:solidFill>
              <a:srgbClr val="1E212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tage: In the game: planned"/>
            <p:cNvSpPr/>
            <p:nvPr/>
          </p:nvSpPr>
          <p:spPr>
            <a:xfrm>
              <a:off x="7370064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In the game: planned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349740" y="2039112"/>
              <a:ext cx="310896" cy="310896"/>
            </a:xfrm>
            <a:prstGeom prst="ellipse">
              <a:avLst/>
            </a:prstGeom>
            <a:solidFill>
              <a:srgbClr val="1E212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tage: Signal boxes: planned"/>
            <p:cNvSpPr/>
            <p:nvPr/>
          </p:nvSpPr>
          <p:spPr>
            <a:xfrm>
              <a:off x="8842248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Signal boxes: planned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10821924" y="2039112"/>
              <a:ext cx="310896" cy="310896"/>
            </a:xfrm>
            <a:prstGeom prst="ellipse">
              <a:avLst/>
            </a:prstGeom>
            <a:solidFill>
              <a:srgbClr val="1E2126"/>
            </a:solidFill>
            <a:ln w="381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tage: Rods and wires: planned"/>
            <p:cNvSpPr/>
            <p:nvPr/>
          </p:nvSpPr>
          <p:spPr>
            <a:xfrm>
              <a:off x="10314432" y="2606040"/>
              <a:ext cx="1325880" cy="187452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t" wrap="square" lIns="73152" tIns="109728" rIns="73152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Rods and wires: planned</a:t>
              </a:r>
            </a:p>
          </p:txBody>
        </p:sp>
      </p:grpSp>
      <p:sp>
        <p:nvSpPr>
          <p:cNvPr id="19" name="Chip: Provisional (plans)" descr="Status tag: Provisional"/>
          <p:cNvSpPr/>
          <p:nvPr/>
        </p:nvSpPr>
        <p:spPr>
          <a:xfrm>
            <a:off x="5897880" y="4754880"/>
            <a:ext cx="2743200" cy="384048"/>
          </a:xfrm>
          <a:prstGeom prst="roundRect">
            <a:avLst>
              <a:gd name="adj" fmla="val 19047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Plans can change.</a:t>
            </a:r>
          </a:p>
        </p:txBody>
      </p:sp>
      <p:sp>
        <p:nvSpPr>
          <p:cNvPr id="2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semaphore model exists in Blender only. It is not in the game yet.</a:t>
            </a:r>
          </a:p>
        </p:txBody>
      </p:sp>
      <p:sp>
        <p:nvSpPr>
          <p:cNvPr id="2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Still undecided</a:t>
            </a:r>
          </a:p>
        </p:txBody>
      </p:sp>
      <p:sp>
        <p:nvSpPr>
          <p:cNvPr id="3" name="Chip: Undecided" descr="Status tag: Undecid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Open questions" descr="Eight cards, each marked undecided, each a question that is still open. Nothing has been chosen."/>
          <p:cNvGrpSpPr/>
          <p:nvPr/>
        </p:nvGrpSpPr>
        <p:grpSpPr>
          <a:xfrm>
            <a:off x="548640" y="1508760"/>
            <a:ext cx="11092586" cy="3749040"/>
            <a:chOff x="548640" y="1508760"/>
            <a:chExt cx="11092586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ip: Undecided (card)" descr="Status tag: Undecided"/>
            <p:cNvSpPr/>
            <p:nvPr/>
          </p:nvSpPr>
          <p:spPr>
            <a:xfrm>
              <a:off x="685800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OQ03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Block lengths, speed caps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62249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ip: Undecided (card)" descr="Status tag: Undecided"/>
            <p:cNvSpPr/>
            <p:nvPr/>
          </p:nvSpPr>
          <p:spPr>
            <a:xfrm>
              <a:off x="3499409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OQ03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99409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If a signal fails?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175858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p: Undecided (card)" descr="Status tag: Undecided"/>
            <p:cNvSpPr/>
            <p:nvPr/>
          </p:nvSpPr>
          <p:spPr>
            <a:xfrm>
              <a:off x="6313018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OQ03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13018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Which later signals first?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989466" y="150876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hip: Undecided (card)" descr="Status tag: Undecided"/>
            <p:cNvSpPr/>
            <p:nvPr/>
          </p:nvSpPr>
          <p:spPr>
            <a:xfrm>
              <a:off x="9126626" y="164592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OQ04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26626" y="205740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Measuring a box's reach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48640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Chip: Undecided (card)" descr="Status tag: Undecided"/>
            <p:cNvSpPr/>
            <p:nvPr/>
          </p:nvSpPr>
          <p:spPr>
            <a:xfrm>
              <a:off x="685800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OQ04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5800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Which box wins an overlap?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362249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hip: Undecided (card)" descr="Status tag: Undecided"/>
            <p:cNvSpPr/>
            <p:nvPr/>
          </p:nvSpPr>
          <p:spPr>
            <a:xfrm>
              <a:off x="3499409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 · OQ04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499409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Rod or wire look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175858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Chip: Undecided (card)" descr="Status tag: Undecided"/>
            <p:cNvSpPr/>
            <p:nvPr/>
          </p:nvSpPr>
          <p:spPr>
            <a:xfrm>
              <a:off x="6313018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313018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Arm: rises or drops?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89466" y="34747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hip: Undecided (card)" descr="Status tag: Undecided"/>
            <p:cNvSpPr/>
            <p:nvPr/>
          </p:nvSpPr>
          <p:spPr>
            <a:xfrm>
              <a:off x="9126626" y="3611880"/>
              <a:ext cx="2103120" cy="310896"/>
            </a:xfrm>
            <a:prstGeom prst="roundRect">
              <a:avLst>
                <a:gd name="adj" fmla="val 23529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126626" y="4023360"/>
              <a:ext cx="2377440" cy="11430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Who sets points near signals?</a:t>
              </a:r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</a:p>
        </p:txBody>
      </p:sp>
      <p:sp>
        <p:nvSpPr>
          <p:cNvPr id="3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Image credits</a:t>
            </a:r>
          </a:p>
        </p:txBody>
      </p:sp>
      <p:graphicFrame>
        <p:nvGraphicFramePr>
          <p:cNvPr id="3" name="Image credits table" descr="Table of image credits: slot, slide, author and licence, and a source link for each picture."/>
          <p:cNvGraphicFramePr>
            <a:graphicFrameLocks noGrp="1"/>
          </p:cNvGraphicFramePr>
          <p:nvPr/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6035040"/>
                <a:gridCol w="267919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Author and licence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Source link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4A51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P13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Richard Dunn, CC BY-SA 2.0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2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P14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Reading Tom, CC BY 2.0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3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P15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Nigel Brown, CC BY-SA 2.0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4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P16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mattbuck (category), CC BY-SA 3.0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u="sng" lang="en-GB">
                          <a:solidFill>
                            <a:srgbClr val="F2F2F2"/>
                          </a:solidFill>
                          <a:latin typeface="Arial"/>
                          <a:hlinkClick r:id="rId5"/>
                        </a:rPr>
                        <a:t>Commons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R03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1, 20, 25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Early Locomotion project (test model, not final art)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Project render (no link)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lang="en-GB">
                          <a:solidFill>
                            <a:srgbClr val="F2F2F2"/>
                          </a:solidFill>
                          <a:latin typeface="Arial"/>
                        </a:rPr>
                        <a:t>R04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20, 25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Early Locomotion project (test model, not final art)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lang="en-GB">
                          <a:solidFill>
                            <a:srgbClr val="F2F2F2"/>
                          </a:solidFill>
                          <a:latin typeface="Arial"/>
                        </a:rPr>
                        <a:t>Project render (no link)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400" b="1" i="0" lang="en-GB">
                <a:solidFill>
                  <a:srgbClr val="F2F2F2"/>
                </a:solidFill>
                <a:latin typeface="Arial"/>
              </a:rPr>
              <a:t>CC BY-SA photos are shown unmodified except for resizing.</a:t>
            </a:r>
          </a:p>
        </p:txBody>
      </p:sp>
      <p:sp>
        <p:nvSpPr>
          <p:cNvPr id="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Photographs come from Wikimedia Commons under Creative Commons licences.</a:t>
            </a:r>
          </a:p>
        </p:txBody>
      </p:sp>
      <p:sp>
        <p:nvSpPr>
          <p:cNvPr id="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CA0DC"/>
      </a:hlink>
      <a:folHlink>
        <a:srgbClr val="A9B0B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Signals and Signal Boxes, Explained</dc:title>
  <dc:subject>Early Locomotion (a Satisfactory mod): explainer deck 2</dc:subject>
  <dc:creator>Claude (Early Locomotion project)</dc:creator>
  <cp:keywords/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