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783080"/>
            <a:ext cx="6035040" cy="192024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5400" b="1" lang="en-GB">
                <a:solidFill>
                  <a:srgbClr val="F2F2F2"/>
                </a:solidFill>
                <a:latin typeface="Arial"/>
              </a:rPr>
              <a:t>Signals and Signal Boxes</a:t>
            </a:r>
          </a:p>
        </p:txBody>
      </p:sp>
      <p:sp>
        <p:nvSpPr>
          <p:cNvPr id="3" name="Series line"/>
          <p:cNvSpPr txBox="1"/>
          <p:nvPr/>
        </p:nvSpPr>
        <p:spPr>
          <a:xfrm>
            <a:off x="548640" y="1325880"/>
            <a:ext cx="58521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l"/>
            <a:r>
              <a:rPr sz="1400" b="0" i="0" lang="en-GB">
                <a:solidFill>
                  <a:srgbClr val="A9B0B8"/>
                </a:solidFill>
                <a:latin typeface="Arial"/>
              </a:rPr>
              <a:t>Early Locomotion: a mod for Satisfactory</a:t>
            </a:r>
          </a:p>
        </p:txBody>
      </p:sp>
      <p:sp>
        <p:nvSpPr>
          <p:cNvPr id="4" name="Orange rule"/>
          <p:cNvSpPr/>
          <p:nvPr/>
        </p:nvSpPr>
        <p:spPr>
          <a:xfrm>
            <a:off x="548640" y="3840480"/>
            <a:ext cx="146304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aption"/>
          <p:cNvSpPr txBox="1"/>
          <p:nvPr/>
        </p:nvSpPr>
        <p:spPr>
          <a:xfrm>
            <a:off x="548640" y="4114800"/>
            <a:ext cx="5669280" cy="1097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How steam railways keep trains apart, and how the mod plans to do it.</a:t>
            </a:r>
          </a:p>
        </p:txBody>
      </p:sp>
      <p:pic>
        <p:nvPicPr>
          <p:cNvPr id="6" name="R03_semaphore_stop.jpg" descr="The mod's semaphore stop signal model with its arm flat (stop)."/>
          <p:cNvPicPr>
            <a:picLocks noChangeAspect="1"/>
          </p:cNvPicPr>
          <p:nvPr/>
        </p:nvPicPr>
        <p:blipFill>
          <a:blip r:embed="rId2"/>
          <a:srcRect l="20536" r="16802"/>
          <a:stretch>
            <a:fillRect/>
          </a:stretch>
        </p:blipFill>
        <p:spPr>
          <a:xfrm>
            <a:off x="6903720" y="411480"/>
            <a:ext cx="4736592" cy="5669280"/>
          </a:xfrm>
          <a:prstGeom prst="roundRect">
            <a:avLst>
              <a:gd name="adj" fmla="val 1544"/>
            </a:avLst>
          </a:prstGeom>
        </p:spPr>
      </p:pic>
      <p:sp>
        <p:nvSpPr>
          <p:cNvPr id="7" name="Credit"/>
          <p:cNvSpPr txBox="1"/>
          <p:nvPr/>
        </p:nvSpPr>
        <p:spPr>
          <a:xfrm>
            <a:off x="6903720" y="6144768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 lang="en-GB">
                <a:solidFill>
                  <a:srgbClr val="A9B0B8"/>
                </a:solidFill>
                <a:latin typeface="Arial"/>
              </a:rPr>
              <a:t>Early Locomotion project render. Blender model, not yet in the game.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How to read this guide</a:t>
            </a:r>
          </a:p>
        </p:txBody>
      </p:sp>
      <p:grpSp>
        <p:nvGrpSpPr>
          <p:cNvPr id="3" name="Tag legend" descr="A legend of the five status tags and what each one means."/>
          <p:cNvGrpSpPr/>
          <p:nvPr/>
        </p:nvGrpSpPr>
        <p:grpSpPr>
          <a:xfrm>
            <a:off x="1463040" y="1417320"/>
            <a:ext cx="9235440" cy="4151376"/>
            <a:chOff x="1463040" y="1417320"/>
            <a:chExt cx="9235440" cy="4151376"/>
          </a:xfrm>
        </p:grpSpPr>
        <p:sp>
          <p:nvSpPr>
            <p:cNvPr id="4" name="Rounded Rectangle 3"/>
            <p:cNvSpPr/>
            <p:nvPr/>
          </p:nvSpPr>
          <p:spPr>
            <a:xfrm>
              <a:off x="1463040" y="1417320"/>
              <a:ext cx="9235440" cy="676656"/>
            </a:xfrm>
            <a:prstGeom prst="roundRect">
              <a:avLst>
                <a:gd name="adj" fmla="val 1081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hip: Agreed" descr="Status tag: Agreed"/>
            <p:cNvSpPr/>
            <p:nvPr/>
          </p:nvSpPr>
          <p:spPr>
            <a:xfrm>
              <a:off x="1737360" y="1572768"/>
              <a:ext cx="1508760" cy="365760"/>
            </a:xfrm>
            <a:prstGeom prst="roundRect">
              <a:avLst>
                <a:gd name="adj" fmla="val 2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none" lIns="27432" tIns="9144" rIns="27432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6" name="Meaning: Agreed"/>
            <p:cNvSpPr txBox="1"/>
            <p:nvPr/>
          </p:nvSpPr>
          <p:spPr>
            <a:xfrm>
              <a:off x="3474720" y="1417320"/>
              <a:ext cx="7040880" cy="67665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Decided.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463040" y="2286000"/>
              <a:ext cx="9235440" cy="676656"/>
            </a:xfrm>
            <a:prstGeom prst="roundRect">
              <a:avLst>
                <a:gd name="adj" fmla="val 1081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Chip: Proposed" descr="Status tag: Proposed"/>
            <p:cNvSpPr/>
            <p:nvPr/>
          </p:nvSpPr>
          <p:spPr>
            <a:xfrm>
              <a:off x="1737360" y="2441448"/>
              <a:ext cx="1508760" cy="365760"/>
            </a:xfrm>
            <a:prstGeom prst="roundRect">
              <a:avLst>
                <a:gd name="adj" fmla="val 20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none" lIns="27432" tIns="9144" rIns="27432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9" name="Meaning: Proposed"/>
            <p:cNvSpPr txBox="1"/>
            <p:nvPr/>
          </p:nvSpPr>
          <p:spPr>
            <a:xfrm>
              <a:off x="3474720" y="2286000"/>
              <a:ext cx="7040880" cy="67665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Suggested, not confirmed.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463040" y="3154680"/>
              <a:ext cx="9235440" cy="676656"/>
            </a:xfrm>
            <a:prstGeom prst="roundRect">
              <a:avLst>
                <a:gd name="adj" fmla="val 1081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hip: Provisional" descr="Status tag: Provisional"/>
            <p:cNvSpPr/>
            <p:nvPr/>
          </p:nvSpPr>
          <p:spPr>
            <a:xfrm>
              <a:off x="1737360" y="3310128"/>
              <a:ext cx="1508760" cy="365760"/>
            </a:xfrm>
            <a:prstGeom prst="roundRect">
              <a:avLst>
                <a:gd name="adj" fmla="val 2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none" lIns="27432" tIns="9144" rIns="27432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2" name="Meaning: Provisional"/>
            <p:cNvSpPr txBox="1"/>
            <p:nvPr/>
          </p:nvSpPr>
          <p:spPr>
            <a:xfrm>
              <a:off x="3474720" y="3154680"/>
              <a:ext cx="7040880" cy="67665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test number that may change.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463040" y="4023360"/>
              <a:ext cx="9235440" cy="676656"/>
            </a:xfrm>
            <a:prstGeom prst="roundRect">
              <a:avLst>
                <a:gd name="adj" fmla="val 1081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hip: Undecided" descr="Status tag: Undecided"/>
            <p:cNvSpPr/>
            <p:nvPr/>
          </p:nvSpPr>
          <p:spPr>
            <a:xfrm>
              <a:off x="1737360" y="4178808"/>
              <a:ext cx="1508760" cy="365760"/>
            </a:xfrm>
            <a:prstGeom prst="roundRect">
              <a:avLst>
                <a:gd name="adj" fmla="val 2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27432" tIns="9144" rIns="27432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5" name="Meaning: Undecided"/>
            <p:cNvSpPr txBox="1"/>
            <p:nvPr/>
          </p:nvSpPr>
          <p:spPr>
            <a:xfrm>
              <a:off x="3474720" y="4023360"/>
              <a:ext cx="7040880" cy="67665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Still an open question.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463040" y="4892040"/>
              <a:ext cx="9235440" cy="676656"/>
            </a:xfrm>
            <a:prstGeom prst="roundRect">
              <a:avLst>
                <a:gd name="adj" fmla="val 1081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hip: Background" descr="Status tag: Background"/>
            <p:cNvSpPr/>
            <p:nvPr/>
          </p:nvSpPr>
          <p:spPr>
            <a:xfrm>
              <a:off x="1737360" y="5047488"/>
              <a:ext cx="1508760" cy="365760"/>
            </a:xfrm>
            <a:prstGeom prst="roundRect">
              <a:avLst>
                <a:gd name="adj" fmla="val 20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none" lIns="27432" tIns="9144" rIns="27432" bIns="9144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BACKGROUND</a:t>
              </a:r>
            </a:p>
          </p:txBody>
        </p:sp>
        <p:sp>
          <p:nvSpPr>
            <p:cNvPr id="18" name="Meaning: Background"/>
            <p:cNvSpPr txBox="1"/>
            <p:nvPr/>
          </p:nvSpPr>
          <p:spPr>
            <a:xfrm>
              <a:off x="3474720" y="4892040"/>
              <a:ext cx="7040880" cy="67665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real-world fact.</a:t>
              </a:r>
            </a:p>
          </p:txBody>
        </p:sp>
      </p:grpSp>
      <p:sp>
        <p:nvSpPr>
          <p:cNvPr id="19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Every idea carries a tag in the top-right corner.</a:t>
            </a:r>
          </a:p>
        </p:txBody>
      </p:sp>
      <p:sp>
        <p:nvSpPr>
          <p:cNvPr id="20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The problem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Why signals exist" descr="Top: two trains head towards each other with no warning. Bottom: a train needs a long distance to stop, much more than the driver can see."/>
          <p:cNvGrpSpPr/>
          <p:nvPr/>
        </p:nvGrpSpPr>
        <p:grpSpPr>
          <a:xfrm>
            <a:off x="548640" y="1280160"/>
            <a:ext cx="11091672" cy="4434840"/>
            <a:chOff x="548640" y="1280160"/>
            <a:chExt cx="11091672" cy="44348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280160"/>
              <a:ext cx="11091672" cy="2148840"/>
            </a:xfrm>
            <a:prstGeom prst="roundRect">
              <a:avLst>
                <a:gd name="adj" fmla="val 3404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8640" y="3520440"/>
              <a:ext cx="11091672" cy="2194560"/>
            </a:xfrm>
            <a:prstGeom prst="roundRect">
              <a:avLst>
                <a:gd name="adj" fmla="val 3333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" name="Track" descr="Two rails on sleepers."/>
            <p:cNvGrpSpPr/>
            <p:nvPr/>
          </p:nvGrpSpPr>
          <p:grpSpPr>
            <a:xfrm>
              <a:off x="731520" y="2688336"/>
              <a:ext cx="10698480" cy="365760"/>
              <a:chOff x="731520" y="2688336"/>
              <a:chExt cx="10698480" cy="36576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9326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2527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15727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89280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21284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5328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28529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1729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349300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81304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1330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4531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7731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09320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541324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7332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0533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3733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669340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01344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3334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76535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79735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829360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861364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89336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92537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95737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989380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021384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053388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1085392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11173968" y="26883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731520" y="2743200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731520" y="2999232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3" name="Train" descr="A steam locomotive with wagons."/>
            <p:cNvGrpSpPr/>
            <p:nvPr/>
          </p:nvGrpSpPr>
          <p:grpSpPr>
            <a:xfrm>
              <a:off x="2651760" y="1920240"/>
              <a:ext cx="2523744" cy="923544"/>
              <a:chOff x="2651760" y="1920240"/>
              <a:chExt cx="2523744" cy="923544"/>
            </a:xfrm>
          </p:grpSpPr>
          <p:sp>
            <p:nvSpPr>
              <p:cNvPr id="44" name="Rounded Rectangle 43"/>
              <p:cNvSpPr/>
              <p:nvPr/>
            </p:nvSpPr>
            <p:spPr>
              <a:xfrm>
                <a:off x="2651760" y="2267712"/>
                <a:ext cx="731520" cy="411480"/>
              </a:xfrm>
              <a:prstGeom prst="roundRect">
                <a:avLst>
                  <a:gd name="adj" fmla="val 6666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2721254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130906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3456432" y="2267712"/>
                <a:ext cx="731520" cy="411480"/>
              </a:xfrm>
              <a:prstGeom prst="roundRect">
                <a:avLst>
                  <a:gd name="adj" fmla="val 6666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525926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3935578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Rounded Rectangle 49"/>
              <p:cNvSpPr/>
              <p:nvPr/>
            </p:nvSpPr>
            <p:spPr>
              <a:xfrm>
                <a:off x="4261104" y="2176272"/>
                <a:ext cx="914400" cy="502920"/>
              </a:xfrm>
              <a:prstGeom prst="roundRect">
                <a:avLst>
                  <a:gd name="adj" fmla="val 14545"/>
                </a:avLst>
              </a:prstGeom>
              <a:solidFill>
                <a:srgbClr val="F28C2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4901184" y="1920240"/>
                <a:ext cx="137160" cy="274320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306824" y="2194560"/>
                <a:ext cx="256032" cy="274320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4343400" y="264261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4617720" y="264261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4892040" y="264261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6" name="Train" descr="A steam locomotive with wagons."/>
            <p:cNvGrpSpPr/>
            <p:nvPr/>
          </p:nvGrpSpPr>
          <p:grpSpPr>
            <a:xfrm>
              <a:off x="7013448" y="1920240"/>
              <a:ext cx="2523744" cy="923544"/>
              <a:chOff x="7013448" y="1920240"/>
              <a:chExt cx="2523744" cy="923544"/>
            </a:xfrm>
          </p:grpSpPr>
          <p:sp>
            <p:nvSpPr>
              <p:cNvPr id="57" name="Rounded Rectangle 56"/>
              <p:cNvSpPr/>
              <p:nvPr/>
            </p:nvSpPr>
            <p:spPr>
              <a:xfrm>
                <a:off x="8001000" y="2267712"/>
                <a:ext cx="731520" cy="411480"/>
              </a:xfrm>
              <a:prstGeom prst="roundRect">
                <a:avLst>
                  <a:gd name="adj" fmla="val 6666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8070494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Oval 58"/>
              <p:cNvSpPr/>
              <p:nvPr/>
            </p:nvSpPr>
            <p:spPr>
              <a:xfrm>
                <a:off x="8480146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8805672" y="2267712"/>
                <a:ext cx="731520" cy="411480"/>
              </a:xfrm>
              <a:prstGeom prst="roundRect">
                <a:avLst>
                  <a:gd name="adj" fmla="val 6666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8875166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9284818" y="265176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Rounded Rectangle 62"/>
              <p:cNvSpPr/>
              <p:nvPr/>
            </p:nvSpPr>
            <p:spPr>
              <a:xfrm>
                <a:off x="7013448" y="2176272"/>
                <a:ext cx="914400" cy="502920"/>
              </a:xfrm>
              <a:prstGeom prst="roundRect">
                <a:avLst>
                  <a:gd name="adj" fmla="val 14545"/>
                </a:avLst>
              </a:prstGeom>
              <a:solidFill>
                <a:srgbClr val="F28C2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7150608" y="1920240"/>
                <a:ext cx="137160" cy="274320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7626096" y="2194560"/>
                <a:ext cx="256032" cy="274320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7095744" y="264261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7370064" y="264261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7644384" y="264261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9" name="Rectangle 68"/>
            <p:cNvSpPr/>
            <p:nvPr/>
          </p:nvSpPr>
          <p:spPr>
            <a:xfrm rot="2700000">
              <a:off x="5687568" y="2331720"/>
              <a:ext cx="822960" cy="12801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Rectangle 69"/>
            <p:cNvSpPr/>
            <p:nvPr/>
          </p:nvSpPr>
          <p:spPr>
            <a:xfrm rot="18900000">
              <a:off x="5687568" y="2331720"/>
              <a:ext cx="822960" cy="128016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270248" y="1371600"/>
              <a:ext cx="3657600" cy="41148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F7A7E"/>
                  </a:solidFill>
                  <a:latin typeface="Arial"/>
                </a:rPr>
                <a:t>No warning: crash</a:t>
              </a:r>
            </a:p>
          </p:txBody>
        </p:sp>
        <p:grpSp>
          <p:nvGrpSpPr>
            <p:cNvPr id="72" name="Track" descr="Two rails on sleepers."/>
            <p:cNvGrpSpPr/>
            <p:nvPr/>
          </p:nvGrpSpPr>
          <p:grpSpPr>
            <a:xfrm>
              <a:off x="731520" y="5020056"/>
              <a:ext cx="10698480" cy="365760"/>
              <a:chOff x="731520" y="5020056"/>
              <a:chExt cx="10698480" cy="365760"/>
            </a:xfrm>
          </p:grpSpPr>
          <p:sp>
            <p:nvSpPr>
              <p:cNvPr id="73" name="Rectangle 72"/>
              <p:cNvSpPr/>
              <p:nvPr/>
            </p:nvSpPr>
            <p:spPr>
              <a:xfrm>
                <a:off x="9326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2527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Rectangle 74"/>
              <p:cNvSpPr/>
              <p:nvPr/>
            </p:nvSpPr>
            <p:spPr>
              <a:xfrm>
                <a:off x="15727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189280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221284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25328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529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729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349300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381304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41330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ectangle 83"/>
              <p:cNvSpPr/>
              <p:nvPr/>
            </p:nvSpPr>
            <p:spPr>
              <a:xfrm>
                <a:off x="44531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47731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509320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541324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57332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60533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63733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669340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701344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73334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Rectangle 93"/>
              <p:cNvSpPr/>
              <p:nvPr/>
            </p:nvSpPr>
            <p:spPr>
              <a:xfrm>
                <a:off x="76535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Rectangle 94"/>
              <p:cNvSpPr/>
              <p:nvPr/>
            </p:nvSpPr>
            <p:spPr>
              <a:xfrm>
                <a:off x="79735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Rectangle 95"/>
              <p:cNvSpPr/>
              <p:nvPr/>
            </p:nvSpPr>
            <p:spPr>
              <a:xfrm>
                <a:off x="829360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Rectangle 96"/>
              <p:cNvSpPr/>
              <p:nvPr/>
            </p:nvSpPr>
            <p:spPr>
              <a:xfrm>
                <a:off x="861364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Rectangle 97"/>
              <p:cNvSpPr/>
              <p:nvPr/>
            </p:nvSpPr>
            <p:spPr>
              <a:xfrm>
                <a:off x="89336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Rectangle 98"/>
              <p:cNvSpPr/>
              <p:nvPr/>
            </p:nvSpPr>
            <p:spPr>
              <a:xfrm>
                <a:off x="92537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Rectangle 99"/>
              <p:cNvSpPr/>
              <p:nvPr/>
            </p:nvSpPr>
            <p:spPr>
              <a:xfrm>
                <a:off x="95737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989380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Rectangle 101"/>
              <p:cNvSpPr/>
              <p:nvPr/>
            </p:nvSpPr>
            <p:spPr>
              <a:xfrm>
                <a:off x="1021384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Rectangle 102"/>
              <p:cNvSpPr/>
              <p:nvPr/>
            </p:nvSpPr>
            <p:spPr>
              <a:xfrm>
                <a:off x="1053388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Rectangle 103"/>
              <p:cNvSpPr/>
              <p:nvPr/>
            </p:nvSpPr>
            <p:spPr>
              <a:xfrm>
                <a:off x="1085392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11173968" y="502005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731520" y="5074920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731520" y="5330952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08" name="Train" descr="A steam locomotive with wagons."/>
            <p:cNvGrpSpPr/>
            <p:nvPr/>
          </p:nvGrpSpPr>
          <p:grpSpPr>
            <a:xfrm>
              <a:off x="822960" y="4251960"/>
              <a:ext cx="2523744" cy="923544"/>
              <a:chOff x="822960" y="4251960"/>
              <a:chExt cx="2523744" cy="923544"/>
            </a:xfrm>
          </p:grpSpPr>
          <p:sp>
            <p:nvSpPr>
              <p:cNvPr id="109" name="Rounded Rectangle 108"/>
              <p:cNvSpPr/>
              <p:nvPr/>
            </p:nvSpPr>
            <p:spPr>
              <a:xfrm>
                <a:off x="822960" y="4599432"/>
                <a:ext cx="731520" cy="411480"/>
              </a:xfrm>
              <a:prstGeom prst="roundRect">
                <a:avLst>
                  <a:gd name="adj" fmla="val 6666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892454" y="498348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1302106" y="498348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Rounded Rectangle 111"/>
              <p:cNvSpPr/>
              <p:nvPr/>
            </p:nvSpPr>
            <p:spPr>
              <a:xfrm>
                <a:off x="1627632" y="4599432"/>
                <a:ext cx="731520" cy="411480"/>
              </a:xfrm>
              <a:prstGeom prst="roundRect">
                <a:avLst>
                  <a:gd name="adj" fmla="val 6666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1697126" y="498348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2106778" y="4983480"/>
                <a:ext cx="182880" cy="182880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Rounded Rectangle 114"/>
              <p:cNvSpPr/>
              <p:nvPr/>
            </p:nvSpPr>
            <p:spPr>
              <a:xfrm>
                <a:off x="2432304" y="4507992"/>
                <a:ext cx="914400" cy="502920"/>
              </a:xfrm>
              <a:prstGeom prst="roundRect">
                <a:avLst>
                  <a:gd name="adj" fmla="val 14545"/>
                </a:avLst>
              </a:prstGeom>
              <a:solidFill>
                <a:srgbClr val="F28C2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Rectangle 115"/>
              <p:cNvSpPr/>
              <p:nvPr/>
            </p:nvSpPr>
            <p:spPr>
              <a:xfrm>
                <a:off x="3072384" y="4251960"/>
                <a:ext cx="137160" cy="274320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Rectangle 116"/>
              <p:cNvSpPr/>
              <p:nvPr/>
            </p:nvSpPr>
            <p:spPr>
              <a:xfrm>
                <a:off x="2478024" y="4526280"/>
                <a:ext cx="256032" cy="274320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514600" y="497433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2788920" y="497433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3063240" y="4974336"/>
                <a:ext cx="201168" cy="20116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1" name="TextBox 120"/>
            <p:cNvSpPr txBox="1"/>
            <p:nvPr/>
          </p:nvSpPr>
          <p:spPr>
            <a:xfrm>
              <a:off x="3346704" y="3611880"/>
              <a:ext cx="603504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C14E"/>
                  </a:solidFill>
                  <a:latin typeface="Arial"/>
                </a:rPr>
                <a:t>Long stopping distance</a:t>
              </a:r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3346704" y="4023360"/>
              <a:ext cx="6071616" cy="164592"/>
            </a:xfrm>
            <a:prstGeom prst="roundRect">
              <a:avLst>
                <a:gd name="adj" fmla="val 27777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3346704" y="4297680"/>
              <a:ext cx="2331720" cy="164592"/>
            </a:xfrm>
            <a:prstGeom prst="roundRect">
              <a:avLst>
                <a:gd name="adj" fmla="val 2777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15584" y="4206240"/>
              <a:ext cx="4114800" cy="347472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6CA0DC"/>
                  </a:solidFill>
                  <a:latin typeface="Arial"/>
                </a:rPr>
                <a:t>How far the driver can see</a:t>
              </a:r>
            </a:p>
          </p:txBody>
        </p:sp>
        <p:cxnSp>
          <p:nvCxnSpPr>
            <p:cNvPr id="125" name="Connector 124"/>
            <p:cNvCxnSpPr/>
            <p:nvPr/>
          </p:nvCxnSpPr>
          <p:spPr>
            <a:xfrm>
              <a:off x="9418320" y="3931920"/>
              <a:ext cx="0" cy="1645920"/>
            </a:xfrm>
            <a:prstGeom prst="line">
              <a:avLst/>
            </a:prstGeom>
            <a:ln w="25400">
              <a:solidFill>
                <a:srgbClr val="F2F2F2"/>
              </a:solidFill>
              <a:prstDash val="dash"/>
            </a:ln>
          </p:spPr>
        </p:cxnSp>
      </p:grpSp>
      <p:sp>
        <p:nvSpPr>
          <p:cNvPr id="126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Trains cannot swerve. They need a long way to stop. Signals keep them apart.</a:t>
            </a:r>
          </a:p>
        </p:txBody>
      </p:sp>
      <p:sp>
        <p:nvSpPr>
          <p:cNvPr id="127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Blocks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Track split into blocks" descr="A straight track split into four blocks, A to D. One train sits in block B, so B is occupied and the other three are free."/>
          <p:cNvGrpSpPr/>
          <p:nvPr/>
        </p:nvGrpSpPr>
        <p:grpSpPr>
          <a:xfrm>
            <a:off x="731520" y="2267712"/>
            <a:ext cx="10698480" cy="2395728"/>
            <a:chOff x="731520" y="2267712"/>
            <a:chExt cx="10698480" cy="2395728"/>
          </a:xfrm>
        </p:grpSpPr>
        <p:grpSp>
          <p:nvGrpSpPr>
            <p:cNvPr id="5" name="Track" descr="Two rails on sleepers."/>
            <p:cNvGrpSpPr/>
            <p:nvPr/>
          </p:nvGrpSpPr>
          <p:grpSpPr>
            <a:xfrm>
              <a:off x="731520" y="3374136"/>
              <a:ext cx="10698480" cy="365760"/>
              <a:chOff x="731520" y="3374136"/>
              <a:chExt cx="10698480" cy="36576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9326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2527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5727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8928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2128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5328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8529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1729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4930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8130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1330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4531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7731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0932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4132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7332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0533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3733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6934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70134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73334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6535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9735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2936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86136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89336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92537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95737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98938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02138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05338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08539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11739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31520" y="3429000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731520" y="3685032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cxnSp>
          <p:nvCxnSpPr>
            <p:cNvPr id="41" name="Connector 40"/>
            <p:cNvCxnSpPr/>
            <p:nvPr/>
          </p:nvCxnSpPr>
          <p:spPr>
            <a:xfrm>
              <a:off x="3383280" y="2377440"/>
              <a:ext cx="0" cy="2286000"/>
            </a:xfrm>
            <a:prstGeom prst="line">
              <a:avLst/>
            </a:prstGeom>
            <a:ln w="19050">
              <a:solidFill>
                <a:srgbClr val="A9B0B8"/>
              </a:solidFill>
              <a:prstDash val="dash"/>
            </a:ln>
          </p:spPr>
        </p:cxnSp>
        <p:cxnSp>
          <p:nvCxnSpPr>
            <p:cNvPr id="42" name="Connector 41"/>
            <p:cNvCxnSpPr/>
            <p:nvPr/>
          </p:nvCxnSpPr>
          <p:spPr>
            <a:xfrm>
              <a:off x="6126480" y="2377440"/>
              <a:ext cx="0" cy="2286000"/>
            </a:xfrm>
            <a:prstGeom prst="line">
              <a:avLst/>
            </a:prstGeom>
            <a:ln w="19050">
              <a:solidFill>
                <a:srgbClr val="A9B0B8"/>
              </a:solidFill>
              <a:prstDash val="dash"/>
            </a:ln>
          </p:spPr>
        </p:cxnSp>
        <p:cxnSp>
          <p:nvCxnSpPr>
            <p:cNvPr id="43" name="Connector 42"/>
            <p:cNvCxnSpPr/>
            <p:nvPr/>
          </p:nvCxnSpPr>
          <p:spPr>
            <a:xfrm>
              <a:off x="8869680" y="2377440"/>
              <a:ext cx="0" cy="2286000"/>
            </a:xfrm>
            <a:prstGeom prst="line">
              <a:avLst/>
            </a:prstGeom>
            <a:ln w="19050">
              <a:solidFill>
                <a:srgbClr val="A9B0B8"/>
              </a:solidFill>
              <a:prstDash val="dash"/>
            </a:ln>
          </p:spPr>
        </p:cxnSp>
        <p:grpSp>
          <p:nvGrpSpPr>
            <p:cNvPr id="44" name="Train" descr="A steam locomotive with wagons."/>
            <p:cNvGrpSpPr/>
            <p:nvPr/>
          </p:nvGrpSpPr>
          <p:grpSpPr>
            <a:xfrm>
              <a:off x="3703320" y="2713025"/>
              <a:ext cx="2195657" cy="803483"/>
              <a:chOff x="3703320" y="2713025"/>
              <a:chExt cx="2195657" cy="803483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3703320" y="3015325"/>
                <a:ext cx="636422" cy="357988"/>
              </a:xfrm>
              <a:prstGeom prst="roundRect">
                <a:avLst>
                  <a:gd name="adj" fmla="val 7662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763780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4120177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4403385" y="3015325"/>
                <a:ext cx="636422" cy="357988"/>
              </a:xfrm>
              <a:prstGeom prst="roundRect">
                <a:avLst>
                  <a:gd name="adj" fmla="val 7662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4463845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4820241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Rounded Rectangle 50"/>
              <p:cNvSpPr/>
              <p:nvPr/>
            </p:nvSpPr>
            <p:spPr>
              <a:xfrm>
                <a:off x="5103449" y="2935773"/>
                <a:ext cx="795528" cy="437540"/>
              </a:xfrm>
              <a:prstGeom prst="roundRect">
                <a:avLst>
                  <a:gd name="adj" fmla="val 16718"/>
                </a:avLst>
              </a:prstGeom>
              <a:solidFill>
                <a:srgbClr val="F28C2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5660319" y="2713025"/>
                <a:ext cx="119329" cy="238658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5143226" y="2951683"/>
                <a:ext cx="222748" cy="238658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175047" y="3341492"/>
                <a:ext cx="175016" cy="175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413705" y="3341492"/>
                <a:ext cx="175016" cy="175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652364" y="3341492"/>
                <a:ext cx="175016" cy="175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7" name="Dimension line" descr="A dimension line labelled One block."/>
            <p:cNvGrpSpPr/>
            <p:nvPr/>
          </p:nvGrpSpPr>
          <p:grpSpPr>
            <a:xfrm>
              <a:off x="6126480" y="2267712"/>
              <a:ext cx="2743200" cy="493776"/>
              <a:chOff x="6126480" y="2267712"/>
              <a:chExt cx="2743200" cy="493776"/>
            </a:xfrm>
          </p:grpSpPr>
          <p:cxnSp>
            <p:nvCxnSpPr>
              <p:cNvPr id="58" name="Connector 57"/>
              <p:cNvCxnSpPr/>
              <p:nvPr/>
            </p:nvCxnSpPr>
            <p:spPr>
              <a:xfrm>
                <a:off x="6126480" y="2651760"/>
                <a:ext cx="2743200" cy="0"/>
              </a:xfrm>
              <a:prstGeom prst="line">
                <a:avLst/>
              </a:prstGeom>
              <a:ln w="19050">
                <a:solidFill>
                  <a:srgbClr val="9AA0A6"/>
                </a:solidFill>
                <a:headEnd type="triangle" w="med" len="med"/>
                <a:tailEnd type="triangle" w="med" len="med"/>
              </a:ln>
            </p:spPr>
          </p:cxnSp>
          <p:cxnSp>
            <p:nvCxnSpPr>
              <p:cNvPr id="59" name="Connector 58"/>
              <p:cNvCxnSpPr/>
              <p:nvPr/>
            </p:nvCxnSpPr>
            <p:spPr>
              <a:xfrm>
                <a:off x="6126480" y="2542032"/>
                <a:ext cx="0" cy="219456"/>
              </a:xfrm>
              <a:prstGeom prst="line">
                <a:avLst/>
              </a:prstGeom>
              <a:ln w="19050">
                <a:solidFill>
                  <a:srgbClr val="9AA0A6"/>
                </a:solidFill>
              </a:ln>
            </p:spPr>
          </p:cxnSp>
          <p:cxnSp>
            <p:nvCxnSpPr>
              <p:cNvPr id="60" name="Connector 59"/>
              <p:cNvCxnSpPr/>
              <p:nvPr/>
            </p:nvCxnSpPr>
            <p:spPr>
              <a:xfrm>
                <a:off x="8869680" y="2542032"/>
                <a:ext cx="0" cy="219456"/>
              </a:xfrm>
              <a:prstGeom prst="line">
                <a:avLst/>
              </a:prstGeom>
              <a:ln w="19050">
                <a:solidFill>
                  <a:srgbClr val="9AA0A6"/>
                </a:solidFill>
              </a:ln>
            </p:spPr>
          </p:cxnSp>
          <p:sp>
            <p:nvSpPr>
              <p:cNvPr id="61" name="TextBox 60"/>
              <p:cNvSpPr txBox="1"/>
              <p:nvPr/>
            </p:nvSpPr>
            <p:spPr>
              <a:xfrm>
                <a:off x="6126480" y="2267712"/>
                <a:ext cx="2743200" cy="292608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noAutofit/>
              </a:bodyPr>
              <a:lstStyle/>
              <a:p>
                <a:pPr algn="ctr"/>
                <a:r>
                  <a:rPr sz="1600" b="1" i="0" lang="en-GB">
                    <a:solidFill>
                      <a:srgbClr val="F2F2F2"/>
                    </a:solidFill>
                    <a:latin typeface="Arial"/>
                  </a:rPr>
                  <a:t>One block</a:t>
                </a:r>
              </a:p>
            </p:txBody>
          </p:sp>
        </p:grpSp>
        <p:sp>
          <p:nvSpPr>
            <p:cNvPr id="62" name="Block band (free)"/>
            <p:cNvSpPr/>
            <p:nvPr/>
          </p:nvSpPr>
          <p:spPr>
            <a:xfrm>
              <a:off x="768096" y="4069080"/>
              <a:ext cx="2578608" cy="365760"/>
            </a:xfrm>
            <a:prstGeom prst="rect">
              <a:avLst/>
            </a:prstGeom>
            <a:solidFill>
              <a:srgbClr val="3FB950">
                <a:alpha val="25000"/>
              </a:srgbClr>
            </a:solidFill>
            <a:ln w="12700">
              <a:solidFill>
                <a:srgbClr val="3FB950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A: Free</a:t>
              </a:r>
            </a:p>
          </p:txBody>
        </p:sp>
        <p:sp>
          <p:nvSpPr>
            <p:cNvPr id="63" name="Block band (occupied)"/>
            <p:cNvSpPr/>
            <p:nvPr/>
          </p:nvSpPr>
          <p:spPr>
            <a:xfrm>
              <a:off x="3419856" y="4069080"/>
              <a:ext cx="2670048" cy="365760"/>
            </a:xfrm>
            <a:prstGeom prst="rect">
              <a:avLst/>
            </a:prstGeom>
            <a:solidFill>
              <a:srgbClr val="E5484D">
                <a:alpha val="25000"/>
              </a:srgbClr>
            </a:solidFill>
            <a:ln w="12700">
              <a:solidFill>
                <a:srgbClr val="E5484D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B: Occupied</a:t>
              </a:r>
            </a:p>
          </p:txBody>
        </p:sp>
        <p:sp>
          <p:nvSpPr>
            <p:cNvPr id="64" name="Block band (free)"/>
            <p:cNvSpPr/>
            <p:nvPr/>
          </p:nvSpPr>
          <p:spPr>
            <a:xfrm>
              <a:off x="6163056" y="4069080"/>
              <a:ext cx="2670048" cy="365760"/>
            </a:xfrm>
            <a:prstGeom prst="rect">
              <a:avLst/>
            </a:prstGeom>
            <a:solidFill>
              <a:srgbClr val="3FB950">
                <a:alpha val="25000"/>
              </a:srgbClr>
            </a:solidFill>
            <a:ln w="12700">
              <a:solidFill>
                <a:srgbClr val="3FB950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C: Free</a:t>
              </a:r>
            </a:p>
          </p:txBody>
        </p:sp>
        <p:sp>
          <p:nvSpPr>
            <p:cNvPr id="65" name="Block band (free)"/>
            <p:cNvSpPr/>
            <p:nvPr/>
          </p:nvSpPr>
          <p:spPr>
            <a:xfrm>
              <a:off x="8906256" y="4069080"/>
              <a:ext cx="2487168" cy="365760"/>
            </a:xfrm>
            <a:prstGeom prst="rect">
              <a:avLst/>
            </a:prstGeom>
            <a:solidFill>
              <a:srgbClr val="3FB950">
                <a:alpha val="25000"/>
              </a:srgbClr>
            </a:solidFill>
            <a:ln w="12700">
              <a:solidFill>
                <a:srgbClr val="3FB950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D: Free</a:t>
              </a:r>
            </a:p>
          </p:txBody>
        </p:sp>
      </p:grpSp>
      <p:sp>
        <p:nvSpPr>
          <p:cNvPr id="66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Split the track into blocks. Keep one train in each block.</a:t>
            </a:r>
          </a:p>
        </p:txBody>
      </p:sp>
      <p:sp>
        <p:nvSpPr>
          <p:cNvPr id="67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Signals guard the blocks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Blocks and signals" descr="Four blocks, A to D, with three signals. The signal before occupied block B shows stop; the other two show clear. A second train in block A waits."/>
          <p:cNvGrpSpPr/>
          <p:nvPr/>
        </p:nvGrpSpPr>
        <p:grpSpPr>
          <a:xfrm>
            <a:off x="731520" y="1828800"/>
            <a:ext cx="10698480" cy="3657600"/>
            <a:chOff x="731520" y="1828800"/>
            <a:chExt cx="10698480" cy="3657600"/>
          </a:xfrm>
        </p:grpSpPr>
        <p:grpSp>
          <p:nvGrpSpPr>
            <p:cNvPr id="5" name="Track" descr="Two rails on sleepers."/>
            <p:cNvGrpSpPr/>
            <p:nvPr/>
          </p:nvGrpSpPr>
          <p:grpSpPr>
            <a:xfrm>
              <a:off x="731520" y="3374136"/>
              <a:ext cx="10698480" cy="365760"/>
              <a:chOff x="731520" y="3374136"/>
              <a:chExt cx="10698480" cy="36576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9326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2527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15727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8928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2128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5328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8529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1729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4930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8130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1330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4531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7731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50932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4132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7332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0533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3733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6934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70134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73334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76535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79735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82936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86136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89336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92537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95737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989380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1021384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1053388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1085392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11173968" y="3374136"/>
                <a:ext cx="54864" cy="365760"/>
              </a:xfrm>
              <a:prstGeom prst="rect">
                <a:avLst/>
              </a:prstGeom>
              <a:solidFill>
                <a:srgbClr val="6B5B4B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31520" y="3429000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731520" y="3685032"/>
                <a:ext cx="10698480" cy="5486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1" name="Block band (free)"/>
            <p:cNvSpPr/>
            <p:nvPr/>
          </p:nvSpPr>
          <p:spPr>
            <a:xfrm>
              <a:off x="768096" y="4069080"/>
              <a:ext cx="2578608" cy="365760"/>
            </a:xfrm>
            <a:prstGeom prst="rect">
              <a:avLst/>
            </a:prstGeom>
            <a:solidFill>
              <a:srgbClr val="3FB950">
                <a:alpha val="25000"/>
              </a:srgbClr>
            </a:solidFill>
            <a:ln w="12700">
              <a:solidFill>
                <a:srgbClr val="3FB950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A: Free</a:t>
              </a:r>
            </a:p>
          </p:txBody>
        </p:sp>
        <p:sp>
          <p:nvSpPr>
            <p:cNvPr id="42" name="Block band (occupied)"/>
            <p:cNvSpPr/>
            <p:nvPr/>
          </p:nvSpPr>
          <p:spPr>
            <a:xfrm>
              <a:off x="3419856" y="4069080"/>
              <a:ext cx="2670048" cy="365760"/>
            </a:xfrm>
            <a:prstGeom prst="rect">
              <a:avLst/>
            </a:prstGeom>
            <a:solidFill>
              <a:srgbClr val="E5484D">
                <a:alpha val="25000"/>
              </a:srgbClr>
            </a:solidFill>
            <a:ln w="12700">
              <a:solidFill>
                <a:srgbClr val="E5484D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B: Occupied</a:t>
              </a:r>
            </a:p>
          </p:txBody>
        </p:sp>
        <p:sp>
          <p:nvSpPr>
            <p:cNvPr id="43" name="Block band (free)"/>
            <p:cNvSpPr/>
            <p:nvPr/>
          </p:nvSpPr>
          <p:spPr>
            <a:xfrm>
              <a:off x="6163056" y="4069080"/>
              <a:ext cx="2670048" cy="365760"/>
            </a:xfrm>
            <a:prstGeom prst="rect">
              <a:avLst/>
            </a:prstGeom>
            <a:solidFill>
              <a:srgbClr val="3FB950">
                <a:alpha val="25000"/>
              </a:srgbClr>
            </a:solidFill>
            <a:ln w="12700">
              <a:solidFill>
                <a:srgbClr val="3FB950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C: Free</a:t>
              </a:r>
            </a:p>
          </p:txBody>
        </p:sp>
        <p:sp>
          <p:nvSpPr>
            <p:cNvPr id="44" name="Block band (free)"/>
            <p:cNvSpPr/>
            <p:nvPr/>
          </p:nvSpPr>
          <p:spPr>
            <a:xfrm>
              <a:off x="8906256" y="4069080"/>
              <a:ext cx="2487168" cy="365760"/>
            </a:xfrm>
            <a:prstGeom prst="rect">
              <a:avLst/>
            </a:prstGeom>
            <a:solidFill>
              <a:srgbClr val="3FB950">
                <a:alpha val="25000"/>
              </a:srgbClr>
            </a:solidFill>
            <a:ln w="12700">
              <a:solidFill>
                <a:srgbClr val="3FB950"/>
              </a:solidFill>
            </a:ln>
          </p:spPr>
          <p:txBody>
            <a:bodyPr rtlCol="0" anchor="ctr" wrap="square" lIns="27432" tIns="0" rIns="27432" bIns="0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D: Free</a:t>
              </a:r>
            </a:p>
          </p:txBody>
        </p:sp>
        <p:grpSp>
          <p:nvGrpSpPr>
            <p:cNvPr id="45" name="Train" descr="A steam locomotive with wagons."/>
            <p:cNvGrpSpPr/>
            <p:nvPr/>
          </p:nvGrpSpPr>
          <p:grpSpPr>
            <a:xfrm>
              <a:off x="3749040" y="2713025"/>
              <a:ext cx="2195657" cy="803483"/>
              <a:chOff x="3749040" y="2713025"/>
              <a:chExt cx="2195657" cy="803483"/>
            </a:xfrm>
          </p:grpSpPr>
          <p:sp>
            <p:nvSpPr>
              <p:cNvPr id="46" name="Rounded Rectangle 45"/>
              <p:cNvSpPr/>
              <p:nvPr/>
            </p:nvSpPr>
            <p:spPr>
              <a:xfrm>
                <a:off x="3749040" y="3015325"/>
                <a:ext cx="636422" cy="357988"/>
              </a:xfrm>
              <a:prstGeom prst="roundRect">
                <a:avLst>
                  <a:gd name="adj" fmla="val 7662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3809500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4165897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4449105" y="3015325"/>
                <a:ext cx="636422" cy="357988"/>
              </a:xfrm>
              <a:prstGeom prst="roundRect">
                <a:avLst>
                  <a:gd name="adj" fmla="val 7662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4509565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4865961" y="3349447"/>
                <a:ext cx="159106" cy="15910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5149169" y="2935773"/>
                <a:ext cx="795528" cy="437540"/>
              </a:xfrm>
              <a:prstGeom prst="roundRect">
                <a:avLst>
                  <a:gd name="adj" fmla="val 16718"/>
                </a:avLst>
              </a:prstGeom>
              <a:solidFill>
                <a:srgbClr val="F28C2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5706039" y="2713025"/>
                <a:ext cx="119329" cy="238658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5188946" y="2951683"/>
                <a:ext cx="222748" cy="238658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5220767" y="3341492"/>
                <a:ext cx="175016" cy="175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459425" y="3341492"/>
                <a:ext cx="175016" cy="175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5698084" y="3341492"/>
                <a:ext cx="175016" cy="175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8" name="Train" descr="A steam locomotive with wagons."/>
            <p:cNvGrpSpPr/>
            <p:nvPr/>
          </p:nvGrpSpPr>
          <p:grpSpPr>
            <a:xfrm>
              <a:off x="1005840" y="2852928"/>
              <a:ext cx="1766621" cy="646481"/>
              <a:chOff x="1005840" y="2852928"/>
              <a:chExt cx="1766621" cy="646481"/>
            </a:xfrm>
          </p:grpSpPr>
          <p:sp>
            <p:nvSpPr>
              <p:cNvPr id="59" name="Rounded Rectangle 58"/>
              <p:cNvSpPr/>
              <p:nvPr/>
            </p:nvSpPr>
            <p:spPr>
              <a:xfrm>
                <a:off x="1005840" y="3096158"/>
                <a:ext cx="512064" cy="288036"/>
              </a:xfrm>
              <a:prstGeom prst="roundRect">
                <a:avLst>
                  <a:gd name="adj" fmla="val 9523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054486" y="3364992"/>
                <a:ext cx="128016" cy="128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Oval 60"/>
              <p:cNvSpPr/>
              <p:nvPr/>
            </p:nvSpPr>
            <p:spPr>
              <a:xfrm>
                <a:off x="1341242" y="3364992"/>
                <a:ext cx="128016" cy="128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Rounded Rectangle 61"/>
              <p:cNvSpPr/>
              <p:nvPr/>
            </p:nvSpPr>
            <p:spPr>
              <a:xfrm>
                <a:off x="1569110" y="3096158"/>
                <a:ext cx="512064" cy="288036"/>
              </a:xfrm>
              <a:prstGeom prst="roundRect">
                <a:avLst>
                  <a:gd name="adj" fmla="val 9523"/>
                </a:avLst>
              </a:prstGeom>
              <a:solidFill>
                <a:srgbClr val="6C7480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1617756" y="3364992"/>
                <a:ext cx="128016" cy="128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1904512" y="3364992"/>
                <a:ext cx="128016" cy="128016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Rounded Rectangle 64"/>
              <p:cNvSpPr/>
              <p:nvPr/>
            </p:nvSpPr>
            <p:spPr>
              <a:xfrm>
                <a:off x="2132381" y="3032150"/>
                <a:ext cx="640080" cy="352044"/>
              </a:xfrm>
              <a:prstGeom prst="roundRect">
                <a:avLst>
                  <a:gd name="adj" fmla="val 20779"/>
                </a:avLst>
              </a:prstGeom>
              <a:solidFill>
                <a:srgbClr val="F28C2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580437" y="2852928"/>
                <a:ext cx="96012" cy="192024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2164385" y="3044952"/>
                <a:ext cx="179222" cy="192024"/>
              </a:xfrm>
              <a:prstGeom prst="rect">
                <a:avLst/>
              </a:prstGeom>
              <a:solidFill>
                <a:srgbClr val="1B1D21"/>
              </a:solidFill>
              <a:ln w="12700">
                <a:solidFill>
                  <a:srgbClr val="6B707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2189988" y="3358591"/>
                <a:ext cx="140818" cy="14081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2382012" y="3358591"/>
                <a:ext cx="140818" cy="14081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2574036" y="3358591"/>
                <a:ext cx="140818" cy="140818"/>
              </a:xfrm>
              <a:prstGeom prst="ellipse">
                <a:avLst/>
              </a:prstGeom>
              <a:solidFill>
                <a:srgbClr val="1B1D21"/>
              </a:solidFill>
              <a:ln w="12700">
                <a:solidFill>
                  <a:srgbClr val="9AA0A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1" name="Signal (stop, stop)" descr="A semaphore signal post with its arm flat (stop)."/>
            <p:cNvGrpSpPr/>
            <p:nvPr/>
          </p:nvGrpSpPr>
          <p:grpSpPr>
            <a:xfrm>
              <a:off x="3113532" y="2734056"/>
              <a:ext cx="909828" cy="1005840"/>
              <a:chOff x="3113532" y="2734056"/>
              <a:chExt cx="909828" cy="1005840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3246120" y="3666744"/>
                <a:ext cx="274320" cy="73152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3328416" y="2734056"/>
                <a:ext cx="109728" cy="932688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3383280" y="2761488"/>
                <a:ext cx="640080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640080" h="128016">
                    <a:moveTo>
                      <a:pt x="0" y="0"/>
                    </a:moveTo>
                    <a:lnTo>
                      <a:pt x="640080" y="0"/>
                    </a:lnTo>
                    <a:lnTo>
                      <a:pt x="640080" y="128016"/>
                    </a:lnTo>
                    <a:lnTo>
                      <a:pt x="0" y="128016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3703320" y="2761488"/>
                <a:ext cx="100584" cy="128016"/>
              </a:xfrm>
              <a:custGeom>
                <a:avLst/>
                <a:gdLst/>
                <a:ahLst/>
                <a:cxnLst/>
                <a:rect l="l" t="t" r="r" b="b"/>
                <a:pathLst>
                  <a:path w="100584" h="128016">
                    <a:moveTo>
                      <a:pt x="0" y="0"/>
                    </a:moveTo>
                    <a:lnTo>
                      <a:pt x="100584" y="0"/>
                    </a:lnTo>
                    <a:lnTo>
                      <a:pt x="100584" y="128016"/>
                    </a:lnTo>
                    <a:lnTo>
                      <a:pt x="0" y="1280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3337560" y="2779776"/>
                <a:ext cx="91440" cy="91440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3113532" y="2738628"/>
                <a:ext cx="173736" cy="173736"/>
              </a:xfrm>
              <a:prstGeom prst="ellipse">
                <a:avLst/>
              </a:prstGeom>
              <a:solidFill>
                <a:srgbClr val="E5484D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2743200" y="1828800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F7A7E"/>
                  </a:solidFill>
                  <a:latin typeface="Arial"/>
                </a:rPr>
                <a:t>STOP</a:t>
              </a:r>
            </a:p>
          </p:txBody>
        </p:sp>
        <p:grpSp>
          <p:nvGrpSpPr>
            <p:cNvPr id="79" name="Signal (stop, clear)" descr="A semaphore signal post with its arm raised (clear)."/>
            <p:cNvGrpSpPr/>
            <p:nvPr/>
          </p:nvGrpSpPr>
          <p:grpSpPr>
            <a:xfrm>
              <a:off x="5856732" y="2327631"/>
              <a:ext cx="767613" cy="1412265"/>
              <a:chOff x="5856732" y="2327631"/>
              <a:chExt cx="767613" cy="1412265"/>
            </a:xfrm>
          </p:grpSpPr>
          <p:sp>
            <p:nvSpPr>
              <p:cNvPr id="80" name="Rectangle 79"/>
              <p:cNvSpPr/>
              <p:nvPr/>
            </p:nvSpPr>
            <p:spPr>
              <a:xfrm>
                <a:off x="5989320" y="3666744"/>
                <a:ext cx="274320" cy="73152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6071616" y="2734056"/>
                <a:ext cx="109728" cy="932688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6081220" y="2327631"/>
                <a:ext cx="543125" cy="543125"/>
              </a:xfrm>
              <a:custGeom>
                <a:avLst/>
                <a:gdLst/>
                <a:ahLst/>
                <a:cxnLst/>
                <a:rect l="l" t="t" r="r" b="b"/>
                <a:pathLst>
                  <a:path w="543125" h="543125">
                    <a:moveTo>
                      <a:pt x="0" y="452605"/>
                    </a:moveTo>
                    <a:lnTo>
                      <a:pt x="452604" y="0"/>
                    </a:lnTo>
                    <a:lnTo>
                      <a:pt x="543125" y="90521"/>
                    </a:lnTo>
                    <a:lnTo>
                      <a:pt x="90520" y="543125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Freeform 82"/>
              <p:cNvSpPr/>
              <p:nvPr/>
            </p:nvSpPr>
            <p:spPr>
              <a:xfrm>
                <a:off x="6307522" y="2482809"/>
                <a:ext cx="161645" cy="161645"/>
              </a:xfrm>
              <a:custGeom>
                <a:avLst/>
                <a:gdLst/>
                <a:ahLst/>
                <a:cxnLst/>
                <a:rect l="l" t="t" r="r" b="b"/>
                <a:pathLst>
                  <a:path w="161645" h="161645">
                    <a:moveTo>
                      <a:pt x="0" y="71124"/>
                    </a:moveTo>
                    <a:lnTo>
                      <a:pt x="71124" y="0"/>
                    </a:lnTo>
                    <a:lnTo>
                      <a:pt x="161645" y="90521"/>
                    </a:lnTo>
                    <a:lnTo>
                      <a:pt x="90521" y="1616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6080760" y="2779776"/>
                <a:ext cx="91440" cy="91440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5856732" y="2738628"/>
                <a:ext cx="173736" cy="173736"/>
              </a:xfrm>
              <a:prstGeom prst="ellipse">
                <a:avLst/>
              </a:prstGeom>
              <a:solidFill>
                <a:srgbClr val="3FB950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6" name="TextBox 85"/>
            <p:cNvSpPr txBox="1"/>
            <p:nvPr/>
          </p:nvSpPr>
          <p:spPr>
            <a:xfrm>
              <a:off x="5486400" y="1828800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3FB950"/>
                  </a:solidFill>
                  <a:latin typeface="Arial"/>
                </a:rPr>
                <a:t>CLEAR</a:t>
              </a:r>
            </a:p>
          </p:txBody>
        </p:sp>
        <p:grpSp>
          <p:nvGrpSpPr>
            <p:cNvPr id="87" name="Signal (stop, clear)" descr="A semaphore signal post with its arm raised (clear)."/>
            <p:cNvGrpSpPr/>
            <p:nvPr/>
          </p:nvGrpSpPr>
          <p:grpSpPr>
            <a:xfrm>
              <a:off x="8599932" y="2327631"/>
              <a:ext cx="767613" cy="1412265"/>
              <a:chOff x="8599932" y="2327631"/>
              <a:chExt cx="767613" cy="1412265"/>
            </a:xfrm>
          </p:grpSpPr>
          <p:sp>
            <p:nvSpPr>
              <p:cNvPr id="88" name="Rectangle 87"/>
              <p:cNvSpPr/>
              <p:nvPr/>
            </p:nvSpPr>
            <p:spPr>
              <a:xfrm>
                <a:off x="8732520" y="3666744"/>
                <a:ext cx="274320" cy="73152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8814816" y="2734056"/>
                <a:ext cx="109728" cy="932688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Freeform 89"/>
              <p:cNvSpPr/>
              <p:nvPr/>
            </p:nvSpPr>
            <p:spPr>
              <a:xfrm>
                <a:off x="8824420" y="2327631"/>
                <a:ext cx="543125" cy="543125"/>
              </a:xfrm>
              <a:custGeom>
                <a:avLst/>
                <a:gdLst/>
                <a:ahLst/>
                <a:cxnLst/>
                <a:rect l="l" t="t" r="r" b="b"/>
                <a:pathLst>
                  <a:path w="543125" h="543125">
                    <a:moveTo>
                      <a:pt x="0" y="452605"/>
                    </a:moveTo>
                    <a:lnTo>
                      <a:pt x="452604" y="0"/>
                    </a:lnTo>
                    <a:lnTo>
                      <a:pt x="543125" y="90521"/>
                    </a:lnTo>
                    <a:lnTo>
                      <a:pt x="90520" y="543125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9050722" y="2482809"/>
                <a:ext cx="161645" cy="161645"/>
              </a:xfrm>
              <a:custGeom>
                <a:avLst/>
                <a:gdLst/>
                <a:ahLst/>
                <a:cxnLst/>
                <a:rect l="l" t="t" r="r" b="b"/>
                <a:pathLst>
                  <a:path w="161645" h="161645">
                    <a:moveTo>
                      <a:pt x="0" y="71124"/>
                    </a:moveTo>
                    <a:lnTo>
                      <a:pt x="71124" y="0"/>
                    </a:lnTo>
                    <a:lnTo>
                      <a:pt x="161645" y="90521"/>
                    </a:lnTo>
                    <a:lnTo>
                      <a:pt x="90521" y="1616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8823960" y="2779776"/>
                <a:ext cx="91440" cy="91440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8599932" y="2738628"/>
                <a:ext cx="173736" cy="173736"/>
              </a:xfrm>
              <a:prstGeom prst="ellipse">
                <a:avLst/>
              </a:prstGeom>
              <a:solidFill>
                <a:srgbClr val="3FB950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4" name="TextBox 93"/>
            <p:cNvSpPr txBox="1"/>
            <p:nvPr/>
          </p:nvSpPr>
          <p:spPr>
            <a:xfrm>
              <a:off x="8229600" y="1828800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3FB950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828800" y="2286000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2C14E"/>
                  </a:solidFill>
                  <a:latin typeface="Arial"/>
                </a:rPr>
                <a:t>Waits</a:t>
              </a:r>
            </a:p>
          </p:txBody>
        </p:sp>
        <p:cxnSp>
          <p:nvCxnSpPr>
            <p:cNvPr id="96" name="Connector 95"/>
            <p:cNvCxnSpPr/>
            <p:nvPr/>
          </p:nvCxnSpPr>
          <p:spPr>
            <a:xfrm>
              <a:off x="2468880" y="2670048"/>
              <a:ext cx="0" cy="256032"/>
            </a:xfrm>
            <a:prstGeom prst="line">
              <a:avLst/>
            </a:prstGeom>
            <a:ln w="28575">
              <a:solidFill>
                <a:srgbClr val="F2C14E"/>
              </a:solidFill>
              <a:tailEnd type="triangle" w="med" len="med"/>
            </a:ln>
          </p:spPr>
        </p:cxnSp>
        <p:sp>
          <p:nvSpPr>
            <p:cNvPr id="97" name="Legend"/>
            <p:cNvSpPr/>
            <p:nvPr/>
          </p:nvSpPr>
          <p:spPr>
            <a:xfrm>
              <a:off x="731520" y="5029200"/>
              <a:ext cx="4754880" cy="457200"/>
            </a:xfrm>
            <a:prstGeom prst="roundRect">
              <a:avLst>
                <a:gd name="adj" fmla="val 16000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 wrap="square" lIns="137160" tIns="0" bIns="0">
              <a:noAutofit/>
            </a:bodyPr>
            <a:lstStyle/>
            <a:p>
              <a:pPr algn="l"/>
              <a:r>
                <a:rPr sz="1600" b="1" i="0" lang="en-GB">
                  <a:solidFill>
                    <a:srgbClr val="F2F2F2"/>
                  </a:solidFill>
                  <a:latin typeface="Arial"/>
                </a:rPr>
                <a:t>Arm flat = stop. Arm raised = go.</a:t>
              </a:r>
            </a:p>
          </p:txBody>
        </p:sp>
      </p:grpSp>
      <p:sp>
        <p:nvSpPr>
          <p:cNvPr id="98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signal at the start of each block says stop or go.</a:t>
            </a:r>
          </a:p>
        </p:txBody>
      </p:sp>
      <p:sp>
        <p:nvSpPr>
          <p:cNvPr id="99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A semaphore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Semaphore parts" descr="A large semaphore signal with its arm flat. Labels point to the post, arm, pivot, lamp and wire. Two small copies show the stop and clear positions."/>
          <p:cNvGrpSpPr/>
          <p:nvPr/>
        </p:nvGrpSpPr>
        <p:grpSpPr>
          <a:xfrm>
            <a:off x="822960" y="1463040"/>
            <a:ext cx="10817352" cy="3447288"/>
            <a:chOff x="822960" y="1463040"/>
            <a:chExt cx="10817352" cy="3447288"/>
          </a:xfrm>
        </p:grpSpPr>
        <p:cxnSp>
          <p:nvCxnSpPr>
            <p:cNvPr id="5" name="Connector 4"/>
            <p:cNvCxnSpPr/>
            <p:nvPr/>
          </p:nvCxnSpPr>
          <p:spPr>
            <a:xfrm>
              <a:off x="822960" y="4910328"/>
              <a:ext cx="6766560" cy="0"/>
            </a:xfrm>
            <a:prstGeom prst="line">
              <a:avLst/>
            </a:prstGeom>
            <a:ln w="19050">
              <a:solidFill>
                <a:srgbClr val="9AA0A6"/>
              </a:solidFill>
            </a:ln>
          </p:spPr>
        </p:cxnSp>
        <p:grpSp>
          <p:nvGrpSpPr>
            <p:cNvPr id="6" name="Large signal" descr="A semaphore signal post with its arm flat (stop)."/>
            <p:cNvGrpSpPr/>
            <p:nvPr/>
          </p:nvGrpSpPr>
          <p:grpSpPr>
            <a:xfrm>
              <a:off x="2814523" y="1691640"/>
              <a:ext cx="2891333" cy="3218688"/>
              <a:chOff x="2814523" y="1691640"/>
              <a:chExt cx="2891333" cy="3218688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218688" y="4676242"/>
                <a:ext cx="877824" cy="234086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482035" y="1691640"/>
                <a:ext cx="351130" cy="298460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3657600" y="1779422"/>
                <a:ext cx="2048256" cy="409652"/>
              </a:xfrm>
              <a:custGeom>
                <a:avLst/>
                <a:gdLst/>
                <a:ahLst/>
                <a:cxnLst/>
                <a:rect l="l" t="t" r="r" b="b"/>
                <a:pathLst>
                  <a:path w="2048256" h="409652">
                    <a:moveTo>
                      <a:pt x="0" y="0"/>
                    </a:moveTo>
                    <a:lnTo>
                      <a:pt x="2048256" y="0"/>
                    </a:lnTo>
                    <a:lnTo>
                      <a:pt x="2048256" y="409652"/>
                    </a:lnTo>
                    <a:lnTo>
                      <a:pt x="0" y="409652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4681728" y="1779422"/>
                <a:ext cx="321869" cy="409652"/>
              </a:xfrm>
              <a:custGeom>
                <a:avLst/>
                <a:gdLst/>
                <a:ahLst/>
                <a:cxnLst/>
                <a:rect l="l" t="t" r="r" b="b"/>
                <a:pathLst>
                  <a:path w="321869" h="409652">
                    <a:moveTo>
                      <a:pt x="0" y="0"/>
                    </a:moveTo>
                    <a:lnTo>
                      <a:pt x="321869" y="0"/>
                    </a:lnTo>
                    <a:lnTo>
                      <a:pt x="321869" y="409652"/>
                    </a:lnTo>
                    <a:lnTo>
                      <a:pt x="0" y="4096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3541471" y="1868119"/>
                <a:ext cx="232258" cy="232258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2814523" y="1726387"/>
                <a:ext cx="515722" cy="515722"/>
              </a:xfrm>
              <a:prstGeom prst="ellipse">
                <a:avLst/>
              </a:prstGeom>
              <a:solidFill>
                <a:srgbClr val="E5484D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" name="Wire"/>
            <p:cNvSpPr/>
            <p:nvPr/>
          </p:nvSpPr>
          <p:spPr>
            <a:xfrm>
              <a:off x="5120640" y="2189074"/>
              <a:ext cx="2377440" cy="2565806"/>
            </a:xfrm>
            <a:custGeom>
              <a:avLst/>
              <a:gdLst/>
              <a:ahLst/>
              <a:cxnLst/>
              <a:rect l="l" t="t" r="r" b="b"/>
              <a:pathLst>
                <a:path w="2377440" h="2565806">
                  <a:moveTo>
                    <a:pt x="0" y="0"/>
                  </a:moveTo>
                  <a:lnTo>
                    <a:pt x="0" y="2565806"/>
                  </a:lnTo>
                  <a:lnTo>
                    <a:pt x="2377440" y="2565806"/>
                  </a:lnTo>
                </a:path>
              </a:pathLst>
            </a:custGeom>
            <a:noFill/>
            <a:ln w="28575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" name="Callout: Lamp" descr="A label, Lamp, with a leader line to the part it names."/>
            <p:cNvGrpSpPr/>
            <p:nvPr/>
          </p:nvGrpSpPr>
          <p:grpSpPr>
            <a:xfrm>
              <a:off x="914400" y="1801368"/>
              <a:ext cx="1956816" cy="365760"/>
              <a:chOff x="914400" y="1801368"/>
              <a:chExt cx="1956816" cy="365760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914400" y="1801368"/>
                <a:ext cx="1188720" cy="36576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noAutofit/>
              </a:bodyPr>
              <a:lstStyle/>
              <a:p>
                <a:pPr algn="r"/>
                <a:r>
                  <a:rPr sz="1800" b="1" i="0" lang="en-GB">
                    <a:solidFill>
                      <a:srgbClr val="F2F2F2"/>
                    </a:solidFill>
                    <a:latin typeface="Arial"/>
                  </a:rPr>
                  <a:t>Lamp</a:t>
                </a:r>
              </a:p>
            </p:txBody>
          </p:sp>
          <p:cxnSp>
            <p:nvCxnSpPr>
              <p:cNvPr id="16" name="Connector 15"/>
              <p:cNvCxnSpPr/>
              <p:nvPr/>
            </p:nvCxnSpPr>
            <p:spPr>
              <a:xfrm>
                <a:off x="2148840" y="1984248"/>
                <a:ext cx="667512" cy="0"/>
              </a:xfrm>
              <a:prstGeom prst="line">
                <a:avLst/>
              </a:prstGeom>
              <a:ln w="19050">
                <a:solidFill>
                  <a:srgbClr val="A9B0B8"/>
                </a:solidFill>
              </a:ln>
            </p:spPr>
          </p:cxnSp>
          <p:sp>
            <p:nvSpPr>
              <p:cNvPr id="17" name="Oval 16"/>
              <p:cNvSpPr/>
              <p:nvPr/>
            </p:nvSpPr>
            <p:spPr>
              <a:xfrm>
                <a:off x="2761488" y="1929384"/>
                <a:ext cx="109728" cy="109728"/>
              </a:xfrm>
              <a:prstGeom prst="ellipse">
                <a:avLst/>
              </a:prstGeom>
              <a:solidFill>
                <a:srgbClr val="F2F2F2"/>
              </a:solidFill>
              <a:ln w="9525">
                <a:solidFill>
                  <a:srgbClr val="1E21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" name="Callout: Post" descr="A label, Post, with a leader line to the part it names."/>
            <p:cNvGrpSpPr/>
            <p:nvPr/>
          </p:nvGrpSpPr>
          <p:grpSpPr>
            <a:xfrm>
              <a:off x="914400" y="3200400"/>
              <a:ext cx="2624328" cy="365760"/>
              <a:chOff x="914400" y="3200400"/>
              <a:chExt cx="2624328" cy="365760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914400" y="3200400"/>
                <a:ext cx="1188720" cy="36576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noAutofit/>
              </a:bodyPr>
              <a:lstStyle/>
              <a:p>
                <a:pPr algn="r"/>
                <a:r>
                  <a:rPr sz="1800" b="1" i="0" lang="en-GB">
                    <a:solidFill>
                      <a:srgbClr val="F2F2F2"/>
                    </a:solidFill>
                    <a:latin typeface="Arial"/>
                  </a:rPr>
                  <a:t>Post</a:t>
                </a:r>
              </a:p>
            </p:txBody>
          </p:sp>
          <p:cxnSp>
            <p:nvCxnSpPr>
              <p:cNvPr id="20" name="Connector 19"/>
              <p:cNvCxnSpPr/>
              <p:nvPr/>
            </p:nvCxnSpPr>
            <p:spPr>
              <a:xfrm>
                <a:off x="2148840" y="3383280"/>
                <a:ext cx="1335024" cy="0"/>
              </a:xfrm>
              <a:prstGeom prst="line">
                <a:avLst/>
              </a:prstGeom>
              <a:ln w="19050">
                <a:solidFill>
                  <a:srgbClr val="A9B0B8"/>
                </a:solidFill>
              </a:ln>
            </p:spPr>
          </p:cxnSp>
          <p:sp>
            <p:nvSpPr>
              <p:cNvPr id="21" name="Oval 20"/>
              <p:cNvSpPr/>
              <p:nvPr/>
            </p:nvSpPr>
            <p:spPr>
              <a:xfrm>
                <a:off x="3429000" y="3328416"/>
                <a:ext cx="109728" cy="109728"/>
              </a:xfrm>
              <a:prstGeom prst="ellipse">
                <a:avLst/>
              </a:prstGeom>
              <a:solidFill>
                <a:srgbClr val="F2F2F2"/>
              </a:solidFill>
              <a:ln w="9525">
                <a:solidFill>
                  <a:srgbClr val="1E21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" name="Callout: Pivot" descr="A label, Pivot, with a leader line to the part it names."/>
            <p:cNvGrpSpPr/>
            <p:nvPr/>
          </p:nvGrpSpPr>
          <p:grpSpPr>
            <a:xfrm>
              <a:off x="3630168" y="1956816"/>
              <a:ext cx="1764792" cy="1243584"/>
              <a:chOff x="3630168" y="1956816"/>
              <a:chExt cx="1764792" cy="1243584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4297680" y="2834640"/>
                <a:ext cx="1097280" cy="36576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noAutofit/>
              </a:bodyPr>
              <a:lstStyle/>
              <a:p>
                <a:pPr algn="l"/>
                <a:r>
                  <a:rPr sz="1800" b="1" i="0" lang="en-GB">
                    <a:solidFill>
                      <a:srgbClr val="F2F2F2"/>
                    </a:solidFill>
                    <a:latin typeface="Arial"/>
                  </a:rPr>
                  <a:t>Pivot</a:t>
                </a:r>
              </a:p>
            </p:txBody>
          </p:sp>
          <p:cxnSp>
            <p:nvCxnSpPr>
              <p:cNvPr id="24" name="Connector 23"/>
              <p:cNvCxnSpPr/>
              <p:nvPr/>
            </p:nvCxnSpPr>
            <p:spPr>
              <a:xfrm flipH="1" flipV="1">
                <a:off x="3685032" y="2011680"/>
                <a:ext cx="594360" cy="914400"/>
              </a:xfrm>
              <a:prstGeom prst="line">
                <a:avLst/>
              </a:prstGeom>
              <a:ln w="19050">
                <a:solidFill>
                  <a:srgbClr val="A9B0B8"/>
                </a:solidFill>
              </a:ln>
            </p:spPr>
          </p:cxnSp>
          <p:sp>
            <p:nvSpPr>
              <p:cNvPr id="25" name="Oval 24"/>
              <p:cNvSpPr/>
              <p:nvPr/>
            </p:nvSpPr>
            <p:spPr>
              <a:xfrm>
                <a:off x="3630168" y="1956816"/>
                <a:ext cx="109728" cy="109728"/>
              </a:xfrm>
              <a:prstGeom prst="ellipse">
                <a:avLst/>
              </a:prstGeom>
              <a:solidFill>
                <a:srgbClr val="F2F2F2"/>
              </a:solidFill>
              <a:ln w="9525">
                <a:solidFill>
                  <a:srgbClr val="1E21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Callout: Arm" descr="A label, Arm, with a leader line to the part it names."/>
            <p:cNvGrpSpPr/>
            <p:nvPr/>
          </p:nvGrpSpPr>
          <p:grpSpPr>
            <a:xfrm>
              <a:off x="5614416" y="1801368"/>
              <a:ext cx="1335024" cy="365760"/>
              <a:chOff x="5614416" y="1801368"/>
              <a:chExt cx="1335024" cy="365760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6035040" y="1801368"/>
                <a:ext cx="914400" cy="36576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noAutofit/>
              </a:bodyPr>
              <a:lstStyle/>
              <a:p>
                <a:pPr algn="l"/>
                <a:r>
                  <a:rPr sz="1800" b="1" i="0" lang="en-GB">
                    <a:solidFill>
                      <a:srgbClr val="F2F2F2"/>
                    </a:solidFill>
                    <a:latin typeface="Arial"/>
                  </a:rPr>
                  <a:t>Arm</a:t>
                </a:r>
              </a:p>
            </p:txBody>
          </p:sp>
          <p:cxnSp>
            <p:nvCxnSpPr>
              <p:cNvPr id="28" name="Connector 27"/>
              <p:cNvCxnSpPr/>
              <p:nvPr/>
            </p:nvCxnSpPr>
            <p:spPr>
              <a:xfrm flipH="1">
                <a:off x="5669280" y="1984248"/>
                <a:ext cx="320040" cy="0"/>
              </a:xfrm>
              <a:prstGeom prst="line">
                <a:avLst/>
              </a:prstGeom>
              <a:ln w="19050">
                <a:solidFill>
                  <a:srgbClr val="A9B0B8"/>
                </a:solidFill>
              </a:ln>
            </p:spPr>
          </p:cxnSp>
          <p:sp>
            <p:nvSpPr>
              <p:cNvPr id="29" name="Oval 28"/>
              <p:cNvSpPr/>
              <p:nvPr/>
            </p:nvSpPr>
            <p:spPr>
              <a:xfrm>
                <a:off x="5614416" y="1929384"/>
                <a:ext cx="109728" cy="109728"/>
              </a:xfrm>
              <a:prstGeom prst="ellipse">
                <a:avLst/>
              </a:prstGeom>
              <a:solidFill>
                <a:srgbClr val="F2F2F2"/>
              </a:solidFill>
              <a:ln w="9525">
                <a:solidFill>
                  <a:srgbClr val="1E21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" name="Callout: Wire" descr="A label, Wire, with a leader line to the part it names."/>
            <p:cNvGrpSpPr/>
            <p:nvPr/>
          </p:nvGrpSpPr>
          <p:grpSpPr>
            <a:xfrm>
              <a:off x="5084064" y="3246120"/>
              <a:ext cx="1179576" cy="365760"/>
              <a:chOff x="5084064" y="3246120"/>
              <a:chExt cx="1179576" cy="365760"/>
            </a:xfrm>
          </p:grpSpPr>
          <p:sp>
            <p:nvSpPr>
              <p:cNvPr id="31" name="TextBox 30"/>
              <p:cNvSpPr txBox="1"/>
              <p:nvPr/>
            </p:nvSpPr>
            <p:spPr>
              <a:xfrm>
                <a:off x="5349240" y="3246120"/>
                <a:ext cx="914400" cy="36576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ctr">
                <a:noAutofit/>
              </a:bodyPr>
              <a:lstStyle/>
              <a:p>
                <a:pPr algn="l"/>
                <a:r>
                  <a:rPr sz="1800" b="1" i="0" lang="en-GB">
                    <a:solidFill>
                      <a:srgbClr val="F2F2F2"/>
                    </a:solidFill>
                    <a:latin typeface="Arial"/>
                  </a:rPr>
                  <a:t>Wire</a:t>
                </a:r>
              </a:p>
            </p:txBody>
          </p:sp>
          <p:cxnSp>
            <p:nvCxnSpPr>
              <p:cNvPr id="32" name="Connector 31"/>
              <p:cNvCxnSpPr/>
              <p:nvPr/>
            </p:nvCxnSpPr>
            <p:spPr>
              <a:xfrm flipH="1">
                <a:off x="5138928" y="3429000"/>
                <a:ext cx="192024" cy="0"/>
              </a:xfrm>
              <a:prstGeom prst="line">
                <a:avLst/>
              </a:prstGeom>
              <a:ln w="19050">
                <a:solidFill>
                  <a:srgbClr val="A9B0B8"/>
                </a:solidFill>
              </a:ln>
            </p:spPr>
          </p:cxnSp>
          <p:sp>
            <p:nvSpPr>
              <p:cNvPr id="33" name="Oval 32"/>
              <p:cNvSpPr/>
              <p:nvPr/>
            </p:nvSpPr>
            <p:spPr>
              <a:xfrm>
                <a:off x="5084064" y="3374136"/>
                <a:ext cx="109728" cy="109728"/>
              </a:xfrm>
              <a:prstGeom prst="ellipse">
                <a:avLst/>
              </a:prstGeom>
              <a:solidFill>
                <a:srgbClr val="F2F2F2"/>
              </a:solidFill>
              <a:ln w="9525">
                <a:solidFill>
                  <a:srgbClr val="1E21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4" name="Rounded Rectangle 33"/>
            <p:cNvSpPr/>
            <p:nvPr/>
          </p:nvSpPr>
          <p:spPr>
            <a:xfrm>
              <a:off x="7955280" y="1463040"/>
              <a:ext cx="3685032" cy="2926080"/>
            </a:xfrm>
            <a:prstGeom prst="roundRect">
              <a:avLst>
                <a:gd name="adj" fmla="val 2500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5" name="Small signal: stop" descr="A semaphore signal post with its arm flat (stop)."/>
            <p:cNvGrpSpPr/>
            <p:nvPr/>
          </p:nvGrpSpPr>
          <p:grpSpPr>
            <a:xfrm>
              <a:off x="8469630" y="2148840"/>
              <a:ext cx="1360170" cy="1508760"/>
              <a:chOff x="8469630" y="2148840"/>
              <a:chExt cx="1360170" cy="1508760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8663940" y="3547872"/>
                <a:ext cx="411480" cy="109728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8787384" y="2148840"/>
                <a:ext cx="164592" cy="139903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Freeform 37"/>
              <p:cNvSpPr/>
              <p:nvPr/>
            </p:nvSpPr>
            <p:spPr>
              <a:xfrm>
                <a:off x="8869680" y="2189988"/>
                <a:ext cx="960120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960120" h="192024">
                    <a:moveTo>
                      <a:pt x="0" y="0"/>
                    </a:moveTo>
                    <a:lnTo>
                      <a:pt x="960120" y="0"/>
                    </a:lnTo>
                    <a:lnTo>
                      <a:pt x="960120" y="192024"/>
                    </a:lnTo>
                    <a:lnTo>
                      <a:pt x="0" y="192024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Freeform 38"/>
              <p:cNvSpPr/>
              <p:nvPr/>
            </p:nvSpPr>
            <p:spPr>
              <a:xfrm>
                <a:off x="9349740" y="2189988"/>
                <a:ext cx="150876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150876" h="192024">
                    <a:moveTo>
                      <a:pt x="0" y="0"/>
                    </a:moveTo>
                    <a:lnTo>
                      <a:pt x="150876" y="0"/>
                    </a:lnTo>
                    <a:lnTo>
                      <a:pt x="150876" y="192024"/>
                    </a:lnTo>
                    <a:lnTo>
                      <a:pt x="0" y="1920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8807958" y="2224278"/>
                <a:ext cx="123444" cy="123444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8469630" y="2160270"/>
                <a:ext cx="251460" cy="251460"/>
              </a:xfrm>
              <a:prstGeom prst="ellipse">
                <a:avLst/>
              </a:prstGeom>
              <a:solidFill>
                <a:srgbClr val="E5484D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2" name="Small signal: clear" descr="A semaphore signal post with its arm raised (clear)."/>
            <p:cNvGrpSpPr/>
            <p:nvPr/>
          </p:nvGrpSpPr>
          <p:grpSpPr>
            <a:xfrm>
              <a:off x="10024110" y="1539202"/>
              <a:ext cx="1146848" cy="2118398"/>
              <a:chOff x="10024110" y="1539202"/>
              <a:chExt cx="1146848" cy="2118398"/>
            </a:xfrm>
          </p:grpSpPr>
          <p:sp>
            <p:nvSpPr>
              <p:cNvPr id="43" name="Rectangle 42"/>
              <p:cNvSpPr/>
              <p:nvPr/>
            </p:nvSpPr>
            <p:spPr>
              <a:xfrm>
                <a:off x="10218420" y="3547872"/>
                <a:ext cx="411480" cy="109728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10341864" y="2148840"/>
                <a:ext cx="164592" cy="139903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Freeform 44"/>
              <p:cNvSpPr/>
              <p:nvPr/>
            </p:nvSpPr>
            <p:spPr>
              <a:xfrm>
                <a:off x="10356269" y="1539202"/>
                <a:ext cx="814689" cy="814689"/>
              </a:xfrm>
              <a:custGeom>
                <a:avLst/>
                <a:gdLst/>
                <a:ahLst/>
                <a:cxnLst/>
                <a:rect l="l" t="t" r="r" b="b"/>
                <a:pathLst>
                  <a:path w="814689" h="814689">
                    <a:moveTo>
                      <a:pt x="0" y="678907"/>
                    </a:moveTo>
                    <a:lnTo>
                      <a:pt x="678908" y="0"/>
                    </a:lnTo>
                    <a:lnTo>
                      <a:pt x="814689" y="135781"/>
                    </a:lnTo>
                    <a:lnTo>
                      <a:pt x="135782" y="814689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Freeform 45"/>
              <p:cNvSpPr/>
              <p:nvPr/>
            </p:nvSpPr>
            <p:spPr>
              <a:xfrm>
                <a:off x="10695723" y="1771970"/>
                <a:ext cx="242467" cy="242467"/>
              </a:xfrm>
              <a:custGeom>
                <a:avLst/>
                <a:gdLst/>
                <a:ahLst/>
                <a:cxnLst/>
                <a:rect l="l" t="t" r="r" b="b"/>
                <a:pathLst>
                  <a:path w="242467" h="242467">
                    <a:moveTo>
                      <a:pt x="0" y="106686"/>
                    </a:moveTo>
                    <a:lnTo>
                      <a:pt x="106685" y="0"/>
                    </a:lnTo>
                    <a:lnTo>
                      <a:pt x="242467" y="135782"/>
                    </a:lnTo>
                    <a:lnTo>
                      <a:pt x="135781" y="2424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10362438" y="2224278"/>
                <a:ext cx="123444" cy="123444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0024110" y="2160270"/>
                <a:ext cx="251460" cy="251460"/>
              </a:xfrm>
              <a:prstGeom prst="ellipse">
                <a:avLst/>
              </a:prstGeom>
              <a:solidFill>
                <a:srgbClr val="3FB950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8412480" y="3794760"/>
              <a:ext cx="146304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F7A7E"/>
                  </a:solidFill>
                  <a:latin typeface="Arial"/>
                </a:rPr>
                <a:t>STOP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0241280" y="3794760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3FB950"/>
                  </a:solidFill>
                  <a:latin typeface="Arial"/>
                </a:rPr>
                <a:t>CLEAR</a:t>
              </a:r>
            </a:p>
          </p:txBody>
        </p:sp>
      </p:grpSp>
      <p:sp>
        <p:nvSpPr>
          <p:cNvPr id="51" name="Chip: Undecided (arm style)" descr="Status tag: Undecided"/>
          <p:cNvSpPr/>
          <p:nvPr/>
        </p:nvSpPr>
        <p:spPr>
          <a:xfrm>
            <a:off x="7772400" y="4983480"/>
            <a:ext cx="3867912" cy="411480"/>
          </a:xfrm>
          <a:prstGeom prst="roundRect">
            <a:avLst>
              <a:gd name="adj" fmla="val 17777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Arm style (rises or drops): undecided</a:t>
            </a:r>
          </a:p>
        </p:txBody>
      </p:sp>
      <p:sp>
        <p:nvSpPr>
          <p:cNvPr id="52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semaphore is a post with a moving arm. The arm is the message.</a:t>
            </a:r>
          </a:p>
        </p:txBody>
      </p:sp>
      <p:sp>
        <p:nvSpPr>
          <p:cNvPr id="53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Stop arm and distant arm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Stop arm and distant arm" descr="A red stop arm shown flat (stop) and raised (go). An amber distant arm with a notched end shown flat (be ready to stop) and raised (next signal clear). Three night lamps: red, yellow, green."/>
          <p:cNvGrpSpPr/>
          <p:nvPr/>
        </p:nvGrpSpPr>
        <p:grpSpPr>
          <a:xfrm>
            <a:off x="548640" y="1325880"/>
            <a:ext cx="11091672" cy="4160520"/>
            <a:chOff x="548640" y="1325880"/>
            <a:chExt cx="11091672" cy="4160520"/>
          </a:xfrm>
        </p:grpSpPr>
        <p:sp>
          <p:nvSpPr>
            <p:cNvPr id="5" name="TextBox 4"/>
            <p:cNvSpPr txBox="1"/>
            <p:nvPr/>
          </p:nvSpPr>
          <p:spPr>
            <a:xfrm>
              <a:off x="731520" y="1325880"/>
              <a:ext cx="2194560" cy="32004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600" b="1" i="0" lang="en-GB">
                  <a:solidFill>
                    <a:srgbClr val="A9B0B8"/>
                  </a:solidFill>
                  <a:latin typeface="Arial"/>
                </a:rPr>
                <a:t>Stop arm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23360" y="1325880"/>
              <a:ext cx="2743200" cy="32004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600" b="1" i="0" lang="en-GB">
                  <a:solidFill>
                    <a:srgbClr val="A9B0B8"/>
                  </a:solidFill>
                  <a:latin typeface="Arial"/>
                </a:rPr>
                <a:t>Distant arm</a:t>
              </a:r>
            </a:p>
          </p:txBody>
        </p:sp>
        <p:grpSp>
          <p:nvGrpSpPr>
            <p:cNvPr id="7" name="Stop arm flat" descr="A semaphore signal post with its arm flat (stop)."/>
            <p:cNvGrpSpPr/>
            <p:nvPr/>
          </p:nvGrpSpPr>
          <p:grpSpPr>
            <a:xfrm>
              <a:off x="788670" y="2011680"/>
              <a:ext cx="1360170" cy="1508760"/>
              <a:chOff x="788670" y="2011680"/>
              <a:chExt cx="1360170" cy="150876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982980" y="3410712"/>
                <a:ext cx="411480" cy="109728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106424" y="2011680"/>
                <a:ext cx="164592" cy="139903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188720" y="2052828"/>
                <a:ext cx="960120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960120" h="192024">
                    <a:moveTo>
                      <a:pt x="0" y="0"/>
                    </a:moveTo>
                    <a:lnTo>
                      <a:pt x="960120" y="0"/>
                    </a:lnTo>
                    <a:lnTo>
                      <a:pt x="960120" y="192024"/>
                    </a:lnTo>
                    <a:lnTo>
                      <a:pt x="0" y="192024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1668780" y="2052828"/>
                <a:ext cx="150876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150876" h="192024">
                    <a:moveTo>
                      <a:pt x="0" y="0"/>
                    </a:moveTo>
                    <a:lnTo>
                      <a:pt x="150876" y="0"/>
                    </a:lnTo>
                    <a:lnTo>
                      <a:pt x="150876" y="192024"/>
                    </a:lnTo>
                    <a:lnTo>
                      <a:pt x="0" y="1920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1126998" y="2087118"/>
                <a:ext cx="123444" cy="123444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788670" y="2023110"/>
                <a:ext cx="251460" cy="251460"/>
              </a:xfrm>
              <a:prstGeom prst="ellipse">
                <a:avLst/>
              </a:prstGeom>
              <a:solidFill>
                <a:srgbClr val="E5484D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" name="Stop arm raised" descr="A semaphore signal post with its arm raised (clear)."/>
            <p:cNvGrpSpPr/>
            <p:nvPr/>
          </p:nvGrpSpPr>
          <p:grpSpPr>
            <a:xfrm>
              <a:off x="2526030" y="1402042"/>
              <a:ext cx="1146848" cy="2118398"/>
              <a:chOff x="2526030" y="1402042"/>
              <a:chExt cx="1146848" cy="211839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2720340" y="3410712"/>
                <a:ext cx="411480" cy="109728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843784" y="2011680"/>
                <a:ext cx="164592" cy="139903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2858189" y="1402042"/>
                <a:ext cx="814689" cy="814689"/>
              </a:xfrm>
              <a:custGeom>
                <a:avLst/>
                <a:gdLst/>
                <a:ahLst/>
                <a:cxnLst/>
                <a:rect l="l" t="t" r="r" b="b"/>
                <a:pathLst>
                  <a:path w="814689" h="814689">
                    <a:moveTo>
                      <a:pt x="0" y="678907"/>
                    </a:moveTo>
                    <a:lnTo>
                      <a:pt x="678908" y="0"/>
                    </a:lnTo>
                    <a:lnTo>
                      <a:pt x="814689" y="135781"/>
                    </a:lnTo>
                    <a:lnTo>
                      <a:pt x="135782" y="814689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Freeform 17"/>
              <p:cNvSpPr/>
              <p:nvPr/>
            </p:nvSpPr>
            <p:spPr>
              <a:xfrm>
                <a:off x="3197643" y="1634810"/>
                <a:ext cx="242467" cy="242467"/>
              </a:xfrm>
              <a:custGeom>
                <a:avLst/>
                <a:gdLst/>
                <a:ahLst/>
                <a:cxnLst/>
                <a:rect l="l" t="t" r="r" b="b"/>
                <a:pathLst>
                  <a:path w="242467" h="242467">
                    <a:moveTo>
                      <a:pt x="0" y="106686"/>
                    </a:moveTo>
                    <a:lnTo>
                      <a:pt x="106685" y="0"/>
                    </a:lnTo>
                    <a:lnTo>
                      <a:pt x="242467" y="135782"/>
                    </a:lnTo>
                    <a:lnTo>
                      <a:pt x="135781" y="2424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2864358" y="2087118"/>
                <a:ext cx="123444" cy="123444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2526030" y="2023110"/>
                <a:ext cx="251460" cy="251460"/>
              </a:xfrm>
              <a:prstGeom prst="ellipse">
                <a:avLst/>
              </a:prstGeom>
              <a:solidFill>
                <a:srgbClr val="3FB950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548640" y="3630168"/>
              <a:ext cx="137160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FF7A7E"/>
                  </a:solidFill>
                  <a:latin typeface="Arial"/>
                </a:rPr>
                <a:t>STOP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86000" y="3630168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ctr"/>
              <a:r>
                <a:rPr sz="1800" b="1" i="0" lang="en-GB">
                  <a:solidFill>
                    <a:srgbClr val="3FB950"/>
                  </a:solidFill>
                  <a:latin typeface="Arial"/>
                </a:rPr>
                <a:t>GO</a:t>
              </a:r>
            </a:p>
          </p:txBody>
        </p:sp>
        <p:grpSp>
          <p:nvGrpSpPr>
            <p:cNvPr id="23" name="Distant arm flat" descr="A semaphore signal post with its arm flat (stop)."/>
            <p:cNvGrpSpPr/>
            <p:nvPr/>
          </p:nvGrpSpPr>
          <p:grpSpPr>
            <a:xfrm>
              <a:off x="4446270" y="2011680"/>
              <a:ext cx="1360170" cy="1508760"/>
              <a:chOff x="4446270" y="2011680"/>
              <a:chExt cx="1360170" cy="1508760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4640580" y="3410712"/>
                <a:ext cx="411480" cy="109728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764024" y="2011680"/>
                <a:ext cx="164592" cy="139903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4846320" y="2052828"/>
                <a:ext cx="960120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960120" h="192024">
                    <a:moveTo>
                      <a:pt x="0" y="0"/>
                    </a:moveTo>
                    <a:lnTo>
                      <a:pt x="960120" y="0"/>
                    </a:lnTo>
                    <a:lnTo>
                      <a:pt x="713232" y="96012"/>
                    </a:lnTo>
                    <a:lnTo>
                      <a:pt x="960120" y="192024"/>
                    </a:lnTo>
                    <a:lnTo>
                      <a:pt x="0" y="192024"/>
                    </a:lnTo>
                    <a:close/>
                  </a:path>
                </a:pathLst>
              </a:custGeom>
              <a:solidFill>
                <a:srgbClr val="F2C14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5326380" y="2052828"/>
                <a:ext cx="109728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109728" h="192024">
                    <a:moveTo>
                      <a:pt x="0" y="0"/>
                    </a:moveTo>
                    <a:lnTo>
                      <a:pt x="109728" y="0"/>
                    </a:lnTo>
                    <a:lnTo>
                      <a:pt x="109728" y="192024"/>
                    </a:lnTo>
                    <a:lnTo>
                      <a:pt x="0" y="192024"/>
                    </a:lnTo>
                    <a:close/>
                  </a:path>
                </a:pathLst>
              </a:custGeom>
              <a:solidFill>
                <a:srgbClr val="1B1D2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4784598" y="2087118"/>
                <a:ext cx="123444" cy="123444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4446270" y="2023110"/>
                <a:ext cx="251460" cy="251460"/>
              </a:xfrm>
              <a:prstGeom prst="ellipse">
                <a:avLst/>
              </a:prstGeom>
              <a:solidFill>
                <a:srgbClr val="F2C14E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" name="Distant arm raised" descr="A semaphore signal post with its arm raised (clear)."/>
            <p:cNvGrpSpPr/>
            <p:nvPr/>
          </p:nvGrpSpPr>
          <p:grpSpPr>
            <a:xfrm>
              <a:off x="6457950" y="1402042"/>
              <a:ext cx="1146848" cy="2118398"/>
              <a:chOff x="6457950" y="1402042"/>
              <a:chExt cx="1146848" cy="2118398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6652260" y="3410712"/>
                <a:ext cx="411480" cy="109728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6775704" y="2011680"/>
                <a:ext cx="164592" cy="1399032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6790109" y="1402042"/>
                <a:ext cx="814689" cy="814689"/>
              </a:xfrm>
              <a:custGeom>
                <a:avLst/>
                <a:gdLst/>
                <a:ahLst/>
                <a:cxnLst/>
                <a:rect l="l" t="t" r="r" b="b"/>
                <a:pathLst>
                  <a:path w="814689" h="814689">
                    <a:moveTo>
                      <a:pt x="0" y="678907"/>
                    </a:moveTo>
                    <a:lnTo>
                      <a:pt x="678908" y="0"/>
                    </a:lnTo>
                    <a:lnTo>
                      <a:pt x="572222" y="242467"/>
                    </a:lnTo>
                    <a:lnTo>
                      <a:pt x="814689" y="135781"/>
                    </a:lnTo>
                    <a:lnTo>
                      <a:pt x="135782" y="814689"/>
                    </a:lnTo>
                    <a:close/>
                  </a:path>
                </a:pathLst>
              </a:custGeom>
              <a:solidFill>
                <a:srgbClr val="F2C14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129563" y="1663906"/>
                <a:ext cx="213371" cy="213371"/>
              </a:xfrm>
              <a:custGeom>
                <a:avLst/>
                <a:gdLst/>
                <a:ahLst/>
                <a:cxnLst/>
                <a:rect l="l" t="t" r="r" b="b"/>
                <a:pathLst>
                  <a:path w="213371" h="213371">
                    <a:moveTo>
                      <a:pt x="0" y="77590"/>
                    </a:moveTo>
                    <a:lnTo>
                      <a:pt x="77589" y="0"/>
                    </a:lnTo>
                    <a:lnTo>
                      <a:pt x="213371" y="135782"/>
                    </a:lnTo>
                    <a:lnTo>
                      <a:pt x="135781" y="213371"/>
                    </a:lnTo>
                    <a:close/>
                  </a:path>
                </a:pathLst>
              </a:custGeom>
              <a:solidFill>
                <a:srgbClr val="1B1D21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6796278" y="2087118"/>
                <a:ext cx="123444" cy="123444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457950" y="2023110"/>
                <a:ext cx="251460" cy="251460"/>
              </a:xfrm>
              <a:prstGeom prst="ellipse">
                <a:avLst/>
              </a:prstGeom>
              <a:solidFill>
                <a:srgbClr val="3FB950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977640" y="3630168"/>
              <a:ext cx="1920240" cy="73152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F2C14E"/>
                  </a:solidFill>
                  <a:latin typeface="Arial"/>
                </a:rPr>
                <a:t>Be ready to stop at the next signal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943600" y="3630168"/>
              <a:ext cx="1920240" cy="73152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Autofit/>
            </a:bodyPr>
            <a:lstStyle/>
            <a:p>
              <a:pPr algn="ctr"/>
              <a:r>
                <a:rPr sz="1400" b="1" i="0" lang="en-GB">
                  <a:solidFill>
                    <a:srgbClr val="3FB950"/>
                  </a:solidFill>
                  <a:latin typeface="Arial"/>
                </a:rPr>
                <a:t>Next signal is clear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48640" y="466344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7240" y="4663440"/>
              <a:ext cx="1828800" cy="8229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600" b="1" i="0" lang="en-GB">
                  <a:solidFill>
                    <a:srgbClr val="A9B0B8"/>
                  </a:solidFill>
                  <a:latin typeface="Arial"/>
                </a:rPr>
                <a:t>Night lamps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2880360" y="4846320"/>
              <a:ext cx="457200" cy="457200"/>
            </a:xfrm>
            <a:prstGeom prst="ellipse">
              <a:avLst/>
            </a:prstGeom>
            <a:solidFill>
              <a:srgbClr val="E5484D"/>
            </a:solidFill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74720" y="4846320"/>
              <a:ext cx="1371600" cy="45720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Stop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5440680" y="4846320"/>
              <a:ext cx="457200" cy="457200"/>
            </a:xfrm>
            <a:prstGeom prst="ellipse">
              <a:avLst/>
            </a:prstGeom>
            <a:solidFill>
              <a:srgbClr val="F2C14E"/>
            </a:solidFill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35040" y="4846320"/>
              <a:ext cx="2743200" cy="45720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Distant warning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9281160" y="4846320"/>
              <a:ext cx="457200" cy="457200"/>
            </a:xfrm>
            <a:prstGeom prst="ellipse">
              <a:avLst/>
            </a:prstGeom>
            <a:solidFill>
              <a:srgbClr val="3FB950"/>
            </a:solidFill>
            <a:ln w="1905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875520" y="4846320"/>
              <a:ext cx="1371600" cy="45720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Clear</a:t>
              </a:r>
            </a:p>
          </p:txBody>
        </p:sp>
      </p:grpSp>
      <p:pic>
        <p:nvPicPr>
          <p:cNvPr id="47" name="P13_distant_signal_henley.jpg" descr="A semaphore distant signal beside the line near Henley-in-Arden, arm raised."/>
          <p:cNvPicPr>
            <a:picLocks noChangeAspect="1"/>
          </p:cNvPicPr>
          <p:nvPr/>
        </p:nvPicPr>
        <p:blipFill>
          <a:blip r:embed="rId2"/>
          <a:srcRect t="1904" b="1904"/>
          <a:stretch>
            <a:fillRect/>
          </a:stretch>
        </p:blipFill>
        <p:spPr>
          <a:xfrm>
            <a:off x="8915400" y="1325880"/>
            <a:ext cx="2560320" cy="1920240"/>
          </a:xfrm>
          <a:prstGeom prst="roundRect">
            <a:avLst>
              <a:gd name="adj" fmla="val 3809"/>
            </a:avLst>
          </a:prstGeom>
        </p:spPr>
      </p:pic>
      <p:sp>
        <p:nvSpPr>
          <p:cNvPr id="48" name="Credit"/>
          <p:cNvSpPr txBox="1"/>
          <p:nvPr/>
        </p:nvSpPr>
        <p:spPr>
          <a:xfrm>
            <a:off x="8915400" y="329184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 lang="en-GB">
                <a:solidFill>
                  <a:srgbClr val="A9B0B8"/>
                </a:solidFill>
                <a:latin typeface="Arial"/>
              </a:rPr>
              <a:t>Richard Dunn, CC BY-SA 2.0. Wikimedia Commons.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3657600"/>
            <a:ext cx="256032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1400" b="0" i="0" lang="en-GB">
                <a:solidFill>
                  <a:srgbClr val="F2F2F2"/>
                </a:solidFill>
                <a:latin typeface="Arial"/>
              </a:rPr>
              <a:t>A real distant signal, arm raised.</a:t>
            </a:r>
          </a:p>
        </p:txBody>
      </p:sp>
      <p:sp>
        <p:nvSpPr>
          <p:cNvPr id="50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stop arm orders a stop. A distant arm only warns you.</a:t>
            </a:r>
          </a:p>
        </p:txBody>
      </p:sp>
      <p:sp>
        <p:nvSpPr>
          <p:cNvPr id="51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If the wire breaks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grpSp>
        <p:nvGrpSpPr>
          <p:cNvPr id="4" name="Wire intact and wire broken" descr="Left: a lever in a signal box pulls a wire and the arm rises. Right: the wire is broken, so a counterweight pulls the arm flat to stop."/>
          <p:cNvGrpSpPr/>
          <p:nvPr/>
        </p:nvGrpSpPr>
        <p:grpSpPr>
          <a:xfrm>
            <a:off x="548640" y="1325880"/>
            <a:ext cx="11091672" cy="3520440"/>
            <a:chOff x="548640" y="1325880"/>
            <a:chExt cx="11091672" cy="3520440"/>
          </a:xfrm>
        </p:grpSpPr>
        <p:sp>
          <p:nvSpPr>
            <p:cNvPr id="5" name="Rounded Rectangle 4"/>
            <p:cNvSpPr/>
            <p:nvPr/>
          </p:nvSpPr>
          <p:spPr>
            <a:xfrm>
              <a:off x="548640" y="1325880"/>
              <a:ext cx="5394960" cy="3520440"/>
            </a:xfrm>
            <a:prstGeom prst="roundRect">
              <a:avLst>
                <a:gd name="adj" fmla="val 2077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389888"/>
              <a:ext cx="320040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Wire intact</a:t>
              </a:r>
            </a:p>
          </p:txBody>
        </p:sp>
        <p:grpSp>
          <p:nvGrpSpPr>
            <p:cNvPr id="7" name="Signal box (lever)" descr="A small signal box building."/>
            <p:cNvGrpSpPr/>
            <p:nvPr/>
          </p:nvGrpSpPr>
          <p:grpSpPr>
            <a:xfrm>
              <a:off x="822960" y="3175711"/>
              <a:ext cx="1463040" cy="1533449"/>
              <a:chOff x="822960" y="3175711"/>
              <a:chExt cx="1463040" cy="1533449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822960" y="3175711"/>
                <a:ext cx="1463040" cy="1533449"/>
              </a:xfrm>
              <a:prstGeom prst="rect">
                <a:avLst/>
              </a:prstGeom>
              <a:solidFill>
                <a:srgbClr val="343A43"/>
              </a:solidFill>
              <a:ln w="19050">
                <a:solidFill>
                  <a:srgbClr val="F28C2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749808" y="2743200"/>
                <a:ext cx="1609344" cy="471830"/>
              </a:xfrm>
              <a:custGeom>
                <a:avLst/>
                <a:gdLst/>
                <a:ahLst/>
                <a:cxnLst/>
                <a:rect l="l" t="t" r="r" b="b"/>
                <a:pathLst>
                  <a:path w="1609344" h="471830">
                    <a:moveTo>
                      <a:pt x="0" y="471830"/>
                    </a:moveTo>
                    <a:lnTo>
                      <a:pt x="804672" y="0"/>
                    </a:lnTo>
                    <a:lnTo>
                      <a:pt x="1609344" y="471830"/>
                    </a:lnTo>
                    <a:close/>
                  </a:path>
                </a:pathLst>
              </a:custGeom>
              <a:solidFill>
                <a:srgbClr val="4A515B"/>
              </a:solidFill>
              <a:ln w="19050">
                <a:solidFill>
                  <a:srgbClr val="F28C2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" name="Rectangle 9"/>
            <p:cNvSpPr/>
            <p:nvPr/>
          </p:nvSpPr>
          <p:spPr>
            <a:xfrm rot="1500000">
              <a:off x="1627795" y="3741872"/>
              <a:ext cx="109728" cy="822960"/>
            </a:xfrm>
            <a:prstGeom prst="rect">
              <a:avLst/>
            </a:prstGeom>
            <a:solidFill>
              <a:srgbClr val="E5484D"/>
            </a:solidFill>
            <a:ln w="9525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1417320" y="4434840"/>
              <a:ext cx="182880" cy="182880"/>
            </a:xfrm>
            <a:prstGeom prst="ellipse">
              <a:avLst/>
            </a:prstGeom>
            <a:solidFill>
              <a:srgbClr val="9AA0A6"/>
            </a:solidFill>
            <a:ln w="9525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2" name="Signal" descr="A semaphore signal post with its arm raised (clear)."/>
            <p:cNvGrpSpPr/>
            <p:nvPr/>
          </p:nvGrpSpPr>
          <p:grpSpPr>
            <a:xfrm>
              <a:off x="3636569" y="2167082"/>
              <a:ext cx="1374389" cy="2542078"/>
              <a:chOff x="3636569" y="2167082"/>
              <a:chExt cx="1374389" cy="2542078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3867912" y="4577486"/>
                <a:ext cx="493776" cy="13167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4016045" y="2898648"/>
                <a:ext cx="197510" cy="1678838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4033331" y="2167082"/>
                <a:ext cx="977627" cy="977627"/>
              </a:xfrm>
              <a:custGeom>
                <a:avLst/>
                <a:gdLst/>
                <a:ahLst/>
                <a:cxnLst/>
                <a:rect l="l" t="t" r="r" b="b"/>
                <a:pathLst>
                  <a:path w="977627" h="977627">
                    <a:moveTo>
                      <a:pt x="0" y="814689"/>
                    </a:moveTo>
                    <a:lnTo>
                      <a:pt x="814689" y="0"/>
                    </a:lnTo>
                    <a:lnTo>
                      <a:pt x="977627" y="162938"/>
                    </a:lnTo>
                    <a:lnTo>
                      <a:pt x="162938" y="977627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4440676" y="2446404"/>
                <a:ext cx="290960" cy="290960"/>
              </a:xfrm>
              <a:custGeom>
                <a:avLst/>
                <a:gdLst/>
                <a:ahLst/>
                <a:cxnLst/>
                <a:rect l="l" t="t" r="r" b="b"/>
                <a:pathLst>
                  <a:path w="290960" h="290960">
                    <a:moveTo>
                      <a:pt x="0" y="128023"/>
                    </a:moveTo>
                    <a:lnTo>
                      <a:pt x="128022" y="0"/>
                    </a:lnTo>
                    <a:lnTo>
                      <a:pt x="290960" y="162938"/>
                    </a:lnTo>
                    <a:lnTo>
                      <a:pt x="162937" y="2909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4043477" y="2991917"/>
                <a:ext cx="142646" cy="142646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3636569" y="2914193"/>
                <a:ext cx="298094" cy="298094"/>
              </a:xfrm>
              <a:prstGeom prst="ellipse">
                <a:avLst/>
              </a:prstGeom>
              <a:solidFill>
                <a:srgbClr val="3FB950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cxnSp>
          <p:nvCxnSpPr>
            <p:cNvPr id="19" name="Connector 18"/>
            <p:cNvCxnSpPr/>
            <p:nvPr/>
          </p:nvCxnSpPr>
          <p:spPr>
            <a:xfrm flipH="1">
              <a:off x="3858768" y="3063240"/>
              <a:ext cx="256032" cy="256032"/>
            </a:xfrm>
            <a:prstGeom prst="line">
              <a:avLst/>
            </a:prstGeom>
            <a:ln w="50800">
              <a:solidFill>
                <a:srgbClr val="9AA0A6"/>
              </a:solidFill>
            </a:ln>
          </p:spPr>
        </p:cxnSp>
        <p:sp>
          <p:nvSpPr>
            <p:cNvPr id="20" name="Wire"/>
            <p:cNvSpPr/>
            <p:nvPr/>
          </p:nvSpPr>
          <p:spPr>
            <a:xfrm>
              <a:off x="1856232" y="3319272"/>
              <a:ext cx="2002536" cy="457200"/>
            </a:xfrm>
            <a:custGeom>
              <a:avLst/>
              <a:gdLst/>
              <a:ahLst/>
              <a:cxnLst/>
              <a:rect l="l" t="t" r="r" b="b"/>
              <a:pathLst>
                <a:path w="2002536" h="457200">
                  <a:moveTo>
                    <a:pt x="0" y="457200"/>
                  </a:moveTo>
                  <a:lnTo>
                    <a:pt x="2002536" y="457200"/>
                  </a:lnTo>
                  <a:lnTo>
                    <a:pt x="2002536" y="0"/>
                  </a:lnTo>
                </a:path>
              </a:pathLst>
            </a:custGeom>
            <a:noFill/>
            <a:ln w="28575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389120" y="3931920"/>
              <a:ext cx="137160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3FB950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245352" y="1325880"/>
              <a:ext cx="5394960" cy="3520440"/>
            </a:xfrm>
            <a:prstGeom prst="roundRect">
              <a:avLst>
                <a:gd name="adj" fmla="val 2077"/>
              </a:avLst>
            </a:prstGeom>
            <a:solidFill>
              <a:srgbClr val="2B2F36"/>
            </a:solidFill>
            <a:ln w="12700">
              <a:solidFill>
                <a:srgbClr val="4A515B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73952" y="1389888"/>
              <a:ext cx="320040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Wire broken</a:t>
              </a:r>
            </a:p>
          </p:txBody>
        </p:sp>
        <p:grpSp>
          <p:nvGrpSpPr>
            <p:cNvPr id="24" name="Signal box (lever)" descr="A small signal box building."/>
            <p:cNvGrpSpPr/>
            <p:nvPr/>
          </p:nvGrpSpPr>
          <p:grpSpPr>
            <a:xfrm>
              <a:off x="6519672" y="3175711"/>
              <a:ext cx="1463040" cy="1533449"/>
              <a:chOff x="6519672" y="3175711"/>
              <a:chExt cx="1463040" cy="1533449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6519672" y="3175711"/>
                <a:ext cx="1463040" cy="1533449"/>
              </a:xfrm>
              <a:prstGeom prst="rect">
                <a:avLst/>
              </a:prstGeom>
              <a:solidFill>
                <a:srgbClr val="343A43"/>
              </a:solidFill>
              <a:ln w="19050">
                <a:solidFill>
                  <a:srgbClr val="F28C2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6446520" y="2743200"/>
                <a:ext cx="1609344" cy="471830"/>
              </a:xfrm>
              <a:custGeom>
                <a:avLst/>
                <a:gdLst/>
                <a:ahLst/>
                <a:cxnLst/>
                <a:rect l="l" t="t" r="r" b="b"/>
                <a:pathLst>
                  <a:path w="1609344" h="471830">
                    <a:moveTo>
                      <a:pt x="0" y="471830"/>
                    </a:moveTo>
                    <a:lnTo>
                      <a:pt x="804672" y="0"/>
                    </a:lnTo>
                    <a:lnTo>
                      <a:pt x="1609344" y="471830"/>
                    </a:lnTo>
                    <a:close/>
                  </a:path>
                </a:pathLst>
              </a:custGeom>
              <a:solidFill>
                <a:srgbClr val="4A515B"/>
              </a:solidFill>
              <a:ln w="19050">
                <a:solidFill>
                  <a:srgbClr val="F28C2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" name="Rectangle 26"/>
            <p:cNvSpPr/>
            <p:nvPr/>
          </p:nvSpPr>
          <p:spPr>
            <a:xfrm rot="1500000">
              <a:off x="7324507" y="3741872"/>
              <a:ext cx="109728" cy="822960"/>
            </a:xfrm>
            <a:prstGeom prst="rect">
              <a:avLst/>
            </a:prstGeom>
            <a:solidFill>
              <a:srgbClr val="E5484D"/>
            </a:solidFill>
            <a:ln w="9525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7114032" y="4434840"/>
              <a:ext cx="182880" cy="182880"/>
            </a:xfrm>
            <a:prstGeom prst="ellipse">
              <a:avLst/>
            </a:prstGeom>
            <a:solidFill>
              <a:srgbClr val="9AA0A6"/>
            </a:solidFill>
            <a:ln w="9525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9" name="Signal" descr="A semaphore signal post with its arm flat (stop)."/>
            <p:cNvGrpSpPr/>
            <p:nvPr/>
          </p:nvGrpSpPr>
          <p:grpSpPr>
            <a:xfrm>
              <a:off x="9333281" y="2898648"/>
              <a:ext cx="1630375" cy="1810512"/>
              <a:chOff x="9333281" y="2898648"/>
              <a:chExt cx="1630375" cy="1810512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9564624" y="4577486"/>
                <a:ext cx="493776" cy="131674"/>
              </a:xfrm>
              <a:prstGeom prst="rect">
                <a:avLst/>
              </a:prstGeom>
              <a:solidFill>
                <a:srgbClr val="9AA0A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9712757" y="2898648"/>
                <a:ext cx="197510" cy="1678838"/>
              </a:xfrm>
              <a:prstGeom prst="rect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Freeform 31"/>
              <p:cNvSpPr/>
              <p:nvPr/>
            </p:nvSpPr>
            <p:spPr>
              <a:xfrm>
                <a:off x="9811512" y="2948026"/>
                <a:ext cx="1152144" cy="230428"/>
              </a:xfrm>
              <a:custGeom>
                <a:avLst/>
                <a:gdLst/>
                <a:ahLst/>
                <a:cxnLst/>
                <a:rect l="l" t="t" r="r" b="b"/>
                <a:pathLst>
                  <a:path w="1152144" h="230428">
                    <a:moveTo>
                      <a:pt x="0" y="0"/>
                    </a:moveTo>
                    <a:lnTo>
                      <a:pt x="1152144" y="0"/>
                    </a:lnTo>
                    <a:lnTo>
                      <a:pt x="1152144" y="230428"/>
                    </a:lnTo>
                    <a:lnTo>
                      <a:pt x="0" y="230428"/>
                    </a:lnTo>
                    <a:close/>
                  </a:path>
                </a:pathLst>
              </a:custGeom>
              <a:solidFill>
                <a:srgbClr val="E5484D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10387584" y="2948026"/>
                <a:ext cx="181051" cy="230428"/>
              </a:xfrm>
              <a:custGeom>
                <a:avLst/>
                <a:gdLst/>
                <a:ahLst/>
                <a:cxnLst/>
                <a:rect l="l" t="t" r="r" b="b"/>
                <a:pathLst>
                  <a:path w="181051" h="230428">
                    <a:moveTo>
                      <a:pt x="0" y="0"/>
                    </a:moveTo>
                    <a:lnTo>
                      <a:pt x="181051" y="0"/>
                    </a:lnTo>
                    <a:lnTo>
                      <a:pt x="181051" y="230428"/>
                    </a:lnTo>
                    <a:lnTo>
                      <a:pt x="0" y="2304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9740189" y="2991917"/>
                <a:ext cx="142646" cy="142646"/>
              </a:xfrm>
              <a:prstGeom prst="ellipse">
                <a:avLst/>
              </a:prstGeom>
              <a:solidFill>
                <a:srgbClr val="1B1D21"/>
              </a:solidFill>
              <a:ln w="9525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9333281" y="2914193"/>
                <a:ext cx="298094" cy="298094"/>
              </a:xfrm>
              <a:prstGeom prst="ellipse">
                <a:avLst/>
              </a:prstGeom>
              <a:solidFill>
                <a:srgbClr val="E5484D"/>
              </a:solidFill>
              <a:ln w="12700">
                <a:solidFill>
                  <a:srgbClr val="FFFFFF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cxnSp>
          <p:nvCxnSpPr>
            <p:cNvPr id="36" name="Connector 35"/>
            <p:cNvCxnSpPr/>
            <p:nvPr/>
          </p:nvCxnSpPr>
          <p:spPr>
            <a:xfrm flipH="1">
              <a:off x="9445752" y="3063240"/>
              <a:ext cx="365760" cy="0"/>
            </a:xfrm>
            <a:prstGeom prst="line">
              <a:avLst/>
            </a:prstGeom>
            <a:ln w="50800">
              <a:solidFill>
                <a:srgbClr val="9AA0A6"/>
              </a:solidFill>
            </a:ln>
          </p:spPr>
        </p:cxnSp>
        <p:cxnSp>
          <p:nvCxnSpPr>
            <p:cNvPr id="37" name="Connector 36"/>
            <p:cNvCxnSpPr/>
            <p:nvPr/>
          </p:nvCxnSpPr>
          <p:spPr>
            <a:xfrm>
              <a:off x="7552944" y="3776472"/>
              <a:ext cx="1024128" cy="0"/>
            </a:xfrm>
            <a:prstGeom prst="line">
              <a:avLst/>
            </a:prstGeom>
            <a:ln w="28575">
              <a:solidFill>
                <a:srgbClr val="F28C28"/>
              </a:solidFill>
              <a:prstDash val="dash"/>
            </a:ln>
          </p:spPr>
        </p:cxnSp>
        <p:sp>
          <p:nvSpPr>
            <p:cNvPr id="38" name="Wire (far piece)"/>
            <p:cNvSpPr/>
            <p:nvPr/>
          </p:nvSpPr>
          <p:spPr>
            <a:xfrm>
              <a:off x="9171432" y="3063240"/>
              <a:ext cx="274320" cy="713232"/>
            </a:xfrm>
            <a:custGeom>
              <a:avLst/>
              <a:gdLst/>
              <a:ahLst/>
              <a:cxnLst/>
              <a:rect l="l" t="t" r="r" b="b"/>
              <a:pathLst>
                <a:path w="274320" h="713232">
                  <a:moveTo>
                    <a:pt x="0" y="713232"/>
                  </a:moveTo>
                  <a:lnTo>
                    <a:pt x="274320" y="713232"/>
                  </a:lnTo>
                  <a:lnTo>
                    <a:pt x="274320" y="0"/>
                  </a:lnTo>
                </a:path>
              </a:pathLst>
            </a:custGeom>
            <a:noFill/>
            <a:ln w="28575">
              <a:solidFill>
                <a:srgbClr val="F28C28"/>
              </a:solidFill>
              <a:prstDash val="dash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 rot="2700000">
              <a:off x="8613648" y="3730752"/>
              <a:ext cx="512064" cy="91440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 rot="18900000">
              <a:off x="8613648" y="3730752"/>
              <a:ext cx="512064" cy="91440"/>
            </a:xfrm>
            <a:prstGeom prst="rect">
              <a:avLst/>
            </a:prstGeom>
            <a:solidFill>
              <a:srgbClr val="E5484D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10085832" y="3172968"/>
              <a:ext cx="0" cy="347472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42" name="Counterweight"/>
            <p:cNvSpPr/>
            <p:nvPr/>
          </p:nvSpPr>
          <p:spPr>
            <a:xfrm>
              <a:off x="9948672" y="3520440"/>
              <a:ext cx="274320" cy="274320"/>
            </a:xfrm>
            <a:prstGeom prst="rect">
              <a:avLst/>
            </a:prstGeom>
            <a:solidFill>
              <a:srgbClr val="9AA0A6"/>
            </a:solidFill>
            <a:ln w="12700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10085832" y="3886200"/>
              <a:ext cx="0" cy="41148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44" name="TextBox 43"/>
            <p:cNvSpPr txBox="1"/>
            <p:nvPr/>
          </p:nvSpPr>
          <p:spPr>
            <a:xfrm>
              <a:off x="10360152" y="3931920"/>
              <a:ext cx="1280160" cy="3657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1800" b="1" i="0" lang="en-GB">
                  <a:solidFill>
                    <a:srgbClr val="FF7A7E"/>
                  </a:solidFill>
                  <a:latin typeface="Arial"/>
                </a:rPr>
                <a:t>STOP</a:t>
              </a:r>
            </a:p>
          </p:txBody>
        </p:sp>
      </p:grpSp>
      <p:sp>
        <p:nvSpPr>
          <p:cNvPr id="45" name="Chip: Undecided (failure rule)" descr="Status tag: Undecided"/>
          <p:cNvSpPr/>
          <p:nvPr/>
        </p:nvSpPr>
        <p:spPr>
          <a:xfrm>
            <a:off x="4014216" y="5029200"/>
            <a:ext cx="4160520" cy="411480"/>
          </a:xfrm>
          <a:prstGeom prst="roundRect">
            <a:avLst>
              <a:gd name="adj" fmla="val 17777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squar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The mod's failure rule: undecided (OQ03)</a:t>
            </a:r>
          </a:p>
        </p:txBody>
      </p:sp>
      <p:sp>
        <p:nvSpPr>
          <p:cNvPr id="46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On real railways, a broken wire drops the arm to stop.</a:t>
            </a:r>
          </a:p>
        </p:txBody>
      </p:sp>
      <p:sp>
        <p:nvSpPr>
          <p:cNvPr id="47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411480"/>
            <a:ext cx="9509760" cy="731520"/>
          </a:xfrm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3600" b="1" lang="en-GB">
                <a:solidFill>
                  <a:srgbClr val="F2F2F2"/>
                </a:solidFill>
                <a:latin typeface="Arial"/>
              </a:rPr>
              <a:t>The signal box</a:t>
            </a:r>
          </a:p>
        </p:txBody>
      </p:sp>
      <p:sp>
        <p:nvSpPr>
          <p:cNvPr id="3" name="Chip: Background" descr="Status tag: Background"/>
          <p:cNvSpPr/>
          <p:nvPr/>
        </p:nvSpPr>
        <p:spPr>
          <a:xfrm>
            <a:off x="10104120" y="457200"/>
            <a:ext cx="1508760" cy="365760"/>
          </a:xfrm>
          <a:prstGeom prst="roundRect">
            <a:avLst>
              <a:gd name="adj" fmla="val 20000"/>
            </a:avLst>
          </a:prstGeom>
          <a:solidFill>
            <a:srgbClr val="4A515B"/>
          </a:solidFill>
          <a:ln>
            <a:noFill/>
          </a:ln>
        </p:spPr>
        <p:txBody>
          <a:bodyPr rtlCol="0" anchor="ctr" wrap="none" lIns="27432" tIns="9144" rIns="27432" bIns="9144">
            <a:noAutofit/>
          </a:bodyPr>
          <a:lstStyle/>
          <a:p>
            <a:pPr algn="ctr"/>
            <a:r>
              <a:rPr sz="1400" b="1" i="0" lang="en-GB">
                <a:solidFill>
                  <a:srgbClr val="F2F2F2"/>
                </a:solidFill>
                <a:latin typeface="Arial"/>
              </a:rPr>
              <a:t>BACKGROUND</a:t>
            </a:r>
          </a:p>
        </p:txBody>
      </p:sp>
      <p:pic>
        <p:nvPicPr>
          <p:cNvPr id="4" name="P14_williton_signal_box.jpg" descr="Williton signal box on the West Somerset Railway."/>
          <p:cNvPicPr>
            <a:picLocks noChangeAspect="1"/>
          </p:cNvPicPr>
          <p:nvPr/>
        </p:nvPicPr>
        <p:blipFill>
          <a:blip r:embed="rId2"/>
          <a:srcRect t="2375" b="9500"/>
          <a:stretch>
            <a:fillRect/>
          </a:stretch>
        </p:blipFill>
        <p:spPr>
          <a:xfrm>
            <a:off x="548640" y="1280160"/>
            <a:ext cx="3657600" cy="4297680"/>
          </a:xfrm>
          <a:prstGeom prst="roundRect">
            <a:avLst>
              <a:gd name="adj" fmla="val 2000"/>
            </a:avLst>
          </a:prstGeom>
        </p:spPr>
      </p:pic>
      <p:sp>
        <p:nvSpPr>
          <p:cNvPr id="5" name="Credit"/>
          <p:cNvSpPr txBox="1"/>
          <p:nvPr/>
        </p:nvSpPr>
        <p:spPr>
          <a:xfrm>
            <a:off x="548640" y="560527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 lang="en-GB">
                <a:solidFill>
                  <a:srgbClr val="A9B0B8"/>
                </a:solidFill>
                <a:latin typeface="Arial"/>
              </a:rPr>
              <a:t>Reading Tom, CC BY 2.0. Wikimedia Commons.</a:t>
            </a:r>
          </a:p>
        </p:txBody>
      </p:sp>
      <p:grpSp>
        <p:nvGrpSpPr>
          <p:cNvPr id="6" name="Three parts of a signal box" descr="Three rows with icons: high windows give a good view of the track; the signaller works the levers; the lever frame is inside."/>
          <p:cNvGrpSpPr/>
          <p:nvPr/>
        </p:nvGrpSpPr>
        <p:grpSpPr>
          <a:xfrm>
            <a:off x="4663440" y="1280160"/>
            <a:ext cx="6976872" cy="4297680"/>
            <a:chOff x="4663440" y="1280160"/>
            <a:chExt cx="6976872" cy="4297680"/>
          </a:xfrm>
        </p:grpSpPr>
        <p:sp>
          <p:nvSpPr>
            <p:cNvPr id="7" name="Rounded Rectangle 6"/>
            <p:cNvSpPr/>
            <p:nvPr/>
          </p:nvSpPr>
          <p:spPr>
            <a:xfrm>
              <a:off x="4663440" y="1280160"/>
              <a:ext cx="6976872" cy="1280160"/>
            </a:xfrm>
            <a:prstGeom prst="roundRect">
              <a:avLst>
                <a:gd name="adj" fmla="val 5714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" name="Window icon" descr="An icon of a high window with several panes."/>
            <p:cNvGrpSpPr/>
            <p:nvPr/>
          </p:nvGrpSpPr>
          <p:grpSpPr>
            <a:xfrm>
              <a:off x="4937760" y="1508760"/>
              <a:ext cx="1005840" cy="822960"/>
              <a:chOff x="4937760" y="1508760"/>
              <a:chExt cx="1005840" cy="82296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4937760" y="1508760"/>
                <a:ext cx="1005840" cy="822960"/>
              </a:xfrm>
              <a:prstGeom prst="rect">
                <a:avLst/>
              </a:prstGeom>
              <a:solidFill>
                <a:srgbClr val="4DA3FF">
                  <a:alpha val="40000"/>
                </a:srgbClr>
              </a:solidFill>
              <a:ln w="25400">
                <a:solidFill>
                  <a:srgbClr val="E8E8E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" name="Connector 9"/>
              <p:cNvCxnSpPr/>
              <p:nvPr/>
            </p:nvCxnSpPr>
            <p:spPr>
              <a:xfrm>
                <a:off x="5273040" y="1508760"/>
                <a:ext cx="0" cy="822960"/>
              </a:xfrm>
              <a:prstGeom prst="line">
                <a:avLst/>
              </a:prstGeom>
              <a:ln w="19050">
                <a:solidFill>
                  <a:srgbClr val="E8E8E8"/>
                </a:solidFill>
              </a:ln>
            </p:spPr>
          </p:cxnSp>
          <p:cxnSp>
            <p:nvCxnSpPr>
              <p:cNvPr id="11" name="Connector 10"/>
              <p:cNvCxnSpPr/>
              <p:nvPr/>
            </p:nvCxnSpPr>
            <p:spPr>
              <a:xfrm>
                <a:off x="5608320" y="1508760"/>
                <a:ext cx="0" cy="822960"/>
              </a:xfrm>
              <a:prstGeom prst="line">
                <a:avLst/>
              </a:prstGeom>
              <a:ln w="19050">
                <a:solidFill>
                  <a:srgbClr val="E8E8E8"/>
                </a:solidFill>
              </a:ln>
            </p:spPr>
          </p:cxnSp>
          <p:cxnSp>
            <p:nvCxnSpPr>
              <p:cNvPr id="12" name="Connector 11"/>
              <p:cNvCxnSpPr/>
              <p:nvPr/>
            </p:nvCxnSpPr>
            <p:spPr>
              <a:xfrm>
                <a:off x="4937760" y="1920240"/>
                <a:ext cx="1005840" cy="0"/>
              </a:xfrm>
              <a:prstGeom prst="line">
                <a:avLst/>
              </a:prstGeom>
              <a:ln w="19050">
                <a:solidFill>
                  <a:srgbClr val="E8E8E8"/>
                </a:solidFill>
              </a:ln>
            </p:spPr>
          </p:cxnSp>
        </p:grpSp>
        <p:sp>
          <p:nvSpPr>
            <p:cNvPr id="13" name="TextBox 12"/>
            <p:cNvSpPr txBox="1"/>
            <p:nvPr/>
          </p:nvSpPr>
          <p:spPr>
            <a:xfrm>
              <a:off x="6309360" y="1280160"/>
              <a:ext cx="5120640" cy="12801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High windows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: a good view of the track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663440" y="2788920"/>
              <a:ext cx="6976872" cy="1280160"/>
            </a:xfrm>
            <a:prstGeom prst="roundRect">
              <a:avLst>
                <a:gd name="adj" fmla="val 5714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5" name="Signaller icon" descr="A simple icon of a person: the signaller."/>
            <p:cNvGrpSpPr/>
            <p:nvPr/>
          </p:nvGrpSpPr>
          <p:grpSpPr>
            <a:xfrm>
              <a:off x="5045659" y="2980944"/>
              <a:ext cx="790042" cy="905256"/>
              <a:chOff x="5045659" y="2980944"/>
              <a:chExt cx="790042" cy="905256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226710" y="2980944"/>
                <a:ext cx="427939" cy="427939"/>
              </a:xfrm>
              <a:prstGeom prst="ellipse">
                <a:avLst/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Round Same Side Corner Rectangle 16"/>
              <p:cNvSpPr/>
              <p:nvPr/>
            </p:nvSpPr>
            <p:spPr>
              <a:xfrm>
                <a:off x="5045659" y="3260750"/>
                <a:ext cx="790042" cy="625450"/>
              </a:xfrm>
              <a:prstGeom prst="round2SameRect">
                <a:avLst>
                  <a:gd name="adj1" fmla="val 45000"/>
                  <a:gd name="adj2" fmla="val 0"/>
                </a:avLst>
              </a:prstGeom>
              <a:solidFill>
                <a:srgbClr val="E8E8E8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6309360" y="2788920"/>
              <a:ext cx="5120640" cy="12801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The signaller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: works the levers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663440" y="4297680"/>
              <a:ext cx="6976872" cy="1280160"/>
            </a:xfrm>
            <a:prstGeom prst="roundRect">
              <a:avLst>
                <a:gd name="adj" fmla="val 5714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0" name="Lever frame icon" descr="An icon of a row of levers."/>
            <p:cNvGrpSpPr/>
            <p:nvPr/>
          </p:nvGrpSpPr>
          <p:grpSpPr>
            <a:xfrm>
              <a:off x="4983480" y="4617720"/>
              <a:ext cx="923544" cy="822960"/>
              <a:chOff x="4983480" y="4617720"/>
              <a:chExt cx="923544" cy="82296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5020056" y="4617720"/>
                <a:ext cx="109728" cy="731520"/>
              </a:xfrm>
              <a:prstGeom prst="rect">
                <a:avLst/>
              </a:prstGeom>
              <a:solidFill>
                <a:srgbClr val="E5484D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983480" y="5257800"/>
                <a:ext cx="182880" cy="182880"/>
              </a:xfrm>
              <a:prstGeom prst="ellipse">
                <a:avLst/>
              </a:prstGeom>
              <a:solidFill>
                <a:srgbClr val="9AA0A6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5266944" y="4617720"/>
                <a:ext cx="109728" cy="731520"/>
              </a:xfrm>
              <a:prstGeom prst="rect">
                <a:avLst/>
              </a:prstGeom>
              <a:solidFill>
                <a:srgbClr val="F2C14E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5230368" y="5257800"/>
                <a:ext cx="182880" cy="182880"/>
              </a:xfrm>
              <a:prstGeom prst="ellipse">
                <a:avLst/>
              </a:prstGeom>
              <a:solidFill>
                <a:srgbClr val="9AA0A6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513832" y="4617720"/>
                <a:ext cx="109728" cy="731520"/>
              </a:xfrm>
              <a:prstGeom prst="rect">
                <a:avLst/>
              </a:prstGeom>
              <a:solidFill>
                <a:srgbClr val="E5484D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477256" y="5257800"/>
                <a:ext cx="182880" cy="182880"/>
              </a:xfrm>
              <a:prstGeom prst="ellipse">
                <a:avLst/>
              </a:prstGeom>
              <a:solidFill>
                <a:srgbClr val="9AA0A6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5760720" y="4617720"/>
                <a:ext cx="109728" cy="731520"/>
              </a:xfrm>
              <a:prstGeom prst="rect">
                <a:avLst/>
              </a:prstGeom>
              <a:solidFill>
                <a:srgbClr val="4DA3FF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724144" y="5257800"/>
                <a:ext cx="182880" cy="182880"/>
              </a:xfrm>
              <a:prstGeom prst="ellipse">
                <a:avLst/>
              </a:prstGeom>
              <a:solidFill>
                <a:srgbClr val="9AA0A6"/>
              </a:solidFill>
              <a:ln w="9525">
                <a:solidFill>
                  <a:srgbClr val="101418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" name="TextBox 28"/>
            <p:cNvSpPr txBox="1"/>
            <p:nvPr/>
          </p:nvSpPr>
          <p:spPr>
            <a:xfrm>
              <a:off x="6309360" y="4297680"/>
              <a:ext cx="5120640" cy="128016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noAutofit/>
            </a:bodyPr>
            <a:lstStyle/>
            <a:p>
              <a:pPr algn="l"/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Lever frame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: inside</a:t>
              </a:r>
            </a:p>
          </p:txBody>
        </p:sp>
      </p:grpSp>
      <p:sp>
        <p:nvSpPr>
          <p:cNvPr id="30" name="Caption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solidFill>
            <a:srgbClr val="2B2F36"/>
          </a:solidFill>
          <a:ln>
            <a:noFill/>
          </a:ln>
        </p:spPr>
        <p:txBody>
          <a:bodyPr rtlCol="0" anchor="ctr" wrap="square" lIns="256032" tIns="18288" rIns="137160" bIns="18288">
            <a:noAutofit/>
          </a:bodyPr>
          <a:lstStyle/>
          <a:p>
            <a:pPr algn="l"/>
            <a:r>
              <a:rPr sz="2000" b="0" i="0" lang="en-GB">
                <a:solidFill>
                  <a:srgbClr val="F2F2F2"/>
                </a:solidFill>
                <a:latin typeface="Arial"/>
              </a:rPr>
              <a:t>A signal box is a small building. A signaller works the signals from it.</a:t>
            </a:r>
          </a:p>
        </p:txBody>
      </p:sp>
      <p:sp>
        <p:nvSpPr>
          <p:cNvPr id="31" name="Caption rule" descr=""/>
          <p:cNvSpPr/>
          <p:nvPr/>
        </p:nvSpPr>
        <p:spPr>
          <a:xfrm>
            <a:off x="548640" y="5806440"/>
            <a:ext cx="73152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lide number"/>
          <p:cNvSpPr txBox="1"/>
          <p:nvPr/>
        </p:nvSpPr>
        <p:spPr>
          <a:xfrm>
            <a:off x="10698480" y="6492240"/>
            <a:ext cx="94183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algn="r"/>
            <a:r>
              <a:rPr sz="1400" b="0" i="0" lang="en-GB">
                <a:solidFill>
                  <a:srgbClr val="A9B0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Signal Boxes, Explained</dc:title>
  <dc:subject>Early Locomotion (a Satisfactory mod): explainer deck 2</dc:subject>
  <dc:creator>Claude (Early Locomotion project)</dc:creator>
  <cp:keywords/>
  <dc:description>generated using python-pptx</dc:description>
  <cp:lastModifiedBy>Claude (Early Locomotion project)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